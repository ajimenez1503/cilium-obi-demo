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77" r:id="rId6"/>
    <p:sldId id="260" r:id="rId7"/>
    <p:sldId id="261" r:id="rId8"/>
    <p:sldId id="262" r:id="rId9"/>
    <p:sldId id="263" r:id="rId10"/>
    <p:sldId id="292" r:id="rIdSplitSlide9"/>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8" r:id="rId24"/>
    <p:sldId id="279" r:id="rId25"/>
    <p:sldId id="280" r:id="rId26"/>
    <p:sldId id="281" r:id="rId27"/>
    <p:sldId id="282" r:id="rId28"/>
    <p:sldId id="283" r:id="rId29"/>
    <p:sldId id="284" r:id="rId30"/>
    <p:sldId id="285" r:id="rId31"/>
    <p:sldId id="291" r:id="rId32"/>
    <p:sldId id="286" r:id="rId33"/>
    <p:sldId id="287" r:id="rId34"/>
    <p:sldId id="288" r:id="rId35"/>
    <p:sldId id="289" r:id="rId36"/>
    <p:sldId id="290"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90302020109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897"/>
    <p:restoredTop sz="79177"/>
  </p:normalViewPr>
  <p:slideViewPr>
    <p:cSldViewPr snapToGrid="0">
      <p:cViewPr varScale="1">
        <p:scale>
          <a:sx n="177" d="100"/>
          <a:sy n="177" d="100"/>
        </p:scale>
        <p:origin x="30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SplitSlide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bytes and packets between endpoints. Kubernetes metadata can identify the source and destination workloads.</a:t>
            </a:r>
          </a:p>
          <a:p>
            <a:endParaRPr/>
          </a:p>
          <a:p>
            <a:r>
              <a:t>Use these metrics to find services that send the most traffic, or to export traffic volume through an OpenTelemetry pipeline.</a:t>
            </a:r>
          </a:p>
          <a:p>
            <a:endParaRPr/>
          </a:p>
          <a:p>
            <a:r>
              <a:t>These network-volume counters do not provide the Cilium policy record that says Policy denied. Hubble and OBI may also count traffic differently because they observe and aggregate it at different points.</a:t>
            </a:r>
          </a:p>
          <a:p>
            <a:endParaRPr/>
          </a:p>
          <a:p>
            <a:r>
              <a:t>When enabling OBI network collection alongside Cilium, choose network.source: socket_filter. Limit labels to the dimensions you need, because many endpoint and port combinations can create many metric series.</a:t>
            </a:r>
          </a:p>
          <a:p>
            <a:endParaRPr/>
          </a:p>
          <a:p>
            <a:r>
              <a:t>Optional network-volume collection is separate from application tracing and TCP trace-context propagation. Disabling the network-volume collector does not disable those application features.</a:t>
            </a:r>
          </a:p>
          <a:p>
            <a:endParaRPr/>
          </a:p>
          <a:p>
            <a:r>
              <a:t>Transition: the next section explains the shared kernel hooks and why attachment order matters.</a:t>
            </a:r>
          </a:p>
          <a:p>
            <a:endParaRPr/>
          </a:p>
          <a:p>
            <a:r>
              <a:t>Sources:</a:t>
            </a:r>
          </a:p>
          <a:p>
            <a:r>
              <a:t>- https://opentelemetry.io/docs/zero-code/obi/network/</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span records one operation. A trace groups related operations across services.</a:t>
            </a:r>
          </a:p>
          <a:p xmlns:a="http://schemas.openxmlformats.org/drawingml/2006/main">
            <a:r>
              <a:t/>
            </a:r>
            <a:endParaRPr/>
          </a:p>
          <a:p xmlns:a="http://schemas.openxmlformats.org/drawingml/2006/main">
            <a:r>
              <a:t>Read the first row. Without shared trace context, the operations can appear as separate traces. A, B, and C are example IDs used to explain the idea.</a:t>
            </a:r>
          </a:p>
          <a:p xmlns:a="http://schemas.openxmlformats.org/drawingml/2006/main">
            <a:r>
              <a:t/>
            </a:r>
            <a:endParaRPr/>
          </a:p>
          <a:p xmlns:a="http://schemas.openxmlformats.org/drawingml/2006/main">
            <a:r>
              <a:t>Read the second row. Propagation carries the trace ID and parent information to the next service. The backend can then connect the related operations into one request journey. The example shows one operation per service for clarity.</a:t>
            </a:r>
          </a:p>
          <a:p xmlns:a="http://schemas.openxmlformats.org/drawingml/2006/main">
            <a:r>
              <a:t/>
            </a:r>
            <a:endParaRPr/>
          </a:p>
          <a:p xmlns:a="http://schemas.openxmlformats.org/drawingml/2006/main">
            <a:r>
              <a:t>OBI supports different propagation mechanisms. The next slide looks at its optional TCP propagation and the kernel hooks it shares with Cilium.</a:t>
            </a:r>
          </a:p>
          <a:p xmlns:a="http://schemas.openxmlformats.org/drawingml/2006/main">
            <a:r>
              <a:t/>
            </a:r>
            <a:endParaRPr/>
          </a:p>
          <a:p xmlns:a="http://schemas.openxmlformats.org/drawingml/2006/main">
            <a:r>
              <a:t>Sources:</a:t>
            </a:r>
          </a:p>
          <a:p xmlns:a="http://schemas.openxmlformats.org/drawingml/2006/main">
            <a:r>
              <a:t>- https://opentelemetry.io/docs/concepts/context-propagation/</a:t>
            </a:r>
            <a:endParaRPr/>
          </a:p>
          <a:p xmlns:a="http://schemas.openxmlformats.org/drawingml/2006/main">
            <a:r>
              <a:t>- https://opentelemetry.io/docs/zero-code/obi/distributed-traces/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 is the Linux traffic-control subsystem that provides the packet checkpoints. TCX is the newer API for attaching eBPF programs at those checkpoints. Here, agents request first or last positions instead of coordinating legacy filter-priority numbers.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Play the video.</a:t>
            </a:r>
          </a:p>
          <a:p>
            <a:endParaRPr/>
          </a:p>
          <a:p>
            <a:r>
              <a:t>This compares two separate test clusters. Both use Cilium 1.20.2 and OBI v0.13.0. TCX is off, so the older TC mechanism uses priority numbers. A lower number runs earlier.</a:t>
            </a:r>
          </a:p>
          <a:p>
            <a:endParaRPr/>
          </a:p>
          <a:p>
            <a:r>
              <a:t>LEFT: Cilium uses priority 1. OBI detects that conflict and stops itself. That is why OBI shows 0/1 ready. The nginx request still returns HTTP 200: the application network continues to work while OBI is unavailable.</a:t>
            </a:r>
          </a:p>
          <a:p>
            <a:endParaRPr/>
          </a:p>
          <a:p>
            <a:r>
              <a:t>RIGHT: a fresh cluster uses Cilium priority 2. OBI can install its filter at priority 1, ahead of Cilium. OBI shows 1/1 ready and prints an HTTP span. The nginx request also returns HTTP 200.</a:t>
            </a:r>
          </a:p>
          <a:p>
            <a:endParaRPr/>
          </a:p>
          <a:p>
            <a:r>
              <a:t>What this teaches: check application health AND observability health. A successful request does not tell us that OBI is running or producing data.</a:t>
            </a:r>
          </a:p>
          <a:p>
            <a:endParaRPr/>
          </a:p>
          <a:p>
            <a:r>
              <a:t>Scope: this recording enables OBI's optional network.source: tc mode. Our application-only OBI configuration did not trigger this startup guard. The two sides are saved outputs from separate runs, replayed for the talk.</a:t>
            </a:r>
          </a:p>
          <a:p>
            <a:endParaRPr/>
          </a:p>
          <a:p>
            <a:r>
              <a:t>Sources:</a:t>
            </a:r>
          </a:p>
          <a:p>
            <a:r>
              <a:t>- https://github.com/ajimenez1503/cilium-obi-demo/blob/main/demo/legacy-priority-recording.md</a:t>
            </a:r>
          </a:p>
          <a:p>
            <a:r>
              <a:t>- https://github.com/ajimenez1503/cilium-obi-demo/tree/main/evidence/legacy-priority-2026-09-27</a:t>
            </a:r>
          </a:p>
          <a:p>
            <a:r>
              <a:t>- https://opentelemetry.io/docs/zero-code/obi/cilium-compatibility/</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Click the video to play. The clip plays at 1.5 times the previous speed and lasts about 20 seconds.</a:t>
            </a:r>
          </a:p>
          <a:p>
            <a:endParaRPr/>
          </a:p>
          <a:p>
            <a:r>
              <a:t>00:00 to about 00:05.3: upper Grafana view. Point to OBI request rate, errors, and latency beside the network flow and verdict panels. These totals cover the selected workloads and time window.</a:t>
            </a:r>
          </a:p>
          <a:p>
            <a:endParaRPr/>
          </a:p>
          <a:p>
            <a:r>
              <a:t>About 00:05.3 to 00:13.3: lower Grafana view. Point to the service edges and the network metrics. The existing reading holds are shorter at this playback speed.</a:t>
            </a:r>
          </a:p>
          <a:p>
            <a:endParaRPr/>
          </a:p>
          <a:p>
            <a:r>
              <a:t>About 00:13.3 to 00:19.8: Hubble UI. Follow edge-nginx to recommendations-v2 and recommendations-v2 to recommendations-v1. Point to workload identity, direction, port, and the FORWARDED verdict.</a:t>
            </a:r>
          </a:p>
          <a:p>
            <a:endParaRPr/>
          </a:p>
          <a:p>
            <a:r>
              <a:t>Correlate the views by time window, namespace, source and destination workload, direction, and port. Grafana shows aggregated metrics. Hubble UI shows flow records. These fields provide investigative context and do not establish a unique flow-to-trace-ID join.</a:t>
            </a:r>
          </a:p>
          <a:p>
            <a:endParaRPr/>
          </a:p>
          <a:p>
            <a:r>
              <a:t>The acceleration changes presentation timing only. It preserves the recorded sequence and telemetry values.</a:t>
            </a:r>
          </a:p>
          <a:p>
            <a:endParaRPr/>
          </a:p>
          <a:p>
            <a:r>
              <a:t>Sources:</a:t>
            </a:r>
          </a:p>
          <a:p>
            <a:r>
              <a:t>- https://docs.cilium.io/en/stable/observability/hubble/</a:t>
            </a:r>
          </a:p>
          <a:p>
            <a:r>
              <a:t>- https://opentelemetry.io/docs/zero-code/obi/</a:t>
            </a:r>
          </a:p>
          <a:p>
            <a:r>
              <a:t>- https://github.com/ajimenez1503/cilium-obi-demo/blob/main/slides/recordings/presentation-edits.json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each row as a complete configuration. On means the feature is enabled. Off means it is disabled. Cilium networking remains enabled in all five scenarios.</a:t>
            </a:r>
          </a:p>
          <a:p>
            <a:endParaRPr/>
          </a:p>
          <a:p>
            <a:r>
              <a:t>A is the planned Cilium baseline with Hubble and OBI disabled. B enables Hubble L3/L4 flow visibility and leaves OBI off. C adds OBI application RED metrics, with traces and TCP propagation off. D keeps Hubble and OBI metrics, then enables OBI traces and TCP propagation through TCX. E keeps D and adds selected Hubble L7 visibility through Envoy.</a:t>
            </a:r>
          </a:p>
          <a:p>
            <a:endParaRPr/>
          </a:p>
          <a:p>
            <a:r>
              <a:t>Only B and D have recorded measurements. A, C, and E are planned scenario definitions. They have no results in this deck. In particular, the planned E configuration has not established L7 compatibility or overhead.</a:t>
            </a:r>
          </a:p>
          <a:p>
            <a:endParaRPr/>
          </a:p>
          <a:p>
            <a:r>
              <a:t>The OBI metrics column means application RED metrics. Optional OBI network-volume collection is a separate feature. The TCP propagation column describes propagation through the TCP path. It does not describe every possible trace-context propagation mechanism.</a:t>
            </a:r>
          </a:p>
          <a:p>
            <a:endParaRPr/>
          </a:p>
          <a:p>
            <a:r>
              <a:t>Keep the cluster, request route, load, pod placement, and backend constant. B compared with D measures the addition of the configured OBI features together. This comparison does not isolate the cost of TCX itself.</a:t>
            </a:r>
          </a:p>
          <a:p>
            <a:endParaRPr/>
          </a:p>
          <a:p>
            <a:r>
              <a:t>For every measured scenario capture throughput, latency, request failures, CPU, memory, exported spans, Hubble telemetry loss, and live BPF attachments. The next slide shows the existing B and D local rehearsal results.</a:t>
            </a:r>
          </a:p>
          <a:p>
            <a:endParaRPr/>
          </a:p>
          <a:p>
            <a:r>
              <a:t>Sources:</a:t>
            </a:r>
          </a:p>
          <a:p>
            <a:r>
              <a:t>- https://github.com/ajimenez1503/cilium-obi-demo/blob/main/demo/obi-values.yaml</a:t>
            </a:r>
          </a:p>
          <a:p>
            <a:r>
              <a:t>- https://github.com/ajimenez1503/cilium-obi-demo/blob/main/evidence/benchmark-2026-09-26/results.md</a:t>
            </a:r>
          </a:p>
          <a:p>
            <a:r>
              <a:t>- https://docs.cilium.io/en/stable/operations/performance/benchmark/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These are local kind rehearsal observations for B (Cilium and Hubble, OBI off) and D (Cilium and Hubble plus OBI with TCX). They are not production capacity results. The no-</a:t>
            </a:r>
            <a:r>
              <a:rPr dirty="0" err="1"/>
              <a:t>eBPF</a:t>
            </a:r>
            <a:r>
              <a:rPr dirty="0"/>
              <a:t> reference N and conditions A, C, and E remain unmeasured.</a:t>
            </a:r>
          </a:p>
          <a:p>
            <a:endParaRPr dirty="0"/>
          </a:p>
          <a:p>
            <a:r>
              <a:rPr dirty="0"/>
              <a:t>Both conditions used the same three-node cluster and route. Background demo traffic was paused. Each condition had a 40-request warm-up and five samples of 200 requests at concurrency 20 through </a:t>
            </a:r>
            <a:r>
              <a:rPr dirty="0" err="1"/>
              <a:t>kubectl</a:t>
            </a:r>
            <a:r>
              <a:rPr dirty="0"/>
              <a:t> port-forward. B ran before D, so time-order effects remain possible. Throughput median: B 19.77 req/s; D 19.73 req/s. p95 median: B 1,018 </a:t>
            </a:r>
            <a:r>
              <a:rPr dirty="0" err="1"/>
              <a:t>ms</a:t>
            </a:r>
            <a:r>
              <a:rPr dirty="0"/>
              <a:t>; D 1,020 </a:t>
            </a:r>
            <a:r>
              <a:rPr dirty="0" err="1"/>
              <a:t>ms.</a:t>
            </a:r>
            <a:r>
              <a:rPr dirty="0"/>
              <a:t> There were zero failed requests across 1,000 requests in each condition. OBI used a median 0.0128 CPU cores and 253.2 MiB working set across two pods. The Collector accepted and exported 7,210 spans during D. These numbers describe this single rehearsal only.</a:t>
            </a:r>
          </a:p>
          <a:p>
            <a:endParaRPr dirty="0"/>
          </a:p>
          <a:p>
            <a:r>
              <a:rPr dirty="0"/>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dirty="0"/>
          </a:p>
          <a:p>
            <a:r>
              <a:rPr dirty="0"/>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dirty="0"/>
          </a:p>
          <a:p>
            <a:r>
              <a:rPr dirty="0"/>
              <a:t>Sources:</a:t>
            </a:r>
          </a:p>
          <a:p>
            <a:r>
              <a:rPr dirty="0"/>
              <a:t>- /Users/antonjim/Documents/Playground/cilium-obi-demo/evidence/benchmark-2026-09-26/</a:t>
            </a:r>
            <a:r>
              <a:rPr dirty="0" err="1"/>
              <a:t>results.md</a:t>
            </a:r>
            <a:endParaRPr dirty="0"/>
          </a:p>
          <a:p>
            <a:r>
              <a:rPr dirty="0"/>
              <a:t>- https://</a:t>
            </a:r>
            <a:r>
              <a:rPr dirty="0" err="1"/>
              <a:t>docs.cilium.io</a:t>
            </a:r>
            <a:r>
              <a:rPr dirty="0"/>
              <a:t>/</a:t>
            </a:r>
            <a:r>
              <a:rPr dirty="0" err="1"/>
              <a:t>en</a:t>
            </a:r>
            <a:r>
              <a:rPr dirty="0"/>
              <a:t>/latest/observability/metrics/#lost-events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application sends traffic through a virtual interface pair, called a veth pair, between the pod and the node. This diagram follows the veth datapath used by our demo.</a:t>
            </a:r>
          </a:p>
          <a:p xmlns:a="http://schemas.openxmlformats.org/drawingml/2006/main">
            <a:r>
              <a:t/>
            </a:r>
            <a:endParaRPr/>
          </a:p>
          <a:p xmlns:a="http://schemas.openxmlformats.org/drawingml/2006/main">
            <a:r>
              <a:t>Focus on the host-side interface. Traffic control, or TC, provides checkpoints for arriving and departing packets. These checkpoints are called ingress and egress. Direction is relative to this host-side interface.</a:t>
            </a:r>
          </a:p>
          <a:p xmlns:a="http://schemas.openxmlformats.org/drawingml/2006/main">
            <a:r>
              <a:t/>
            </a:r>
            <a:endParaRPr/>
          </a:p>
          <a:p xmlns:a="http://schemas.openxmlformats.org/drawingml/2006/main">
            <a:r>
              <a:t>OBI can use these hooks for optional TCP trace-context propagation. Cilium uses them for networking and policy. The dark panel shows the two agents sharing the ingress and egress hooks.</a:t>
            </a:r>
          </a:p>
          <a:p xmlns:a="http://schemas.openxmlformats.org/drawingml/2006/main">
            <a:r>
              <a:t/>
            </a:r>
            <a:endParaRPr/>
          </a:p>
          <a:p xmlns:a="http://schemas.openxmlformats.org/drawingml/2006/main">
            <a:r>
              <a:t>The overlap depends on the OBI features enabled. OBI can provide application telemetry without these TCP propagation programs.</a:t>
            </a:r>
          </a:p>
          <a:p xmlns:a="http://schemas.openxmlformats.org/drawingml/2006/main">
            <a:r>
              <a:t/>
            </a:r>
            <a:endParaRPr/>
          </a:p>
          <a:p xmlns:a="http://schemas.openxmlformats.org/drawingml/2006/main">
            <a:r>
              <a:t>Next, we examine which program runs first and why that matters.</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endParaRPr/>
          </a:p>
          <a:p xmlns:a="http://schemas.openxmlformats.org/drawingml/2006/main">
            <a:r>
              <a:t>- https://opentelemetry.io/docs/zero-code/obi/distributed-traces/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2.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OBI uses </a:t>
            </a:r>
            <a:r>
              <a:rPr sz="1725" b="0" dirty="0" err="1">
                <a:solidFill>
                  <a:srgbClr val="686B6B"/>
                </a:solidFill>
                <a:latin typeface="CiscoSansTT"/>
                <a:ea typeface="CiscoSansTT"/>
                <a:cs typeface="CiscoSansTT"/>
              </a:rPr>
              <a:t>eBPF</a:t>
            </a:r>
            <a:r>
              <a:rPr sz="1725" b="0" dirty="0">
                <a:solidFill>
                  <a:srgbClr val="686B6B"/>
                </a:solidFill>
                <a:latin typeface="CiscoSansTT"/>
                <a:ea typeface="CiscoSansTT"/>
                <a:cs typeface="CiscoSansTT"/>
              </a:rPr>
              <a:t> to observe requests sent or</a:t>
            </a:r>
          </a:p>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received by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27" name="trace-example">
            <a:extLst xmlns:a="http://schemas.openxmlformats.org/drawingml/2006/main">
              <a:ext uri="{FF2B5EF4-FFF2-40B4-BE49-F238E27FC236}">
                <a16:creationId xmlns:a16="http://schemas.microsoft.com/office/drawing/2014/main" id="{DCE50E14-9423-45C2-AF16-40CE5E8FE8DD}"/>
              </a:ext>
            </a:extLst>
          </p:cNvPr>
          <p:cNvSpPr>
            <a:spLocks xmlns:a="http://schemas.openxmlformats.org/drawingml/2006/main" noGrp="1"/>
          </p:cNvSpPr>
          <p:nvPr/>
        </p:nvSpPr>
        <p:spPr>
          <a:xfrm xmlns:a="http://schemas.openxmlformats.org/drawingml/2006/main">
            <a:off x="6667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686B6B"/>
                </a:solidFill>
                <a:latin typeface="CiscoSansTT"/>
                <a:ea typeface="CiscoSansTT"/>
                <a:cs typeface="CiscoSansTT"/>
              </a:defRPr>
            </a:defPPr>
            <a:lvl1pPr algn="l">
              <a:defRPr sz="2025" b="0">
                <a:solidFill>
                  <a:srgbClr val="686B6B"/>
                </a:solidFill>
                <a:latin typeface="CiscoSansTT"/>
                <a:ea typeface="CiscoSansTT"/>
                <a:cs typeface="CiscoSansTT"/>
              </a:defRPr>
            </a:lvl1pPr>
            <a:lvl2pPr algn="l">
              <a:defRPr sz="2025" b="0">
                <a:solidFill>
                  <a:srgbClr val="686B6B"/>
                </a:solidFill>
                <a:latin typeface="CiscoSansTT"/>
                <a:ea typeface="CiscoSansTT"/>
                <a:cs typeface="CiscoSansTT"/>
              </a:defRPr>
            </a:lvl2pPr>
            <a:lvl3pPr algn="l">
              <a:defRPr sz="2025" b="0">
                <a:solidFill>
                  <a:srgbClr val="686B6B"/>
                </a:solidFill>
                <a:latin typeface="CiscoSansTT"/>
                <a:ea typeface="CiscoSansTT"/>
                <a:cs typeface="CiscoSansTT"/>
              </a:defRPr>
            </a:lvl3pPr>
            <a:lvl4pPr algn="l">
              <a:defRPr sz="2025" b="0">
                <a:solidFill>
                  <a:srgbClr val="686B6B"/>
                </a:solidFill>
                <a:latin typeface="CiscoSansTT"/>
                <a:ea typeface="CiscoSansTT"/>
                <a:cs typeface="CiscoSansTT"/>
              </a:defRPr>
            </a:lvl4pPr>
            <a:lvl5pPr algn="l">
              <a:defRPr sz="2025" b="0">
                <a:solidFill>
                  <a:srgbClr val="686B6B"/>
                </a:solidFill>
                <a:latin typeface="CiscoSansTT"/>
                <a:ea typeface="CiscoSansTT"/>
                <a:cs typeface="CiscoSansTT"/>
              </a:defRPr>
            </a:lvl5pPr>
            <a:lvl6pPr algn="l">
              <a:defRPr sz="2025" b="0">
                <a:solidFill>
                  <a:srgbClr val="686B6B"/>
                </a:solidFill>
                <a:latin typeface="CiscoSansTT"/>
                <a:ea typeface="CiscoSansTT"/>
                <a:cs typeface="CiscoSansTT"/>
              </a:defRPr>
            </a:lvl6pPr>
            <a:lvl7pPr algn="l">
              <a:defRPr sz="2025" b="0">
                <a:solidFill>
                  <a:srgbClr val="686B6B"/>
                </a:solidFill>
                <a:latin typeface="CiscoSansTT"/>
                <a:ea typeface="CiscoSansTT"/>
                <a:cs typeface="CiscoSansTT"/>
              </a:defRPr>
            </a:lvl7pPr>
            <a:lvl8pPr algn="l">
              <a:defRPr sz="2025" b="0">
                <a:solidFill>
                  <a:srgbClr val="686B6B"/>
                </a:solidFill>
                <a:latin typeface="CiscoSansTT"/>
                <a:ea typeface="CiscoSansTT"/>
                <a:cs typeface="CiscoSansTT"/>
              </a:defRPr>
            </a:lvl8pPr>
            <a:lvl9pPr algn="l">
              <a:defRPr sz="2025" b="0">
                <a:solidFill>
                  <a:srgbClr val="686B6B"/>
                </a:solidFill>
                <a:latin typeface="CiscoSansTT"/>
                <a:ea typeface="CiscoSansTT"/>
                <a:cs typeface="CiscoSansTT"/>
              </a:defRPr>
            </a:lvl9pPr>
          </a:lstStyle>
          <a:p xmlns:a="http://schemas.openxmlformats.org/drawingml/2006/main">
            <a:pPr algn="l">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Example: one request crosses three services.</a:t>
            </a:r>
          </a:p>
        </p:txBody>
      </p:sp>
      <p:sp>
        <p:nvSpPr>
          <p:cNvPr id="28" name="without-context">
            <a:extLst xmlns:a="http://schemas.openxmlformats.org/drawingml/2006/main">
              <a:ext uri="{FF2B5EF4-FFF2-40B4-BE49-F238E27FC236}">
                <a16:creationId xmlns:a16="http://schemas.microsoft.com/office/drawing/2014/main" id="{2D3E87FB-755B-4E27-B381-52F310D18F44}"/>
              </a:ext>
            </a:extLst>
          </p:cNvPr>
          <p:cNvSpPr>
            <a:spLocks xmlns:a="http://schemas.openxmlformats.org/drawingml/2006/main" noGrp="1"/>
          </p:cNvSpPr>
          <p:nvPr/>
        </p:nvSpPr>
        <p:spPr>
          <a:xfrm xmlns:a="http://schemas.openxmlformats.org/drawingml/2006/main">
            <a:off x="666750" y="2057400"/>
            <a:ext cx="219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Without shared</a:t>
            </a:r>
          </a:p>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context</a:t>
            </a:r>
          </a:p>
        </p:txBody>
      </p:sp>
      <p:sp>
        <p:nvSpPr>
          <p:cNvPr id="29" name="with-context">
            <a:extLst xmlns:a="http://schemas.openxmlformats.org/drawingml/2006/main">
              <a:ext uri="{FF2B5EF4-FFF2-40B4-BE49-F238E27FC236}">
                <a16:creationId xmlns:a16="http://schemas.microsoft.com/office/drawing/2014/main" id="{FDF0CD37-A128-4525-B1A4-A750CF36F463}"/>
              </a:ext>
            </a:extLst>
          </p:cNvPr>
          <p:cNvSpPr>
            <a:spLocks xmlns:a="http://schemas.openxmlformats.org/drawingml/2006/main" noGrp="1"/>
          </p:cNvSpPr>
          <p:nvPr/>
        </p:nvSpPr>
        <p:spPr>
          <a:xfrm xmlns:a="http://schemas.openxmlformats.org/drawingml/2006/main">
            <a:off x="666750" y="3762375"/>
            <a:ext cx="219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FF007F"/>
                </a:solidFill>
                <a:latin typeface="CiscoSansTT Medium"/>
                <a:ea typeface="CiscoSansTT Medium"/>
                <a:cs typeface="CiscoSansTT Medium"/>
              </a:defRPr>
            </a:defPPr>
            <a:lvl1pPr algn="l">
              <a:defRPr sz="1875" b="1">
                <a:solidFill>
                  <a:srgbClr val="FF007F"/>
                </a:solidFill>
                <a:latin typeface="CiscoSansTT Medium"/>
                <a:ea typeface="CiscoSansTT Medium"/>
                <a:cs typeface="CiscoSansTT Medium"/>
              </a:defRPr>
            </a:lvl1pPr>
            <a:lvl2pPr algn="l">
              <a:defRPr sz="1875" b="1">
                <a:solidFill>
                  <a:srgbClr val="FF007F"/>
                </a:solidFill>
                <a:latin typeface="CiscoSansTT Medium"/>
                <a:ea typeface="CiscoSansTT Medium"/>
                <a:cs typeface="CiscoSansTT Medium"/>
              </a:defRPr>
            </a:lvl2pPr>
            <a:lvl3pPr algn="l">
              <a:defRPr sz="1875" b="1">
                <a:solidFill>
                  <a:srgbClr val="FF007F"/>
                </a:solidFill>
                <a:latin typeface="CiscoSansTT Medium"/>
                <a:ea typeface="CiscoSansTT Medium"/>
                <a:cs typeface="CiscoSansTT Medium"/>
              </a:defRPr>
            </a:lvl3pPr>
            <a:lvl4pPr algn="l">
              <a:defRPr sz="1875" b="1">
                <a:solidFill>
                  <a:srgbClr val="FF007F"/>
                </a:solidFill>
                <a:latin typeface="CiscoSansTT Medium"/>
                <a:ea typeface="CiscoSansTT Medium"/>
                <a:cs typeface="CiscoSansTT Medium"/>
              </a:defRPr>
            </a:lvl4pPr>
            <a:lvl5pPr algn="l">
              <a:defRPr sz="1875" b="1">
                <a:solidFill>
                  <a:srgbClr val="FF007F"/>
                </a:solidFill>
                <a:latin typeface="CiscoSansTT Medium"/>
                <a:ea typeface="CiscoSansTT Medium"/>
                <a:cs typeface="CiscoSansTT Medium"/>
              </a:defRPr>
            </a:lvl5pPr>
            <a:lvl6pPr algn="l">
              <a:defRPr sz="1875" b="1">
                <a:solidFill>
                  <a:srgbClr val="FF007F"/>
                </a:solidFill>
                <a:latin typeface="CiscoSansTT Medium"/>
                <a:ea typeface="CiscoSansTT Medium"/>
                <a:cs typeface="CiscoSansTT Medium"/>
              </a:defRPr>
            </a:lvl6pPr>
            <a:lvl7pPr algn="l">
              <a:defRPr sz="1875" b="1">
                <a:solidFill>
                  <a:srgbClr val="FF007F"/>
                </a:solidFill>
                <a:latin typeface="CiscoSansTT Medium"/>
                <a:ea typeface="CiscoSansTT Medium"/>
                <a:cs typeface="CiscoSansTT Medium"/>
              </a:defRPr>
            </a:lvl7pPr>
            <a:lvl8pPr algn="l">
              <a:defRPr sz="1875" b="1">
                <a:solidFill>
                  <a:srgbClr val="FF007F"/>
                </a:solidFill>
                <a:latin typeface="CiscoSansTT Medium"/>
                <a:ea typeface="CiscoSansTT Medium"/>
                <a:cs typeface="CiscoSansTT Medium"/>
              </a:defRPr>
            </a:lvl8pPr>
            <a:lvl9pPr algn="l">
              <a:defRPr sz="1875" b="1">
                <a:solidFill>
                  <a:srgbClr val="FF007F"/>
                </a:solidFill>
                <a:latin typeface="CiscoSansTT Medium"/>
                <a:ea typeface="CiscoSansTT Medium"/>
                <a:cs typeface="CiscoSansTT Medium"/>
              </a:defRPr>
            </a:lvl9pPr>
          </a:lstStyle>
          <a:p xmlns:a="http://schemas.openxmlformats.org/drawingml/2006/main">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With propagated</a:t>
            </a:r>
          </a:p>
          <a:p xmlns:a="http://schemas.openxmlformats.org/drawingml/2006/main">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context</a:t>
            </a:r>
          </a:p>
        </p:txBody>
      </p:sp>
      <p:sp>
        <p:nvSpPr>
          <p:cNvPr id="30" name="separate-service-0">
            <a:extLst xmlns:a="http://schemas.openxmlformats.org/drawingml/2006/main">
              <a:ext uri="{FF2B5EF4-FFF2-40B4-BE49-F238E27FC236}">
                <a16:creationId xmlns:a16="http://schemas.microsoft.com/office/drawing/2014/main" id="{7B346DCE-92FE-41EB-85F2-7A5520EF97D6}"/>
              </a:ext>
            </a:extLst>
          </p:cNvPr>
          <p:cNvSpPr>
            <a:spLocks xmlns:a="http://schemas.openxmlformats.org/drawingml/2006/main" noGrp="1"/>
          </p:cNvSpPr>
          <p:nvPr/>
        </p:nvSpPr>
        <p:spPr>
          <a:xfrm xmlns:a="http://schemas.openxmlformats.org/drawingml/2006/main">
            <a:off x="2857500" y="19526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edge-nginx</a:t>
            </a:r>
          </a:p>
        </p:txBody>
      </p:sp>
      <p:sp>
        <p:nvSpPr>
          <p:cNvPr id="31" name="separate-trace-0">
            <a:extLst xmlns:a="http://schemas.openxmlformats.org/drawingml/2006/main">
              <a:ext uri="{FF2B5EF4-FFF2-40B4-BE49-F238E27FC236}">
                <a16:creationId xmlns:a16="http://schemas.microsoft.com/office/drawing/2014/main" id="{3625BA43-5465-4F06-A73B-8D60C124EB08}"/>
              </a:ext>
            </a:extLst>
          </p:cNvPr>
          <p:cNvSpPr>
            <a:spLocks xmlns:a="http://schemas.openxmlformats.org/drawingml/2006/main" noGrp="1"/>
          </p:cNvSpPr>
          <p:nvPr/>
        </p:nvSpPr>
        <p:spPr>
          <a:xfrm xmlns:a="http://schemas.openxmlformats.org/drawingml/2006/main">
            <a:off x="2857500" y="23907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686B6B"/>
                </a:solidFill>
                <a:latin typeface="CiscoSansTT"/>
                <a:ea typeface="CiscoSansTT"/>
                <a:cs typeface="CiscoSansTT"/>
              </a:defRPr>
            </a:defPPr>
            <a:lvl1pPr algn="ctr">
              <a:defRPr sz="2025" b="0">
                <a:solidFill>
                  <a:srgbClr val="686B6B"/>
                </a:solidFill>
                <a:latin typeface="CiscoSansTT"/>
                <a:ea typeface="CiscoSansTT"/>
                <a:cs typeface="CiscoSansTT"/>
              </a:defRPr>
            </a:lvl1pPr>
            <a:lvl2pPr algn="ctr">
              <a:defRPr sz="2025" b="0">
                <a:solidFill>
                  <a:srgbClr val="686B6B"/>
                </a:solidFill>
                <a:latin typeface="CiscoSansTT"/>
                <a:ea typeface="CiscoSansTT"/>
                <a:cs typeface="CiscoSansTT"/>
              </a:defRPr>
            </a:lvl2pPr>
            <a:lvl3pPr algn="ctr">
              <a:defRPr sz="2025" b="0">
                <a:solidFill>
                  <a:srgbClr val="686B6B"/>
                </a:solidFill>
                <a:latin typeface="CiscoSansTT"/>
                <a:ea typeface="CiscoSansTT"/>
                <a:cs typeface="CiscoSansTT"/>
              </a:defRPr>
            </a:lvl3pPr>
            <a:lvl4pPr algn="ctr">
              <a:defRPr sz="2025" b="0">
                <a:solidFill>
                  <a:srgbClr val="686B6B"/>
                </a:solidFill>
                <a:latin typeface="CiscoSansTT"/>
                <a:ea typeface="CiscoSansTT"/>
                <a:cs typeface="CiscoSansTT"/>
              </a:defRPr>
            </a:lvl4pPr>
            <a:lvl5pPr algn="ctr">
              <a:defRPr sz="2025" b="0">
                <a:solidFill>
                  <a:srgbClr val="686B6B"/>
                </a:solidFill>
                <a:latin typeface="CiscoSansTT"/>
                <a:ea typeface="CiscoSansTT"/>
                <a:cs typeface="CiscoSansTT"/>
              </a:defRPr>
            </a:lvl5pPr>
            <a:lvl6pPr algn="ctr">
              <a:defRPr sz="2025" b="0">
                <a:solidFill>
                  <a:srgbClr val="686B6B"/>
                </a:solidFill>
                <a:latin typeface="CiscoSansTT"/>
                <a:ea typeface="CiscoSansTT"/>
                <a:cs typeface="CiscoSansTT"/>
              </a:defRPr>
            </a:lvl6pPr>
            <a:lvl7pPr algn="ctr">
              <a:defRPr sz="2025" b="0">
                <a:solidFill>
                  <a:srgbClr val="686B6B"/>
                </a:solidFill>
                <a:latin typeface="CiscoSansTT"/>
                <a:ea typeface="CiscoSansTT"/>
                <a:cs typeface="CiscoSansTT"/>
              </a:defRPr>
            </a:lvl7pPr>
            <a:lvl8pPr algn="ctr">
              <a:defRPr sz="2025" b="0">
                <a:solidFill>
                  <a:srgbClr val="686B6B"/>
                </a:solidFill>
                <a:latin typeface="CiscoSansTT"/>
                <a:ea typeface="CiscoSansTT"/>
                <a:cs typeface="CiscoSansTT"/>
              </a:defRPr>
            </a:lvl8pPr>
            <a:lvl9pPr algn="ctr">
              <a:defRPr sz="2025" b="0">
                <a:solidFill>
                  <a:srgbClr val="686B6B"/>
                </a:solidFill>
                <a:latin typeface="CiscoSansTT"/>
                <a:ea typeface="CiscoSansTT"/>
                <a:cs typeface="CiscoSansTT"/>
              </a:defRPr>
            </a:lvl9pPr>
          </a:lstStyle>
          <a:p xmlns:a="http://schemas.openxmlformats.org/drawingml/2006/main">
            <a:pPr algn="ctr">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trace A</a:t>
            </a:r>
          </a:p>
        </p:txBody>
      </p:sp>
      <p:sp>
        <p:nvSpPr>
          <p:cNvPr id="32" name="connected-service-0">
            <a:extLst xmlns:a="http://schemas.openxmlformats.org/drawingml/2006/main">
              <a:ext uri="{FF2B5EF4-FFF2-40B4-BE49-F238E27FC236}">
                <a16:creationId xmlns:a16="http://schemas.microsoft.com/office/drawing/2014/main" id="{D52A6176-7ED3-4906-B1BB-B0E42C4ED56F}"/>
              </a:ext>
            </a:extLst>
          </p:cNvPr>
          <p:cNvSpPr>
            <a:spLocks xmlns:a="http://schemas.openxmlformats.org/drawingml/2006/main" noGrp="1"/>
          </p:cNvSpPr>
          <p:nvPr/>
        </p:nvSpPr>
        <p:spPr>
          <a:xfrm xmlns:a="http://schemas.openxmlformats.org/drawingml/2006/main">
            <a:off x="2857500" y="36671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edge-nginx</a:t>
            </a:r>
          </a:p>
        </p:txBody>
      </p:sp>
      <p:sp>
        <p:nvSpPr>
          <p:cNvPr id="33" name="connected-trace-0">
            <a:extLst xmlns:a="http://schemas.openxmlformats.org/drawingml/2006/main">
              <a:ext uri="{FF2B5EF4-FFF2-40B4-BE49-F238E27FC236}">
                <a16:creationId xmlns:a16="http://schemas.microsoft.com/office/drawing/2014/main" id="{66C82384-1663-4378-9569-024B1EEECE8C}"/>
              </a:ext>
            </a:extLst>
          </p:cNvPr>
          <p:cNvSpPr>
            <a:spLocks xmlns:a="http://schemas.openxmlformats.org/drawingml/2006/main" noGrp="1"/>
          </p:cNvSpPr>
          <p:nvPr/>
        </p:nvSpPr>
        <p:spPr>
          <a:xfrm xmlns:a="http://schemas.openxmlformats.org/drawingml/2006/main">
            <a:off x="2857500" y="41052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FF007F"/>
                </a:solidFill>
                <a:latin typeface="CiscoSansTT"/>
                <a:ea typeface="CiscoSansTT"/>
                <a:cs typeface="CiscoSansTT"/>
              </a:defRPr>
            </a:defPPr>
            <a:lvl1pPr algn="ctr">
              <a:defRPr sz="2025" b="0">
                <a:solidFill>
                  <a:srgbClr val="FF007F"/>
                </a:solidFill>
                <a:latin typeface="CiscoSansTT"/>
                <a:ea typeface="CiscoSansTT"/>
                <a:cs typeface="CiscoSansTT"/>
              </a:defRPr>
            </a:lvl1pPr>
            <a:lvl2pPr algn="ctr">
              <a:defRPr sz="2025" b="0">
                <a:solidFill>
                  <a:srgbClr val="FF007F"/>
                </a:solidFill>
                <a:latin typeface="CiscoSansTT"/>
                <a:ea typeface="CiscoSansTT"/>
                <a:cs typeface="CiscoSansTT"/>
              </a:defRPr>
            </a:lvl2pPr>
            <a:lvl3pPr algn="ctr">
              <a:defRPr sz="2025" b="0">
                <a:solidFill>
                  <a:srgbClr val="FF007F"/>
                </a:solidFill>
                <a:latin typeface="CiscoSansTT"/>
                <a:ea typeface="CiscoSansTT"/>
                <a:cs typeface="CiscoSansTT"/>
              </a:defRPr>
            </a:lvl3pPr>
            <a:lvl4pPr algn="ctr">
              <a:defRPr sz="2025" b="0">
                <a:solidFill>
                  <a:srgbClr val="FF007F"/>
                </a:solidFill>
                <a:latin typeface="CiscoSansTT"/>
                <a:ea typeface="CiscoSansTT"/>
                <a:cs typeface="CiscoSansTT"/>
              </a:defRPr>
            </a:lvl4pPr>
            <a:lvl5pPr algn="ctr">
              <a:defRPr sz="2025" b="0">
                <a:solidFill>
                  <a:srgbClr val="FF007F"/>
                </a:solidFill>
                <a:latin typeface="CiscoSansTT"/>
                <a:ea typeface="CiscoSansTT"/>
                <a:cs typeface="CiscoSansTT"/>
              </a:defRPr>
            </a:lvl5pPr>
            <a:lvl6pPr algn="ctr">
              <a:defRPr sz="2025" b="0">
                <a:solidFill>
                  <a:srgbClr val="FF007F"/>
                </a:solidFill>
                <a:latin typeface="CiscoSansTT"/>
                <a:ea typeface="CiscoSansTT"/>
                <a:cs typeface="CiscoSansTT"/>
              </a:defRPr>
            </a:lvl6pPr>
            <a:lvl7pPr algn="ctr">
              <a:defRPr sz="2025" b="0">
                <a:solidFill>
                  <a:srgbClr val="FF007F"/>
                </a:solidFill>
                <a:latin typeface="CiscoSansTT"/>
                <a:ea typeface="CiscoSansTT"/>
                <a:cs typeface="CiscoSansTT"/>
              </a:defRPr>
            </a:lvl7pPr>
            <a:lvl8pPr algn="ctr">
              <a:defRPr sz="2025" b="0">
                <a:solidFill>
                  <a:srgbClr val="FF007F"/>
                </a:solidFill>
                <a:latin typeface="CiscoSansTT"/>
                <a:ea typeface="CiscoSansTT"/>
                <a:cs typeface="CiscoSansTT"/>
              </a:defRPr>
            </a:lvl8pPr>
            <a:lvl9pPr algn="ctr">
              <a:defRPr sz="2025" b="0">
                <a:solidFill>
                  <a:srgbClr val="FF007F"/>
                </a:solidFill>
                <a:latin typeface="CiscoSansTT"/>
                <a:ea typeface="CiscoSansTT"/>
                <a:cs typeface="CiscoSansTT"/>
              </a:defRPr>
            </a:lvl9pPr>
          </a:lstStyle>
          <a:p xmlns:a="http://schemas.openxmlformats.org/drawingml/2006/main">
            <a:pPr algn="ctr">
              <a:defRPr sz="2025" b="0">
                <a:solidFill>
                  <a:srgbClr val="FF007F"/>
                </a:solidFill>
                <a:latin typeface="CiscoSansTT"/>
                <a:ea typeface="CiscoSansTT"/>
                <a:cs typeface="CiscoSansTT"/>
              </a:defRPr>
            </a:pPr>
            <a:r>
              <a:rPr sz="2025" b="0">
                <a:solidFill>
                  <a:srgbClr val="FF007F"/>
                </a:solidFill>
                <a:latin typeface="CiscoSansTT"/>
                <a:ea typeface="CiscoSansTT"/>
                <a:cs typeface="CiscoSansTT"/>
              </a:rPr>
              <a:t>trace A</a:t>
            </a:r>
          </a:p>
        </p:txBody>
      </p:sp>
      <p:cxnSp>
        <p:nvCxnSpPr>
          <p:cNvPr id="34" name="connected-arrow-0">
            <a:extLst xmlns:a="http://schemas.openxmlformats.org/drawingml/2006/main">
              <a:ext uri="{FF2B5EF4-FFF2-40B4-BE49-F238E27FC236}">
                <a16:creationId xmlns:a16="http://schemas.microsoft.com/office/drawing/2014/main" id="{E71655AA-324C-475C-AD81-71A53A0E58F6}"/>
              </a:ext>
            </a:extLst>
          </p:cNvPr>
          <p:cNvCxnSpPr/>
          <p:nvPr/>
        </p:nvCxnSpPr>
        <p:spPr>
          <a:xfrm xmlns:a="http://schemas.openxmlformats.org/drawingml/2006/main">
            <a:off x="5524500" y="4067175"/>
            <a:ext cx="381000" cy="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35" name="separate-service-1">
            <a:extLst xmlns:a="http://schemas.openxmlformats.org/drawingml/2006/main">
              <a:ext uri="{FF2B5EF4-FFF2-40B4-BE49-F238E27FC236}">
                <a16:creationId xmlns:a16="http://schemas.microsoft.com/office/drawing/2014/main" id="{AC23A705-598C-4D89-848D-30659B19D49E}"/>
              </a:ext>
            </a:extLst>
          </p:cNvPr>
          <p:cNvSpPr>
            <a:spLocks xmlns:a="http://schemas.openxmlformats.org/drawingml/2006/main" noGrp="1"/>
          </p:cNvSpPr>
          <p:nvPr/>
        </p:nvSpPr>
        <p:spPr>
          <a:xfrm xmlns:a="http://schemas.openxmlformats.org/drawingml/2006/main">
            <a:off x="5905500" y="19526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recommendations-v2</a:t>
            </a:r>
          </a:p>
        </p:txBody>
      </p:sp>
      <p:sp>
        <p:nvSpPr>
          <p:cNvPr id="36" name="separate-trace-1">
            <a:extLst xmlns:a="http://schemas.openxmlformats.org/drawingml/2006/main">
              <a:ext uri="{FF2B5EF4-FFF2-40B4-BE49-F238E27FC236}">
                <a16:creationId xmlns:a16="http://schemas.microsoft.com/office/drawing/2014/main" id="{2ADF00BF-9DEF-4A15-A583-ED72A66B2F75}"/>
              </a:ext>
            </a:extLst>
          </p:cNvPr>
          <p:cNvSpPr>
            <a:spLocks xmlns:a="http://schemas.openxmlformats.org/drawingml/2006/main" noGrp="1"/>
          </p:cNvSpPr>
          <p:nvPr/>
        </p:nvSpPr>
        <p:spPr>
          <a:xfrm xmlns:a="http://schemas.openxmlformats.org/drawingml/2006/main">
            <a:off x="5905500" y="23907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686B6B"/>
                </a:solidFill>
                <a:latin typeface="CiscoSansTT"/>
                <a:ea typeface="CiscoSansTT"/>
                <a:cs typeface="CiscoSansTT"/>
              </a:defRPr>
            </a:defPPr>
            <a:lvl1pPr algn="ctr">
              <a:defRPr sz="2025" b="0">
                <a:solidFill>
                  <a:srgbClr val="686B6B"/>
                </a:solidFill>
                <a:latin typeface="CiscoSansTT"/>
                <a:ea typeface="CiscoSansTT"/>
                <a:cs typeface="CiscoSansTT"/>
              </a:defRPr>
            </a:lvl1pPr>
            <a:lvl2pPr algn="ctr">
              <a:defRPr sz="2025" b="0">
                <a:solidFill>
                  <a:srgbClr val="686B6B"/>
                </a:solidFill>
                <a:latin typeface="CiscoSansTT"/>
                <a:ea typeface="CiscoSansTT"/>
                <a:cs typeface="CiscoSansTT"/>
              </a:defRPr>
            </a:lvl2pPr>
            <a:lvl3pPr algn="ctr">
              <a:defRPr sz="2025" b="0">
                <a:solidFill>
                  <a:srgbClr val="686B6B"/>
                </a:solidFill>
                <a:latin typeface="CiscoSansTT"/>
                <a:ea typeface="CiscoSansTT"/>
                <a:cs typeface="CiscoSansTT"/>
              </a:defRPr>
            </a:lvl3pPr>
            <a:lvl4pPr algn="ctr">
              <a:defRPr sz="2025" b="0">
                <a:solidFill>
                  <a:srgbClr val="686B6B"/>
                </a:solidFill>
                <a:latin typeface="CiscoSansTT"/>
                <a:ea typeface="CiscoSansTT"/>
                <a:cs typeface="CiscoSansTT"/>
              </a:defRPr>
            </a:lvl4pPr>
            <a:lvl5pPr algn="ctr">
              <a:defRPr sz="2025" b="0">
                <a:solidFill>
                  <a:srgbClr val="686B6B"/>
                </a:solidFill>
                <a:latin typeface="CiscoSansTT"/>
                <a:ea typeface="CiscoSansTT"/>
                <a:cs typeface="CiscoSansTT"/>
              </a:defRPr>
            </a:lvl5pPr>
            <a:lvl6pPr algn="ctr">
              <a:defRPr sz="2025" b="0">
                <a:solidFill>
                  <a:srgbClr val="686B6B"/>
                </a:solidFill>
                <a:latin typeface="CiscoSansTT"/>
                <a:ea typeface="CiscoSansTT"/>
                <a:cs typeface="CiscoSansTT"/>
              </a:defRPr>
            </a:lvl6pPr>
            <a:lvl7pPr algn="ctr">
              <a:defRPr sz="2025" b="0">
                <a:solidFill>
                  <a:srgbClr val="686B6B"/>
                </a:solidFill>
                <a:latin typeface="CiscoSansTT"/>
                <a:ea typeface="CiscoSansTT"/>
                <a:cs typeface="CiscoSansTT"/>
              </a:defRPr>
            </a:lvl7pPr>
            <a:lvl8pPr algn="ctr">
              <a:defRPr sz="2025" b="0">
                <a:solidFill>
                  <a:srgbClr val="686B6B"/>
                </a:solidFill>
                <a:latin typeface="CiscoSansTT"/>
                <a:ea typeface="CiscoSansTT"/>
                <a:cs typeface="CiscoSansTT"/>
              </a:defRPr>
            </a:lvl8pPr>
            <a:lvl9pPr algn="ctr">
              <a:defRPr sz="2025" b="0">
                <a:solidFill>
                  <a:srgbClr val="686B6B"/>
                </a:solidFill>
                <a:latin typeface="CiscoSansTT"/>
                <a:ea typeface="CiscoSansTT"/>
                <a:cs typeface="CiscoSansTT"/>
              </a:defRPr>
            </a:lvl9pPr>
          </a:lstStyle>
          <a:p xmlns:a="http://schemas.openxmlformats.org/drawingml/2006/main">
            <a:pPr algn="ctr">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trace B</a:t>
            </a:r>
          </a:p>
        </p:txBody>
      </p:sp>
      <p:sp>
        <p:nvSpPr>
          <p:cNvPr id="37" name="connected-service-1">
            <a:extLst xmlns:a="http://schemas.openxmlformats.org/drawingml/2006/main">
              <a:ext uri="{FF2B5EF4-FFF2-40B4-BE49-F238E27FC236}">
                <a16:creationId xmlns:a16="http://schemas.microsoft.com/office/drawing/2014/main" id="{310D9500-B99A-44C2-919D-75F27387C75B}"/>
              </a:ext>
            </a:extLst>
          </p:cNvPr>
          <p:cNvSpPr>
            <a:spLocks xmlns:a="http://schemas.openxmlformats.org/drawingml/2006/main" noGrp="1"/>
          </p:cNvSpPr>
          <p:nvPr/>
        </p:nvSpPr>
        <p:spPr>
          <a:xfrm xmlns:a="http://schemas.openxmlformats.org/drawingml/2006/main">
            <a:off x="5905500" y="36671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recommendations-v2</a:t>
            </a:r>
          </a:p>
        </p:txBody>
      </p:sp>
      <p:sp>
        <p:nvSpPr>
          <p:cNvPr id="38" name="connected-trace-1">
            <a:extLst xmlns:a="http://schemas.openxmlformats.org/drawingml/2006/main">
              <a:ext uri="{FF2B5EF4-FFF2-40B4-BE49-F238E27FC236}">
                <a16:creationId xmlns:a16="http://schemas.microsoft.com/office/drawing/2014/main" id="{82D09BC9-F632-4CB1-8451-D6EC80E42F2B}"/>
              </a:ext>
            </a:extLst>
          </p:cNvPr>
          <p:cNvSpPr>
            <a:spLocks xmlns:a="http://schemas.openxmlformats.org/drawingml/2006/main" noGrp="1"/>
          </p:cNvSpPr>
          <p:nvPr/>
        </p:nvSpPr>
        <p:spPr>
          <a:xfrm xmlns:a="http://schemas.openxmlformats.org/drawingml/2006/main">
            <a:off x="5905500" y="41052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FF007F"/>
                </a:solidFill>
                <a:latin typeface="CiscoSansTT"/>
                <a:ea typeface="CiscoSansTT"/>
                <a:cs typeface="CiscoSansTT"/>
              </a:defRPr>
            </a:defPPr>
            <a:lvl1pPr algn="ctr">
              <a:defRPr sz="2025" b="0">
                <a:solidFill>
                  <a:srgbClr val="FF007F"/>
                </a:solidFill>
                <a:latin typeface="CiscoSansTT"/>
                <a:ea typeface="CiscoSansTT"/>
                <a:cs typeface="CiscoSansTT"/>
              </a:defRPr>
            </a:lvl1pPr>
            <a:lvl2pPr algn="ctr">
              <a:defRPr sz="2025" b="0">
                <a:solidFill>
                  <a:srgbClr val="FF007F"/>
                </a:solidFill>
                <a:latin typeface="CiscoSansTT"/>
                <a:ea typeface="CiscoSansTT"/>
                <a:cs typeface="CiscoSansTT"/>
              </a:defRPr>
            </a:lvl2pPr>
            <a:lvl3pPr algn="ctr">
              <a:defRPr sz="2025" b="0">
                <a:solidFill>
                  <a:srgbClr val="FF007F"/>
                </a:solidFill>
                <a:latin typeface="CiscoSansTT"/>
                <a:ea typeface="CiscoSansTT"/>
                <a:cs typeface="CiscoSansTT"/>
              </a:defRPr>
            </a:lvl3pPr>
            <a:lvl4pPr algn="ctr">
              <a:defRPr sz="2025" b="0">
                <a:solidFill>
                  <a:srgbClr val="FF007F"/>
                </a:solidFill>
                <a:latin typeface="CiscoSansTT"/>
                <a:ea typeface="CiscoSansTT"/>
                <a:cs typeface="CiscoSansTT"/>
              </a:defRPr>
            </a:lvl4pPr>
            <a:lvl5pPr algn="ctr">
              <a:defRPr sz="2025" b="0">
                <a:solidFill>
                  <a:srgbClr val="FF007F"/>
                </a:solidFill>
                <a:latin typeface="CiscoSansTT"/>
                <a:ea typeface="CiscoSansTT"/>
                <a:cs typeface="CiscoSansTT"/>
              </a:defRPr>
            </a:lvl5pPr>
            <a:lvl6pPr algn="ctr">
              <a:defRPr sz="2025" b="0">
                <a:solidFill>
                  <a:srgbClr val="FF007F"/>
                </a:solidFill>
                <a:latin typeface="CiscoSansTT"/>
                <a:ea typeface="CiscoSansTT"/>
                <a:cs typeface="CiscoSansTT"/>
              </a:defRPr>
            </a:lvl6pPr>
            <a:lvl7pPr algn="ctr">
              <a:defRPr sz="2025" b="0">
                <a:solidFill>
                  <a:srgbClr val="FF007F"/>
                </a:solidFill>
                <a:latin typeface="CiscoSansTT"/>
                <a:ea typeface="CiscoSansTT"/>
                <a:cs typeface="CiscoSansTT"/>
              </a:defRPr>
            </a:lvl7pPr>
            <a:lvl8pPr algn="ctr">
              <a:defRPr sz="2025" b="0">
                <a:solidFill>
                  <a:srgbClr val="FF007F"/>
                </a:solidFill>
                <a:latin typeface="CiscoSansTT"/>
                <a:ea typeface="CiscoSansTT"/>
                <a:cs typeface="CiscoSansTT"/>
              </a:defRPr>
            </a:lvl8pPr>
            <a:lvl9pPr algn="ctr">
              <a:defRPr sz="2025" b="0">
                <a:solidFill>
                  <a:srgbClr val="FF007F"/>
                </a:solidFill>
                <a:latin typeface="CiscoSansTT"/>
                <a:ea typeface="CiscoSansTT"/>
                <a:cs typeface="CiscoSansTT"/>
              </a:defRPr>
            </a:lvl9pPr>
          </a:lstStyle>
          <a:p xmlns:a="http://schemas.openxmlformats.org/drawingml/2006/main">
            <a:pPr algn="ctr">
              <a:defRPr sz="2025" b="0">
                <a:solidFill>
                  <a:srgbClr val="FF007F"/>
                </a:solidFill>
                <a:latin typeface="CiscoSansTT"/>
                <a:ea typeface="CiscoSansTT"/>
                <a:cs typeface="CiscoSansTT"/>
              </a:defRPr>
            </a:pPr>
            <a:r>
              <a:rPr sz="2025" b="0">
                <a:solidFill>
                  <a:srgbClr val="FF007F"/>
                </a:solidFill>
                <a:latin typeface="CiscoSansTT"/>
                <a:ea typeface="CiscoSansTT"/>
                <a:cs typeface="CiscoSansTT"/>
              </a:rPr>
              <a:t>trace A</a:t>
            </a:r>
          </a:p>
        </p:txBody>
      </p:sp>
      <p:cxnSp>
        <p:nvCxnSpPr>
          <p:cNvPr id="39" name="connected-arrow-1">
            <a:extLst xmlns:a="http://schemas.openxmlformats.org/drawingml/2006/main">
              <a:ext uri="{FF2B5EF4-FFF2-40B4-BE49-F238E27FC236}">
                <a16:creationId xmlns:a16="http://schemas.microsoft.com/office/drawing/2014/main" id="{58C74CE6-FB6D-458E-8F84-36C1DE4CECFE}"/>
              </a:ext>
            </a:extLst>
          </p:cNvPr>
          <p:cNvCxnSpPr/>
          <p:nvPr/>
        </p:nvCxnSpPr>
        <p:spPr>
          <a:xfrm xmlns:a="http://schemas.openxmlformats.org/drawingml/2006/main">
            <a:off x="8572500" y="4067175"/>
            <a:ext cx="381000" cy="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40" name="separate-service-2">
            <a:extLst xmlns:a="http://schemas.openxmlformats.org/drawingml/2006/main">
              <a:ext uri="{FF2B5EF4-FFF2-40B4-BE49-F238E27FC236}">
                <a16:creationId xmlns:a16="http://schemas.microsoft.com/office/drawing/2014/main" id="{CC8B3893-711C-4C50-9092-A6351063FA5B}"/>
              </a:ext>
            </a:extLst>
          </p:cNvPr>
          <p:cNvSpPr>
            <a:spLocks xmlns:a="http://schemas.openxmlformats.org/drawingml/2006/main" noGrp="1"/>
          </p:cNvSpPr>
          <p:nvPr/>
        </p:nvSpPr>
        <p:spPr>
          <a:xfrm xmlns:a="http://schemas.openxmlformats.org/drawingml/2006/main">
            <a:off x="8953500" y="19526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recommendations-v1</a:t>
            </a:r>
          </a:p>
        </p:txBody>
      </p:sp>
      <p:sp>
        <p:nvSpPr>
          <p:cNvPr id="41" name="separate-trace-2">
            <a:extLst xmlns:a="http://schemas.openxmlformats.org/drawingml/2006/main">
              <a:ext uri="{FF2B5EF4-FFF2-40B4-BE49-F238E27FC236}">
                <a16:creationId xmlns:a16="http://schemas.microsoft.com/office/drawing/2014/main" id="{FAE27280-8D29-4C1B-84C5-D48115E5D971}"/>
              </a:ext>
            </a:extLst>
          </p:cNvPr>
          <p:cNvSpPr>
            <a:spLocks xmlns:a="http://schemas.openxmlformats.org/drawingml/2006/main" noGrp="1"/>
          </p:cNvSpPr>
          <p:nvPr/>
        </p:nvSpPr>
        <p:spPr>
          <a:xfrm xmlns:a="http://schemas.openxmlformats.org/drawingml/2006/main">
            <a:off x="8953500" y="23907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686B6B"/>
                </a:solidFill>
                <a:latin typeface="CiscoSansTT"/>
                <a:ea typeface="CiscoSansTT"/>
                <a:cs typeface="CiscoSansTT"/>
              </a:defRPr>
            </a:defPPr>
            <a:lvl1pPr algn="ctr">
              <a:defRPr sz="2025" b="0">
                <a:solidFill>
                  <a:srgbClr val="686B6B"/>
                </a:solidFill>
                <a:latin typeface="CiscoSansTT"/>
                <a:ea typeface="CiscoSansTT"/>
                <a:cs typeface="CiscoSansTT"/>
              </a:defRPr>
            </a:lvl1pPr>
            <a:lvl2pPr algn="ctr">
              <a:defRPr sz="2025" b="0">
                <a:solidFill>
                  <a:srgbClr val="686B6B"/>
                </a:solidFill>
                <a:latin typeface="CiscoSansTT"/>
                <a:ea typeface="CiscoSansTT"/>
                <a:cs typeface="CiscoSansTT"/>
              </a:defRPr>
            </a:lvl2pPr>
            <a:lvl3pPr algn="ctr">
              <a:defRPr sz="2025" b="0">
                <a:solidFill>
                  <a:srgbClr val="686B6B"/>
                </a:solidFill>
                <a:latin typeface="CiscoSansTT"/>
                <a:ea typeface="CiscoSansTT"/>
                <a:cs typeface="CiscoSansTT"/>
              </a:defRPr>
            </a:lvl3pPr>
            <a:lvl4pPr algn="ctr">
              <a:defRPr sz="2025" b="0">
                <a:solidFill>
                  <a:srgbClr val="686B6B"/>
                </a:solidFill>
                <a:latin typeface="CiscoSansTT"/>
                <a:ea typeface="CiscoSansTT"/>
                <a:cs typeface="CiscoSansTT"/>
              </a:defRPr>
            </a:lvl4pPr>
            <a:lvl5pPr algn="ctr">
              <a:defRPr sz="2025" b="0">
                <a:solidFill>
                  <a:srgbClr val="686B6B"/>
                </a:solidFill>
                <a:latin typeface="CiscoSansTT"/>
                <a:ea typeface="CiscoSansTT"/>
                <a:cs typeface="CiscoSansTT"/>
              </a:defRPr>
            </a:lvl5pPr>
            <a:lvl6pPr algn="ctr">
              <a:defRPr sz="2025" b="0">
                <a:solidFill>
                  <a:srgbClr val="686B6B"/>
                </a:solidFill>
                <a:latin typeface="CiscoSansTT"/>
                <a:ea typeface="CiscoSansTT"/>
                <a:cs typeface="CiscoSansTT"/>
              </a:defRPr>
            </a:lvl6pPr>
            <a:lvl7pPr algn="ctr">
              <a:defRPr sz="2025" b="0">
                <a:solidFill>
                  <a:srgbClr val="686B6B"/>
                </a:solidFill>
                <a:latin typeface="CiscoSansTT"/>
                <a:ea typeface="CiscoSansTT"/>
                <a:cs typeface="CiscoSansTT"/>
              </a:defRPr>
            </a:lvl7pPr>
            <a:lvl8pPr algn="ctr">
              <a:defRPr sz="2025" b="0">
                <a:solidFill>
                  <a:srgbClr val="686B6B"/>
                </a:solidFill>
                <a:latin typeface="CiscoSansTT"/>
                <a:ea typeface="CiscoSansTT"/>
                <a:cs typeface="CiscoSansTT"/>
              </a:defRPr>
            </a:lvl8pPr>
            <a:lvl9pPr algn="ctr">
              <a:defRPr sz="2025" b="0">
                <a:solidFill>
                  <a:srgbClr val="686B6B"/>
                </a:solidFill>
                <a:latin typeface="CiscoSansTT"/>
                <a:ea typeface="CiscoSansTT"/>
                <a:cs typeface="CiscoSansTT"/>
              </a:defRPr>
            </a:lvl9pPr>
          </a:lstStyle>
          <a:p xmlns:a="http://schemas.openxmlformats.org/drawingml/2006/main">
            <a:pPr algn="ctr">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trace C</a:t>
            </a:r>
          </a:p>
        </p:txBody>
      </p:sp>
      <p:sp>
        <p:nvSpPr>
          <p:cNvPr id="42" name="connected-service-2">
            <a:extLst xmlns:a="http://schemas.openxmlformats.org/drawingml/2006/main">
              <a:ext uri="{FF2B5EF4-FFF2-40B4-BE49-F238E27FC236}">
                <a16:creationId xmlns:a16="http://schemas.microsoft.com/office/drawing/2014/main" id="{5BC5BEA4-D1D9-4457-A3D9-ACE9F49D013B}"/>
              </a:ext>
            </a:extLst>
          </p:cNvPr>
          <p:cNvSpPr>
            <a:spLocks xmlns:a="http://schemas.openxmlformats.org/drawingml/2006/main" noGrp="1"/>
          </p:cNvSpPr>
          <p:nvPr/>
        </p:nvSpPr>
        <p:spPr>
          <a:xfrm xmlns:a="http://schemas.openxmlformats.org/drawingml/2006/main">
            <a:off x="8953500" y="3667125"/>
            <a:ext cx="266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recommendations-v1</a:t>
            </a:r>
          </a:p>
        </p:txBody>
      </p:sp>
      <p:sp>
        <p:nvSpPr>
          <p:cNvPr id="43" name="connected-trace-2">
            <a:extLst xmlns:a="http://schemas.openxmlformats.org/drawingml/2006/main">
              <a:ext uri="{FF2B5EF4-FFF2-40B4-BE49-F238E27FC236}">
                <a16:creationId xmlns:a16="http://schemas.microsoft.com/office/drawing/2014/main" id="{A87573EB-2167-498C-904E-769F6B9FF4FC}"/>
              </a:ext>
            </a:extLst>
          </p:cNvPr>
          <p:cNvSpPr>
            <a:spLocks xmlns:a="http://schemas.openxmlformats.org/drawingml/2006/main" noGrp="1"/>
          </p:cNvSpPr>
          <p:nvPr/>
        </p:nvSpPr>
        <p:spPr>
          <a:xfrm xmlns:a="http://schemas.openxmlformats.org/drawingml/2006/main">
            <a:off x="8953500" y="4105275"/>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0">
                <a:solidFill>
                  <a:srgbClr val="FF007F"/>
                </a:solidFill>
                <a:latin typeface="CiscoSansTT"/>
                <a:ea typeface="CiscoSansTT"/>
                <a:cs typeface="CiscoSansTT"/>
              </a:defRPr>
            </a:defPPr>
            <a:lvl1pPr algn="ctr">
              <a:defRPr sz="2025" b="0">
                <a:solidFill>
                  <a:srgbClr val="FF007F"/>
                </a:solidFill>
                <a:latin typeface="CiscoSansTT"/>
                <a:ea typeface="CiscoSansTT"/>
                <a:cs typeface="CiscoSansTT"/>
              </a:defRPr>
            </a:lvl1pPr>
            <a:lvl2pPr algn="ctr">
              <a:defRPr sz="2025" b="0">
                <a:solidFill>
                  <a:srgbClr val="FF007F"/>
                </a:solidFill>
                <a:latin typeface="CiscoSansTT"/>
                <a:ea typeface="CiscoSansTT"/>
                <a:cs typeface="CiscoSansTT"/>
              </a:defRPr>
            </a:lvl2pPr>
            <a:lvl3pPr algn="ctr">
              <a:defRPr sz="2025" b="0">
                <a:solidFill>
                  <a:srgbClr val="FF007F"/>
                </a:solidFill>
                <a:latin typeface="CiscoSansTT"/>
                <a:ea typeface="CiscoSansTT"/>
                <a:cs typeface="CiscoSansTT"/>
              </a:defRPr>
            </a:lvl3pPr>
            <a:lvl4pPr algn="ctr">
              <a:defRPr sz="2025" b="0">
                <a:solidFill>
                  <a:srgbClr val="FF007F"/>
                </a:solidFill>
                <a:latin typeface="CiscoSansTT"/>
                <a:ea typeface="CiscoSansTT"/>
                <a:cs typeface="CiscoSansTT"/>
              </a:defRPr>
            </a:lvl4pPr>
            <a:lvl5pPr algn="ctr">
              <a:defRPr sz="2025" b="0">
                <a:solidFill>
                  <a:srgbClr val="FF007F"/>
                </a:solidFill>
                <a:latin typeface="CiscoSansTT"/>
                <a:ea typeface="CiscoSansTT"/>
                <a:cs typeface="CiscoSansTT"/>
              </a:defRPr>
            </a:lvl5pPr>
            <a:lvl6pPr algn="ctr">
              <a:defRPr sz="2025" b="0">
                <a:solidFill>
                  <a:srgbClr val="FF007F"/>
                </a:solidFill>
                <a:latin typeface="CiscoSansTT"/>
                <a:ea typeface="CiscoSansTT"/>
                <a:cs typeface="CiscoSansTT"/>
              </a:defRPr>
            </a:lvl6pPr>
            <a:lvl7pPr algn="ctr">
              <a:defRPr sz="2025" b="0">
                <a:solidFill>
                  <a:srgbClr val="FF007F"/>
                </a:solidFill>
                <a:latin typeface="CiscoSansTT"/>
                <a:ea typeface="CiscoSansTT"/>
                <a:cs typeface="CiscoSansTT"/>
              </a:defRPr>
            </a:lvl7pPr>
            <a:lvl8pPr algn="ctr">
              <a:defRPr sz="2025" b="0">
                <a:solidFill>
                  <a:srgbClr val="FF007F"/>
                </a:solidFill>
                <a:latin typeface="CiscoSansTT"/>
                <a:ea typeface="CiscoSansTT"/>
                <a:cs typeface="CiscoSansTT"/>
              </a:defRPr>
            </a:lvl8pPr>
            <a:lvl9pPr algn="ctr">
              <a:defRPr sz="2025" b="0">
                <a:solidFill>
                  <a:srgbClr val="FF007F"/>
                </a:solidFill>
                <a:latin typeface="CiscoSansTT"/>
                <a:ea typeface="CiscoSansTT"/>
                <a:cs typeface="CiscoSansTT"/>
              </a:defRPr>
            </a:lvl9pPr>
          </a:lstStyle>
          <a:p xmlns:a="http://schemas.openxmlformats.org/drawingml/2006/main">
            <a:pPr algn="ctr">
              <a:defRPr sz="2025" b="0">
                <a:solidFill>
                  <a:srgbClr val="FF007F"/>
                </a:solidFill>
                <a:latin typeface="CiscoSansTT"/>
                <a:ea typeface="CiscoSansTT"/>
                <a:cs typeface="CiscoSansTT"/>
              </a:defRPr>
            </a:pPr>
            <a:r>
              <a:rPr sz="2025" b="0">
                <a:solidFill>
                  <a:srgbClr val="FF007F"/>
                </a:solidFill>
                <a:latin typeface="CiscoSansTT"/>
                <a:ea typeface="CiscoSansTT"/>
                <a:cs typeface="CiscoSansTT"/>
              </a:rPr>
              <a:t>trace A</a:t>
            </a:r>
          </a:p>
        </p:txBody>
      </p:sp>
      <p:sp>
        <p:nvSpPr>
          <p:cNvPr id="44" name="context-caption">
            <a:extLst xmlns:a="http://schemas.openxmlformats.org/drawingml/2006/main">
              <a:ext uri="{FF2B5EF4-FFF2-40B4-BE49-F238E27FC236}">
                <a16:creationId xmlns:a16="http://schemas.microsoft.com/office/drawing/2014/main" id="{C3CEF991-D416-48DE-98B7-F45F0C37561C}"/>
              </a:ext>
            </a:extLst>
          </p:cNvPr>
          <p:cNvSpPr>
            <a:spLocks xmlns:a="http://schemas.openxmlformats.org/drawingml/2006/main" noGrp="1"/>
          </p:cNvSpPr>
          <p:nvPr/>
        </p:nvSpPr>
        <p:spPr>
          <a:xfrm xmlns:a="http://schemas.openxmlformats.org/drawingml/2006/main">
            <a:off x="666750" y="52768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Trace context connects operations across services into one request journey.</a:t>
            </a:r>
          </a:p>
        </p:txBody>
      </p:sp>
    </p:spTree>
    <p:extLst>
      <p:ext uri="{BB962C8B-B14F-4D97-AF65-F5344CB8AC3E}">
        <p14:creationId xmlns:p14="http://schemas.microsoft.com/office/powerpoint/2010/main" val="76814743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a:ext uri="{FF2B5EF4-FFF2-40B4-BE49-F238E27FC236}">
                <a16:creationId xmlns:a16="http://schemas.microsoft.com/office/drawing/2014/main" id="{797D88E8-3667-4134-9800-450B462DB550}"/>
              </a:ext>
            </a:extLst>
          </p:cNvPr>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82" name="legacy-scope-13">
            <a:extLst>
              <a:ext uri="{FF2B5EF4-FFF2-40B4-BE49-F238E27FC236}">
                <a16:creationId xmlns:a16="http://schemas.microsoft.com/office/drawing/2014/main" id="{4CC8AF7F-33BE-4416-AA98-47F6C1C618C8}"/>
              </a:ext>
            </a:extLst>
          </p:cNvPr>
          <p:cNvSpPr>
            <a:spLocks noGrp="1"/>
          </p:cNvSpPr>
          <p:nvPr/>
        </p:nvSpPr>
        <p:spPr>
          <a:xfrm>
            <a:off x="666750" y="1552575"/>
            <a:ext cx="10858500" cy="361950"/>
          </a:xfrm>
          <a:prstGeom prst="rect">
            <a:avLst/>
          </a:prstGeom>
          <a:noFill/>
          <a:ln w="0">
            <a:noFill/>
          </a:ln>
        </p:spPr>
        <p:txBody>
          <a:bodyPr anchor="ctr">
            <a:noAutofit/>
          </a:bodyPr>
          <a:lstStyle>
            <a:defPPr algn="l">
              <a:defRPr sz="1650" b="0">
                <a:solidFill>
                  <a:srgbClr val="0860FE"/>
                </a:solidFill>
                <a:latin typeface="CiscoSansTT"/>
                <a:ea typeface="CiscoSansTT"/>
                <a:cs typeface="CiscoSansTT"/>
              </a:defRPr>
            </a:defPPr>
            <a:lvl1pPr algn="l">
              <a:defRPr sz="1650" b="0">
                <a:solidFill>
                  <a:srgbClr val="0860FE"/>
                </a:solidFill>
                <a:latin typeface="CiscoSansTT"/>
                <a:ea typeface="CiscoSansTT"/>
                <a:cs typeface="CiscoSansTT"/>
              </a:defRPr>
            </a:lvl1pPr>
            <a:lvl2pPr algn="l">
              <a:defRPr sz="1650" b="0">
                <a:solidFill>
                  <a:srgbClr val="0860FE"/>
                </a:solidFill>
                <a:latin typeface="CiscoSansTT"/>
                <a:ea typeface="CiscoSansTT"/>
                <a:cs typeface="CiscoSansTT"/>
              </a:defRPr>
            </a:lvl2pPr>
            <a:lvl3pPr algn="l">
              <a:defRPr sz="1650" b="0">
                <a:solidFill>
                  <a:srgbClr val="0860FE"/>
                </a:solidFill>
                <a:latin typeface="CiscoSansTT"/>
                <a:ea typeface="CiscoSansTT"/>
                <a:cs typeface="CiscoSansTT"/>
              </a:defRPr>
            </a:lvl3pPr>
            <a:lvl4pPr algn="l">
              <a:defRPr sz="1650" b="0">
                <a:solidFill>
                  <a:srgbClr val="0860FE"/>
                </a:solidFill>
                <a:latin typeface="CiscoSansTT"/>
                <a:ea typeface="CiscoSansTT"/>
                <a:cs typeface="CiscoSansTT"/>
              </a:defRPr>
            </a:lvl4pPr>
            <a:lvl5pPr algn="l">
              <a:defRPr sz="1650" b="0">
                <a:solidFill>
                  <a:srgbClr val="0860FE"/>
                </a:solidFill>
                <a:latin typeface="CiscoSansTT"/>
                <a:ea typeface="CiscoSansTT"/>
                <a:cs typeface="CiscoSansTT"/>
              </a:defRPr>
            </a:lvl5pPr>
            <a:lvl6pPr algn="l">
              <a:defRPr sz="1650" b="0">
                <a:solidFill>
                  <a:srgbClr val="0860FE"/>
                </a:solidFill>
                <a:latin typeface="CiscoSansTT"/>
                <a:ea typeface="CiscoSansTT"/>
                <a:cs typeface="CiscoSansTT"/>
              </a:defRPr>
            </a:lvl6pPr>
            <a:lvl7pPr algn="l">
              <a:defRPr sz="1650" b="0">
                <a:solidFill>
                  <a:srgbClr val="0860FE"/>
                </a:solidFill>
                <a:latin typeface="CiscoSansTT"/>
                <a:ea typeface="CiscoSansTT"/>
                <a:cs typeface="CiscoSansTT"/>
              </a:defRPr>
            </a:lvl7pPr>
            <a:lvl8pPr algn="l">
              <a:defRPr sz="1650" b="0">
                <a:solidFill>
                  <a:srgbClr val="0860FE"/>
                </a:solidFill>
                <a:latin typeface="CiscoSansTT"/>
                <a:ea typeface="CiscoSansTT"/>
                <a:cs typeface="CiscoSansTT"/>
              </a:defRPr>
            </a:lvl8pPr>
            <a:lvl9pPr algn="l">
              <a:defRPr sz="1650" b="0">
                <a:solidFill>
                  <a:srgbClr val="0860FE"/>
                </a:solidFill>
                <a:latin typeface="CiscoSansTT"/>
                <a:ea typeface="CiscoSansTT"/>
                <a:cs typeface="CiscoSansTT"/>
              </a:defRPr>
            </a:lvl9pPr>
          </a:lstStyle>
          <a:p>
            <a:pPr algn="l">
              <a:defRPr sz="1650" b="0">
                <a:solidFill>
                  <a:srgbClr val="0860FE"/>
                </a:solidFill>
                <a:latin typeface="CiscoSansTT"/>
                <a:ea typeface="CiscoSansTT"/>
                <a:cs typeface="CiscoSansTT"/>
              </a:defRPr>
            </a:pPr>
            <a:r>
              <a:rPr sz="165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73577452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
        <p:nvSpPr>
          <p:cNvPr id="7" name="legacy-scope-14">
            <a:extLst>
              <a:ext uri="{FF2B5EF4-FFF2-40B4-BE49-F238E27FC236}">
                <a16:creationId xmlns:a16="http://schemas.microsoft.com/office/drawing/2014/main" id="{43A08D25-20BE-438B-99EE-112AAA72E1E6}"/>
              </a:ext>
            </a:extLst>
          </p:cNvPr>
          <p:cNvSpPr>
            <a:spLocks noGrp="1"/>
          </p:cNvSpPr>
          <p:nvPr/>
        </p:nvSpPr>
        <p:spPr>
          <a:xfrm>
            <a:off x="1524000" y="933450"/>
            <a:ext cx="10096500" cy="247650"/>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lang="en-US" dirty="0"/>
              <a:t>Demo</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0" name="matrix-common-baseline">
            <a:extLst>
              <a:ext uri="{FF2B5EF4-FFF2-40B4-BE49-F238E27FC236}">
                <a16:creationId xmlns:a16="http://schemas.microsoft.com/office/drawing/2014/main" id="{B329934B-FE8A-4130-86CC-A9058619FC98}"/>
              </a:ext>
            </a:extLst>
          </p:cNvPr>
          <p:cNvSpPr>
            <a:spLocks noGrp="1"/>
          </p:cNvSpPr>
          <p:nvPr/>
        </p:nvSpPr>
        <p:spPr>
          <a:xfrm>
            <a:off x="762000" y="1114425"/>
            <a:ext cx="10668000" cy="40005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Cilium networking is enabled in every scenario.</a:t>
            </a:r>
          </a:p>
        </p:txBody>
      </p:sp>
      <p:graphicFrame>
        <p:nvGraphicFramePr>
          <p:cNvPr id="21" name="Table 20">
            <a:extLst>
              <a:ext uri="{FF2B5EF4-FFF2-40B4-BE49-F238E27FC236}">
                <a16:creationId xmlns:a16="http://schemas.microsoft.com/office/drawing/2014/main" id="{FA64263C-1D2C-4AB7-8F71-036F7E775E5D}"/>
              </a:ext>
            </a:extLst>
          </p:cNvPr>
          <p:cNvGraphicFramePr/>
          <p:nvPr/>
        </p:nvGraphicFramePr>
        <p:xfrm>
          <a:off x="762000" y="1762125"/>
          <a:ext cx="10668000" cy="3733800"/>
        </p:xfrm>
        <a:graphic>
          <a:graphicData uri="http://schemas.openxmlformats.org/drawingml/2006/table">
            <a:tbl>
              <a:tblPr/>
              <a:tblGrid>
                <a:gridCol w="1190625">
                  <a:extLst>
                    <a:ext uri="{9D8B030D-6E8A-4147-A177-3AD203B41FA5}">
                      <a16:colId xmlns:a16="http://schemas.microsoft.com/office/drawing/2014/main" val="20000"/>
                    </a:ext>
                  </a:extLst>
                </a:gridCol>
                <a:gridCol w="1428750">
                  <a:extLst>
                    <a:ext uri="{9D8B030D-6E8A-4147-A177-3AD203B41FA5}">
                      <a16:colId xmlns:a16="http://schemas.microsoft.com/office/drawing/2014/main" val="20001"/>
                    </a:ext>
                  </a:extLst>
                </a:gridCol>
                <a:gridCol w="1476375">
                  <a:extLst>
                    <a:ext uri="{9D8B030D-6E8A-4147-A177-3AD203B41FA5}">
                      <a16:colId xmlns:a16="http://schemas.microsoft.com/office/drawing/2014/main" val="20002"/>
                    </a:ext>
                  </a:extLst>
                </a:gridCol>
                <a:gridCol w="1476375">
                  <a:extLst>
                    <a:ext uri="{9D8B030D-6E8A-4147-A177-3AD203B41FA5}">
                      <a16:colId xmlns:a16="http://schemas.microsoft.com/office/drawing/2014/main" val="20003"/>
                    </a:ext>
                  </a:extLst>
                </a:gridCol>
                <a:gridCol w="1381125">
                  <a:extLst>
                    <a:ext uri="{9D8B030D-6E8A-4147-A177-3AD203B41FA5}">
                      <a16:colId xmlns:a16="http://schemas.microsoft.com/office/drawing/2014/main" val="20004"/>
                    </a:ext>
                  </a:extLst>
                </a:gridCol>
                <a:gridCol w="1952625">
                  <a:extLst>
                    <a:ext uri="{9D8B030D-6E8A-4147-A177-3AD203B41FA5}">
                      <a16:colId xmlns:a16="http://schemas.microsoft.com/office/drawing/2014/main" val="20005"/>
                    </a:ext>
                  </a:extLst>
                </a:gridCol>
                <a:gridCol w="1762125">
                  <a:extLst>
                    <a:ext uri="{9D8B030D-6E8A-4147-A177-3AD203B41FA5}">
                      <a16:colId xmlns:a16="http://schemas.microsoft.com/office/drawing/2014/main" val="20006"/>
                    </a:ext>
                  </a:extLst>
                </a:gridCol>
              </a:tblGrid>
              <a:tr h="781050">
                <a:tc>
                  <a:txBody>
                    <a:bodyPr/>
                    <a:lstStyle/>
                    <a:p>
                      <a:pPr algn="ctr"/>
                      <a:r>
                        <a:rPr sz="1575" b="1">
                          <a:solidFill>
                            <a:srgbClr val="07182A"/>
                          </a:solidFill>
                          <a:latin typeface="CiscoSansTT Medium"/>
                          <a:ea typeface="CiscoSansTT Medium"/>
                          <a:cs typeface="CiscoSansTT Medium"/>
                        </a:rPr>
                        <a:t>Scenario</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Run status</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Hubble</a:t>
                      </a:r>
                    </a:p>
                    <a:p>
                      <a:pPr algn="ctr"/>
                      <a:r>
                        <a:rPr sz="1575" b="1">
                          <a:solidFill>
                            <a:srgbClr val="07182A"/>
                          </a:solidFill>
                          <a:latin typeface="CiscoSansTT Medium"/>
                          <a:ea typeface="CiscoSansTT Medium"/>
                          <a:cs typeface="CiscoSansTT Medium"/>
                        </a:rPr>
                        <a:t>L3/L4</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OBI RED</a:t>
                      </a:r>
                    </a:p>
                    <a:p>
                      <a:pPr algn="ctr"/>
                      <a:r>
                        <a:rPr sz="1575" b="1">
                          <a:solidFill>
                            <a:srgbClr val="07182A"/>
                          </a:solidFill>
                          <a:latin typeface="CiscoSansTT Medium"/>
                          <a:ea typeface="CiscoSansTT Medium"/>
                          <a:cs typeface="CiscoSansTT Medium"/>
                        </a:rPr>
                        <a:t>metrics</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OBI</a:t>
                      </a:r>
                    </a:p>
                    <a:p>
                      <a:pPr algn="ctr"/>
                      <a:r>
                        <a:rPr sz="1575" b="1">
                          <a:solidFill>
                            <a:srgbClr val="07182A"/>
                          </a:solidFill>
                          <a:latin typeface="CiscoSansTT Medium"/>
                          <a:ea typeface="CiscoSansTT Medium"/>
                          <a:cs typeface="CiscoSansTT Medium"/>
                        </a:rPr>
                        <a:t>traces</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TCP</a:t>
                      </a:r>
                    </a:p>
                    <a:p>
                      <a:pPr algn="ctr"/>
                      <a:r>
                        <a:rPr sz="1575" b="1">
                          <a:solidFill>
                            <a:srgbClr val="07182A"/>
                          </a:solidFill>
                          <a:latin typeface="CiscoSansTT Medium"/>
                          <a:ea typeface="CiscoSansTT Medium"/>
                          <a:cs typeface="CiscoSansTT Medium"/>
                        </a:rPr>
                        <a:t>propagation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575" b="1">
                          <a:solidFill>
                            <a:srgbClr val="07182A"/>
                          </a:solidFill>
                          <a:latin typeface="CiscoSansTT Medium"/>
                          <a:ea typeface="CiscoSansTT Medium"/>
                          <a:cs typeface="CiscoSansTT Medium"/>
                        </a:rPr>
                        <a:t>Hubble</a:t>
                      </a:r>
                    </a:p>
                    <a:p>
                      <a:pPr algn="ctr"/>
                      <a:r>
                        <a:rPr sz="1575" b="1">
                          <a:solidFill>
                            <a:srgbClr val="07182A"/>
                          </a:solidFill>
                          <a:latin typeface="CiscoSansTT Medium"/>
                          <a:ea typeface="CiscoSansTT Medium"/>
                          <a:cs typeface="CiscoSansTT Medium"/>
                        </a:rPr>
                        <a:t>L7</a:t>
                      </a:r>
                    </a:p>
                  </a:txBody>
                  <a:tcPr anchor="ct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90550">
                <a:tc>
                  <a:txBody>
                    <a:bodyPr/>
                    <a:lstStyle/>
                    <a:p>
                      <a:pPr algn="ctr"/>
                      <a:r>
                        <a:rPr sz="1950" b="1">
                          <a:solidFill>
                            <a:srgbClr val="07182A"/>
                          </a:solidFill>
                          <a:latin typeface="CiscoSansTT Medium"/>
                          <a:ea typeface="CiscoSansTT Medium"/>
                          <a:cs typeface="CiscoSansTT Medium"/>
                        </a:rPr>
                        <a:t>A</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1">
                          <a:solidFill>
                            <a:srgbClr val="07182A"/>
                          </a:solidFill>
                          <a:latin typeface="CiscoSansTT"/>
                          <a:ea typeface="CiscoSansTT"/>
                          <a:cs typeface="CiscoSansTT"/>
                        </a:rPr>
                        <a:t>Planned</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90550">
                <a:tc>
                  <a:txBody>
                    <a:bodyPr/>
                    <a:lstStyle/>
                    <a:p>
                      <a:pPr algn="ctr"/>
                      <a:r>
                        <a:rPr sz="1950" b="1">
                          <a:solidFill>
                            <a:srgbClr val="0860FE"/>
                          </a:solidFill>
                          <a:latin typeface="CiscoSansTT Medium"/>
                          <a:ea typeface="CiscoSansTT Medium"/>
                          <a:cs typeface="CiscoSansTT Medium"/>
                        </a:rPr>
                        <a:t>B</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1">
                          <a:solidFill>
                            <a:srgbClr val="0860FE"/>
                          </a:solidFill>
                          <a:latin typeface="CiscoSansTT"/>
                          <a:ea typeface="CiscoSansTT"/>
                          <a:cs typeface="CiscoSansTT"/>
                        </a:rPr>
                        <a:t>Measured</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EAF8FC"/>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EAF8FC"/>
                    </a:solidFill>
                  </a:tcPr>
                </a:tc>
                <a:extLst>
                  <a:ext uri="{0D108BD9-81ED-4DB2-BD59-A6C34878D82A}">
                    <a16:rowId xmlns:a16="http://schemas.microsoft.com/office/drawing/2014/main" val="10002"/>
                  </a:ext>
                </a:extLst>
              </a:tr>
              <a:tr h="590550">
                <a:tc>
                  <a:txBody>
                    <a:bodyPr/>
                    <a:lstStyle/>
                    <a:p>
                      <a:pPr algn="ctr"/>
                      <a:r>
                        <a:rPr sz="1950" b="1">
                          <a:solidFill>
                            <a:srgbClr val="07182A"/>
                          </a:solidFill>
                          <a:latin typeface="CiscoSansTT Medium"/>
                          <a:ea typeface="CiscoSansTT Medium"/>
                          <a:cs typeface="CiscoSansTT Medium"/>
                        </a:rPr>
                        <a:t>C</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1">
                          <a:solidFill>
                            <a:srgbClr val="07182A"/>
                          </a:solidFill>
                          <a:latin typeface="CiscoSansTT"/>
                          <a:ea typeface="CiscoSansTT"/>
                          <a:cs typeface="CiscoSansTT"/>
                        </a:rPr>
                        <a:t>Planned</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90550">
                <a:tc>
                  <a:txBody>
                    <a:bodyPr/>
                    <a:lstStyle/>
                    <a:p>
                      <a:pPr algn="ctr"/>
                      <a:r>
                        <a:rPr sz="1950" b="1">
                          <a:solidFill>
                            <a:srgbClr val="FF007F"/>
                          </a:solidFill>
                          <a:latin typeface="CiscoSansTT Medium"/>
                          <a:ea typeface="CiscoSansTT Medium"/>
                          <a:cs typeface="CiscoSansTT Medium"/>
                        </a:rPr>
                        <a:t>D</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1">
                          <a:solidFill>
                            <a:srgbClr val="FF007F"/>
                          </a:solidFill>
                          <a:latin typeface="CiscoSansTT"/>
                          <a:ea typeface="CiscoSansTT"/>
                          <a:cs typeface="CiscoSansTT"/>
                        </a:rPr>
                        <a:t>Measured</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0">
                          <a:solidFill>
                            <a:srgbClr val="07182A"/>
                          </a:solidFill>
                          <a:latin typeface="CiscoSansTT"/>
                          <a:ea typeface="CiscoSansTT"/>
                          <a:cs typeface="CiscoSansTT"/>
                        </a:rPr>
                        <a:t>On (TCX)</a:t>
                      </a:r>
                    </a:p>
                  </a:txBody>
                  <a:tcPr anchor="ctr">
                    <a:lnL w="0">
                      <a:noFill/>
                    </a:lnL>
                    <a:lnR w="0">
                      <a:noFill/>
                    </a:lnR>
                    <a:lnT w="6350">
                      <a:solidFill>
                        <a:srgbClr val="D6DDE3"/>
                      </a:solidFill>
                    </a:lnT>
                    <a:lnB w="6350">
                      <a:solidFill>
                        <a:srgbClr val="D6DDE3"/>
                      </a:solidFill>
                    </a:lnB>
                    <a:solidFill>
                      <a:srgbClr val="F6ECF5"/>
                    </a:solidFill>
                  </a:tcPr>
                </a:tc>
                <a:tc>
                  <a:txBody>
                    <a:bodyPr/>
                    <a:lstStyle/>
                    <a:p>
                      <a:pPr algn="ctr"/>
                      <a:r>
                        <a:rPr sz="1725" b="0">
                          <a:solidFill>
                            <a:srgbClr val="07182A"/>
                          </a:solidFill>
                          <a:latin typeface="CiscoSansTT"/>
                          <a:ea typeface="CiscoSansTT"/>
                          <a:cs typeface="CiscoSansTT"/>
                        </a:rPr>
                        <a:t>Off</a:t>
                      </a:r>
                    </a:p>
                  </a:txBody>
                  <a:tcPr anchor="ctr">
                    <a:lnL w="0">
                      <a:noFill/>
                    </a:lnL>
                    <a:lnR w="0">
                      <a:noFill/>
                    </a:lnR>
                    <a:lnT w="6350">
                      <a:solidFill>
                        <a:srgbClr val="D6DDE3"/>
                      </a:solidFill>
                    </a:lnT>
                    <a:lnB w="6350">
                      <a:solidFill>
                        <a:srgbClr val="D6DDE3"/>
                      </a:solidFill>
                    </a:lnB>
                    <a:solidFill>
                      <a:srgbClr val="F6ECF5"/>
                    </a:solidFill>
                  </a:tcPr>
                </a:tc>
                <a:extLst>
                  <a:ext uri="{0D108BD9-81ED-4DB2-BD59-A6C34878D82A}">
                    <a16:rowId xmlns:a16="http://schemas.microsoft.com/office/drawing/2014/main" val="10004"/>
                  </a:ext>
                </a:extLst>
              </a:tr>
              <a:tr h="590550">
                <a:tc>
                  <a:txBody>
                    <a:bodyPr/>
                    <a:lstStyle/>
                    <a:p>
                      <a:pPr algn="ctr"/>
                      <a:r>
                        <a:rPr sz="1950" b="1">
                          <a:solidFill>
                            <a:srgbClr val="07182A"/>
                          </a:solidFill>
                          <a:latin typeface="CiscoSansTT Medium"/>
                          <a:ea typeface="CiscoSansTT Medium"/>
                          <a:cs typeface="CiscoSansTT Medium"/>
                        </a:rPr>
                        <a:t>E</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1">
                          <a:solidFill>
                            <a:srgbClr val="07182A"/>
                          </a:solidFill>
                          <a:latin typeface="CiscoSansTT"/>
                          <a:ea typeface="CiscoSansTT"/>
                          <a:cs typeface="CiscoSansTT"/>
                        </a:rPr>
                        <a:t>Planned</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 (TCX)</a:t>
                      </a:r>
                    </a:p>
                  </a:txBody>
                  <a:tcPr anchor="ctr">
                    <a:lnL w="0">
                      <a:noFill/>
                    </a:lnL>
                    <a:lnR w="0">
                      <a:noFill/>
                    </a:lnR>
                    <a:lnT w="6350">
                      <a:solidFill>
                        <a:srgbClr val="D6DDE3"/>
                      </a:solidFill>
                    </a:lnT>
                    <a:lnB w="6350">
                      <a:solidFill>
                        <a:srgbClr val="D6DDE3"/>
                      </a:solidFill>
                    </a:lnB>
                    <a:solidFill>
                      <a:srgbClr val="FFFFFF"/>
                    </a:solidFill>
                  </a:tcPr>
                </a:tc>
                <a:tc>
                  <a:txBody>
                    <a:bodyPr/>
                    <a:lstStyle/>
                    <a:p>
                      <a:pPr algn="ctr"/>
                      <a:r>
                        <a:rPr sz="1725" b="0">
                          <a:solidFill>
                            <a:srgbClr val="07182A"/>
                          </a:solidFill>
                          <a:latin typeface="CiscoSansTT"/>
                          <a:ea typeface="CiscoSansTT"/>
                          <a:cs typeface="CiscoSansTT"/>
                        </a:rPr>
                        <a:t>On (Envoy)</a:t>
                      </a:r>
                    </a:p>
                  </a:txBody>
                  <a:tcPr anchor="ct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matrix-controls">
            <a:extLst>
              <a:ext uri="{FF2B5EF4-FFF2-40B4-BE49-F238E27FC236}">
                <a16:creationId xmlns:a16="http://schemas.microsoft.com/office/drawing/2014/main" id="{4D741863-18F2-4FE8-9009-6A81C6066413}"/>
              </a:ext>
            </a:extLst>
          </p:cNvPr>
          <p:cNvSpPr>
            <a:spLocks noGrp="1"/>
          </p:cNvSpPr>
          <p:nvPr/>
        </p:nvSpPr>
        <p:spPr>
          <a:xfrm>
            <a:off x="762000" y="5772150"/>
            <a:ext cx="10668000" cy="4191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cxnSp>
        <p:nvCxnSpPr>
          <p:cNvPr id="362" name="Straight Arrow Connector 361">
            <a:extLst xmlns:a="http://schemas.openxmlformats.org/drawingml/2006/main">
              <a:ext uri="{FF2B5EF4-FFF2-40B4-BE49-F238E27FC236}">
                <a16:creationId xmlns:a16="http://schemas.microsoft.com/office/drawing/2014/main" id="{268E87F2-7F1B-4AD8-AD5D-5C8813C32B3E}"/>
              </a:ext>
            </a:extLst>
          </p:cNvPr>
          <p:cNvCxnSpPr>
            <a:stCxn xmlns:a="http://schemas.openxmlformats.org/drawingml/2006/main" id="9" idx="3"/>
            <a:endCxn xmlns:a="http://schemas.openxmlformats.org/drawingml/2006/main" id="10" idx="1"/>
          </p:cNvCxnSpPr>
          <p:nvPr/>
        </p:nvCxnSpPr>
        <p:spPr>
          <a:xfrm xmlns:a="http://schemas.openxmlformats.org/drawingml/2006/main">
            <a:off x="2952750" y="2647950"/>
            <a:ext cx="2000250" cy="0"/>
          </a:xfrm>
          <a:prstGeom xmlns:a="http://schemas.openxmlformats.org/drawingml/2006/main" prst="straightConnector1">
            <a:avLst/>
          </a:prstGeom>
          <a:ln xmlns:a="http://schemas.openxmlformats.org/drawingml/2006/main" w="19050">
            <a:solidFill>
              <a:srgbClr val="686B6B"/>
            </a:solidFill>
            <a:tailEnd type="arrow" w="med" len="med"/>
          </a:ln>
        </p:spPr>
      </p:cxnSp>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share TC hooks</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238375"/>
            <a:ext cx="2286000" cy="81915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238375"/>
            <a:ext cx="2286000" cy="81915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238375"/>
            <a:ext cx="2095500" cy="81915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Network</a:t>
            </a:r>
          </a:p>
        </p:txBody>
      </p:sp>
      <p:cxnSp>
        <p:nvCxnSpPr>
          <p:cNvPr id="350" name="Straight Arrow Connector 37">
            <a:extLst xmlns:a="http://schemas.openxmlformats.org/drawingml/2006/main">
              <a:ext uri="{FF2B5EF4-FFF2-40B4-BE49-F238E27FC236}">
                <a16:creationId xmlns:a16="http://schemas.microsoft.com/office/drawing/2014/main" id="{34ED727E-A515-419C-943E-EF26C720AB6F}"/>
              </a:ext>
            </a:extLst>
          </p:cNvPr>
          <p:cNvCxnSpPr>
            <a:stCxn xmlns:a="http://schemas.openxmlformats.org/drawingml/2006/main" id="10" idx="3"/>
            <a:endCxn xmlns:a="http://schemas.openxmlformats.org/drawingml/2006/main" id="11" idx="1"/>
          </p:cNvCxnSpPr>
          <p:nvPr/>
        </p:nvCxnSpPr>
        <p:spPr>
          <a:xfrm xmlns:a="http://schemas.openxmlformats.org/drawingml/2006/main">
            <a:off x="7239000" y="26479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3667125"/>
            <a:ext cx="7429500" cy="18097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3829050"/>
            <a:ext cx="674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950" b="1">
                <a:solidFill>
                  <a:srgbClr val="FFFFFF"/>
                </a:solidFill>
                <a:latin typeface="CiscoSansTT Medium"/>
                <a:ea typeface="CiscoSansTT Medium"/>
                <a:cs typeface="CiscoSansTT Medium"/>
              </a:defRPr>
            </a:defPPr>
            <a:lvl1pPr algn="ctr">
              <a:buNone/>
              <a:defRPr sz="1800" b="1">
                <a:solidFill>
                  <a:srgbClr val="FFFFFF"/>
                </a:solidFill>
                <a:latin typeface="CiscoSansTT Medium"/>
                <a:ea typeface="CiscoSansTT Medium"/>
                <a:cs typeface="CiscoSansTT Medium"/>
              </a:defRPr>
            </a:lvl1pPr>
            <a:lvl2pPr algn="ctr">
              <a:buNone/>
              <a:defRPr sz="1800" b="1">
                <a:solidFill>
                  <a:srgbClr val="FFFFFF"/>
                </a:solidFill>
                <a:latin typeface="CiscoSansTT Medium"/>
                <a:ea typeface="CiscoSansTT Medium"/>
                <a:cs typeface="CiscoSansTT Medium"/>
              </a:defRPr>
            </a:lvl2pPr>
            <a:lvl3pPr algn="ctr">
              <a:buNone/>
              <a:defRPr sz="1800" b="1">
                <a:solidFill>
                  <a:srgbClr val="FFFFFF"/>
                </a:solidFill>
                <a:latin typeface="CiscoSansTT Medium"/>
                <a:ea typeface="CiscoSansTT Medium"/>
                <a:cs typeface="CiscoSansTT Medium"/>
              </a:defRPr>
            </a:lvl3pPr>
            <a:lvl4pPr algn="ctr">
              <a:buNone/>
              <a:defRPr sz="1800" b="1">
                <a:solidFill>
                  <a:srgbClr val="FFFFFF"/>
                </a:solidFill>
                <a:latin typeface="CiscoSansTT Medium"/>
                <a:ea typeface="CiscoSansTT Medium"/>
                <a:cs typeface="CiscoSansTT Medium"/>
              </a:defRPr>
            </a:lvl4pPr>
            <a:lvl5pPr algn="ctr">
              <a:buNone/>
              <a:defRPr sz="1800" b="1">
                <a:solidFill>
                  <a:srgbClr val="FFFFFF"/>
                </a:solidFill>
                <a:latin typeface="CiscoSansTT Medium"/>
                <a:ea typeface="CiscoSansTT Medium"/>
                <a:cs typeface="CiscoSansTT Medium"/>
              </a:defRPr>
            </a:lvl5pPr>
            <a:lvl6pPr algn="ctr">
              <a:buNone/>
              <a:defRPr sz="1800" b="1">
                <a:solidFill>
                  <a:srgbClr val="FFFFFF"/>
                </a:solidFill>
                <a:latin typeface="CiscoSansTT Medium"/>
                <a:ea typeface="CiscoSansTT Medium"/>
                <a:cs typeface="CiscoSansTT Medium"/>
              </a:defRPr>
            </a:lvl6pPr>
            <a:lvl7pPr algn="ctr">
              <a:buNone/>
              <a:defRPr sz="1800" b="1">
                <a:solidFill>
                  <a:srgbClr val="FFFFFF"/>
                </a:solidFill>
                <a:latin typeface="CiscoSansTT Medium"/>
                <a:ea typeface="CiscoSansTT Medium"/>
                <a:cs typeface="CiscoSansTT Medium"/>
              </a:defRPr>
            </a:lvl7pPr>
            <a:lvl8pPr algn="ctr">
              <a:buNone/>
              <a:defRPr sz="1800" b="1">
                <a:solidFill>
                  <a:srgbClr val="FFFFFF"/>
                </a:solidFill>
                <a:latin typeface="CiscoSansTT Medium"/>
                <a:ea typeface="CiscoSansTT Medium"/>
                <a:cs typeface="CiscoSansTT Medium"/>
              </a:defRPr>
            </a:lvl8pPr>
            <a:lvl9pPr algn="ctr">
              <a:buNone/>
              <a:defRPr sz="1800" b="1">
                <a:solidFill>
                  <a:srgbClr val="FFFFFF"/>
                </a:solidFill>
                <a:latin typeface="CiscoSansTT Medium"/>
                <a:ea typeface="CiscoSansTT Medium"/>
                <a:cs typeface="CiscoSansTT Medium"/>
              </a:defRPr>
            </a:lvl9pPr>
          </a:lstStyle>
          <a:p xmlns:a="http://schemas.openxmlformats.org/drawingml/2006/main">
            <a:pPr algn="ctr">
              <a:buNone/>
              <a:defRPr sz="1950" b="1">
                <a:solidFill>
                  <a:srgbClr val="FFFFFF"/>
                </a:solidFill>
                <a:latin typeface="CiscoSansTT Medium"/>
                <a:ea typeface="CiscoSansTT Medium"/>
                <a:cs typeface="CiscoSansTT Medium"/>
              </a:defRPr>
            </a:pPr>
            <a:r>
              <a:rPr sz="1950"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333875"/>
            <a:ext cx="1428750" cy="4191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333875"/>
            <a:ext cx="2095500" cy="4191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4100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333"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333875"/>
            <a:ext cx="2343150" cy="4191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4914900"/>
            <a:ext cx="1428750" cy="4191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4914900"/>
            <a:ext cx="2095500" cy="4191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4991100"/>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333"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4914900"/>
            <a:ext cx="2343150" cy="4191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cxnSp>
        <p:nvCxnSpPr>
          <p:cNvPr id="361" name="Straight Arrow Connector 48">
            <a:extLst xmlns:a="http://schemas.openxmlformats.org/drawingml/2006/main">
              <a:ext uri="{FF2B5EF4-FFF2-40B4-BE49-F238E27FC236}">
                <a16:creationId xmlns:a16="http://schemas.microsoft.com/office/drawing/2014/main" id="{1F7AD18C-6BE3-4C33-A621-A47780B3BC62}"/>
              </a:ext>
            </a:extLst>
          </p:cNvPr>
          <p:cNvCxnSpPr>
            <a:stCxn xmlns:a="http://schemas.openxmlformats.org/drawingml/2006/main" id="10" idx="2"/>
            <a:endCxn xmlns:a="http://schemas.openxmlformats.org/drawingml/2006/main" id="14" idx="0"/>
          </p:cNvCxnSpPr>
          <p:nvPr/>
        </p:nvCxnSpPr>
        <p:spPr>
          <a:xfrm xmlns:a="http://schemas.openxmlformats.org/drawingml/2006/main">
            <a:off x="6096000" y="3057525"/>
            <a:ext cx="0" cy="609600"/>
          </a:xfrm>
          <a:prstGeom xmlns:a="http://schemas.openxmlformats.org/drawingml/2006/main" prst="straightConnector1">
            <a:avLst/>
          </a:prstGeom>
          <a:ln xmlns:a="http://schemas.openxmlformats.org/drawingml/2006/main" w="23813">
            <a:solidFill>
              <a:srgbClr val="07182A"/>
            </a:solidFill>
            <a:prstDash val="solid"/>
          </a:ln>
        </p:spPr>
      </p:cxnSp>
      <p:sp>
        <p:nvSpPr>
          <p:cNvPr id="363" name="tc-feature-scope">
            <a:extLst xmlns:a="http://schemas.openxmlformats.org/drawingml/2006/main">
              <a:ext uri="{FF2B5EF4-FFF2-40B4-BE49-F238E27FC236}">
                <a16:creationId xmlns:a16="http://schemas.microsoft.com/office/drawing/2014/main" id="{33E18D36-F8B6-4805-9305-83192A381F48}"/>
              </a:ext>
            </a:extLst>
          </p:cNvPr>
          <p:cNvSpPr>
            <a:spLocks xmlns:a="http://schemas.openxmlformats.org/drawingml/2006/main" noGrp="1"/>
          </p:cNvSpPr>
          <p:nvPr/>
        </p:nvSpPr>
        <p:spPr>
          <a:xfrm xmlns:a="http://schemas.openxmlformats.org/drawingml/2006/main">
            <a:off x="666750" y="11430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686B6B"/>
                </a:solidFill>
                <a:latin typeface="CiscoSansTT"/>
                <a:ea typeface="CiscoSansTT"/>
                <a:cs typeface="CiscoSansTT"/>
              </a:defRPr>
            </a:defPPr>
            <a:lvl1pPr algn="l">
              <a:defRPr sz="2025" b="0">
                <a:solidFill>
                  <a:srgbClr val="686B6B"/>
                </a:solidFill>
                <a:latin typeface="CiscoSansTT"/>
                <a:ea typeface="CiscoSansTT"/>
                <a:cs typeface="CiscoSansTT"/>
              </a:defRPr>
            </a:lvl1pPr>
            <a:lvl2pPr algn="l">
              <a:defRPr sz="2025" b="0">
                <a:solidFill>
                  <a:srgbClr val="686B6B"/>
                </a:solidFill>
                <a:latin typeface="CiscoSansTT"/>
                <a:ea typeface="CiscoSansTT"/>
                <a:cs typeface="CiscoSansTT"/>
              </a:defRPr>
            </a:lvl2pPr>
            <a:lvl3pPr algn="l">
              <a:defRPr sz="2025" b="0">
                <a:solidFill>
                  <a:srgbClr val="686B6B"/>
                </a:solidFill>
                <a:latin typeface="CiscoSansTT"/>
                <a:ea typeface="CiscoSansTT"/>
                <a:cs typeface="CiscoSansTT"/>
              </a:defRPr>
            </a:lvl3pPr>
            <a:lvl4pPr algn="l">
              <a:defRPr sz="2025" b="0">
                <a:solidFill>
                  <a:srgbClr val="686B6B"/>
                </a:solidFill>
                <a:latin typeface="CiscoSansTT"/>
                <a:ea typeface="CiscoSansTT"/>
                <a:cs typeface="CiscoSansTT"/>
              </a:defRPr>
            </a:lvl4pPr>
            <a:lvl5pPr algn="l">
              <a:defRPr sz="2025" b="0">
                <a:solidFill>
                  <a:srgbClr val="686B6B"/>
                </a:solidFill>
                <a:latin typeface="CiscoSansTT"/>
                <a:ea typeface="CiscoSansTT"/>
                <a:cs typeface="CiscoSansTT"/>
              </a:defRPr>
            </a:lvl5pPr>
            <a:lvl6pPr algn="l">
              <a:defRPr sz="2025" b="0">
                <a:solidFill>
                  <a:srgbClr val="686B6B"/>
                </a:solidFill>
                <a:latin typeface="CiscoSansTT"/>
                <a:ea typeface="CiscoSansTT"/>
                <a:cs typeface="CiscoSansTT"/>
              </a:defRPr>
            </a:lvl6pPr>
            <a:lvl7pPr algn="l">
              <a:defRPr sz="2025" b="0">
                <a:solidFill>
                  <a:srgbClr val="686B6B"/>
                </a:solidFill>
                <a:latin typeface="CiscoSansTT"/>
                <a:ea typeface="CiscoSansTT"/>
                <a:cs typeface="CiscoSansTT"/>
              </a:defRPr>
            </a:lvl7pPr>
            <a:lvl8pPr algn="l">
              <a:defRPr sz="2025" b="0">
                <a:solidFill>
                  <a:srgbClr val="686B6B"/>
                </a:solidFill>
                <a:latin typeface="CiscoSansTT"/>
                <a:ea typeface="CiscoSansTT"/>
                <a:cs typeface="CiscoSansTT"/>
              </a:defRPr>
            </a:lvl8pPr>
            <a:lvl9pPr algn="l">
              <a:defRPr sz="2025" b="0">
                <a:solidFill>
                  <a:srgbClr val="686B6B"/>
                </a:solidFill>
                <a:latin typeface="CiscoSansTT"/>
                <a:ea typeface="CiscoSansTT"/>
                <a:cs typeface="CiscoSansTT"/>
              </a:defRPr>
            </a:lvl9pPr>
          </a:lstStyle>
          <a:p xmlns:a="http://schemas.openxmlformats.org/drawingml/2006/main">
            <a:pPr algn="l">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With OBI TCP propagation enabled, both agents can attach at these hooks.</a:t>
            </a:r>
          </a:p>
        </p:txBody>
      </p:sp>
      <p:sp>
        <p:nvSpPr>
          <p:cNvPr id="364" name="direction-reference">
            <a:extLst xmlns:a="http://schemas.openxmlformats.org/drawingml/2006/main">
              <a:ext uri="{FF2B5EF4-FFF2-40B4-BE49-F238E27FC236}">
                <a16:creationId xmlns:a16="http://schemas.microsoft.com/office/drawing/2014/main" id="{A6AC3E28-F5D6-49FC-8023-804E31296162}"/>
              </a:ext>
            </a:extLst>
          </p:cNvPr>
          <p:cNvSpPr>
            <a:spLocks xmlns:a="http://schemas.openxmlformats.org/drawingml/2006/main" noGrp="1"/>
          </p:cNvSpPr>
          <p:nvPr/>
        </p:nvSpPr>
        <p:spPr>
          <a:xfrm xmlns:a="http://schemas.openxmlformats.org/drawingml/2006/main">
            <a:off x="666750" y="57245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Ingress and egress refer to the host-side interface.</a:t>
            </a:r>
          </a:p>
        </p:txBody>
      </p:sp>
    </p:spTree>
    <p:extLst>
      <p:ext uri="{BB962C8B-B14F-4D97-AF65-F5344CB8AC3E}">
        <p14:creationId xmlns:p14="http://schemas.microsoft.com/office/powerpoint/2010/main" val="768147433"/>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191</TotalTime>
  <Words>7639</Words>
  <Application>Microsoft Macintosh PowerPoint</Application>
  <DocSecurity>0</DocSecurity>
  <PresentationFormat>Widescreen</PresentationFormat>
  <Paragraphs>739</Paragraphs>
  <Slides>37</Slides>
  <Notes>37</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CiscoSansTT Medium</vt:lpstr>
      <vt:lpstr>CiscoSansTT</vt:lpstr>
      <vt:lpstr>Calibri</vt:lpstr>
      <vt:lpstr>Arial</vt:lpstr>
      <vt:lpstr>Cisco Light 05-21-2025</vt:lpstr>
      <vt:lpstr>Two eBPF Systems, One Kubernetes Node</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Trace context connects service spans</vt:lpstr>
      <vt:lpstr>OBI and Cilium share TC hooks</vt:lpstr>
      <vt:lpstr>PowerPoint Presentation</vt:lpstr>
      <vt:lpstr>Attachment order</vt:lpstr>
      <vt:lpstr>PowerPoint Presentation</vt:lpstr>
      <vt:lpstr>PowerPoint Presentation</vt:lpstr>
      <vt:lpstr>PowerPoint Presentation</vt:lpstr>
      <vt:lpstr>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PowerPoint Presentation</vt:lpstr>
      <vt:lpstr>Appendix</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8</cp:revision>
  <dcterms:created xsi:type="dcterms:W3CDTF">2026-09-27T17:17:35Z</dcterms:created>
  <dcterms:modified xsi:type="dcterms:W3CDTF">2026-10-30T06:53:25Z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