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embeddedFontLst>
    <p:embeddedFont>
      <p:font typeface="CiscoSansTT" panose="020B0503020201020303" pitchFamily="34" charset="0"/>
      <p:regular r:id="rId39"/>
      <p:bold r:id="rId40"/>
      <p:italic r:id="rId41"/>
      <p:boldItalic r:id="rId42"/>
    </p:embeddedFont>
    <p:embeddedFont>
      <p:font typeface="CiscoSansTT Medium" panose="020B0903020201090303" pitchFamily="34" charset="0"/>
      <p:regular r:id="rId43"/>
      <p:italic r:id="rId44"/>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52"/>
    <p:restoredTop sz="79213"/>
  </p:normalViewPr>
  <p:slideViewPr>
    <p:cSldViewPr snapToGrid="0">
      <p:cViewPr varScale="1">
        <p:scale>
          <a:sx n="178" d="100"/>
          <a:sy n="178" d="100"/>
        </p:scale>
        <p:origin x="24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Start with the packet path from the application process to the host-side veth and network. A veth pair is the virtual link between pod and node. Focus on the dark panel: the host-side interface has TC ingress and TC egress hooks. Ingress means a packet arrives at that interface; egress means it leaves.</a:t>
            </a:r>
          </a:p>
          <a:p>
            <a:endParaRPr/>
          </a:p>
          <a:p>
            <a:r>
              <a:t>With OBI TCP context propagation enabled, OBI can attach a traffic-control classifier program to those hooks to carry trace context. Cilium also uses traffic-control classifier programs for the datapath. The exact kernel program type is BPF_PROG_TYPE_SCHED_CLS, but keep that name in the notes unless someone asks. The important idea is that both programs can share an ordered chain at the same hook. Neither agent owns TC exclusively.</a:t>
            </a:r>
          </a:p>
          <a:p>
            <a:endParaRPr/>
          </a:p>
          <a:p>
            <a:r>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a:endParaRPr/>
          </a:p>
          <a:p>
            <a:r>
              <a:t>Transition: the next slide shows why program order matters, followed by TCX and Netlink fallback.</a:t>
            </a:r>
          </a:p>
          <a:p>
            <a:endParaRPr/>
          </a:p>
          <a:p>
            <a:r>
              <a:t>Sources:</a:t>
            </a:r>
          </a:p>
          <a:p>
            <a:r>
              <a:t>- https://opentelemetry.io/docs/zero-code/obi/cilium-compatibility/</a:t>
            </a:r>
          </a:p>
          <a:p>
            <a:r>
              <a:t>- https://opentelemetry.io/docs/zero-code/obi/configure/metrics-traces-attributes/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 classifier can change packet state or return a terminal result. This is why order affects visibility and trace continuity, not only overhead.</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xmlns:a="http://schemas.openxmlformats.org/drawingml/2006/main">
            <a:r>
              <a:t/>
            </a:r>
            <a:endParaRPr/>
          </a:p>
          <a:p xmlns:a="http://schemas.openxmlformats.org/drawingml/2006/main">
            <a:r>
              <a:t>First bullet: both programs can share the same hook, and TCX manages their relative order. You do not need to coordinate the older TC filter priority numbers for this TCX path.</a:t>
            </a:r>
          </a:p>
          <a:p xmlns:a="http://schemas.openxmlformats.org/drawingml/2006/main">
            <a:r>
              <a:t/>
            </a:r>
          </a:p>
          <a:p xmlns:a="http://schemas.openxmlformats.org/drawingml/2006/main">
            <a:r>
              <a:t>Second bullet: check what the agents actually use. A kernel version is only a clue, because distributions can backport kernel features. Check startup logs and the actual attachments on the running node.</a:t>
            </a:r>
          </a:p>
          <a:p xmlns:a="http://schemas.openxmlformats.org/drawingml/2006/main">
            <a:r>
              <a:t/>
            </a:r>
          </a:p>
          <a:p xmlns:a="http://schemas.openxmlformats.org/drawingml/2006/main">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xmlns:a="http://schemas.openxmlformats.org/drawingml/2006/main">
            <a:r>
              <a:t/>
            </a:r>
          </a:p>
          <a:p xmlns:a="http://schemas.openxmlformats.org/drawingml/2006/main">
            <a:r>
              <a:t>Technical detail for questions: the pinned OBI requests link.Head(); the pinned Cilium requests link.Tail().</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 Play the video.</a:t>
            </a:r>
          </a:p>
          <a:p xmlns:a="http://schemas.openxmlformats.org/drawingml/2006/main">
            <a:r>
              <a:t/>
            </a:r>
            <a:endParaRPr/>
          </a:p>
          <a:p xmlns:a="http://schemas.openxmlformats.org/drawingml/2006/main">
            <a:r>
              <a:t>This compares two separate test clusters. Both use Cilium 1.20.2 and OBI v0.13.0. TCX is off, so the older TC mechanism uses priority numbers. A lower number runs earlier.</a:t>
            </a:r>
          </a:p>
          <a:p xmlns:a="http://schemas.openxmlformats.org/drawingml/2006/main">
            <a:r>
              <a:t/>
            </a:r>
            <a:endParaRPr/>
          </a:p>
          <a:p xmlns:a="http://schemas.openxmlformats.org/drawingml/2006/main">
            <a:r>
              <a:t>LEFT: Cilium uses priority 1. OBI detects that conflict and stops itself. That is why OBI shows 0/1 ready. The nginx request still returns HTTP 200: the application network continues to work while OBI is unavailable.</a:t>
            </a:r>
          </a:p>
          <a:p xmlns:a="http://schemas.openxmlformats.org/drawingml/2006/main">
            <a:r>
              <a:t/>
            </a:r>
          </a:p>
          <a:p xmlns:a="http://schemas.openxmlformats.org/drawingml/2006/main">
            <a:r>
              <a:t>RIGHT: a fresh cluster uses Cilium priority 2. OBI can install its filter at priority 1, ahead of Cilium. OBI shows 1/1 ready and prints an HTTP span. The nginx request also returns HTTP 200.</a:t>
            </a:r>
          </a:p>
          <a:p xmlns:a="http://schemas.openxmlformats.org/drawingml/2006/main">
            <a:r>
              <a:t/>
            </a:r>
          </a:p>
          <a:p xmlns:a="http://schemas.openxmlformats.org/drawingml/2006/main">
            <a:r>
              <a:t>What this teaches: check application health AND observability health. A successful request does not tell us that OBI is running or producing data.</a:t>
            </a:r>
          </a:p>
          <a:p xmlns:a="http://schemas.openxmlformats.org/drawingml/2006/main">
            <a:r>
              <a:t/>
            </a:r>
          </a:p>
          <a:p xmlns:a="http://schemas.openxmlformats.org/drawingml/2006/main">
            <a:r>
              <a:t>Scope: this recording enables OBI's optional network.source: tc mode. Our application-only OBI configuration did not trigger this startup guard. The two sides are saved outputs from separate runs, replayed for the talk.</a:t>
            </a:r>
          </a:p>
          <a:p xmlns:a="http://schemas.openxmlformats.org/drawingml/2006/main">
            <a:r>
              <a:t/>
            </a:r>
          </a:p>
          <a:p xmlns:a="http://schemas.openxmlformats.org/drawingml/2006/main">
            <a:r>
              <a:t>Sources:</a:t>
            </a:r>
          </a:p>
          <a:p xmlns:a="http://schemas.openxmlformats.org/drawingml/2006/main">
            <a:r>
              <a:t>- https://github.com/ajimenez1503/cilium-obi-demo/blob/main/demo/legacy-priority-recording.md</a:t>
            </a:r>
          </a:p>
          <a:p xmlns:a="http://schemas.openxmlformats.org/drawingml/2006/main">
            <a:r>
              <a:t>- https://github.com/ajimenez1503/cilium-obi-demo/tree/main/evidence/legacy-priority-2026-09-27</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 minutes</a:t>
            </a:r>
          </a:p>
          <a:p xmlns:a="http://schemas.openxmlformats.org/drawingml/2006/main">
            <a:r>
              <a:t/>
            </a:r>
            <a:endParaRPr/>
          </a:p>
          <a:p xmlns:a="http://schemas.openxmlformats.org/drawingml/2006/main">
            <a:r>
              <a:t>Start with the upper diagram.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xmlns:a="http://schemas.openxmlformats.org/drawingml/2006/main">
            <a:r>
              <a:t/>
            </a:r>
          </a:p>
          <a:p xmlns:a="http://schemas.openxmlformats.org/drawingml/2006/main">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endParaRPr/>
          </a:p>
          <a:p xmlns:a="http://schemas.openxmlformats.org/drawingml/2006/main">
            <a:r>
              <a:t/>
            </a:r>
          </a:p>
          <a:p xmlns:a="http://schemas.openxmlformats.org/drawingml/2006/main">
            <a:r>
              <a:t>Both versions, plus edge-nginx, are selected by the OBI discovery configuration. OBI watches their supported operations and creates spans and RED metrics. The applications do not call OBI as an application dependency.</a:t>
            </a:r>
          </a:p>
          <a:p xmlns:a="http://schemas.openxmlformats.org/drawingml/2006/main">
            <a:r>
              <a:t/>
            </a:r>
          </a:p>
          <a:p xmlns:a="http://schemas.openxmlformats.org/drawingml/2006/main">
            <a:r>
              <a:t>Cilium and Hubble also cover traffic for all three services. Hubble is not connected only to v1. The diagram's lower arrows represent telemetry exports, not application calls.</a:t>
            </a:r>
          </a:p>
          <a:p xmlns:a="http://schemas.openxmlformats.org/drawingml/2006/main">
            <a:r>
              <a:t/>
            </a:r>
          </a:p>
          <a:p xmlns:a="http://schemas.openxmlformats.org/drawingml/2006/main">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endParaRPr/>
          </a:p>
          <a:p xmlns:a="http://schemas.openxmlformats.org/drawingml/2006/main">
            <a:r>
              <a:t/>
            </a:r>
          </a:p>
          <a:p xmlns:a="http://schemas.openxmlformats.org/drawingml/2006/main">
            <a:r>
              <a:t>For the denial demo, the policy allows v2 to call v1 on port 8081. It blocks edge-nginx from calling v1 directly. That is why the orange direct route is the one we exercise during the failure.</a:t>
            </a:r>
          </a:p>
          <a:p xmlns:a="http://schemas.openxmlformats.org/drawingml/2006/main">
            <a:r>
              <a:t/>
            </a:r>
            <a:endParaRPr/>
          </a:p>
          <a:p xmlns:a="http://schemas.openxmlformats.org/drawingml/2006/main">
            <a:r>
              <a:t>Sources:</a:t>
            </a:r>
          </a:p>
          <a:p xmlns:a="http://schemas.openxmlformats.org/drawingml/2006/main">
            <a:r>
              <a:t>- https://github.com/ajimenez1503/cilium-obi-demo/blob/main/demo/obi-values.yaml</a:t>
            </a:r>
          </a:p>
          <a:p xmlns:a="http://schemas.openxmlformats.org/drawingml/2006/main">
            <a:r>
              <a:t>- https://github.com/ajimenez1503/cilium-obi-demo/blob/main/demo/policy-deny.yaml</a:t>
            </a:r>
            <a:endParaRPr/>
          </a:p>
          <a:p xmlns:a="http://schemas.openxmlformats.org/drawingml/2006/main">
            <a:r>
              <a:t>- https://github.com/open-telemetry/opentelemetry-ebpf-instrumentation/tree/main/examples/nginx</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 minutes</a:t>
            </a:r>
          </a:p>
          <a:p>
            <a:endParaRPr dirty="0"/>
          </a:p>
          <a:p>
            <a:r>
              <a:rPr dirty="0"/>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a:endParaRPr dirty="0"/>
          </a:p>
          <a:p>
            <a:r>
              <a:rPr dirty="0"/>
              <a:t>Sources:</a:t>
            </a:r>
          </a:p>
          <a:p>
            <a:r>
              <a:rPr dirty="0"/>
              <a:t>- https://</a:t>
            </a:r>
            <a:r>
              <a:rPr dirty="0" err="1"/>
              <a:t>docs.cilium.io</a:t>
            </a:r>
            <a:r>
              <a:rPr dirty="0"/>
              <a:t>/</a:t>
            </a:r>
            <a:r>
              <a:rPr dirty="0" err="1"/>
              <a:t>en</a:t>
            </a:r>
            <a:r>
              <a:rPr dirty="0"/>
              <a:t>/stable/observability/</a:t>
            </a:r>
            <a:r>
              <a:rPr dirty="0" err="1"/>
              <a:t>hubble</a:t>
            </a:r>
            <a:r>
              <a:rPr dirty="0"/>
              <a:t>/</a:t>
            </a:r>
          </a:p>
          <a:p>
            <a:r>
              <a:rPr dirty="0"/>
              <a:t>- https://</a:t>
            </a:r>
            <a:r>
              <a:rPr dirty="0" err="1"/>
              <a:t>opentelemetry.io</a:t>
            </a:r>
            <a:r>
              <a:rPr dirty="0"/>
              <a:t>/docs/zero-code/obi/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 minutes. Play the video on the left.</a:t>
            </a:r>
          </a:p>
          <a:p xmlns:a="http://schemas.openxmlformats.org/drawingml/2006/main">
            <a:r>
              <a:t/>
            </a:r>
            <a:endParaRPr/>
          </a:p>
          <a:p xmlns:a="http://schemas.openxmlformats.org/drawingml/2006/main">
            <a:r>
              <a:t>The policy permits recommendations-v2 to call recommendations-v1 on TCP port 8081. It blocks direct calls from edge-nginx to v1. We send the direct v1 request, so the caller times out.</a:t>
            </a:r>
          </a:p>
          <a:p xmlns:a="http://schemas.openxmlformats.org/drawingml/2006/main">
            <a:r>
              <a:t/>
            </a:r>
            <a:endParaRPr/>
          </a:p>
          <a:p xmlns:a="http://schemas.openxmlformats.org/drawingml/2006/main">
            <a:r>
              <a:t>At about 00:18, point to the Hubble terminal output. It names edge-nginx and recommendations-v1:8081, then says INGRESS DENIED and Policy denied DROPPED. This is the exact evidence of the enforcement decision.</a:t>
            </a:r>
          </a:p>
          <a:p xmlns:a="http://schemas.openxmlformats.org/drawingml/2006/main">
            <a:r>
              <a:t/>
            </a:r>
          </a:p>
          <a:p xmlns:a="http://schemas.openxmlformats.org/drawingml/2006/main">
            <a:r>
              <a:t>At about 00:34, the Grafana Drops by reason panel shows a yellow drop spike. The enlarged still on this slide comes from that same recording. Its yellow-series label is below the recorded viewport; the still crops out the unrelated visible legend row. Use the graph to locate the increase in dropped traffic, and use Hubble to confirm the specific policy reason.</a:t>
            </a:r>
          </a:p>
          <a:p xmlns:a="http://schemas.openxmlformats.org/drawingml/2006/main">
            <a:r>
              <a:t/>
            </a:r>
          </a:p>
          <a:p xmlns:a="http://schemas.openxmlformats.org/drawingml/2006/main">
            <a:r>
              <a:t>On the combined dashboard, Flows by verdict also has a DROPPED series. It is close to zero compared with the much larger FORWARDED series. Hide FORWARDED or inspect the DROPPED legend value when presenting. The trace-derived service graph does not display a policy-denial badge; a blocked request may never create a destination server span.</a:t>
            </a:r>
          </a:p>
          <a:p xmlns:a="http://schemas.openxmlformats.org/drawingml/2006/main">
            <a:r>
              <a:t/>
            </a:r>
          </a:p>
          <a:p xmlns:a="http://schemas.openxmlformats.org/drawingml/2006/main">
            <a:r>
              <a:t>OBI is where we inspect the caller's application symptom, such as a timeout or upstream error, when the relevant span is available. This recording displays the curl timeout and Hubble verdict; it does not display a failed OBI span. Do not claim that the capture proves that span. Match time, workload, direction, and port to investigate the same failure. The recording removes the policy and verifies HTTP 200 recovery.</a:t>
            </a:r>
          </a:p>
          <a:p xmlns:a="http://schemas.openxmlformats.org/drawingml/2006/main">
            <a:r>
              <a:t/>
            </a:r>
          </a:p>
          <a:p xmlns:a="http://schemas.openxmlformats.org/drawingml/2006/main">
            <a:r>
              <a:t>Sources:</a:t>
            </a:r>
          </a:p>
          <a:p xmlns:a="http://schemas.openxmlformats.org/drawingml/2006/main">
            <a:r>
              <a:t>- https://github.com/ajimenez1503/cilium-obi-demo/blob/main/demo/policy-deny.yaml</a:t>
            </a:r>
          </a:p>
          <a:p xmlns:a="http://schemas.openxmlformats.org/drawingml/2006/main">
            <a:r>
              <a:t>- https://github.com/ajimenez1503/cilium-obi-demo/blob/main/slides/recordings/demo-3-policy-denial.mp4</a:t>
            </a:r>
          </a:p>
          <a:p xmlns:a="http://schemas.openxmlformats.org/drawingml/2006/main">
            <a:r>
              <a:t>- https://docs.cilium.io/en/stable/observability/metrics/#hubble-exported-metrics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also has network observability features. In a Cilium cluster, the OBI documentation recommends socket_filter. Keep Hubble as the default network signal and OBI as the application signal to avoid duplicate volume and competing interpretations.</a:t>
            </a:r>
          </a:p>
          <a:p>
            <a:endParaRPr/>
          </a:p>
          <a:p>
            <a:r>
              <a:t>Sources:</a:t>
            </a:r>
          </a:p>
          <a:p>
            <a:r>
              <a:t>- https://opentelemetry.io/docs/zero-code/obi/network/config/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defines five Cilium-based scenarios and the controls they share. The next slide reports the local rehearsal results for B and D. A, C, and E have not been measured.</a:t>
            </a:r>
          </a:p>
          <a:p>
            <a:endParaRPr/>
          </a:p>
          <a:p>
            <a:r>
              <a:t>A is the Cilium networking baseline. B adds Hubble L3/L4 flow visibility with OBI off. C adds OBI application metrics without context propagation. D enables OBI traces with TCX context propagation. E adds Hubble L7 visibility, which redirects selected traffic through Envoy. The plus signs show the planned configuration sequence. Record exact versions and effective settings before interpreting any comparison.</a:t>
            </a:r>
          </a:p>
          <a:p>
            <a:endParaRPr/>
          </a:p>
          <a:p>
            <a:r>
              <a:t>Keep the Cilium cluster, application route, load, pod placement, and telemetry backend the same across scenarios. For each measured run, capture throughput, latency, failures, CPU, memory, span delivery, Hubble lost events, and actual BPF attachments. B ran before D in the current rehearsal, so time-order effects remain possible.</a:t>
            </a:r>
          </a:p>
          <a:p>
            <a:endParaRPr/>
          </a:p>
          <a:p>
            <a:r>
              <a:t>Sources:</a:t>
            </a:r>
          </a:p>
          <a:p>
            <a:r>
              <a:t>- https://docs.cilium.io/en/stable/operations/performance/benchmark/</a:t>
            </a:r>
          </a:p>
          <a:p>
            <a:r>
              <a:t>- /Users/antonjim/Documents/Playground/cilium-obi-demo/evidence/benchmark-2026-09-26/results.md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 minutes</a:t>
            </a:r>
          </a:p>
          <a:p>
            <a:endParaRPr/>
          </a:p>
          <a:p>
            <a:r>
              <a:t>These are local kind rehearsal observations for B (Cilium and Hubble, OBI off) and D (Cilium and Hubble plus OBI with TCX). They are not production capacity results. The no-eBPF reference N and conditions A, C, and E remain unmeasured.</a:t>
            </a:r>
          </a:p>
          <a:p>
            <a:endParaRPr/>
          </a:p>
          <a:p>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a:endParaRPr/>
          </a:p>
          <a:p>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a:p>
          <a:p>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a:p>
          <a:p>
            <a:r>
              <a:t>Sources:</a:t>
            </a:r>
          </a:p>
          <a:p>
            <a:r>
              <a:t>- /Users/antonjim/Documents/Playground/cilium-obi-demo/evidence/benchmark-2026-09-26/results.md</a:t>
            </a:r>
          </a:p>
          <a:p>
            <a:r>
              <a:t>- https://docs.cilium.io/en/latest/observability/metrics/#lost-events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Why this slide is here: the previous slide reports one local rehearsal. Similar request throughput and latency do not yet tell us whether we can afford to enable OBI across the cluster. This slide lists the other checks needed for that rollout decision.</a:t>
            </a:r>
          </a:p>
          <a:p xmlns:a="http://schemas.openxmlformats.org/drawingml/2006/main">
            <a:r>
              <a:t/>
            </a:r>
            <a:endParaRPr/>
          </a:p>
          <a:p xmlns:a="http://schemas.openxmlformats.org/drawingml/2006/main">
            <a:r>
              <a:t>CPU: measure the extra CPU used by applications, Cilium, Hubble, OBI, and the Collector, as well as the whole node. Memory: count agent memory and the memory used by BPF programs and maps in the kernel.</a:t>
            </a:r>
          </a:p>
          <a:p xmlns:a="http://schemas.openxmlformats.org/drawingml/2006/main">
            <a:r>
              <a:t/>
            </a:r>
          </a:p>
          <a:p xmlns:a="http://schemas.openxmlformats.org/drawingml/2006/main">
            <a:r>
              <a:t>Missing data: check for lost Hubble events, refused spans, exporter failures, and dropped telemetry. Here, loss means missing monitoring records. A packet deliberately denied by network policy is a separate traffic outcome.</a:t>
            </a:r>
          </a:p>
          <a:p xmlns:a="http://schemas.openxmlformats.org/drawingml/2006/main">
            <a:r>
              <a:t/>
            </a:r>
          </a:p>
          <a:p xmlns:a="http://schemas.openxmlformats.org/drawingml/2006/main">
            <a:r>
              <a:t>Data volume: count spans, metric samples, flow records, and active metric series. More data creates processing and storage costs even when application latency barely changes.</a:t>
            </a:r>
          </a:p>
          <a:p xmlns:a="http://schemas.openxmlformats.org/drawingml/2006/main">
            <a:r>
              <a:t/>
            </a:r>
          </a:p>
          <a:p xmlns:a="http://schemas.openxmlformats.org/drawingml/2006/main">
            <a:r>
              <a:t>Choose acceptable limits for your own environment before expanding. Compare the same workload with OBI off and on. In our rehearsal, the Hubble-loss comparison still needs a valid run with matching time windows.</a:t>
            </a:r>
          </a:p>
          <a:p xmlns:a="http://schemas.openxmlformats.org/drawingml/2006/main">
            <a:r>
              <a:t/>
            </a:r>
          </a:p>
          <a:p xmlns:a="http://schemas.openxmlformats.org/drawingml/2006/main">
            <a:r>
              <a:t>Transition: the next section turns these checks into a gradual production rollout.</a:t>
            </a:r>
          </a:p>
          <a:p xmlns:a="http://schemas.openxmlformats.org/drawingml/2006/main">
            <a:r>
              <a:t/>
            </a:r>
          </a:p>
          <a:p xmlns:a="http://schemas.openxmlformats.org/drawingml/2006/main">
            <a:r>
              <a:t>Sources:</a:t>
            </a:r>
          </a:p>
          <a:p xmlns:a="http://schemas.openxmlformats.org/drawingml/2006/main">
            <a:r>
              <a:t>- https://opentelemetry.io/docs/collector/internal-telemetry/</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The goal is to enable OBI on a small group of nodes first, learn from those nodes, and then expand.</a:t>
            </a:r>
          </a:p>
          <a:p xmlns:a="http://schemas.openxmlformats.org/drawingml/2006/main">
            <a:r>
              <a:t/>
            </a:r>
          </a:p>
          <a:p xmlns:a="http://schemas.openxmlformats.org/drawingml/2006/main">
            <a:r>
              <a:t>1. Check nodes. Record the kernel features, OBI and Cilium versions, and Cilium datapath. Confirm that the chosen TCX or legacy attachment method is supported on the actual nodes. BTF, if mentioned in a question, is kernel type metadata used by eBPF tools.</a:t>
            </a:r>
          </a:p>
          <a:p xmlns:a="http://schemas.openxmlformats.org/drawingml/2006/main">
            <a:r>
              <a:t/>
            </a:r>
          </a:p>
          <a:p xmlns:a="http://schemas.openxmlformats.org/drawingml/2006/main">
            <a:r>
              <a:t>2. Check config. Review the final Kubernetes YAML that Helm generates. Check the permissions, host filesystem mounts, and attachment settings. Then check startup logs and actual attachments after deployment.</a:t>
            </a:r>
          </a:p>
          <a:p xmlns:a="http://schemas.openxmlformats.org/drawingml/2006/main">
            <a:r>
              <a:t/>
            </a:r>
          </a:p>
          <a:p xmlns:a="http://schemas.openxmlformats.org/drawingml/2006/main">
            <a:r>
              <a:t>3. Start small. Use node selection to run OBI on a few nodes. Keep a clear way to disable that new OBI configuration and return to the previous setup.</a:t>
            </a:r>
          </a:p>
          <a:p xmlns:a="http://schemas.openxmlformats.org/drawingml/2006/main">
            <a:r>
              <a:t/>
            </a:r>
          </a:p>
          <a:p xmlns:a="http://schemas.openxmlformats.org/drawingml/2006/main">
            <a:r>
              <a:t>4. Test traffic. Exercise calls within one node, calls across nodes, and calls through a Kubernetes Service. Also test one connection that policy should allow and one it should deny. Check the application result and the expected telemetry.</a:t>
            </a:r>
          </a:p>
          <a:p xmlns:a="http://schemas.openxmlformats.org/drawingml/2006/main">
            <a:r>
              <a:t/>
            </a:r>
          </a:p>
          <a:p xmlns:a="http://schemas.openxmlformats.org/drawingml/2006/main">
            <a:r>
              <a:t>5. Expand. Compare this group with its baseline using the CPU, memory, missing-data, and volume checks from slide 26. Expand gradually when the results meet your chosen limits. If a check fails, stop expansion, restore the previous setup, and investigate.</a:t>
            </a:r>
          </a:p>
          <a:p xmlns:a="http://schemas.openxmlformats.org/drawingml/2006/main">
            <a:r>
              <a:t/>
            </a:r>
          </a:p>
          <a:p xmlns:a="http://schemas.openxmlformats.org/drawingml/2006/main">
            <a:r>
              <a:t>This is what the old labels meant: Inventory meant check the environment; Render meant inspect Helm's generated YAML; Canary meant start on a few nodes; Exercise meant test real requests; Promote meant expand the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restating the operational contract. Safe coexistence means verified order, preserved traffic, complete enough telemetry, and measured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3.png"/><Relationship Id="rId4" Type="http://schemas.openxmlformats.org/officeDocument/2006/relationships/notesSlide" Target="../notesSlides/notesSlide20.xml"/><Relationship Id="rIdClarifiedDenialGraph" Type="http://schemas.openxmlformats.org/officeDocument/2006/relationships/image" Target="../media/clarified-policy-denial-grafana-34s.png"/></Relationships>
</file>

<file path=ppt/slides/_rels/slide21.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45833"/>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t">
            <a:noAutofit/>
          </a:bodyPr>
          <a:lstStyle/>
          <a:p>
            <a:pPr algn="l">
              <a:defRPr sz="2100" b="0">
                <a:solidFill>
                  <a:srgbClr val="686B6B"/>
                </a:solidFill>
                <a:latin typeface="CiscoSansTT"/>
                <a:ea typeface="CiscoSansTT"/>
                <a:cs typeface="CiscoSansTT"/>
              </a:defRPr>
            </a:pPr>
            <a:r>
              <a:rPr sz="2100" b="0" dirty="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eBPF hooks watch supported application operations on the worker node.</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9810750" cy="14288"/>
          </a:xfrm>
          <a:prstGeom prst="rect">
            <a:avLst/>
          </a:prstGeom>
          <a:solidFill>
            <a:srgbClr val="D6D6D6"/>
          </a:solidFill>
          <a:ln w="0">
            <a:noFill/>
          </a:ln>
        </p:spPr>
        <p:txBody>
          <a:bodyPr/>
          <a:lstStyle/>
          <a:p>
            <a:endParaRPr lang="en-ES"/>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operations become spans. Related spans form a trace.</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9810750" cy="14288"/>
          </a:xfrm>
          <a:prstGeom prst="rect">
            <a:avLst/>
          </a:prstGeom>
          <a:solidFill>
            <a:srgbClr val="D6D6D6"/>
          </a:solidFill>
          <a:ln w="0">
            <a:noFill/>
          </a:ln>
        </p:spPr>
        <p:txBody>
          <a:bodyPr/>
          <a:lstStyle/>
          <a:p>
            <a:endParaRPr lang="en-ES"/>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traces and RED metrics to the configured OpenTelemetry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838825"/>
            <a:ext cx="10763250" cy="419100"/>
          </a:xfrm>
          <a:prstGeom prst="rect">
            <a:avLst/>
          </a:prstGeom>
          <a:noFill/>
          <a:ln w="0">
            <a:noFill/>
          </a:ln>
        </p:spPr>
        <p:txBody>
          <a:bodyPr anchor="t">
            <a:noAutofit/>
          </a:bodyPr>
          <a:lstStyle/>
          <a:p>
            <a:pPr algn="l">
              <a:defRPr sz="1725" b="0">
                <a:solidFill>
                  <a:srgbClr val="0860FE"/>
                </a:solidFill>
                <a:latin typeface="CiscoSansTT"/>
                <a:ea typeface="CiscoSansTT"/>
                <a:cs typeface="CiscoSansTT"/>
              </a:defRPr>
            </a:pPr>
            <a:r>
              <a:rPr sz="1725" b="0" dirty="0">
                <a:solidFill>
                  <a:srgbClr val="0860FE"/>
                </a:solidFill>
                <a:latin typeface="CiscoSansTT"/>
                <a:ea typeface="CiscoSansTT"/>
                <a:cs typeface="CiscoSansTT"/>
              </a:rPr>
              <a:t>No application code changes. RED</a:t>
            </a:r>
            <a:r>
              <a:rPr lang="en-US" sz="1725" b="0" dirty="0">
                <a:solidFill>
                  <a:srgbClr val="0860FE"/>
                </a:solidFill>
                <a:latin typeface="CiscoSansTT"/>
                <a:ea typeface="CiscoSansTT"/>
                <a:cs typeface="CiscoSansTT"/>
              </a:rPr>
              <a:t> metrics </a:t>
            </a:r>
            <a:r>
              <a:rPr sz="1725" b="0" dirty="0">
                <a:solidFill>
                  <a:srgbClr val="0860FE"/>
                </a:solidFill>
                <a:latin typeface="CiscoSansTT"/>
                <a:ea typeface="CiscoSansTT"/>
                <a:cs typeface="CiscoSansTT"/>
              </a:rPr>
              <a:t> = request rate, errors, duration.</a:t>
            </a:r>
          </a:p>
        </p:txBody>
      </p:sp>
    </p:spTree>
    <p:extLst>
      <p:ext uri="{BB962C8B-B14F-4D97-AF65-F5344CB8AC3E}">
        <p14:creationId xmlns:p14="http://schemas.microsoft.com/office/powerpoint/2010/main" val="6544670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45833"/>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94276" lnSpcReduction="10000"/>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TC is the one shared checkpoint we will examine.</a:t>
            </a:r>
          </a:p>
        </p:txBody>
      </p:sp>
    </p:spTree>
    <p:extLst>
      <p:ext uri="{BB962C8B-B14F-4D97-AF65-F5344CB8AC3E}">
        <p14:creationId xmlns:p14="http://schemas.microsoft.com/office/powerpoint/2010/main" val="1882857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cxnSp>
        <p:nvCxnSpPr>
          <p:cNvPr id="362" name="">
            <a:extLst xmlns:a="http://schemas.openxmlformats.org/drawingml/2006/main">
              <a:ext uri="{FF2B5EF4-FFF2-40B4-BE49-F238E27FC236}">
                <a16:creationId xmlns:a16="http://schemas.microsoft.com/office/drawing/2014/main" id="{F63C1725-D5B0-4F01-BEB5-31162F4096B3}"/>
              </a:ext>
            </a:extLst>
          </p:cNvPr>
          <p:cNvCxnSpPr>
            <a:stCxn xmlns:a="http://schemas.openxmlformats.org/drawingml/2006/main" id="9" idx="3"/>
            <a:endCxn xmlns:a="http://schemas.openxmlformats.org/drawingml/2006/main" id="10" idx="1"/>
          </p:cNvCxnSpPr>
          <p:nvPr/>
        </p:nvCxnSpPr>
        <p:spPr>
          <a:xfrm xmlns:a="http://schemas.openxmlformats.org/drawingml/2006/main">
            <a:off x="2952750" y="3219450"/>
            <a:ext cx="2000250" cy="0"/>
          </a:xfrm>
          <a:prstGeom xmlns:a="http://schemas.openxmlformats.org/drawingml/2006/main" prst="straightConnector1">
            <a:avLst/>
          </a:prstGeom>
          <a:ln xmlns:a="http://schemas.openxmlformats.org/drawingml/2006/main" w="19050">
            <a:solidFill>
              <a:srgbClr val="686B6B"/>
            </a:solidFill>
            <a:tailEnd type="arrow" w="med" len="med"/>
          </a:ln>
        </p:spPr>
      </p:cxnSp>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xmlns:a="http://schemas.openxmlformats.org/drawingml/2006/main">
              <a:ext uri="{FF2B5EF4-FFF2-40B4-BE49-F238E27FC236}">
                <a16:creationId xmlns:a16="http://schemas.microsoft.com/office/drawing/2014/main" id="{9D6C336A-55D5-4177-AF1B-389608688355}"/>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5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       </a:t>
            </a:r>
            <a:r>
              <a:rPr sz="1725" b="0">
                <a:solidFill>
                  <a:srgbClr val="686B6B"/>
                </a:solidFill>
                <a:latin typeface="CiscoSansTT"/>
                <a:ea typeface="CiscoSansTT"/>
                <a:cs typeface="CiscoSansTT"/>
              </a:rPr>
              <a:t>OBI can add trace context here.</a:t>
            </a:r>
            <a:r>
              <a:rPr sz="1725" b="0">
                <a:solidFill>
                  <a:srgbClr val="686B6B"/>
                </a:solidFill>
                <a:latin typeface="CiscoSansTT"/>
                <a:ea typeface="CiscoSansTT"/>
                <a:cs typeface="CiscoSansTT"/>
              </a:rPr>
              <a:t>                                                      </a:t>
            </a:r>
            <a:r>
              <a:rPr sz="1725" b="0">
                <a:solidFill>
                  <a:srgbClr val="686B6B"/>
                </a:solidFill>
                <a:latin typeface="CiscoSansTT"/>
                <a:ea typeface="CiscoSansTT"/>
                <a:cs typeface="CiscoSansTT"/>
              </a:rPr>
              <a:t> Cilium processes pod traffic here.</a:t>
            </a:r>
          </a:p>
        </p:txBody>
      </p:sp>
      <p:sp>
        <p:nvSpPr>
          <p:cNvPr id="3" name="Rounded Rectangle 2">
            <a:extLst xmlns:a="http://schemas.openxmlformats.org/drawingml/2006/main">
              <a:ext uri="{FF2B5EF4-FFF2-40B4-BE49-F238E27FC236}">
                <a16:creationId xmlns:a16="http://schemas.microsoft.com/office/drawing/2014/main" id="{2C6A31FC-F26E-42CD-9AE6-3C77F3A50EB6}"/>
              </a:ext>
            </a:extLst>
          </p:cNvPr>
          <p:cNvSpPr>
            <a:spLocks xmlns:a="http://schemas.openxmlformats.org/drawingml/2006/main" noGrp="1"/>
          </p:cNvSpPr>
          <p:nvPr/>
        </p:nvSpPr>
        <p:spPr>
          <a:xfrm xmlns:a="http://schemas.openxmlformats.org/drawingml/2006/main">
            <a:off x="666750" y="1562100"/>
            <a:ext cx="4762500" cy="781050"/>
          </a:xfrm>
          <a:prstGeom xmlns:a="http://schemas.openxmlformats.org/drawingml/2006/main" prst="roundRect">
            <a:avLst>
              <a:gd name="adj" fmla="val 9756"/>
            </a:avLst>
          </a:prstGeom>
          <a:solidFill xmlns:a="http://schemas.openxmlformats.org/drawingml/2006/main">
            <a:srgbClr val="F9F0F6"/>
          </a:solidFill>
          <a:ln xmlns:a="http://schemas.openxmlformats.org/drawingml/2006/main" w="14288">
            <a:solidFill>
              <a:srgbClr val="FF007F"/>
            </a:solid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A4F80D9-21A7-4BB0-8B6C-ADE46F071600}"/>
              </a:ext>
            </a:extLst>
          </p:cNvPr>
          <p:cNvSpPr>
            <a:spLocks xmlns:a="http://schemas.openxmlformats.org/drawingml/2006/main" noGrp="1"/>
          </p:cNvSpPr>
          <p:nvPr/>
        </p:nvSpPr>
        <p:spPr>
          <a:xfrm xmlns:a="http://schemas.openxmlformats.org/drawingml/2006/main">
            <a:off x="895350" y="16954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xmlns:a="http://schemas.openxmlformats.org/drawingml/2006/main">
              <a:ext uri="{FF2B5EF4-FFF2-40B4-BE49-F238E27FC236}">
                <a16:creationId xmlns:a16="http://schemas.microsoft.com/office/drawing/2014/main" id="{3095A0B0-00E3-4075-B666-952E0C2DC6C9}"/>
              </a:ext>
            </a:extLst>
          </p:cNvPr>
          <p:cNvSpPr>
            <a:spLocks xmlns:a="http://schemas.openxmlformats.org/drawingml/2006/main" noGrp="1"/>
          </p:cNvSpPr>
          <p:nvPr/>
        </p:nvSpPr>
        <p:spPr>
          <a:xfrm xmlns:a="http://schemas.openxmlformats.org/drawingml/2006/main">
            <a:off x="895350" y="2000250"/>
            <a:ext cx="4000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xmlns:a="http://schemas.openxmlformats.org/drawingml/2006/main">
              <a:ext uri="{FF2B5EF4-FFF2-40B4-BE49-F238E27FC236}">
                <a16:creationId xmlns:a16="http://schemas.microsoft.com/office/drawing/2014/main" id="{8894B500-4C60-4EB7-A55D-B07E8DDA0609}"/>
              </a:ext>
            </a:extLst>
          </p:cNvPr>
          <p:cNvSpPr>
            <a:spLocks xmlns:a="http://schemas.openxmlformats.org/drawingml/2006/main" noGrp="1"/>
          </p:cNvSpPr>
          <p:nvPr/>
        </p:nvSpPr>
        <p:spPr>
          <a:xfrm xmlns:a="http://schemas.openxmlformats.org/drawingml/2006/main">
            <a:off x="6762750" y="1562100"/>
            <a:ext cx="4762500" cy="781050"/>
          </a:xfrm>
          <a:prstGeom xmlns:a="http://schemas.openxmlformats.org/drawingml/2006/main" prst="roundRect">
            <a:avLst>
              <a:gd name="adj" fmla="val 9756"/>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20A765CC-FD83-44B5-A7D3-BA0C7F84DAAD}"/>
              </a:ext>
            </a:extLst>
          </p:cNvPr>
          <p:cNvSpPr>
            <a:spLocks xmlns:a="http://schemas.openxmlformats.org/drawingml/2006/main" noGrp="1"/>
          </p:cNvSpPr>
          <p:nvPr/>
        </p:nvSpPr>
        <p:spPr>
          <a:xfrm xmlns:a="http://schemas.openxmlformats.org/drawingml/2006/main">
            <a:off x="6991350" y="16954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xmlns:a="http://schemas.openxmlformats.org/drawingml/2006/main">
              <a:ext uri="{FF2B5EF4-FFF2-40B4-BE49-F238E27FC236}">
                <a16:creationId xmlns:a16="http://schemas.microsoft.com/office/drawing/2014/main" id="{6C28BB69-CC38-4098-95A7-E508628C9EA9}"/>
              </a:ext>
            </a:extLst>
          </p:cNvPr>
          <p:cNvSpPr>
            <a:spLocks xmlns:a="http://schemas.openxmlformats.org/drawingml/2006/main" noGrp="1"/>
          </p:cNvSpPr>
          <p:nvPr/>
        </p:nvSpPr>
        <p:spPr>
          <a:xfrm xmlns:a="http://schemas.openxmlformats.org/drawingml/2006/main">
            <a:off x="6991350" y="2000250"/>
            <a:ext cx="3905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8575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8575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8575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50" name="Straight Arrow Connector 37">
            <a:extLst xmlns:a="http://schemas.openxmlformats.org/drawingml/2006/main">
              <a:ext uri="{FF2B5EF4-FFF2-40B4-BE49-F238E27FC236}">
                <a16:creationId xmlns:a16="http://schemas.microsoft.com/office/drawing/2014/main" id="{88FAD868-6809-46F0-9E35-273A7055DB23}"/>
              </a:ext>
            </a:extLst>
          </p:cNvPr>
          <p:cNvCxnSpPr>
            <a:stCxn xmlns:a="http://schemas.openxmlformats.org/drawingml/2006/main" id="10" idx="3"/>
            <a:endCxn xmlns:a="http://schemas.openxmlformats.org/drawingml/2006/main" id="11" idx="1"/>
          </p:cNvCxnSpPr>
          <p:nvPr/>
        </p:nvCxnSpPr>
        <p:spPr>
          <a:xfrm xmlns:a="http://schemas.openxmlformats.org/drawingml/2006/main">
            <a:off x="7239000" y="32194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0005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171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lnSpcReduction="20000"/>
          </a:bodyPr>
          <a:lstStyle xmlns:a="http://schemas.openxmlformats.org/drawingml/2006/main"/>
          <a:p xmlns:a="http://schemas.openxmlformats.org/drawingml/2006/main">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6291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6291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6767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6291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1054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1054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1530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1054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a:extLst xmlns:a="http://schemas.openxmlformats.org/drawingml/2006/main">
              <a:ext uri="{FF2B5EF4-FFF2-40B4-BE49-F238E27FC236}">
                <a16:creationId xmlns:a16="http://schemas.microsoft.com/office/drawing/2014/main" id="{26DE8223-1734-4228-998C-9A84E060C69E}"/>
              </a:ext>
            </a:extLst>
          </p:cNvPr>
          <p:cNvCxnSpPr>
            <a:stCxn xmlns:a="http://schemas.openxmlformats.org/drawingml/2006/main" id="10" idx="2"/>
            <a:endCxn xmlns:a="http://schemas.openxmlformats.org/drawingml/2006/main" id="14" idx="0"/>
          </p:cNvCxnSpPr>
          <p:nvPr/>
        </p:nvCxnSpPr>
        <p:spPr>
          <a:xfrm xmlns:a="http://schemas.openxmlformats.org/drawingml/2006/main">
            <a:off x="6096000" y="35814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25" name="Rectangle 24">
            <a:extLst xmlns:a="http://schemas.openxmlformats.org/drawingml/2006/main">
              <a:ext uri="{FF2B5EF4-FFF2-40B4-BE49-F238E27FC236}">
                <a16:creationId xmlns:a16="http://schemas.microsoft.com/office/drawing/2014/main" id="{690A0E5E-ABFD-43B5-ACA6-CE5E7DF4A46A}"/>
              </a:ext>
            </a:extLst>
          </p:cNvPr>
          <p:cNvSpPr>
            <a:spLocks xmlns:a="http://schemas.openxmlformats.org/drawingml/2006/main" noGrp="1"/>
          </p:cNvSpPr>
          <p:nvPr/>
        </p:nvSpPr>
        <p:spPr>
          <a:xfrm xmlns:a="http://schemas.openxmlformats.org/drawingml/2006/main">
            <a:off x="1657350" y="5867400"/>
            <a:ext cx="8877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Ingress and egress are named from the host-side veth.</a:t>
            </a:r>
          </a:p>
        </p:txBody>
      </p:sp>
    </p:spTree>
    <p:extLst>
      <p:ext uri="{BB962C8B-B14F-4D97-AF65-F5344CB8AC3E}">
        <p14:creationId xmlns:p14="http://schemas.microsoft.com/office/powerpoint/2010/main" val="768147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a:ext uri="{FF2B5EF4-FFF2-40B4-BE49-F238E27FC236}">
                <a16:creationId xmlns:a16="http://schemas.microsoft.com/office/drawing/2014/main" id="{89E643B8-484C-47AA-9109-FE670EBCDCA3}"/>
              </a:ext>
            </a:extLst>
          </p:cNvPr>
          <p:cNvSpPr>
            <a:spLocks noGrp="1"/>
          </p:cNvSpPr>
          <p:nvPr/>
        </p:nvSpPr>
        <p:spPr>
          <a:xfrm>
            <a:off x="857250" y="2286000"/>
            <a:ext cx="26670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a:ext uri="{FF2B5EF4-FFF2-40B4-BE49-F238E27FC236}">
                <a16:creationId xmlns:a16="http://schemas.microsoft.com/office/drawing/2014/main" id="{DB9EED84-A760-4E45-9239-12010D6F4F51}"/>
              </a:ext>
            </a:extLst>
          </p:cNvPr>
          <p:cNvSpPr>
            <a:spLocks noGrp="1"/>
          </p:cNvSpPr>
          <p:nvPr/>
        </p:nvSpPr>
        <p:spPr>
          <a:xfrm>
            <a:off x="4762500" y="2286000"/>
            <a:ext cx="26670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a:ext uri="{FF2B5EF4-FFF2-40B4-BE49-F238E27FC236}">
                <a16:creationId xmlns:a16="http://schemas.microsoft.com/office/drawing/2014/main" id="{D3FFBFE2-6F79-4ED3-B669-7768049C0EA0}"/>
              </a:ext>
            </a:extLst>
          </p:cNvPr>
          <p:cNvSpPr>
            <a:spLocks noGrp="1"/>
          </p:cNvSpPr>
          <p:nvPr/>
        </p:nvSpPr>
        <p:spPr>
          <a:xfrm>
            <a:off x="8667750" y="2286000"/>
            <a:ext cx="2667000" cy="1428750"/>
          </a:xfrm>
          <a:prstGeom prst="roundRect">
            <a:avLst>
              <a:gd name="adj" fmla="val 5333"/>
            </a:avLst>
          </a:prstGeom>
          <a:solidFill>
            <a:srgbClr val="F4F6F8"/>
          </a:solidFill>
          <a:ln w="14288">
            <a:solidFill>
              <a:srgbClr val="A6A6A6"/>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91" name="Straight Arrow Connector 12"/>
          <p:cNvCxnSpPr>
            <a:stCxn id="2" idx="3"/>
            <a:endCxn id="3" idx="1"/>
          </p:cNvCxnSpPr>
          <p:nvPr/>
        </p:nvCxnSpPr>
        <p:spPr>
          <a:xfrm>
            <a:off x="3524250" y="3000375"/>
            <a:ext cx="1238250" cy="0"/>
          </a:xfrm>
          <a:prstGeom prst="straightConnector1">
            <a:avLst/>
          </a:prstGeom>
          <a:ln w="38100">
            <a:solidFill>
              <a:srgbClr val="FF007F"/>
            </a:solidFill>
            <a:prstDash val="solid"/>
            <a:tailEnd type="arrow" w="med" len="med"/>
          </a:ln>
        </p:spPr>
      </p:cxnSp>
      <p:cxnSp>
        <p:nvCxnSpPr>
          <p:cNvPr id="92" name="Straight Arrow Connector 13"/>
          <p:cNvCxnSpPr>
            <a:stCxn id="3" idx="3"/>
            <a:endCxn id="4" idx="1"/>
          </p:cNvCxnSpPr>
          <p:nvPr/>
        </p:nvCxnSpPr>
        <p:spPr>
          <a:xfrm>
            <a:off x="7429500" y="3000375"/>
            <a:ext cx="1238250" cy="0"/>
          </a:xfrm>
          <a:prstGeom prst="straightConnector1">
            <a:avLst/>
          </a:prstGeom>
          <a:ln w="38100">
            <a:solidFill>
              <a:srgbClr val="0860FE"/>
            </a:solidFill>
            <a:prstDash val="solid"/>
            <a:tailEnd type="arrow" w="med" len="med"/>
          </a:ln>
        </p:spPr>
      </p:cxn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t">
            <a:normAutofit fontScale="90905"/>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controls the order for both agents</a:t>
            </a:r>
          </a:p>
        </p:txBody>
      </p:sp>
      <p:sp>
        <p:nvSpPr>
          <p:cNvPr id="2" name="slide-subtitle">
            <a:extLst xmlns:a="http://schemas.openxmlformats.org/drawingml/2006/main">
              <a:ext uri="{FF2B5EF4-FFF2-40B4-BE49-F238E27FC236}">
                <a16:creationId xmlns:a16="http://schemas.microsoft.com/office/drawing/2014/main" id="{8179063A-DDEB-4CBB-997A-D5FC68A8A3FF}"/>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xmlns:a="http://schemas.openxmlformats.org/drawingml/2006/main">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 this demo, OBI runs before Cilium at the shared TC hook.</a:t>
            </a:r>
          </a:p>
        </p:txBody>
      </p:sp>
      <p:sp>
        <p:nvSpPr>
          <p:cNvPr id="3" name="Rounded Rectangle 2">
            <a:extLst xmlns:a="http://schemas.openxmlformats.org/drawingml/2006/main">
              <a:ext uri="{FF2B5EF4-FFF2-40B4-BE49-F238E27FC236}">
                <a16:creationId xmlns:a16="http://schemas.microsoft.com/office/drawing/2014/main" id="{02145BF7-101A-4CDA-A92E-4AF9A6F59DBF}"/>
              </a:ext>
            </a:extLst>
          </p:cNvPr>
          <p:cNvSpPr>
            <a:spLocks xmlns:a="http://schemas.openxmlformats.org/drawingml/2006/main" noGrp="1"/>
          </p:cNvSpPr>
          <p:nvPr/>
        </p:nvSpPr>
        <p:spPr>
          <a:xfrm xmlns:a="http://schemas.openxmlformats.org/drawingml/2006/main">
            <a:off x="819150" y="2266950"/>
            <a:ext cx="11430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Autofit/>
          </a:bodyPr>
          <a:lstStyle xmlns:a="http://schemas.openxmlformats.org/drawingml/2006/main">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xmlns:a="http://schemas.openxmlformats.org/drawingml/2006/main">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xmlns:a="http://schemas.openxmlformats.org/drawingml/2006/main">
              <a:ext uri="{FF2B5EF4-FFF2-40B4-BE49-F238E27FC236}">
                <a16:creationId xmlns:a16="http://schemas.microsoft.com/office/drawing/2014/main" id="{9607A6B3-920E-4336-8F50-FE14D1F316A7}"/>
              </a:ext>
            </a:extLst>
          </p:cNvPr>
          <p:cNvSpPr>
            <a:spLocks xmlns:a="http://schemas.openxmlformats.org/drawingml/2006/main" noGrp="1"/>
          </p:cNvSpPr>
          <p:nvPr/>
        </p:nvSpPr>
        <p:spPr>
          <a:xfrm xmlns:a="http://schemas.openxmlformats.org/drawingml/2006/main">
            <a:off x="2381250" y="1952625"/>
            <a:ext cx="2571750" cy="1381125"/>
          </a:xfrm>
          <a:prstGeom xmlns:a="http://schemas.openxmlformats.org/drawingml/2006/main" prst="roundRect">
            <a:avLst>
              <a:gd name="adj" fmla="val 551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Autofit/>
          </a:bodyPr>
          <a:lstStyle xmlns:a="http://schemas.openxmlformats.org/drawingml/2006/main">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xmlns:a="http://schemas.openxmlformats.org/drawingml/2006/main">
              <a:ext uri="{FF2B5EF4-FFF2-40B4-BE49-F238E27FC236}">
                <a16:creationId xmlns:a16="http://schemas.microsoft.com/office/drawing/2014/main" id="{CD71B99A-9619-4677-B426-4010E78FE632}"/>
              </a:ext>
            </a:extLst>
          </p:cNvPr>
          <p:cNvSpPr>
            <a:spLocks xmlns:a="http://schemas.openxmlformats.org/drawingml/2006/main" noGrp="1"/>
          </p:cNvSpPr>
          <p:nvPr/>
        </p:nvSpPr>
        <p:spPr>
          <a:xfrm xmlns:a="http://schemas.openxmlformats.org/drawingml/2006/main">
            <a:off x="7239000" y="1952625"/>
            <a:ext cx="2571750" cy="1381125"/>
          </a:xfrm>
          <a:prstGeom xmlns:a="http://schemas.openxmlformats.org/drawingml/2006/main" prst="roundRect">
            <a:avLst>
              <a:gd name="adj" fmla="val 5517"/>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xmlns:a="http://schemas.openxmlformats.org/drawingml/2006/main">
              <a:ext uri="{FF2B5EF4-FFF2-40B4-BE49-F238E27FC236}">
                <a16:creationId xmlns:a16="http://schemas.microsoft.com/office/drawing/2014/main" id="{A25EFA0D-21C9-45F7-A6DB-22113BE509FF}"/>
              </a:ext>
            </a:extLst>
          </p:cNvPr>
          <p:cNvSpPr>
            <a:spLocks xmlns:a="http://schemas.openxmlformats.org/drawingml/2006/main" noGrp="1"/>
          </p:cNvSpPr>
          <p:nvPr/>
        </p:nvSpPr>
        <p:spPr>
          <a:xfrm xmlns:a="http://schemas.openxmlformats.org/drawingml/2006/main">
            <a:off x="10239375" y="2266950"/>
            <a:ext cx="114300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Autofit/>
          </a:bodyPr>
          <a:lstStyle xmlns:a="http://schemas.openxmlformats.org/drawingml/2006/main">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xmlns:a="http://schemas.openxmlformats.org/drawingml/2006/main">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xmlns:a="http://schemas.openxmlformats.org/drawingml/2006/main">
              <a:ext uri="{FF2B5EF4-FFF2-40B4-BE49-F238E27FC236}">
                <a16:creationId xmlns:a16="http://schemas.microsoft.com/office/drawing/2014/main" id="{26B767C4-2ACD-40AD-B092-E0FD08B75B50}"/>
              </a:ext>
            </a:extLst>
          </p:cNvPr>
          <p:cNvCxnSpPr>
            <a:stCxn xmlns:a="http://schemas.openxmlformats.org/drawingml/2006/main" id="4" idx="3"/>
            <a:endCxn xmlns:a="http://schemas.openxmlformats.org/drawingml/2006/main" id="5" idx="1"/>
          </p:cNvCxnSpPr>
          <p:nvPr/>
        </p:nvCxnSpPr>
        <p:spPr>
          <a:xfrm xmlns:a="http://schemas.openxmlformats.org/drawingml/2006/main">
            <a:off x="4953000" y="2643188"/>
            <a:ext cx="2286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8" name="Rectangle 7">
            <a:extLst xmlns:a="http://schemas.openxmlformats.org/drawingml/2006/main">
              <a:ext uri="{FF2B5EF4-FFF2-40B4-BE49-F238E27FC236}">
                <a16:creationId xmlns:a16="http://schemas.microsoft.com/office/drawing/2014/main" id="{81723338-AEC6-46A8-A6E9-DB0E8AC17B5D}"/>
              </a:ext>
            </a:extLst>
          </p:cNvPr>
          <p:cNvSpPr>
            <a:spLocks xmlns:a="http://schemas.openxmlformats.org/drawingml/2006/main" noGrp="1"/>
          </p:cNvSpPr>
          <p:nvPr/>
        </p:nvSpPr>
        <p:spPr>
          <a:xfrm xmlns:a="http://schemas.openxmlformats.org/drawingml/2006/main">
            <a:off x="2381250" y="3848100"/>
            <a:ext cx="7429500" cy="1905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D7691E9-DC2A-4F17-918F-76C126E8BF88}"/>
              </a:ext>
            </a:extLst>
          </p:cNvPr>
          <p:cNvSpPr>
            <a:spLocks xmlns:a="http://schemas.openxmlformats.org/drawingml/2006/main" noGrp="1"/>
          </p:cNvSpPr>
          <p:nvPr/>
        </p:nvSpPr>
        <p:spPr>
          <a:xfrm xmlns:a="http://schemas.openxmlformats.org/drawingml/2006/main">
            <a:off x="1905000" y="428625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267C6E7-9B37-4D0C-896A-F682D66023B1}"/>
              </a:ext>
            </a:extLst>
          </p:cNvPr>
          <p:cNvSpPr>
            <a:spLocks xmlns:a="http://schemas.openxmlformats.org/drawingml/2006/main" noGrp="1"/>
          </p:cNvSpPr>
          <p:nvPr/>
        </p:nvSpPr>
        <p:spPr>
          <a:xfrm xmlns:a="http://schemas.openxmlformats.org/drawingml/2006/main">
            <a:off x="2171700" y="41910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xmlns:a="http://schemas.openxmlformats.org/drawingml/2006/main">
              <a:ext uri="{FF2B5EF4-FFF2-40B4-BE49-F238E27FC236}">
                <a16:creationId xmlns:a16="http://schemas.microsoft.com/office/drawing/2014/main" id="{C33D4382-6522-4B0D-84F2-1F90F244A5B8}"/>
              </a:ext>
            </a:extLst>
          </p:cNvPr>
          <p:cNvSpPr>
            <a:spLocks xmlns:a="http://schemas.openxmlformats.org/drawingml/2006/main" noGrp="1"/>
          </p:cNvSpPr>
          <p:nvPr/>
        </p:nvSpPr>
        <p:spPr>
          <a:xfrm xmlns:a="http://schemas.openxmlformats.org/drawingml/2006/main">
            <a:off x="1905000" y="483870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34AFD7D3-DBBC-467B-AF67-D1E09884FC95}"/>
              </a:ext>
            </a:extLst>
          </p:cNvPr>
          <p:cNvSpPr>
            <a:spLocks xmlns:a="http://schemas.openxmlformats.org/drawingml/2006/main" noGrp="1"/>
          </p:cNvSpPr>
          <p:nvPr/>
        </p:nvSpPr>
        <p:spPr>
          <a:xfrm xmlns:a="http://schemas.openxmlformats.org/drawingml/2006/main">
            <a:off x="2171700" y="474345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xmlns:a="http://schemas.openxmlformats.org/drawingml/2006/main">
              <a:ext uri="{FF2B5EF4-FFF2-40B4-BE49-F238E27FC236}">
                <a16:creationId xmlns:a16="http://schemas.microsoft.com/office/drawing/2014/main" id="{ED5168D3-A4AE-4C03-BD57-4769C0F69AAF}"/>
              </a:ext>
            </a:extLst>
          </p:cNvPr>
          <p:cNvSpPr>
            <a:spLocks xmlns:a="http://schemas.openxmlformats.org/drawingml/2006/main" noGrp="1"/>
          </p:cNvSpPr>
          <p:nvPr/>
        </p:nvSpPr>
        <p:spPr>
          <a:xfrm xmlns:a="http://schemas.openxmlformats.org/drawingml/2006/main">
            <a:off x="1905000" y="5391150"/>
            <a:ext cx="95250" cy="95250"/>
          </a:xfrm>
          <a:prstGeom xmlns:a="http://schemas.openxmlformats.org/drawingml/2006/main" prst="rect">
            <a:avLst/>
          </a:prstGeom>
          <a:solidFill xmlns:a="http://schemas.openxmlformats.org/drawingml/2006/main">
            <a:srgbClr val="FF9000"/>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418E2667-0F13-4934-813C-7529483B1954}"/>
              </a:ext>
            </a:extLst>
          </p:cNvPr>
          <p:cNvSpPr>
            <a:spLocks xmlns:a="http://schemas.openxmlformats.org/drawingml/2006/main" noGrp="1"/>
          </p:cNvSpPr>
          <p:nvPr/>
        </p:nvSpPr>
        <p:spPr>
          <a:xfrm xmlns:a="http://schemas.openxmlformats.org/drawingml/2006/main">
            <a:off x="2171700" y="52959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97063" lnSpcReduction="10000"/>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a:ext uri="{FF2B5EF4-FFF2-40B4-BE49-F238E27FC236}">
                <a16:creationId xmlns:a16="http://schemas.microsoft.com/office/drawing/2014/main" id="{B5C33083-7928-4AD1-8B86-7E12A3E3A89A}"/>
              </a:ext>
            </a:extLst>
          </p:cNvPr>
          <p:cNvSpPr>
            <a:spLocks noGrp="1"/>
          </p:cNvSpPr>
          <p:nvPr/>
        </p:nvSpPr>
        <p:spPr>
          <a:xfrm>
            <a:off x="2381250" y="5467350"/>
            <a:ext cx="7429500" cy="342900"/>
          </a:xfrm>
          <a:prstGeom prst="rect">
            <a:avLst/>
          </a:prstGeom>
          <a:noFill/>
          <a:ln w="0">
            <a:noFill/>
          </a:ln>
        </p:spPr>
        <p:txBody>
          <a:bodyPr anchor="t">
            <a:normAutofit/>
          </a:body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Live demo: one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1" name="route-explanation">
            <a:extLst xmlns:a="http://schemas.openxmlformats.org/drawingml/2006/main">
              <a:ext uri="{FF2B5EF4-FFF2-40B4-BE49-F238E27FC236}">
                <a16:creationId xmlns:a16="http://schemas.microsoft.com/office/drawing/2014/main" id="{76B77E75-8BA3-4FFC-B046-9E567735FFE8}"/>
              </a:ext>
            </a:extLst>
          </p:cNvPr>
          <p:cNvSpPr>
            <a:spLocks xmlns:a="http://schemas.openxmlformats.org/drawingml/2006/main" noGrp="1"/>
          </p:cNvSpPr>
          <p:nvPr/>
        </p:nvSpPr>
        <p:spPr>
          <a:xfrm xmlns:a="http://schemas.openxmlformats.org/drawingml/2006/main">
            <a:off x="619125" y="10287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xmlns:a="http://schemas.openxmlformats.org/drawingml/2006/main">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URL chooses the route. v2 is a newer tier that can call legacy v1.</a:t>
            </a:r>
          </a:p>
        </p:txBody>
      </p:sp>
      <p:sp>
        <p:nvSpPr>
          <p:cNvPr id="22" name="traffic-generator">
            <a:extLst xmlns:a="http://schemas.openxmlformats.org/drawingml/2006/main">
              <a:ext uri="{FF2B5EF4-FFF2-40B4-BE49-F238E27FC236}">
                <a16:creationId xmlns:a16="http://schemas.microsoft.com/office/drawing/2014/main" id="{B2013DE7-A00A-46FB-9D6E-381B133F5F7D}"/>
              </a:ext>
            </a:extLst>
          </p:cNvPr>
          <p:cNvSpPr>
            <a:spLocks xmlns:a="http://schemas.openxmlformats.org/drawingml/2006/main" noGrp="1"/>
          </p:cNvSpPr>
          <p:nvPr/>
        </p:nvSpPr>
        <p:spPr>
          <a:xfrm xmlns:a="http://schemas.openxmlformats.org/drawingml/2006/main">
            <a:off x="476250" y="1885950"/>
            <a:ext cx="1428750" cy="723900"/>
          </a:xfrm>
          <a:prstGeom xmlns:a="http://schemas.openxmlformats.org/drawingml/2006/main" prst="roundRect">
            <a:avLst>
              <a:gd name="adj" fmla="val 9211"/>
            </a:avLst>
          </a:prstGeom>
          <a:solidFill xmlns:a="http://schemas.openxmlformats.org/drawingml/2006/main">
            <a:srgbClr val="F4F6F7"/>
          </a:solidFill>
          <a:ln xmlns:a="http://schemas.openxmlformats.org/drawingml/2006/main" w="11906">
            <a:solidFill>
              <a:srgbClr val="686B6B"/>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xmlns:a="http://schemas.openxmlformats.org/drawingml/2006/main">
              <a:ext uri="{FF2B5EF4-FFF2-40B4-BE49-F238E27FC236}">
                <a16:creationId xmlns:a16="http://schemas.microsoft.com/office/drawing/2014/main" id="{79A1E394-24BB-4C32-B7A7-6794D977F69F}"/>
              </a:ext>
            </a:extLst>
          </p:cNvPr>
          <p:cNvSpPr>
            <a:spLocks xmlns:a="http://schemas.openxmlformats.org/drawingml/2006/main" noGrp="1"/>
          </p:cNvSpPr>
          <p:nvPr/>
        </p:nvSpPr>
        <p:spPr>
          <a:xfrm xmlns:a="http://schemas.openxmlformats.org/drawingml/2006/main">
            <a:off x="2571750" y="1885950"/>
            <a:ext cx="1905000" cy="723900"/>
          </a:xfrm>
          <a:prstGeom xmlns:a="http://schemas.openxmlformats.org/drawingml/2006/main" prst="roundRect">
            <a:avLst>
              <a:gd name="adj" fmla="val 9211"/>
            </a:avLst>
          </a:prstGeom>
          <a:solidFill xmlns:a="http://schemas.openxmlformats.org/drawingml/2006/main">
            <a:srgbClr val="FFFFFF"/>
          </a:solidFill>
          <a:ln xmlns:a="http://schemas.openxmlformats.org/drawingml/2006/main" w="11906">
            <a:solidFill>
              <a:srgbClr val="02C8FF"/>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xmlns:a="http://schemas.openxmlformats.org/drawingml/2006/main">
              <a:ext uri="{FF2B5EF4-FFF2-40B4-BE49-F238E27FC236}">
                <a16:creationId xmlns:a16="http://schemas.microsoft.com/office/drawing/2014/main" id="{018165D8-0175-4909-947E-574496E1811A}"/>
              </a:ext>
            </a:extLst>
          </p:cNvPr>
          <p:cNvSpPr>
            <a:spLocks xmlns:a="http://schemas.openxmlformats.org/drawingml/2006/main" noGrp="1"/>
          </p:cNvSpPr>
          <p:nvPr/>
        </p:nvSpPr>
        <p:spPr>
          <a:xfrm xmlns:a="http://schemas.openxmlformats.org/drawingml/2006/main">
            <a:off x="5524500" y="1885950"/>
            <a:ext cx="2571750" cy="723900"/>
          </a:xfrm>
          <a:prstGeom xmlns:a="http://schemas.openxmlformats.org/drawingml/2006/main" prst="roundRect">
            <a:avLst>
              <a:gd name="adj" fmla="val 9211"/>
            </a:avLst>
          </a:prstGeom>
          <a:solidFill xmlns:a="http://schemas.openxmlformats.org/drawingml/2006/main">
            <a:srgbClr val="FFFFFF"/>
          </a:solidFill>
          <a:ln xmlns:a="http://schemas.openxmlformats.org/drawingml/2006/main" w="11906">
            <a:solidFill>
              <a:srgbClr val="02C8FF"/>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xmlns:a="http://schemas.openxmlformats.org/drawingml/2006/main">
              <a:ext uri="{FF2B5EF4-FFF2-40B4-BE49-F238E27FC236}">
                <a16:creationId xmlns:a16="http://schemas.microsoft.com/office/drawing/2014/main" id="{B2DF36A6-DCA1-49DD-9757-0C200CD1CF32}"/>
              </a:ext>
            </a:extLst>
          </p:cNvPr>
          <p:cNvSpPr>
            <a:spLocks xmlns:a="http://schemas.openxmlformats.org/drawingml/2006/main" noGrp="1"/>
          </p:cNvSpPr>
          <p:nvPr/>
        </p:nvSpPr>
        <p:spPr>
          <a:xfrm xmlns:a="http://schemas.openxmlformats.org/drawingml/2006/main">
            <a:off x="8953500" y="1885950"/>
            <a:ext cx="2667000" cy="723900"/>
          </a:xfrm>
          <a:prstGeom xmlns:a="http://schemas.openxmlformats.org/drawingml/2006/main" prst="roundRect">
            <a:avLst>
              <a:gd name="adj" fmla="val 9211"/>
            </a:avLst>
          </a:prstGeom>
          <a:solidFill xmlns:a="http://schemas.openxmlformats.org/drawingml/2006/main">
            <a:srgbClr val="FFFFFF"/>
          </a:solidFill>
          <a:ln xmlns:a="http://schemas.openxmlformats.org/drawingml/2006/main" w="11906">
            <a:solidFill>
              <a:srgbClr val="02C8FF"/>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cxnSp>
        <p:nvCxnSpPr>
          <p:cNvPr id="26" name="generator-to-edge">
            <a:extLst xmlns:a="http://schemas.openxmlformats.org/drawingml/2006/main">
              <a:ext uri="{FF2B5EF4-FFF2-40B4-BE49-F238E27FC236}">
                <a16:creationId xmlns:a16="http://schemas.microsoft.com/office/drawing/2014/main" id="{03DCBB50-DD35-4D77-97D6-9303A796A9A6}"/>
              </a:ext>
            </a:extLst>
          </p:cNvPr>
          <p:cNvCxnSpPr/>
          <p:nvPr/>
        </p:nvCxnSpPr>
        <p:spPr>
          <a:xfrm xmlns:a="http://schemas.openxmlformats.org/drawingml/2006/main">
            <a:off x="1905000" y="2247900"/>
            <a:ext cx="666750" cy="0"/>
          </a:xfrm>
          <a:prstGeom xmlns:a="http://schemas.openxmlformats.org/drawingml/2006/main" prst="straightConnector1">
            <a:avLst/>
          </a:prstGeom>
          <a:ln xmlns:a="http://schemas.openxmlformats.org/drawingml/2006/main" w="19050">
            <a:solidFill>
              <a:srgbClr val="686B6B"/>
            </a:solidFill>
            <a:prstDash val="solid"/>
            <a:tailEnd type="arrow" w="med" len="med"/>
          </a:ln>
        </p:spPr>
      </p:cxnSp>
      <p:cxnSp>
        <p:nvCxnSpPr>
          <p:cNvPr id="27" name="edge-to-v2">
            <a:extLst xmlns:a="http://schemas.openxmlformats.org/drawingml/2006/main">
              <a:ext uri="{FF2B5EF4-FFF2-40B4-BE49-F238E27FC236}">
                <a16:creationId xmlns:a16="http://schemas.microsoft.com/office/drawing/2014/main" id="{D5637263-50E3-450B-BBCF-47422A40CCF2}"/>
              </a:ext>
            </a:extLst>
          </p:cNvPr>
          <p:cNvCxnSpPr/>
          <p:nvPr/>
        </p:nvCxnSpPr>
        <p:spPr>
          <a:xfrm xmlns:a="http://schemas.openxmlformats.org/drawingml/2006/main">
            <a:off x="4476750" y="2247900"/>
            <a:ext cx="1047750" cy="0"/>
          </a:xfrm>
          <a:prstGeom xmlns:a="http://schemas.openxmlformats.org/drawingml/2006/main" prst="straightConnector1">
            <a:avLst/>
          </a:prstGeom>
          <a:ln xmlns:a="http://schemas.openxmlformats.org/drawingml/2006/main" w="19050">
            <a:solidFill>
              <a:srgbClr val="0860FE"/>
            </a:solidFill>
            <a:prstDash val="solid"/>
            <a:tailEnd type="arrow" w="med" len="med"/>
          </a:ln>
        </p:spPr>
      </p:cxnSp>
      <p:cxnSp>
        <p:nvCxnSpPr>
          <p:cNvPr id="28" name="v2-to-v1">
            <a:extLst xmlns:a="http://schemas.openxmlformats.org/drawingml/2006/main">
              <a:ext uri="{FF2B5EF4-FFF2-40B4-BE49-F238E27FC236}">
                <a16:creationId xmlns:a16="http://schemas.microsoft.com/office/drawing/2014/main" id="{69A98BB8-C1C1-4DCE-9981-A3AF8E5980B5}"/>
              </a:ext>
            </a:extLst>
          </p:cNvPr>
          <p:cNvCxnSpPr/>
          <p:nvPr/>
        </p:nvCxnSpPr>
        <p:spPr>
          <a:xfrm xmlns:a="http://schemas.openxmlformats.org/drawingml/2006/main">
            <a:off x="8096250" y="2247900"/>
            <a:ext cx="857250" cy="0"/>
          </a:xfrm>
          <a:prstGeom xmlns:a="http://schemas.openxmlformats.org/drawingml/2006/main" prst="straightConnector1">
            <a:avLst/>
          </a:prstGeom>
          <a:ln xmlns:a="http://schemas.openxmlformats.org/drawingml/2006/main" w="19050">
            <a:solidFill>
              <a:srgbClr val="0860FE"/>
            </a:solidFill>
            <a:prstDash val="solid"/>
            <a:tailEnd type="arrow" w="med" len="med"/>
          </a:ln>
        </p:spPr>
      </p:cxnSp>
      <p:sp>
        <p:nvSpPr>
          <p:cNvPr id="29" name="rollout-route">
            <a:extLst xmlns:a="http://schemas.openxmlformats.org/drawingml/2006/main">
              <a:ext uri="{FF2B5EF4-FFF2-40B4-BE49-F238E27FC236}">
                <a16:creationId xmlns:a16="http://schemas.microsoft.com/office/drawing/2014/main" id="{F8FCDE0A-2755-40AC-A278-F3EF408D2131}"/>
              </a:ext>
            </a:extLst>
          </p:cNvPr>
          <p:cNvSpPr>
            <a:spLocks xmlns:a="http://schemas.openxmlformats.org/drawingml/2006/main" noGrp="1"/>
          </p:cNvSpPr>
          <p:nvPr/>
        </p:nvSpPr>
        <p:spPr>
          <a:xfrm xmlns:a="http://schemas.openxmlformats.org/drawingml/2006/main">
            <a:off x="5476875" y="1533525"/>
            <a:ext cx="390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425" b="0">
                <a:solidFill>
                  <a:srgbClr val="0860FE"/>
                </a:solidFill>
                <a:latin typeface="CiscoSansTT"/>
                <a:ea typeface="CiscoSansTT"/>
                <a:cs typeface="CiscoSansTT"/>
              </a:defRPr>
            </a:defPPr>
            <a:lvl1pPr algn="ctr">
              <a:defRPr sz="1425" b="0">
                <a:solidFill>
                  <a:srgbClr val="0860FE"/>
                </a:solidFill>
                <a:latin typeface="CiscoSansTT"/>
                <a:ea typeface="CiscoSansTT"/>
                <a:cs typeface="CiscoSansTT"/>
              </a:defRPr>
            </a:lvl1pPr>
            <a:lvl2pPr algn="ctr">
              <a:defRPr sz="1425" b="0">
                <a:solidFill>
                  <a:srgbClr val="0860FE"/>
                </a:solidFill>
                <a:latin typeface="CiscoSansTT"/>
                <a:ea typeface="CiscoSansTT"/>
                <a:cs typeface="CiscoSansTT"/>
              </a:defRPr>
            </a:lvl2pPr>
            <a:lvl3pPr algn="ctr">
              <a:defRPr sz="1425" b="0">
                <a:solidFill>
                  <a:srgbClr val="0860FE"/>
                </a:solidFill>
                <a:latin typeface="CiscoSansTT"/>
                <a:ea typeface="CiscoSansTT"/>
                <a:cs typeface="CiscoSansTT"/>
              </a:defRPr>
            </a:lvl3pPr>
            <a:lvl4pPr algn="ctr">
              <a:defRPr sz="1425" b="0">
                <a:solidFill>
                  <a:srgbClr val="0860FE"/>
                </a:solidFill>
                <a:latin typeface="CiscoSansTT"/>
                <a:ea typeface="CiscoSansTT"/>
                <a:cs typeface="CiscoSansTT"/>
              </a:defRPr>
            </a:lvl4pPr>
            <a:lvl5pPr algn="ctr">
              <a:defRPr sz="1425" b="0">
                <a:solidFill>
                  <a:srgbClr val="0860FE"/>
                </a:solidFill>
                <a:latin typeface="CiscoSansTT"/>
                <a:ea typeface="CiscoSansTT"/>
                <a:cs typeface="CiscoSansTT"/>
              </a:defRPr>
            </a:lvl5pPr>
            <a:lvl6pPr algn="ctr">
              <a:defRPr sz="1425" b="0">
                <a:solidFill>
                  <a:srgbClr val="0860FE"/>
                </a:solidFill>
                <a:latin typeface="CiscoSansTT"/>
                <a:ea typeface="CiscoSansTT"/>
                <a:cs typeface="CiscoSansTT"/>
              </a:defRPr>
            </a:lvl6pPr>
            <a:lvl7pPr algn="ctr">
              <a:defRPr sz="1425" b="0">
                <a:solidFill>
                  <a:srgbClr val="0860FE"/>
                </a:solidFill>
                <a:latin typeface="CiscoSansTT"/>
                <a:ea typeface="CiscoSansTT"/>
                <a:cs typeface="CiscoSansTT"/>
              </a:defRPr>
            </a:lvl7pPr>
            <a:lvl8pPr algn="ctr">
              <a:defRPr sz="1425" b="0">
                <a:solidFill>
                  <a:srgbClr val="0860FE"/>
                </a:solidFill>
                <a:latin typeface="CiscoSansTT"/>
                <a:ea typeface="CiscoSansTT"/>
                <a:cs typeface="CiscoSansTT"/>
              </a:defRPr>
            </a:lvl8pPr>
            <a:lvl9pPr algn="ctr">
              <a:defRPr sz="1425" b="0">
                <a:solidFill>
                  <a:srgbClr val="0860FE"/>
                </a:solidFill>
                <a:latin typeface="CiscoSansTT"/>
                <a:ea typeface="CiscoSansTT"/>
                <a:cs typeface="CiscoSansTT"/>
              </a:defRPr>
            </a:lvl9pPr>
          </a:lstStyle>
          <a:p xmlns:a="http://schemas.openxmlformats.org/drawingml/2006/main">
            <a:pPr algn="ctr">
              <a:defRPr sz="1425" b="0">
                <a:solidFill>
                  <a:srgbClr val="0860FE"/>
                </a:solidFill>
                <a:latin typeface="CiscoSansTT"/>
                <a:ea typeface="CiscoSansTT"/>
                <a:cs typeface="CiscoSansTT"/>
              </a:defRPr>
            </a:pPr>
            <a:r>
              <a:rPr sz="1425" b="0">
                <a:solidFill>
                  <a:srgbClr val="0860FE"/>
                </a:solidFill>
                <a:latin typeface="CiscoSansTT"/>
                <a:ea typeface="CiscoSansTT"/>
                <a:cs typeface="CiscoSansTT"/>
              </a:rPr>
              <a:t>Rollout request</a:t>
            </a:r>
          </a:p>
        </p:txBody>
      </p:sp>
      <p:cxnSp>
        <p:nvCxnSpPr>
          <p:cNvPr id="30" name="direct-v1-down">
            <a:extLst xmlns:a="http://schemas.openxmlformats.org/drawingml/2006/main">
              <a:ext uri="{FF2B5EF4-FFF2-40B4-BE49-F238E27FC236}">
                <a16:creationId xmlns:a16="http://schemas.microsoft.com/office/drawing/2014/main" id="{5C91DAC6-A476-42E3-9525-E71D21BFE787}"/>
              </a:ext>
            </a:extLst>
          </p:cNvPr>
          <p:cNvCxnSpPr/>
          <p:nvPr/>
        </p:nvCxnSpPr>
        <p:spPr>
          <a:xfrm xmlns:a="http://schemas.openxmlformats.org/drawingml/2006/main">
            <a:off x="3524250" y="2609850"/>
            <a:ext cx="0" cy="485775"/>
          </a:xfrm>
          <a:prstGeom xmlns:a="http://schemas.openxmlformats.org/drawingml/2006/main" prst="straightConnector1">
            <a:avLst/>
          </a:prstGeom>
          <a:ln xmlns:a="http://schemas.openxmlformats.org/drawingml/2006/main" w="19050">
            <a:solidFill>
              <a:srgbClr val="FF8A00"/>
            </a:solidFill>
            <a:prstDash val="solid"/>
          </a:ln>
        </p:spPr>
      </p:cxnSp>
      <p:cxnSp>
        <p:nvCxnSpPr>
          <p:cNvPr id="31" name="direct-v1-across">
            <a:extLst xmlns:a="http://schemas.openxmlformats.org/drawingml/2006/main">
              <a:ext uri="{FF2B5EF4-FFF2-40B4-BE49-F238E27FC236}">
                <a16:creationId xmlns:a16="http://schemas.microsoft.com/office/drawing/2014/main" id="{26BDF892-FFF4-4C7E-809B-35AA3B4B8B46}"/>
              </a:ext>
            </a:extLst>
          </p:cNvPr>
          <p:cNvCxnSpPr/>
          <p:nvPr/>
        </p:nvCxnSpPr>
        <p:spPr>
          <a:xfrm xmlns:a="http://schemas.openxmlformats.org/drawingml/2006/main">
            <a:off x="3524250" y="3095625"/>
            <a:ext cx="6762750" cy="0"/>
          </a:xfrm>
          <a:prstGeom xmlns:a="http://schemas.openxmlformats.org/drawingml/2006/main" prst="straightConnector1">
            <a:avLst/>
          </a:prstGeom>
          <a:ln xmlns:a="http://schemas.openxmlformats.org/drawingml/2006/main" w="19050">
            <a:solidFill>
              <a:srgbClr val="FF8A00"/>
            </a:solidFill>
            <a:prstDash val="solid"/>
          </a:ln>
        </p:spPr>
      </p:cxnSp>
      <p:cxnSp>
        <p:nvCxnSpPr>
          <p:cNvPr id="32" name="direct-v1-up">
            <a:extLst xmlns:a="http://schemas.openxmlformats.org/drawingml/2006/main">
              <a:ext uri="{FF2B5EF4-FFF2-40B4-BE49-F238E27FC236}">
                <a16:creationId xmlns:a16="http://schemas.microsoft.com/office/drawing/2014/main" id="{13425690-81B6-4156-B450-5A973F604C9A}"/>
              </a:ext>
            </a:extLst>
          </p:cNvPr>
          <p:cNvCxnSpPr/>
          <p:nvPr/>
        </p:nvCxnSpPr>
        <p:spPr>
          <a:xfrm xmlns:a="http://schemas.openxmlformats.org/drawingml/2006/main">
            <a:off x="10287000" y="2609850"/>
            <a:ext cx="0" cy="485775"/>
          </a:xfrm>
          <a:prstGeom xmlns:a="http://schemas.openxmlformats.org/drawingml/2006/main" prst="straightConnector1">
            <a:avLst/>
          </a:prstGeom>
          <a:ln xmlns:a="http://schemas.openxmlformats.org/drawingml/2006/main" w="19050">
            <a:solidFill>
              <a:srgbClr val="FF8A00"/>
            </a:solidFill>
            <a:prstDash val="solid"/>
            <a:headEnd type="arrow" w="med" len="med"/>
          </a:ln>
        </p:spPr>
      </p:cxnSp>
      <p:sp>
        <p:nvSpPr>
          <p:cNvPr id="33" name="direct-route-label">
            <a:extLst xmlns:a="http://schemas.openxmlformats.org/drawingml/2006/main">
              <a:ext uri="{FF2B5EF4-FFF2-40B4-BE49-F238E27FC236}">
                <a16:creationId xmlns:a16="http://schemas.microsoft.com/office/drawing/2014/main" id="{12FE53C8-6E3A-45E4-A451-80D12AFD0E8F}"/>
              </a:ext>
            </a:extLst>
          </p:cNvPr>
          <p:cNvSpPr>
            <a:spLocks xmlns:a="http://schemas.openxmlformats.org/drawingml/2006/main" noGrp="1"/>
          </p:cNvSpPr>
          <p:nvPr/>
        </p:nvSpPr>
        <p:spPr>
          <a:xfrm xmlns:a="http://schemas.openxmlformats.org/drawingml/2006/main">
            <a:off x="4048125" y="3190875"/>
            <a:ext cx="609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xmlns:a="http://schemas.openxmlformats.org/drawingml/2006/main">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Direct v1 request, used in the denial demo</a:t>
            </a:r>
          </a:p>
        </p:txBody>
      </p:sp>
      <p:sp>
        <p:nvSpPr>
          <p:cNvPr id="34" name="observation-scope">
            <a:extLst xmlns:a="http://schemas.openxmlformats.org/drawingml/2006/main">
              <a:ext uri="{FF2B5EF4-FFF2-40B4-BE49-F238E27FC236}">
                <a16:creationId xmlns:a16="http://schemas.microsoft.com/office/drawing/2014/main" id="{47F7DE59-9BE9-4EF6-B38F-97B0FA0597B4}"/>
              </a:ext>
            </a:extLst>
          </p:cNvPr>
          <p:cNvSpPr>
            <a:spLocks xmlns:a="http://schemas.openxmlformats.org/drawingml/2006/main" noGrp="1"/>
          </p:cNvSpPr>
          <p:nvPr/>
        </p:nvSpPr>
        <p:spPr>
          <a:xfrm xmlns:a="http://schemas.openxmlformats.org/drawingml/2006/main">
            <a:off x="619125" y="357187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xmlns:a="http://schemas.openxmlformats.org/drawingml/2006/main">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xmlns:a="http://schemas.openxmlformats.org/drawingml/2006/main">
              <a:ext uri="{FF2B5EF4-FFF2-40B4-BE49-F238E27FC236}">
                <a16:creationId xmlns:a16="http://schemas.microsoft.com/office/drawing/2014/main" id="{1EAADB6A-C90D-4C28-A778-DCCA3FBA54A3}"/>
              </a:ext>
            </a:extLst>
          </p:cNvPr>
          <p:cNvSpPr>
            <a:spLocks xmlns:a="http://schemas.openxmlformats.org/drawingml/2006/main" noGrp="1"/>
          </p:cNvSpPr>
          <p:nvPr/>
        </p:nvSpPr>
        <p:spPr>
          <a:xfrm xmlns:a="http://schemas.openxmlformats.org/drawingml/2006/main">
            <a:off x="666750" y="4095750"/>
            <a:ext cx="3238500" cy="495300"/>
          </a:xfrm>
          <a:prstGeom xmlns:a="http://schemas.openxmlformats.org/drawingml/2006/main" prst="roundRect">
            <a:avLst>
              <a:gd name="adj" fmla="val 13462"/>
            </a:avLst>
          </a:prstGeom>
          <a:solidFill xmlns:a="http://schemas.openxmlformats.org/drawingml/2006/main">
            <a:srgbClr val="F6ECF5"/>
          </a:solidFill>
          <a:ln xmlns:a="http://schemas.openxmlformats.org/drawingml/2006/main" w="11906">
            <a:solidFill>
              <a:srgbClr val="FF007F"/>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spans + RED metrics</a:t>
            </a:r>
          </a:p>
        </p:txBody>
      </p:sp>
      <p:sp>
        <p:nvSpPr>
          <p:cNvPr id="36" name="hubble-metrics-export">
            <a:extLst xmlns:a="http://schemas.openxmlformats.org/drawingml/2006/main">
              <a:ext uri="{FF2B5EF4-FFF2-40B4-BE49-F238E27FC236}">
                <a16:creationId xmlns:a16="http://schemas.microsoft.com/office/drawing/2014/main" id="{88C21540-6E3B-4709-AC82-8BAA7B5FCB66}"/>
              </a:ext>
            </a:extLst>
          </p:cNvPr>
          <p:cNvSpPr>
            <a:spLocks xmlns:a="http://schemas.openxmlformats.org/drawingml/2006/main" noGrp="1"/>
          </p:cNvSpPr>
          <p:nvPr/>
        </p:nvSpPr>
        <p:spPr>
          <a:xfrm xmlns:a="http://schemas.openxmlformats.org/drawingml/2006/main">
            <a:off x="666750" y="4857750"/>
            <a:ext cx="3238500" cy="495300"/>
          </a:xfrm>
          <a:prstGeom xmlns:a="http://schemas.openxmlformats.org/drawingml/2006/main" prst="roundRect">
            <a:avLst>
              <a:gd name="adj" fmla="val 13462"/>
            </a:avLst>
          </a:prstGeom>
          <a:solidFill xmlns:a="http://schemas.openxmlformats.org/drawingml/2006/main">
            <a:srgbClr val="EAF8FC"/>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xmlns:a="http://schemas.openxmlformats.org/drawingml/2006/main">
              <a:ext uri="{FF2B5EF4-FFF2-40B4-BE49-F238E27FC236}">
                <a16:creationId xmlns:a16="http://schemas.microsoft.com/office/drawing/2014/main" id="{BD3F4742-71FC-43B3-8587-FAE799739BBD}"/>
              </a:ext>
            </a:extLst>
          </p:cNvPr>
          <p:cNvSpPr>
            <a:spLocks xmlns:a="http://schemas.openxmlformats.org/drawingml/2006/main" noGrp="1"/>
          </p:cNvSpPr>
          <p:nvPr/>
        </p:nvSpPr>
        <p:spPr>
          <a:xfrm xmlns:a="http://schemas.openxmlformats.org/drawingml/2006/main">
            <a:off x="666750" y="5619750"/>
            <a:ext cx="3238500" cy="495300"/>
          </a:xfrm>
          <a:prstGeom xmlns:a="http://schemas.openxmlformats.org/drawingml/2006/main" prst="roundRect">
            <a:avLst>
              <a:gd name="adj" fmla="val 13462"/>
            </a:avLst>
          </a:prstGeom>
          <a:solidFill xmlns:a="http://schemas.openxmlformats.org/drawingml/2006/main">
            <a:srgbClr val="EAF8FC"/>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xmlns:a="http://schemas.openxmlformats.org/drawingml/2006/main">
              <a:ext uri="{FF2B5EF4-FFF2-40B4-BE49-F238E27FC236}">
                <a16:creationId xmlns:a16="http://schemas.microsoft.com/office/drawing/2014/main" id="{F80404ED-2315-4A13-AD67-564A35FBF9AA}"/>
              </a:ext>
            </a:extLst>
          </p:cNvPr>
          <p:cNvSpPr>
            <a:spLocks xmlns:a="http://schemas.openxmlformats.org/drawingml/2006/main" noGrp="1"/>
          </p:cNvSpPr>
          <p:nvPr/>
        </p:nvSpPr>
        <p:spPr>
          <a:xfrm xmlns:a="http://schemas.openxmlformats.org/drawingml/2006/main">
            <a:off x="5715000" y="4857750"/>
            <a:ext cx="1905000" cy="495300"/>
          </a:xfrm>
          <a:prstGeom xmlns:a="http://schemas.openxmlformats.org/drawingml/2006/main" prst="roundRect">
            <a:avLst>
              <a:gd name="adj" fmla="val 13462"/>
            </a:avLst>
          </a:prstGeom>
          <a:solidFill xmlns:a="http://schemas.openxmlformats.org/drawingml/2006/main">
            <a:srgbClr val="FFFFFF"/>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Collector</a:t>
            </a:r>
          </a:p>
        </p:txBody>
      </p:sp>
      <p:sp>
        <p:nvSpPr>
          <p:cNvPr id="39" name="grafana">
            <a:extLst xmlns:a="http://schemas.openxmlformats.org/drawingml/2006/main">
              <a:ext uri="{FF2B5EF4-FFF2-40B4-BE49-F238E27FC236}">
                <a16:creationId xmlns:a16="http://schemas.microsoft.com/office/drawing/2014/main" id="{100D82A6-2AC9-46C6-BBD3-B701D082BBE5}"/>
              </a:ext>
            </a:extLst>
          </p:cNvPr>
          <p:cNvSpPr>
            <a:spLocks xmlns:a="http://schemas.openxmlformats.org/drawingml/2006/main" noGrp="1"/>
          </p:cNvSpPr>
          <p:nvPr/>
        </p:nvSpPr>
        <p:spPr>
          <a:xfrm xmlns:a="http://schemas.openxmlformats.org/drawingml/2006/main">
            <a:off x="9525000" y="4095750"/>
            <a:ext cx="2095500" cy="1257300"/>
          </a:xfrm>
          <a:prstGeom xmlns:a="http://schemas.openxmlformats.org/drawingml/2006/main" prst="roundRect">
            <a:avLst>
              <a:gd name="adj" fmla="val 5303"/>
            </a:avLst>
          </a:prstGeom>
          <a:solidFill xmlns:a="http://schemas.openxmlformats.org/drawingml/2006/main">
            <a:srgbClr val="F4F6F7"/>
          </a:solidFill>
          <a:ln xmlns:a="http://schemas.openxmlformats.org/drawingml/2006/main" w="11906">
            <a:solidFill>
              <a:srgbClr val="686B6B"/>
            </a:solidFill>
          </a:ln>
        </p:spPr>
        <p:txBody>
          <a:bodyPr xmlns:a="http://schemas.openxmlformats.org/drawingml/2006/main" anchor="ctr">
            <a:noAutofit/>
          </a:bodyPr>
          <a:lstStyle xmlns:a="http://schemas.openxmlformats.org/drawingml/2006/main">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 LGTM</a:t>
            </a:r>
          </a:p>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xmlns:a="http://schemas.openxmlformats.org/drawingml/2006/main">
              <a:ext uri="{FF2B5EF4-FFF2-40B4-BE49-F238E27FC236}">
                <a16:creationId xmlns:a16="http://schemas.microsoft.com/office/drawing/2014/main" id="{7B9348D4-B364-49AC-A11D-7C853FE2500F}"/>
              </a:ext>
            </a:extLst>
          </p:cNvPr>
          <p:cNvSpPr>
            <a:spLocks xmlns:a="http://schemas.openxmlformats.org/drawingml/2006/main" noGrp="1"/>
          </p:cNvSpPr>
          <p:nvPr/>
        </p:nvSpPr>
        <p:spPr>
          <a:xfrm xmlns:a="http://schemas.openxmlformats.org/drawingml/2006/main">
            <a:off x="9525000" y="5619750"/>
            <a:ext cx="2095500" cy="495300"/>
          </a:xfrm>
          <a:prstGeom xmlns:a="http://schemas.openxmlformats.org/drawingml/2006/main" prst="roundRect">
            <a:avLst>
              <a:gd name="adj" fmla="val 13462"/>
            </a:avLst>
          </a:prstGeom>
          <a:solidFill xmlns:a="http://schemas.openxmlformats.org/drawingml/2006/main">
            <a:srgbClr val="EAF8FC"/>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xmlns:a="http://schemas.openxmlformats.org/drawingml/2006/main">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CLI / UI</a:t>
            </a:r>
          </a:p>
        </p:txBody>
      </p:sp>
      <p:cxnSp>
        <p:nvCxnSpPr>
          <p:cNvPr id="41" name="obi-to-grafana">
            <a:extLst xmlns:a="http://schemas.openxmlformats.org/drawingml/2006/main">
              <a:ext uri="{FF2B5EF4-FFF2-40B4-BE49-F238E27FC236}">
                <a16:creationId xmlns:a16="http://schemas.microsoft.com/office/drawing/2014/main" id="{8B474019-C3F7-43A4-A5FC-29C875C5F4F4}"/>
              </a:ext>
            </a:extLst>
          </p:cNvPr>
          <p:cNvCxnSpPr/>
          <p:nvPr/>
        </p:nvCxnSpPr>
        <p:spPr>
          <a:xfrm xmlns:a="http://schemas.openxmlformats.org/drawingml/2006/main">
            <a:off x="3905250" y="4343400"/>
            <a:ext cx="5619750" cy="0"/>
          </a:xfrm>
          <a:prstGeom xmlns:a="http://schemas.openxmlformats.org/drawingml/2006/main" prst="straightConnector1">
            <a:avLst/>
          </a:prstGeom>
          <a:ln xmlns:a="http://schemas.openxmlformats.org/drawingml/2006/main" w="19050">
            <a:solidFill>
              <a:srgbClr val="FF007F"/>
            </a:solidFill>
            <a:prstDash val="solid"/>
            <a:tailEnd type="arrow" w="med" len="med"/>
          </a:ln>
        </p:spPr>
      </p:cxnSp>
      <p:cxnSp>
        <p:nvCxnSpPr>
          <p:cNvPr id="42" name="metrics-to-collector">
            <a:extLst xmlns:a="http://schemas.openxmlformats.org/drawingml/2006/main">
              <a:ext uri="{FF2B5EF4-FFF2-40B4-BE49-F238E27FC236}">
                <a16:creationId xmlns:a16="http://schemas.microsoft.com/office/drawing/2014/main" id="{34D414C3-343D-432A-8C63-E4259A44C246}"/>
              </a:ext>
            </a:extLst>
          </p:cNvPr>
          <p:cNvCxnSpPr/>
          <p:nvPr/>
        </p:nvCxnSpPr>
        <p:spPr>
          <a:xfrm xmlns:a="http://schemas.openxmlformats.org/drawingml/2006/main">
            <a:off x="3905250" y="5105400"/>
            <a:ext cx="1809750" cy="0"/>
          </a:xfrm>
          <a:prstGeom xmlns:a="http://schemas.openxmlformats.org/drawingml/2006/main" prst="straightConnector1">
            <a:avLst/>
          </a:prstGeom>
          <a:ln xmlns:a="http://schemas.openxmlformats.org/drawingml/2006/main" w="19050">
            <a:solidFill>
              <a:srgbClr val="0860FE"/>
            </a:solidFill>
            <a:prstDash val="solid"/>
            <a:tailEnd type="arrow" w="med" len="med"/>
          </a:ln>
        </p:spPr>
      </p:cxnSp>
      <p:cxnSp>
        <p:nvCxnSpPr>
          <p:cNvPr id="43" name="collector-to-grafana">
            <a:extLst xmlns:a="http://schemas.openxmlformats.org/drawingml/2006/main">
              <a:ext uri="{FF2B5EF4-FFF2-40B4-BE49-F238E27FC236}">
                <a16:creationId xmlns:a16="http://schemas.microsoft.com/office/drawing/2014/main" id="{9DF04F7F-976C-44B3-9BB7-3F0656E2AC86}"/>
              </a:ext>
            </a:extLst>
          </p:cNvPr>
          <p:cNvCxnSpPr/>
          <p:nvPr/>
        </p:nvCxnSpPr>
        <p:spPr>
          <a:xfrm xmlns:a="http://schemas.openxmlformats.org/drawingml/2006/main">
            <a:off x="7620000" y="5105400"/>
            <a:ext cx="1905000" cy="0"/>
          </a:xfrm>
          <a:prstGeom xmlns:a="http://schemas.openxmlformats.org/drawingml/2006/main" prst="straightConnector1">
            <a:avLst/>
          </a:prstGeom>
          <a:ln xmlns:a="http://schemas.openxmlformats.org/drawingml/2006/main" w="19050">
            <a:solidFill>
              <a:srgbClr val="0860FE"/>
            </a:solidFill>
            <a:prstDash val="solid"/>
            <a:tailEnd type="arrow" w="med" len="med"/>
          </a:ln>
        </p:spPr>
      </p:cxnSp>
      <p:cxnSp>
        <p:nvCxnSpPr>
          <p:cNvPr id="44" name="flows-to-ui">
            <a:extLst xmlns:a="http://schemas.openxmlformats.org/drawingml/2006/main">
              <a:ext uri="{FF2B5EF4-FFF2-40B4-BE49-F238E27FC236}">
                <a16:creationId xmlns:a16="http://schemas.microsoft.com/office/drawing/2014/main" id="{8242BB3C-CD4B-49FE-8895-BAF664F2263E}"/>
              </a:ext>
            </a:extLst>
          </p:cNvPr>
          <p:cNvCxnSpPr/>
          <p:nvPr/>
        </p:nvCxnSpPr>
        <p:spPr>
          <a:xfrm xmlns:a="http://schemas.openxmlformats.org/drawingml/2006/main">
            <a:off x="3905250" y="5867400"/>
            <a:ext cx="5619750" cy="0"/>
          </a:xfrm>
          <a:prstGeom xmlns:a="http://schemas.openxmlformats.org/drawingml/2006/main" prst="straightConnector1">
            <a:avLst/>
          </a:prstGeom>
          <a:ln xmlns:a="http://schemas.openxmlformats.org/drawingml/2006/main" w="19050">
            <a:solidFill>
              <a:srgbClr val="0860FE"/>
            </a:solidFill>
            <a:prstDash val="solid"/>
            <a:tailEnd type="arrow" w="med" len="med"/>
          </a:ln>
        </p:spPr>
      </p:cxnSp>
    </p:spTree>
    <p:extLst>
      <p:ext uri="{BB962C8B-B14F-4D97-AF65-F5344CB8AC3E}">
        <p14:creationId xmlns:p14="http://schemas.microsoft.com/office/powerpoint/2010/main" val="300991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70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191250" cy="3482578"/>
          </a:xfrm>
          <a:prstGeom prst="roundRect">
            <a:avLst>
              <a:gd name="adj" fmla="val 1852"/>
            </a:avLst>
          </a:prstGeom>
        </p:spPr>
      </p:pic>
      <p:sp>
        <p:nvSpPr>
          <p:cNvPr id="1001"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xmlns:a="http://schemas.openxmlformats.org/drawingml/2006/main">
              <a:ext uri="{FF2B5EF4-FFF2-40B4-BE49-F238E27FC236}">
                <a16:creationId xmlns:a16="http://schemas.microsoft.com/office/drawing/2014/main" id="{3795B665-5D7D-4C68-9291-CD86A7E442D5}"/>
              </a:ext>
            </a:extLst>
          </p:cNvPr>
          <p:cNvSpPr>
            <a:spLocks xmlns:a="http://schemas.openxmlformats.org/drawingml/2006/main" noGrp="1"/>
          </p:cNvSpPr>
          <p:nvPr/>
        </p:nvSpPr>
        <p:spPr>
          <a:xfrm xmlns:a="http://schemas.openxmlformats.org/drawingml/2006/main">
            <a:off x="571500" y="106680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xmlns:a="http://schemas.openxmlformats.org/drawingml/2006/main">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pic>
        <p:nvPicPr>
          <p:cNvPr id="1003" name="">
            <a:extLst xmlns:a="http://schemas.openxmlformats.org/drawingml/2006/main">
              <a:ext uri="{FF2B5EF4-FFF2-40B4-BE49-F238E27FC236}">
                <a16:creationId xmlns:a16="http://schemas.microsoft.com/office/drawing/2014/main" id="{CE29DD6A-E1C0-467D-A29E-B2E2D00AFDD3}"/>
              </a:ext>
            </a:extLst>
          </p:cNvPr>
          <p:cNvPicPr>
            <a:picLocks xmlns:a="http://schemas.openxmlformats.org/drawingml/2006/main" noChangeAspect="1"/>
          </p:cNvPicPr>
          <p:nvPr/>
        </p:nvPicPr>
        <p:blipFill>
          <a:blip xmlns:r="http://schemas.openxmlformats.org/officeDocument/2006/relationships" xmlns:a="http://schemas.openxmlformats.org/drawingml/2006/main" r:embed="rIdClarifiedDenialGraph"/>
          <a:srcRect xmlns:a="http://schemas.openxmlformats.org/drawingml/2006/main" l="50278" t="59259" r="1111" b="8765"/>
          <a:stretch xmlns:a="http://schemas.openxmlformats.org/drawingml/2006/main"/>
        </p:blipFill>
        <p:spPr>
          <a:xfrm xmlns:a="http://schemas.openxmlformats.org/drawingml/2006/main">
            <a:off x="7143750" y="1809750"/>
            <a:ext cx="4572000" cy="1691640"/>
          </a:xfrm>
          <a:prstGeom xmlns:a="http://schemas.openxmlformats.org/drawingml/2006/main" prst="rect">
            <a:avLst/>
          </a:prstGeom>
        </p:spPr>
      </p:pic>
      <p:sp>
        <p:nvSpPr>
          <p:cNvPr id="1004" name="grafana-drop-caption">
            <a:extLst xmlns:a="http://schemas.openxmlformats.org/drawingml/2006/main">
              <a:ext uri="{FF2B5EF4-FFF2-40B4-BE49-F238E27FC236}">
                <a16:creationId xmlns:a16="http://schemas.microsoft.com/office/drawing/2014/main" id="{372632C0-3BBC-44F0-A646-621952DAA9B6}"/>
              </a:ext>
            </a:extLst>
          </p:cNvPr>
          <p:cNvSpPr>
            <a:spLocks xmlns:a="http://schemas.openxmlformats.org/drawingml/2006/main" noGrp="1"/>
          </p:cNvSpPr>
          <p:nvPr/>
        </p:nvSpPr>
        <p:spPr>
          <a:xfrm xmlns:a="http://schemas.openxmlformats.org/drawingml/2006/main">
            <a:off x="7143750" y="3762375"/>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xmlns:a="http://schemas.openxmlformats.org/drawingml/2006/main">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xmlns:a="http://schemas.openxmlformats.org/drawingml/2006/main">
              <a:ext uri="{FF2B5EF4-FFF2-40B4-BE49-F238E27FC236}">
                <a16:creationId xmlns:a16="http://schemas.microsoft.com/office/drawing/2014/main" id="{0724876A-175F-4E78-850C-8F380A591ABE}"/>
              </a:ext>
            </a:extLst>
          </p:cNvPr>
          <p:cNvSpPr>
            <a:spLocks xmlns:a="http://schemas.openxmlformats.org/drawingml/2006/main" noGrp="1"/>
          </p:cNvSpPr>
          <p:nvPr/>
        </p:nvSpPr>
        <p:spPr>
          <a:xfrm xmlns:a="http://schemas.openxmlformats.org/drawingml/2006/main">
            <a:off x="7143750" y="45434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xmlns:a="http://schemas.openxmlformats.org/drawingml/2006/main">
            <a:pPr algn="l">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Hubble: Policy denied / DROPPED</a:t>
            </a:r>
          </a:p>
        </p:txBody>
      </p:sp>
      <p:sp>
        <p:nvSpPr>
          <p:cNvPr id="1006" name="obi-symptom">
            <a:extLst xmlns:a="http://schemas.openxmlformats.org/drawingml/2006/main">
              <a:ext uri="{FF2B5EF4-FFF2-40B4-BE49-F238E27FC236}">
                <a16:creationId xmlns:a16="http://schemas.microsoft.com/office/drawing/2014/main" id="{7BEAF65C-EF5D-467F-B67F-722D64B8E5EE}"/>
              </a:ext>
            </a:extLst>
          </p:cNvPr>
          <p:cNvSpPr>
            <a:spLocks xmlns:a="http://schemas.openxmlformats.org/drawingml/2006/main" noGrp="1"/>
          </p:cNvSpPr>
          <p:nvPr/>
        </p:nvSpPr>
        <p:spPr>
          <a:xfrm xmlns:a="http://schemas.openxmlformats.org/drawingml/2006/main">
            <a:off x="7143750" y="5114925"/>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0">
                <a:solidFill>
                  <a:srgbClr val="07182A"/>
                </a:solidFill>
                <a:latin typeface="CiscoSansTT"/>
                <a:ea typeface="CiscoSansTT"/>
                <a:cs typeface="CiscoSansTT"/>
              </a:defRPr>
            </a:defPPr>
            <a:lvl1pPr algn="l">
              <a:defRPr sz="1650" b="0">
                <a:solidFill>
                  <a:srgbClr val="07182A"/>
                </a:solidFill>
                <a:latin typeface="CiscoSansTT"/>
                <a:ea typeface="CiscoSansTT"/>
                <a:cs typeface="CiscoSansTT"/>
              </a:defRPr>
            </a:lvl1pPr>
            <a:lvl2pPr algn="l">
              <a:defRPr sz="1650" b="0">
                <a:solidFill>
                  <a:srgbClr val="07182A"/>
                </a:solidFill>
                <a:latin typeface="CiscoSansTT"/>
                <a:ea typeface="CiscoSansTT"/>
                <a:cs typeface="CiscoSansTT"/>
              </a:defRPr>
            </a:lvl2pPr>
            <a:lvl3pPr algn="l">
              <a:defRPr sz="1650" b="0">
                <a:solidFill>
                  <a:srgbClr val="07182A"/>
                </a:solidFill>
                <a:latin typeface="CiscoSansTT"/>
                <a:ea typeface="CiscoSansTT"/>
                <a:cs typeface="CiscoSansTT"/>
              </a:defRPr>
            </a:lvl3pPr>
            <a:lvl4pPr algn="l">
              <a:defRPr sz="1650" b="0">
                <a:solidFill>
                  <a:srgbClr val="07182A"/>
                </a:solidFill>
                <a:latin typeface="CiscoSansTT"/>
                <a:ea typeface="CiscoSansTT"/>
                <a:cs typeface="CiscoSansTT"/>
              </a:defRPr>
            </a:lvl4pPr>
            <a:lvl5pPr algn="l">
              <a:defRPr sz="1650" b="0">
                <a:solidFill>
                  <a:srgbClr val="07182A"/>
                </a:solidFill>
                <a:latin typeface="CiscoSansTT"/>
                <a:ea typeface="CiscoSansTT"/>
                <a:cs typeface="CiscoSansTT"/>
              </a:defRPr>
            </a:lvl5pPr>
            <a:lvl6pPr algn="l">
              <a:defRPr sz="1650" b="0">
                <a:solidFill>
                  <a:srgbClr val="07182A"/>
                </a:solidFill>
                <a:latin typeface="CiscoSansTT"/>
                <a:ea typeface="CiscoSansTT"/>
                <a:cs typeface="CiscoSansTT"/>
              </a:defRPr>
            </a:lvl6pPr>
            <a:lvl7pPr algn="l">
              <a:defRPr sz="1650" b="0">
                <a:solidFill>
                  <a:srgbClr val="07182A"/>
                </a:solidFill>
                <a:latin typeface="CiscoSansTT"/>
                <a:ea typeface="CiscoSansTT"/>
                <a:cs typeface="CiscoSansTT"/>
              </a:defRPr>
            </a:lvl7pPr>
            <a:lvl8pPr algn="l">
              <a:defRPr sz="1650" b="0">
                <a:solidFill>
                  <a:srgbClr val="07182A"/>
                </a:solidFill>
                <a:latin typeface="CiscoSansTT"/>
                <a:ea typeface="CiscoSansTT"/>
                <a:cs typeface="CiscoSansTT"/>
              </a:defRPr>
            </a:lvl8pPr>
            <a:lvl9pPr algn="l">
              <a:defRPr sz="1650" b="0">
                <a:solidFill>
                  <a:srgbClr val="07182A"/>
                </a:solidFill>
                <a:latin typeface="CiscoSansTT"/>
                <a:ea typeface="CiscoSansTT"/>
                <a:cs typeface="CiscoSansTT"/>
              </a:defRPr>
            </a:lvl9pPr>
          </a:lstStyle>
          <a:p xmlns:a="http://schemas.openxmlformats.org/drawingml/2006/main">
            <a:pPr algn="l">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In OBI, inspect the caller's request outcome</a:t>
            </a:r>
          </a:p>
        </p:txBody>
      </p:sp>
      <p:sp>
        <p:nvSpPr>
          <p:cNvPr id="1007" name="video-guide">
            <a:extLst xmlns:a="http://schemas.openxmlformats.org/drawingml/2006/main">
              <a:ext uri="{FF2B5EF4-FFF2-40B4-BE49-F238E27FC236}">
                <a16:creationId xmlns:a16="http://schemas.microsoft.com/office/drawing/2014/main" id="{42248169-98A0-44BB-87E7-A99F0A2384CF}"/>
              </a:ext>
            </a:extLst>
          </p:cNvPr>
          <p:cNvSpPr>
            <a:spLocks xmlns:a="http://schemas.openxmlformats.org/drawingml/2006/main" noGrp="1"/>
          </p:cNvSpPr>
          <p:nvPr/>
        </p:nvSpPr>
        <p:spPr>
          <a:xfrm xmlns:a="http://schemas.openxmlformats.org/drawingml/2006/main">
            <a:off x="476250" y="5448300"/>
            <a:ext cx="619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0">
                <a:solidFill>
                  <a:srgbClr val="686B6B"/>
                </a:solidFill>
                <a:latin typeface="CiscoSansTT"/>
                <a:ea typeface="CiscoSansTT"/>
                <a:cs typeface="CiscoSansTT"/>
              </a:defRPr>
            </a:defPPr>
            <a:lvl1pPr algn="l">
              <a:defRPr sz="1500" b="0">
                <a:solidFill>
                  <a:srgbClr val="686B6B"/>
                </a:solidFill>
                <a:latin typeface="CiscoSansTT"/>
                <a:ea typeface="CiscoSansTT"/>
                <a:cs typeface="CiscoSansTT"/>
              </a:defRPr>
            </a:lvl1pPr>
            <a:lvl2pPr algn="l">
              <a:defRPr sz="1500" b="0">
                <a:solidFill>
                  <a:srgbClr val="686B6B"/>
                </a:solidFill>
                <a:latin typeface="CiscoSansTT"/>
                <a:ea typeface="CiscoSansTT"/>
                <a:cs typeface="CiscoSansTT"/>
              </a:defRPr>
            </a:lvl2pPr>
            <a:lvl3pPr algn="l">
              <a:defRPr sz="1500" b="0">
                <a:solidFill>
                  <a:srgbClr val="686B6B"/>
                </a:solidFill>
                <a:latin typeface="CiscoSansTT"/>
                <a:ea typeface="CiscoSansTT"/>
                <a:cs typeface="CiscoSansTT"/>
              </a:defRPr>
            </a:lvl3pPr>
            <a:lvl4pPr algn="l">
              <a:defRPr sz="1500" b="0">
                <a:solidFill>
                  <a:srgbClr val="686B6B"/>
                </a:solidFill>
                <a:latin typeface="CiscoSansTT"/>
                <a:ea typeface="CiscoSansTT"/>
                <a:cs typeface="CiscoSansTT"/>
              </a:defRPr>
            </a:lvl4pPr>
            <a:lvl5pPr algn="l">
              <a:defRPr sz="1500" b="0">
                <a:solidFill>
                  <a:srgbClr val="686B6B"/>
                </a:solidFill>
                <a:latin typeface="CiscoSansTT"/>
                <a:ea typeface="CiscoSansTT"/>
                <a:cs typeface="CiscoSansTT"/>
              </a:defRPr>
            </a:lvl5pPr>
            <a:lvl6pPr algn="l">
              <a:defRPr sz="1500" b="0">
                <a:solidFill>
                  <a:srgbClr val="686B6B"/>
                </a:solidFill>
                <a:latin typeface="CiscoSansTT"/>
                <a:ea typeface="CiscoSansTT"/>
                <a:cs typeface="CiscoSansTT"/>
              </a:defRPr>
            </a:lvl6pPr>
            <a:lvl7pPr algn="l">
              <a:defRPr sz="1500" b="0">
                <a:solidFill>
                  <a:srgbClr val="686B6B"/>
                </a:solidFill>
                <a:latin typeface="CiscoSansTT"/>
                <a:ea typeface="CiscoSansTT"/>
                <a:cs typeface="CiscoSansTT"/>
              </a:defRPr>
            </a:lvl7pPr>
            <a:lvl8pPr algn="l">
              <a:defRPr sz="1500" b="0">
                <a:solidFill>
                  <a:srgbClr val="686B6B"/>
                </a:solidFill>
                <a:latin typeface="CiscoSansTT"/>
                <a:ea typeface="CiscoSansTT"/>
                <a:cs typeface="CiscoSansTT"/>
              </a:defRPr>
            </a:lvl8pPr>
            <a:lvl9pPr algn="l">
              <a:defRPr sz="1500" b="0">
                <a:solidFill>
                  <a:srgbClr val="686B6B"/>
                </a:solidFill>
                <a:latin typeface="CiscoSansTT"/>
                <a:ea typeface="CiscoSansTT"/>
                <a:cs typeface="CiscoSansTT"/>
              </a:defRPr>
            </a:lvl9pPr>
          </a:lstStyle>
          <a:p xmlns:a="http://schemas.openxmlformats.org/drawingml/2006/main">
            <a:pPr algn="l">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Replay: Hubble at 00:18, Grafana at 00:34</a:t>
            </a:r>
          </a:p>
        </p:txBody>
      </p:sp>
      <p:sp>
        <p:nvSpPr>
          <p:cNvPr id="1008" name="denial-meaning">
            <a:extLst xmlns:a="http://schemas.openxmlformats.org/drawingml/2006/main">
              <a:ext uri="{FF2B5EF4-FFF2-40B4-BE49-F238E27FC236}">
                <a16:creationId xmlns:a16="http://schemas.microsoft.com/office/drawing/2014/main" id="{78784F3E-4EFD-4928-8195-944817FF87D7}"/>
              </a:ext>
            </a:extLst>
          </p:cNvPr>
          <p:cNvSpPr>
            <a:spLocks xmlns:a="http://schemas.openxmlformats.org/drawingml/2006/main" noGrp="1"/>
          </p:cNvSpPr>
          <p:nvPr/>
        </p:nvSpPr>
        <p:spPr>
          <a:xfrm xmlns:a="http://schemas.openxmlformats.org/drawingml/2006/main">
            <a:off x="571500" y="593407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75" b="1">
                <a:solidFill>
                  <a:srgbClr val="07182A"/>
                </a:solidFill>
                <a:latin typeface="CiscoSansTT Medium"/>
                <a:ea typeface="CiscoSansTT Medium"/>
                <a:cs typeface="CiscoSansTT Medium"/>
              </a:defRPr>
            </a:defPPr>
            <a:lvl1pPr algn="l">
              <a:defRPr sz="1575" b="1">
                <a:solidFill>
                  <a:srgbClr val="07182A"/>
                </a:solidFill>
                <a:latin typeface="CiscoSansTT Medium"/>
                <a:ea typeface="CiscoSansTT Medium"/>
                <a:cs typeface="CiscoSansTT Medium"/>
              </a:defRPr>
            </a:lvl1pPr>
            <a:lvl2pPr algn="l">
              <a:defRPr sz="1575" b="1">
                <a:solidFill>
                  <a:srgbClr val="07182A"/>
                </a:solidFill>
                <a:latin typeface="CiscoSansTT Medium"/>
                <a:ea typeface="CiscoSansTT Medium"/>
                <a:cs typeface="CiscoSansTT Medium"/>
              </a:defRPr>
            </a:lvl2pPr>
            <a:lvl3pPr algn="l">
              <a:defRPr sz="1575" b="1">
                <a:solidFill>
                  <a:srgbClr val="07182A"/>
                </a:solidFill>
                <a:latin typeface="CiscoSansTT Medium"/>
                <a:ea typeface="CiscoSansTT Medium"/>
                <a:cs typeface="CiscoSansTT Medium"/>
              </a:defRPr>
            </a:lvl3pPr>
            <a:lvl4pPr algn="l">
              <a:defRPr sz="1575" b="1">
                <a:solidFill>
                  <a:srgbClr val="07182A"/>
                </a:solidFill>
                <a:latin typeface="CiscoSansTT Medium"/>
                <a:ea typeface="CiscoSansTT Medium"/>
                <a:cs typeface="CiscoSansTT Medium"/>
              </a:defRPr>
            </a:lvl4pPr>
            <a:lvl5pPr algn="l">
              <a:defRPr sz="1575" b="1">
                <a:solidFill>
                  <a:srgbClr val="07182A"/>
                </a:solidFill>
                <a:latin typeface="CiscoSansTT Medium"/>
                <a:ea typeface="CiscoSansTT Medium"/>
                <a:cs typeface="CiscoSansTT Medium"/>
              </a:defRPr>
            </a:lvl5pPr>
            <a:lvl6pPr algn="l">
              <a:defRPr sz="1575" b="1">
                <a:solidFill>
                  <a:srgbClr val="07182A"/>
                </a:solidFill>
                <a:latin typeface="CiscoSansTT Medium"/>
                <a:ea typeface="CiscoSansTT Medium"/>
                <a:cs typeface="CiscoSansTT Medium"/>
              </a:defRPr>
            </a:lvl6pPr>
            <a:lvl7pPr algn="l">
              <a:defRPr sz="1575" b="1">
                <a:solidFill>
                  <a:srgbClr val="07182A"/>
                </a:solidFill>
                <a:latin typeface="CiscoSansTT Medium"/>
                <a:ea typeface="CiscoSansTT Medium"/>
                <a:cs typeface="CiscoSansTT Medium"/>
              </a:defRPr>
            </a:lvl7pPr>
            <a:lvl8pPr algn="l">
              <a:defRPr sz="1575" b="1">
                <a:solidFill>
                  <a:srgbClr val="07182A"/>
                </a:solidFill>
                <a:latin typeface="CiscoSansTT Medium"/>
                <a:ea typeface="CiscoSansTT Medium"/>
                <a:cs typeface="CiscoSansTT Medium"/>
              </a:defRPr>
            </a:lvl8pPr>
            <a:lvl9pPr algn="l">
              <a:defRPr sz="1575" b="1">
                <a:solidFill>
                  <a:srgbClr val="07182A"/>
                </a:solidFill>
                <a:latin typeface="CiscoSansTT Medium"/>
                <a:ea typeface="CiscoSansTT Medium"/>
                <a:cs typeface="CiscoSansTT Medium"/>
              </a:defRPr>
            </a:lvl9pPr>
          </a:lstStyle>
          <a:p xmlns:a="http://schemas.openxmlformats.org/drawingml/2006/main">
            <a:pPr algn="l">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The graph counts drops. The Hubble record identifies the denied connection.</a:t>
            </a:r>
          </a:p>
        </p:txBody>
      </p:sp>
    </p:spTree>
    <p:extLst>
      <p:ext uri="{BB962C8B-B14F-4D97-AF65-F5344CB8AC3E}">
        <p14:creationId xmlns:p14="http://schemas.microsoft.com/office/powerpoint/2010/main" val="1923459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86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94276" lnSpcReduction="10000"/>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Give network telemetry one default owner</a:t>
            </a:r>
          </a:p>
        </p:txBody>
      </p:sp>
      <p:sp>
        <p:nvSpPr>
          <p:cNvPr id="2" name="Rectangle 1">
            <a:extLst>
              <a:ext uri="{FF2B5EF4-FFF2-40B4-BE49-F238E27FC236}">
                <a16:creationId xmlns:a16="http://schemas.microsoft.com/office/drawing/2014/main" id="{9363F227-F6F1-4510-89E1-4DE9153BF034}"/>
              </a:ext>
            </a:extLst>
          </p:cNvPr>
          <p:cNvSpPr>
            <a:spLocks noGrp="1"/>
          </p:cNvSpPr>
          <p:nvPr/>
        </p:nvSpPr>
        <p:spPr>
          <a:xfrm>
            <a:off x="685800" y="1495425"/>
            <a:ext cx="3810000" cy="342900"/>
          </a:xfrm>
          <a:prstGeom prst="rect">
            <a:avLst/>
          </a:prstGeom>
          <a:noFill/>
          <a:ln w="0">
            <a:noFill/>
          </a:ln>
        </p:spPr>
        <p:txBody>
          <a:bodyPr anchor="t">
            <a:normAutofit/>
          </a:bodyPr>
          <a:lstStyle/>
          <a:p>
            <a:pPr algn="l">
              <a:buNone/>
              <a:defRPr sz="1650" b="1">
                <a:solidFill>
                  <a:srgbClr val="686B6B"/>
                </a:solidFill>
                <a:latin typeface="CiscoSansTT Medium"/>
                <a:ea typeface="CiscoSansTT Medium"/>
                <a:cs typeface="CiscoSansTT Medium"/>
              </a:defRPr>
            </a:pPr>
            <a:r>
              <a:rPr sz="1650" b="1">
                <a:solidFill>
                  <a:srgbClr val="686B6B"/>
                </a:solidFill>
                <a:latin typeface="CiscoSansTT Medium"/>
                <a:ea typeface="CiscoSansTT Medium"/>
                <a:cs typeface="CiscoSansTT Medium"/>
              </a:rPr>
              <a:t>Default combined design</a:t>
            </a:r>
          </a:p>
        </p:txBody>
      </p:sp>
      <p:sp>
        <p:nvSpPr>
          <p:cNvPr id="3" name="Rounded Rectangle 2">
            <a:extLst>
              <a:ext uri="{FF2B5EF4-FFF2-40B4-BE49-F238E27FC236}">
                <a16:creationId xmlns:a16="http://schemas.microsoft.com/office/drawing/2014/main" id="{2B1855B3-2267-4CE0-BF37-CD2590F57911}"/>
              </a:ext>
            </a:extLst>
          </p:cNvPr>
          <p:cNvSpPr>
            <a:spLocks noGrp="1"/>
          </p:cNvSpPr>
          <p:nvPr/>
        </p:nvSpPr>
        <p:spPr>
          <a:xfrm>
            <a:off x="1047750" y="2190750"/>
            <a:ext cx="2857500" cy="1333500"/>
          </a:xfrm>
          <a:prstGeom prst="roundRect">
            <a:avLst>
              <a:gd name="adj" fmla="val 5714"/>
            </a:avLst>
          </a:prstGeom>
          <a:solidFill>
            <a:srgbClr val="F4EAF4"/>
          </a:solidFill>
          <a:ln w="14288">
            <a:solidFill>
              <a:srgbClr val="FF007F"/>
            </a:solidFill>
          </a:ln>
        </p:spPr>
        <p:txBody>
          <a:bodyPr anchor="ctr">
            <a:normAutofit/>
          </a:bodyPr>
          <a:lstStyle/>
          <a:p>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OBI</a:t>
            </a:r>
          </a:p>
          <a:p>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application signals</a:t>
            </a:r>
          </a:p>
        </p:txBody>
      </p:sp>
      <p:sp>
        <p:nvSpPr>
          <p:cNvPr id="4" name="Rounded Rectangle 3">
            <a:extLst>
              <a:ext uri="{FF2B5EF4-FFF2-40B4-BE49-F238E27FC236}">
                <a16:creationId xmlns:a16="http://schemas.microsoft.com/office/drawing/2014/main" id="{3129369A-D151-43B9-8BF5-BD06E4EFBB4C}"/>
              </a:ext>
            </a:extLst>
          </p:cNvPr>
          <p:cNvSpPr>
            <a:spLocks noGrp="1"/>
          </p:cNvSpPr>
          <p:nvPr/>
        </p:nvSpPr>
        <p:spPr>
          <a:xfrm>
            <a:off x="4619625" y="2190750"/>
            <a:ext cx="2857500" cy="1333500"/>
          </a:xfrm>
          <a:prstGeom prst="roundRect">
            <a:avLst>
              <a:gd name="adj" fmla="val 5714"/>
            </a:avLst>
          </a:prstGeom>
          <a:solidFill>
            <a:srgbClr val="EAF7FC"/>
          </a:solidFill>
          <a:ln w="14288">
            <a:solidFill>
              <a:srgbClr val="0860FE"/>
            </a:solidFill>
          </a:ln>
        </p:spPr>
        <p:txBody>
          <a:bodyPr anchor="ctr">
            <a:normAutofit/>
          </a:bodyPr>
          <a:lstStyle/>
          <a:p>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Hubble</a:t>
            </a:r>
          </a:p>
          <a:p>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network + policy</a:t>
            </a:r>
          </a:p>
        </p:txBody>
      </p:sp>
      <p:sp>
        <p:nvSpPr>
          <p:cNvPr id="5" name="Rounded Rectangle 4">
            <a:extLst>
              <a:ext uri="{FF2B5EF4-FFF2-40B4-BE49-F238E27FC236}">
                <a16:creationId xmlns:a16="http://schemas.microsoft.com/office/drawing/2014/main" id="{5D65C379-809F-4782-BAD8-69A5B47C504C}"/>
              </a:ext>
            </a:extLst>
          </p:cNvPr>
          <p:cNvSpPr>
            <a:spLocks noGrp="1"/>
          </p:cNvSpPr>
          <p:nvPr/>
        </p:nvSpPr>
        <p:spPr>
          <a:xfrm>
            <a:off x="8191500" y="2190750"/>
            <a:ext cx="2857500" cy="1333500"/>
          </a:xfrm>
          <a:prstGeom prst="roundRect">
            <a:avLst>
              <a:gd name="adj" fmla="val 5714"/>
            </a:avLst>
          </a:prstGeom>
          <a:solidFill>
            <a:srgbClr val="F4F6F8"/>
          </a:solidFill>
          <a:ln w="14288">
            <a:solidFill>
              <a:srgbClr val="A6A6A6"/>
            </a:solidFill>
          </a:ln>
        </p:spPr>
        <p:txBody>
          <a:bodyPr anchor="ctr">
            <a:normAutofit/>
          </a:body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network metrics</a:t>
            </a:r>
          </a:p>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socket_filter only</a:t>
            </a:r>
          </a:p>
        </p:txBody>
      </p:sp>
      <p:cxnSp>
        <p:nvCxnSpPr>
          <p:cNvPr id="106" name="Straight Arrow Connector 14"/>
          <p:cNvCxnSpPr>
            <a:stCxn id="3" idx="3"/>
            <a:endCxn id="4" idx="1"/>
          </p:cNvCxnSpPr>
          <p:nvPr/>
        </p:nvCxnSpPr>
        <p:spPr>
          <a:xfrm>
            <a:off x="3905250" y="2857500"/>
            <a:ext cx="714375" cy="0"/>
          </a:xfrm>
          <a:prstGeom prst="straightConnector1">
            <a:avLst/>
          </a:prstGeom>
          <a:ln w="23813">
            <a:solidFill>
              <a:srgbClr val="686B6B"/>
            </a:solidFill>
            <a:prstDash val="dash"/>
            <a:tailEnd type="arrow" w="med" len="med"/>
          </a:ln>
        </p:spPr>
      </p:cxnSp>
      <p:cxnSp>
        <p:nvCxnSpPr>
          <p:cNvPr id="107" name="Straight Arrow Connector 15"/>
          <p:cNvCxnSpPr>
            <a:stCxn id="4" idx="3"/>
            <a:endCxn id="5" idx="1"/>
          </p:cNvCxnSpPr>
          <p:nvPr/>
        </p:nvCxnSpPr>
        <p:spPr>
          <a:xfrm>
            <a:off x="7477125" y="2857500"/>
            <a:ext cx="714375" cy="0"/>
          </a:xfrm>
          <a:prstGeom prst="straightConnector1">
            <a:avLst/>
          </a:prstGeom>
          <a:ln w="23813">
            <a:solidFill>
              <a:srgbClr val="686B6B"/>
            </a:solidFill>
            <a:prstDash val="dash"/>
            <a:tailEnd type="arrow" w="med" len="med"/>
          </a:ln>
        </p:spPr>
      </p:cxnSp>
      <p:sp>
        <p:nvSpPr>
          <p:cNvPr id="8" name="Rectangle 7">
            <a:extLst>
              <a:ext uri="{FF2B5EF4-FFF2-40B4-BE49-F238E27FC236}">
                <a16:creationId xmlns:a16="http://schemas.microsoft.com/office/drawing/2014/main" id="{E5512B38-A93E-47F3-BF29-CF7C9D3DB81B}"/>
              </a:ext>
            </a:extLst>
          </p:cNvPr>
          <p:cNvSpPr>
            <a:spLocks noGrp="1"/>
          </p:cNvSpPr>
          <p:nvPr/>
        </p:nvSpPr>
        <p:spPr>
          <a:xfrm>
            <a:off x="1143000" y="4438650"/>
            <a:ext cx="9906000" cy="876300"/>
          </a:xfrm>
          <a:prstGeom prst="rect">
            <a:avLst/>
          </a:prstGeom>
          <a:noFill/>
          <a:ln w="0">
            <a:noFill/>
          </a:ln>
        </p:spPr>
        <p:txBody>
          <a:bodyPr anchor="t">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Enable the third stream only for a question Hubble cannot answer, or when duplication is the experiment.</a:t>
            </a:r>
          </a:p>
        </p:txBody>
      </p:sp>
      <p:sp>
        <p:nvSpPr>
          <p:cNvPr id="9" name="Rounded Rectangle 8">
            <a:extLst>
              <a:ext uri="{FF2B5EF4-FFF2-40B4-BE49-F238E27FC236}">
                <a16:creationId xmlns:a16="http://schemas.microsoft.com/office/drawing/2014/main" id="{B4AD1679-F97C-4AC8-A7BB-72C9590CC5C6}"/>
              </a:ext>
            </a:extLst>
          </p:cNvPr>
          <p:cNvSpPr>
            <a:spLocks noGrp="1"/>
          </p:cNvSpPr>
          <p:nvPr/>
        </p:nvSpPr>
        <p:spPr>
          <a:xfrm>
            <a:off x="3429000" y="5543550"/>
            <a:ext cx="5334000" cy="381000"/>
          </a:xfrm>
          <a:prstGeom prst="roundRect">
            <a:avLst>
              <a:gd name="adj" fmla="val 20000"/>
            </a:avLst>
          </a:prstGeom>
          <a:solidFill>
            <a:srgbClr val="07182A"/>
          </a:solidFill>
          <a:ln w="0">
            <a:noFill/>
          </a:ln>
        </p:spPr>
        <p:txBody>
          <a:bodyPr anchor="ctr">
            <a:normAutofit/>
          </a:body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AVOID DUPLICATE TC FLOW COLLECTION</a:t>
            </a:r>
          </a:p>
        </p:txBody>
      </p:sp>
    </p:spTree>
    <p:extLst>
      <p:ext uri="{BB962C8B-B14F-4D97-AF65-F5344CB8AC3E}">
        <p14:creationId xmlns:p14="http://schemas.microsoft.com/office/powerpoint/2010/main" val="17851905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a:ext uri="{FF2B5EF4-FFF2-40B4-BE49-F238E27FC236}">
                <a16:creationId xmlns:a16="http://schemas.microsoft.com/office/drawing/2014/main" id="{C57F3861-4686-4855-A5F6-163934D70F39}"/>
              </a:ext>
            </a:extLst>
          </p:cNvPr>
          <p:cNvSpPr>
            <a:spLocks noGrp="1"/>
          </p:cNvSpPr>
          <p:nvPr/>
        </p:nvSpPr>
        <p:spPr>
          <a:xfrm>
            <a:off x="1209675" y="2000250"/>
            <a:ext cx="704850" cy="381000"/>
          </a:xfrm>
          <a:prstGeom prst="roundRect">
            <a:avLst>
              <a:gd name="adj" fmla="val 20000"/>
            </a:avLst>
          </a:prstGeom>
          <a:solidFill>
            <a:srgbClr val="686B6B"/>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a:ext uri="{FF2B5EF4-FFF2-40B4-BE49-F238E27FC236}">
                <a16:creationId xmlns:a16="http://schemas.microsoft.com/office/drawing/2014/main" id="{43DA1D42-5150-46B7-A997-2EA04A6FE5E7}"/>
              </a:ext>
            </a:extLst>
          </p:cNvPr>
          <p:cNvSpPr>
            <a:spLocks noGrp="1"/>
          </p:cNvSpPr>
          <p:nvPr/>
        </p:nvSpPr>
        <p:spPr>
          <a:xfrm>
            <a:off x="666750" y="2571750"/>
            <a:ext cx="1790700" cy="1352550"/>
          </a:xfrm>
          <a:prstGeom prst="roundRect">
            <a:avLst>
              <a:gd name="adj" fmla="val 5634"/>
            </a:avLst>
          </a:prstGeom>
          <a:solidFill>
            <a:srgbClr val="F4F6F8"/>
          </a:solidFill>
          <a:ln w="14288">
            <a:solidFill>
              <a:srgbClr val="686B6B"/>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a:ext uri="{FF2B5EF4-FFF2-40B4-BE49-F238E27FC236}">
                <a16:creationId xmlns:a16="http://schemas.microsoft.com/office/drawing/2014/main" id="{A0DAE3A5-7A9B-486F-A790-57C2532D53BF}"/>
              </a:ext>
            </a:extLst>
          </p:cNvPr>
          <p:cNvSpPr>
            <a:spLocks noGrp="1"/>
          </p:cNvSpPr>
          <p:nvPr/>
        </p:nvSpPr>
        <p:spPr>
          <a:xfrm>
            <a:off x="347662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a:ext uri="{FF2B5EF4-FFF2-40B4-BE49-F238E27FC236}">
                <a16:creationId xmlns:a16="http://schemas.microsoft.com/office/drawing/2014/main" id="{A2D31BC7-2580-481F-BFF6-E5D5FE1EF90C}"/>
              </a:ext>
            </a:extLst>
          </p:cNvPr>
          <p:cNvSpPr>
            <a:spLocks noGrp="1"/>
          </p:cNvSpPr>
          <p:nvPr/>
        </p:nvSpPr>
        <p:spPr>
          <a:xfrm>
            <a:off x="293370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a:ext uri="{FF2B5EF4-FFF2-40B4-BE49-F238E27FC236}">
                <a16:creationId xmlns:a16="http://schemas.microsoft.com/office/drawing/2014/main" id="{B5CC0480-58B6-481F-A0E6-4B4442B486FA}"/>
              </a:ext>
            </a:extLst>
          </p:cNvPr>
          <p:cNvSpPr>
            <a:spLocks noGrp="1"/>
          </p:cNvSpPr>
          <p:nvPr/>
        </p:nvSpPr>
        <p:spPr>
          <a:xfrm>
            <a:off x="574357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a:ext uri="{FF2B5EF4-FFF2-40B4-BE49-F238E27FC236}">
                <a16:creationId xmlns:a16="http://schemas.microsoft.com/office/drawing/2014/main" id="{249A79A0-91CC-421C-BF6B-235A6CEA09E1}"/>
              </a:ext>
            </a:extLst>
          </p:cNvPr>
          <p:cNvSpPr>
            <a:spLocks noGrp="1"/>
          </p:cNvSpPr>
          <p:nvPr/>
        </p:nvSpPr>
        <p:spPr>
          <a:xfrm>
            <a:off x="520065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a:ext uri="{FF2B5EF4-FFF2-40B4-BE49-F238E27FC236}">
                <a16:creationId xmlns:a16="http://schemas.microsoft.com/office/drawing/2014/main" id="{6079DEF9-F700-4121-AB14-6C19F5737C35}"/>
              </a:ext>
            </a:extLst>
          </p:cNvPr>
          <p:cNvSpPr>
            <a:spLocks noGrp="1"/>
          </p:cNvSpPr>
          <p:nvPr/>
        </p:nvSpPr>
        <p:spPr>
          <a:xfrm>
            <a:off x="801052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a:ext uri="{FF2B5EF4-FFF2-40B4-BE49-F238E27FC236}">
                <a16:creationId xmlns:a16="http://schemas.microsoft.com/office/drawing/2014/main" id="{AC5F954D-00D8-4D33-A7F6-923DE12E6AD9}"/>
              </a:ext>
            </a:extLst>
          </p:cNvPr>
          <p:cNvSpPr>
            <a:spLocks noGrp="1"/>
          </p:cNvSpPr>
          <p:nvPr/>
        </p:nvSpPr>
        <p:spPr>
          <a:xfrm>
            <a:off x="746760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a:ext uri="{FF2B5EF4-FFF2-40B4-BE49-F238E27FC236}">
                <a16:creationId xmlns:a16="http://schemas.microsoft.com/office/drawing/2014/main" id="{4FEFADD7-1B50-4BB3-8599-47FACAE44ED4}"/>
              </a:ext>
            </a:extLst>
          </p:cNvPr>
          <p:cNvSpPr>
            <a:spLocks noGrp="1"/>
          </p:cNvSpPr>
          <p:nvPr/>
        </p:nvSpPr>
        <p:spPr>
          <a:xfrm>
            <a:off x="1027747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a:ext uri="{FF2B5EF4-FFF2-40B4-BE49-F238E27FC236}">
                <a16:creationId xmlns:a16="http://schemas.microsoft.com/office/drawing/2014/main" id="{82E7F45A-14F9-47B8-94BC-1FD3A9870B5A}"/>
              </a:ext>
            </a:extLst>
          </p:cNvPr>
          <p:cNvSpPr>
            <a:spLocks noGrp="1"/>
          </p:cNvSpPr>
          <p:nvPr/>
        </p:nvSpPr>
        <p:spPr>
          <a:xfrm>
            <a:off x="973455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a:ext uri="{FF2B5EF4-FFF2-40B4-BE49-F238E27FC236}">
                <a16:creationId xmlns:a16="http://schemas.microsoft.com/office/drawing/2014/main" id="{D75E356C-92AC-4938-8ABE-810420048C00}"/>
              </a:ext>
            </a:extLst>
          </p:cNvPr>
          <p:cNvSpPr>
            <a:spLocks noGrp="1"/>
          </p:cNvSpPr>
          <p:nvPr/>
        </p:nvSpPr>
        <p:spPr>
          <a:xfrm>
            <a:off x="762000" y="4476750"/>
            <a:ext cx="10668000" cy="457200"/>
          </a:xfrm>
          <a:prstGeom prst="rect">
            <a:avLst/>
          </a:prstGeom>
          <a:noFill/>
          <a:ln w="0">
            <a:noFill/>
          </a:ln>
        </p:spPr>
        <p:txBody>
          <a:bodyPr anchor="t">
            <a:normAutofit/>
          </a:bodyPr>
          <a:lstStyle/>
          <a:p>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p:cNvGraphicFramePr/>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Rectangle 22">
            <a:extLst>
              <a:ext uri="{FF2B5EF4-FFF2-40B4-BE49-F238E27FC236}">
                <a16:creationId xmlns:a16="http://schemas.microsoft.com/office/drawing/2014/main" id="{ACEAF919-558E-452B-89A0-A05DEBBE4D1E}"/>
              </a:ext>
            </a:extLst>
          </p:cNvPr>
          <p:cNvSpPr>
            <a:spLocks noGrp="1"/>
          </p:cNvSpPr>
          <p:nvPr/>
        </p:nvSpPr>
        <p:spPr>
          <a:xfrm>
            <a:off x="762000" y="5772150"/>
            <a:ext cx="10668000" cy="419100"/>
          </a:xfrm>
          <a:prstGeom prst="rect">
            <a:avLst/>
          </a:prstGeom>
          <a:noFill/>
          <a:ln w="0">
            <a:noFill/>
          </a:ln>
        </p:spPr>
        <p:txBody>
          <a:bodyPr anchor="ctr">
            <a:noAutofit/>
          </a:bodyPr>
          <a:lstStyle/>
          <a:p>
            <a:pPr algn="l">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xmlns:a="http://schemas.openxmlformats.org/drawingml/2006/main">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xmlns:a="http://schemas.openxmlformats.org/drawingml/2006/main">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 name="Rounded Rectangle 1">
            <a:extLst xmlns:a="http://schemas.openxmlformats.org/drawingml/2006/main">
              <a:ext uri="{FF2B5EF4-FFF2-40B4-BE49-F238E27FC236}">
                <a16:creationId xmlns:a16="http://schemas.microsoft.com/office/drawing/2014/main" id="{698BD03A-070E-4088-91CA-DC458B098F6D}"/>
              </a:ext>
            </a:extLst>
          </p:cNvPr>
          <p:cNvSpPr>
            <a:spLocks xmlns:a="http://schemas.openxmlformats.org/drawingml/2006/main" noGrp="1"/>
          </p:cNvSpPr>
          <p:nvPr/>
        </p:nvSpPr>
        <p:spPr>
          <a:xfrm xmlns:a="http://schemas.openxmlformats.org/drawingml/2006/main">
            <a:off x="118110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xmlns:a="http://schemas.openxmlformats.org/drawingml/2006/main">
              <a:ext uri="{FF2B5EF4-FFF2-40B4-BE49-F238E27FC236}">
                <a16:creationId xmlns:a16="http://schemas.microsoft.com/office/drawing/2014/main" id="{FB3120F1-0ED1-469F-BDF9-CC7EF00E3199}"/>
              </a:ext>
            </a:extLst>
          </p:cNvPr>
          <p:cNvSpPr>
            <a:spLocks xmlns:a="http://schemas.openxmlformats.org/drawingml/2006/main" noGrp="1"/>
          </p:cNvSpPr>
          <p:nvPr/>
        </p:nvSpPr>
        <p:spPr>
          <a:xfrm xmlns:a="http://schemas.openxmlformats.org/drawingml/2006/main">
            <a:off x="49530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nodes</a:t>
            </a:r>
          </a:p>
        </p:txBody>
      </p:sp>
      <p:sp>
        <p:nvSpPr>
          <p:cNvPr id="4" name="Rectangle 3">
            <a:extLst xmlns:a="http://schemas.openxmlformats.org/drawingml/2006/main">
              <a:ext uri="{FF2B5EF4-FFF2-40B4-BE49-F238E27FC236}">
                <a16:creationId xmlns:a16="http://schemas.microsoft.com/office/drawing/2014/main" id="{9F1B11C9-9418-4A97-BB8C-E47A9A7B6BFF}"/>
              </a:ext>
            </a:extLst>
          </p:cNvPr>
          <p:cNvSpPr>
            <a:spLocks xmlns:a="http://schemas.openxmlformats.org/drawingml/2006/main" noGrp="1"/>
          </p:cNvSpPr>
          <p:nvPr/>
        </p:nvSpPr>
        <p:spPr>
          <a:xfrm xmlns:a="http://schemas.openxmlformats.org/drawingml/2006/main">
            <a:off x="495300" y="3276600"/>
            <a:ext cx="2000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Kernel support,</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agent versions,</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Cilium datapath</a:t>
            </a:r>
          </a:p>
        </p:txBody>
      </p:sp>
      <p:sp>
        <p:nvSpPr>
          <p:cNvPr id="5" name="Rounded Rectangle 4">
            <a:extLst xmlns:a="http://schemas.openxmlformats.org/drawingml/2006/main">
              <a:ext uri="{FF2B5EF4-FFF2-40B4-BE49-F238E27FC236}">
                <a16:creationId xmlns:a16="http://schemas.microsoft.com/office/drawing/2014/main" id="{77283EF9-0DA7-4352-AC2C-4A111427C91E}"/>
              </a:ext>
            </a:extLst>
          </p:cNvPr>
          <p:cNvSpPr>
            <a:spLocks xmlns:a="http://schemas.openxmlformats.org/drawingml/2006/main" noGrp="1"/>
          </p:cNvSpPr>
          <p:nvPr/>
        </p:nvSpPr>
        <p:spPr>
          <a:xfrm xmlns:a="http://schemas.openxmlformats.org/drawingml/2006/main">
            <a:off x="351472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xmlns:a="http://schemas.openxmlformats.org/drawingml/2006/main">
              <a:ext uri="{FF2B5EF4-FFF2-40B4-BE49-F238E27FC236}">
                <a16:creationId xmlns:a16="http://schemas.microsoft.com/office/drawing/2014/main" id="{31AE3182-7279-498E-A7D7-EB92A540F69D}"/>
              </a:ext>
            </a:extLst>
          </p:cNvPr>
          <p:cNvSpPr>
            <a:spLocks xmlns:a="http://schemas.openxmlformats.org/drawingml/2006/main" noGrp="1"/>
          </p:cNvSpPr>
          <p:nvPr/>
        </p:nvSpPr>
        <p:spPr>
          <a:xfrm xmlns:a="http://schemas.openxmlformats.org/drawingml/2006/main">
            <a:off x="282892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config</a:t>
            </a:r>
          </a:p>
        </p:txBody>
      </p:sp>
      <p:sp>
        <p:nvSpPr>
          <p:cNvPr id="7" name="Rectangle 6">
            <a:extLst xmlns:a="http://schemas.openxmlformats.org/drawingml/2006/main">
              <a:ext uri="{FF2B5EF4-FFF2-40B4-BE49-F238E27FC236}">
                <a16:creationId xmlns:a16="http://schemas.microsoft.com/office/drawing/2014/main" id="{35476832-7A0A-4A45-8FA2-5A422CB7CAA0}"/>
              </a:ext>
            </a:extLst>
          </p:cNvPr>
          <p:cNvSpPr>
            <a:spLocks xmlns:a="http://schemas.openxmlformats.org/drawingml/2006/main" noGrp="1"/>
          </p:cNvSpPr>
          <p:nvPr/>
        </p:nvSpPr>
        <p:spPr>
          <a:xfrm xmlns:a="http://schemas.openxmlformats.org/drawingml/2006/main">
            <a:off x="2828925" y="3276600"/>
            <a:ext cx="2000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Permissions,</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mounts,</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attachment order</a:t>
            </a:r>
          </a:p>
        </p:txBody>
      </p:sp>
      <p:sp>
        <p:nvSpPr>
          <p:cNvPr id="8" name="Rounded Rectangle 7">
            <a:extLst xmlns:a="http://schemas.openxmlformats.org/drawingml/2006/main">
              <a:ext uri="{FF2B5EF4-FFF2-40B4-BE49-F238E27FC236}">
                <a16:creationId xmlns:a16="http://schemas.microsoft.com/office/drawing/2014/main" id="{8D81A81D-A030-4FCD-806D-F92FD6797A24}"/>
              </a:ext>
            </a:extLst>
          </p:cNvPr>
          <p:cNvSpPr>
            <a:spLocks xmlns:a="http://schemas.openxmlformats.org/drawingml/2006/main" noGrp="1"/>
          </p:cNvSpPr>
          <p:nvPr/>
        </p:nvSpPr>
        <p:spPr>
          <a:xfrm xmlns:a="http://schemas.openxmlformats.org/drawingml/2006/main">
            <a:off x="584835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xmlns:a="http://schemas.openxmlformats.org/drawingml/2006/main">
              <a:ext uri="{FF2B5EF4-FFF2-40B4-BE49-F238E27FC236}">
                <a16:creationId xmlns:a16="http://schemas.microsoft.com/office/drawing/2014/main" id="{B4BF8A64-F1F8-496B-AD30-EFFA1E22F3C1}"/>
              </a:ext>
            </a:extLst>
          </p:cNvPr>
          <p:cNvSpPr>
            <a:spLocks xmlns:a="http://schemas.openxmlformats.org/drawingml/2006/main" noGrp="1"/>
          </p:cNvSpPr>
          <p:nvPr/>
        </p:nvSpPr>
        <p:spPr>
          <a:xfrm xmlns:a="http://schemas.openxmlformats.org/drawingml/2006/main">
            <a:off x="516255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Start small</a:t>
            </a:r>
          </a:p>
        </p:txBody>
      </p:sp>
      <p:sp>
        <p:nvSpPr>
          <p:cNvPr id="10" name="Rectangle 9">
            <a:extLst xmlns:a="http://schemas.openxmlformats.org/drawingml/2006/main">
              <a:ext uri="{FF2B5EF4-FFF2-40B4-BE49-F238E27FC236}">
                <a16:creationId xmlns:a16="http://schemas.microsoft.com/office/drawing/2014/main" id="{B7354191-4C68-4286-B0CB-A2CBCAE7A6DE}"/>
              </a:ext>
            </a:extLst>
          </p:cNvPr>
          <p:cNvSpPr>
            <a:spLocks xmlns:a="http://schemas.openxmlformats.org/drawingml/2006/main" noGrp="1"/>
          </p:cNvSpPr>
          <p:nvPr/>
        </p:nvSpPr>
        <p:spPr>
          <a:xfrm xmlns:a="http://schemas.openxmlformats.org/drawingml/2006/main">
            <a:off x="5162550" y="3276600"/>
            <a:ext cx="2000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 few selected nodes.</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Keep rollback</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ready.</a:t>
            </a:r>
          </a:p>
        </p:txBody>
      </p:sp>
      <p:sp>
        <p:nvSpPr>
          <p:cNvPr id="11" name="Rounded Rectangle 10">
            <a:extLst xmlns:a="http://schemas.openxmlformats.org/drawingml/2006/main">
              <a:ext uri="{FF2B5EF4-FFF2-40B4-BE49-F238E27FC236}">
                <a16:creationId xmlns:a16="http://schemas.microsoft.com/office/drawing/2014/main" id="{A718CAF2-5121-49EA-A878-4287C411D3DF}"/>
              </a:ext>
            </a:extLst>
          </p:cNvPr>
          <p:cNvSpPr>
            <a:spLocks xmlns:a="http://schemas.openxmlformats.org/drawingml/2006/main" noGrp="1"/>
          </p:cNvSpPr>
          <p:nvPr/>
        </p:nvSpPr>
        <p:spPr>
          <a:xfrm xmlns:a="http://schemas.openxmlformats.org/drawingml/2006/main">
            <a:off x="818197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xmlns:a="http://schemas.openxmlformats.org/drawingml/2006/main">
              <a:ext uri="{FF2B5EF4-FFF2-40B4-BE49-F238E27FC236}">
                <a16:creationId xmlns:a16="http://schemas.microsoft.com/office/drawing/2014/main" id="{89DAFA5E-F22D-49BF-BDA0-446E1721FD8C}"/>
              </a:ext>
            </a:extLst>
          </p:cNvPr>
          <p:cNvSpPr>
            <a:spLocks xmlns:a="http://schemas.openxmlformats.org/drawingml/2006/main" noGrp="1"/>
          </p:cNvSpPr>
          <p:nvPr/>
        </p:nvSpPr>
        <p:spPr>
          <a:xfrm xmlns:a="http://schemas.openxmlformats.org/drawingml/2006/main">
            <a:off x="749617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Test traffic</a:t>
            </a:r>
          </a:p>
        </p:txBody>
      </p:sp>
      <p:sp>
        <p:nvSpPr>
          <p:cNvPr id="13" name="Rectangle 12">
            <a:extLst xmlns:a="http://schemas.openxmlformats.org/drawingml/2006/main">
              <a:ext uri="{FF2B5EF4-FFF2-40B4-BE49-F238E27FC236}">
                <a16:creationId xmlns:a16="http://schemas.microsoft.com/office/drawing/2014/main" id="{D82F6F63-443B-4774-81BA-BBEF0877C882}"/>
              </a:ext>
            </a:extLst>
          </p:cNvPr>
          <p:cNvSpPr>
            <a:spLocks xmlns:a="http://schemas.openxmlformats.org/drawingml/2006/main" noGrp="1"/>
          </p:cNvSpPr>
          <p:nvPr/>
        </p:nvSpPr>
        <p:spPr>
          <a:xfrm xmlns:a="http://schemas.openxmlformats.org/drawingml/2006/main">
            <a:off x="7496175" y="3276600"/>
            <a:ext cx="2000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Same-node and</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cross-node calls,</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allowed and denied</a:t>
            </a:r>
          </a:p>
        </p:txBody>
      </p:sp>
      <p:sp>
        <p:nvSpPr>
          <p:cNvPr id="14" name="Rounded Rectangle 13">
            <a:extLst xmlns:a="http://schemas.openxmlformats.org/drawingml/2006/main">
              <a:ext uri="{FF2B5EF4-FFF2-40B4-BE49-F238E27FC236}">
                <a16:creationId xmlns:a16="http://schemas.microsoft.com/office/drawing/2014/main" id="{D2175F4C-7525-4FBF-BE5C-D89327EC2625}"/>
              </a:ext>
            </a:extLst>
          </p:cNvPr>
          <p:cNvSpPr>
            <a:spLocks xmlns:a="http://schemas.openxmlformats.org/drawingml/2006/main" noGrp="1"/>
          </p:cNvSpPr>
          <p:nvPr/>
        </p:nvSpPr>
        <p:spPr>
          <a:xfrm xmlns:a="http://schemas.openxmlformats.org/drawingml/2006/main">
            <a:off x="10515600" y="1571625"/>
            <a:ext cx="590550" cy="381000"/>
          </a:xfrm>
          <a:prstGeom xmlns:a="http://schemas.openxmlformats.org/drawingml/2006/main" prst="roundRect">
            <a:avLst>
              <a:gd name="adj" fmla="val 20000"/>
            </a:avLst>
          </a:prstGeom>
          <a:solidFill xmlns:a="http://schemas.openxmlformats.org/drawingml/2006/main">
            <a:srgbClr val="2DAA5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xmlns:a="http://schemas.openxmlformats.org/drawingml/2006/main">
              <a:ext uri="{FF2B5EF4-FFF2-40B4-BE49-F238E27FC236}">
                <a16:creationId xmlns:a16="http://schemas.microsoft.com/office/drawing/2014/main" id="{6CE53DC2-CA77-4D57-BF19-1957B258B104}"/>
              </a:ext>
            </a:extLst>
          </p:cNvPr>
          <p:cNvSpPr>
            <a:spLocks xmlns:a="http://schemas.openxmlformats.org/drawingml/2006/main" noGrp="1"/>
          </p:cNvSpPr>
          <p:nvPr/>
        </p:nvSpPr>
        <p:spPr>
          <a:xfrm xmlns:a="http://schemas.openxmlformats.org/drawingml/2006/main">
            <a:off x="9829800" y="2238375"/>
            <a:ext cx="2000250" cy="838200"/>
          </a:xfrm>
          <a:prstGeom xmlns:a="http://schemas.openxmlformats.org/drawingml/2006/main" prst="roundRect">
            <a:avLst>
              <a:gd name="adj" fmla="val 9091"/>
            </a:avLst>
          </a:prstGeom>
          <a:solidFill xmlns:a="http://schemas.openxmlformats.org/drawingml/2006/main">
            <a:srgbClr val="EAF7EF"/>
          </a:solidFill>
          <a:ln xmlns:a="http://schemas.openxmlformats.org/drawingml/2006/main" w="14288">
            <a:solidFill>
              <a:srgbClr val="2DAA5F"/>
            </a:solid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Expand</a:t>
            </a:r>
          </a:p>
        </p:txBody>
      </p:sp>
      <p:sp>
        <p:nvSpPr>
          <p:cNvPr id="16" name="Rectangle 15">
            <a:extLst xmlns:a="http://schemas.openxmlformats.org/drawingml/2006/main">
              <a:ext uri="{FF2B5EF4-FFF2-40B4-BE49-F238E27FC236}">
                <a16:creationId xmlns:a16="http://schemas.microsoft.com/office/drawing/2014/main" id="{2490163B-5B41-454E-B471-3248BDB5BC0B}"/>
              </a:ext>
            </a:extLst>
          </p:cNvPr>
          <p:cNvSpPr>
            <a:spLocks xmlns:a="http://schemas.openxmlformats.org/drawingml/2006/main" noGrp="1"/>
          </p:cNvSpPr>
          <p:nvPr/>
        </p:nvSpPr>
        <p:spPr>
          <a:xfrm xmlns:a="http://schemas.openxmlformats.org/drawingml/2006/main">
            <a:off x="9829800" y="3276600"/>
            <a:ext cx="2000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Compare requests,</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resources, and</a:t>
            </a:r>
          </a:p>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telemetry quality</a:t>
            </a:r>
          </a:p>
        </p:txBody>
      </p:sp>
      <p:cxnSp>
        <p:nvCxnSpPr>
          <p:cNvPr id="299" name="Straight Arrow Connector 38">
            <a:extLst xmlns:a="http://schemas.openxmlformats.org/drawingml/2006/main">
              <a:ext uri="{FF2B5EF4-FFF2-40B4-BE49-F238E27FC236}">
                <a16:creationId xmlns:a16="http://schemas.microsoft.com/office/drawing/2014/main" id="{7B3B69E5-442B-4BA3-BEE9-E4D0B7DB7B99}"/>
              </a:ext>
            </a:extLst>
          </p:cNvPr>
          <p:cNvCxnSpPr>
            <a:stCxn xmlns:a="http://schemas.openxmlformats.org/drawingml/2006/main" id="3" idx="3"/>
            <a:endCxn xmlns:a="http://schemas.openxmlformats.org/drawingml/2006/main" id="6" idx="1"/>
          </p:cNvCxnSpPr>
          <p:nvPr/>
        </p:nvCxnSpPr>
        <p:spPr>
          <a:xfrm xmlns:a="http://schemas.openxmlformats.org/drawingml/2006/main">
            <a:off x="249555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0" name="Straight Arrow Connector 39">
            <a:extLst xmlns:a="http://schemas.openxmlformats.org/drawingml/2006/main">
              <a:ext uri="{FF2B5EF4-FFF2-40B4-BE49-F238E27FC236}">
                <a16:creationId xmlns:a16="http://schemas.microsoft.com/office/drawing/2014/main" id="{74D0A627-ABD3-4683-81CB-A3B63367B664}"/>
              </a:ext>
            </a:extLst>
          </p:cNvPr>
          <p:cNvCxnSpPr>
            <a:stCxn xmlns:a="http://schemas.openxmlformats.org/drawingml/2006/main" id="6" idx="3"/>
            <a:endCxn xmlns:a="http://schemas.openxmlformats.org/drawingml/2006/main" id="9" idx="1"/>
          </p:cNvCxnSpPr>
          <p:nvPr/>
        </p:nvCxnSpPr>
        <p:spPr>
          <a:xfrm xmlns:a="http://schemas.openxmlformats.org/drawingml/2006/main">
            <a:off x="482917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1" name="Straight Arrow Connector 40">
            <a:extLst xmlns:a="http://schemas.openxmlformats.org/drawingml/2006/main">
              <a:ext uri="{FF2B5EF4-FFF2-40B4-BE49-F238E27FC236}">
                <a16:creationId xmlns:a16="http://schemas.microsoft.com/office/drawing/2014/main" id="{51C97834-FDF8-45DD-91AD-89E6EC92F5C7}"/>
              </a:ext>
            </a:extLst>
          </p:cNvPr>
          <p:cNvCxnSpPr>
            <a:stCxn xmlns:a="http://schemas.openxmlformats.org/drawingml/2006/main" id="9" idx="3"/>
            <a:endCxn xmlns:a="http://schemas.openxmlformats.org/drawingml/2006/main" id="12" idx="1"/>
          </p:cNvCxnSpPr>
          <p:nvPr/>
        </p:nvCxnSpPr>
        <p:spPr>
          <a:xfrm xmlns:a="http://schemas.openxmlformats.org/drawingml/2006/main">
            <a:off x="716280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2" name="Straight Arrow Connector 41">
            <a:extLst xmlns:a="http://schemas.openxmlformats.org/drawingml/2006/main">
              <a:ext uri="{FF2B5EF4-FFF2-40B4-BE49-F238E27FC236}">
                <a16:creationId xmlns:a16="http://schemas.microsoft.com/office/drawing/2014/main" id="{B42F02B1-EA9D-4BB4-943C-B83A31595EA2}"/>
              </a:ext>
            </a:extLst>
          </p:cNvPr>
          <p:cNvCxnSpPr>
            <a:stCxn xmlns:a="http://schemas.openxmlformats.org/drawingml/2006/main" id="12" idx="3"/>
            <a:endCxn xmlns:a="http://schemas.openxmlformats.org/drawingml/2006/main" id="15" idx="1"/>
          </p:cNvCxnSpPr>
          <p:nvPr/>
        </p:nvCxnSpPr>
        <p:spPr>
          <a:xfrm xmlns:a="http://schemas.openxmlformats.org/drawingml/2006/main">
            <a:off x="949642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sp>
        <p:nvSpPr>
          <p:cNvPr id="21" name="Rounded Rectangle 20">
            <a:extLst xmlns:a="http://schemas.openxmlformats.org/drawingml/2006/main">
              <a:ext uri="{FF2B5EF4-FFF2-40B4-BE49-F238E27FC236}">
                <a16:creationId xmlns:a16="http://schemas.microsoft.com/office/drawing/2014/main" id="{A8E5CA0D-8A5D-4BD3-A93D-56E4A51883CE}"/>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8889"/>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BFD370B6-619A-467A-BD71-9857194631E6}"/>
              </a:ext>
            </a:extLst>
          </p:cNvPr>
          <p:cNvSpPr>
            <a:spLocks xmlns:a="http://schemas.openxmlformats.org/drawingml/2006/main" noGrp="1"/>
          </p:cNvSpPr>
          <p:nvPr/>
        </p:nvSpPr>
        <p:spPr>
          <a:xfrm xmlns:a="http://schemas.openxmlformats.org/drawingml/2006/main">
            <a:off x="1619250" y="5048250"/>
            <a:ext cx="895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Expand when the checks pass. If they fail, pause and restore the previous setup.</a:t>
            </a:r>
          </a:p>
        </p:txBody>
      </p:sp>
    </p:spTree>
    <p:extLst>
      <p:ext uri="{BB962C8B-B14F-4D97-AF65-F5344CB8AC3E}">
        <p14:creationId xmlns:p14="http://schemas.microsoft.com/office/powerpoint/2010/main" val="3158849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t">
            <a:normAutofit fontScale="94792" lnSpcReduction="1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t">
            <a:normAutofit fontScale="94792" lnSpcReduction="1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t">
            <a:normAutofit fontScale="85461" lnSpcReduction="2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7976" lnSpcReduction="10000"/>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7976" lnSpcReduction="10000"/>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0</TotalTime>
  <Words>5763</Words>
  <Application>Microsoft Macintosh PowerPoint</Application>
  <DocSecurity>0</DocSecurity>
  <PresentationFormat>Widescreen</PresentationFormat>
  <Paragraphs>578</Paragraphs>
  <Slides>36</Slides>
  <Notes>36</Notes>
  <HiddenSlides>1</HiddenSlides>
  <MMClips>4</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Calibri</vt:lpstr>
      <vt:lpstr>Aptos</vt:lpstr>
      <vt:lpstr>CiscoSansTT Medium</vt:lpstr>
      <vt:lpstr>Arial</vt:lpstr>
      <vt:lpstr>CiscoSansTT</vt:lpstr>
      <vt:lpstr>Cisco Light 05-21-2025</vt:lpstr>
      <vt:lpstr>Two eBPF Systems, One Kubernetes Node</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Live 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Appendix</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1</cp:revision>
  <dcterms:created xsi:type="dcterms:W3CDTF">2026-09-27T17:17:35Z</dcterms:created>
  <dcterms:modified xsi:type="dcterms:W3CDTF">2026-10-28T16:52:25Z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