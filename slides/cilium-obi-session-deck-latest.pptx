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9"/>
  </p:notesMasterIdLst>
  <p:sldIdLst>
    <p:sldId id="256" r:id="rId2"/>
    <p:sldId id="257" r:id="rId3"/>
    <p:sldId id="258" r:id="rId4"/>
    <p:sldId id="259" r:id="rId5"/>
    <p:sldId id="277" r:id="rId6"/>
    <p:sldId id="260" r:id="rId7"/>
    <p:sldId id="261" r:id="rId8"/>
    <p:sldId id="262" r:id="rId9"/>
    <p:sldId id="263" r:id="rId10"/>
    <p:sldId id="292"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 id="279" r:id="rId26"/>
    <p:sldId id="280" r:id="rId27"/>
    <p:sldId id="281" r:id="rId28"/>
    <p:sldId id="282" r:id="rId29"/>
    <p:sldId id="283" r:id="rId30"/>
    <p:sldId id="284" r:id="rId31"/>
    <p:sldId id="285" r:id="rId32"/>
    <p:sldId id="291" r:id="rId33"/>
    <p:sldId id="286" r:id="rId34"/>
    <p:sldId id="287" r:id="rId35"/>
    <p:sldId id="288" r:id="rId36"/>
    <p:sldId id="289" r:id="rId37"/>
    <p:sldId id="290" r:id="rId38"/>
  </p:sldIdLst>
  <p:sldSz cx="12192000" cy="6858000"/>
  <p:notesSz cx="6858000" cy="9144000"/>
  <p:embeddedFontLst>
    <p:embeddedFont>
      <p:font typeface="CiscoSansTT" panose="020B0503020201020303" pitchFamily="34" charset="0"/>
      <p:regular r:id="rId40"/>
      <p:bold r:id="rId41"/>
      <p:italic r:id="rId42"/>
      <p:boldItalic r:id="rId43"/>
    </p:embeddedFont>
    <p:embeddedFont>
      <p:font typeface="CiscoSansTT Medium" panose="020B0903020201090303" pitchFamily="34" charset="0"/>
      <p:regular r:id="rId44"/>
      <p:italic r:id="rId45"/>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89"/>
    <p:restoredTop sz="79177"/>
  </p:normalViewPr>
  <p:slideViewPr>
    <p:cSldViewPr snapToGrid="0">
      <p:cViewPr varScale="1">
        <p:scale>
          <a:sx n="177" d="100"/>
          <a:sy n="177" d="100"/>
        </p:scale>
        <p:origin x="247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a:p>
            <a:endParaRPr/>
          </a:p>
          <a:p>
            <a:r>
              <a:t>Documentation and source code:</a:t>
            </a:r>
          </a:p>
          <a:p>
            <a:r>
              <a:t>- https://opentelemetry.io/docs/zero-code/obi/</a:t>
            </a:r>
          </a:p>
          <a:p>
            <a:r>
              <a:t>- https://github.com/open-telemetry/opentelemetry-ebpf-instrumentation</a:t>
            </a:r>
          </a:p>
          <a:p>
            <a:endParaRPr/>
          </a:p>
          <a:p>
            <a:r>
              <a:t>OpenTelemetry icon source:</a:t>
            </a:r>
          </a:p>
          <a:p>
            <a:r>
              <a:t>- https://github.com/cncf/artwork/blob/main/projects/opentelemetry/icon/color/opentelemetry-icon-color.svg</a:t>
            </a:r>
          </a:p>
          <a:p>
            <a:r>
              <a:t>- https://github.com/cncf/artwork/blob/main/LICENSE.md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OBI has an optional network collector as well as application instrumentation. It counts bytes and packets between endpoints. Kubernetes metadata can identify the source and destination workloads.</a:t>
            </a:r>
          </a:p>
          <a:p>
            <a:endParaRPr/>
          </a:p>
          <a:p>
            <a:r>
              <a:t>Use these metrics to find services that send the most traffic, or to export traffic volume through an OpenTelemetry pipeline.</a:t>
            </a:r>
          </a:p>
          <a:p>
            <a:endParaRPr/>
          </a:p>
          <a:p>
            <a:r>
              <a:t>These network-volume counters do not provide the Cilium policy record that says Policy denied. Hubble and OBI may also count traffic differently because they observe and aggregate it at different points.</a:t>
            </a:r>
          </a:p>
          <a:p>
            <a:endParaRPr/>
          </a:p>
          <a:p>
            <a:r>
              <a:t>When enabling OBI network collection alongside Cilium, choose network.source: socket_filter. Limit labels to the dimensions you need, because many endpoint and port combinations can create many metric series.</a:t>
            </a:r>
          </a:p>
          <a:p>
            <a:endParaRPr/>
          </a:p>
          <a:p>
            <a:r>
              <a:t>Optional network-volume collection is separate from application tracing and TCP trace-context propagation. Disabling the network-volume collector does not disable those application features.</a:t>
            </a:r>
          </a:p>
          <a:p>
            <a:endParaRPr/>
          </a:p>
          <a:p>
            <a:r>
              <a:t>Transition: the next section explains the shared kernel hooks and why attachment order matters.</a:t>
            </a:r>
          </a:p>
          <a:p>
            <a:endParaRPr/>
          </a:p>
          <a:p>
            <a:r>
              <a:t>Sources:</a:t>
            </a:r>
          </a:p>
          <a:p>
            <a:r>
              <a:t>- https://opentelemetry.io/docs/zero-code/obi/network/</a:t>
            </a:r>
          </a:p>
          <a:p>
            <a:r>
              <a:t>- https://opentelemetry.io/docs/zero-code/obi/network/config/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service box represents one operation, or span. A trace groups related operations across services.</a:t>
            </a:r>
          </a:p>
          <a:p xmlns:a="http://schemas.openxmlformats.org/drawingml/2006/main">
            <a:r>
              <a:t/>
            </a:r>
            <a:endParaRPr/>
          </a:p>
          <a:p xmlns:a="http://schemas.openxmlformats.org/drawingml/2006/main">
            <a:r>
              <a:t>At the top, each operation sits in its own trace frame. Trace A, B, and C are example IDs. The backend has no shared context that connects these separate records into the intended request journey.</a:t>
            </a:r>
          </a:p>
          <a:p xmlns:a="http://schemas.openxmlformats.org/drawingml/2006/main">
            <a:r>
              <a:t/>
            </a:r>
            <a:endParaRPr/>
          </a:p>
          <a:p xmlns:a="http://schemas.openxmlformats.org/drawingml/2006/main">
            <a:r>
              <a:t>At the bottom, the three operations sit inside one Trace A frame. Propagation carries the trace ID and parent information to downstream services. The arrows show the service-call sequence.</a:t>
            </a:r>
          </a:p>
          <a:p xmlns:a="http://schemas.openxmlformats.org/drawingml/2006/main">
            <a:r>
              <a:t/>
            </a:r>
            <a:endParaRPr/>
          </a:p>
          <a:p xmlns:a="http://schemas.openxmlformats.org/drawingml/2006/main">
            <a:r>
              <a:t>This is a conceptual example with one operation per service. The boxes and spacing do not represent measured durations. Real traces can contain more client and server spans.</a:t>
            </a:r>
          </a:p>
          <a:p xmlns:a="http://schemas.openxmlformats.org/drawingml/2006/main">
            <a:r>
              <a:t/>
            </a:r>
            <a:endParaRPr/>
          </a:p>
          <a:p xmlns:a="http://schemas.openxmlformats.org/drawingml/2006/main">
            <a:r>
              <a:t>Next, we look at the optional TCP propagation mechanism and the TC hooks it shares with Cilium.</a:t>
            </a:r>
          </a:p>
          <a:p xmlns:a="http://schemas.openxmlformats.org/drawingml/2006/main">
            <a:r>
              <a:t/>
            </a:r>
          </a:p>
          <a:p xmlns:a="http://schemas.openxmlformats.org/drawingml/2006/main">
            <a:r>
              <a:t>Sources:</a:t>
            </a:r>
          </a:p>
          <a:p xmlns:a="http://schemas.openxmlformats.org/drawingml/2006/main">
            <a:r>
              <a:t>- https://opentelemetry.io/docs/concepts/context-propagation/</a:t>
            </a:r>
          </a:p>
          <a:p xmlns:a="http://schemas.openxmlformats.org/drawingml/2006/main">
            <a:r>
              <a:t>- https://opentelemetry.io/docs/zero-code/obi/distributed-traces/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application sends traffic through a virtual interface pair, called a veth pair, between the pod and the node. This diagram follows the veth datapath used by our demo.</a:t>
            </a:r>
          </a:p>
          <a:p>
            <a:endParaRPr/>
          </a:p>
          <a:p>
            <a:r>
              <a:t>Focus on the host-side interface. Traffic control, or TC, provides checkpoints for arriving and departing packets. These checkpoints are called ingress and egress. Direction is relative to this host-side interface.</a:t>
            </a:r>
          </a:p>
          <a:p>
            <a:endParaRPr/>
          </a:p>
          <a:p>
            <a:r>
              <a:t>OBI can use these hooks for optional TCP trace-context propagation. Cilium uses them for networking and policy. The dark panel shows the two agents sharing the ingress and egress hooks.</a:t>
            </a:r>
          </a:p>
          <a:p>
            <a:endParaRPr/>
          </a:p>
          <a:p>
            <a:r>
              <a:t>The overlap depends on the OBI features enabled. OBI can provide application telemetry without these TCP propagation programs.</a:t>
            </a:r>
          </a:p>
          <a:p>
            <a:endParaRPr/>
          </a:p>
          <a:p>
            <a:r>
              <a:t>Next, we examine which program runs first and why that matters.</a:t>
            </a:r>
          </a:p>
          <a:p>
            <a:endParaRPr/>
          </a:p>
          <a:p>
            <a:r>
              <a:t>Sources:</a:t>
            </a:r>
          </a:p>
          <a:p>
            <a:r>
              <a:t>- https://opentelemetry.io/docs/zero-code/obi/cilium-compatibility/</a:t>
            </a:r>
          </a:p>
          <a:p>
            <a:r>
              <a:t>- https://opentelemetry.io/docs/zero-code/obi/distributed-traces/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Read this as two agents in sequence. OBI observes the packet and, when enabled, carries trace context. Cilium then handles networking and policy.</a:t>
            </a:r>
          </a:p>
          <a:p>
            <a:endParaRPr/>
          </a:p>
          <a:p>
            <a:r>
              <a:t>The old diagram separated route + enforce from forward or stop. That made the result look like a third independent program. Both are part of Cilium: it applies routing and policy, then forwards, redirects, or drops the packet according to that logic.</a:t>
            </a:r>
          </a:p>
          <a:p>
            <a:endParaRPr/>
          </a:p>
          <a:p>
            <a:r>
              <a:t>Why order matters: a TC program can change the packet or return an action that ends processing of this chain. If Cilium redirects or drops it before OBI runs, OBI may miss the observation needed at this hook. This is why the compatibility configuration puts OBI before Cilium.</a:t>
            </a:r>
          </a:p>
          <a:p>
            <a:endParaRPr/>
          </a:p>
          <a:p>
            <a:r>
              <a:t>This is an illustrative view of the shared hook. Each product can attach other programs elsewhere. The next slides explain how TCX or legacy TC priority establishes the required order.</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 is the Linux traffic-control subsystem that provides the packet checkpoints. TCX is the newer API for attaching eBPF programs at those checkpoints. Here, agents request first or last positions instead of coordinating legacy filter-priority numbers.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Legacy TC here means the older attachment method through Netlink. The packet checkpoint is still TC. Order comes from numeric priorities: priority 1 runs before priority 2. TCX achieves relative ordering through first and last positions instead.</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 Play the video.</a:t>
            </a:r>
          </a:p>
          <a:p>
            <a:endParaRPr/>
          </a:p>
          <a:p>
            <a:r>
              <a:t>This compares two separate test clusters. Both use Cilium 1.20.2 and OBI v0.13.0. TCX is off, so the older TC mechanism uses priority numbers. A lower number runs earlier.</a:t>
            </a:r>
          </a:p>
          <a:p>
            <a:endParaRPr/>
          </a:p>
          <a:p>
            <a:r>
              <a:t>LEFT: Cilium uses priority 1. OBI detects that conflict and stops itself. That is why OBI shows 0/1 ready. The nginx request still returns HTTP 200: the application network continues to work while OBI is unavailable.</a:t>
            </a:r>
          </a:p>
          <a:p>
            <a:endParaRPr/>
          </a:p>
          <a:p>
            <a:r>
              <a:t>RIGHT: a fresh cluster uses Cilium priority 2. OBI can install its filter at priority 1, ahead of Cilium. OBI shows 1/1 ready and prints an HTTP span. The nginx request also returns HTTP 200.</a:t>
            </a:r>
          </a:p>
          <a:p>
            <a:endParaRPr/>
          </a:p>
          <a:p>
            <a:r>
              <a:t>What this teaches: check application health AND observability health. A successful request does not tell us that OBI is running or producing data.</a:t>
            </a:r>
          </a:p>
          <a:p>
            <a:endParaRPr/>
          </a:p>
          <a:p>
            <a:r>
              <a:t>Scope: this recording enables OBI's optional network.source: tc mode. Our application-only OBI configuration did not trigger this startup guard. The two sides are saved outputs from separate runs, replayed for the talk.</a:t>
            </a:r>
          </a:p>
          <a:p>
            <a:endParaRPr/>
          </a:p>
          <a:p>
            <a:r>
              <a:t>Sources:</a:t>
            </a:r>
          </a:p>
          <a:p>
            <a:r>
              <a:t>- https://github.com/ajimenez1503/cilium-obi-demo/blob/main/demo/legacy-priority-recording.md</a:t>
            </a:r>
          </a:p>
          <a:p>
            <a:r>
              <a:t>- https://github.com/ajimenez1503/cilium-obi-demo/tree/main/evidence/legacy-priority-2026-09-27</a:t>
            </a:r>
          </a:p>
          <a:p>
            <a:r>
              <a:t>- https://opentelemetry.io/docs/zero-code/obi/cilium-compatibility/</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30 seconds</a:t>
            </a:r>
          </a:p>
          <a:p>
            <a:endParaRPr dirty="0"/>
          </a:p>
          <a:p>
            <a:r>
              <a:rPr dirty="0"/>
              <a:t>Introduce the runnable demo repository before showing the environment. The repository contains the kind setup, pinned Cilium and OBI values, Grafana dashboards, verification scripts, recordings, benchmark evidence, and the latest presentation deck.</a:t>
            </a:r>
          </a:p>
          <a:p>
            <a:endParaRPr dirty="0"/>
          </a:p>
          <a:p>
            <a:r>
              <a:rPr dirty="0"/>
              <a:t>Sources:</a:t>
            </a:r>
          </a:p>
          <a:p>
            <a:r>
              <a:rPr dirty="0"/>
              <a:t>- https://</a:t>
            </a:r>
            <a:r>
              <a:rPr dirty="0" err="1"/>
              <a:t>github.com</a:t>
            </a:r>
            <a:r>
              <a:rPr dirty="0"/>
              <a:t>/ajimenez1503/cilium-obi-demo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a:t>
            </a:r>
          </a:p>
          <a:p>
            <a:endParaRPr/>
          </a:p>
          <a:p>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a:p>
          <a:p>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a:p>
          <a:p>
            <a:r>
              <a:t>Both versions, plus edge-nginx, are selected by the OBI discovery configuration. OBI watches their supported operations and creates spans and RED metrics. The applications do not call OBI as an application dependency.</a:t>
            </a:r>
          </a:p>
          <a:p>
            <a:endParaRPr/>
          </a:p>
          <a:p>
            <a:r>
              <a:t>Cilium and Hubble also cover traffic for all three services. Hubble is not connected only to v1. The diagram's lower arrows represent telemetry exports, not application calls.</a:t>
            </a:r>
          </a:p>
          <a:p>
            <a:endParaRPr/>
          </a:p>
          <a:p>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a:p>
          <a:p>
            <a:r>
              <a:t>For the denial demo, the policy allows v2 to call v1 on port 8081. It blocks edge-nginx from calling v1 directly. That is why the orange direct route is the one we exercise during the failure.</a:t>
            </a:r>
          </a:p>
          <a:p>
            <a:endParaRPr/>
          </a:p>
          <a:p>
            <a:r>
              <a:t>Sources:</a:t>
            </a:r>
          </a:p>
          <a:p>
            <a:r>
              <a:t>- https://github.com/ajimenez1503/cilium-obi-demo/blob/main/demo/obi-values.yaml</a:t>
            </a:r>
          </a:p>
          <a:p>
            <a:r>
              <a:t>- https://github.com/ajimenez1503/cilium-obi-demo/blob/main/demo/policy-deny.yaml</a:t>
            </a:r>
          </a:p>
          <a:p>
            <a:r>
              <a:t>- https://github.com/open-telemetry/opentelemetry-ebpf-instrumentation/tree/main/examples/nginx</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 Click the video to play. The clip plays at 1.5 times the previous speed and lasts about 20 seconds.</a:t>
            </a:r>
          </a:p>
          <a:p xmlns:a="http://schemas.openxmlformats.org/drawingml/2006/main">
            <a:r>
              <a:t/>
            </a:r>
            <a:endParaRPr/>
          </a:p>
          <a:p xmlns:a="http://schemas.openxmlformats.org/drawingml/2006/main">
            <a:r>
              <a:t>Start in Grafana: application and network metrics share one dashboard and time window. The final Hubble view adds individual flow records to the investigation.</a:t>
            </a:r>
          </a:p>
          <a:p xmlns:a="http://schemas.openxmlformats.org/drawingml/2006/main">
            <a:r>
              <a:t/>
            </a:r>
            <a:endParaRPr/>
          </a:p>
          <a:p xmlns:a="http://schemas.openxmlformats.org/drawingml/2006/main">
            <a:r>
              <a:t>00:00 to about 00:05.3: upper Grafana view. Point to OBI request rate, errors, and latency beside the network flow and verdict panels. These totals cover the selected workloads and time window.</a:t>
            </a:r>
          </a:p>
          <a:p xmlns:a="http://schemas.openxmlformats.org/drawingml/2006/main">
            <a:r>
              <a:t/>
            </a:r>
            <a:endParaRPr/>
          </a:p>
          <a:p xmlns:a="http://schemas.openxmlformats.org/drawingml/2006/main">
            <a:r>
              <a:t>About 00:05.3 to 00:13.3: lower Grafana view. Point to the service edges and the network metrics. The existing reading holds are shorter at this playback speed.</a:t>
            </a:r>
          </a:p>
          <a:p xmlns:a="http://schemas.openxmlformats.org/drawingml/2006/main">
            <a:r>
              <a:t/>
            </a:r>
            <a:endParaRPr/>
          </a:p>
          <a:p xmlns:a="http://schemas.openxmlformats.org/drawingml/2006/main">
            <a:r>
              <a:t>About 00:13.3 to 00:19.8: Hubble UI. Follow edge-nginx to recommendations-v2 and recommendations-v2 to recommendations-v1. Point to workload identity, direction, port, and the FORWARDED verdict.</a:t>
            </a:r>
          </a:p>
          <a:p xmlns:a="http://schemas.openxmlformats.org/drawingml/2006/main">
            <a:r>
              <a:t/>
            </a:r>
            <a:endParaRPr/>
          </a:p>
          <a:p xmlns:a="http://schemas.openxmlformats.org/drawingml/2006/main">
            <a:r>
              <a:t>Correlate the views by time window, namespace, source and destination workload, direction, and port. Grafana shows aggregated metrics. Hubble UI shows flow records. These fields provide investigative context and do not establish a unique flow-to-trace-ID join.</a:t>
            </a:r>
          </a:p>
          <a:p xmlns:a="http://schemas.openxmlformats.org/drawingml/2006/main">
            <a:r>
              <a:t/>
            </a:r>
            <a:endParaRPr/>
          </a:p>
          <a:p xmlns:a="http://schemas.openxmlformats.org/drawingml/2006/main">
            <a:r>
              <a:t>The acceleration changes presentation timing only. It preserves the recorded sequence and telemetry values.</a:t>
            </a:r>
          </a:p>
          <a:p xmlns:a="http://schemas.openxmlformats.org/drawingml/2006/main">
            <a:r>
              <a:t/>
            </a: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a:p xmlns:a="http://schemas.openxmlformats.org/drawingml/2006/main">
            <a:r>
              <a:t>- https://github.com/ajimenez1503/cilium-obi-demo/blob/main/slides/recordings/presentation-edits.json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The video on the left is terminal-only and lasts about 20 seconds.</a:t>
            </a:r>
          </a:p>
          <a:p>
            <a:endParaRPr/>
          </a:p>
          <a:p>
            <a:r>
              <a:t>The policy permits recommendations-v2 to call recommendations-v1 on TCP port 8081. It blocks direct calls from edge-nginx to v1. We send that direct request, and curl times out with HTTP 000.</a:t>
            </a:r>
          </a:p>
          <a:p>
            <a:endParaRPr/>
          </a:p>
          <a:p>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a:endParaRPr/>
          </a:p>
          <a:p>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a:endParaRPr/>
          </a:p>
          <a:p>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a:endParaRPr/>
          </a:p>
          <a:p>
            <a:r>
              <a:t>Sources:</a:t>
            </a:r>
          </a:p>
          <a:p>
            <a:r>
              <a:t>- https://github.com/ajimenez1503/cilium-obi-demo/blob/main/demo/policy-deny.yaml</a:t>
            </a:r>
          </a:p>
          <a:p>
            <a:r>
              <a:t>- https://github.com/ajimenez1503/cilium-obi-demo/blob/main/slides/recordings/demo-3-policy-denial.mp4</a:t>
            </a:r>
          </a:p>
          <a:p>
            <a:r>
              <a:t>- https://docs.cilium.io/en/stable/observability/metrics/#hubble-exported-metrics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each row as a complete setup. The first column names the scenario and whether we have measured it. The other columns show what Hubble and OBI collect. Cilium networking runs in all five scenarios.</a:t>
            </a:r>
          </a:p>
          <a:p xmlns:a="http://schemas.openxmlformats.org/drawingml/2006/main">
            <a:r>
              <a:t/>
            </a:r>
            <a:endParaRPr/>
          </a:p>
          <a:p xmlns:a="http://schemas.openxmlformats.org/drawingml/2006/main">
            <a:r>
              <a:t>A is the planned Cilium baseline. Hubble and OBI are off. B adds Hubble L3/L4 flows and keeps OBI off. C keeps Hubble flows and adds OBI application RED metrics, with traces and TCP propagation off.</a:t>
            </a:r>
          </a:p>
          <a:p xmlns:a="http://schemas.openxmlformats.org/drawingml/2006/main">
            <a:r>
              <a:t/>
            </a:r>
            <a:endParaRPr/>
          </a:p>
          <a:p xmlns:a="http://schemas.openxmlformats.org/drawingml/2006/main">
            <a:r>
              <a:t>D keeps Hubble flows and enables OBI RED metrics, traces, and TCP propagation through TCX. E keeps these OBI features and adds selected Hubble L7 visibility through Envoy.</a:t>
            </a:r>
          </a:p>
          <a:p xmlns:a="http://schemas.openxmlformats.org/drawingml/2006/main">
            <a:r>
              <a:t/>
            </a:r>
            <a:endParaRPr/>
          </a:p>
          <a:p xmlns:a="http://schemas.openxmlformats.org/drawingml/2006/main">
            <a:r>
              <a:t>Only B and D have recorded measurements. A, C, and E remain planned. The planned E setup has no compatibility or overhead result in this deck.</a:t>
            </a:r>
          </a:p>
          <a:p xmlns:a="http://schemas.openxmlformats.org/drawingml/2006/main">
            <a:r>
              <a:t/>
            </a:r>
            <a:endParaRPr/>
          </a:p>
          <a:p xmlns:a="http://schemas.openxmlformats.org/drawingml/2006/main">
            <a:r>
              <a:t>RED means request rate, errors, and duration. These are application metrics. Optional OBI network-volume collection is a separate feature. TCX is the attachment mechanism used for TCP propagation in D and E.</a:t>
            </a:r>
          </a:p>
          <a:p xmlns:a="http://schemas.openxmlformats.org/drawingml/2006/main">
            <a:r>
              <a:t/>
            </a:r>
            <a:endParaRPr/>
          </a:p>
          <a:p xmlns:a="http://schemas.openxmlformats.org/drawingml/2006/main">
            <a:r>
              <a:t>Keep the cluster, request route, load, pod placement, and backend constant. Comparing B and D measures the addition of the configured OBI features together. It does not isolate the cost of TCX itself.</a:t>
            </a:r>
          </a:p>
          <a:p xmlns:a="http://schemas.openxmlformats.org/drawingml/2006/main">
            <a:r>
              <a:t/>
            </a:r>
            <a:endParaRPr/>
          </a:p>
          <a:p xmlns:a="http://schemas.openxmlformats.org/drawingml/2006/main">
            <a:r>
              <a:t>The next slide shows the local rehearsal results for B and D.</a:t>
            </a:r>
          </a:p>
          <a:p xmlns:a="http://schemas.openxmlformats.org/drawingml/2006/main">
            <a:r>
              <a:t/>
            </a:r>
            <a:endParaRPr/>
          </a:p>
          <a:p xmlns:a="http://schemas.openxmlformats.org/drawingml/2006/main">
            <a:r>
              <a:t>Sources:</a:t>
            </a:r>
          </a:p>
          <a:p xmlns:a="http://schemas.openxmlformats.org/drawingml/2006/main">
            <a:r>
              <a:t>- https://github.com/ajimenez1503/cilium-obi-demo/blob/main/demo/obi-values.yaml</a:t>
            </a:r>
          </a:p>
          <a:p xmlns:a="http://schemas.openxmlformats.org/drawingml/2006/main">
            <a:r>
              <a:t>- https://github.com/ajimenez1503/cilium-obi-demo/blob/main/evidence/benchmark-2026-09-26/results.md</a:t>
            </a:r>
          </a:p>
          <a:p xmlns:a="http://schemas.openxmlformats.org/drawingml/2006/main">
            <a:r>
              <a:t>- https://docs.cilium.io/en/stable/operations/performance/benchmark/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These are local kind rehearsal observations for B (Cilium and Hubble, OBI off) and D (Cilium and Hubble plus OBI with TCX). They are not production capacity results. The no-</a:t>
            </a:r>
            <a:r>
              <a:rPr dirty="0" err="1"/>
              <a:t>eBPF</a:t>
            </a:r>
            <a:r>
              <a:rPr dirty="0"/>
              <a:t> reference N and conditions A, C, and E remain unmeasured.</a:t>
            </a:r>
          </a:p>
          <a:p>
            <a:endParaRPr dirty="0"/>
          </a:p>
          <a:p>
            <a:r>
              <a:rPr dirty="0"/>
              <a:t>Both conditions used the same three-node cluster and route. Background demo traffic was paused. Each condition had a 40-request warm-up and five samples of 200 requests at concurrency 20 through </a:t>
            </a:r>
            <a:r>
              <a:rPr dirty="0" err="1"/>
              <a:t>kubectl</a:t>
            </a:r>
            <a:r>
              <a:rPr dirty="0"/>
              <a:t> port-forward. B ran before D, so time-order effects remain possible. Throughput median: B 19.77 req/s; D 19.73 req/s. p95 median: B 1,018 </a:t>
            </a:r>
            <a:r>
              <a:rPr dirty="0" err="1"/>
              <a:t>ms</a:t>
            </a:r>
            <a:r>
              <a:rPr dirty="0"/>
              <a:t>; D 1,020 </a:t>
            </a:r>
            <a:r>
              <a:rPr dirty="0" err="1"/>
              <a:t>ms.</a:t>
            </a:r>
            <a:r>
              <a:rPr dirty="0"/>
              <a:t> There were zero failed requests across 1,000 requests in each condition. OBI used a median 0.0128 CPU cores and 253.2 MiB working set across two pods. The Collector accepted and exported 7,210 spans during D. These numbers describe this single rehearsal only.</a:t>
            </a:r>
          </a:p>
          <a:p>
            <a:endParaRPr dirty="0"/>
          </a:p>
          <a:p>
            <a:r>
              <a:rPr dirty="0"/>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dirty="0"/>
          </a:p>
          <a:p>
            <a:r>
              <a:rPr dirty="0"/>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dirty="0"/>
          </a:p>
          <a:p>
            <a:r>
              <a:rPr dirty="0"/>
              <a:t>Sources:</a:t>
            </a:r>
          </a:p>
          <a:p>
            <a:r>
              <a:rPr dirty="0"/>
              <a:t>- /Users/antonjim/Documents/Playground/cilium-obi-demo/evidence/benchmark-2026-09-26/</a:t>
            </a:r>
            <a:r>
              <a:rPr dirty="0" err="1"/>
              <a:t>results.md</a:t>
            </a:r>
            <a:endParaRPr dirty="0"/>
          </a:p>
          <a:p>
            <a:r>
              <a:rPr dirty="0"/>
              <a:t>- https://</a:t>
            </a:r>
            <a:r>
              <a:rPr dirty="0" err="1"/>
              <a:t>docs.cilium.io</a:t>
            </a:r>
            <a:r>
              <a:rPr dirty="0"/>
              <a:t>/</a:t>
            </a:r>
            <a:r>
              <a:rPr dirty="0" err="1"/>
              <a:t>en</a:t>
            </a:r>
            <a:r>
              <a:rPr dirty="0"/>
              <a:t>/latest/observability/metrics/#lost-events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idea is to try OBI on a few nodes, check the result, and then expand.</a:t>
            </a:r>
          </a:p>
          <a:p>
            <a:endParaRPr/>
          </a:p>
          <a:p>
            <a:r>
              <a:t>1. Start small. Enable OBI on a few selected nodes first. Before starting, confirm the node requirements, permissions, and attachment settings covered earlier.</a:t>
            </a:r>
          </a:p>
          <a:p>
            <a:endParaRPr/>
          </a:p>
          <a:p>
            <a:r>
              <a:t>2. Check the results. Confirm that normal requests still work and policy still blocks the requests it should block. Check that OBI and Hubble provide the expected telemetry. Compare CPU, memory, missing telemetry, and data volume with the baseline.</a:t>
            </a:r>
          </a:p>
          <a:p>
            <a:endParaRPr/>
          </a:p>
          <a:p>
            <a:r>
              <a:t>3. Expand gradually. If the checks pass, add more nodes and repeat them. If a check fails, stop expanding and restore the previous setup.</a:t>
            </a:r>
          </a:p>
          <a:p>
            <a:endParaRPr/>
          </a:p>
          <a:p>
            <a:r>
              <a:t>Transition: the next slide summarizes the three rules for running both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answering the three questions from the opening: does traffic still behave correctly, do we have the evidence we need, and what does the extra telemetry cost?</a:t>
            </a:r>
          </a:p>
          <a:p>
            <a:endParaRPr/>
          </a:p>
          <a:p>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a:endParaRPr/>
          </a:p>
          <a:p>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a:endParaRPr/>
          </a:p>
          <a:p>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a:endParaRPr/>
          </a:p>
          <a:p>
            <a:r>
              <a:t>3. Measure before rollout. Compare CPU, memory, missing telemetry, and exported data volume with the baseline. Expand when those checks meet the limits chosen for the environment.</a:t>
            </a:r>
          </a:p>
          <a:p>
            <a:endParaRPr/>
          </a:p>
          <a:p>
            <a:r>
              <a:t>Source:</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3.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lang="en-US" sz="2100" b="1" dirty="0">
                <a:solidFill>
                  <a:srgbClr val="07182A"/>
                </a:solidFill>
                <a:latin typeface="CiscoSansTT Medium"/>
                <a:ea typeface="CiscoSansTT Medium"/>
                <a:cs typeface="CiscoSansTT Medium"/>
              </a:rPr>
              <a:t>Demo</a:t>
            </a:r>
            <a:endParaRPr sz="2100" b="1" dirty="0">
              <a:solidFill>
                <a:srgbClr val="07182A"/>
              </a:solidFill>
              <a:latin typeface="CiscoSansTT Medium"/>
              <a:ea typeface="CiscoSansTT Medium"/>
              <a:cs typeface="CiscoSansTT Medium"/>
            </a:endParaRP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OBI uses </a:t>
            </a:r>
            <a:r>
              <a:rPr sz="1725" b="0" dirty="0" err="1">
                <a:solidFill>
                  <a:srgbClr val="686B6B"/>
                </a:solidFill>
                <a:latin typeface="CiscoSansTT"/>
                <a:ea typeface="CiscoSansTT"/>
                <a:cs typeface="CiscoSansTT"/>
              </a:rPr>
              <a:t>eBPF</a:t>
            </a:r>
            <a:r>
              <a:rPr sz="1725" b="0" dirty="0">
                <a:solidFill>
                  <a:srgbClr val="686B6B"/>
                </a:solidFill>
                <a:latin typeface="CiscoSansTT"/>
                <a:ea typeface="CiscoSansTT"/>
                <a:cs typeface="CiscoSansTT"/>
              </a:rPr>
              <a:t> to observe requests sent or</a:t>
            </a:r>
          </a:p>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received by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HTTP </a:t>
            </a: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4200525"/>
            <a:ext cx="10668000" cy="4572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4876800"/>
            <a:ext cx="10668000" cy="4572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buNone/>
              <a:defRPr sz="1650" b="0">
                <a:solidFill>
                  <a:srgbClr val="686B6B"/>
                </a:solidFill>
                <a:latin typeface="CiscoSansTT"/>
                <a:ea typeface="CiscoSansTT"/>
                <a:cs typeface="CiscoSansTT"/>
              </a:defRPr>
            </a:lvl1pPr>
            <a:lvl2pPr algn="l">
              <a:buNone/>
              <a:defRPr sz="1650" b="0">
                <a:solidFill>
                  <a:srgbClr val="686B6B"/>
                </a:solidFill>
                <a:latin typeface="CiscoSansTT"/>
                <a:ea typeface="CiscoSansTT"/>
                <a:cs typeface="CiscoSansTT"/>
              </a:defRPr>
            </a:lvl2pPr>
            <a:lvl3pPr algn="l">
              <a:buNone/>
              <a:defRPr sz="1650" b="0">
                <a:solidFill>
                  <a:srgbClr val="686B6B"/>
                </a:solidFill>
                <a:latin typeface="CiscoSansTT"/>
                <a:ea typeface="CiscoSansTT"/>
                <a:cs typeface="CiscoSansTT"/>
              </a:defRPr>
            </a:lvl3pPr>
            <a:lvl4pPr algn="l">
              <a:buNone/>
              <a:defRPr sz="1650" b="0">
                <a:solidFill>
                  <a:srgbClr val="686B6B"/>
                </a:solidFill>
                <a:latin typeface="CiscoSansTT"/>
                <a:ea typeface="CiscoSansTT"/>
                <a:cs typeface="CiscoSansTT"/>
              </a:defRPr>
            </a:lvl4pPr>
            <a:lvl5pPr algn="l">
              <a:buNone/>
              <a:defRPr sz="1650" b="0">
                <a:solidFill>
                  <a:srgbClr val="686B6B"/>
                </a:solidFill>
                <a:latin typeface="CiscoSansTT"/>
                <a:ea typeface="CiscoSansTT"/>
                <a:cs typeface="CiscoSansTT"/>
              </a:defRPr>
            </a:lvl5pPr>
            <a:lvl6pPr algn="l">
              <a:buNone/>
              <a:defRPr sz="1650" b="0">
                <a:solidFill>
                  <a:srgbClr val="686B6B"/>
                </a:solidFill>
                <a:latin typeface="CiscoSansTT"/>
                <a:ea typeface="CiscoSansTT"/>
                <a:cs typeface="CiscoSansTT"/>
              </a:defRPr>
            </a:lvl6pPr>
            <a:lvl7pPr algn="l">
              <a:buNone/>
              <a:defRPr sz="1650" b="0">
                <a:solidFill>
                  <a:srgbClr val="686B6B"/>
                </a:solidFill>
                <a:latin typeface="CiscoSansTT"/>
                <a:ea typeface="CiscoSansTT"/>
                <a:cs typeface="CiscoSansTT"/>
              </a:defRPr>
            </a:lvl7pPr>
            <a:lvl8pPr algn="l">
              <a:buNone/>
              <a:defRPr sz="1650" b="0">
                <a:solidFill>
                  <a:srgbClr val="686B6B"/>
                </a:solidFill>
                <a:latin typeface="CiscoSansTT"/>
                <a:ea typeface="CiscoSansTT"/>
                <a:cs typeface="CiscoSansTT"/>
              </a:defRPr>
            </a:lvl8pPr>
            <a:lvl9pPr algn="l">
              <a:buNone/>
              <a:defRPr sz="1650" b="0">
                <a:solidFill>
                  <a:srgbClr val="686B6B"/>
                </a:solidFill>
                <a:latin typeface="CiscoSansTT"/>
                <a:ea typeface="CiscoSansTT"/>
                <a:cs typeface="CiscoSansTT"/>
              </a:defRPr>
            </a:lvl9pPr>
          </a:lstStyle>
          <a:p>
            <a:pPr algn="l">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TC is the one shared checkpoint we will </a:t>
            </a:r>
            <a:r>
              <a:rPr lang="en-US" sz="1650" b="1" dirty="0">
                <a:solidFill>
                  <a:srgbClr val="FFFFFF"/>
                </a:solidFill>
                <a:latin typeface="CiscoSansTT Medium"/>
                <a:ea typeface="CiscoSansTT Medium"/>
                <a:cs typeface="CiscoSansTT Medium"/>
              </a:rPr>
              <a:t>explore</a:t>
            </a:r>
            <a:endParaRPr sz="1650" b="1" dirty="0">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Trace context connects service spans</a:t>
            </a:r>
          </a:p>
        </p:txBody>
      </p:sp>
      <p:sp>
        <p:nvSpPr>
          <p:cNvPr id="27" name="unlinked-heading">
            <a:extLst xmlns:a="http://schemas.openxmlformats.org/drawingml/2006/main">
              <a:ext uri="{FF2B5EF4-FFF2-40B4-BE49-F238E27FC236}">
                <a16:creationId xmlns:a16="http://schemas.microsoft.com/office/drawing/2014/main" id="{BE0074D4-3EF6-4F92-8C5D-F977FE480364}"/>
              </a:ext>
            </a:extLst>
          </p:cNvPr>
          <p:cNvSpPr>
            <a:spLocks xmlns:a="http://schemas.openxmlformats.org/drawingml/2006/main" noGrp="1"/>
          </p:cNvSpPr>
          <p:nvPr/>
        </p:nvSpPr>
        <p:spPr>
          <a:xfrm xmlns:a="http://schemas.openxmlformats.org/drawingml/2006/main">
            <a:off x="666750" y="11715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xmlns:a="http://schemas.openxmlformats.org/drawingml/2006/main">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Without shared context</a:t>
            </a:r>
          </a:p>
        </p:txBody>
      </p:sp>
      <p:sp>
        <p:nvSpPr>
          <p:cNvPr id="28" name="separate-trace-frame-0">
            <a:extLst xmlns:a="http://schemas.openxmlformats.org/drawingml/2006/main">
              <a:ext uri="{FF2B5EF4-FFF2-40B4-BE49-F238E27FC236}">
                <a16:creationId xmlns:a16="http://schemas.microsoft.com/office/drawing/2014/main" id="{14814128-16E5-4BA3-979D-6CBA73DA5546}"/>
              </a:ext>
            </a:extLst>
          </p:cNvPr>
          <p:cNvSpPr>
            <a:spLocks xmlns:a="http://schemas.openxmlformats.org/drawingml/2006/main" noGrp="1"/>
          </p:cNvSpPr>
          <p:nvPr/>
        </p:nvSpPr>
        <p:spPr>
          <a:xfrm xmlns:a="http://schemas.openxmlformats.org/drawingml/2006/main">
            <a:off x="666750" y="1752600"/>
            <a:ext cx="3143250" cy="1352550"/>
          </a:xfrm>
          <a:prstGeom xmlns:a="http://schemas.openxmlformats.org/drawingml/2006/main" prst="roundRect">
            <a:avLst>
              <a:gd name="adj" fmla="val 4225"/>
            </a:avLst>
          </a:prstGeom>
          <a:solidFill xmlns:a="http://schemas.openxmlformats.org/drawingml/2006/main">
            <a:srgbClr val="FFFFFF"/>
          </a:solidFill>
          <a:ln xmlns:a="http://schemas.openxmlformats.org/drawingml/2006/main" w="12383">
            <a:solidFill>
              <a:srgbClr val="CFD5DD"/>
            </a:solidFill>
          </a:ln>
        </p:spPr>
      </p:sp>
      <p:sp>
        <p:nvSpPr>
          <p:cNvPr id="29" name="separate-trace-id-0">
            <a:extLst xmlns:a="http://schemas.openxmlformats.org/drawingml/2006/main">
              <a:ext uri="{FF2B5EF4-FFF2-40B4-BE49-F238E27FC236}">
                <a16:creationId xmlns:a16="http://schemas.microsoft.com/office/drawing/2014/main" id="{78F09825-D99C-45BD-9697-BE159D460FA5}"/>
              </a:ext>
            </a:extLst>
          </p:cNvPr>
          <p:cNvSpPr>
            <a:spLocks xmlns:a="http://schemas.openxmlformats.org/drawingml/2006/main" noGrp="1"/>
          </p:cNvSpPr>
          <p:nvPr/>
        </p:nvSpPr>
        <p:spPr>
          <a:xfrm xmlns:a="http://schemas.openxmlformats.org/drawingml/2006/main">
            <a:off x="819150" y="1866900"/>
            <a:ext cx="2838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xmlns:a="http://schemas.openxmlformats.org/drawingml/2006/main">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A</a:t>
            </a:r>
          </a:p>
        </p:txBody>
      </p:sp>
      <p:sp>
        <p:nvSpPr>
          <p:cNvPr id="30" name="separate-span-0">
            <a:extLst xmlns:a="http://schemas.openxmlformats.org/drawingml/2006/main">
              <a:ext uri="{FF2B5EF4-FFF2-40B4-BE49-F238E27FC236}">
                <a16:creationId xmlns:a16="http://schemas.microsoft.com/office/drawing/2014/main" id="{37F8CAC3-664A-40A8-BD70-08D886049721}"/>
              </a:ext>
            </a:extLst>
          </p:cNvPr>
          <p:cNvSpPr>
            <a:spLocks xmlns:a="http://schemas.openxmlformats.org/drawingml/2006/main" noGrp="1"/>
          </p:cNvSpPr>
          <p:nvPr/>
        </p:nvSpPr>
        <p:spPr>
          <a:xfrm xmlns:a="http://schemas.openxmlformats.org/drawingml/2006/main">
            <a:off x="809625" y="2381250"/>
            <a:ext cx="2857500" cy="504825"/>
          </a:xfrm>
          <a:prstGeom xmlns:a="http://schemas.openxmlformats.org/drawingml/2006/main" prst="roundRect">
            <a:avLst>
              <a:gd name="adj" fmla="val 11321"/>
            </a:avLst>
          </a:prstGeom>
          <a:solidFill xmlns:a="http://schemas.openxmlformats.org/drawingml/2006/main">
            <a:srgbClr val="E2E7ED"/>
          </a:solidFill>
          <a:ln xmlns:a="http://schemas.openxmlformats.org/drawingml/2006/main" w="12383">
            <a:solidFill>
              <a:srgbClr val="E2E7ED"/>
            </a:solidFill>
          </a:ln>
        </p:spPr>
      </p:sp>
      <p:sp>
        <p:nvSpPr>
          <p:cNvPr id="31" name="separate-service-0">
            <a:extLst xmlns:a="http://schemas.openxmlformats.org/drawingml/2006/main">
              <a:ext uri="{FF2B5EF4-FFF2-40B4-BE49-F238E27FC236}">
                <a16:creationId xmlns:a16="http://schemas.microsoft.com/office/drawing/2014/main" id="{59477838-3DE2-4AFD-8EEC-CD550A967917}"/>
              </a:ext>
            </a:extLst>
          </p:cNvPr>
          <p:cNvSpPr>
            <a:spLocks xmlns:a="http://schemas.openxmlformats.org/drawingml/2006/main" noGrp="1"/>
          </p:cNvSpPr>
          <p:nvPr/>
        </p:nvSpPr>
        <p:spPr>
          <a:xfrm xmlns:a="http://schemas.openxmlformats.org/drawingml/2006/main">
            <a:off x="809625" y="2381250"/>
            <a:ext cx="2857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sp>
        <p:nvSpPr>
          <p:cNvPr id="32" name="separate-trace-frame-1">
            <a:extLst xmlns:a="http://schemas.openxmlformats.org/drawingml/2006/main">
              <a:ext uri="{FF2B5EF4-FFF2-40B4-BE49-F238E27FC236}">
                <a16:creationId xmlns:a16="http://schemas.microsoft.com/office/drawing/2014/main" id="{34750BEB-A3EC-4FB8-9EF8-8FFBB0A3BCD0}"/>
              </a:ext>
            </a:extLst>
          </p:cNvPr>
          <p:cNvSpPr>
            <a:spLocks xmlns:a="http://schemas.openxmlformats.org/drawingml/2006/main" noGrp="1"/>
          </p:cNvSpPr>
          <p:nvPr/>
        </p:nvSpPr>
        <p:spPr>
          <a:xfrm xmlns:a="http://schemas.openxmlformats.org/drawingml/2006/main">
            <a:off x="4524375" y="1752600"/>
            <a:ext cx="3143250" cy="1352550"/>
          </a:xfrm>
          <a:prstGeom xmlns:a="http://schemas.openxmlformats.org/drawingml/2006/main" prst="roundRect">
            <a:avLst>
              <a:gd name="adj" fmla="val 4225"/>
            </a:avLst>
          </a:prstGeom>
          <a:solidFill xmlns:a="http://schemas.openxmlformats.org/drawingml/2006/main">
            <a:srgbClr val="FFFFFF"/>
          </a:solidFill>
          <a:ln xmlns:a="http://schemas.openxmlformats.org/drawingml/2006/main" w="12383">
            <a:solidFill>
              <a:srgbClr val="CFD5DD"/>
            </a:solidFill>
          </a:ln>
        </p:spPr>
      </p:sp>
      <p:sp>
        <p:nvSpPr>
          <p:cNvPr id="33" name="separate-trace-id-1">
            <a:extLst xmlns:a="http://schemas.openxmlformats.org/drawingml/2006/main">
              <a:ext uri="{FF2B5EF4-FFF2-40B4-BE49-F238E27FC236}">
                <a16:creationId xmlns:a16="http://schemas.microsoft.com/office/drawing/2014/main" id="{60F1AB02-7EA8-44C2-B4D1-8222F9B22AF2}"/>
              </a:ext>
            </a:extLst>
          </p:cNvPr>
          <p:cNvSpPr>
            <a:spLocks xmlns:a="http://schemas.openxmlformats.org/drawingml/2006/main" noGrp="1"/>
          </p:cNvSpPr>
          <p:nvPr/>
        </p:nvSpPr>
        <p:spPr>
          <a:xfrm xmlns:a="http://schemas.openxmlformats.org/drawingml/2006/main">
            <a:off x="4676775" y="1866900"/>
            <a:ext cx="2838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xmlns:a="http://schemas.openxmlformats.org/drawingml/2006/main">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B</a:t>
            </a:r>
          </a:p>
        </p:txBody>
      </p:sp>
      <p:sp>
        <p:nvSpPr>
          <p:cNvPr id="34" name="separate-span-1">
            <a:extLst xmlns:a="http://schemas.openxmlformats.org/drawingml/2006/main">
              <a:ext uri="{FF2B5EF4-FFF2-40B4-BE49-F238E27FC236}">
                <a16:creationId xmlns:a16="http://schemas.microsoft.com/office/drawing/2014/main" id="{706B10C1-863D-48C5-A266-A4442E275E24}"/>
              </a:ext>
            </a:extLst>
          </p:cNvPr>
          <p:cNvSpPr>
            <a:spLocks xmlns:a="http://schemas.openxmlformats.org/drawingml/2006/main" noGrp="1"/>
          </p:cNvSpPr>
          <p:nvPr/>
        </p:nvSpPr>
        <p:spPr>
          <a:xfrm xmlns:a="http://schemas.openxmlformats.org/drawingml/2006/main">
            <a:off x="4667250" y="2381250"/>
            <a:ext cx="2857500" cy="504825"/>
          </a:xfrm>
          <a:prstGeom xmlns:a="http://schemas.openxmlformats.org/drawingml/2006/main" prst="roundRect">
            <a:avLst>
              <a:gd name="adj" fmla="val 11321"/>
            </a:avLst>
          </a:prstGeom>
          <a:solidFill xmlns:a="http://schemas.openxmlformats.org/drawingml/2006/main">
            <a:srgbClr val="E2E7ED"/>
          </a:solidFill>
          <a:ln xmlns:a="http://schemas.openxmlformats.org/drawingml/2006/main" w="12383">
            <a:solidFill>
              <a:srgbClr val="E2E7ED"/>
            </a:solidFill>
          </a:ln>
        </p:spPr>
      </p:sp>
      <p:sp>
        <p:nvSpPr>
          <p:cNvPr id="35" name="separate-service-1">
            <a:extLst xmlns:a="http://schemas.openxmlformats.org/drawingml/2006/main">
              <a:ext uri="{FF2B5EF4-FFF2-40B4-BE49-F238E27FC236}">
                <a16:creationId xmlns:a16="http://schemas.microsoft.com/office/drawing/2014/main" id="{4E732843-75DB-4053-B4C6-2F55B8F80B0F}"/>
              </a:ext>
            </a:extLst>
          </p:cNvPr>
          <p:cNvSpPr>
            <a:spLocks xmlns:a="http://schemas.openxmlformats.org/drawingml/2006/main" noGrp="1"/>
          </p:cNvSpPr>
          <p:nvPr/>
        </p:nvSpPr>
        <p:spPr>
          <a:xfrm xmlns:a="http://schemas.openxmlformats.org/drawingml/2006/main">
            <a:off x="4667250" y="2381250"/>
            <a:ext cx="2857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sp>
        <p:nvSpPr>
          <p:cNvPr id="36" name="separate-trace-frame-2">
            <a:extLst xmlns:a="http://schemas.openxmlformats.org/drawingml/2006/main">
              <a:ext uri="{FF2B5EF4-FFF2-40B4-BE49-F238E27FC236}">
                <a16:creationId xmlns:a16="http://schemas.microsoft.com/office/drawing/2014/main" id="{A568798A-4EF3-4FBC-9BA4-56EABCE841C7}"/>
              </a:ext>
            </a:extLst>
          </p:cNvPr>
          <p:cNvSpPr>
            <a:spLocks xmlns:a="http://schemas.openxmlformats.org/drawingml/2006/main" noGrp="1"/>
          </p:cNvSpPr>
          <p:nvPr/>
        </p:nvSpPr>
        <p:spPr>
          <a:xfrm xmlns:a="http://schemas.openxmlformats.org/drawingml/2006/main">
            <a:off x="8382000" y="1752600"/>
            <a:ext cx="3143250" cy="1352550"/>
          </a:xfrm>
          <a:prstGeom xmlns:a="http://schemas.openxmlformats.org/drawingml/2006/main" prst="roundRect">
            <a:avLst>
              <a:gd name="adj" fmla="val 4225"/>
            </a:avLst>
          </a:prstGeom>
          <a:solidFill xmlns:a="http://schemas.openxmlformats.org/drawingml/2006/main">
            <a:srgbClr val="FFFFFF"/>
          </a:solidFill>
          <a:ln xmlns:a="http://schemas.openxmlformats.org/drawingml/2006/main" w="12383">
            <a:solidFill>
              <a:srgbClr val="CFD5DD"/>
            </a:solidFill>
          </a:ln>
        </p:spPr>
      </p:sp>
      <p:sp>
        <p:nvSpPr>
          <p:cNvPr id="37" name="separate-trace-id-2">
            <a:extLst xmlns:a="http://schemas.openxmlformats.org/drawingml/2006/main">
              <a:ext uri="{FF2B5EF4-FFF2-40B4-BE49-F238E27FC236}">
                <a16:creationId xmlns:a16="http://schemas.microsoft.com/office/drawing/2014/main" id="{E1770F39-922D-4F2E-8A65-39FFF6579412}"/>
              </a:ext>
            </a:extLst>
          </p:cNvPr>
          <p:cNvSpPr>
            <a:spLocks xmlns:a="http://schemas.openxmlformats.org/drawingml/2006/main" noGrp="1"/>
          </p:cNvSpPr>
          <p:nvPr/>
        </p:nvSpPr>
        <p:spPr>
          <a:xfrm xmlns:a="http://schemas.openxmlformats.org/drawingml/2006/main">
            <a:off x="8534400" y="1866900"/>
            <a:ext cx="28384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xmlns:a="http://schemas.openxmlformats.org/drawingml/2006/main">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C</a:t>
            </a:r>
          </a:p>
        </p:txBody>
      </p:sp>
      <p:sp>
        <p:nvSpPr>
          <p:cNvPr id="38" name="separate-span-2">
            <a:extLst xmlns:a="http://schemas.openxmlformats.org/drawingml/2006/main">
              <a:ext uri="{FF2B5EF4-FFF2-40B4-BE49-F238E27FC236}">
                <a16:creationId xmlns:a16="http://schemas.microsoft.com/office/drawing/2014/main" id="{2EBE708F-606B-4F43-B99A-AF12B1FF631A}"/>
              </a:ext>
            </a:extLst>
          </p:cNvPr>
          <p:cNvSpPr>
            <a:spLocks xmlns:a="http://schemas.openxmlformats.org/drawingml/2006/main" noGrp="1"/>
          </p:cNvSpPr>
          <p:nvPr/>
        </p:nvSpPr>
        <p:spPr>
          <a:xfrm xmlns:a="http://schemas.openxmlformats.org/drawingml/2006/main">
            <a:off x="8524875" y="2381250"/>
            <a:ext cx="2857500" cy="504825"/>
          </a:xfrm>
          <a:prstGeom xmlns:a="http://schemas.openxmlformats.org/drawingml/2006/main" prst="roundRect">
            <a:avLst>
              <a:gd name="adj" fmla="val 11321"/>
            </a:avLst>
          </a:prstGeom>
          <a:solidFill xmlns:a="http://schemas.openxmlformats.org/drawingml/2006/main">
            <a:srgbClr val="E2E7ED"/>
          </a:solidFill>
          <a:ln xmlns:a="http://schemas.openxmlformats.org/drawingml/2006/main" w="12383">
            <a:solidFill>
              <a:srgbClr val="E2E7ED"/>
            </a:solidFill>
          </a:ln>
        </p:spPr>
      </p:sp>
      <p:sp>
        <p:nvSpPr>
          <p:cNvPr id="39" name="separate-service-2">
            <a:extLst xmlns:a="http://schemas.openxmlformats.org/drawingml/2006/main">
              <a:ext uri="{FF2B5EF4-FFF2-40B4-BE49-F238E27FC236}">
                <a16:creationId xmlns:a16="http://schemas.microsoft.com/office/drawing/2014/main" id="{EA1B71A6-9C8B-4BA5-9E33-F978B2A4CB8B}"/>
              </a:ext>
            </a:extLst>
          </p:cNvPr>
          <p:cNvSpPr>
            <a:spLocks xmlns:a="http://schemas.openxmlformats.org/drawingml/2006/main" noGrp="1"/>
          </p:cNvSpPr>
          <p:nvPr/>
        </p:nvSpPr>
        <p:spPr>
          <a:xfrm xmlns:a="http://schemas.openxmlformats.org/drawingml/2006/main">
            <a:off x="8524875" y="2381250"/>
            <a:ext cx="2857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40" name="linked-heading">
            <a:extLst xmlns:a="http://schemas.openxmlformats.org/drawingml/2006/main">
              <a:ext uri="{FF2B5EF4-FFF2-40B4-BE49-F238E27FC236}">
                <a16:creationId xmlns:a16="http://schemas.microsoft.com/office/drawing/2014/main" id="{7F65EF36-D6E5-4F14-AC6C-2CCD6A06C14D}"/>
              </a:ext>
            </a:extLst>
          </p:cNvPr>
          <p:cNvSpPr>
            <a:spLocks xmlns:a="http://schemas.openxmlformats.org/drawingml/2006/main" noGrp="1"/>
          </p:cNvSpPr>
          <p:nvPr/>
        </p:nvSpPr>
        <p:spPr>
          <a:xfrm xmlns:a="http://schemas.openxmlformats.org/drawingml/2006/main">
            <a:off x="666750" y="33813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FF007F"/>
                </a:solidFill>
                <a:latin typeface="CiscoSansTT Medium"/>
                <a:ea typeface="CiscoSansTT Medium"/>
                <a:cs typeface="CiscoSansTT Medium"/>
              </a:defRPr>
            </a:defPPr>
            <a:lvl1pPr algn="l">
              <a:defRPr sz="2100" b="1">
                <a:solidFill>
                  <a:srgbClr val="FF007F"/>
                </a:solidFill>
                <a:latin typeface="CiscoSansTT Medium"/>
                <a:ea typeface="CiscoSansTT Medium"/>
                <a:cs typeface="CiscoSansTT Medium"/>
              </a:defRPr>
            </a:lvl1pPr>
            <a:lvl2pPr algn="l">
              <a:defRPr sz="2100" b="1">
                <a:solidFill>
                  <a:srgbClr val="FF007F"/>
                </a:solidFill>
                <a:latin typeface="CiscoSansTT Medium"/>
                <a:ea typeface="CiscoSansTT Medium"/>
                <a:cs typeface="CiscoSansTT Medium"/>
              </a:defRPr>
            </a:lvl2pPr>
            <a:lvl3pPr algn="l">
              <a:defRPr sz="2100" b="1">
                <a:solidFill>
                  <a:srgbClr val="FF007F"/>
                </a:solidFill>
                <a:latin typeface="CiscoSansTT Medium"/>
                <a:ea typeface="CiscoSansTT Medium"/>
                <a:cs typeface="CiscoSansTT Medium"/>
              </a:defRPr>
            </a:lvl3pPr>
            <a:lvl4pPr algn="l">
              <a:defRPr sz="2100" b="1">
                <a:solidFill>
                  <a:srgbClr val="FF007F"/>
                </a:solidFill>
                <a:latin typeface="CiscoSansTT Medium"/>
                <a:ea typeface="CiscoSansTT Medium"/>
                <a:cs typeface="CiscoSansTT Medium"/>
              </a:defRPr>
            </a:lvl4pPr>
            <a:lvl5pPr algn="l">
              <a:defRPr sz="2100" b="1">
                <a:solidFill>
                  <a:srgbClr val="FF007F"/>
                </a:solidFill>
                <a:latin typeface="CiscoSansTT Medium"/>
                <a:ea typeface="CiscoSansTT Medium"/>
                <a:cs typeface="CiscoSansTT Medium"/>
              </a:defRPr>
            </a:lvl5pPr>
            <a:lvl6pPr algn="l">
              <a:defRPr sz="2100" b="1">
                <a:solidFill>
                  <a:srgbClr val="FF007F"/>
                </a:solidFill>
                <a:latin typeface="CiscoSansTT Medium"/>
                <a:ea typeface="CiscoSansTT Medium"/>
                <a:cs typeface="CiscoSansTT Medium"/>
              </a:defRPr>
            </a:lvl6pPr>
            <a:lvl7pPr algn="l">
              <a:defRPr sz="2100" b="1">
                <a:solidFill>
                  <a:srgbClr val="FF007F"/>
                </a:solidFill>
                <a:latin typeface="CiscoSansTT Medium"/>
                <a:ea typeface="CiscoSansTT Medium"/>
                <a:cs typeface="CiscoSansTT Medium"/>
              </a:defRPr>
            </a:lvl7pPr>
            <a:lvl8pPr algn="l">
              <a:defRPr sz="2100" b="1">
                <a:solidFill>
                  <a:srgbClr val="FF007F"/>
                </a:solidFill>
                <a:latin typeface="CiscoSansTT Medium"/>
                <a:ea typeface="CiscoSansTT Medium"/>
                <a:cs typeface="CiscoSansTT Medium"/>
              </a:defRPr>
            </a:lvl8pPr>
            <a:lvl9pPr algn="l">
              <a:defRPr sz="2100" b="1">
                <a:solidFill>
                  <a:srgbClr val="FF007F"/>
                </a:solidFill>
                <a:latin typeface="CiscoSansTT Medium"/>
                <a:ea typeface="CiscoSansTT Medium"/>
                <a:cs typeface="CiscoSansTT Medium"/>
              </a:defRPr>
            </a:lvl9pPr>
          </a:lstStyle>
          <a:p xmlns:a="http://schemas.openxmlformats.org/drawingml/2006/main">
            <a:pPr algn="l">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With propagated context</a:t>
            </a:r>
          </a:p>
        </p:txBody>
      </p:sp>
      <p:sp>
        <p:nvSpPr>
          <p:cNvPr id="41" name="connected-trace-frame">
            <a:extLst xmlns:a="http://schemas.openxmlformats.org/drawingml/2006/main">
              <a:ext uri="{FF2B5EF4-FFF2-40B4-BE49-F238E27FC236}">
                <a16:creationId xmlns:a16="http://schemas.microsoft.com/office/drawing/2014/main" id="{0992DFDC-3791-40FA-84D5-2480858394D4}"/>
              </a:ext>
            </a:extLst>
          </p:cNvPr>
          <p:cNvSpPr>
            <a:spLocks xmlns:a="http://schemas.openxmlformats.org/drawingml/2006/main" noGrp="1"/>
          </p:cNvSpPr>
          <p:nvPr/>
        </p:nvSpPr>
        <p:spPr>
          <a:xfrm xmlns:a="http://schemas.openxmlformats.org/drawingml/2006/main">
            <a:off x="666750" y="3981450"/>
            <a:ext cx="10858500" cy="1619250"/>
          </a:xfrm>
          <a:prstGeom xmlns:a="http://schemas.openxmlformats.org/drawingml/2006/main" prst="roundRect">
            <a:avLst>
              <a:gd name="adj" fmla="val 3529"/>
            </a:avLst>
          </a:prstGeom>
          <a:solidFill xmlns:a="http://schemas.openxmlformats.org/drawingml/2006/main">
            <a:srgbClr val="FFFFFF"/>
          </a:solidFill>
          <a:ln xmlns:a="http://schemas.openxmlformats.org/drawingml/2006/main" w="16193">
            <a:solidFill>
              <a:srgbClr val="FF007F"/>
            </a:solidFill>
          </a:ln>
        </p:spPr>
      </p:sp>
      <p:sp>
        <p:nvSpPr>
          <p:cNvPr id="42" name="connected-trace-id">
            <a:extLst xmlns:a="http://schemas.openxmlformats.org/drawingml/2006/main">
              <a:ext uri="{FF2B5EF4-FFF2-40B4-BE49-F238E27FC236}">
                <a16:creationId xmlns:a16="http://schemas.microsoft.com/office/drawing/2014/main" id="{2BFDC140-42F8-4843-973F-37B21FC8BB69}"/>
              </a:ext>
            </a:extLst>
          </p:cNvPr>
          <p:cNvSpPr>
            <a:spLocks xmlns:a="http://schemas.openxmlformats.org/drawingml/2006/main" noGrp="1"/>
          </p:cNvSpPr>
          <p:nvPr/>
        </p:nvSpPr>
        <p:spPr>
          <a:xfrm xmlns:a="http://schemas.openxmlformats.org/drawingml/2006/main">
            <a:off x="876300" y="4114800"/>
            <a:ext cx="10439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1">
                <a:solidFill>
                  <a:srgbClr val="FF007F"/>
                </a:solidFill>
                <a:latin typeface="CiscoSansTT Medium"/>
                <a:ea typeface="CiscoSansTT Medium"/>
                <a:cs typeface="CiscoSansTT Medium"/>
              </a:defRPr>
            </a:defPPr>
            <a:lvl1pPr algn="l">
              <a:defRPr sz="1875" b="1">
                <a:solidFill>
                  <a:srgbClr val="FF007F"/>
                </a:solidFill>
                <a:latin typeface="CiscoSansTT Medium"/>
                <a:ea typeface="CiscoSansTT Medium"/>
                <a:cs typeface="CiscoSansTT Medium"/>
              </a:defRPr>
            </a:lvl1pPr>
            <a:lvl2pPr algn="l">
              <a:defRPr sz="1875" b="1">
                <a:solidFill>
                  <a:srgbClr val="FF007F"/>
                </a:solidFill>
                <a:latin typeface="CiscoSansTT Medium"/>
                <a:ea typeface="CiscoSansTT Medium"/>
                <a:cs typeface="CiscoSansTT Medium"/>
              </a:defRPr>
            </a:lvl2pPr>
            <a:lvl3pPr algn="l">
              <a:defRPr sz="1875" b="1">
                <a:solidFill>
                  <a:srgbClr val="FF007F"/>
                </a:solidFill>
                <a:latin typeface="CiscoSansTT Medium"/>
                <a:ea typeface="CiscoSansTT Medium"/>
                <a:cs typeface="CiscoSansTT Medium"/>
              </a:defRPr>
            </a:lvl3pPr>
            <a:lvl4pPr algn="l">
              <a:defRPr sz="1875" b="1">
                <a:solidFill>
                  <a:srgbClr val="FF007F"/>
                </a:solidFill>
                <a:latin typeface="CiscoSansTT Medium"/>
                <a:ea typeface="CiscoSansTT Medium"/>
                <a:cs typeface="CiscoSansTT Medium"/>
              </a:defRPr>
            </a:lvl4pPr>
            <a:lvl5pPr algn="l">
              <a:defRPr sz="1875" b="1">
                <a:solidFill>
                  <a:srgbClr val="FF007F"/>
                </a:solidFill>
                <a:latin typeface="CiscoSansTT Medium"/>
                <a:ea typeface="CiscoSansTT Medium"/>
                <a:cs typeface="CiscoSansTT Medium"/>
              </a:defRPr>
            </a:lvl5pPr>
            <a:lvl6pPr algn="l">
              <a:defRPr sz="1875" b="1">
                <a:solidFill>
                  <a:srgbClr val="FF007F"/>
                </a:solidFill>
                <a:latin typeface="CiscoSansTT Medium"/>
                <a:ea typeface="CiscoSansTT Medium"/>
                <a:cs typeface="CiscoSansTT Medium"/>
              </a:defRPr>
            </a:lvl6pPr>
            <a:lvl7pPr algn="l">
              <a:defRPr sz="1875" b="1">
                <a:solidFill>
                  <a:srgbClr val="FF007F"/>
                </a:solidFill>
                <a:latin typeface="CiscoSansTT Medium"/>
                <a:ea typeface="CiscoSansTT Medium"/>
                <a:cs typeface="CiscoSansTT Medium"/>
              </a:defRPr>
            </a:lvl7pPr>
            <a:lvl8pPr algn="l">
              <a:defRPr sz="1875" b="1">
                <a:solidFill>
                  <a:srgbClr val="FF007F"/>
                </a:solidFill>
                <a:latin typeface="CiscoSansTT Medium"/>
                <a:ea typeface="CiscoSansTT Medium"/>
                <a:cs typeface="CiscoSansTT Medium"/>
              </a:defRPr>
            </a:lvl8pPr>
            <a:lvl9pPr algn="l">
              <a:defRPr sz="1875" b="1">
                <a:solidFill>
                  <a:srgbClr val="FF007F"/>
                </a:solidFill>
                <a:latin typeface="CiscoSansTT Medium"/>
                <a:ea typeface="CiscoSansTT Medium"/>
                <a:cs typeface="CiscoSansTT Medium"/>
              </a:defRPr>
            </a:lvl9pPr>
          </a:lstStyle>
          <a:p xmlns:a="http://schemas.openxmlformats.org/drawingml/2006/main">
            <a:pPr algn="l">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Trace A</a:t>
            </a:r>
          </a:p>
        </p:txBody>
      </p:sp>
      <p:sp>
        <p:nvSpPr>
          <p:cNvPr id="43" name="connected-span-0">
            <a:extLst xmlns:a="http://schemas.openxmlformats.org/drawingml/2006/main">
              <a:ext uri="{FF2B5EF4-FFF2-40B4-BE49-F238E27FC236}">
                <a16:creationId xmlns:a16="http://schemas.microsoft.com/office/drawing/2014/main" id="{3ED0AE42-321B-42A9-85C0-938094FE2766}"/>
              </a:ext>
            </a:extLst>
          </p:cNvPr>
          <p:cNvSpPr>
            <a:spLocks xmlns:a="http://schemas.openxmlformats.org/drawingml/2006/main" noGrp="1"/>
          </p:cNvSpPr>
          <p:nvPr/>
        </p:nvSpPr>
        <p:spPr>
          <a:xfrm xmlns:a="http://schemas.openxmlformats.org/drawingml/2006/main">
            <a:off x="809625" y="4714875"/>
            <a:ext cx="2857500" cy="523875"/>
          </a:xfrm>
          <a:prstGeom xmlns:a="http://schemas.openxmlformats.org/drawingml/2006/main" prst="roundRect">
            <a:avLst>
              <a:gd name="adj" fmla="val 10909"/>
            </a:avLst>
          </a:prstGeom>
          <a:solidFill xmlns:a="http://schemas.openxmlformats.org/drawingml/2006/main">
            <a:srgbClr val="F6ECF5"/>
          </a:solidFill>
          <a:ln xmlns:a="http://schemas.openxmlformats.org/drawingml/2006/main" w="12383">
            <a:solidFill>
              <a:srgbClr val="FF007F"/>
            </a:solidFill>
          </a:ln>
        </p:spPr>
      </p:sp>
      <p:sp>
        <p:nvSpPr>
          <p:cNvPr id="44" name="connected-service-0">
            <a:extLst xmlns:a="http://schemas.openxmlformats.org/drawingml/2006/main">
              <a:ext uri="{FF2B5EF4-FFF2-40B4-BE49-F238E27FC236}">
                <a16:creationId xmlns:a16="http://schemas.microsoft.com/office/drawing/2014/main" id="{3631A881-AAB9-408E-B055-23887B43F1B3}"/>
              </a:ext>
            </a:extLst>
          </p:cNvPr>
          <p:cNvSpPr>
            <a:spLocks xmlns:a="http://schemas.openxmlformats.org/drawingml/2006/main" noGrp="1"/>
          </p:cNvSpPr>
          <p:nvPr/>
        </p:nvSpPr>
        <p:spPr>
          <a:xfrm xmlns:a="http://schemas.openxmlformats.org/drawingml/2006/main">
            <a:off x="809625" y="471487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cxnSp>
        <p:nvCxnSpPr>
          <p:cNvPr id="45" name="connected-call-0">
            <a:extLst xmlns:a="http://schemas.openxmlformats.org/drawingml/2006/main">
              <a:ext uri="{FF2B5EF4-FFF2-40B4-BE49-F238E27FC236}">
                <a16:creationId xmlns:a16="http://schemas.microsoft.com/office/drawing/2014/main" id="{1CEA6D18-6822-4704-8889-6193F61EE3BD}"/>
              </a:ext>
            </a:extLst>
          </p:cNvPr>
          <p:cNvCxnSpPr/>
          <p:nvPr/>
        </p:nvCxnSpPr>
        <p:spPr>
          <a:xfrm xmlns:a="http://schemas.openxmlformats.org/drawingml/2006/main">
            <a:off x="3667125" y="4976813"/>
            <a:ext cx="1000125" cy="0"/>
          </a:xfrm>
          <a:prstGeom xmlns:a="http://schemas.openxmlformats.org/drawingml/2006/main" prst="straightConnector1">
            <a:avLst/>
          </a:prstGeom>
          <a:ln xmlns:a="http://schemas.openxmlformats.org/drawingml/2006/main" w="21908">
            <a:solidFill>
              <a:srgbClr val="FF007F"/>
            </a:solidFill>
            <a:tailEnd type="arrow" w="med" len="med"/>
          </a:ln>
        </p:spPr>
      </p:cxnSp>
      <p:sp>
        <p:nvSpPr>
          <p:cNvPr id="46" name="connected-span-1">
            <a:extLst xmlns:a="http://schemas.openxmlformats.org/drawingml/2006/main">
              <a:ext uri="{FF2B5EF4-FFF2-40B4-BE49-F238E27FC236}">
                <a16:creationId xmlns:a16="http://schemas.microsoft.com/office/drawing/2014/main" id="{E94F0DCD-3993-4401-A189-78395AFDDC8E}"/>
              </a:ext>
            </a:extLst>
          </p:cNvPr>
          <p:cNvSpPr>
            <a:spLocks xmlns:a="http://schemas.openxmlformats.org/drawingml/2006/main" noGrp="1"/>
          </p:cNvSpPr>
          <p:nvPr/>
        </p:nvSpPr>
        <p:spPr>
          <a:xfrm xmlns:a="http://schemas.openxmlformats.org/drawingml/2006/main">
            <a:off x="4667250" y="4714875"/>
            <a:ext cx="2857500" cy="523875"/>
          </a:xfrm>
          <a:prstGeom xmlns:a="http://schemas.openxmlformats.org/drawingml/2006/main" prst="roundRect">
            <a:avLst>
              <a:gd name="adj" fmla="val 10909"/>
            </a:avLst>
          </a:prstGeom>
          <a:solidFill xmlns:a="http://schemas.openxmlformats.org/drawingml/2006/main">
            <a:srgbClr val="F6ECF5"/>
          </a:solidFill>
          <a:ln xmlns:a="http://schemas.openxmlformats.org/drawingml/2006/main" w="12383">
            <a:solidFill>
              <a:srgbClr val="FF007F"/>
            </a:solidFill>
          </a:ln>
        </p:spPr>
      </p:sp>
      <p:sp>
        <p:nvSpPr>
          <p:cNvPr id="47" name="connected-service-1">
            <a:extLst xmlns:a="http://schemas.openxmlformats.org/drawingml/2006/main">
              <a:ext uri="{FF2B5EF4-FFF2-40B4-BE49-F238E27FC236}">
                <a16:creationId xmlns:a16="http://schemas.microsoft.com/office/drawing/2014/main" id="{521B59B2-5E34-4272-A475-06DDF926610E}"/>
              </a:ext>
            </a:extLst>
          </p:cNvPr>
          <p:cNvSpPr>
            <a:spLocks xmlns:a="http://schemas.openxmlformats.org/drawingml/2006/main" noGrp="1"/>
          </p:cNvSpPr>
          <p:nvPr/>
        </p:nvSpPr>
        <p:spPr>
          <a:xfrm xmlns:a="http://schemas.openxmlformats.org/drawingml/2006/main">
            <a:off x="4667250" y="471487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cxnSp>
        <p:nvCxnSpPr>
          <p:cNvPr id="48" name="connected-call-1">
            <a:extLst xmlns:a="http://schemas.openxmlformats.org/drawingml/2006/main">
              <a:ext uri="{FF2B5EF4-FFF2-40B4-BE49-F238E27FC236}">
                <a16:creationId xmlns:a16="http://schemas.microsoft.com/office/drawing/2014/main" id="{318BEE17-753B-4840-BB8F-2C3747AF3A88}"/>
              </a:ext>
            </a:extLst>
          </p:cNvPr>
          <p:cNvCxnSpPr/>
          <p:nvPr/>
        </p:nvCxnSpPr>
        <p:spPr>
          <a:xfrm xmlns:a="http://schemas.openxmlformats.org/drawingml/2006/main">
            <a:off x="7524750" y="4976813"/>
            <a:ext cx="1000125" cy="0"/>
          </a:xfrm>
          <a:prstGeom xmlns:a="http://schemas.openxmlformats.org/drawingml/2006/main" prst="straightConnector1">
            <a:avLst/>
          </a:prstGeom>
          <a:ln xmlns:a="http://schemas.openxmlformats.org/drawingml/2006/main" w="21908">
            <a:solidFill>
              <a:srgbClr val="FF007F"/>
            </a:solidFill>
            <a:tailEnd type="arrow" w="med" len="med"/>
          </a:ln>
        </p:spPr>
      </p:cxnSp>
      <p:sp>
        <p:nvSpPr>
          <p:cNvPr id="49" name="connected-span-2">
            <a:extLst xmlns:a="http://schemas.openxmlformats.org/drawingml/2006/main">
              <a:ext uri="{FF2B5EF4-FFF2-40B4-BE49-F238E27FC236}">
                <a16:creationId xmlns:a16="http://schemas.microsoft.com/office/drawing/2014/main" id="{437FEDA6-15E2-4C70-B857-AA9C445EF009}"/>
              </a:ext>
            </a:extLst>
          </p:cNvPr>
          <p:cNvSpPr>
            <a:spLocks xmlns:a="http://schemas.openxmlformats.org/drawingml/2006/main" noGrp="1"/>
          </p:cNvSpPr>
          <p:nvPr/>
        </p:nvSpPr>
        <p:spPr>
          <a:xfrm xmlns:a="http://schemas.openxmlformats.org/drawingml/2006/main">
            <a:off x="8524875" y="4714875"/>
            <a:ext cx="2857500" cy="523875"/>
          </a:xfrm>
          <a:prstGeom xmlns:a="http://schemas.openxmlformats.org/drawingml/2006/main" prst="roundRect">
            <a:avLst>
              <a:gd name="adj" fmla="val 10909"/>
            </a:avLst>
          </a:prstGeom>
          <a:solidFill xmlns:a="http://schemas.openxmlformats.org/drawingml/2006/main">
            <a:srgbClr val="F6ECF5"/>
          </a:solidFill>
          <a:ln xmlns:a="http://schemas.openxmlformats.org/drawingml/2006/main" w="12383">
            <a:solidFill>
              <a:srgbClr val="FF007F"/>
            </a:solidFill>
          </a:ln>
        </p:spPr>
      </p:sp>
      <p:sp>
        <p:nvSpPr>
          <p:cNvPr id="50" name="connected-service-2">
            <a:extLst xmlns:a="http://schemas.openxmlformats.org/drawingml/2006/main">
              <a:ext uri="{FF2B5EF4-FFF2-40B4-BE49-F238E27FC236}">
                <a16:creationId xmlns:a16="http://schemas.microsoft.com/office/drawing/2014/main" id="{0DE5CD28-5D01-479B-B3A9-D3D00BB64879}"/>
              </a:ext>
            </a:extLst>
          </p:cNvPr>
          <p:cNvSpPr>
            <a:spLocks xmlns:a="http://schemas.openxmlformats.org/drawingml/2006/main" noGrp="1"/>
          </p:cNvSpPr>
          <p:nvPr/>
        </p:nvSpPr>
        <p:spPr>
          <a:xfrm xmlns:a="http://schemas.openxmlformats.org/drawingml/2006/main">
            <a:off x="8524875" y="471487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51" name="trace-takeaway">
            <a:extLst xmlns:a="http://schemas.openxmlformats.org/drawingml/2006/main">
              <a:ext uri="{FF2B5EF4-FFF2-40B4-BE49-F238E27FC236}">
                <a16:creationId xmlns:a16="http://schemas.microsoft.com/office/drawing/2014/main" id="{E55C148F-3014-441A-A226-24A26882EE69}"/>
              </a:ext>
            </a:extLst>
          </p:cNvPr>
          <p:cNvSpPr>
            <a:spLocks xmlns:a="http://schemas.openxmlformats.org/drawingml/2006/main" noGrp="1"/>
          </p:cNvSpPr>
          <p:nvPr/>
        </p:nvSpPr>
        <p:spPr>
          <a:xfrm xmlns:a="http://schemas.openxmlformats.org/drawingml/2006/main">
            <a:off x="666750" y="57912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950" b="1">
                <a:solidFill>
                  <a:srgbClr val="07182A"/>
                </a:solidFill>
                <a:latin typeface="CiscoSansTT Medium"/>
                <a:ea typeface="CiscoSansTT Medium"/>
                <a:cs typeface="CiscoSansTT Medium"/>
              </a:defRPr>
            </a:defPPr>
            <a:lvl1pPr algn="ctr">
              <a:defRPr sz="1950" b="1">
                <a:solidFill>
                  <a:srgbClr val="07182A"/>
                </a:solidFill>
                <a:latin typeface="CiscoSansTT Medium"/>
                <a:ea typeface="CiscoSansTT Medium"/>
                <a:cs typeface="CiscoSansTT Medium"/>
              </a:defRPr>
            </a:lvl1pPr>
            <a:lvl2pPr algn="ctr">
              <a:defRPr sz="1950" b="1">
                <a:solidFill>
                  <a:srgbClr val="07182A"/>
                </a:solidFill>
                <a:latin typeface="CiscoSansTT Medium"/>
                <a:ea typeface="CiscoSansTT Medium"/>
                <a:cs typeface="CiscoSansTT Medium"/>
              </a:defRPr>
            </a:lvl2pPr>
            <a:lvl3pPr algn="ctr">
              <a:defRPr sz="1950" b="1">
                <a:solidFill>
                  <a:srgbClr val="07182A"/>
                </a:solidFill>
                <a:latin typeface="CiscoSansTT Medium"/>
                <a:ea typeface="CiscoSansTT Medium"/>
                <a:cs typeface="CiscoSansTT Medium"/>
              </a:defRPr>
            </a:lvl3pPr>
            <a:lvl4pPr algn="ctr">
              <a:defRPr sz="1950" b="1">
                <a:solidFill>
                  <a:srgbClr val="07182A"/>
                </a:solidFill>
                <a:latin typeface="CiscoSansTT Medium"/>
                <a:ea typeface="CiscoSansTT Medium"/>
                <a:cs typeface="CiscoSansTT Medium"/>
              </a:defRPr>
            </a:lvl4pPr>
            <a:lvl5pPr algn="ctr">
              <a:defRPr sz="1950" b="1">
                <a:solidFill>
                  <a:srgbClr val="07182A"/>
                </a:solidFill>
                <a:latin typeface="CiscoSansTT Medium"/>
                <a:ea typeface="CiscoSansTT Medium"/>
                <a:cs typeface="CiscoSansTT Medium"/>
              </a:defRPr>
            </a:lvl5pPr>
            <a:lvl6pPr algn="ctr">
              <a:defRPr sz="1950" b="1">
                <a:solidFill>
                  <a:srgbClr val="07182A"/>
                </a:solidFill>
                <a:latin typeface="CiscoSansTT Medium"/>
                <a:ea typeface="CiscoSansTT Medium"/>
                <a:cs typeface="CiscoSansTT Medium"/>
              </a:defRPr>
            </a:lvl6pPr>
            <a:lvl7pPr algn="ctr">
              <a:defRPr sz="1950" b="1">
                <a:solidFill>
                  <a:srgbClr val="07182A"/>
                </a:solidFill>
                <a:latin typeface="CiscoSansTT Medium"/>
                <a:ea typeface="CiscoSansTT Medium"/>
                <a:cs typeface="CiscoSansTT Medium"/>
              </a:defRPr>
            </a:lvl7pPr>
            <a:lvl8pPr algn="ctr">
              <a:defRPr sz="1950" b="1">
                <a:solidFill>
                  <a:srgbClr val="07182A"/>
                </a:solidFill>
                <a:latin typeface="CiscoSansTT Medium"/>
                <a:ea typeface="CiscoSansTT Medium"/>
                <a:cs typeface="CiscoSansTT Medium"/>
              </a:defRPr>
            </a:lvl8pPr>
            <a:lvl9pPr algn="ctr">
              <a:defRPr sz="1950" b="1">
                <a:solidFill>
                  <a:srgbClr val="07182A"/>
                </a:solidFill>
                <a:latin typeface="CiscoSansTT Medium"/>
                <a:ea typeface="CiscoSansTT Medium"/>
                <a:cs typeface="CiscoSansTT Medium"/>
              </a:defRPr>
            </a:lvl9pPr>
          </a:lstStyle>
          <a:p xmlns:a="http://schemas.openxmlformats.org/drawingml/2006/main">
            <a:pPr algn="ctr">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One trace connects the operations across all three services.</a:t>
            </a:r>
          </a:p>
        </p:txBody>
      </p:sp>
    </p:spTree>
    <p:extLst>
      <p:ext uri="{BB962C8B-B14F-4D97-AF65-F5344CB8AC3E}">
        <p14:creationId xmlns:p14="http://schemas.microsoft.com/office/powerpoint/2010/main" val="76814743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268E87F2-7F1B-4AD8-AD5D-5C8813C32B3E}"/>
              </a:ext>
            </a:extLst>
          </p:cNvPr>
          <p:cNvCxnSpPr>
            <a:stCxn id="9" idx="3"/>
            <a:endCxn id="10" idx="1"/>
          </p:cNvCxnSpPr>
          <p:nvPr/>
        </p:nvCxnSpPr>
        <p:spPr>
          <a:xfrm>
            <a:off x="2952750" y="26479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and Cilium share TC hooks</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238375"/>
            <a:ext cx="22860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238375"/>
            <a:ext cx="2286000" cy="819150"/>
          </a:xfrm>
          <a:prstGeom prst="roundRect">
            <a:avLst>
              <a:gd name="adj" fmla="val 10526"/>
            </a:avLst>
          </a:prstGeom>
          <a:solidFill>
            <a:srgbClr val="FFFFFF"/>
          </a:solidFill>
          <a:ln w="14288">
            <a:solidFill>
              <a:srgbClr val="0860FE"/>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238375"/>
            <a:ext cx="20955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Network</a:t>
            </a:r>
          </a:p>
        </p:txBody>
      </p:sp>
      <p:cxnSp>
        <p:nvCxnSpPr>
          <p:cNvPr id="350" name="Straight Arrow Connector 37">
            <a:extLst>
              <a:ext uri="{FF2B5EF4-FFF2-40B4-BE49-F238E27FC236}">
                <a16:creationId xmlns:a16="http://schemas.microsoft.com/office/drawing/2014/main" id="{34ED727E-A515-419C-943E-EF26C720AB6F}"/>
              </a:ext>
            </a:extLst>
          </p:cNvPr>
          <p:cNvCxnSpPr>
            <a:stCxn id="10" idx="3"/>
            <a:endCxn id="11" idx="1"/>
          </p:cNvCxnSpPr>
          <p:nvPr/>
        </p:nvCxnSpPr>
        <p:spPr>
          <a:xfrm>
            <a:off x="7239000" y="26479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3667125"/>
            <a:ext cx="7429500" cy="18097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3829050"/>
            <a:ext cx="6743700" cy="361950"/>
          </a:xfrm>
          <a:prstGeom prst="rect">
            <a:avLst/>
          </a:prstGeom>
          <a:noFill/>
          <a:ln w="0">
            <a:noFill/>
          </a:ln>
        </p:spPr>
        <p:txBody>
          <a:bodyPr anchor="ctr">
            <a:noAutofit/>
          </a:bodyPr>
          <a:lstStyle>
            <a:defPPr algn="ctr">
              <a:defRPr sz="1950" b="1">
                <a:solidFill>
                  <a:srgbClr val="FFFFFF"/>
                </a:solidFill>
                <a:latin typeface="CiscoSansTT Medium"/>
                <a:ea typeface="CiscoSansTT Medium"/>
                <a:cs typeface="CiscoSansTT Medium"/>
              </a:defRPr>
            </a:defPPr>
            <a:lvl1pPr algn="ctr">
              <a:buNone/>
              <a:defRPr sz="1800" b="1">
                <a:solidFill>
                  <a:srgbClr val="FFFFFF"/>
                </a:solidFill>
                <a:latin typeface="CiscoSansTT Medium"/>
                <a:ea typeface="CiscoSansTT Medium"/>
                <a:cs typeface="CiscoSansTT Medium"/>
              </a:defRPr>
            </a:lvl1pPr>
            <a:lvl2pPr algn="ctr">
              <a:buNone/>
              <a:defRPr sz="1800" b="1">
                <a:solidFill>
                  <a:srgbClr val="FFFFFF"/>
                </a:solidFill>
                <a:latin typeface="CiscoSansTT Medium"/>
                <a:ea typeface="CiscoSansTT Medium"/>
                <a:cs typeface="CiscoSansTT Medium"/>
              </a:defRPr>
            </a:lvl2pPr>
            <a:lvl3pPr algn="ctr">
              <a:buNone/>
              <a:defRPr sz="1800" b="1">
                <a:solidFill>
                  <a:srgbClr val="FFFFFF"/>
                </a:solidFill>
                <a:latin typeface="CiscoSansTT Medium"/>
                <a:ea typeface="CiscoSansTT Medium"/>
                <a:cs typeface="CiscoSansTT Medium"/>
              </a:defRPr>
            </a:lvl3pPr>
            <a:lvl4pPr algn="ctr">
              <a:buNone/>
              <a:defRPr sz="1800" b="1">
                <a:solidFill>
                  <a:srgbClr val="FFFFFF"/>
                </a:solidFill>
                <a:latin typeface="CiscoSansTT Medium"/>
                <a:ea typeface="CiscoSansTT Medium"/>
                <a:cs typeface="CiscoSansTT Medium"/>
              </a:defRPr>
            </a:lvl4pPr>
            <a:lvl5pPr algn="ctr">
              <a:buNone/>
              <a:defRPr sz="1800" b="1">
                <a:solidFill>
                  <a:srgbClr val="FFFFFF"/>
                </a:solidFill>
                <a:latin typeface="CiscoSansTT Medium"/>
                <a:ea typeface="CiscoSansTT Medium"/>
                <a:cs typeface="CiscoSansTT Medium"/>
              </a:defRPr>
            </a:lvl5pPr>
            <a:lvl6pPr algn="ctr">
              <a:buNone/>
              <a:defRPr sz="1800" b="1">
                <a:solidFill>
                  <a:srgbClr val="FFFFFF"/>
                </a:solidFill>
                <a:latin typeface="CiscoSansTT Medium"/>
                <a:ea typeface="CiscoSansTT Medium"/>
                <a:cs typeface="CiscoSansTT Medium"/>
              </a:defRPr>
            </a:lvl6pPr>
            <a:lvl7pPr algn="ctr">
              <a:buNone/>
              <a:defRPr sz="1800" b="1">
                <a:solidFill>
                  <a:srgbClr val="FFFFFF"/>
                </a:solidFill>
                <a:latin typeface="CiscoSansTT Medium"/>
                <a:ea typeface="CiscoSansTT Medium"/>
                <a:cs typeface="CiscoSansTT Medium"/>
              </a:defRPr>
            </a:lvl7pPr>
            <a:lvl8pPr algn="ctr">
              <a:buNone/>
              <a:defRPr sz="1800" b="1">
                <a:solidFill>
                  <a:srgbClr val="FFFFFF"/>
                </a:solidFill>
                <a:latin typeface="CiscoSansTT Medium"/>
                <a:ea typeface="CiscoSansTT Medium"/>
                <a:cs typeface="CiscoSansTT Medium"/>
              </a:defRPr>
            </a:lvl8pPr>
            <a:lvl9pPr algn="ctr">
              <a:buNone/>
              <a:defRPr sz="1800" b="1">
                <a:solidFill>
                  <a:srgbClr val="FFFFFF"/>
                </a:solidFill>
                <a:latin typeface="CiscoSansTT Medium"/>
                <a:ea typeface="CiscoSansTT Medium"/>
                <a:cs typeface="CiscoSansTT Medium"/>
              </a:defRPr>
            </a:lvl9pPr>
          </a:lstStyle>
          <a:p>
            <a:pPr algn="ctr">
              <a:buNone/>
              <a:defRPr sz="1950" b="1">
                <a:solidFill>
                  <a:srgbClr val="FFFFFF"/>
                </a:solidFill>
                <a:latin typeface="CiscoSansTT Medium"/>
                <a:ea typeface="CiscoSansTT Medium"/>
                <a:cs typeface="CiscoSansTT Medium"/>
              </a:defRPr>
            </a:pPr>
            <a:r>
              <a:rPr sz="1950"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333875"/>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333875"/>
            <a:ext cx="2095500" cy="419100"/>
          </a:xfrm>
          <a:prstGeom prst="roundRect">
            <a:avLst>
              <a:gd name="adj" fmla="val 20000"/>
            </a:avLst>
          </a:prstGeom>
          <a:solidFill>
            <a:srgbClr val="FF007F"/>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propagation</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410075"/>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333875"/>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4914900"/>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4914900"/>
            <a:ext cx="2095500" cy="419100"/>
          </a:xfrm>
          <a:prstGeom prst="roundRect">
            <a:avLst>
              <a:gd name="adj" fmla="val 20000"/>
            </a:avLst>
          </a:prstGeom>
          <a:solidFill>
            <a:srgbClr val="FF007F"/>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propagation</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4991100"/>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4914900"/>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1F7AD18C-6BE3-4C33-A621-A47780B3BC62}"/>
              </a:ext>
            </a:extLst>
          </p:cNvPr>
          <p:cNvCxnSpPr>
            <a:stCxn id="10" idx="2"/>
            <a:endCxn id="14" idx="0"/>
          </p:cNvCxnSpPr>
          <p:nvPr/>
        </p:nvCxnSpPr>
        <p:spPr>
          <a:xfrm>
            <a:off x="6096000" y="3057525"/>
            <a:ext cx="0" cy="609600"/>
          </a:xfrm>
          <a:prstGeom prst="straightConnector1">
            <a:avLst/>
          </a:prstGeom>
          <a:ln w="23813">
            <a:solidFill>
              <a:srgbClr val="07182A"/>
            </a:solidFill>
            <a:prstDash val="solid"/>
          </a:ln>
        </p:spPr>
      </p:cxnSp>
      <p:sp>
        <p:nvSpPr>
          <p:cNvPr id="363" name="tc-feature-scope">
            <a:extLst>
              <a:ext uri="{FF2B5EF4-FFF2-40B4-BE49-F238E27FC236}">
                <a16:creationId xmlns:a16="http://schemas.microsoft.com/office/drawing/2014/main" id="{33E18D36-F8B6-4805-9305-83192A381F48}"/>
              </a:ext>
            </a:extLst>
          </p:cNvPr>
          <p:cNvSpPr>
            <a:spLocks noGrp="1"/>
          </p:cNvSpPr>
          <p:nvPr/>
        </p:nvSpPr>
        <p:spPr>
          <a:xfrm>
            <a:off x="666750" y="1143000"/>
            <a:ext cx="10858500" cy="495300"/>
          </a:xfrm>
          <a:prstGeom prst="rect">
            <a:avLst/>
          </a:prstGeom>
          <a:noFill/>
          <a:ln w="0">
            <a:noFill/>
          </a:ln>
        </p:spPr>
        <p:txBody>
          <a:bodyPr anchor="ctr">
            <a:noAutofit/>
          </a:bodyPr>
          <a:lstStyle>
            <a:defPPr algn="l">
              <a:defRPr sz="2025" b="0">
                <a:solidFill>
                  <a:srgbClr val="686B6B"/>
                </a:solidFill>
                <a:latin typeface="CiscoSansTT"/>
                <a:ea typeface="CiscoSansTT"/>
                <a:cs typeface="CiscoSansTT"/>
              </a:defRPr>
            </a:defPPr>
            <a:lvl1pPr algn="l">
              <a:defRPr sz="2025" b="0">
                <a:solidFill>
                  <a:srgbClr val="686B6B"/>
                </a:solidFill>
                <a:latin typeface="CiscoSansTT"/>
                <a:ea typeface="CiscoSansTT"/>
                <a:cs typeface="CiscoSansTT"/>
              </a:defRPr>
            </a:lvl1pPr>
            <a:lvl2pPr algn="l">
              <a:defRPr sz="2025" b="0">
                <a:solidFill>
                  <a:srgbClr val="686B6B"/>
                </a:solidFill>
                <a:latin typeface="CiscoSansTT"/>
                <a:ea typeface="CiscoSansTT"/>
                <a:cs typeface="CiscoSansTT"/>
              </a:defRPr>
            </a:lvl2pPr>
            <a:lvl3pPr algn="l">
              <a:defRPr sz="2025" b="0">
                <a:solidFill>
                  <a:srgbClr val="686B6B"/>
                </a:solidFill>
                <a:latin typeface="CiscoSansTT"/>
                <a:ea typeface="CiscoSansTT"/>
                <a:cs typeface="CiscoSansTT"/>
              </a:defRPr>
            </a:lvl3pPr>
            <a:lvl4pPr algn="l">
              <a:defRPr sz="2025" b="0">
                <a:solidFill>
                  <a:srgbClr val="686B6B"/>
                </a:solidFill>
                <a:latin typeface="CiscoSansTT"/>
                <a:ea typeface="CiscoSansTT"/>
                <a:cs typeface="CiscoSansTT"/>
              </a:defRPr>
            </a:lvl4pPr>
            <a:lvl5pPr algn="l">
              <a:defRPr sz="2025" b="0">
                <a:solidFill>
                  <a:srgbClr val="686B6B"/>
                </a:solidFill>
                <a:latin typeface="CiscoSansTT"/>
                <a:ea typeface="CiscoSansTT"/>
                <a:cs typeface="CiscoSansTT"/>
              </a:defRPr>
            </a:lvl5pPr>
            <a:lvl6pPr algn="l">
              <a:defRPr sz="2025" b="0">
                <a:solidFill>
                  <a:srgbClr val="686B6B"/>
                </a:solidFill>
                <a:latin typeface="CiscoSansTT"/>
                <a:ea typeface="CiscoSansTT"/>
                <a:cs typeface="CiscoSansTT"/>
              </a:defRPr>
            </a:lvl6pPr>
            <a:lvl7pPr algn="l">
              <a:defRPr sz="2025" b="0">
                <a:solidFill>
                  <a:srgbClr val="686B6B"/>
                </a:solidFill>
                <a:latin typeface="CiscoSansTT"/>
                <a:ea typeface="CiscoSansTT"/>
                <a:cs typeface="CiscoSansTT"/>
              </a:defRPr>
            </a:lvl7pPr>
            <a:lvl8pPr algn="l">
              <a:defRPr sz="2025" b="0">
                <a:solidFill>
                  <a:srgbClr val="686B6B"/>
                </a:solidFill>
                <a:latin typeface="CiscoSansTT"/>
                <a:ea typeface="CiscoSansTT"/>
                <a:cs typeface="CiscoSansTT"/>
              </a:defRPr>
            </a:lvl8pPr>
            <a:lvl9pPr algn="l">
              <a:defRPr sz="2025" b="0">
                <a:solidFill>
                  <a:srgbClr val="686B6B"/>
                </a:solidFill>
                <a:latin typeface="CiscoSansTT"/>
                <a:ea typeface="CiscoSansTT"/>
                <a:cs typeface="CiscoSansTT"/>
              </a:defRPr>
            </a:lvl9pPr>
          </a:lstStyle>
          <a:p>
            <a:pPr algn="l">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With OBI TCP propagation enabled, both agents can attach at these hooks.</a:t>
            </a:r>
          </a:p>
        </p:txBody>
      </p:sp>
      <p:sp>
        <p:nvSpPr>
          <p:cNvPr id="364" name="direction-reference">
            <a:extLst>
              <a:ext uri="{FF2B5EF4-FFF2-40B4-BE49-F238E27FC236}">
                <a16:creationId xmlns:a16="http://schemas.microsoft.com/office/drawing/2014/main" id="{A6AC3E28-F5D6-49FC-8023-804E31296162}"/>
              </a:ext>
            </a:extLst>
          </p:cNvPr>
          <p:cNvSpPr>
            <a:spLocks noGrp="1"/>
          </p:cNvSpPr>
          <p:nvPr/>
        </p:nvSpPr>
        <p:spPr>
          <a:xfrm>
            <a:off x="666750" y="5724525"/>
            <a:ext cx="10858500" cy="409575"/>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Ingress and egress refer to the host-side interface.</a:t>
            </a:r>
          </a:p>
        </p:txBody>
      </p:sp>
    </p:spTree>
    <p:extLst>
      <p:ext uri="{BB962C8B-B14F-4D97-AF65-F5344CB8AC3E}">
        <p14:creationId xmlns:p14="http://schemas.microsoft.com/office/powerpoint/2010/main" val="76814743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a:ext uri="{FF2B5EF4-FFF2-40B4-BE49-F238E27FC236}">
                <a16:creationId xmlns:a16="http://schemas.microsoft.com/office/drawing/2014/main" id="{6A062542-EA9B-400B-9F22-65A6D4F08617}"/>
              </a:ext>
            </a:extLst>
          </p:cNvPr>
          <p:cNvSpPr>
            <a:spLocks noGrp="1"/>
          </p:cNvSpPr>
          <p:nvPr/>
        </p:nvSpPr>
        <p:spPr>
          <a:xfrm>
            <a:off x="857250" y="2333625"/>
            <a:ext cx="3143250" cy="1524000"/>
          </a:xfrm>
          <a:prstGeom prst="roundRect">
            <a:avLst>
              <a:gd name="adj" fmla="val 4375"/>
            </a:avLst>
          </a:prstGeom>
          <a:solidFill>
            <a:srgbClr val="F6ECF5"/>
          </a:solidFill>
          <a:ln w="11906">
            <a:solidFill>
              <a:srgbClr val="FF007F"/>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Observe + propagate</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a:ext uri="{FF2B5EF4-FFF2-40B4-BE49-F238E27FC236}">
                <a16:creationId xmlns:a16="http://schemas.microsoft.com/office/drawing/2014/main" id="{EA46B996-2ED9-458E-8011-7FA128FE8897}"/>
              </a:ext>
            </a:extLst>
          </p:cNvPr>
          <p:cNvSpPr>
            <a:spLocks noGrp="1"/>
          </p:cNvSpPr>
          <p:nvPr/>
        </p:nvSpPr>
        <p:spPr>
          <a:xfrm>
            <a:off x="857250" y="1581150"/>
            <a:ext cx="10477500" cy="45720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Illustrative order at a shared TC hook</a:t>
            </a:r>
          </a:p>
        </p:txBody>
      </p:sp>
    </p:spTree>
    <p:extLst>
      <p:ext uri="{BB962C8B-B14F-4D97-AF65-F5344CB8AC3E}">
        <p14:creationId xmlns:p14="http://schemas.microsoft.com/office/powerpoint/2010/main" val="109276977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TCX</a:t>
            </a:r>
            <a:r>
              <a:rPr lang="en-US" sz="3000" b="1" dirty="0">
                <a:solidFill>
                  <a:srgbClr val="07182A"/>
                </a:solidFill>
                <a:latin typeface="CiscoSansTT Medium"/>
                <a:ea typeface="CiscoSansTT Medium"/>
                <a:cs typeface="CiscoSansTT Medium"/>
              </a:rPr>
              <a:t> attachment</a:t>
            </a:r>
            <a:r>
              <a:rPr sz="3000" b="1" dirty="0">
                <a:solidFill>
                  <a:srgbClr val="07182A"/>
                </a:solidFill>
                <a:latin typeface="CiscoSansTT Medium"/>
                <a:ea typeface="CiscoSansTT Medium"/>
                <a:cs typeface="CiscoSansTT Medium"/>
              </a:rPr>
              <a:t> controls the order for both agents</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defRPr sz="3000" b="1">
                <a:solidFill>
                  <a:srgbClr val="07182A"/>
                </a:solidFill>
                <a:latin typeface="CiscoSansTT Medium"/>
                <a:ea typeface="CiscoSansTT Medium"/>
                <a:cs typeface="CiscoSansTT Medium"/>
              </a:defRPr>
            </a:pPr>
            <a:r>
              <a:rPr lang="en-ES" sz="3000" b="1" dirty="0">
                <a:solidFill>
                  <a:srgbClr val="07182A"/>
                </a:solidFill>
                <a:latin typeface="CiscoSansTT Medium"/>
              </a:rPr>
              <a:t>Traditional</a:t>
            </a:r>
            <a:r>
              <a:rPr sz="3000" b="1" dirty="0">
                <a:solidFill>
                  <a:srgbClr val="07182A"/>
                </a:solidFill>
                <a:latin typeface="CiscoSansTT Medium"/>
                <a:ea typeface="CiscoSansTT Medium"/>
                <a:cs typeface="CiscoSansTT Medium"/>
              </a:rPr>
              <a:t> TC</a:t>
            </a:r>
            <a:r>
              <a:rPr lang="en-US" sz="3000" b="1" dirty="0">
                <a:solidFill>
                  <a:srgbClr val="07182A"/>
                </a:solidFill>
                <a:latin typeface="CiscoSansTT Medium"/>
                <a:ea typeface="CiscoSansTT Medium"/>
                <a:cs typeface="CiscoSansTT Medium"/>
              </a:rPr>
              <a:t> attachment</a:t>
            </a:r>
            <a:r>
              <a:rPr sz="3000" b="1" dirty="0">
                <a:solidFill>
                  <a:srgbClr val="07182A"/>
                </a:solidFill>
                <a:latin typeface="CiscoSansTT Medium"/>
                <a:ea typeface="CiscoSansTT Medium"/>
                <a:cs typeface="CiscoSansTT Medium"/>
              </a:rPr>
              <a:t>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a:extLst>
              <a:ext uri="{FF2B5EF4-FFF2-40B4-BE49-F238E27FC236}">
                <a16:creationId xmlns:a16="http://schemas.microsoft.com/office/drawing/2014/main" id="{797D88E8-3667-4134-9800-450B462DB550}"/>
              </a:ext>
            </a:extLst>
          </p:cNvPr>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97063" lnSpcReduction="10000"/>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82" name="legacy-scope-13">
            <a:extLst>
              <a:ext uri="{FF2B5EF4-FFF2-40B4-BE49-F238E27FC236}">
                <a16:creationId xmlns:a16="http://schemas.microsoft.com/office/drawing/2014/main" id="{4CC8AF7F-33BE-4416-AA98-47F6C1C618C8}"/>
              </a:ext>
            </a:extLst>
          </p:cNvPr>
          <p:cNvSpPr>
            <a:spLocks noGrp="1"/>
          </p:cNvSpPr>
          <p:nvPr/>
        </p:nvSpPr>
        <p:spPr>
          <a:xfrm>
            <a:off x="666750" y="1552575"/>
            <a:ext cx="10858500" cy="361950"/>
          </a:xfrm>
          <a:prstGeom prst="rect">
            <a:avLst/>
          </a:prstGeom>
          <a:noFill/>
          <a:ln w="0">
            <a:noFill/>
          </a:ln>
        </p:spPr>
        <p:txBody>
          <a:bodyPr anchor="ctr">
            <a:noAutofit/>
          </a:bodyPr>
          <a:lstStyle>
            <a:defPPr algn="l">
              <a:defRPr sz="1650" b="0">
                <a:solidFill>
                  <a:srgbClr val="0860FE"/>
                </a:solidFill>
                <a:latin typeface="CiscoSansTT"/>
                <a:ea typeface="CiscoSansTT"/>
                <a:cs typeface="CiscoSansTT"/>
              </a:defRPr>
            </a:defPPr>
            <a:lvl1pPr algn="l">
              <a:defRPr sz="1650" b="0">
                <a:solidFill>
                  <a:srgbClr val="0860FE"/>
                </a:solidFill>
                <a:latin typeface="CiscoSansTT"/>
                <a:ea typeface="CiscoSansTT"/>
                <a:cs typeface="CiscoSansTT"/>
              </a:defRPr>
            </a:lvl1pPr>
            <a:lvl2pPr algn="l">
              <a:defRPr sz="1650" b="0">
                <a:solidFill>
                  <a:srgbClr val="0860FE"/>
                </a:solidFill>
                <a:latin typeface="CiscoSansTT"/>
                <a:ea typeface="CiscoSansTT"/>
                <a:cs typeface="CiscoSansTT"/>
              </a:defRPr>
            </a:lvl2pPr>
            <a:lvl3pPr algn="l">
              <a:defRPr sz="1650" b="0">
                <a:solidFill>
                  <a:srgbClr val="0860FE"/>
                </a:solidFill>
                <a:latin typeface="CiscoSansTT"/>
                <a:ea typeface="CiscoSansTT"/>
                <a:cs typeface="CiscoSansTT"/>
              </a:defRPr>
            </a:lvl3pPr>
            <a:lvl4pPr algn="l">
              <a:defRPr sz="1650" b="0">
                <a:solidFill>
                  <a:srgbClr val="0860FE"/>
                </a:solidFill>
                <a:latin typeface="CiscoSansTT"/>
                <a:ea typeface="CiscoSansTT"/>
                <a:cs typeface="CiscoSansTT"/>
              </a:defRPr>
            </a:lvl4pPr>
            <a:lvl5pPr algn="l">
              <a:defRPr sz="1650" b="0">
                <a:solidFill>
                  <a:srgbClr val="0860FE"/>
                </a:solidFill>
                <a:latin typeface="CiscoSansTT"/>
                <a:ea typeface="CiscoSansTT"/>
                <a:cs typeface="CiscoSansTT"/>
              </a:defRPr>
            </a:lvl5pPr>
            <a:lvl6pPr algn="l">
              <a:defRPr sz="1650" b="0">
                <a:solidFill>
                  <a:srgbClr val="0860FE"/>
                </a:solidFill>
                <a:latin typeface="CiscoSansTT"/>
                <a:ea typeface="CiscoSansTT"/>
                <a:cs typeface="CiscoSansTT"/>
              </a:defRPr>
            </a:lvl6pPr>
            <a:lvl7pPr algn="l">
              <a:defRPr sz="1650" b="0">
                <a:solidFill>
                  <a:srgbClr val="0860FE"/>
                </a:solidFill>
                <a:latin typeface="CiscoSansTT"/>
                <a:ea typeface="CiscoSansTT"/>
                <a:cs typeface="CiscoSansTT"/>
              </a:defRPr>
            </a:lvl7pPr>
            <a:lvl8pPr algn="l">
              <a:defRPr sz="1650" b="0">
                <a:solidFill>
                  <a:srgbClr val="0860FE"/>
                </a:solidFill>
                <a:latin typeface="CiscoSansTT"/>
                <a:ea typeface="CiscoSansTT"/>
                <a:cs typeface="CiscoSansTT"/>
              </a:defRPr>
            </a:lvl8pPr>
            <a:lvl9pPr algn="l">
              <a:defRPr sz="1650" b="0">
                <a:solidFill>
                  <a:srgbClr val="0860FE"/>
                </a:solidFill>
                <a:latin typeface="CiscoSansTT"/>
                <a:ea typeface="CiscoSansTT"/>
                <a:cs typeface="CiscoSansTT"/>
              </a:defRPr>
            </a:lvl9pPr>
          </a:lstStyle>
          <a:p>
            <a:pPr algn="l">
              <a:defRPr sz="1650" b="0">
                <a:solidFill>
                  <a:srgbClr val="0860FE"/>
                </a:solidFill>
                <a:latin typeface="CiscoSansTT"/>
                <a:ea typeface="CiscoSansTT"/>
                <a:cs typeface="CiscoSansTT"/>
              </a:defRPr>
            </a:pPr>
            <a:r>
              <a:rPr sz="165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735774523"/>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
        <p:nvSpPr>
          <p:cNvPr id="7" name="legacy-scope-14">
            <a:extLst>
              <a:ext uri="{FF2B5EF4-FFF2-40B4-BE49-F238E27FC236}">
                <a16:creationId xmlns:a16="http://schemas.microsoft.com/office/drawing/2014/main" id="{43A08D25-20BE-438B-99EE-112AAA72E1E6}"/>
              </a:ext>
            </a:extLst>
          </p:cNvPr>
          <p:cNvSpPr>
            <a:spLocks noGrp="1"/>
          </p:cNvSpPr>
          <p:nvPr/>
        </p:nvSpPr>
        <p:spPr>
          <a:xfrm>
            <a:off x="1524000" y="933450"/>
            <a:ext cx="10096500" cy="247650"/>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lang="en-US" dirty="0"/>
              <a:t>Demo</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traces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 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B15AC-3DCF-44DD-A9BD-574ED9D70F2A}"/>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E2120A30-7D9B-4192-BD06-1659272AE903}"/>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85349D30-0D5D-432E-83C7-AAB474BC4990}"/>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FD8B1710-CB3A-433D-8434-1DC83819AA22}"/>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
        <p:nvSpPr>
          <p:cNvPr id="45" name="rollout-route">
            <a:extLst>
              <a:ext uri="{FF2B5EF4-FFF2-40B4-BE49-F238E27FC236}">
                <a16:creationId xmlns:a16="http://schemas.microsoft.com/office/drawing/2014/main" id="{4B4B4BAE-D60A-4F3B-A61A-6FC626E30F50}"/>
              </a:ext>
            </a:extLst>
          </p:cNvPr>
          <p:cNvSpPr>
            <a:spLocks noGrp="1"/>
          </p:cNvSpPr>
          <p:nvPr/>
        </p:nvSpPr>
        <p:spPr>
          <a:xfrm>
            <a:off x="5476875" y="1438275"/>
            <a:ext cx="6096000" cy="342900"/>
          </a:xfrm>
          <a:prstGeom prst="rect">
            <a:avLst/>
          </a:prstGeom>
          <a:noFill/>
          <a:ln w="0">
            <a:noFill/>
          </a:ln>
        </p:spPr>
        <p:txBody>
          <a:bodyPr anchor="ctr">
            <a:noAutofit/>
          </a:bodyPr>
          <a:lstStyle>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a:ext uri="{FF2B5EF4-FFF2-40B4-BE49-F238E27FC236}">
                <a16:creationId xmlns:a16="http://schemas.microsoft.com/office/drawing/2014/main" id="{C1752FA4-1A6C-4F0A-9305-70936FAFF8A5}"/>
              </a:ext>
            </a:extLst>
          </p:cNvPr>
          <p:cNvCxnSpPr/>
          <p:nvPr/>
        </p:nvCxnSpPr>
        <p:spPr>
          <a:xfrm>
            <a:off x="1905000" y="2247900"/>
            <a:ext cx="666750" cy="0"/>
          </a:xfrm>
          <a:prstGeom prst="straightConnector1">
            <a:avLst/>
          </a:prstGeom>
          <a:ln w="19050">
            <a:solidFill>
              <a:srgbClr val="686B6B"/>
            </a:solidFill>
            <a:tailEnd type="arrow" w="med" len="med"/>
          </a:ln>
        </p:spPr>
      </p:cxnSp>
      <p:cxnSp>
        <p:nvCxnSpPr>
          <p:cNvPr id="47" name="edge-to-v2">
            <a:extLst>
              <a:ext uri="{FF2B5EF4-FFF2-40B4-BE49-F238E27FC236}">
                <a16:creationId xmlns:a16="http://schemas.microsoft.com/office/drawing/2014/main" id="{4EE3E7E5-D667-41CC-B365-7B0034F8BA6D}"/>
              </a:ext>
            </a:extLst>
          </p:cNvPr>
          <p:cNvCxnSpPr/>
          <p:nvPr/>
        </p:nvCxnSpPr>
        <p:spPr>
          <a:xfrm>
            <a:off x="4476750" y="2247900"/>
            <a:ext cx="1047750" cy="0"/>
          </a:xfrm>
          <a:prstGeom prst="straightConnector1">
            <a:avLst/>
          </a:prstGeom>
          <a:ln w="19050">
            <a:solidFill>
              <a:srgbClr val="0860FE"/>
            </a:solidFill>
            <a:tailEnd type="arrow" w="med" len="med"/>
          </a:ln>
        </p:spPr>
      </p:cxnSp>
      <p:cxnSp>
        <p:nvCxnSpPr>
          <p:cNvPr id="48" name="v2-to-v1">
            <a:extLst>
              <a:ext uri="{FF2B5EF4-FFF2-40B4-BE49-F238E27FC236}">
                <a16:creationId xmlns:a16="http://schemas.microsoft.com/office/drawing/2014/main" id="{8816EF8F-63BD-4288-98FD-203A932107B8}"/>
              </a:ext>
            </a:extLst>
          </p:cNvPr>
          <p:cNvCxnSpPr/>
          <p:nvPr/>
        </p:nvCxnSpPr>
        <p:spPr>
          <a:xfrm>
            <a:off x="8096250" y="2247900"/>
            <a:ext cx="857250" cy="0"/>
          </a:xfrm>
          <a:prstGeom prst="straightConnector1">
            <a:avLst/>
          </a:prstGeom>
          <a:ln w="19050">
            <a:solidFill>
              <a:srgbClr val="0860FE"/>
            </a:solidFill>
            <a:tailEnd type="arrow" w="med" len="med"/>
          </a:ln>
        </p:spPr>
      </p:cxnSp>
      <p:cxnSp>
        <p:nvCxnSpPr>
          <p:cNvPr id="49" name="direct-v1-down">
            <a:extLst>
              <a:ext uri="{FF2B5EF4-FFF2-40B4-BE49-F238E27FC236}">
                <a16:creationId xmlns:a16="http://schemas.microsoft.com/office/drawing/2014/main" id="{B0D77129-90AF-48F7-A6CF-649FB49AE727}"/>
              </a:ext>
            </a:extLst>
          </p:cNvPr>
          <p:cNvCxnSpPr/>
          <p:nvPr/>
        </p:nvCxnSpPr>
        <p:spPr>
          <a:xfrm>
            <a:off x="3524250" y="2609850"/>
            <a:ext cx="0" cy="466725"/>
          </a:xfrm>
          <a:prstGeom prst="straightConnector1">
            <a:avLst/>
          </a:prstGeom>
          <a:ln w="19050">
            <a:solidFill>
              <a:srgbClr val="FF8A00"/>
            </a:solidFill>
          </a:ln>
        </p:spPr>
      </p:cxnSp>
      <p:cxnSp>
        <p:nvCxnSpPr>
          <p:cNvPr id="50" name="direct-v1-across">
            <a:extLst>
              <a:ext uri="{FF2B5EF4-FFF2-40B4-BE49-F238E27FC236}">
                <a16:creationId xmlns:a16="http://schemas.microsoft.com/office/drawing/2014/main" id="{4BBD4F43-2FDD-4479-80DB-2E8C771F427A}"/>
              </a:ext>
            </a:extLst>
          </p:cNvPr>
          <p:cNvCxnSpPr/>
          <p:nvPr/>
        </p:nvCxnSpPr>
        <p:spPr>
          <a:xfrm>
            <a:off x="3524250" y="3076575"/>
            <a:ext cx="6762750" cy="0"/>
          </a:xfrm>
          <a:prstGeom prst="straightConnector1">
            <a:avLst/>
          </a:prstGeom>
          <a:ln w="19050">
            <a:solidFill>
              <a:srgbClr val="FF8A00"/>
            </a:solidFill>
          </a:ln>
        </p:spPr>
      </p:cxnSp>
      <p:cxnSp>
        <p:nvCxnSpPr>
          <p:cNvPr id="51" name="direct-v1-up">
            <a:extLst>
              <a:ext uri="{FF2B5EF4-FFF2-40B4-BE49-F238E27FC236}">
                <a16:creationId xmlns:a16="http://schemas.microsoft.com/office/drawing/2014/main" id="{7C026934-6D92-4E7C-B8C3-A12DCA5434B8}"/>
              </a:ext>
            </a:extLst>
          </p:cNvPr>
          <p:cNvCxnSpPr/>
          <p:nvPr/>
        </p:nvCxnSpPr>
        <p:spPr>
          <a:xfrm>
            <a:off x="10287000" y="2609850"/>
            <a:ext cx="0" cy="466725"/>
          </a:xfrm>
          <a:prstGeom prst="straightConnector1">
            <a:avLst/>
          </a:prstGeom>
          <a:ln w="19050">
            <a:solidFill>
              <a:srgbClr val="FF8A00"/>
            </a:solidFill>
            <a:headEnd type="arrow" w="med" len="med"/>
          </a:ln>
        </p:spPr>
      </p:cxnSp>
      <p:sp>
        <p:nvSpPr>
          <p:cNvPr id="52" name="direct-route-label">
            <a:extLst>
              <a:ext uri="{FF2B5EF4-FFF2-40B4-BE49-F238E27FC236}">
                <a16:creationId xmlns:a16="http://schemas.microsoft.com/office/drawing/2014/main" id="{5577A973-472B-46EB-90B8-B85789CC3886}"/>
              </a:ext>
            </a:extLst>
          </p:cNvPr>
          <p:cNvSpPr>
            <a:spLocks noGrp="1"/>
          </p:cNvSpPr>
          <p:nvPr/>
        </p:nvSpPr>
        <p:spPr>
          <a:xfrm>
            <a:off x="4095750" y="3162300"/>
            <a:ext cx="6191250" cy="314325"/>
          </a:xfrm>
          <a:prstGeom prst="rect">
            <a:avLst/>
          </a:prstGeom>
          <a:noFill/>
          <a:ln w="0">
            <a:noFill/>
          </a:ln>
        </p:spPr>
        <p:txBody>
          <a:bodyPr anchor="ctr">
            <a:noAutofit/>
          </a:bodyPr>
          <a:lstStyle>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Demo 1: prove coexistence</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152400"/>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0">
                <a:solidFill>
                  <a:srgbClr val="07182A"/>
                </a:solidFill>
                <a:latin typeface="CiscoSansTT"/>
                <a:ea typeface="CiscoSansTT"/>
                <a:cs typeface="CiscoSansTT"/>
              </a:defRPr>
            </a:defPPr>
            <a:lvl1pPr algn="l">
              <a:defRPr sz="3000" b="0">
                <a:solidFill>
                  <a:srgbClr val="07182A"/>
                </a:solidFill>
                <a:latin typeface="CiscoSansTT"/>
                <a:ea typeface="CiscoSansTT"/>
                <a:cs typeface="CiscoSansTT"/>
              </a:defRPr>
            </a:lvl1pPr>
            <a:lvl2pPr algn="l">
              <a:defRPr sz="3000" b="0">
                <a:solidFill>
                  <a:srgbClr val="07182A"/>
                </a:solidFill>
                <a:latin typeface="CiscoSansTT"/>
                <a:ea typeface="CiscoSansTT"/>
                <a:cs typeface="CiscoSansTT"/>
              </a:defRPr>
            </a:lvl2pPr>
            <a:lvl3pPr algn="l">
              <a:defRPr sz="3000" b="0">
                <a:solidFill>
                  <a:srgbClr val="07182A"/>
                </a:solidFill>
                <a:latin typeface="CiscoSansTT"/>
                <a:ea typeface="CiscoSansTT"/>
                <a:cs typeface="CiscoSansTT"/>
              </a:defRPr>
            </a:lvl3pPr>
            <a:lvl4pPr algn="l">
              <a:defRPr sz="3000" b="0">
                <a:solidFill>
                  <a:srgbClr val="07182A"/>
                </a:solidFill>
                <a:latin typeface="CiscoSansTT"/>
                <a:ea typeface="CiscoSansTT"/>
                <a:cs typeface="CiscoSansTT"/>
              </a:defRPr>
            </a:lvl4pPr>
            <a:lvl5pPr algn="l">
              <a:defRPr sz="3000" b="0">
                <a:solidFill>
                  <a:srgbClr val="07182A"/>
                </a:solidFill>
                <a:latin typeface="CiscoSansTT"/>
                <a:ea typeface="CiscoSansTT"/>
                <a:cs typeface="CiscoSansTT"/>
              </a:defRPr>
            </a:lvl5pPr>
            <a:lvl6pPr algn="l">
              <a:defRPr sz="3000" b="0">
                <a:solidFill>
                  <a:srgbClr val="07182A"/>
                </a:solidFill>
                <a:latin typeface="CiscoSansTT"/>
                <a:ea typeface="CiscoSansTT"/>
                <a:cs typeface="CiscoSansTT"/>
              </a:defRPr>
            </a:lvl6pPr>
            <a:lvl7pPr algn="l">
              <a:defRPr sz="3000" b="0">
                <a:solidFill>
                  <a:srgbClr val="07182A"/>
                </a:solidFill>
                <a:latin typeface="CiscoSansTT"/>
                <a:ea typeface="CiscoSansTT"/>
                <a:cs typeface="CiscoSansTT"/>
              </a:defRPr>
            </a:lvl7pPr>
            <a:lvl8pPr algn="l">
              <a:defRPr sz="3000" b="0">
                <a:solidFill>
                  <a:srgbClr val="07182A"/>
                </a:solidFill>
                <a:latin typeface="CiscoSansTT"/>
                <a:ea typeface="CiscoSansTT"/>
                <a:cs typeface="CiscoSansTT"/>
              </a:defRPr>
            </a:lvl8pPr>
            <a:lvl9pPr algn="l">
              <a:defRPr sz="3000" b="0">
                <a:solidFill>
                  <a:srgbClr val="07182A"/>
                </a:solidFill>
                <a:latin typeface="CiscoSansTT"/>
                <a:ea typeface="CiscoSansTT"/>
                <a:cs typeface="CiscoSansTT"/>
              </a:defRPr>
            </a:lvl9pPr>
          </a:lstStyle>
          <a:p xmlns:a="http://schemas.openxmlformats.org/drawingml/2006/main">
            <a:pPr algn="l">
              <a:buNone/>
              <a:defRPr sz="3000" b="0">
                <a:solidFill>
                  <a:srgbClr val="07182A"/>
                </a:solidFill>
                <a:latin typeface="CiscoSansTT"/>
                <a:ea typeface="CiscoSansTT"/>
                <a:cs typeface="CiscoSansTT"/>
              </a:defRPr>
            </a:pPr>
            <a:r>
              <a:rPr sz="3000" b="0">
                <a:solidFill>
                  <a:srgbClr val="07182A"/>
                </a:solidFill>
                <a:latin typeface="CiscoSansTT"/>
                <a:ea typeface="CiscoSansTT"/>
                <a:cs typeface="CiscoSansTT"/>
              </a:rPr>
              <a:t>Correlating signals in one dashboard</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0" name="common-networking">
            <a:extLst xmlns:a="http://schemas.openxmlformats.org/drawingml/2006/main">
              <a:ext uri="{FF2B5EF4-FFF2-40B4-BE49-F238E27FC236}">
                <a16:creationId xmlns:a16="http://schemas.microsoft.com/office/drawing/2014/main" id="{31FBF9E9-2EBA-4347-AEF8-6C0373449A4F}"/>
              </a:ext>
            </a:extLst>
          </p:cNvPr>
          <p:cNvSpPr>
            <a:spLocks xmlns:a="http://schemas.openxmlformats.org/drawingml/2006/main" noGrp="1"/>
          </p:cNvSpPr>
          <p:nvPr/>
        </p:nvSpPr>
        <p:spPr>
          <a:xfrm xmlns:a="http://schemas.openxmlformats.org/drawingml/2006/main">
            <a:off x="762000" y="11049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xmlns:a="http://schemas.openxmlformats.org/drawingml/2006/main">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Cilium networking is enabled in every scenario.</a:t>
            </a:r>
          </a:p>
        </p:txBody>
      </p:sp>
      <p:graphicFrame>
        <p:nvGraphicFramePr>
          <p:cNvPr id="21" name="">
            <a:extLst xmlns:a="http://schemas.openxmlformats.org/drawingml/2006/main">
              <a:ext uri="{FF2B5EF4-FFF2-40B4-BE49-F238E27FC236}">
                <a16:creationId xmlns:a16="http://schemas.microsoft.com/office/drawing/2014/main" id="{CA56689E-14B9-4ACB-984E-F1E4C6574764}"/>
              </a:ext>
            </a:extLst>
          </p:cNvPr>
          <p:cNvGraphicFramePr/>
          <p:nvPr/>
        </p:nvGraphicFramePr>
        <p:xfrm>
          <a:off xmlns:a="http://schemas.openxmlformats.org/drawingml/2006/main" x="762000" y="1638300"/>
          <a:ext xmlns:a="http://schemas.openxmlformats.org/drawingml/2006/main" cx="10668000" cy="4114800"/>
        </p:xfrm>
        <a:graphic xmlns:a="http://schemas.openxmlformats.org/drawingml/2006/main">
          <a:graphicData uri="http://schemas.openxmlformats.org/drawingml/2006/table">
            <a:tbl>
              <a:tblPr firstRow="0" bandRow="0" bandCol="0"/>
              <a:tblGrid>
                <a:gridCol w="2000250"/>
                <a:gridCol w="3048000"/>
                <a:gridCol w="5619750"/>
              </a:tblGrid>
              <a:tr h="495300">
                <a:tc>
                  <a:txBody>
                    <a:bodyPr>
                      <a:noAutofit/>
                    </a:bodyPr>
                    <a:lstStyle/>
                    <a:p>
                      <a:pPr algn="ctr"/>
                      <a:r>
                        <a:rPr sz="1875" b="1">
                          <a:solidFill>
                            <a:srgbClr val="07182A"/>
                          </a:solidFill>
                          <a:latin typeface="CiscoSansTT Medium"/>
                          <a:ea typeface="CiscoSansTT Medium"/>
                          <a:cs typeface="CiscoSansTT Medium"/>
                        </a:rPr>
                        <a:t>Scenario</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875" b="1">
                          <a:solidFill>
                            <a:srgbClr val="07182A"/>
                          </a:solidFill>
                          <a:latin typeface="CiscoSansTT Medium"/>
                          <a:ea typeface="CiscoSansTT Medium"/>
                          <a:cs typeface="CiscoSansTT Medium"/>
                        </a:rPr>
                        <a:t>Hubble</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875" b="1">
                          <a:solidFill>
                            <a:srgbClr val="07182A"/>
                          </a:solidFill>
                          <a:latin typeface="CiscoSansTT Medium"/>
                          <a:ea typeface="CiscoSansTT Medium"/>
                          <a:cs typeface="CiscoSansTT Medium"/>
                        </a:rPr>
                        <a:t>OBI</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r>
              <a:tr h="723900">
                <a:tc>
                  <a:txBody>
                    <a:bodyPr>
                      <a:noAutofit/>
                    </a:bodyPr>
                    <a:lstStyle/>
                    <a:p>
                      <a:pPr algn="ctr"/>
                      <a:r>
                        <a:rPr sz="1725" b="1">
                          <a:solidFill>
                            <a:srgbClr val="07182A"/>
                          </a:solidFill>
                          <a:latin typeface="CiscoSansTT Medium"/>
                          <a:ea typeface="CiscoSansTT Medium"/>
                          <a:cs typeface="CiscoSansTT Medium"/>
                        </a:rPr>
                        <a:t>A</a:t>
                      </a:r>
                    </a:p>
                    <a:p>
                      <a:pPr algn="ctr"/>
                      <a:r>
                        <a:rPr sz="1725" b="1">
                          <a:solidFill>
                            <a:srgbClr val="07182A"/>
                          </a:solidFill>
                          <a:latin typeface="CiscoSansTT Medium"/>
                          <a:ea typeface="CiscoSansTT Medium"/>
                          <a:cs typeface="CiscoSansTT Medium"/>
                        </a:rPr>
                        <a:t>Planned</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r>
              <a:tr h="723900">
                <a:tc>
                  <a:txBody>
                    <a:bodyPr>
                      <a:noAutofit/>
                    </a:bodyPr>
                    <a:lstStyle/>
                    <a:p>
                      <a:pPr algn="ctr"/>
                      <a:r>
                        <a:rPr sz="1725" b="1">
                          <a:solidFill>
                            <a:srgbClr val="0860FE"/>
                          </a:solidFill>
                          <a:latin typeface="CiscoSansTT Medium"/>
                          <a:ea typeface="CiscoSansTT Medium"/>
                          <a:cs typeface="CiscoSansTT Medium"/>
                        </a:rPr>
                        <a:t>B</a:t>
                      </a:r>
                    </a:p>
                    <a:p>
                      <a:pPr algn="ctr"/>
                      <a:r>
                        <a:rPr sz="1725" b="1">
                          <a:solidFill>
                            <a:srgbClr val="0860FE"/>
                          </a:solidFill>
                          <a:latin typeface="CiscoSansTT Medium"/>
                          <a:ea typeface="CiscoSansTT Medium"/>
                          <a:cs typeface="CiscoSansTT Medium"/>
                        </a:rPr>
                        <a:t>Measured</a:t>
                      </a:r>
                    </a:p>
                  </a:txBody>
                  <a:tcPr marL="91440" marR="91440" marT="45720" marB="45720" anchor="ctr">
                    <a:lnL w="0">
                      <a:noFill/>
                    </a:lnL>
                    <a:lnR w="0">
                      <a:noFill/>
                    </a:lnR>
                    <a:lnT w="6350">
                      <a:solidFill>
                        <a:srgbClr val="CFD5DD"/>
                      </a:solidFill>
                    </a:lnT>
                    <a:lnB w="6350">
                      <a:solidFill>
                        <a:srgbClr val="CFD5DD"/>
                      </a:solidFill>
                    </a:lnB>
                    <a:solidFill>
                      <a:srgbClr val="EAF8FC"/>
                    </a:solidFill>
                  </a:tcPr>
                </a:tc>
                <a:tc>
                  <a:txBody>
                    <a:bodyPr>
                      <a:noAutofit/>
                    </a:bodyPr>
                    <a:lstStyle/>
                    <a:p>
                      <a:pPr algn="l"/>
                      <a:r>
                        <a:rPr sz="1725" b="0">
                          <a:solidFill>
                            <a:srgbClr val="07182A"/>
                          </a:solidFill>
                          <a:latin typeface="CiscoSansTT"/>
                          <a:ea typeface="CiscoSansTT"/>
                          <a:cs typeface="CiscoSansTT"/>
                        </a:rPr>
                        <a:t>Flows (L3/L4)</a:t>
                      </a:r>
                    </a:p>
                  </a:txBody>
                  <a:tcPr marL="91440" marR="91440" marT="45720" marB="45720" anchor="ctr">
                    <a:lnL w="0">
                      <a:noFill/>
                    </a:lnL>
                    <a:lnR w="0">
                      <a:noFill/>
                    </a:lnR>
                    <a:lnT w="6350">
                      <a:solidFill>
                        <a:srgbClr val="CFD5DD"/>
                      </a:solidFill>
                    </a:lnT>
                    <a:lnB w="6350">
                      <a:solidFill>
                        <a:srgbClr val="CFD5DD"/>
                      </a:solidFill>
                    </a:lnB>
                    <a:solidFill>
                      <a:srgbClr val="EAF8FC"/>
                    </a:solidFill>
                  </a:tcPr>
                </a:tc>
                <a:tc>
                  <a:txBody>
                    <a:bodyPr>
                      <a:noAutofit/>
                    </a:bodyPr>
                    <a:lstStyle/>
                    <a:p>
                      <a:pPr algn="l"/>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CFD5DD"/>
                      </a:solidFill>
                    </a:lnT>
                    <a:lnB w="6350">
                      <a:solidFill>
                        <a:srgbClr val="CFD5DD"/>
                      </a:solidFill>
                    </a:lnB>
                    <a:solidFill>
                      <a:srgbClr val="EAF8FC"/>
                    </a:solidFill>
                  </a:tcPr>
                </a:tc>
              </a:tr>
              <a:tr h="723900">
                <a:tc>
                  <a:txBody>
                    <a:bodyPr>
                      <a:noAutofit/>
                    </a:bodyPr>
                    <a:lstStyle/>
                    <a:p>
                      <a:pPr algn="ctr"/>
                      <a:r>
                        <a:rPr sz="1725" b="1">
                          <a:solidFill>
                            <a:srgbClr val="07182A"/>
                          </a:solidFill>
                          <a:latin typeface="CiscoSansTT Medium"/>
                          <a:ea typeface="CiscoSansTT Medium"/>
                          <a:cs typeface="CiscoSansTT Medium"/>
                        </a:rPr>
                        <a:t>C</a:t>
                      </a:r>
                    </a:p>
                    <a:p>
                      <a:pPr algn="ctr"/>
                      <a:r>
                        <a:rPr sz="1725" b="1">
                          <a:solidFill>
                            <a:srgbClr val="07182A"/>
                          </a:solidFill>
                          <a:latin typeface="CiscoSansTT Medium"/>
                          <a:ea typeface="CiscoSansTT Medium"/>
                          <a:cs typeface="CiscoSansTT Medium"/>
                        </a:rPr>
                        <a:t>Planned</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725" b="0">
                          <a:solidFill>
                            <a:srgbClr val="07182A"/>
                          </a:solidFill>
                          <a:latin typeface="CiscoSansTT"/>
                          <a:ea typeface="CiscoSansTT"/>
                          <a:cs typeface="CiscoSansTT"/>
                        </a:rPr>
                        <a:t>Flows (L3/L4)</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725" b="0">
                          <a:solidFill>
                            <a:srgbClr val="07182A"/>
                          </a:solidFill>
                          <a:latin typeface="CiscoSansTT"/>
                          <a:ea typeface="CiscoSansTT"/>
                          <a:cs typeface="CiscoSansTT"/>
                        </a:rPr>
                        <a:t>RED metrics only</a:t>
                      </a:r>
                    </a:p>
                    <a:p>
                      <a:pPr algn="l"/>
                      <a:r>
                        <a:rPr sz="1725" b="0">
                          <a:solidFill>
                            <a:srgbClr val="07182A"/>
                          </a:solidFill>
                          <a:latin typeface="CiscoSansTT"/>
                          <a:ea typeface="CiscoSansTT"/>
                          <a:cs typeface="CiscoSansTT"/>
                        </a:rPr>
                        <a:t>No traces or TCP propagation</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r>
              <a:tr h="723900">
                <a:tc>
                  <a:txBody>
                    <a:bodyPr>
                      <a:noAutofit/>
                    </a:bodyPr>
                    <a:lstStyle/>
                    <a:p>
                      <a:pPr algn="ctr"/>
                      <a:r>
                        <a:rPr sz="1725" b="1">
                          <a:solidFill>
                            <a:srgbClr val="FF007F"/>
                          </a:solidFill>
                          <a:latin typeface="CiscoSansTT Medium"/>
                          <a:ea typeface="CiscoSansTT Medium"/>
                          <a:cs typeface="CiscoSansTT Medium"/>
                        </a:rPr>
                        <a:t>D</a:t>
                      </a:r>
                    </a:p>
                    <a:p>
                      <a:pPr algn="ctr"/>
                      <a:r>
                        <a:rPr sz="1725" b="1">
                          <a:solidFill>
                            <a:srgbClr val="FF007F"/>
                          </a:solidFill>
                          <a:latin typeface="CiscoSansTT Medium"/>
                          <a:ea typeface="CiscoSansTT Medium"/>
                          <a:cs typeface="CiscoSansTT Medium"/>
                        </a:rPr>
                        <a:t>Measured</a:t>
                      </a:r>
                    </a:p>
                  </a:txBody>
                  <a:tcPr marL="91440" marR="91440" marT="45720" marB="45720" anchor="ctr">
                    <a:lnL w="0">
                      <a:noFill/>
                    </a:lnL>
                    <a:lnR w="0">
                      <a:noFill/>
                    </a:lnR>
                    <a:lnT w="6350">
                      <a:solidFill>
                        <a:srgbClr val="CFD5DD"/>
                      </a:solidFill>
                    </a:lnT>
                    <a:lnB w="6350">
                      <a:solidFill>
                        <a:srgbClr val="CFD5DD"/>
                      </a:solidFill>
                    </a:lnB>
                    <a:solidFill>
                      <a:srgbClr val="F6ECF5"/>
                    </a:solidFill>
                  </a:tcPr>
                </a:tc>
                <a:tc>
                  <a:txBody>
                    <a:bodyPr>
                      <a:noAutofit/>
                    </a:bodyPr>
                    <a:lstStyle/>
                    <a:p>
                      <a:pPr algn="l"/>
                      <a:r>
                        <a:rPr sz="1725" b="0">
                          <a:solidFill>
                            <a:srgbClr val="07182A"/>
                          </a:solidFill>
                          <a:latin typeface="CiscoSansTT"/>
                          <a:ea typeface="CiscoSansTT"/>
                          <a:cs typeface="CiscoSansTT"/>
                        </a:rPr>
                        <a:t>Flows (L3/L4)</a:t>
                      </a:r>
                    </a:p>
                  </a:txBody>
                  <a:tcPr marL="91440" marR="91440" marT="45720" marB="45720" anchor="ctr">
                    <a:lnL w="0">
                      <a:noFill/>
                    </a:lnL>
                    <a:lnR w="0">
                      <a:noFill/>
                    </a:lnR>
                    <a:lnT w="6350">
                      <a:solidFill>
                        <a:srgbClr val="CFD5DD"/>
                      </a:solidFill>
                    </a:lnT>
                    <a:lnB w="6350">
                      <a:solidFill>
                        <a:srgbClr val="CFD5DD"/>
                      </a:solidFill>
                    </a:lnB>
                    <a:solidFill>
                      <a:srgbClr val="F6ECF5"/>
                    </a:solidFill>
                  </a:tcPr>
                </a:tc>
                <a:tc>
                  <a:txBody>
                    <a:bodyPr>
                      <a:noAutofit/>
                    </a:bodyPr>
                    <a:lstStyle/>
                    <a:p>
                      <a:pPr algn="l"/>
                      <a:r>
                        <a:rPr sz="1725" b="0">
                          <a:solidFill>
                            <a:srgbClr val="07182A"/>
                          </a:solidFill>
                          <a:latin typeface="CiscoSansTT"/>
                          <a:ea typeface="CiscoSansTT"/>
                          <a:cs typeface="CiscoSansTT"/>
                        </a:rPr>
                        <a:t>RED metrics + traces</a:t>
                      </a:r>
                    </a:p>
                    <a:p>
                      <a:pPr algn="l"/>
                      <a:r>
                        <a:rPr sz="1725" b="0">
                          <a:solidFill>
                            <a:srgbClr val="07182A"/>
                          </a:solidFill>
                          <a:latin typeface="CiscoSansTT"/>
                          <a:ea typeface="CiscoSansTT"/>
                          <a:cs typeface="CiscoSansTT"/>
                        </a:rPr>
                        <a:t>TCP propagation (TCX)</a:t>
                      </a:r>
                    </a:p>
                  </a:txBody>
                  <a:tcPr marL="91440" marR="91440" marT="45720" marB="45720" anchor="ctr">
                    <a:lnL w="0">
                      <a:noFill/>
                    </a:lnL>
                    <a:lnR w="0">
                      <a:noFill/>
                    </a:lnR>
                    <a:lnT w="6350">
                      <a:solidFill>
                        <a:srgbClr val="CFD5DD"/>
                      </a:solidFill>
                    </a:lnT>
                    <a:lnB w="6350">
                      <a:solidFill>
                        <a:srgbClr val="CFD5DD"/>
                      </a:solidFill>
                    </a:lnB>
                    <a:solidFill>
                      <a:srgbClr val="F6ECF5"/>
                    </a:solidFill>
                  </a:tcPr>
                </a:tc>
              </a:tr>
              <a:tr h="723900">
                <a:tc>
                  <a:txBody>
                    <a:bodyPr>
                      <a:noAutofit/>
                    </a:bodyPr>
                    <a:lstStyle/>
                    <a:p>
                      <a:pPr algn="ctr"/>
                      <a:r>
                        <a:rPr sz="1725" b="1">
                          <a:solidFill>
                            <a:srgbClr val="07182A"/>
                          </a:solidFill>
                          <a:latin typeface="CiscoSansTT Medium"/>
                          <a:ea typeface="CiscoSansTT Medium"/>
                          <a:cs typeface="CiscoSansTT Medium"/>
                        </a:rPr>
                        <a:t>E</a:t>
                      </a:r>
                    </a:p>
                    <a:p>
                      <a:pPr algn="ctr"/>
                      <a:r>
                        <a:rPr sz="1725" b="1">
                          <a:solidFill>
                            <a:srgbClr val="07182A"/>
                          </a:solidFill>
                          <a:latin typeface="CiscoSansTT Medium"/>
                          <a:ea typeface="CiscoSansTT Medium"/>
                          <a:cs typeface="CiscoSansTT Medium"/>
                        </a:rPr>
                        <a:t>Planned</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725" b="0">
                          <a:solidFill>
                            <a:srgbClr val="07182A"/>
                          </a:solidFill>
                          <a:latin typeface="CiscoSansTT"/>
                          <a:ea typeface="CiscoSansTT"/>
                          <a:cs typeface="CiscoSansTT"/>
                        </a:rPr>
                        <a:t>Flows (L3/L4)</a:t>
                      </a:r>
                    </a:p>
                    <a:p>
                      <a:pPr algn="l"/>
                      <a:r>
                        <a:rPr sz="1725" b="0">
                          <a:solidFill>
                            <a:srgbClr val="07182A"/>
                          </a:solidFill>
                          <a:latin typeface="CiscoSansTT"/>
                          <a:ea typeface="CiscoSansTT"/>
                          <a:cs typeface="CiscoSansTT"/>
                        </a:rPr>
                        <a:t>+ L7 via Envoy</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c>
                  <a:txBody>
                    <a:bodyPr>
                      <a:noAutofit/>
                    </a:bodyPr>
                    <a:lstStyle/>
                    <a:p>
                      <a:pPr algn="l"/>
                      <a:r>
                        <a:rPr sz="1725" b="0">
                          <a:solidFill>
                            <a:srgbClr val="07182A"/>
                          </a:solidFill>
                          <a:latin typeface="CiscoSansTT"/>
                          <a:ea typeface="CiscoSansTT"/>
                          <a:cs typeface="CiscoSansTT"/>
                        </a:rPr>
                        <a:t>RED metrics + traces</a:t>
                      </a:r>
                    </a:p>
                    <a:p>
                      <a:pPr algn="l"/>
                      <a:r>
                        <a:rPr sz="1725" b="0">
                          <a:solidFill>
                            <a:srgbClr val="07182A"/>
                          </a:solidFill>
                          <a:latin typeface="CiscoSansTT"/>
                          <a:ea typeface="CiscoSansTT"/>
                          <a:cs typeface="CiscoSansTT"/>
                        </a:rPr>
                        <a:t>TCP propagation (TCX)</a:t>
                      </a:r>
                    </a:p>
                  </a:txBody>
                  <a:tcPr marL="91440" marR="91440" marT="45720" marB="45720" anchor="ctr">
                    <a:lnL w="0">
                      <a:noFill/>
                    </a:lnL>
                    <a:lnR w="0">
                      <a:noFill/>
                    </a:lnR>
                    <a:lnT w="6350">
                      <a:solidFill>
                        <a:srgbClr val="CFD5DD"/>
                      </a:solidFill>
                    </a:lnT>
                    <a:lnB w="6350">
                      <a:solidFill>
                        <a:srgbClr val="CFD5DD"/>
                      </a:solidFill>
                    </a:lnB>
                    <a:solidFill>
                      <a:srgbClr val="FFFFFF"/>
                    </a:solidFill>
                  </a:tcPr>
                </a:tc>
              </a:tr>
            </a:tbl>
          </a:graphicData>
        </a:graphic>
      </p:graphicFrame>
      <p:sp>
        <p:nvSpPr>
          <p:cNvPr id="22" name="scenario-controls">
            <a:extLst xmlns:a="http://schemas.openxmlformats.org/drawingml/2006/main">
              <a:ext uri="{FF2B5EF4-FFF2-40B4-BE49-F238E27FC236}">
                <a16:creationId xmlns:a16="http://schemas.microsoft.com/office/drawing/2014/main" id="{213A8E4D-17B5-49BB-BEBF-5F432814CCC0}"/>
              </a:ext>
            </a:extLst>
          </p:cNvPr>
          <p:cNvSpPr>
            <a:spLocks xmlns:a="http://schemas.openxmlformats.org/drawingml/2006/main" noGrp="1"/>
          </p:cNvSpPr>
          <p:nvPr/>
        </p:nvSpPr>
        <p:spPr>
          <a:xfrm xmlns:a="http://schemas.openxmlformats.org/drawingml/2006/main">
            <a:off x="762000" y="59340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a:extLst>
              <a:ext uri="{FF2B5EF4-FFF2-40B4-BE49-F238E27FC236}">
                <a16:creationId xmlns:a16="http://schemas.microsoft.com/office/drawing/2014/main" id="{5F6B783C-A950-4497-A579-B6230CCFE40D}"/>
              </a:ext>
            </a:extLst>
          </p:cNvPr>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buNone/>
              <a:defRPr sz="1725" b="1">
                <a:solidFill>
                  <a:srgbClr val="07182A"/>
                </a:solidFill>
                <a:latin typeface="CiscoSansTT Medium"/>
                <a:ea typeface="CiscoSansTT Medium"/>
                <a:cs typeface="CiscoSansTT Medium"/>
              </a:defRPr>
            </a:pPr>
            <a:r>
              <a:rPr sz="1725" b="1" dirty="0">
                <a:solidFill>
                  <a:srgbClr val="07182A"/>
                </a:solidFill>
                <a:latin typeface="CiscoSansTT Medium"/>
                <a:ea typeface="CiscoSansTT Medium"/>
                <a:cs typeface="CiscoSansTT Medium"/>
              </a:rPr>
              <a:t>D exported 7,210 spans.</a:t>
            </a:r>
          </a:p>
        </p:txBody>
      </p:sp>
    </p:spTree>
    <p:extLst>
      <p:ext uri="{BB962C8B-B14F-4D97-AF65-F5344CB8AC3E}">
        <p14:creationId xmlns:p14="http://schemas.microsoft.com/office/powerpoint/2010/main" val="617371277"/>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4" name="rollout-number-1">
            <a:extLst>
              <a:ext uri="{FF2B5EF4-FFF2-40B4-BE49-F238E27FC236}">
                <a16:creationId xmlns:a16="http://schemas.microsoft.com/office/drawing/2014/main" id="{9308E42D-368D-42DF-BAAF-1095889907AF}"/>
              </a:ext>
            </a:extLst>
          </p:cNvPr>
          <p:cNvSpPr>
            <a:spLocks noGrp="1"/>
          </p:cNvSpPr>
          <p:nvPr/>
        </p:nvSpPr>
        <p:spPr>
          <a:xfrm>
            <a:off x="199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25" name="rollout-number-text-1">
            <a:extLst>
              <a:ext uri="{FF2B5EF4-FFF2-40B4-BE49-F238E27FC236}">
                <a16:creationId xmlns:a16="http://schemas.microsoft.com/office/drawing/2014/main" id="{619226F0-2C55-4B95-86FA-7FF888CBDC86}"/>
              </a:ext>
            </a:extLst>
          </p:cNvPr>
          <p:cNvSpPr>
            <a:spLocks noGrp="1"/>
          </p:cNvSpPr>
          <p:nvPr/>
        </p:nvSpPr>
        <p:spPr>
          <a:xfrm>
            <a:off x="199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1</a:t>
            </a:r>
          </a:p>
        </p:txBody>
      </p:sp>
      <p:sp>
        <p:nvSpPr>
          <p:cNvPr id="26" name="rollout-stage-1">
            <a:extLst>
              <a:ext uri="{FF2B5EF4-FFF2-40B4-BE49-F238E27FC236}">
                <a16:creationId xmlns:a16="http://schemas.microsoft.com/office/drawing/2014/main" id="{0D9F601A-DCFA-40AE-9459-F28334FCE873}"/>
              </a:ext>
            </a:extLst>
          </p:cNvPr>
          <p:cNvSpPr>
            <a:spLocks noGrp="1"/>
          </p:cNvSpPr>
          <p:nvPr/>
        </p:nvSpPr>
        <p:spPr>
          <a:xfrm>
            <a:off x="85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27" name="rollout-heading-1">
            <a:extLst>
              <a:ext uri="{FF2B5EF4-FFF2-40B4-BE49-F238E27FC236}">
                <a16:creationId xmlns:a16="http://schemas.microsoft.com/office/drawing/2014/main" id="{4DADEB56-54C0-4C4E-97F2-0BFC936E3F54}"/>
              </a:ext>
            </a:extLst>
          </p:cNvPr>
          <p:cNvSpPr>
            <a:spLocks noGrp="1"/>
          </p:cNvSpPr>
          <p:nvPr/>
        </p:nvSpPr>
        <p:spPr>
          <a:xfrm>
            <a:off x="95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Start small</a:t>
            </a:r>
          </a:p>
        </p:txBody>
      </p:sp>
      <p:sp>
        <p:nvSpPr>
          <p:cNvPr id="28" name="rollout-detail-1">
            <a:extLst>
              <a:ext uri="{FF2B5EF4-FFF2-40B4-BE49-F238E27FC236}">
                <a16:creationId xmlns:a16="http://schemas.microsoft.com/office/drawing/2014/main" id="{A6BA2584-1CA0-4DCB-9D32-CE2A9205A391}"/>
              </a:ext>
            </a:extLst>
          </p:cNvPr>
          <p:cNvSpPr>
            <a:spLocks noGrp="1"/>
          </p:cNvSpPr>
          <p:nvPr/>
        </p:nvSpPr>
        <p:spPr>
          <a:xfrm>
            <a:off x="76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Enable OBI on</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 few nodes.</a:t>
            </a:r>
          </a:p>
        </p:txBody>
      </p:sp>
      <p:cxnSp>
        <p:nvCxnSpPr>
          <p:cNvPr id="29" name="rollout-arrow-1">
            <a:extLst>
              <a:ext uri="{FF2B5EF4-FFF2-40B4-BE49-F238E27FC236}">
                <a16:creationId xmlns:a16="http://schemas.microsoft.com/office/drawing/2014/main" id="{0179766C-AD8A-4FD1-A004-F5D775C68530}"/>
              </a:ext>
            </a:extLst>
          </p:cNvPr>
          <p:cNvCxnSpPr/>
          <p:nvPr/>
        </p:nvCxnSpPr>
        <p:spPr>
          <a:xfrm>
            <a:off x="3714750" y="2667000"/>
            <a:ext cx="952500" cy="0"/>
          </a:xfrm>
          <a:prstGeom prst="straightConnector1">
            <a:avLst/>
          </a:prstGeom>
          <a:ln w="19050">
            <a:solidFill>
              <a:srgbClr val="07182A"/>
            </a:solidFill>
            <a:tailEnd type="arrow" w="med" len="med"/>
          </a:ln>
        </p:spPr>
      </p:cxnSp>
      <p:sp>
        <p:nvSpPr>
          <p:cNvPr id="30" name="rollout-number-2">
            <a:extLst>
              <a:ext uri="{FF2B5EF4-FFF2-40B4-BE49-F238E27FC236}">
                <a16:creationId xmlns:a16="http://schemas.microsoft.com/office/drawing/2014/main" id="{A100CE3B-3491-4B9A-857A-EEB73D75781E}"/>
              </a:ext>
            </a:extLst>
          </p:cNvPr>
          <p:cNvSpPr>
            <a:spLocks noGrp="1"/>
          </p:cNvSpPr>
          <p:nvPr/>
        </p:nvSpPr>
        <p:spPr>
          <a:xfrm>
            <a:off x="580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31" name="rollout-number-text-2">
            <a:extLst>
              <a:ext uri="{FF2B5EF4-FFF2-40B4-BE49-F238E27FC236}">
                <a16:creationId xmlns:a16="http://schemas.microsoft.com/office/drawing/2014/main" id="{40545FEE-4643-46CC-A839-77140AB8174D}"/>
              </a:ext>
            </a:extLst>
          </p:cNvPr>
          <p:cNvSpPr>
            <a:spLocks noGrp="1"/>
          </p:cNvSpPr>
          <p:nvPr/>
        </p:nvSpPr>
        <p:spPr>
          <a:xfrm>
            <a:off x="580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2</a:t>
            </a:r>
          </a:p>
        </p:txBody>
      </p:sp>
      <p:sp>
        <p:nvSpPr>
          <p:cNvPr id="32" name="rollout-stage-2">
            <a:extLst>
              <a:ext uri="{FF2B5EF4-FFF2-40B4-BE49-F238E27FC236}">
                <a16:creationId xmlns:a16="http://schemas.microsoft.com/office/drawing/2014/main" id="{45EF45FE-6984-4B14-9E82-02158503DC49}"/>
              </a:ext>
            </a:extLst>
          </p:cNvPr>
          <p:cNvSpPr>
            <a:spLocks noGrp="1"/>
          </p:cNvSpPr>
          <p:nvPr/>
        </p:nvSpPr>
        <p:spPr>
          <a:xfrm>
            <a:off x="466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33" name="rollout-heading-2">
            <a:extLst>
              <a:ext uri="{FF2B5EF4-FFF2-40B4-BE49-F238E27FC236}">
                <a16:creationId xmlns:a16="http://schemas.microsoft.com/office/drawing/2014/main" id="{B0EE6170-72EB-46BB-9763-23A6455523C9}"/>
              </a:ext>
            </a:extLst>
          </p:cNvPr>
          <p:cNvSpPr>
            <a:spLocks noGrp="1"/>
          </p:cNvSpPr>
          <p:nvPr/>
        </p:nvSpPr>
        <p:spPr>
          <a:xfrm>
            <a:off x="476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Check the results</a:t>
            </a:r>
          </a:p>
        </p:txBody>
      </p:sp>
      <p:sp>
        <p:nvSpPr>
          <p:cNvPr id="34" name="rollout-detail-2">
            <a:extLst>
              <a:ext uri="{FF2B5EF4-FFF2-40B4-BE49-F238E27FC236}">
                <a16:creationId xmlns:a16="http://schemas.microsoft.com/office/drawing/2014/main" id="{C18F365B-6D88-4255-A1FD-1CB128985C00}"/>
              </a:ext>
            </a:extLst>
          </p:cNvPr>
          <p:cNvSpPr>
            <a:spLocks noGrp="1"/>
          </p:cNvSpPr>
          <p:nvPr/>
        </p:nvSpPr>
        <p:spPr>
          <a:xfrm>
            <a:off x="457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Check requests, telemetry,</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and resource use.</a:t>
            </a:r>
          </a:p>
        </p:txBody>
      </p:sp>
      <p:cxnSp>
        <p:nvCxnSpPr>
          <p:cNvPr id="35" name="rollout-arrow-2">
            <a:extLst>
              <a:ext uri="{FF2B5EF4-FFF2-40B4-BE49-F238E27FC236}">
                <a16:creationId xmlns:a16="http://schemas.microsoft.com/office/drawing/2014/main" id="{1B1C721C-EF54-428C-938D-43530224DDCF}"/>
              </a:ext>
            </a:extLst>
          </p:cNvPr>
          <p:cNvCxnSpPr/>
          <p:nvPr/>
        </p:nvCxnSpPr>
        <p:spPr>
          <a:xfrm>
            <a:off x="7524750" y="2667000"/>
            <a:ext cx="952500" cy="0"/>
          </a:xfrm>
          <a:prstGeom prst="straightConnector1">
            <a:avLst/>
          </a:prstGeom>
          <a:ln w="19050">
            <a:solidFill>
              <a:srgbClr val="07182A"/>
            </a:solidFill>
            <a:tailEnd type="arrow" w="med" len="med"/>
          </a:ln>
        </p:spPr>
      </p:cxnSp>
      <p:sp>
        <p:nvSpPr>
          <p:cNvPr id="36" name="rollout-number-3">
            <a:extLst>
              <a:ext uri="{FF2B5EF4-FFF2-40B4-BE49-F238E27FC236}">
                <a16:creationId xmlns:a16="http://schemas.microsoft.com/office/drawing/2014/main" id="{92BA6C3E-B0C9-40CC-9894-53985EFBE5D2}"/>
              </a:ext>
            </a:extLst>
          </p:cNvPr>
          <p:cNvSpPr>
            <a:spLocks noGrp="1"/>
          </p:cNvSpPr>
          <p:nvPr/>
        </p:nvSpPr>
        <p:spPr>
          <a:xfrm>
            <a:off x="9610725" y="1562100"/>
            <a:ext cx="590550" cy="400050"/>
          </a:xfrm>
          <a:prstGeom prst="roundRect">
            <a:avLst>
              <a:gd name="adj" fmla="val 16667"/>
            </a:avLst>
          </a:prstGeom>
          <a:solidFill>
            <a:srgbClr val="29AA61"/>
          </a:solidFill>
          <a:ln w="11906">
            <a:solidFill>
              <a:srgbClr val="29AA61"/>
            </a:solidFill>
          </a:ln>
        </p:spPr>
        <p:txBody>
          <a:bodyPr/>
          <a:lstStyle/>
          <a:p>
            <a:endParaRPr lang="en-ES"/>
          </a:p>
        </p:txBody>
      </p:sp>
      <p:sp>
        <p:nvSpPr>
          <p:cNvPr id="37" name="rollout-number-text-3">
            <a:extLst>
              <a:ext uri="{FF2B5EF4-FFF2-40B4-BE49-F238E27FC236}">
                <a16:creationId xmlns:a16="http://schemas.microsoft.com/office/drawing/2014/main" id="{C1B684A9-18CB-41D7-8F1C-54E4212478EB}"/>
              </a:ext>
            </a:extLst>
          </p:cNvPr>
          <p:cNvSpPr>
            <a:spLocks noGrp="1"/>
          </p:cNvSpPr>
          <p:nvPr/>
        </p:nvSpPr>
        <p:spPr>
          <a:xfrm>
            <a:off x="961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3</a:t>
            </a:r>
          </a:p>
        </p:txBody>
      </p:sp>
      <p:sp>
        <p:nvSpPr>
          <p:cNvPr id="38" name="rollout-stage-3">
            <a:extLst>
              <a:ext uri="{FF2B5EF4-FFF2-40B4-BE49-F238E27FC236}">
                <a16:creationId xmlns:a16="http://schemas.microsoft.com/office/drawing/2014/main" id="{AA730FC7-5D39-4996-9C02-44A69411EE92}"/>
              </a:ext>
            </a:extLst>
          </p:cNvPr>
          <p:cNvSpPr>
            <a:spLocks noGrp="1"/>
          </p:cNvSpPr>
          <p:nvPr/>
        </p:nvSpPr>
        <p:spPr>
          <a:xfrm>
            <a:off x="8477250" y="2238375"/>
            <a:ext cx="2857500" cy="857250"/>
          </a:xfrm>
          <a:prstGeom prst="roundRect">
            <a:avLst>
              <a:gd name="adj" fmla="val 7778"/>
            </a:avLst>
          </a:prstGeom>
          <a:solidFill>
            <a:srgbClr val="EDF7F0"/>
          </a:solidFill>
          <a:ln w="11906">
            <a:solidFill>
              <a:srgbClr val="29AA61"/>
            </a:solidFill>
          </a:ln>
        </p:spPr>
        <p:txBody>
          <a:bodyPr/>
          <a:lstStyle/>
          <a:p>
            <a:endParaRPr lang="en-ES"/>
          </a:p>
        </p:txBody>
      </p:sp>
      <p:sp>
        <p:nvSpPr>
          <p:cNvPr id="39" name="rollout-heading-3">
            <a:extLst>
              <a:ext uri="{FF2B5EF4-FFF2-40B4-BE49-F238E27FC236}">
                <a16:creationId xmlns:a16="http://schemas.microsoft.com/office/drawing/2014/main" id="{CAC2F09C-EE61-4C50-92EF-A2C57C3D5311}"/>
              </a:ext>
            </a:extLst>
          </p:cNvPr>
          <p:cNvSpPr>
            <a:spLocks noGrp="1"/>
          </p:cNvSpPr>
          <p:nvPr/>
        </p:nvSpPr>
        <p:spPr>
          <a:xfrm>
            <a:off x="857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Expand gradually</a:t>
            </a:r>
          </a:p>
        </p:txBody>
      </p:sp>
      <p:sp>
        <p:nvSpPr>
          <p:cNvPr id="40" name="rollout-detail-3">
            <a:extLst>
              <a:ext uri="{FF2B5EF4-FFF2-40B4-BE49-F238E27FC236}">
                <a16:creationId xmlns:a16="http://schemas.microsoft.com/office/drawing/2014/main" id="{D57A334E-42B1-4AFE-8D9C-3D300F40F752}"/>
              </a:ext>
            </a:extLst>
          </p:cNvPr>
          <p:cNvSpPr>
            <a:spLocks noGrp="1"/>
          </p:cNvSpPr>
          <p:nvPr/>
        </p:nvSpPr>
        <p:spPr>
          <a:xfrm>
            <a:off x="838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Add more nodes</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when checks pass.</a:t>
            </a:r>
          </a:p>
        </p:txBody>
      </p:sp>
      <p:sp>
        <p:nvSpPr>
          <p:cNvPr id="41" name="rollout-rollback-background">
            <a:extLst>
              <a:ext uri="{FF2B5EF4-FFF2-40B4-BE49-F238E27FC236}">
                <a16:creationId xmlns:a16="http://schemas.microsoft.com/office/drawing/2014/main" id="{6420A510-A7D3-4C46-9EC4-A9B23720F370}"/>
              </a:ext>
            </a:extLst>
          </p:cNvPr>
          <p:cNvSpPr>
            <a:spLocks noGrp="1"/>
          </p:cNvSpPr>
          <p:nvPr/>
        </p:nvSpPr>
        <p:spPr>
          <a:xfrm>
            <a:off x="1219200" y="4838700"/>
            <a:ext cx="9753600" cy="857250"/>
          </a:xfrm>
          <a:prstGeom prst="roundRect">
            <a:avLst>
              <a:gd name="adj" fmla="val 7778"/>
            </a:avLst>
          </a:prstGeom>
          <a:solidFill>
            <a:srgbClr val="F4F6F7"/>
          </a:solidFill>
          <a:ln w="11906">
            <a:solidFill>
              <a:srgbClr val="D6DDE3"/>
            </a:solidFill>
          </a:ln>
        </p:spPr>
        <p:txBody>
          <a:bodyPr/>
          <a:lstStyle/>
          <a:p>
            <a:endParaRPr lang="en-ES"/>
          </a:p>
        </p:txBody>
      </p:sp>
      <p:sp>
        <p:nvSpPr>
          <p:cNvPr id="42" name="rollout-rollback">
            <a:extLst>
              <a:ext uri="{FF2B5EF4-FFF2-40B4-BE49-F238E27FC236}">
                <a16:creationId xmlns:a16="http://schemas.microsoft.com/office/drawing/2014/main" id="{DB47BD46-21DC-47C2-87C2-9413DBB62336}"/>
              </a:ext>
            </a:extLst>
          </p:cNvPr>
          <p:cNvSpPr>
            <a:spLocks noGrp="1"/>
          </p:cNvSpPr>
          <p:nvPr/>
        </p:nvSpPr>
        <p:spPr>
          <a:xfrm>
            <a:off x="1619250" y="5019675"/>
            <a:ext cx="8953500" cy="495300"/>
          </a:xfrm>
          <a:prstGeom prst="rect">
            <a:avLst/>
          </a:prstGeom>
          <a:noFill/>
          <a:ln w="0">
            <a:noFill/>
          </a:ln>
        </p:spPr>
        <p:txBody>
          <a:bodyPr anchor="ctr">
            <a:noAutofit/>
          </a:bodyPr>
          <a:lstStyle>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If a check fails, stop and restore the previous setup.</a:t>
            </a:r>
          </a:p>
        </p:txBody>
      </p:sp>
    </p:spTree>
    <p:extLst>
      <p:ext uri="{BB962C8B-B14F-4D97-AF65-F5344CB8AC3E}">
        <p14:creationId xmlns:p14="http://schemas.microsoft.com/office/powerpoint/2010/main" val="315884920"/>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7976" lnSpcReduction="10000"/>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7976" lnSpcReduction="10000"/>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216</TotalTime>
  <Words>7649</Words>
  <Application>Microsoft Macintosh PowerPoint</Application>
  <DocSecurity>0</DocSecurity>
  <PresentationFormat>Widescreen</PresentationFormat>
  <Paragraphs>752</Paragraphs>
  <Slides>37</Slides>
  <Notes>37</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CiscoSansTT Medium</vt:lpstr>
      <vt:lpstr>CiscoSansTT</vt:lpstr>
      <vt:lpstr>Calibri</vt:lpstr>
      <vt:lpstr>Arial</vt:lpstr>
      <vt:lpstr>Cisco Light 05-21-2025</vt:lpstr>
      <vt:lpstr>Two eBPF Systems, One Kubernetes Node</vt:lpstr>
      <vt:lpstr>PowerPoint Presentation</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PowerPoint Presentation</vt:lpstr>
      <vt:lpstr>Appendix</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10</cp:revision>
  <dcterms:created xsi:type="dcterms:W3CDTF">2026-09-27T17:17:35Z</dcterms:created>
  <dcterms:modified xsi:type="dcterms:W3CDTF">2026-10-30T09:25:04Z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