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77"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50302020102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61"/>
    <p:restoredTop sz="79177"/>
  </p:normalViewPr>
  <p:slideViewPr>
    <p:cSldViewPr snapToGrid="0">
      <p:cViewPr varScale="1">
        <p:scale>
          <a:sx n="177" d="100"/>
          <a:sy n="177" d="100"/>
        </p:scale>
        <p:origin x="24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OBI has an optional network collector as well as application instrumentation. It counts bytes and packets between endpoints. Kubernetes metadata can identify the source and destination workloads.</a:t>
            </a:r>
          </a:p>
          <a:p>
            <a:endParaRPr/>
          </a:p>
          <a:p>
            <a:r>
              <a:t>Use these metrics to find services that send the most traffic, or to export traffic volume through an OpenTelemetry pipeline.</a:t>
            </a:r>
          </a:p>
          <a:p>
            <a:endParaRPr/>
          </a:p>
          <a:p>
            <a:r>
              <a:t>These network-volume counters do not provide the Cilium policy record that says Policy denied. Hubble and OBI may also count traffic differently because they observe and aggregate it at different points.</a:t>
            </a:r>
          </a:p>
          <a:p>
            <a:endParaRPr/>
          </a:p>
          <a:p>
            <a:r>
              <a:t>When enabling OBI network collection alongside Cilium, choose network.source: socket_filter. Limit labels to the dimensions you need, because many endpoint and port combinations can create many metric series.</a:t>
            </a:r>
          </a:p>
          <a:p>
            <a:endParaRPr/>
          </a:p>
          <a:p>
            <a:r>
              <a:t>Optional network-volume collection is separate from application tracing and TCP trace-context propagation. Disabling the network-volume collector does not disable those application features.</a:t>
            </a:r>
          </a:p>
          <a:p>
            <a:endParaRPr/>
          </a:p>
          <a:p>
            <a:r>
              <a:t>Transition: the next section explains the shared kernel hooks and why attachment order matters.</a:t>
            </a:r>
          </a:p>
          <a:p>
            <a:endParaRPr/>
          </a:p>
          <a:p>
            <a:r>
              <a:t>Sources:</a:t>
            </a:r>
          </a:p>
          <a:p>
            <a:r>
              <a:t>- https://opentelemetry.io/docs/zero-code/obi/network/</a:t>
            </a:r>
          </a:p>
          <a:p>
            <a:r>
              <a:t>- https://opentelemetry.io/docs/zero-code/obi/network/config/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a:t>
            </a:r>
          </a:p>
          <a:p>
            <a:endParaRPr dirty="0"/>
          </a:p>
          <a:p>
            <a:r>
              <a:rPr dirty="0"/>
              <a:t>Start with the packet path from the application process to the host-side </a:t>
            </a:r>
            <a:r>
              <a:rPr dirty="0" err="1"/>
              <a:t>veth</a:t>
            </a:r>
            <a:r>
              <a:rPr dirty="0"/>
              <a:t> and network. A </a:t>
            </a:r>
            <a:r>
              <a:rPr dirty="0" err="1"/>
              <a:t>veth</a:t>
            </a:r>
            <a:r>
              <a:rPr dirty="0"/>
              <a:t> pair is the virtual link between pod and node. Focus on the dark panel: the host-side interface has TC ingress and TC egress hooks. Ingress means a packet arrives at that interface; egress means it leaves.</a:t>
            </a:r>
          </a:p>
          <a:p>
            <a:endParaRPr dirty="0"/>
          </a:p>
          <a:p>
            <a:r>
              <a:rPr dirty="0"/>
              <a:t>With OBI TCP context propagation enabled, OBI can attach a traffic-control classifier program to those hooks to carry trace context. Cilium also uses traffic-control classifier programs for the </a:t>
            </a:r>
            <a:r>
              <a:rPr dirty="0" err="1"/>
              <a:t>datapath</a:t>
            </a:r>
            <a:r>
              <a:rPr dirty="0"/>
              <a:t>. The exact kernel program type is BPF_PROG_TYPE_SCHED_CLS, but keep that name in the notes unless someone asks. The important idea is that both programs can share an ordered chain at the same hook. Neither agent owns TC exclusively.</a:t>
            </a:r>
          </a:p>
          <a:p>
            <a:endParaRPr dirty="0"/>
          </a:p>
          <a:p>
            <a:r>
              <a:rPr dirty="0"/>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dirty="0"/>
          </a:p>
          <a:p>
            <a:r>
              <a:rPr dirty="0"/>
              <a:t>Transition: the next slide shows why program order matters, followed by TCX and </a:t>
            </a:r>
            <a:r>
              <a:rPr dirty="0" err="1"/>
              <a:t>Netlink</a:t>
            </a:r>
            <a:r>
              <a:rPr dirty="0"/>
              <a:t> fallback.</a:t>
            </a:r>
          </a:p>
          <a:p>
            <a:endParaRPr dirty="0"/>
          </a:p>
          <a:p>
            <a:r>
              <a:rPr dirty="0"/>
              <a:t>Sources:</a:t>
            </a:r>
          </a:p>
          <a:p>
            <a:r>
              <a:rPr dirty="0"/>
              <a:t>- https://</a:t>
            </a:r>
            <a:r>
              <a:rPr dirty="0" err="1"/>
              <a:t>opentelemetry.io</a:t>
            </a:r>
            <a:r>
              <a:rPr dirty="0"/>
              <a:t>/docs/zero-code/obi/cilium-compatibility/</a:t>
            </a:r>
          </a:p>
          <a:p>
            <a:r>
              <a:rPr dirty="0"/>
              <a:t>- https://</a:t>
            </a:r>
            <a:r>
              <a:rPr dirty="0" err="1"/>
              <a:t>opentelemetry.io</a:t>
            </a:r>
            <a:r>
              <a:rPr dirty="0"/>
              <a:t>/docs/zero-code/obi/configure/metrics-traces-attributes/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 is the Linux traffic-control subsystem that provides the packet checkpoints. TCX is the newer API for attaching eBPF programs at those checkpoints. Here, agents request first or last positions instead of coordinating legacy filter-priority numbers.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 Play the video.</a:t>
            </a:r>
          </a:p>
          <a:p>
            <a:endParaRPr dirty="0"/>
          </a:p>
          <a:p>
            <a:r>
              <a:rPr dirty="0"/>
              <a:t>This compares two separate test clusters. Both use Cilium 1.20.2 and OBI v0.13.0. TCX is off, so the older TC mechanism uses priority numbers. A lower number runs earlier.</a:t>
            </a:r>
          </a:p>
          <a:p>
            <a:endParaRPr dirty="0"/>
          </a:p>
          <a:p>
            <a:r>
              <a:rPr dirty="0"/>
              <a:t>LEFT: Cilium uses priority 1. OBI detects that conflict and stops itself. That is why OBI shows 0/1 ready. The nginx request still returns HTTP 200: the application network continues to work while OBI is unavailable.</a:t>
            </a:r>
          </a:p>
          <a:p>
            <a:endParaRPr dirty="0"/>
          </a:p>
          <a:p>
            <a:r>
              <a:rPr dirty="0"/>
              <a:t>RIGHT: a fresh cluster uses Cilium priority 2. OBI can install its filter at priority 1, ahead of Cilium. OBI shows 1/1 ready and prints an HTTP span. The nginx request also returns HTTP 200.</a:t>
            </a:r>
          </a:p>
          <a:p>
            <a:endParaRPr dirty="0"/>
          </a:p>
          <a:p>
            <a:r>
              <a:rPr dirty="0"/>
              <a:t>What this teaches: check application health AND observability health. A successful request does not tell us that OBI is running or producing data.</a:t>
            </a:r>
          </a:p>
          <a:p>
            <a:endParaRPr dirty="0"/>
          </a:p>
          <a:p>
            <a:r>
              <a:rPr dirty="0"/>
              <a:t>Scope: this recording enables OBI's optional </a:t>
            </a:r>
            <a:r>
              <a:rPr dirty="0" err="1"/>
              <a:t>network.source</a:t>
            </a:r>
            <a:r>
              <a:rPr dirty="0"/>
              <a:t>: </a:t>
            </a:r>
            <a:r>
              <a:rPr dirty="0" err="1"/>
              <a:t>tc</a:t>
            </a:r>
            <a:r>
              <a:rPr dirty="0"/>
              <a:t> mode. Our application-only OBI configuration did not trigger this startup guard. The two sides are saved outputs from separate runs, replayed for the talk.</a:t>
            </a:r>
          </a:p>
          <a:p>
            <a:endParaRPr dirty="0"/>
          </a:p>
          <a:p>
            <a:r>
              <a:rPr dirty="0"/>
              <a:t>Sources:</a:t>
            </a:r>
          </a:p>
          <a:p>
            <a:r>
              <a:rPr dirty="0"/>
              <a:t>- https://</a:t>
            </a:r>
            <a:r>
              <a:rPr dirty="0" err="1"/>
              <a:t>github.com</a:t>
            </a:r>
            <a:r>
              <a:rPr dirty="0"/>
              <a:t>/ajimenez1503/cilium-obi-demo/blob/main/demo/legacy-priority-</a:t>
            </a:r>
            <a:r>
              <a:rPr dirty="0" err="1"/>
              <a:t>recording.md</a:t>
            </a:r>
            <a:endParaRPr dirty="0"/>
          </a:p>
          <a:p>
            <a:r>
              <a:rPr dirty="0"/>
              <a:t>- https://</a:t>
            </a:r>
            <a:r>
              <a:rPr dirty="0" err="1"/>
              <a:t>github.com</a:t>
            </a:r>
            <a:r>
              <a:rPr dirty="0"/>
              <a:t>/ajimenez1503/cilium-obi-demo/tree/main/evidence/legacy-priority-2026-09-27</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a:t>
            </a:r>
          </a:p>
          <a:p>
            <a:endParaRPr/>
          </a:p>
          <a:p>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a:p>
          <a:p>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a:p>
          <a:p>
            <a:r>
              <a:t>Both versions, plus edge-nginx, are selected by the OBI discovery configuration. OBI watches their supported operations and creates spans and RED metrics. The applications do not call OBI as an application dependency.</a:t>
            </a:r>
          </a:p>
          <a:p>
            <a:endParaRPr/>
          </a:p>
          <a:p>
            <a:r>
              <a:t>Cilium and Hubble also cover traffic for all three services. Hubble is not connected only to v1. The diagram's lower arrows represent telemetry exports, not application calls.</a:t>
            </a:r>
          </a:p>
          <a:p>
            <a:endParaRPr/>
          </a:p>
          <a:p>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a:p>
          <a:p>
            <a:r>
              <a:t>For the denial demo, the policy allows v2 to call v1 on port 8081. It blocks edge-nginx from calling v1 directly. That is why the orange direct route is the one we exercise during the failure.</a:t>
            </a:r>
          </a:p>
          <a:p>
            <a:endParaRPr/>
          </a:p>
          <a:p>
            <a:r>
              <a:t>Sources:</a:t>
            </a:r>
          </a:p>
          <a:p>
            <a:r>
              <a:t>- https://github.com/ajimenez1503/cilium-obi-demo/blob/main/demo/obi-values.yaml</a:t>
            </a:r>
          </a:p>
          <a:p>
            <a:r>
              <a:t>- https://github.com/ajimenez1503/cilium-obi-demo/blob/main/demo/policy-deny.yaml</a:t>
            </a:r>
          </a:p>
          <a:p>
            <a:r>
              <a:t>- https://github.com/open-telemetry/opentelemetry-ebpf-instrumentation/tree/main/examples/nginx</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Click the video to play. The edited clip lasts about 30 seconds.</a:t>
            </a:r>
          </a:p>
          <a:p>
            <a:endParaRPr/>
          </a:p>
          <a:p>
            <a:r>
              <a:t>00:00 to 00:08: upper Grafana view. Point to OBI request rate, errors, and latency, then to the network flow and verdict panels. These dashboard totals cover the selected workload and time window, not one isolated request.</a:t>
            </a:r>
          </a:p>
          <a:p>
            <a:endParaRPr/>
          </a:p>
          <a:p>
            <a:r>
              <a:t>00:08 to 00:20: lower Grafana view. There is extra reading time here. Explain the service edges and the network metrics below them. Some frames hold so you can explain the panels.</a:t>
            </a:r>
          </a:p>
          <a:p>
            <a:endParaRPr/>
          </a:p>
          <a:p>
            <a:r>
              <a:t>00:20 to the end: Hubble UI, at its original speed. Follow edge-nginx to recommendations-v2 and recommendations-v2 to recommendations-v1. Point to workload identity, direction, ports, and FORWARDED.</a:t>
            </a:r>
          </a:p>
          <a:p>
            <a:endParaRPr/>
          </a:p>
          <a:p>
            <a:r>
              <a:t>Connect the views by the same time window, namespace, source and destination workload, direction, and port. Grafana contains aggregated Cilium/Hubble metrics. Individual Hubble flow records remain in Relay and Hubble UI. A matching window and workload give investigative context; they do not prove a unique flow-to-trace-ID join.</a:t>
            </a:r>
          </a:p>
          <a:p>
            <a:endParaRPr/>
          </a:p>
          <a:p>
            <a:r>
              <a:t>Sources:</a:t>
            </a:r>
          </a:p>
          <a:p>
            <a:r>
              <a:t>- https://docs.cilium.io/en/stable/observability/hubble/</a:t>
            </a:r>
          </a:p>
          <a:p>
            <a:r>
              <a:t>- https://opentelemetry.io/docs/zero-code/obi/</a:t>
            </a:r>
          </a:p>
          <a:p>
            <a:r>
              <a:t>- https://github.com/ajimenez1503/cilium-obi-demo/blob/main/slides/recordings/presentation-edits.json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These are local kind rehearsal observations for B (Cilium and Hubble, OBI off) and D (Cilium and Hubble plus OBI with TCX). They are not production capacity results. The no-</a:t>
            </a:r>
            <a:r>
              <a:rPr dirty="0" err="1"/>
              <a:t>eBPF</a:t>
            </a:r>
            <a:r>
              <a:rPr dirty="0"/>
              <a:t> reference N and conditions A, C, and E remain unmeasured.</a:t>
            </a:r>
          </a:p>
          <a:p>
            <a:endParaRPr dirty="0"/>
          </a:p>
          <a:p>
            <a:r>
              <a:rPr dirty="0"/>
              <a:t>Both conditions used the same three-node cluster and route. Background demo traffic was paused. Each condition had a 40-request warm-up and five samples of 200 requests at concurrency 20 through </a:t>
            </a:r>
            <a:r>
              <a:rPr dirty="0" err="1"/>
              <a:t>kubectl</a:t>
            </a:r>
            <a:r>
              <a:rPr dirty="0"/>
              <a:t> port-forward. B ran before D, so time-order effects remain possible. Throughput median: B 19.77 req/s; D 19.73 req/s. p95 median: B 1,018 </a:t>
            </a:r>
            <a:r>
              <a:rPr dirty="0" err="1"/>
              <a:t>ms</a:t>
            </a:r>
            <a:r>
              <a:rPr dirty="0"/>
              <a:t>; D 1,020 </a:t>
            </a:r>
            <a:r>
              <a:rPr dirty="0" err="1"/>
              <a:t>ms.</a:t>
            </a:r>
            <a:r>
              <a:rPr dirty="0"/>
              <a:t> There were zero failed requests across 1,000 requests in each condition. OBI used a median 0.0128 CPU cores and 253.2 MiB working set across two pods. The Collector accepted and exported 7,210 spans during D. These numbers describe this single rehearsal only.</a:t>
            </a:r>
          </a:p>
          <a:p>
            <a:endParaRPr dirty="0"/>
          </a:p>
          <a:p>
            <a:r>
              <a:rPr dirty="0"/>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dirty="0"/>
          </a:p>
          <a:p>
            <a:r>
              <a:rPr dirty="0"/>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dirty="0"/>
          </a:p>
          <a:p>
            <a:r>
              <a:rPr dirty="0"/>
              <a:t>Sources:</a:t>
            </a:r>
          </a:p>
          <a:p>
            <a:r>
              <a:rPr dirty="0"/>
              <a:t>- /Users/antonjim/Documents/Playground/cilium-obi-demo/evidence/benchmark-2026-09-26/</a:t>
            </a:r>
            <a:r>
              <a:rPr dirty="0" err="1"/>
              <a:t>results.md</a:t>
            </a:r>
            <a:endParaRPr dirty="0"/>
          </a:p>
          <a:p>
            <a:r>
              <a:rPr dirty="0"/>
              <a:t>- https://</a:t>
            </a:r>
            <a:r>
              <a:rPr dirty="0" err="1"/>
              <a:t>docs.cilium.io</a:t>
            </a:r>
            <a:r>
              <a:rPr dirty="0"/>
              <a:t>/</a:t>
            </a:r>
            <a:r>
              <a:rPr dirty="0" err="1"/>
              <a:t>en</a:t>
            </a:r>
            <a:r>
              <a:rPr dirty="0"/>
              <a:t>/latest/observability/metrics/#lost-events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The idea is to try OBI on a few nodes, check the result, and then expand.</a:t>
            </a:r>
          </a:p>
          <a:p xmlns:a="http://schemas.openxmlformats.org/drawingml/2006/main">
            <a:r>
              <a:t/>
            </a:r>
            <a:endParaRPr/>
          </a:p>
          <a:p xmlns:a="http://schemas.openxmlformats.org/drawingml/2006/main">
            <a:r>
              <a:t>1. Start small. Enable OBI on a few selected nodes first. Before starting, confirm the node requirements, permissions, and attachment settings covered earlier.</a:t>
            </a:r>
          </a:p>
          <a:p xmlns:a="http://schemas.openxmlformats.org/drawingml/2006/main">
            <a:r>
              <a:t/>
            </a:r>
            <a:endParaRPr/>
          </a:p>
          <a:p xmlns:a="http://schemas.openxmlformats.org/drawingml/2006/main">
            <a:r>
              <a:t>2. Check the results. Confirm that normal requests still work and policy still blocks the requests it should block. Check that OBI and Hubble provide the expected telemetry. Compare CPU, memory, missing telemetry, and data volume with the baseline.</a:t>
            </a:r>
          </a:p>
          <a:p xmlns:a="http://schemas.openxmlformats.org/drawingml/2006/main">
            <a:r>
              <a:t/>
            </a:r>
            <a:endParaRPr/>
          </a:p>
          <a:p xmlns:a="http://schemas.openxmlformats.org/drawingml/2006/main">
            <a:r>
              <a:t>3. Expand gradually. If the checks pass, add more nodes and repeat them. If a check fails, stop expanding and restore the previous setup.</a:t>
            </a:r>
          </a:p>
          <a:p xmlns:a="http://schemas.openxmlformats.org/drawingml/2006/main">
            <a:r>
              <a:t/>
            </a:r>
            <a:endParaRPr/>
          </a:p>
          <a:p xmlns:a="http://schemas.openxmlformats.org/drawingml/2006/main">
            <a:r>
              <a:t>Transition: the next slide summarizes the three rules for running both systems.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2.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uses eBPF to observe requests sent or</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received by supported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for supported operations.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F63C1725-D5B0-4F01-BEB5-31162F4096B3}"/>
              </a:ext>
            </a:extLst>
          </p:cNvPr>
          <p:cNvCxnSpPr>
            <a:stCxn id="9" idx="3"/>
            <a:endCxn id="10" idx="1"/>
          </p:cNvCxnSpPr>
          <p:nvPr/>
        </p:nvCxnSpPr>
        <p:spPr>
          <a:xfrm>
            <a:off x="2952750" y="32194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a:ext uri="{FF2B5EF4-FFF2-40B4-BE49-F238E27FC236}">
                <a16:creationId xmlns:a16="http://schemas.microsoft.com/office/drawing/2014/main" id="{9D6C336A-55D5-4177-AF1B-389608688355}"/>
              </a:ext>
            </a:extLst>
          </p:cNvPr>
          <p:cNvSpPr>
            <a:spLocks noGrp="1"/>
          </p:cNvSpPr>
          <p:nvPr/>
        </p:nvSpPr>
        <p:spPr>
          <a:xfrm>
            <a:off x="552450" y="1028700"/>
            <a:ext cx="10668000" cy="457200"/>
          </a:xfrm>
          <a:prstGeom prst="rect">
            <a:avLst/>
          </a:prstGeom>
          <a:noFill/>
          <a:ln w="0">
            <a:noFill/>
          </a:ln>
        </p:spPr>
        <p:txBody>
          <a:bodyPr anchor="t">
            <a:normAutofit fontScale="92500"/>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OBI can add trace context here.                                                       Cilium processes pod traffic here.</a:t>
            </a:r>
          </a:p>
        </p:txBody>
      </p:sp>
      <p:sp>
        <p:nvSpPr>
          <p:cNvPr id="3" name="Rounded Rectangle 2">
            <a:extLst>
              <a:ext uri="{FF2B5EF4-FFF2-40B4-BE49-F238E27FC236}">
                <a16:creationId xmlns:a16="http://schemas.microsoft.com/office/drawing/2014/main" id="{2C6A31FC-F26E-42CD-9AE6-3C77F3A50EB6}"/>
              </a:ext>
            </a:extLst>
          </p:cNvPr>
          <p:cNvSpPr>
            <a:spLocks noGrp="1"/>
          </p:cNvSpPr>
          <p:nvPr/>
        </p:nvSpPr>
        <p:spPr>
          <a:xfrm>
            <a:off x="666750" y="1562100"/>
            <a:ext cx="4762500" cy="781050"/>
          </a:xfrm>
          <a:prstGeom prst="roundRect">
            <a:avLst>
              <a:gd name="adj" fmla="val 9756"/>
            </a:avLst>
          </a:prstGeom>
          <a:solidFill>
            <a:srgbClr val="F9F0F6"/>
          </a:solidFill>
          <a:ln w="14288">
            <a:solidFill>
              <a:srgbClr val="FF007F"/>
            </a:solidFill>
          </a:ln>
        </p:spPr>
        <p:txBody>
          <a:bodyPr/>
          <a:lstStyle/>
          <a:p>
            <a:endParaRPr/>
          </a:p>
        </p:txBody>
      </p:sp>
      <p:sp>
        <p:nvSpPr>
          <p:cNvPr id="4" name="Rectangle 3">
            <a:extLst>
              <a:ext uri="{FF2B5EF4-FFF2-40B4-BE49-F238E27FC236}">
                <a16:creationId xmlns:a16="http://schemas.microsoft.com/office/drawing/2014/main" id="{EA4F80D9-21A7-4BB0-8B6C-ADE46F071600}"/>
              </a:ext>
            </a:extLst>
          </p:cNvPr>
          <p:cNvSpPr>
            <a:spLocks noGrp="1"/>
          </p:cNvSpPr>
          <p:nvPr/>
        </p:nvSpPr>
        <p:spPr>
          <a:xfrm>
            <a:off x="895350" y="1695450"/>
            <a:ext cx="2095500" cy="285750"/>
          </a:xfrm>
          <a:prstGeom prst="rect">
            <a:avLst/>
          </a:prstGeom>
          <a:noFill/>
          <a:ln w="0">
            <a:noFill/>
          </a:ln>
        </p:spPr>
        <p:txBody>
          <a:bodyPr anchor="t">
            <a:normAutofit fontScale="89091" lnSpcReduction="20000"/>
          </a:bodyPr>
          <a:lstStyle/>
          <a:p>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a:ext uri="{FF2B5EF4-FFF2-40B4-BE49-F238E27FC236}">
                <a16:creationId xmlns:a16="http://schemas.microsoft.com/office/drawing/2014/main" id="{3095A0B0-00E3-4075-B666-952E0C2DC6C9}"/>
              </a:ext>
            </a:extLst>
          </p:cNvPr>
          <p:cNvSpPr>
            <a:spLocks noGrp="1"/>
          </p:cNvSpPr>
          <p:nvPr/>
        </p:nvSpPr>
        <p:spPr>
          <a:xfrm>
            <a:off x="895350" y="2000250"/>
            <a:ext cx="400050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a:ext uri="{FF2B5EF4-FFF2-40B4-BE49-F238E27FC236}">
                <a16:creationId xmlns:a16="http://schemas.microsoft.com/office/drawing/2014/main" id="{8894B500-4C60-4EB7-A55D-B07E8DDA0609}"/>
              </a:ext>
            </a:extLst>
          </p:cNvPr>
          <p:cNvSpPr>
            <a:spLocks noGrp="1"/>
          </p:cNvSpPr>
          <p:nvPr/>
        </p:nvSpPr>
        <p:spPr>
          <a:xfrm>
            <a:off x="6762750" y="1562100"/>
            <a:ext cx="4762500" cy="781050"/>
          </a:xfrm>
          <a:prstGeom prst="roundRect">
            <a:avLst>
              <a:gd name="adj" fmla="val 9756"/>
            </a:avLst>
          </a:prstGeom>
          <a:solidFill>
            <a:srgbClr val="EAF7FC"/>
          </a:solidFill>
          <a:ln w="14288">
            <a:solidFill>
              <a:srgbClr val="0860FE"/>
            </a:solidFill>
          </a:ln>
        </p:spPr>
        <p:txBody>
          <a:bodyPr/>
          <a:lstStyle/>
          <a:p>
            <a:endParaRPr/>
          </a:p>
        </p:txBody>
      </p:sp>
      <p:sp>
        <p:nvSpPr>
          <p:cNvPr id="7" name="Rectangle 6">
            <a:extLst>
              <a:ext uri="{FF2B5EF4-FFF2-40B4-BE49-F238E27FC236}">
                <a16:creationId xmlns:a16="http://schemas.microsoft.com/office/drawing/2014/main" id="{20A765CC-FD83-44B5-A7D3-BA0C7F84DAAD}"/>
              </a:ext>
            </a:extLst>
          </p:cNvPr>
          <p:cNvSpPr>
            <a:spLocks noGrp="1"/>
          </p:cNvSpPr>
          <p:nvPr/>
        </p:nvSpPr>
        <p:spPr>
          <a:xfrm>
            <a:off x="6991350" y="1695450"/>
            <a:ext cx="2286000" cy="285750"/>
          </a:xfrm>
          <a:prstGeom prst="rect">
            <a:avLst/>
          </a:prstGeom>
          <a:noFill/>
          <a:ln w="0">
            <a:noFill/>
          </a:ln>
        </p:spPr>
        <p:txBody>
          <a:bodyPr anchor="t">
            <a:normAutofit fontScale="89091" lnSpcReduction="20000"/>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a:ext uri="{FF2B5EF4-FFF2-40B4-BE49-F238E27FC236}">
                <a16:creationId xmlns:a16="http://schemas.microsoft.com/office/drawing/2014/main" id="{6C28BB69-CC38-4098-95A7-E508628C9EA9}"/>
              </a:ext>
            </a:extLst>
          </p:cNvPr>
          <p:cNvSpPr>
            <a:spLocks noGrp="1"/>
          </p:cNvSpPr>
          <p:nvPr/>
        </p:nvSpPr>
        <p:spPr>
          <a:xfrm>
            <a:off x="6991350" y="2000250"/>
            <a:ext cx="390525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857500"/>
            <a:ext cx="22860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857500"/>
            <a:ext cx="2286000" cy="723900"/>
          </a:xfrm>
          <a:prstGeom prst="roundRect">
            <a:avLst>
              <a:gd name="adj" fmla="val 10526"/>
            </a:avLst>
          </a:prstGeom>
          <a:solidFill>
            <a:srgbClr val="FFFFFF"/>
          </a:solidFill>
          <a:ln w="14288">
            <a:solidFill>
              <a:srgbClr val="0860FE"/>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857500"/>
            <a:ext cx="20955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a:ext uri="{FF2B5EF4-FFF2-40B4-BE49-F238E27FC236}">
                <a16:creationId xmlns:a16="http://schemas.microsoft.com/office/drawing/2014/main" id="{88FAD868-6809-46F0-9E35-273A7055DB23}"/>
              </a:ext>
            </a:extLst>
          </p:cNvPr>
          <p:cNvCxnSpPr>
            <a:stCxn id="10" idx="3"/>
            <a:endCxn id="11" idx="1"/>
          </p:cNvCxnSpPr>
          <p:nvPr/>
        </p:nvCxnSpPr>
        <p:spPr>
          <a:xfrm>
            <a:off x="7239000" y="32194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4000500"/>
            <a:ext cx="7429500" cy="16192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4171950"/>
            <a:ext cx="6743700" cy="323850"/>
          </a:xfrm>
          <a:prstGeom prst="rect">
            <a:avLst/>
          </a:prstGeom>
          <a:noFill/>
          <a:ln w="0">
            <a:noFill/>
          </a:ln>
        </p:spPr>
        <p:txBody>
          <a:bodyPr anchor="t">
            <a:normAutofit fontScale="92500" lnSpcReduction="20000"/>
          </a:bodyPr>
          <a:lstStyle/>
          <a:p>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62915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62915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67677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62915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510540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510540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515302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510540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26DE8223-1734-4228-998C-9A84E060C69E}"/>
              </a:ext>
            </a:extLst>
          </p:cNvPr>
          <p:cNvCxnSpPr>
            <a:stCxn id="10" idx="2"/>
            <a:endCxn id="14" idx="0"/>
          </p:cNvCxnSpPr>
          <p:nvPr/>
        </p:nvCxnSpPr>
        <p:spPr>
          <a:xfrm>
            <a:off x="6096000" y="3581400"/>
            <a:ext cx="0" cy="419100"/>
          </a:xfrm>
          <a:prstGeom prst="straightConnector1">
            <a:avLst/>
          </a:prstGeom>
          <a:ln w="23813">
            <a:solidFill>
              <a:srgbClr val="07182A"/>
            </a:solidFill>
            <a:prstDash val="solid"/>
          </a:ln>
        </p:spPr>
      </p:cxnSp>
    </p:spTree>
    <p:extLst>
      <p:ext uri="{BB962C8B-B14F-4D97-AF65-F5344CB8AC3E}">
        <p14:creationId xmlns:p14="http://schemas.microsoft.com/office/powerpoint/2010/main" val="76814743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dirty="0"/>
              <a:t>Live demo </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97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xmlns:a="http://schemas.openxmlformats.org/drawingml/2006/main">
              <a:ext uri="{FF2B5EF4-FFF2-40B4-BE49-F238E27FC236}">
                <a16:creationId xmlns:a16="http://schemas.microsoft.com/office/drawing/2014/main" id="{9308E42D-368D-42DF-BAAF-1095889907AF}"/>
              </a:ext>
            </a:extLst>
          </p:cNvPr>
          <p:cNvSpPr>
            <a:spLocks xmlns:a="http://schemas.openxmlformats.org/drawingml/2006/main" noGrp="1"/>
          </p:cNvSpPr>
          <p:nvPr/>
        </p:nvSpPr>
        <p:spPr>
          <a:xfrm xmlns:a="http://schemas.openxmlformats.org/drawingml/2006/main">
            <a:off x="1990725" y="1562100"/>
            <a:ext cx="590550" cy="400050"/>
          </a:xfrm>
          <a:prstGeom xmlns:a="http://schemas.openxmlformats.org/drawingml/2006/main" prst="roundRect">
            <a:avLst>
              <a:gd name="adj" fmla="val 16667"/>
            </a:avLst>
          </a:prstGeom>
          <a:solidFill xmlns:a="http://schemas.openxmlformats.org/drawingml/2006/main">
            <a:srgbClr val="0860FE"/>
          </a:solidFill>
          <a:ln xmlns:a="http://schemas.openxmlformats.org/drawingml/2006/main" w="11906">
            <a:solidFill>
              <a:srgbClr val="0860FE"/>
            </a:solidFill>
          </a:ln>
        </p:spPr>
      </p:sp>
      <p:sp>
        <p:nvSpPr>
          <p:cNvPr id="25" name="rollout-number-text-1">
            <a:extLst xmlns:a="http://schemas.openxmlformats.org/drawingml/2006/main">
              <a:ext uri="{FF2B5EF4-FFF2-40B4-BE49-F238E27FC236}">
                <a16:creationId xmlns:a16="http://schemas.microsoft.com/office/drawing/2014/main" id="{619226F0-2C55-4B95-86FA-7FF888CBDC86}"/>
              </a:ext>
            </a:extLst>
          </p:cNvPr>
          <p:cNvSpPr>
            <a:spLocks xmlns:a="http://schemas.openxmlformats.org/drawingml/2006/main" noGrp="1"/>
          </p:cNvSpPr>
          <p:nvPr/>
        </p:nvSpPr>
        <p:spPr>
          <a:xfrm xmlns:a="http://schemas.openxmlformats.org/drawingml/2006/main">
            <a:off x="1990725" y="1562100"/>
            <a:ext cx="590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xmlns:a="http://schemas.openxmlformats.org/drawingml/2006/main">
              <a:ext uri="{FF2B5EF4-FFF2-40B4-BE49-F238E27FC236}">
                <a16:creationId xmlns:a16="http://schemas.microsoft.com/office/drawing/2014/main" id="{0D9F601A-DCFA-40AE-9459-F28334FCE873}"/>
              </a:ext>
            </a:extLst>
          </p:cNvPr>
          <p:cNvSpPr>
            <a:spLocks xmlns:a="http://schemas.openxmlformats.org/drawingml/2006/main" noGrp="1"/>
          </p:cNvSpPr>
          <p:nvPr/>
        </p:nvSpPr>
        <p:spPr>
          <a:xfrm xmlns:a="http://schemas.openxmlformats.org/drawingml/2006/main">
            <a:off x="857250" y="2238375"/>
            <a:ext cx="2857500" cy="857250"/>
          </a:xfrm>
          <a:prstGeom xmlns:a="http://schemas.openxmlformats.org/drawingml/2006/main" prst="roundRect">
            <a:avLst>
              <a:gd name="adj" fmla="val 7778"/>
            </a:avLst>
          </a:prstGeom>
          <a:solidFill xmlns:a="http://schemas.openxmlformats.org/drawingml/2006/main">
            <a:srgbClr val="EAF8FC"/>
          </a:solidFill>
          <a:ln xmlns:a="http://schemas.openxmlformats.org/drawingml/2006/main" w="11906">
            <a:solidFill>
              <a:srgbClr val="0860FE"/>
            </a:solidFill>
          </a:ln>
        </p:spPr>
      </p:sp>
      <p:sp>
        <p:nvSpPr>
          <p:cNvPr id="27" name="rollout-heading-1">
            <a:extLst xmlns:a="http://schemas.openxmlformats.org/drawingml/2006/main">
              <a:ext uri="{FF2B5EF4-FFF2-40B4-BE49-F238E27FC236}">
                <a16:creationId xmlns:a16="http://schemas.microsoft.com/office/drawing/2014/main" id="{4DADEB56-54C0-4C4E-97F2-0BFC936E3F54}"/>
              </a:ext>
            </a:extLst>
          </p:cNvPr>
          <p:cNvSpPr>
            <a:spLocks xmlns:a="http://schemas.openxmlformats.org/drawingml/2006/main" noGrp="1"/>
          </p:cNvSpPr>
          <p:nvPr/>
        </p:nvSpPr>
        <p:spPr>
          <a:xfrm xmlns:a="http://schemas.openxmlformats.org/drawingml/2006/main">
            <a:off x="952500" y="23336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xmlns:a="http://schemas.openxmlformats.org/drawingml/2006/main">
              <a:ext uri="{FF2B5EF4-FFF2-40B4-BE49-F238E27FC236}">
                <a16:creationId xmlns:a16="http://schemas.microsoft.com/office/drawing/2014/main" id="{A6BA2584-1CA0-4DCB-9D32-CE2A9205A391}"/>
              </a:ext>
            </a:extLst>
          </p:cNvPr>
          <p:cNvSpPr>
            <a:spLocks xmlns:a="http://schemas.openxmlformats.org/drawingml/2006/main" noGrp="1"/>
          </p:cNvSpPr>
          <p:nvPr/>
        </p:nvSpPr>
        <p:spPr>
          <a:xfrm xmlns:a="http://schemas.openxmlformats.org/drawingml/2006/main">
            <a:off x="762000" y="3333750"/>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xmlns:a="http://schemas.openxmlformats.org/drawingml/2006/main">
              <a:ext uri="{FF2B5EF4-FFF2-40B4-BE49-F238E27FC236}">
                <a16:creationId xmlns:a16="http://schemas.microsoft.com/office/drawing/2014/main" id="{0179766C-AD8A-4FD1-A004-F5D775C68530}"/>
              </a:ext>
            </a:extLst>
          </p:cNvPr>
          <p:cNvCxnSpPr/>
          <p:nvPr/>
        </p:nvCxnSpPr>
        <p:spPr>
          <a:xfrm xmlns:a="http://schemas.openxmlformats.org/drawingml/2006/main">
            <a:off x="3714750" y="2667000"/>
            <a:ext cx="952500" cy="0"/>
          </a:xfrm>
          <a:prstGeom xmlns:a="http://schemas.openxmlformats.org/drawingml/2006/main" prst="straightConnector1">
            <a:avLst/>
          </a:prstGeom>
          <a:ln xmlns:a="http://schemas.openxmlformats.org/drawingml/2006/main" w="19050">
            <a:solidFill>
              <a:srgbClr val="07182A"/>
            </a:solidFill>
            <a:tailEnd type="arrow" w="med" len="med"/>
          </a:ln>
        </p:spPr>
      </p:cxnSp>
      <p:sp>
        <p:nvSpPr>
          <p:cNvPr id="30" name="rollout-number-2">
            <a:extLst xmlns:a="http://schemas.openxmlformats.org/drawingml/2006/main">
              <a:ext uri="{FF2B5EF4-FFF2-40B4-BE49-F238E27FC236}">
                <a16:creationId xmlns:a16="http://schemas.microsoft.com/office/drawing/2014/main" id="{A100CE3B-3491-4B9A-857A-EEB73D75781E}"/>
              </a:ext>
            </a:extLst>
          </p:cNvPr>
          <p:cNvSpPr>
            <a:spLocks xmlns:a="http://schemas.openxmlformats.org/drawingml/2006/main" noGrp="1"/>
          </p:cNvSpPr>
          <p:nvPr/>
        </p:nvSpPr>
        <p:spPr>
          <a:xfrm xmlns:a="http://schemas.openxmlformats.org/drawingml/2006/main">
            <a:off x="5800725" y="1562100"/>
            <a:ext cx="590550" cy="400050"/>
          </a:xfrm>
          <a:prstGeom xmlns:a="http://schemas.openxmlformats.org/drawingml/2006/main" prst="roundRect">
            <a:avLst>
              <a:gd name="adj" fmla="val 16667"/>
            </a:avLst>
          </a:prstGeom>
          <a:solidFill xmlns:a="http://schemas.openxmlformats.org/drawingml/2006/main">
            <a:srgbClr val="0860FE"/>
          </a:solidFill>
          <a:ln xmlns:a="http://schemas.openxmlformats.org/drawingml/2006/main" w="11906">
            <a:solidFill>
              <a:srgbClr val="0860FE"/>
            </a:solidFill>
          </a:ln>
        </p:spPr>
      </p:sp>
      <p:sp>
        <p:nvSpPr>
          <p:cNvPr id="31" name="rollout-number-text-2">
            <a:extLst xmlns:a="http://schemas.openxmlformats.org/drawingml/2006/main">
              <a:ext uri="{FF2B5EF4-FFF2-40B4-BE49-F238E27FC236}">
                <a16:creationId xmlns:a16="http://schemas.microsoft.com/office/drawing/2014/main" id="{40545FEE-4643-46CC-A839-77140AB8174D}"/>
              </a:ext>
            </a:extLst>
          </p:cNvPr>
          <p:cNvSpPr>
            <a:spLocks xmlns:a="http://schemas.openxmlformats.org/drawingml/2006/main" noGrp="1"/>
          </p:cNvSpPr>
          <p:nvPr/>
        </p:nvSpPr>
        <p:spPr>
          <a:xfrm xmlns:a="http://schemas.openxmlformats.org/drawingml/2006/main">
            <a:off x="5800725" y="1562100"/>
            <a:ext cx="590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xmlns:a="http://schemas.openxmlformats.org/drawingml/2006/main">
              <a:ext uri="{FF2B5EF4-FFF2-40B4-BE49-F238E27FC236}">
                <a16:creationId xmlns:a16="http://schemas.microsoft.com/office/drawing/2014/main" id="{45EF45FE-6984-4B14-9E82-02158503DC49}"/>
              </a:ext>
            </a:extLst>
          </p:cNvPr>
          <p:cNvSpPr>
            <a:spLocks xmlns:a="http://schemas.openxmlformats.org/drawingml/2006/main" noGrp="1"/>
          </p:cNvSpPr>
          <p:nvPr/>
        </p:nvSpPr>
        <p:spPr>
          <a:xfrm xmlns:a="http://schemas.openxmlformats.org/drawingml/2006/main">
            <a:off x="4667250" y="2238375"/>
            <a:ext cx="2857500" cy="857250"/>
          </a:xfrm>
          <a:prstGeom xmlns:a="http://schemas.openxmlformats.org/drawingml/2006/main" prst="roundRect">
            <a:avLst>
              <a:gd name="adj" fmla="val 7778"/>
            </a:avLst>
          </a:prstGeom>
          <a:solidFill xmlns:a="http://schemas.openxmlformats.org/drawingml/2006/main">
            <a:srgbClr val="EAF8FC"/>
          </a:solidFill>
          <a:ln xmlns:a="http://schemas.openxmlformats.org/drawingml/2006/main" w="11906">
            <a:solidFill>
              <a:srgbClr val="0860FE"/>
            </a:solidFill>
          </a:ln>
        </p:spPr>
      </p:sp>
      <p:sp>
        <p:nvSpPr>
          <p:cNvPr id="33" name="rollout-heading-2">
            <a:extLst xmlns:a="http://schemas.openxmlformats.org/drawingml/2006/main">
              <a:ext uri="{FF2B5EF4-FFF2-40B4-BE49-F238E27FC236}">
                <a16:creationId xmlns:a16="http://schemas.microsoft.com/office/drawing/2014/main" id="{B0EE6170-72EB-46BB-9763-23A6455523C9}"/>
              </a:ext>
            </a:extLst>
          </p:cNvPr>
          <p:cNvSpPr>
            <a:spLocks xmlns:a="http://schemas.openxmlformats.org/drawingml/2006/main" noGrp="1"/>
          </p:cNvSpPr>
          <p:nvPr/>
        </p:nvSpPr>
        <p:spPr>
          <a:xfrm xmlns:a="http://schemas.openxmlformats.org/drawingml/2006/main">
            <a:off x="4762500" y="23336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xmlns:a="http://schemas.openxmlformats.org/drawingml/2006/main">
              <a:ext uri="{FF2B5EF4-FFF2-40B4-BE49-F238E27FC236}">
                <a16:creationId xmlns:a16="http://schemas.microsoft.com/office/drawing/2014/main" id="{C18F365B-6D88-4255-A1FD-1CB128985C00}"/>
              </a:ext>
            </a:extLst>
          </p:cNvPr>
          <p:cNvSpPr>
            <a:spLocks xmlns:a="http://schemas.openxmlformats.org/drawingml/2006/main" noGrp="1"/>
          </p:cNvSpPr>
          <p:nvPr/>
        </p:nvSpPr>
        <p:spPr>
          <a:xfrm xmlns:a="http://schemas.openxmlformats.org/drawingml/2006/main">
            <a:off x="4572000" y="3333750"/>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xmlns:a="http://schemas.openxmlformats.org/drawingml/2006/main">
              <a:ext uri="{FF2B5EF4-FFF2-40B4-BE49-F238E27FC236}">
                <a16:creationId xmlns:a16="http://schemas.microsoft.com/office/drawing/2014/main" id="{1B1C721C-EF54-428C-938D-43530224DDCF}"/>
              </a:ext>
            </a:extLst>
          </p:cNvPr>
          <p:cNvCxnSpPr/>
          <p:nvPr/>
        </p:nvCxnSpPr>
        <p:spPr>
          <a:xfrm xmlns:a="http://schemas.openxmlformats.org/drawingml/2006/main">
            <a:off x="7524750" y="2667000"/>
            <a:ext cx="952500" cy="0"/>
          </a:xfrm>
          <a:prstGeom xmlns:a="http://schemas.openxmlformats.org/drawingml/2006/main" prst="straightConnector1">
            <a:avLst/>
          </a:prstGeom>
          <a:ln xmlns:a="http://schemas.openxmlformats.org/drawingml/2006/main" w="19050">
            <a:solidFill>
              <a:srgbClr val="07182A"/>
            </a:solidFill>
            <a:tailEnd type="arrow" w="med" len="med"/>
          </a:ln>
        </p:spPr>
      </p:cxnSp>
      <p:sp>
        <p:nvSpPr>
          <p:cNvPr id="36" name="rollout-number-3">
            <a:extLst xmlns:a="http://schemas.openxmlformats.org/drawingml/2006/main">
              <a:ext uri="{FF2B5EF4-FFF2-40B4-BE49-F238E27FC236}">
                <a16:creationId xmlns:a16="http://schemas.microsoft.com/office/drawing/2014/main" id="{92BA6C3E-B0C9-40CC-9894-53985EFBE5D2}"/>
              </a:ext>
            </a:extLst>
          </p:cNvPr>
          <p:cNvSpPr>
            <a:spLocks xmlns:a="http://schemas.openxmlformats.org/drawingml/2006/main" noGrp="1"/>
          </p:cNvSpPr>
          <p:nvPr/>
        </p:nvSpPr>
        <p:spPr>
          <a:xfrm xmlns:a="http://schemas.openxmlformats.org/drawingml/2006/main">
            <a:off x="9610725" y="1562100"/>
            <a:ext cx="590550" cy="400050"/>
          </a:xfrm>
          <a:prstGeom xmlns:a="http://schemas.openxmlformats.org/drawingml/2006/main" prst="roundRect">
            <a:avLst>
              <a:gd name="adj" fmla="val 16667"/>
            </a:avLst>
          </a:prstGeom>
          <a:solidFill xmlns:a="http://schemas.openxmlformats.org/drawingml/2006/main">
            <a:srgbClr val="29AA61"/>
          </a:solidFill>
          <a:ln xmlns:a="http://schemas.openxmlformats.org/drawingml/2006/main" w="11906">
            <a:solidFill>
              <a:srgbClr val="29AA61"/>
            </a:solidFill>
          </a:ln>
        </p:spPr>
      </p:sp>
      <p:sp>
        <p:nvSpPr>
          <p:cNvPr id="37" name="rollout-number-text-3">
            <a:extLst xmlns:a="http://schemas.openxmlformats.org/drawingml/2006/main">
              <a:ext uri="{FF2B5EF4-FFF2-40B4-BE49-F238E27FC236}">
                <a16:creationId xmlns:a16="http://schemas.microsoft.com/office/drawing/2014/main" id="{C1B684A9-18CB-41D7-8F1C-54E4212478EB}"/>
              </a:ext>
            </a:extLst>
          </p:cNvPr>
          <p:cNvSpPr>
            <a:spLocks xmlns:a="http://schemas.openxmlformats.org/drawingml/2006/main" noGrp="1"/>
          </p:cNvSpPr>
          <p:nvPr/>
        </p:nvSpPr>
        <p:spPr>
          <a:xfrm xmlns:a="http://schemas.openxmlformats.org/drawingml/2006/main">
            <a:off x="9610725" y="1562100"/>
            <a:ext cx="5905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xmlns:a="http://schemas.openxmlformats.org/drawingml/2006/main">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xmlns:a="http://schemas.openxmlformats.org/drawingml/2006/main">
              <a:ext uri="{FF2B5EF4-FFF2-40B4-BE49-F238E27FC236}">
                <a16:creationId xmlns:a16="http://schemas.microsoft.com/office/drawing/2014/main" id="{AA730FC7-5D39-4996-9C02-44A69411EE92}"/>
              </a:ext>
            </a:extLst>
          </p:cNvPr>
          <p:cNvSpPr>
            <a:spLocks xmlns:a="http://schemas.openxmlformats.org/drawingml/2006/main" noGrp="1"/>
          </p:cNvSpPr>
          <p:nvPr/>
        </p:nvSpPr>
        <p:spPr>
          <a:xfrm xmlns:a="http://schemas.openxmlformats.org/drawingml/2006/main">
            <a:off x="8477250" y="2238375"/>
            <a:ext cx="2857500" cy="857250"/>
          </a:xfrm>
          <a:prstGeom xmlns:a="http://schemas.openxmlformats.org/drawingml/2006/main" prst="roundRect">
            <a:avLst>
              <a:gd name="adj" fmla="val 7778"/>
            </a:avLst>
          </a:prstGeom>
          <a:solidFill xmlns:a="http://schemas.openxmlformats.org/drawingml/2006/main">
            <a:srgbClr val="EDF7F0"/>
          </a:solidFill>
          <a:ln xmlns:a="http://schemas.openxmlformats.org/drawingml/2006/main" w="11906">
            <a:solidFill>
              <a:srgbClr val="29AA61"/>
            </a:solidFill>
          </a:ln>
        </p:spPr>
      </p:sp>
      <p:sp>
        <p:nvSpPr>
          <p:cNvPr id="39" name="rollout-heading-3">
            <a:extLst xmlns:a="http://schemas.openxmlformats.org/drawingml/2006/main">
              <a:ext uri="{FF2B5EF4-FFF2-40B4-BE49-F238E27FC236}">
                <a16:creationId xmlns:a16="http://schemas.microsoft.com/office/drawing/2014/main" id="{CAC2F09C-EE61-4C50-92EF-A2C57C3D5311}"/>
              </a:ext>
            </a:extLst>
          </p:cNvPr>
          <p:cNvSpPr>
            <a:spLocks xmlns:a="http://schemas.openxmlformats.org/drawingml/2006/main" noGrp="1"/>
          </p:cNvSpPr>
          <p:nvPr/>
        </p:nvSpPr>
        <p:spPr>
          <a:xfrm xmlns:a="http://schemas.openxmlformats.org/drawingml/2006/main">
            <a:off x="8572500" y="23336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xmlns:a="http://schemas.openxmlformats.org/drawingml/2006/main">
              <a:ext uri="{FF2B5EF4-FFF2-40B4-BE49-F238E27FC236}">
                <a16:creationId xmlns:a16="http://schemas.microsoft.com/office/drawing/2014/main" id="{D57A334E-42B1-4AFE-8D9C-3D300F40F752}"/>
              </a:ext>
            </a:extLst>
          </p:cNvPr>
          <p:cNvSpPr>
            <a:spLocks xmlns:a="http://schemas.openxmlformats.org/drawingml/2006/main" noGrp="1"/>
          </p:cNvSpPr>
          <p:nvPr/>
        </p:nvSpPr>
        <p:spPr>
          <a:xfrm xmlns:a="http://schemas.openxmlformats.org/drawingml/2006/main">
            <a:off x="8382000" y="3333750"/>
            <a:ext cx="304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xmlns:a="http://schemas.openxmlformats.org/drawingml/2006/main">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xmlns:a="http://schemas.openxmlformats.org/drawingml/2006/main">
              <a:ext uri="{FF2B5EF4-FFF2-40B4-BE49-F238E27FC236}">
                <a16:creationId xmlns:a16="http://schemas.microsoft.com/office/drawing/2014/main" id="{6420A510-A7D3-4C46-9EC4-A9B23720F370}"/>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7778"/>
            </a:avLst>
          </a:prstGeom>
          <a:solidFill xmlns:a="http://schemas.openxmlformats.org/drawingml/2006/main">
            <a:srgbClr val="F4F6F7"/>
          </a:solidFill>
          <a:ln xmlns:a="http://schemas.openxmlformats.org/drawingml/2006/main" w="11906">
            <a:solidFill>
              <a:srgbClr val="D6DDE3"/>
            </a:solidFill>
          </a:ln>
        </p:spPr>
      </p:sp>
      <p:sp>
        <p:nvSpPr>
          <p:cNvPr id="42" name="rollout-rollback">
            <a:extLst xmlns:a="http://schemas.openxmlformats.org/drawingml/2006/main">
              <a:ext uri="{FF2B5EF4-FFF2-40B4-BE49-F238E27FC236}">
                <a16:creationId xmlns:a16="http://schemas.microsoft.com/office/drawing/2014/main" id="{DB47BD46-21DC-47C2-87C2-9413DBB62336}"/>
              </a:ext>
            </a:extLst>
          </p:cNvPr>
          <p:cNvSpPr>
            <a:spLocks xmlns:a="http://schemas.openxmlformats.org/drawingml/2006/main" noGrp="1"/>
          </p:cNvSpPr>
          <p:nvPr/>
        </p:nvSpPr>
        <p:spPr>
          <a:xfrm xmlns:a="http://schemas.openxmlformats.org/drawingml/2006/main">
            <a:off x="1619250" y="5019675"/>
            <a:ext cx="895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xmlns:a="http://schemas.openxmlformats.org/drawingml/2006/main">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182</TotalTime>
  <Words>7457</Words>
  <Application>Microsoft Macintosh PowerPoint</Application>
  <DocSecurity>0</DocSecurity>
  <PresentationFormat>Widescreen</PresentationFormat>
  <Paragraphs>695</Paragraphs>
  <Slides>36</Slides>
  <Notes>36</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6</cp:revision>
  <dcterms:created xsi:type="dcterms:W3CDTF">2026-09-27T17:17:35Z</dcterms:created>
  <dcterms:modified xsi:type="dcterms:W3CDTF">2026-10-29T17:48:45Z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