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9"/>
  </p:notesMasterIdLst>
  <p:sldIdLst>
    <p:sldId id="256" r:id="rId2"/>
    <p:sldId id="257" r:id="rId3"/>
    <p:sldId id="258" r:id="rId4"/>
    <p:sldId id="263" r:id="rId5"/>
    <p:sldId id="259" r:id="rId6"/>
    <p:sldId id="277" r:id="rId7"/>
    <p:sldId id="260" r:id="rId8"/>
    <p:sldId id="261" r:id="rId9"/>
    <p:sldId id="262" r:id="rId10"/>
    <p:sldId id="292"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8" r:id="rId25"/>
    <p:sldId id="279" r:id="rId26"/>
    <p:sldId id="280" r:id="rId27"/>
    <p:sldId id="281" r:id="rId28"/>
    <p:sldId id="282" r:id="rId29"/>
    <p:sldId id="283" r:id="rId30"/>
    <p:sldId id="284" r:id="rId31"/>
    <p:sldId id="285" r:id="rId32"/>
    <p:sldId id="291" r:id="rId33"/>
    <p:sldId id="286" r:id="rId34"/>
    <p:sldId id="287" r:id="rId35"/>
    <p:sldId id="288" r:id="rId36"/>
    <p:sldId id="289" r:id="rId37"/>
    <p:sldId id="290" r:id="rId38"/>
  </p:sldIdLst>
  <p:sldSz cx="12192000" cy="6858000"/>
  <p:notesSz cx="6858000" cy="9144000"/>
  <p:embeddedFontLst>
    <p:embeddedFont>
      <p:font typeface="CiscoSansTT" panose="020B0503020201020303" pitchFamily="34" charset="0"/>
      <p:regular r:id="rId40"/>
      <p:bold r:id="rId41"/>
      <p:italic r:id="rId42"/>
      <p:boldItalic r:id="rId43"/>
    </p:embeddedFont>
    <p:embeddedFont>
      <p:font typeface="CiscoSansTT Medium" panose="020B0903020201090303" pitchFamily="34" charset="0"/>
      <p:regular r:id="rId44"/>
      <p:italic r:id="rId45"/>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880"/>
    <p:restoredTop sz="79177"/>
  </p:normalViewPr>
  <p:slideViewPr>
    <p:cSldViewPr snapToGrid="0">
      <p:cViewPr varScale="1">
        <p:scale>
          <a:sx n="177" d="100"/>
          <a:sy n="177" d="100"/>
        </p:scale>
        <p:origin x="284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viewProps" Target="viewProps.xml"/><Relationship Id="rId50"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1 minute</a:t>
            </a:r>
          </a:p>
          <a:p>
            <a:endParaRPr dirty="0"/>
          </a:p>
          <a:p>
            <a:r>
              <a:rPr dirty="0"/>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45 seconds</a:t>
            </a:r>
          </a:p>
          <a:p>
            <a:endParaRPr dirty="0"/>
          </a:p>
          <a:p>
            <a:r>
              <a:rPr dirty="0"/>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a:endParaRPr/>
          </a:p>
          <a:p>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a:endParaRPr/>
          </a:p>
          <a:p>
            <a:r>
              <a:t>Explain the diagram: the application still sends requests to other applications. The arrow to OBI represents observation, not an application call to the agent. OBI creates telemetry and exports it. The OpenTelemetry icon identifies the parent project, and the OBI label identifies this agent.</a:t>
            </a:r>
          </a:p>
          <a:p>
            <a:endParaRPr/>
          </a:p>
          <a:p>
            <a:r>
              <a:t>Transition: now compare these application signals with the networking and policy evidence from Cilium and Hubble.</a:t>
            </a:r>
          </a:p>
          <a:p>
            <a:endParaRPr/>
          </a:p>
          <a:p>
            <a:r>
              <a:t>Sources:</a:t>
            </a:r>
          </a:p>
          <a:p>
            <a:r>
              <a:t>- https://opentelemetry.io/docs/zero-code/obi/</a:t>
            </a:r>
          </a:p>
          <a:p>
            <a:r>
              <a:t>- https://opentelemetry.io/docs/zero-code/obi/getting-started/</a:t>
            </a:r>
          </a:p>
          <a:p>
            <a:endParaRPr/>
          </a:p>
          <a:p>
            <a:r>
              <a:t>Documentation and source code:</a:t>
            </a:r>
          </a:p>
          <a:p>
            <a:r>
              <a:t>- https://opentelemetry.io/docs/zero-code/obi/</a:t>
            </a:r>
          </a:p>
          <a:p>
            <a:r>
              <a:t>- https://github.com/open-telemetry/opentelemetry-ebpf-instrumentation</a:t>
            </a:r>
          </a:p>
          <a:p>
            <a:endParaRPr/>
          </a:p>
          <a:p>
            <a:r>
              <a:t>OpenTelemetry icon source:</a:t>
            </a:r>
          </a:p>
          <a:p>
            <a:r>
              <a:t>- https://github.com/cncf/artwork/blob/main/projects/opentelemetry/icon/color/opentelemetry-icon-color.svg</a:t>
            </a:r>
          </a:p>
          <a:p>
            <a:r>
              <a:t>- https://github.com/cncf/artwork/blob/main/LICENSE.md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service box represents one operation, or span. A trace groups related operations across services.</a:t>
            </a:r>
          </a:p>
          <a:p>
            <a:endParaRPr/>
          </a:p>
          <a:p>
            <a:r>
              <a:t>At the top, each operation sits in its own trace frame. Trace A, B, and C are example IDs. The backend has no shared context that connects these separate records into the intended request journey.</a:t>
            </a:r>
          </a:p>
          <a:p>
            <a:endParaRPr/>
          </a:p>
          <a:p>
            <a:r>
              <a:t>At the bottom, the three operations sit inside one Trace A frame. Propagation carries the trace ID and parent information to downstream services. The arrows show the service-call sequence.</a:t>
            </a:r>
          </a:p>
          <a:p>
            <a:endParaRPr/>
          </a:p>
          <a:p>
            <a:r>
              <a:t>This is a conceptual example with one operation per service. The boxes and spacing do not represent measured durations. Real traces can contain more client and server spans.</a:t>
            </a:r>
          </a:p>
          <a:p>
            <a:endParaRPr/>
          </a:p>
          <a:p>
            <a:r>
              <a:t>Next, we look at the optional TCP propagation mechanism and the TC hooks it shares with Cilium.</a:t>
            </a:r>
          </a:p>
          <a:p>
            <a:endParaRPr/>
          </a:p>
          <a:p>
            <a:r>
              <a:t>Sources:</a:t>
            </a:r>
          </a:p>
          <a:p>
            <a:r>
              <a:t>- https://opentelemetry.io/docs/concepts/context-propagation/</a:t>
            </a:r>
          </a:p>
          <a:p>
            <a:r>
              <a:t>- https://opentelemetry.io/docs/zero-code/obi/distributed-traces/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OBI has an optional network collector as well as application instrumentation. It counts bytes and packets between endpoints. Kubernetes metadata can identify the source and destination workloads.</a:t>
            </a:r>
          </a:p>
          <a:p>
            <a:endParaRPr/>
          </a:p>
          <a:p>
            <a:r>
              <a:t>Use these metrics to find services that send the most traffic, or to export traffic volume through an OpenTelemetry pipeline.</a:t>
            </a:r>
          </a:p>
          <a:p>
            <a:endParaRPr/>
          </a:p>
          <a:p>
            <a:r>
              <a:t>These network-volume counters do not provide the Cilium policy record that says Policy denied. Hubble and OBI may also count traffic differently because they observe and aggregate it at different points.</a:t>
            </a:r>
          </a:p>
          <a:p>
            <a:endParaRPr/>
          </a:p>
          <a:p>
            <a:r>
              <a:t>When enabling OBI network collection alongside Cilium, choose network.source: socket_filter. Limit labels to the dimensions you need, because many endpoint and port combinations can create many metric series.</a:t>
            </a:r>
          </a:p>
          <a:p>
            <a:endParaRPr/>
          </a:p>
          <a:p>
            <a:r>
              <a:t>Optional network-volume collection is separate from application tracing and TCP trace-context propagation. Disabling the network-volume collector does not disable those application features.</a:t>
            </a:r>
          </a:p>
          <a:p>
            <a:endParaRPr/>
          </a:p>
          <a:p>
            <a:r>
              <a:t>Transition: the next section explains the shared kernel hooks and why attachment order matters.</a:t>
            </a:r>
          </a:p>
          <a:p>
            <a:endParaRPr/>
          </a:p>
          <a:p>
            <a:r>
              <a:t>Sources:</a:t>
            </a:r>
          </a:p>
          <a:p>
            <a:r>
              <a:t>- https://opentelemetry.io/docs/zero-code/obi/network/</a:t>
            </a:r>
          </a:p>
          <a:p>
            <a:r>
              <a:t>- https://opentelemetry.io/docs/zero-code/obi/network/config/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agents run on the same Kubernetes worker node. OBI observes supported application requests and produces traces and metrics. Cilium provides networking and policy. Hubble adds visibility into network flows.</a:t>
            </a:r>
          </a:p>
          <a:p xmlns:a="http://schemas.openxmlformats.org/drawingml/2006/main">
            <a:r>
              <a:t/>
            </a:r>
            <a:endParaRPr/>
          </a:p>
          <a:p xmlns:a="http://schemas.openxmlformats.org/drawingml/2006/main">
            <a:r>
              <a:t>The first check is traffic behavior. Can applications still reach the services they should reach? Are connections that policy should deny still denied? We require correct behavior, rather than an identical internal packet path in every configuration.</a:t>
            </a:r>
          </a:p>
          <a:p xmlns:a="http://schemas.openxmlformats.org/drawingml/2006/main">
            <a:r>
              <a:t/>
            </a:r>
            <a:endParaRPr/>
          </a:p>
          <a:p xmlns:a="http://schemas.openxmlformats.org/drawingml/2006/main">
            <a:r>
              <a:t>The second check is visibility. OBI and Hubble should each capture the evidence we need. An agent that starts successfully can still have a visibility gap.</a:t>
            </a:r>
          </a:p>
          <a:p xmlns:a="http://schemas.openxmlformats.org/drawingml/2006/main">
            <a:r>
              <a:t/>
            </a:r>
          </a:p>
          <a:p xmlns:a="http://schemas.openxmlformats.org/drawingml/2006/main">
            <a:r>
              <a:t>The third check is added cost. Measure CPU, memory, and the amount of telemetry generated. Include the collection and storage pipeline when assessing the full cost.</a:t>
            </a:r>
          </a:p>
          <a:p xmlns:a="http://schemas.openxmlformats.org/drawingml/2006/main">
            <a:r>
              <a:t/>
            </a:r>
          </a:p>
          <a:p xmlns:a="http://schemas.openxmlformats.org/drawingml/2006/main">
            <a:r>
              <a:t>The next slides follow one request through the application and kernel, then explain why attachment order can affect visibility.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1 minute</a:t>
            </a:r>
          </a:p>
          <a:p>
            <a:endParaRPr/>
          </a:p>
          <a:p>
            <a:r>
              <a:t>Give the audience a map before naming kernel program types. An eBPF program is a small program that Linux runs at a particular checkpoint, often called a hook. We only need one shared checkpoint for this talk.</a:t>
            </a:r>
          </a:p>
          <a:p>
            <a:endParaRPr/>
          </a:p>
          <a:p>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a:endParaRPr/>
          </a:p>
          <a:p>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a:endParaRPr/>
          </a:p>
          <a:p>
            <a:r>
              <a:t>Sources:</a:t>
            </a:r>
          </a:p>
          <a:p>
            <a:r>
              <a:t>- https://opentelemetry.io/docs/zero-code/obi/</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application sends traffic through a virtual interface pair, called a </a:t>
            </a:r>
            <a:r>
              <a:rPr dirty="0" err="1"/>
              <a:t>veth</a:t>
            </a:r>
            <a:r>
              <a:rPr dirty="0"/>
              <a:t> pair, between the pod and the node. This diagram follows the </a:t>
            </a:r>
            <a:r>
              <a:rPr dirty="0" err="1"/>
              <a:t>veth</a:t>
            </a:r>
            <a:r>
              <a:rPr dirty="0"/>
              <a:t> </a:t>
            </a:r>
            <a:r>
              <a:rPr dirty="0" err="1"/>
              <a:t>datapath</a:t>
            </a:r>
            <a:r>
              <a:rPr dirty="0"/>
              <a:t> used by our demo.</a:t>
            </a:r>
          </a:p>
          <a:p>
            <a:endParaRPr dirty="0"/>
          </a:p>
          <a:p>
            <a:r>
              <a:rPr dirty="0"/>
              <a:t>Focus on the host-side interface. Traffic control, or TC, provides checkpoints for arriving and departing packets. These checkpoints are called ingress and egress. Direction is relative to this host-side interface.</a:t>
            </a:r>
          </a:p>
          <a:p>
            <a:endParaRPr dirty="0"/>
          </a:p>
          <a:p>
            <a:r>
              <a:rPr dirty="0"/>
              <a:t>OBI can use these hooks for optional TCP trace-context propagation. Cilium uses them for networking and policy. The dark panel shows the two agents sharing the ingress and egress hooks.</a:t>
            </a:r>
          </a:p>
          <a:p>
            <a:endParaRPr dirty="0"/>
          </a:p>
          <a:p>
            <a:r>
              <a:rPr dirty="0"/>
              <a:t>The overlap depends on the OBI features enabled. OBI can provide application telemetry without these TCP propagation programs.</a:t>
            </a:r>
          </a:p>
          <a:p>
            <a:endParaRPr dirty="0"/>
          </a:p>
          <a:p>
            <a:r>
              <a:rPr dirty="0"/>
              <a:t>Next, we examine which program runs first and why that matters.</a:t>
            </a:r>
          </a:p>
          <a:p>
            <a:endParaRPr dirty="0"/>
          </a:p>
          <a:p>
            <a:r>
              <a:rPr dirty="0"/>
              <a:t>Sources:</a:t>
            </a:r>
          </a:p>
          <a:p>
            <a:r>
              <a:rPr dirty="0"/>
              <a:t>- https://</a:t>
            </a:r>
            <a:r>
              <a:rPr dirty="0" err="1"/>
              <a:t>opentelemetry.io</a:t>
            </a:r>
            <a:r>
              <a:rPr dirty="0"/>
              <a:t>/docs/zero-code/obi/cilium-compatibility/</a:t>
            </a:r>
          </a:p>
          <a:p>
            <a:r>
              <a:rPr dirty="0"/>
              <a:t>- https://</a:t>
            </a:r>
            <a:r>
              <a:rPr dirty="0" err="1"/>
              <a:t>opentelemetry.io</a:t>
            </a:r>
            <a:r>
              <a:rPr dirty="0"/>
              <a:t>/docs/zero-code/obi/distributed-traces/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Read this as two agents in sequence. OBI observes the packet and, when enabled, carries trace context. Cilium then handles networking and policy.</a:t>
            </a:r>
          </a:p>
          <a:p>
            <a:endParaRPr/>
          </a:p>
          <a:p>
            <a:r>
              <a:t>The old diagram separated route + enforce from forward or stop. That made the result look like a third independent program. Both are part of Cilium: it applies routing and policy, then forwards, redirects, or drops the packet according to that logic.</a:t>
            </a:r>
          </a:p>
          <a:p>
            <a:endParaRPr/>
          </a:p>
          <a:p>
            <a:r>
              <a:t>Why order matters: a TC program can change the packet or return an action that ends processing of this chain. If Cilium redirects or drops it before OBI runs, OBI may miss the observation needed at this hook. This is why the compatibility configuration puts OBI before Cilium.</a:t>
            </a:r>
          </a:p>
          <a:p>
            <a:endParaRPr/>
          </a:p>
          <a:p>
            <a:r>
              <a:t>This is an illustrative view of the shared hook. Each product can attach other programs elsewhere. The next slides explain how TCX or legacy TC priority establishes the required order.</a:t>
            </a:r>
          </a:p>
          <a:p>
            <a:endParaRPr/>
          </a:p>
          <a:p>
            <a:r>
              <a:t>Sources:</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TC is the Linux traffic-control subsystem that provides the packet checkpoints. TCX is the newer API for attaching eBPF programs at those checkpoints. Here, agents request first or last positions instead of coordinating legacy filter-priority numbers.</a:t>
            </a:r>
          </a:p>
          <a:p>
            <a:endParaRPr/>
          </a:p>
          <a:p>
            <a:r>
              <a:t>TCX is a newer kernel mechanism for attaching eBPF programs to a network interface. It keeps several programs in an ordered list. In our two-agent setup, OBI asks to run at the beginning and Cilium asks to run at the end. OBI therefore gets a chance to observe a packet before Cilium routes, redirects, or drops it.</a:t>
            </a:r>
          </a:p>
          <a:p>
            <a:endParaRPr/>
          </a:p>
          <a:p>
            <a:r>
              <a:t>First bullet: both programs can share the same hook, and TCX manages their relative order. You do not need to coordinate the older TC filter priority numbers for this TCX path.</a:t>
            </a:r>
          </a:p>
          <a:p>
            <a:endParaRPr/>
          </a:p>
          <a:p>
            <a:r>
              <a:t>Second bullet: check what the agents actually use. A kernel version is only a clue, because distributions can backport kernel features. Check startup logs and the actual attachments on the running node.</a:t>
            </a:r>
          </a:p>
          <a:p>
            <a:endParaRPr/>
          </a:p>
          <a:p>
            <a:r>
              <a:t>Third bullet: correct ordering is a starting point. Send a known request, confirm its result, and check the expected OBI span and Hubble flow. A program can still change a packet or end processing of the list, so attachment support alone does not prove every workload works.</a:t>
            </a:r>
          </a:p>
          <a:p>
            <a:endParaRPr/>
          </a:p>
          <a:p>
            <a:r>
              <a:t>Technical detail for questions: the pinned OBI requests link.Head(); the pinned Cilium requests link.Tail().</a:t>
            </a:r>
          </a:p>
          <a:p>
            <a:endParaRPr/>
          </a:p>
          <a:p>
            <a:r>
              <a:t>Sources:</a:t>
            </a:r>
          </a:p>
          <a:p>
            <a:r>
              <a:t>- https://opentelemetry.io/docs/zero-code/obi/cilium-compatibility/</a:t>
            </a:r>
          </a:p>
          <a:p>
            <a:r>
              <a:t>- https://github.com/open-telemetry/opentelemetry-ebpf-instrumentation/blob/v0.13.0/pkg/internal/ebpf/tcmanager/tcxmanager.go</a:t>
            </a:r>
          </a:p>
          <a:p>
            <a:r>
              <a:t>- https://github.com/cilium/cilium/blob/v1.20.2/pkg/datapath/loader/tcx.go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Legacy TC here means the older attachment method through Netlink. The packet checkpoint is still TC. Order comes from numeric priorities: priority 1 runs before priority 2. TCX achieves relative ordering through first and last positions instead.</a:t>
            </a:r>
          </a:p>
          <a:p>
            <a:endParaRPr/>
          </a:p>
          <a:p>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a:endParaRPr/>
          </a:p>
          <a:p>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a:endParaRPr/>
          </a:p>
          <a:p>
            <a:r>
              <a:t>Always pin versions, render configuration, and inspect the live attachment order on a Linux node. This experiment does not measure packet overhead or prove every application path.</a:t>
            </a:r>
          </a:p>
          <a:p>
            <a:endParaRPr/>
          </a:p>
          <a:p>
            <a:r>
              <a:t>Sources:</a:t>
            </a:r>
          </a:p>
          <a:p>
            <a:r>
              <a:t>- https://opentelemetry.io/docs/zero-code/obi/cilium-compatibility/</a:t>
            </a:r>
          </a:p>
          <a:p>
            <a:r>
              <a:t>- https://github.com/open-telemetry/opentelemetry-ebpf-instrumentation/blob/v0.13.0/pkg/obi/config.go</a:t>
            </a:r>
          </a:p>
          <a:p>
            <a:r>
              <a:t>- https://github.com/open-telemetry/opentelemetry-ebpf-instrumentation/blob/v0.13.0/pkg/ebpf/tcmanager/cilium_support.go</a:t>
            </a:r>
          </a:p>
          <a:p>
            <a:endParaRPr/>
          </a:p>
          <a:p>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 Play the video.</a:t>
            </a:r>
          </a:p>
          <a:p>
            <a:endParaRPr/>
          </a:p>
          <a:p>
            <a:r>
              <a:t>This compares two separate test clusters. Both use Cilium 1.20.2 and OBI v0.13.0. TCX is off, so the older TC mechanism uses priority numbers. A lower number runs earlier.</a:t>
            </a:r>
          </a:p>
          <a:p>
            <a:endParaRPr/>
          </a:p>
          <a:p>
            <a:r>
              <a:t>LEFT: Cilium uses priority 1. OBI detects that conflict and stops itself. That is why OBI shows 0/1 ready. The nginx request still returns HTTP 200: the application network continues to work while OBI is unavailable.</a:t>
            </a:r>
          </a:p>
          <a:p>
            <a:endParaRPr/>
          </a:p>
          <a:p>
            <a:r>
              <a:t>RIGHT: a fresh cluster uses Cilium priority 2. OBI can install its filter at priority 1, ahead of Cilium. OBI shows 1/1 ready and prints an HTTP span. The nginx request also returns HTTP 200.</a:t>
            </a:r>
          </a:p>
          <a:p>
            <a:endParaRPr/>
          </a:p>
          <a:p>
            <a:r>
              <a:t>What this teaches: check application health AND observability health. A successful request does not tell us that OBI is running or producing data.</a:t>
            </a:r>
          </a:p>
          <a:p>
            <a:endParaRPr/>
          </a:p>
          <a:p>
            <a:r>
              <a:t>Scope: this recording enables OBI's optional network.source: tc mode. Our application-only OBI configuration did not trigger this startup guard. The two sides are saved outputs from separate runs, replayed for the talk.</a:t>
            </a:r>
          </a:p>
          <a:p>
            <a:endParaRPr/>
          </a:p>
          <a:p>
            <a:r>
              <a:t>Sources:</a:t>
            </a:r>
          </a:p>
          <a:p>
            <a:r>
              <a:t>- https://github.com/ajimenez1503/cilium-obi-demo/blob/main/demo/legacy-priority-recording.md</a:t>
            </a:r>
          </a:p>
          <a:p>
            <a:r>
              <a:t>- https://github.com/ajimenez1503/cilium-obi-demo/tree/main/evidence/legacy-priority-2026-09-27</a:t>
            </a:r>
          </a:p>
          <a:p>
            <a:r>
              <a:t>- https://opentelemetry.io/docs/zero-code/obi/cilium-compatibility/</a:t>
            </a:r>
          </a:p>
          <a:p>
            <a:endParaRPr/>
          </a:p>
          <a:p>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30 seconds</a:t>
            </a:r>
          </a:p>
          <a:p>
            <a:endParaRPr dirty="0"/>
          </a:p>
          <a:p>
            <a:r>
              <a:rPr dirty="0"/>
              <a:t>Introduce the runnable demo repository before showing the environment. The repository contains the kind setup, pinned Cilium and OBI values, Grafana dashboards, verification scripts, recordings, benchmark evidence, and the latest presentation deck.</a:t>
            </a:r>
          </a:p>
          <a:p>
            <a:endParaRPr dirty="0"/>
          </a:p>
          <a:p>
            <a:r>
              <a:rPr dirty="0"/>
              <a:t>Sources:</a:t>
            </a:r>
          </a:p>
          <a:p>
            <a:r>
              <a:rPr dirty="0"/>
              <a:t>- https://</a:t>
            </a:r>
            <a:r>
              <a:rPr dirty="0" err="1"/>
              <a:t>github.com</a:t>
            </a:r>
            <a:r>
              <a:rPr dirty="0"/>
              <a:t>/ajimenez1503/cilium-obi-demo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a:t>
            </a:r>
          </a:p>
          <a:p>
            <a:endParaRPr/>
          </a:p>
          <a:p>
            <a:r>
              <a:t>Start with the upper diagram. Follow the blue rollout route: edge-nginx calls v2, then v2 calls v1. The orange route is an alternative direct call from edge-nginx to v1. Only the orange direct route is exercised in the denial demo.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a:endParaRPr/>
          </a:p>
          <a:p>
            <a:r>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p>
          <a:p>
            <a:endParaRPr/>
          </a:p>
          <a:p>
            <a:r>
              <a:t>Both versions, plus edge-nginx, are selected by the OBI discovery configuration. OBI watches their supported operations and creates spans and RED metrics. The applications do not call OBI as an application dependency.</a:t>
            </a:r>
          </a:p>
          <a:p>
            <a:endParaRPr/>
          </a:p>
          <a:p>
            <a:r>
              <a:t>Cilium and Hubble also cover traffic for all three services. Hubble is not connected only to v1. The diagram's lower arrows represent telemetry exports, not application calls.</a:t>
            </a:r>
          </a:p>
          <a:p>
            <a:endParaRPr/>
          </a:p>
          <a:p>
            <a:r>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p>
          <a:p>
            <a:endParaRPr/>
          </a:p>
          <a:p>
            <a:r>
              <a:t>For the denial demo, the policy allows v2 to call v1 on port 8081. It blocks edge-nginx from calling v1 directly. That is why the orange direct route is the one we exercise during the failure.</a:t>
            </a:r>
          </a:p>
          <a:p>
            <a:endParaRPr/>
          </a:p>
          <a:p>
            <a:r>
              <a:t>Sources:</a:t>
            </a:r>
          </a:p>
          <a:p>
            <a:r>
              <a:t>- https://github.com/ajimenez1503/cilium-obi-demo/blob/main/demo/obi-values.yaml</a:t>
            </a:r>
          </a:p>
          <a:p>
            <a:r>
              <a:t>- https://github.com/ajimenez1503/cilium-obi-demo/blob/main/demo/policy-deny.yaml</a:t>
            </a:r>
          </a:p>
          <a:p>
            <a:r>
              <a:t>- https://github.com/open-telemetry/opentelemetry-ebpf-instrumentation/tree/main/examples/nginx</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2 minutes</a:t>
            </a:r>
          </a:p>
          <a:p>
            <a:endParaRPr dirty="0"/>
          </a:p>
          <a:p>
            <a:r>
              <a:rPr dirty="0"/>
              <a:t>Click the video to play. This is a fresh run of demo/</a:t>
            </a:r>
            <a:r>
              <a:rPr dirty="0" err="1"/>
              <a:t>verify.sh</a:t>
            </a:r>
            <a:r>
              <a:rPr dirty="0"/>
              <a:t> against the local kind cluster. Pause on four checks: Cilium reports TCX, the cilium-config readback says enable-</a:t>
            </a:r>
            <a:r>
              <a:rPr dirty="0" err="1"/>
              <a:t>tcx</a:t>
            </a:r>
            <a:r>
              <a:rPr dirty="0"/>
              <a:t>=true, OBI v0.13.0 is ready on both workers, and the startup logs contain no attachment, capability, </a:t>
            </a:r>
            <a:r>
              <a:rPr dirty="0" err="1"/>
              <a:t>tracefs</a:t>
            </a:r>
            <a:r>
              <a:rPr dirty="0"/>
              <a:t>, or context-propagation errors. The point is that a Running </a:t>
            </a:r>
            <a:r>
              <a:rPr dirty="0" err="1"/>
              <a:t>DaemonSet</a:t>
            </a:r>
            <a:r>
              <a:rPr dirty="0"/>
              <a:t> is not enough. Verify the actual attachment decision before trusting either telemetry stream.</a:t>
            </a:r>
          </a:p>
          <a:p>
            <a:endParaRPr dirty="0"/>
          </a:p>
          <a:p>
            <a:r>
              <a:rPr dirty="0"/>
              <a:t>Sources:</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 Click the video to play. The clip plays at 1.5 times the previous speed and lasts about 20 seconds.</a:t>
            </a:r>
          </a:p>
          <a:p>
            <a:endParaRPr/>
          </a:p>
          <a:p>
            <a:r>
              <a:t>Start in Grafana: application and network metrics share one dashboard and time window. The final Hubble view adds individual flow records to the investigation.</a:t>
            </a:r>
          </a:p>
          <a:p>
            <a:endParaRPr/>
          </a:p>
          <a:p>
            <a:r>
              <a:t>00:00 to about 00:05.3: upper Grafana view. Point to OBI request rate, errors, and latency beside the network flow and verdict panels. These totals cover the selected workloads and time window.</a:t>
            </a:r>
          </a:p>
          <a:p>
            <a:endParaRPr/>
          </a:p>
          <a:p>
            <a:r>
              <a:t>About 00:05.3 to 00:13.3: lower Grafana view. Point to the service edges and the network metrics. The existing reading holds are shorter at this playback speed.</a:t>
            </a:r>
          </a:p>
          <a:p>
            <a:endParaRPr/>
          </a:p>
          <a:p>
            <a:r>
              <a:t>About 00:13.3 to 00:19.8: Hubble UI. Follow edge-nginx to recommendations-v2 and recommendations-v2 to recommendations-v1. Point to workload identity, direction, port, and the FORWARDED verdict.</a:t>
            </a:r>
          </a:p>
          <a:p>
            <a:endParaRPr/>
          </a:p>
          <a:p>
            <a:r>
              <a:t>Correlate the views by time window, namespace, source and destination workload, direction, and port. Grafana shows aggregated metrics. Hubble UI shows flow records. These fields provide investigative context and do not establish a unique flow-to-trace-ID join.</a:t>
            </a:r>
          </a:p>
          <a:p>
            <a:endParaRPr/>
          </a:p>
          <a:p>
            <a:r>
              <a:t>The acceleration changes presentation timing only. It preserves the recorded sequence and telemetry values.</a:t>
            </a:r>
          </a:p>
          <a:p>
            <a:endParaRPr/>
          </a:p>
          <a:p>
            <a:r>
              <a:t>Sources:</a:t>
            </a:r>
          </a:p>
          <a:p>
            <a:r>
              <a:t>- https://docs.cilium.io/en/stable/observability/hubble/</a:t>
            </a:r>
          </a:p>
          <a:p>
            <a:r>
              <a:t>- https://opentelemetry.io/docs/zero-code/obi/</a:t>
            </a:r>
          </a:p>
          <a:p>
            <a:r>
              <a:t>- https://github.com/ajimenez1503/cilium-obi-demo/blob/main/slides/recordings/presentation-edits.json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 The video on the left is terminal-only and lasts about 20 seconds.</a:t>
            </a:r>
          </a:p>
          <a:p>
            <a:endParaRPr/>
          </a:p>
          <a:p>
            <a:r>
              <a:t>The policy permits recommendations-v2 to call recommendations-v1 on TCP port 8081. It blocks direct calls from edge-nginx to v1. We send that direct request, and curl times out with HTTP 000.</a:t>
            </a:r>
          </a:p>
          <a:p>
            <a:endParaRPr/>
          </a:p>
          <a:p>
            <a:r>
              <a:t>At about 00:18, point to the Hubble output in the terminal. It names edge-nginx and recommendations-v1:8081, then says INGRESS DENIED and Policy denied DROPPED. That is the exact evidence of the policy decision. The clip ends on this terminal evidence and does not switch to Grafana.</a:t>
            </a:r>
          </a:p>
          <a:p>
            <a:endParaRPr/>
          </a:p>
          <a:p>
            <a:r>
              <a:t>The separate Grafana still on the right shows an aggregate drop spike from the original recording. Its Policy denied / DROPPED label was added for explanation and is marked Illustrative label. It is not a label captured from Grafana. Use the graph to show an increase in drops and the Hubble record to confirm the policy reason.</a:t>
            </a:r>
          </a:p>
          <a:p>
            <a:endParaRPr/>
          </a:p>
          <a:p>
            <a:r>
              <a:t>OBI is where we would inspect a caller timeout or upstream error, if the relevant span is available. This clip shows curl and Hubble, not a failed OBI span. A blocked request can fail before the destination creates a server span. The recording does not show policy removal or HTTP 200 recovery.</a:t>
            </a:r>
          </a:p>
          <a:p>
            <a:endParaRPr/>
          </a:p>
          <a:p>
            <a:r>
              <a:t>Sources:</a:t>
            </a:r>
          </a:p>
          <a:p>
            <a:r>
              <a:t>- https://github.com/ajimenez1503/cilium-obi-demo/blob/main/demo/policy-deny.yaml</a:t>
            </a:r>
          </a:p>
          <a:p>
            <a:r>
              <a:t>- https://github.com/ajimenez1503/cilium-obi-demo/blob/main/slides/recordings/demo-3-policy-denial.mp4</a:t>
            </a:r>
          </a:p>
          <a:p>
            <a:r>
              <a:t>- https://docs.cilium.io/en/stable/observability/metrics/#hubble-exported-metrics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each row as a complete setup. The first column names the scenario and whether we have measured it. The other columns show what Hubble and OBI collect. Cilium networking runs in all five scenarios.</a:t>
            </a:r>
          </a:p>
          <a:p>
            <a:endParaRPr/>
          </a:p>
          <a:p>
            <a:r>
              <a:t>A is the planned Cilium baseline. Hubble and OBI are off. B adds Hubble L3/L4 flows and keeps OBI off. C keeps Hubble flows and adds OBI application RED metrics, with traces and TCP propagation off.</a:t>
            </a:r>
          </a:p>
          <a:p>
            <a:endParaRPr/>
          </a:p>
          <a:p>
            <a:r>
              <a:t>D keeps Hubble flows and enables OBI RED metrics, traces, and TCP propagation through TCX. E keeps these OBI features and adds selected Hubble L7 visibility through Envoy.</a:t>
            </a:r>
          </a:p>
          <a:p>
            <a:endParaRPr/>
          </a:p>
          <a:p>
            <a:r>
              <a:t>Only B and D have recorded measurements. A, C, and E remain planned. The planned E setup has no compatibility or overhead result in this deck.</a:t>
            </a:r>
          </a:p>
          <a:p>
            <a:endParaRPr/>
          </a:p>
          <a:p>
            <a:r>
              <a:t>RED means request rate, errors, and duration. These are application metrics. Optional OBI network-volume collection is a separate feature. TCX is the attachment mechanism used for TCP propagation in D and E.</a:t>
            </a:r>
          </a:p>
          <a:p>
            <a:endParaRPr/>
          </a:p>
          <a:p>
            <a:r>
              <a:t>Keep the cluster, request route, load, pod placement, and backend constant. Comparing B and D measures the addition of the configured OBI features together. It does not isolate the cost of TCX itself.</a:t>
            </a:r>
          </a:p>
          <a:p>
            <a:endParaRPr/>
          </a:p>
          <a:p>
            <a:r>
              <a:t>The next slide shows the local rehearsal results for B and D.</a:t>
            </a:r>
          </a:p>
          <a:p>
            <a:endParaRPr/>
          </a:p>
          <a:p>
            <a:r>
              <a:t>Sources:</a:t>
            </a:r>
          </a:p>
          <a:p>
            <a:r>
              <a:t>- https://github.com/ajimenez1503/cilium-obi-demo/blob/main/demo/obi-values.yaml</a:t>
            </a:r>
          </a:p>
          <a:p>
            <a:r>
              <a:t>- https://github.com/ajimenez1503/cilium-obi-demo/blob/main/evidence/benchmark-2026-09-26/results.md</a:t>
            </a:r>
          </a:p>
          <a:p>
            <a:r>
              <a:t>- https://docs.cilium.io/en/stable/operations/performance/benchmark/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endParaRPr/>
          </a:p>
          <a:p xmlns:a="http://schemas.openxmlformats.org/drawingml/2006/main">
            <a:r>
              <a:t>Click once after introducing B and D. A magenta outline and caption appear together around the +2 ms p95 change. The increase from 1,018 ms to 1,020 ms is about 0.2%. Describe it as minimal in this local rehearsal. This observation does not prove that OBI caused the difference, that it is statistically significant, or that the same result will hold in production. CPU and memory were added separately, as shown in the table.</a:t>
            </a:r>
          </a:p>
          <a:p xmlns:a="http://schemas.openxmlformats.org/drawingml/2006/main">
            <a:r>
              <a:t/>
            </a:r>
            <a:endParaRPr/>
          </a:p>
          <a:p xmlns:a="http://schemas.openxmlformats.org/drawingml/2006/main">
            <a:r>
              <a:t>These are local kind rehearsal observations for B (Cilium and Hubble, OBI off) and D (Cilium and Hubble plus OBI with TCX). They are not production capacity results. The no-eBPF reference N and conditions A, C, and E remain unmeasured.</a:t>
            </a:r>
          </a:p>
          <a:p xmlns:a="http://schemas.openxmlformats.org/drawingml/2006/main">
            <a:r>
              <a:t/>
            </a:r>
            <a:endParaRPr/>
          </a:p>
          <a:p xmlns:a="http://schemas.openxmlformats.org/drawingml/2006/main">
            <a:r>
              <a:t>Both conditions used the same three-node cluster and route. Background demo traffic was paused. Each condition had a 40-request warm-up and five samples of 200 requests at concurrency 20 through kubectl port-forward. B ran before D, so time-order effects remain possible. Throughput median: B 19.77 req/s; D 19.73 req/s. p95 median: B 1,018 ms; D 1,020 ms. There were zero failed requests across 1,000 requests in each condition. OBI used a median 0.0128 CPU cores and 253.2 MiB working set across two pods. The Collector accepted and exported 7,210 spans during D. These numbers describe this single rehearsal only.</a:t>
            </a:r>
          </a:p>
          <a:p xmlns:a="http://schemas.openxmlformats.org/drawingml/2006/main">
            <a:r>
              <a:t/>
            </a:r>
            <a:endParaRPr/>
          </a:p>
          <a:p xmlns:a="http://schemas.openxmlformats.org/drawingml/2006/main">
            <a:r>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xmlns:a="http://schemas.openxmlformats.org/drawingml/2006/main">
            <a:r>
              <a:t/>
            </a:r>
            <a:endParaRPr/>
          </a:p>
          <a:p xmlns:a="http://schemas.openxmlformats.org/drawingml/2006/main">
            <a:r>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xmlns:a="http://schemas.openxmlformats.org/drawingml/2006/main">
            <a:r>
              <a:t/>
            </a:r>
            <a:endParaRPr/>
          </a:p>
          <a:p xmlns:a="http://schemas.openxmlformats.org/drawingml/2006/main">
            <a:r>
              <a:t>Sources:</a:t>
            </a:r>
          </a:p>
          <a:p xmlns:a="http://schemas.openxmlformats.org/drawingml/2006/main">
            <a:r>
              <a:t>- /Users/antonjim/Documents/Playground/cilium-obi-demo/evidence/benchmark-2026-09-26/results.md</a:t>
            </a:r>
          </a:p>
          <a:p xmlns:a="http://schemas.openxmlformats.org/drawingml/2006/main">
            <a:r>
              <a:t>- https://docs.cilium.io/en/latest/observability/metrics/#lost-events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Why this slide is here: the previous slide reports one local rehearsal. Similar request throughput and latency do not yet tell us whether we can afford to enable OBI across the cluster. This slide lists the other checks needed for that rollout decision.</a:t>
            </a:r>
          </a:p>
          <a:p>
            <a:endParaRPr/>
          </a:p>
          <a:p>
            <a:r>
              <a:t>CPU: measure the extra CPU used by applications, Cilium, Hubble, OBI, and the Collector, as well as the whole node. Memory: count agent memory and the memory used by BPF programs and maps in the kernel.</a:t>
            </a:r>
          </a:p>
          <a:p>
            <a:endParaRPr/>
          </a:p>
          <a:p>
            <a:r>
              <a:t>Missing data: check for lost Hubble events, refused spans, exporter failures, and dropped telemetry. Here, loss means missing monitoring records. A packet deliberately denied by network policy is a separate traffic outcome.</a:t>
            </a:r>
          </a:p>
          <a:p>
            <a:endParaRPr/>
          </a:p>
          <a:p>
            <a:r>
              <a:t>Data volume: count spans, metric samples, flow records, and active metric series. More data creates processing and storage costs even when application latency barely changes.</a:t>
            </a:r>
          </a:p>
          <a:p>
            <a:endParaRPr/>
          </a:p>
          <a:p>
            <a:r>
              <a:t>Choose acceptable limits for your own environment before expanding. Compare the same workload with OBI off and on. In our rehearsal, the Hubble-loss comparison still needs a valid run with matching time windows.</a:t>
            </a:r>
          </a:p>
          <a:p>
            <a:endParaRPr/>
          </a:p>
          <a:p>
            <a:r>
              <a:t>Transition: the next section turns these checks into a gradual production rollout.</a:t>
            </a:r>
          </a:p>
          <a:p>
            <a:endParaRPr/>
          </a:p>
          <a:p>
            <a:r>
              <a:t>Sources:</a:t>
            </a:r>
          </a:p>
          <a:p>
            <a:r>
              <a:t>- https://opentelemetry.io/docs/collector/internal-telemetry/</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The idea is to try OBI on a few nodes, check the result, and then expand.</a:t>
            </a:r>
          </a:p>
          <a:p>
            <a:endParaRPr/>
          </a:p>
          <a:p>
            <a:r>
              <a:t>1. Start small. Enable OBI on a few selected nodes first. Before starting, confirm the node requirements, permissions, and attachment settings covered earlier.</a:t>
            </a:r>
          </a:p>
          <a:p>
            <a:endParaRPr/>
          </a:p>
          <a:p>
            <a:r>
              <a:t>2. Check the results. Confirm that normal requests still work and policy still blocks the requests it should block. Check that OBI and Hubble provide the expected telemetry. Compare CPU, memory, missing telemetry, and data volume with the baseline.</a:t>
            </a:r>
          </a:p>
          <a:p>
            <a:endParaRPr/>
          </a:p>
          <a:p>
            <a:r>
              <a:t>3. Expand gradually. If the checks pass, add more nodes and repeat them. If a check fails, stop expanding and restore the previous setup.</a:t>
            </a:r>
          </a:p>
          <a:p>
            <a:endParaRPr/>
          </a:p>
          <a:p>
            <a:r>
              <a:t>Transition: the next slide summarizes the three rules for running both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Close by answering the three questions from the opening: does traffic still behave correctly, do we have the evidence we need, and what does the extra telemetry cost?</a:t>
            </a:r>
          </a:p>
          <a:p>
            <a:endParaRPr/>
          </a:p>
          <a:p>
            <a:r>
              <a:t>1. Verify traffic and order. Send an allowed request and a request that policy should deny. Check that both outcomes are correct. Inspect the actual attachments on the node. Use TCX when the node and both agents support it; otherwise configure and verify the legacy priorities.</a:t>
            </a:r>
          </a:p>
          <a:p>
            <a:endParaRPr/>
          </a:p>
          <a:p>
            <a:r>
              <a:t>The former heading Prefer TCX meant use the newer attachment API where supported. TC provides the ingress and egress packet checkpoints. TCX lets agents ask for a position in an ordered list at those same checkpoints. In this setup, OBI asks for the head and Cilium for the tail. Legacy TC uses numeric priorities instead: lower numbers run earlier.</a:t>
            </a:r>
          </a:p>
          <a:p>
            <a:endParaRPr/>
          </a:p>
          <a:p>
            <a:r>
              <a:t>2. Correlate the signals. Use OBI for the application request and Hubble for network and policy evidence. Match a bounded time window, source and destination workloads, direction, and port. These fields provide investigative context; they do not create a unique trace-ID join by themselves.</a:t>
            </a:r>
          </a:p>
          <a:p>
            <a:endParaRPr/>
          </a:p>
          <a:p>
            <a:r>
              <a:t>3. Measure before rollout. Compare CPU, memory, missing telemetry, and exported data volume with the baseline. Expand when those checks meet the limits chosen for the environment.</a:t>
            </a:r>
          </a:p>
          <a:p>
            <a:endParaRPr/>
          </a:p>
          <a:p>
            <a:r>
              <a:t>Source:</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These fragments match demo/obi-values.yaml and demo/cilium-values.yaml in the workspace. Render the charts before the live session.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4.xml"/><Relationship Id="rId5" Type="http://schemas.openxmlformats.org/officeDocument/2006/relationships/hyperlink" Target="https://github.com/open-telemetry/opentelemetry-ebpf-instrumentation" TargetMode="External"/><Relationship Id="rId4" Type="http://schemas.openxmlformats.org/officeDocument/2006/relationships/hyperlink" Target="https://opentelemetry.io/docs/zero-code/obi/"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3.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E202DE-F0C4-F38B-E5D9-3EDB75497747}"/>
              </a:ext>
            </a:extLst>
          </p:cNvPr>
          <p:cNvSpPr>
            <a:spLocks noGrp="1"/>
          </p:cNvSpPr>
          <p:nvPr>
            <p:ph type="title"/>
          </p:nvPr>
        </p:nvSpPr>
        <p:spPr>
          <a:xfrm>
            <a:off x="323850" y="2181225"/>
            <a:ext cx="5204883" cy="1554163"/>
          </a:xfrm>
        </p:spPr>
        <p:txBody>
          <a:bodyPr/>
          <a:lstStyle/>
          <a:p>
            <a:r>
              <a:t>Two eBPF Systems,</a:t>
            </a:r>
          </a:p>
          <a:p>
            <a:r>
              <a:t>One Kubernetes Node</a:t>
            </a:r>
          </a:p>
        </p:txBody>
      </p:sp>
      <p:sp>
        <p:nvSpPr>
          <p:cNvPr id="11" name="Text Placeholder 10">
            <a:extLst>
              <a:ext uri="{FF2B5EF4-FFF2-40B4-BE49-F238E27FC236}">
                <a16:creationId xmlns:a16="http://schemas.microsoft.com/office/drawing/2014/main" id="{BF2F44CF-ACFF-5B47-1E65-5DC0E344BBF1}"/>
              </a:ext>
            </a:extLst>
          </p:cNvPr>
          <p:cNvSpPr>
            <a:spLocks noGrp="1"/>
          </p:cNvSpPr>
          <p:nvPr>
            <p:ph type="body" idx="13"/>
          </p:nvPr>
        </p:nvSpPr>
        <p:spPr/>
        <p:txBody>
          <a:bodyPr/>
          <a:lstStyle/>
          <a:p>
            <a:r>
              <a:t>Running OpenTelemetry OBI and Cilium together</a:t>
            </a:r>
          </a:p>
        </p:txBody>
      </p:sp>
      <p:sp>
        <p:nvSpPr>
          <p:cNvPr id="16" name="Text Placeholder 15">
            <a:extLst>
              <a:ext uri="{FF2B5EF4-FFF2-40B4-BE49-F238E27FC236}">
                <a16:creationId xmlns:a16="http://schemas.microsoft.com/office/drawing/2014/main" id="{224B78CB-A350-22C0-F50A-644022F70AA5}"/>
              </a:ext>
            </a:extLst>
          </p:cNvPr>
          <p:cNvSpPr>
            <a:spLocks noGrp="1"/>
          </p:cNvSpPr>
          <p:nvPr>
            <p:ph type="body" idx="12"/>
          </p:nvPr>
        </p:nvSpPr>
        <p:spPr>
          <a:xfrm>
            <a:off x="323850" y="6364224"/>
            <a:ext cx="3906838" cy="493776"/>
          </a:xfrm>
        </p:spPr>
        <p:txBody>
          <a:bodyPr/>
          <a:lstStyle/>
          <a:p>
            <a:r>
              <a:t>Anton Jimenez · KubeCon + CloudNativeCon NA 2026</a:t>
            </a:r>
          </a:p>
        </p:txBody>
      </p:sp>
    </p:spTree>
    <p:extLst>
      <p:ext uri="{BB962C8B-B14F-4D97-AF65-F5344CB8AC3E}">
        <p14:creationId xmlns:p14="http://schemas.microsoft.com/office/powerpoint/2010/main" val="2366237103"/>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533400" y="361950"/>
            <a:ext cx="10763250" cy="647700"/>
          </a:xfrm>
          <a:prstGeom prst="rect">
            <a:avLst/>
          </a:prstGeom>
          <a:noFill/>
          <a:ln w="0">
            <a:noFill/>
          </a:ln>
        </p:spPr>
        <p:txBody>
          <a:bodyPr anchor="t">
            <a:no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a:ext uri="{FF2B5EF4-FFF2-40B4-BE49-F238E27FC236}">
                <a16:creationId xmlns:a16="http://schemas.microsoft.com/office/drawing/2014/main" id="{47EA0793-C78B-4E2F-9902-7D0C563A2053}"/>
              </a:ext>
            </a:extLst>
          </p:cNvPr>
          <p:cNvSpPr>
            <a:spLocks noGrp="1"/>
          </p:cNvSpPr>
          <p:nvPr/>
        </p:nvSpPr>
        <p:spPr>
          <a:xfrm>
            <a:off x="8763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AF9071E1-2371-4EFE-8EC1-D5B8EF52240E}"/>
              </a:ext>
            </a:extLst>
          </p:cNvPr>
          <p:cNvSpPr>
            <a:spLocks noGrp="1"/>
          </p:cNvSpPr>
          <p:nvPr/>
        </p:nvSpPr>
        <p:spPr>
          <a:xfrm>
            <a:off x="18764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dirty="0">
                <a:solidFill>
                  <a:srgbClr val="07182A"/>
                </a:solidFill>
                <a:latin typeface="CiscoSansTT Medium"/>
                <a:ea typeface="CiscoSansTT Medium"/>
                <a:cs typeface="CiscoSansTT Medium"/>
              </a:rPr>
              <a:t>OBI vs Cilium + Hubble</a:t>
            </a:r>
          </a:p>
        </p:txBody>
      </p:sp>
      <p:sp>
        <p:nvSpPr>
          <p:cNvPr id="4" name="Rectangle 3">
            <a:extLst>
              <a:ext uri="{FF2B5EF4-FFF2-40B4-BE49-F238E27FC236}">
                <a16:creationId xmlns:a16="http://schemas.microsoft.com/office/drawing/2014/main" id="{F1C4AE24-03D8-4219-82A5-69355D3425E8}"/>
              </a:ext>
            </a:extLst>
          </p:cNvPr>
          <p:cNvSpPr>
            <a:spLocks noGrp="1"/>
          </p:cNvSpPr>
          <p:nvPr/>
        </p:nvSpPr>
        <p:spPr>
          <a:xfrm>
            <a:off x="1876425" y="2209800"/>
            <a:ext cx="39052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08D6A3A6-BCF5-41B2-A498-0B9E5CD03507}"/>
              </a:ext>
            </a:extLst>
          </p:cNvPr>
          <p:cNvSpPr>
            <a:spLocks noGrp="1"/>
          </p:cNvSpPr>
          <p:nvPr/>
        </p:nvSpPr>
        <p:spPr>
          <a:xfrm>
            <a:off x="8763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a:ext uri="{FF2B5EF4-FFF2-40B4-BE49-F238E27FC236}">
                <a16:creationId xmlns:a16="http://schemas.microsoft.com/office/drawing/2014/main" id="{5427CE96-D1A7-435E-9CFB-B4349F764F82}"/>
              </a:ext>
            </a:extLst>
          </p:cNvPr>
          <p:cNvSpPr>
            <a:spLocks noGrp="1"/>
          </p:cNvSpPr>
          <p:nvPr/>
        </p:nvSpPr>
        <p:spPr>
          <a:xfrm>
            <a:off x="18764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a:ext uri="{FF2B5EF4-FFF2-40B4-BE49-F238E27FC236}">
                <a16:creationId xmlns:a16="http://schemas.microsoft.com/office/drawing/2014/main" id="{721DF949-ECCD-4C23-BC0E-AA64404F88CB}"/>
              </a:ext>
            </a:extLst>
          </p:cNvPr>
          <p:cNvSpPr>
            <a:spLocks noGrp="1"/>
          </p:cNvSpPr>
          <p:nvPr/>
        </p:nvSpPr>
        <p:spPr>
          <a:xfrm>
            <a:off x="1876425" y="3409950"/>
            <a:ext cx="39052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CC1267DE-B7B2-4A83-86F5-D8E5B14C600C}"/>
              </a:ext>
            </a:extLst>
          </p:cNvPr>
          <p:cNvSpPr>
            <a:spLocks noGrp="1"/>
          </p:cNvSpPr>
          <p:nvPr/>
        </p:nvSpPr>
        <p:spPr>
          <a:xfrm>
            <a:off x="8763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a:ext uri="{FF2B5EF4-FFF2-40B4-BE49-F238E27FC236}">
                <a16:creationId xmlns:a16="http://schemas.microsoft.com/office/drawing/2014/main" id="{C62A8A12-A547-4E33-B2AF-B2609FA728C0}"/>
              </a:ext>
            </a:extLst>
          </p:cNvPr>
          <p:cNvSpPr>
            <a:spLocks noGrp="1"/>
          </p:cNvSpPr>
          <p:nvPr/>
        </p:nvSpPr>
        <p:spPr>
          <a:xfrm>
            <a:off x="18764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a:ext uri="{FF2B5EF4-FFF2-40B4-BE49-F238E27FC236}">
                <a16:creationId xmlns:a16="http://schemas.microsoft.com/office/drawing/2014/main" id="{E3980FFE-1F3F-4885-9E11-751F56C0BC93}"/>
              </a:ext>
            </a:extLst>
          </p:cNvPr>
          <p:cNvSpPr>
            <a:spLocks noGrp="1"/>
          </p:cNvSpPr>
          <p:nvPr/>
        </p:nvSpPr>
        <p:spPr>
          <a:xfrm>
            <a:off x="1876425" y="4610100"/>
            <a:ext cx="39052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F597A3DA-EF14-4A49-AC78-E8CA1F50DF05}"/>
              </a:ext>
            </a:extLst>
          </p:cNvPr>
          <p:cNvSpPr>
            <a:spLocks noGrp="1"/>
          </p:cNvSpPr>
          <p:nvPr/>
        </p:nvSpPr>
        <p:spPr>
          <a:xfrm>
            <a:off x="64770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a:ext uri="{FF2B5EF4-FFF2-40B4-BE49-F238E27FC236}">
                <a16:creationId xmlns:a16="http://schemas.microsoft.com/office/drawing/2014/main" id="{9B3E707B-5C31-4C26-8CE7-770843414CE5}"/>
              </a:ext>
            </a:extLst>
          </p:cNvPr>
          <p:cNvSpPr>
            <a:spLocks noGrp="1"/>
          </p:cNvSpPr>
          <p:nvPr/>
        </p:nvSpPr>
        <p:spPr>
          <a:xfrm>
            <a:off x="74771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lang="en-US" sz="2100" b="1" dirty="0">
                <a:solidFill>
                  <a:srgbClr val="07182A"/>
                </a:solidFill>
                <a:latin typeface="CiscoSansTT Medium"/>
                <a:ea typeface="CiscoSansTT Medium"/>
                <a:cs typeface="CiscoSansTT Medium"/>
              </a:rPr>
              <a:t>Demo</a:t>
            </a:r>
            <a:endParaRPr sz="2100" b="1" dirty="0">
              <a:solidFill>
                <a:srgbClr val="07182A"/>
              </a:solidFill>
              <a:latin typeface="CiscoSansTT Medium"/>
              <a:ea typeface="CiscoSansTT Medium"/>
              <a:cs typeface="CiscoSansTT Medium"/>
            </a:endParaRPr>
          </a:p>
        </p:txBody>
      </p:sp>
      <p:sp>
        <p:nvSpPr>
          <p:cNvPr id="13" name="Rectangle 12">
            <a:extLst>
              <a:ext uri="{FF2B5EF4-FFF2-40B4-BE49-F238E27FC236}">
                <a16:creationId xmlns:a16="http://schemas.microsoft.com/office/drawing/2014/main" id="{18535E0D-77D8-458C-99DB-DBBA068786D7}"/>
              </a:ext>
            </a:extLst>
          </p:cNvPr>
          <p:cNvSpPr>
            <a:spLocks noGrp="1"/>
          </p:cNvSpPr>
          <p:nvPr/>
        </p:nvSpPr>
        <p:spPr>
          <a:xfrm>
            <a:off x="7477125" y="2209800"/>
            <a:ext cx="39052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929BE267-4CA4-4BAA-B490-AB20218BE7BA}"/>
              </a:ext>
            </a:extLst>
          </p:cNvPr>
          <p:cNvSpPr>
            <a:spLocks noGrp="1"/>
          </p:cNvSpPr>
          <p:nvPr/>
        </p:nvSpPr>
        <p:spPr>
          <a:xfrm>
            <a:off x="64770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a:ext uri="{FF2B5EF4-FFF2-40B4-BE49-F238E27FC236}">
                <a16:creationId xmlns:a16="http://schemas.microsoft.com/office/drawing/2014/main" id="{B357B8D1-CA8D-49E6-98AC-5457FAF96A1A}"/>
              </a:ext>
            </a:extLst>
          </p:cNvPr>
          <p:cNvSpPr>
            <a:spLocks noGrp="1"/>
          </p:cNvSpPr>
          <p:nvPr/>
        </p:nvSpPr>
        <p:spPr>
          <a:xfrm>
            <a:off x="74771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a:ext uri="{FF2B5EF4-FFF2-40B4-BE49-F238E27FC236}">
                <a16:creationId xmlns:a16="http://schemas.microsoft.com/office/drawing/2014/main" id="{A03C16AE-F78F-4A62-82F9-113185187DD3}"/>
              </a:ext>
            </a:extLst>
          </p:cNvPr>
          <p:cNvSpPr>
            <a:spLocks noGrp="1"/>
          </p:cNvSpPr>
          <p:nvPr/>
        </p:nvSpPr>
        <p:spPr>
          <a:xfrm>
            <a:off x="7477125" y="3409950"/>
            <a:ext cx="3905250" cy="9525"/>
          </a:xfrm>
          <a:prstGeom prst="rect">
            <a:avLst/>
          </a:prstGeom>
          <a:solidFill>
            <a:srgbClr val="D6D6D6"/>
          </a:solidFill>
          <a:ln w="0">
            <a:noFill/>
          </a:ln>
        </p:spPr>
        <p:txBody>
          <a:bodyPr/>
          <a:lstStyle/>
          <a:p>
            <a:endParaRPr/>
          </a:p>
        </p:txBody>
      </p:sp>
      <p:sp>
        <p:nvSpPr>
          <p:cNvPr id="17" name="Rectangle 16">
            <a:extLst>
              <a:ext uri="{FF2B5EF4-FFF2-40B4-BE49-F238E27FC236}">
                <a16:creationId xmlns:a16="http://schemas.microsoft.com/office/drawing/2014/main" id="{CDF39F5D-82A7-43DA-B918-9373DC8A03ED}"/>
              </a:ext>
            </a:extLst>
          </p:cNvPr>
          <p:cNvSpPr>
            <a:spLocks noGrp="1"/>
          </p:cNvSpPr>
          <p:nvPr/>
        </p:nvSpPr>
        <p:spPr>
          <a:xfrm>
            <a:off x="64770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a:ext uri="{FF2B5EF4-FFF2-40B4-BE49-F238E27FC236}">
                <a16:creationId xmlns:a16="http://schemas.microsoft.com/office/drawing/2014/main" id="{82632E2D-769F-47E9-B6EA-08FF75570C4A}"/>
              </a:ext>
            </a:extLst>
          </p:cNvPr>
          <p:cNvSpPr>
            <a:spLocks noGrp="1"/>
          </p:cNvSpPr>
          <p:nvPr/>
        </p:nvSpPr>
        <p:spPr>
          <a:xfrm>
            <a:off x="74771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a:ext uri="{FF2B5EF4-FFF2-40B4-BE49-F238E27FC236}">
                <a16:creationId xmlns:a16="http://schemas.microsoft.com/office/drawing/2014/main" id="{F815B16F-747D-45B6-A0F1-C46A61EBB3DA}"/>
              </a:ext>
            </a:extLst>
          </p:cNvPr>
          <p:cNvSpPr>
            <a:spLocks noGrp="1"/>
          </p:cNvSpPr>
          <p:nvPr/>
        </p:nvSpPr>
        <p:spPr>
          <a:xfrm>
            <a:off x="7477125" y="4610100"/>
            <a:ext cx="3905250" cy="9525"/>
          </a:xfrm>
          <a:prstGeom prst="rect">
            <a:avLst/>
          </a:prstGeom>
          <a:solidFill>
            <a:srgbClr val="D6D6D6"/>
          </a:solidFill>
          <a:ln w="0">
            <a:noFill/>
          </a:ln>
        </p:spPr>
        <p:txBody>
          <a:bodyPr/>
          <a:lstStyle/>
          <a:p>
            <a:endParaRPr/>
          </a:p>
        </p:txBody>
      </p:sp>
      <p:sp>
        <p:nvSpPr>
          <p:cNvPr id="20" name="Rounded Rectangle 19">
            <a:extLst>
              <a:ext uri="{FF2B5EF4-FFF2-40B4-BE49-F238E27FC236}">
                <a16:creationId xmlns:a16="http://schemas.microsoft.com/office/drawing/2014/main" id="{FC8E9A76-0120-4DAE-BC83-519A8F5F25AA}"/>
              </a:ext>
            </a:extLst>
          </p:cNvPr>
          <p:cNvSpPr>
            <a:spLocks noGrp="1"/>
          </p:cNvSpPr>
          <p:nvPr/>
        </p:nvSpPr>
        <p:spPr>
          <a:xfrm>
            <a:off x="2724150" y="5562600"/>
            <a:ext cx="6743700" cy="381000"/>
          </a:xfrm>
          <a:prstGeom prst="roundRect">
            <a:avLst>
              <a:gd name="adj" fmla="val 20000"/>
            </a:avLst>
          </a:prstGeom>
          <a:solidFill>
            <a:srgbClr val="07182A"/>
          </a:solidFill>
          <a:ln w="0">
            <a:noFill/>
          </a:ln>
        </p:spPr>
        <p:txBody>
          <a:bodyPr anchor="ctr">
            <a:normAutofit/>
          </a:bodyPr>
          <a:lstStyle/>
          <a:p>
            <a:pPr algn="ctr">
              <a:buNone/>
              <a:defRPr sz="1275" b="1">
                <a:solidFill>
                  <a:srgbClr val="FFFFFF"/>
                </a:solidFill>
                <a:latin typeface="CiscoSansTT Medium"/>
                <a:ea typeface="CiscoSansTT Medium"/>
                <a:cs typeface="CiscoSansTT Medium"/>
              </a:defRPr>
            </a:pPr>
            <a:r>
              <a:rPr sz="1275" b="1" dirty="0">
                <a:solidFill>
                  <a:srgbClr val="FFFFFF"/>
                </a:solidFill>
                <a:latin typeface="CiscoSansTT Medium"/>
                <a:ea typeface="CiscoSansTT Medium"/>
                <a:cs typeface="CiscoSansTT Medium"/>
              </a:rPr>
              <a:t>ONE REQUEST · TWO TELEMETRY VIEWS</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533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a:ext uri="{FF2B5EF4-FFF2-40B4-BE49-F238E27FC236}">
                <a16:creationId xmlns:a16="http://schemas.microsoft.com/office/drawing/2014/main" id="{A334CE78-A7CE-48FF-8708-F87B568CB332}"/>
              </a:ext>
            </a:extLst>
          </p:cNvPr>
          <p:cNvSpPr>
            <a:spLocks noGrp="1"/>
          </p:cNvSpPr>
          <p:nvPr/>
        </p:nvSpPr>
        <p:spPr>
          <a:xfrm>
            <a:off x="723900" y="1343025"/>
            <a:ext cx="10572750" cy="457200"/>
          </a:xfrm>
          <a:prstGeom prst="rect">
            <a:avLst/>
          </a:prstGeom>
          <a:noFill/>
          <a:ln w="0">
            <a:noFill/>
          </a:ln>
        </p:spPr>
        <p:txBody>
          <a:bodyPr anchor="ctr">
            <a:noAutofit/>
          </a:bodyPr>
          <a:lstStyle>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a:pPr algn="l">
              <a:buNone/>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Rectangle 17">
            <a:extLst>
              <a:ext uri="{FF2B5EF4-FFF2-40B4-BE49-F238E27FC236}">
                <a16:creationId xmlns:a16="http://schemas.microsoft.com/office/drawing/2014/main" id="{D9A99B0B-3915-46AB-9DF7-9A6093270C98}"/>
              </a:ext>
            </a:extLst>
          </p:cNvPr>
          <p:cNvSpPr>
            <a:spLocks noGrp="1"/>
          </p:cNvSpPr>
          <p:nvPr/>
        </p:nvSpPr>
        <p:spPr>
          <a:xfrm>
            <a:off x="742950" y="20764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a:ext uri="{FF2B5EF4-FFF2-40B4-BE49-F238E27FC236}">
                <a16:creationId xmlns:a16="http://schemas.microsoft.com/office/drawing/2014/main" id="{8D9D5781-19F1-4B23-A7A1-3479877C9FE1}"/>
              </a:ext>
            </a:extLst>
          </p:cNvPr>
          <p:cNvSpPr>
            <a:spLocks noGrp="1"/>
          </p:cNvSpPr>
          <p:nvPr/>
        </p:nvSpPr>
        <p:spPr>
          <a:xfrm>
            <a:off x="1638300" y="20859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a:t>
            </a:r>
          </a:p>
        </p:txBody>
      </p:sp>
      <p:sp>
        <p:nvSpPr>
          <p:cNvPr id="20" name="Rectangle 19">
            <a:extLst>
              <a:ext uri="{FF2B5EF4-FFF2-40B4-BE49-F238E27FC236}">
                <a16:creationId xmlns:a16="http://schemas.microsoft.com/office/drawing/2014/main" id="{475C7ABE-C852-46F0-8440-29E93435EE74}"/>
              </a:ext>
            </a:extLst>
          </p:cNvPr>
          <p:cNvSpPr>
            <a:spLocks noGrp="1"/>
          </p:cNvSpPr>
          <p:nvPr/>
        </p:nvSpPr>
        <p:spPr>
          <a:xfrm>
            <a:off x="1638300" y="25241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dirty="0">
                <a:solidFill>
                  <a:srgbClr val="686B6B"/>
                </a:solidFill>
                <a:latin typeface="CiscoSansTT"/>
                <a:ea typeface="CiscoSansTT"/>
                <a:cs typeface="CiscoSansTT"/>
              </a:rPr>
              <a:t>OBI uses </a:t>
            </a:r>
            <a:r>
              <a:rPr sz="1725" b="0" dirty="0" err="1">
                <a:solidFill>
                  <a:srgbClr val="686B6B"/>
                </a:solidFill>
                <a:latin typeface="CiscoSansTT"/>
                <a:ea typeface="CiscoSansTT"/>
                <a:cs typeface="CiscoSansTT"/>
              </a:rPr>
              <a:t>eBPF</a:t>
            </a:r>
            <a:r>
              <a:rPr sz="1725" b="0" dirty="0">
                <a:solidFill>
                  <a:srgbClr val="686B6B"/>
                </a:solidFill>
                <a:latin typeface="CiscoSansTT"/>
                <a:ea typeface="CiscoSansTT"/>
                <a:cs typeface="CiscoSansTT"/>
              </a:rPr>
              <a:t> to observe requests sent or</a:t>
            </a:r>
          </a:p>
          <a:p>
            <a:pPr algn="l">
              <a:buNone/>
              <a:defRPr sz="1725" b="0">
                <a:solidFill>
                  <a:srgbClr val="686B6B"/>
                </a:solidFill>
                <a:latin typeface="CiscoSansTT"/>
                <a:ea typeface="CiscoSansTT"/>
                <a:cs typeface="CiscoSansTT"/>
              </a:defRPr>
            </a:pPr>
            <a:r>
              <a:rPr sz="1725" b="0" dirty="0">
                <a:solidFill>
                  <a:srgbClr val="686B6B"/>
                </a:solidFill>
                <a:latin typeface="CiscoSansTT"/>
                <a:ea typeface="CiscoSansTT"/>
                <a:cs typeface="CiscoSansTT"/>
              </a:rPr>
              <a:t>received by applications.</a:t>
            </a:r>
          </a:p>
        </p:txBody>
      </p:sp>
      <p:sp>
        <p:nvSpPr>
          <p:cNvPr id="21" name="Rectangle 20">
            <a:extLst>
              <a:ext uri="{FF2B5EF4-FFF2-40B4-BE49-F238E27FC236}">
                <a16:creationId xmlns:a16="http://schemas.microsoft.com/office/drawing/2014/main" id="{561E33F0-9556-4CAF-999D-F7D9D5066F95}"/>
              </a:ext>
            </a:extLst>
          </p:cNvPr>
          <p:cNvSpPr>
            <a:spLocks noGrp="1"/>
          </p:cNvSpPr>
          <p:nvPr/>
        </p:nvSpPr>
        <p:spPr>
          <a:xfrm>
            <a:off x="1638300" y="3143250"/>
            <a:ext cx="6191250" cy="14288"/>
          </a:xfrm>
          <a:prstGeom prst="rect">
            <a:avLst/>
          </a:prstGeom>
          <a:solidFill>
            <a:srgbClr val="D6D6D6"/>
          </a:solidFill>
          <a:ln w="0">
            <a:noFill/>
          </a:ln>
        </p:spPr>
        <p:txBody>
          <a:bodyPr/>
          <a:lstStyle/>
          <a:p>
            <a:endParaRPr/>
          </a:p>
        </p:txBody>
      </p:sp>
      <p:sp>
        <p:nvSpPr>
          <p:cNvPr id="22" name="Rectangle 21">
            <a:extLst>
              <a:ext uri="{FF2B5EF4-FFF2-40B4-BE49-F238E27FC236}">
                <a16:creationId xmlns:a16="http://schemas.microsoft.com/office/drawing/2014/main" id="{6E3E1547-0690-41B6-A094-92DD3AD34550}"/>
              </a:ext>
            </a:extLst>
          </p:cNvPr>
          <p:cNvSpPr>
            <a:spLocks noGrp="1"/>
          </p:cNvSpPr>
          <p:nvPr/>
        </p:nvSpPr>
        <p:spPr>
          <a:xfrm>
            <a:off x="742950" y="327660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a:ext uri="{FF2B5EF4-FFF2-40B4-BE49-F238E27FC236}">
                <a16:creationId xmlns:a16="http://schemas.microsoft.com/office/drawing/2014/main" id="{9F06C7CD-12DC-45DF-8CF5-12E573F6F38D}"/>
              </a:ext>
            </a:extLst>
          </p:cNvPr>
          <p:cNvSpPr>
            <a:spLocks noGrp="1"/>
          </p:cNvSpPr>
          <p:nvPr/>
        </p:nvSpPr>
        <p:spPr>
          <a:xfrm>
            <a:off x="1638300" y="328612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Create telemetry</a:t>
            </a:r>
          </a:p>
        </p:txBody>
      </p:sp>
      <p:sp>
        <p:nvSpPr>
          <p:cNvPr id="24" name="Rectangle 23">
            <a:extLst>
              <a:ext uri="{FF2B5EF4-FFF2-40B4-BE49-F238E27FC236}">
                <a16:creationId xmlns:a16="http://schemas.microsoft.com/office/drawing/2014/main" id="{0AD620F7-9210-4E6C-977E-C41323C0D218}"/>
              </a:ext>
            </a:extLst>
          </p:cNvPr>
          <p:cNvSpPr>
            <a:spLocks noGrp="1"/>
          </p:cNvSpPr>
          <p:nvPr/>
        </p:nvSpPr>
        <p:spPr>
          <a:xfrm>
            <a:off x="1638300" y="372427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calls become spans.</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Metrics show rate, errors, and duration.</a:t>
            </a:r>
          </a:p>
        </p:txBody>
      </p:sp>
      <p:sp>
        <p:nvSpPr>
          <p:cNvPr id="25" name="Rectangle 24">
            <a:extLst>
              <a:ext uri="{FF2B5EF4-FFF2-40B4-BE49-F238E27FC236}">
                <a16:creationId xmlns:a16="http://schemas.microsoft.com/office/drawing/2014/main" id="{EF061137-362E-4028-8DC7-73E3458F86FF}"/>
              </a:ext>
            </a:extLst>
          </p:cNvPr>
          <p:cNvSpPr>
            <a:spLocks noGrp="1"/>
          </p:cNvSpPr>
          <p:nvPr/>
        </p:nvSpPr>
        <p:spPr>
          <a:xfrm>
            <a:off x="1638300" y="4343400"/>
            <a:ext cx="6191250" cy="14288"/>
          </a:xfrm>
          <a:prstGeom prst="rect">
            <a:avLst/>
          </a:prstGeom>
          <a:solidFill>
            <a:srgbClr val="D6D6D6"/>
          </a:solidFill>
          <a:ln w="0">
            <a:noFill/>
          </a:ln>
        </p:spPr>
        <p:txBody>
          <a:bodyPr/>
          <a:lstStyle/>
          <a:p>
            <a:endParaRPr/>
          </a:p>
        </p:txBody>
      </p:sp>
      <p:sp>
        <p:nvSpPr>
          <p:cNvPr id="26" name="Rectangle 25">
            <a:extLst>
              <a:ext uri="{FF2B5EF4-FFF2-40B4-BE49-F238E27FC236}">
                <a16:creationId xmlns:a16="http://schemas.microsoft.com/office/drawing/2014/main" id="{A253741F-4AF9-4008-A6F4-68EDD4CE0910}"/>
              </a:ext>
            </a:extLst>
          </p:cNvPr>
          <p:cNvSpPr>
            <a:spLocks noGrp="1"/>
          </p:cNvSpPr>
          <p:nvPr/>
        </p:nvSpPr>
        <p:spPr>
          <a:xfrm>
            <a:off x="742950" y="44767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a:ext uri="{FF2B5EF4-FFF2-40B4-BE49-F238E27FC236}">
                <a16:creationId xmlns:a16="http://schemas.microsoft.com/office/drawing/2014/main" id="{F872886C-D0B2-4EAD-86A5-A4B9EFD37913}"/>
              </a:ext>
            </a:extLst>
          </p:cNvPr>
          <p:cNvSpPr>
            <a:spLocks noGrp="1"/>
          </p:cNvSpPr>
          <p:nvPr/>
        </p:nvSpPr>
        <p:spPr>
          <a:xfrm>
            <a:off x="1638300" y="44862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Export</a:t>
            </a:r>
          </a:p>
        </p:txBody>
      </p:sp>
      <p:sp>
        <p:nvSpPr>
          <p:cNvPr id="28" name="Rectangle 27">
            <a:extLst>
              <a:ext uri="{FF2B5EF4-FFF2-40B4-BE49-F238E27FC236}">
                <a16:creationId xmlns:a16="http://schemas.microsoft.com/office/drawing/2014/main" id="{9FE58FB9-5595-40BC-80A2-0FB84D19C295}"/>
              </a:ext>
            </a:extLst>
          </p:cNvPr>
          <p:cNvSpPr>
            <a:spLocks noGrp="1"/>
          </p:cNvSpPr>
          <p:nvPr/>
        </p:nvSpPr>
        <p:spPr>
          <a:xfrm>
            <a:off x="1638300" y="49244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these signals to an</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OpenTelemetry-compatible backend.</a:t>
            </a:r>
          </a:p>
        </p:txBody>
      </p:sp>
      <p:sp>
        <p:nvSpPr>
          <p:cNvPr id="29" name="Rectangle 28">
            <a:extLst>
              <a:ext uri="{FF2B5EF4-FFF2-40B4-BE49-F238E27FC236}">
                <a16:creationId xmlns:a16="http://schemas.microsoft.com/office/drawing/2014/main" id="{1021DFE0-06B2-4E5F-900E-1BFCD8FC5AE7}"/>
              </a:ext>
            </a:extLst>
          </p:cNvPr>
          <p:cNvSpPr>
            <a:spLocks noGrp="1"/>
          </p:cNvSpPr>
          <p:nvPr/>
        </p:nvSpPr>
        <p:spPr>
          <a:xfrm>
            <a:off x="723900" y="5753100"/>
            <a:ext cx="7239000" cy="504825"/>
          </a:xfrm>
          <a:prstGeom prst="rect">
            <a:avLst/>
          </a:prstGeom>
          <a:noFill/>
          <a:ln w="0">
            <a:noFill/>
          </a:ln>
        </p:spPr>
        <p:txBody>
          <a:bodyPr anchor="ctr">
            <a:noAutofit/>
          </a:bodyPr>
          <a:lstStyle>
            <a:defPPr algn="l">
              <a:defRPr sz="1725" b="0">
                <a:solidFill>
                  <a:srgbClr val="0860FE"/>
                </a:solidFill>
                <a:latin typeface="CiscoSansTT"/>
                <a:ea typeface="CiscoSansTT"/>
                <a:cs typeface="CiscoSansTT"/>
              </a:defRPr>
            </a:defPPr>
            <a:lvl1pPr algn="l">
              <a:defRPr sz="1725" b="0">
                <a:solidFill>
                  <a:srgbClr val="0860FE"/>
                </a:solidFill>
                <a:latin typeface="CiscoSansTT"/>
                <a:ea typeface="CiscoSansTT"/>
                <a:cs typeface="CiscoSansTT"/>
              </a:defRPr>
            </a:lvl1pPr>
            <a:lvl2pPr algn="l">
              <a:defRPr sz="1725" b="0">
                <a:solidFill>
                  <a:srgbClr val="0860FE"/>
                </a:solidFill>
                <a:latin typeface="CiscoSansTT"/>
                <a:ea typeface="CiscoSansTT"/>
                <a:cs typeface="CiscoSansTT"/>
              </a:defRPr>
            </a:lvl2pPr>
            <a:lvl3pPr algn="l">
              <a:defRPr sz="1725" b="0">
                <a:solidFill>
                  <a:srgbClr val="0860FE"/>
                </a:solidFill>
                <a:latin typeface="CiscoSansTT"/>
                <a:ea typeface="CiscoSansTT"/>
                <a:cs typeface="CiscoSansTT"/>
              </a:defRPr>
            </a:lvl3pPr>
            <a:lvl4pPr algn="l">
              <a:defRPr sz="1725" b="0">
                <a:solidFill>
                  <a:srgbClr val="0860FE"/>
                </a:solidFill>
                <a:latin typeface="CiscoSansTT"/>
                <a:ea typeface="CiscoSansTT"/>
                <a:cs typeface="CiscoSansTT"/>
              </a:defRPr>
            </a:lvl4pPr>
            <a:lvl5pPr algn="l">
              <a:defRPr sz="1725" b="0">
                <a:solidFill>
                  <a:srgbClr val="0860FE"/>
                </a:solidFill>
                <a:latin typeface="CiscoSansTT"/>
                <a:ea typeface="CiscoSansTT"/>
                <a:cs typeface="CiscoSansTT"/>
              </a:defRPr>
            </a:lvl5pPr>
            <a:lvl6pPr algn="l">
              <a:defRPr sz="1725" b="0">
                <a:solidFill>
                  <a:srgbClr val="0860FE"/>
                </a:solidFill>
                <a:latin typeface="CiscoSansTT"/>
                <a:ea typeface="CiscoSansTT"/>
                <a:cs typeface="CiscoSansTT"/>
              </a:defRPr>
            </a:lvl6pPr>
            <a:lvl7pPr algn="l">
              <a:defRPr sz="1725" b="0">
                <a:solidFill>
                  <a:srgbClr val="0860FE"/>
                </a:solidFill>
                <a:latin typeface="CiscoSansTT"/>
                <a:ea typeface="CiscoSansTT"/>
                <a:cs typeface="CiscoSansTT"/>
              </a:defRPr>
            </a:lvl7pPr>
            <a:lvl8pPr algn="l">
              <a:defRPr sz="1725" b="0">
                <a:solidFill>
                  <a:srgbClr val="0860FE"/>
                </a:solidFill>
                <a:latin typeface="CiscoSansTT"/>
                <a:ea typeface="CiscoSansTT"/>
                <a:cs typeface="CiscoSansTT"/>
              </a:defRPr>
            </a:lvl8pPr>
            <a:lvl9pPr algn="l">
              <a:defRPr sz="1725" b="0">
                <a:solidFill>
                  <a:srgbClr val="0860FE"/>
                </a:solidFill>
                <a:latin typeface="CiscoSansTT"/>
                <a:ea typeface="CiscoSansTT"/>
                <a:cs typeface="CiscoSansTT"/>
              </a:defRPr>
            </a:lvl9pPr>
          </a:lstStyle>
          <a:p>
            <a:pPr algn="l">
              <a:buNone/>
              <a:defRPr sz="1725" b="0">
                <a:solidFill>
                  <a:srgbClr val="0860FE"/>
                </a:solidFill>
                <a:latin typeface="CiscoSansTT"/>
                <a:ea typeface="CiscoSansTT"/>
                <a:cs typeface="CiscoSansTT"/>
              </a:defRPr>
            </a:pPr>
            <a:r>
              <a:rPr sz="1725" b="0" dirty="0">
                <a:solidFill>
                  <a:srgbClr val="0860FE"/>
                </a:solidFill>
                <a:latin typeface="CiscoSansTT"/>
                <a:ea typeface="CiscoSansTT"/>
                <a:cs typeface="CiscoSansTT"/>
              </a:rPr>
              <a:t>No application code changes</a:t>
            </a:r>
          </a:p>
        </p:txBody>
      </p:sp>
      <p:sp>
        <p:nvSpPr>
          <p:cNvPr id="30" name="obi-telemetry-diagram-label">
            <a:extLst>
              <a:ext uri="{FF2B5EF4-FFF2-40B4-BE49-F238E27FC236}">
                <a16:creationId xmlns:a16="http://schemas.microsoft.com/office/drawing/2014/main" id="{885035E3-FAA4-47FE-89FD-3DBEC63A60A7}"/>
              </a:ext>
            </a:extLst>
          </p:cNvPr>
          <p:cNvSpPr>
            <a:spLocks noGrp="1"/>
          </p:cNvSpPr>
          <p:nvPr/>
        </p:nvSpPr>
        <p:spPr>
          <a:xfrm>
            <a:off x="8591550" y="1819275"/>
            <a:ext cx="2857500" cy="323850"/>
          </a:xfrm>
          <a:prstGeom prst="rect">
            <a:avLst/>
          </a:prstGeom>
          <a:noFill/>
          <a:ln w="0">
            <a:noFill/>
          </a:ln>
        </p:spPr>
        <p:txBody>
          <a:bodyPr anchor="ctr">
            <a:noAutofit/>
          </a:bodyPr>
          <a:lstStyle>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Telemetry path</a:t>
            </a:r>
          </a:p>
        </p:txBody>
      </p:sp>
      <p:sp>
        <p:nvSpPr>
          <p:cNvPr id="31" name="obi-supported-app">
            <a:extLst>
              <a:ext uri="{FF2B5EF4-FFF2-40B4-BE49-F238E27FC236}">
                <a16:creationId xmlns:a16="http://schemas.microsoft.com/office/drawing/2014/main" id="{E492C830-4595-48CA-9340-A4300270F054}"/>
              </a:ext>
            </a:extLst>
          </p:cNvPr>
          <p:cNvSpPr>
            <a:spLocks noGrp="1"/>
          </p:cNvSpPr>
          <p:nvPr/>
        </p:nvSpPr>
        <p:spPr>
          <a:xfrm>
            <a:off x="8782050" y="2286000"/>
            <a:ext cx="2514600" cy="685800"/>
          </a:xfrm>
          <a:prstGeom prst="roundRect">
            <a:avLst>
              <a:gd name="adj" fmla="val 9722"/>
            </a:avLst>
          </a:prstGeom>
          <a:solidFill>
            <a:srgbClr val="FFFFFF"/>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Supported</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a:t>
            </a:r>
          </a:p>
        </p:txBody>
      </p:sp>
      <p:cxnSp>
        <p:nvCxnSpPr>
          <p:cNvPr id="32" name="app-observations-to-obi">
            <a:extLst>
              <a:ext uri="{FF2B5EF4-FFF2-40B4-BE49-F238E27FC236}">
                <a16:creationId xmlns:a16="http://schemas.microsoft.com/office/drawing/2014/main" id="{6C265905-52A2-4B9A-A60B-136CF935C6F7}"/>
              </a:ext>
            </a:extLst>
          </p:cNvPr>
          <p:cNvCxnSpPr/>
          <p:nvPr/>
        </p:nvCxnSpPr>
        <p:spPr>
          <a:xfrm>
            <a:off x="10039350" y="2971800"/>
            <a:ext cx="0" cy="514350"/>
          </a:xfrm>
          <a:prstGeom prst="straightConnector1">
            <a:avLst/>
          </a:prstGeom>
          <a:ln w="19050">
            <a:solidFill>
              <a:srgbClr val="FF007F"/>
            </a:solidFill>
            <a:tailEnd type="arrow" w="med" len="med"/>
          </a:ln>
        </p:spPr>
      </p:cxnSp>
      <p:sp>
        <p:nvSpPr>
          <p:cNvPr id="33" name="obi-agent">
            <a:extLst>
              <a:ext uri="{FF2B5EF4-FFF2-40B4-BE49-F238E27FC236}">
                <a16:creationId xmlns:a16="http://schemas.microsoft.com/office/drawing/2014/main" id="{D0DAE50F-661B-4E53-842F-04A0739507A5}"/>
              </a:ext>
            </a:extLst>
          </p:cNvPr>
          <p:cNvSpPr>
            <a:spLocks noGrp="1"/>
          </p:cNvSpPr>
          <p:nvPr/>
        </p:nvSpPr>
        <p:spPr>
          <a:xfrm>
            <a:off x="8782050" y="3486150"/>
            <a:ext cx="2514600" cy="838200"/>
          </a:xfrm>
          <a:prstGeom prst="roundRect">
            <a:avLst>
              <a:gd name="adj" fmla="val 7955"/>
            </a:avLst>
          </a:prstGeom>
          <a:solidFill>
            <a:srgbClr val="F6ECF5"/>
          </a:solidFill>
          <a:ln w="11906">
            <a:solidFill>
              <a:srgbClr val="FF007F"/>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endParaRPr/>
          </a:p>
        </p:txBody>
      </p:sp>
      <p:pic>
        <p:nvPicPr>
          <p:cNvPr id="34" name="Picture 33">
            <a:extLst>
              <a:ext uri="{FF2B5EF4-FFF2-40B4-BE49-F238E27FC236}">
                <a16:creationId xmlns:a16="http://schemas.microsoft.com/office/drawing/2014/main" id="{D1138346-166F-4FEF-BD10-93574A253E70}"/>
              </a:ext>
            </a:extLst>
          </p:cNvPr>
          <p:cNvPicPr>
            <a:picLocks noChangeAspect="1"/>
          </p:cNvPicPr>
          <p:nvPr/>
        </p:nvPicPr>
        <p:blipFill>
          <a:blip r:embed="rId3"/>
          <a:stretch/>
        </p:blipFill>
        <p:spPr>
          <a:xfrm>
            <a:off x="9029700" y="3676650"/>
            <a:ext cx="457200" cy="457200"/>
          </a:xfrm>
          <a:prstGeom prst="rect">
            <a:avLst/>
          </a:prstGeom>
        </p:spPr>
      </p:pic>
      <p:sp>
        <p:nvSpPr>
          <p:cNvPr id="35" name="obi-agent-label">
            <a:extLst>
              <a:ext uri="{FF2B5EF4-FFF2-40B4-BE49-F238E27FC236}">
                <a16:creationId xmlns:a16="http://schemas.microsoft.com/office/drawing/2014/main" id="{17D08D2F-4CE6-48ED-ACDA-2B2EFE2CE5F2}"/>
              </a:ext>
            </a:extLst>
          </p:cNvPr>
          <p:cNvSpPr>
            <a:spLocks noGrp="1"/>
          </p:cNvSpPr>
          <p:nvPr/>
        </p:nvSpPr>
        <p:spPr>
          <a:xfrm>
            <a:off x="9601200" y="3619500"/>
            <a:ext cx="1581150" cy="542925"/>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 agent</a:t>
            </a:r>
          </a:p>
        </p:txBody>
      </p:sp>
      <p:cxnSp>
        <p:nvCxnSpPr>
          <p:cNvPr id="36" name="obi-telemetry-export">
            <a:extLst>
              <a:ext uri="{FF2B5EF4-FFF2-40B4-BE49-F238E27FC236}">
                <a16:creationId xmlns:a16="http://schemas.microsoft.com/office/drawing/2014/main" id="{EB6680CD-BF39-4FA9-8AAE-B4304AF6B133}"/>
              </a:ext>
            </a:extLst>
          </p:cNvPr>
          <p:cNvCxnSpPr/>
          <p:nvPr/>
        </p:nvCxnSpPr>
        <p:spPr>
          <a:xfrm>
            <a:off x="10039350" y="4324350"/>
            <a:ext cx="0" cy="523875"/>
          </a:xfrm>
          <a:prstGeom prst="straightConnector1">
            <a:avLst/>
          </a:prstGeom>
          <a:ln w="19050">
            <a:solidFill>
              <a:srgbClr val="0860FE"/>
            </a:solidFill>
            <a:tailEnd type="arrow" w="med" len="med"/>
          </a:ln>
        </p:spPr>
      </p:cxnSp>
      <p:sp>
        <p:nvSpPr>
          <p:cNvPr id="37" name="obi-output">
            <a:extLst>
              <a:ext uri="{FF2B5EF4-FFF2-40B4-BE49-F238E27FC236}">
                <a16:creationId xmlns:a16="http://schemas.microsoft.com/office/drawing/2014/main" id="{06788282-0C30-4125-A773-32C5982509AF}"/>
              </a:ext>
            </a:extLst>
          </p:cNvPr>
          <p:cNvSpPr>
            <a:spLocks noGrp="1"/>
          </p:cNvSpPr>
          <p:nvPr/>
        </p:nvSpPr>
        <p:spPr>
          <a:xfrm>
            <a:off x="8782050" y="4848225"/>
            <a:ext cx="2514600" cy="685800"/>
          </a:xfrm>
          <a:prstGeom prst="roundRect">
            <a:avLst>
              <a:gd name="adj" fmla="val 9722"/>
            </a:avLst>
          </a:prstGeom>
          <a:solidFill>
            <a:srgbClr val="EAF8FC"/>
          </a:solidFill>
          <a:ln w="11906">
            <a:solidFill>
              <a:srgbClr val="0860FE"/>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RED metrics</a:t>
            </a:r>
          </a:p>
        </p:txBody>
      </p:sp>
      <p:sp>
        <p:nvSpPr>
          <p:cNvPr id="38" name="obi-observations-label">
            <a:extLst>
              <a:ext uri="{FF2B5EF4-FFF2-40B4-BE49-F238E27FC236}">
                <a16:creationId xmlns:a16="http://schemas.microsoft.com/office/drawing/2014/main" id="{426782B2-104A-455C-9943-B16BDE198EAC}"/>
              </a:ext>
            </a:extLst>
          </p:cNvPr>
          <p:cNvSpPr>
            <a:spLocks noGrp="1"/>
          </p:cNvSpPr>
          <p:nvPr/>
        </p:nvSpPr>
        <p:spPr>
          <a:xfrm>
            <a:off x="10382250" y="3095625"/>
            <a:ext cx="1095375" cy="342900"/>
          </a:xfrm>
          <a:prstGeom prst="rect">
            <a:avLst/>
          </a:prstGeom>
          <a:noFill/>
          <a:ln w="0">
            <a:noFill/>
          </a:ln>
        </p:spPr>
        <p:txBody>
          <a:bodyPr anchor="ctr">
            <a:noAutofit/>
          </a:bodyPr>
          <a:lstStyle>
            <a:defPPr algn="ctr">
              <a:defRPr sz="1125" b="0">
                <a:solidFill>
                  <a:srgbClr val="686B6B"/>
                </a:solidFill>
                <a:latin typeface="CiscoSansTT"/>
                <a:ea typeface="CiscoSansTT"/>
                <a:cs typeface="CiscoSansTT"/>
              </a:defRPr>
            </a:defPPr>
            <a:lvl1pPr algn="ctr">
              <a:defRPr sz="1125" b="0">
                <a:solidFill>
                  <a:srgbClr val="686B6B"/>
                </a:solidFill>
                <a:latin typeface="CiscoSansTT"/>
                <a:ea typeface="CiscoSansTT"/>
                <a:cs typeface="CiscoSansTT"/>
              </a:defRPr>
            </a:lvl1pPr>
            <a:lvl2pPr algn="ctr">
              <a:defRPr sz="1125" b="0">
                <a:solidFill>
                  <a:srgbClr val="686B6B"/>
                </a:solidFill>
                <a:latin typeface="CiscoSansTT"/>
                <a:ea typeface="CiscoSansTT"/>
                <a:cs typeface="CiscoSansTT"/>
              </a:defRPr>
            </a:lvl2pPr>
            <a:lvl3pPr algn="ctr">
              <a:defRPr sz="1125" b="0">
                <a:solidFill>
                  <a:srgbClr val="686B6B"/>
                </a:solidFill>
                <a:latin typeface="CiscoSansTT"/>
                <a:ea typeface="CiscoSansTT"/>
                <a:cs typeface="CiscoSansTT"/>
              </a:defRPr>
            </a:lvl3pPr>
            <a:lvl4pPr algn="ctr">
              <a:defRPr sz="1125" b="0">
                <a:solidFill>
                  <a:srgbClr val="686B6B"/>
                </a:solidFill>
                <a:latin typeface="CiscoSansTT"/>
                <a:ea typeface="CiscoSansTT"/>
                <a:cs typeface="CiscoSansTT"/>
              </a:defRPr>
            </a:lvl4pPr>
            <a:lvl5pPr algn="ctr">
              <a:defRPr sz="1125" b="0">
                <a:solidFill>
                  <a:srgbClr val="686B6B"/>
                </a:solidFill>
                <a:latin typeface="CiscoSansTT"/>
                <a:ea typeface="CiscoSansTT"/>
                <a:cs typeface="CiscoSansTT"/>
              </a:defRPr>
            </a:lvl5pPr>
            <a:lvl6pPr algn="ctr">
              <a:defRPr sz="1125" b="0">
                <a:solidFill>
                  <a:srgbClr val="686B6B"/>
                </a:solidFill>
                <a:latin typeface="CiscoSansTT"/>
                <a:ea typeface="CiscoSansTT"/>
                <a:cs typeface="CiscoSansTT"/>
              </a:defRPr>
            </a:lvl6pPr>
            <a:lvl7pPr algn="ctr">
              <a:defRPr sz="1125" b="0">
                <a:solidFill>
                  <a:srgbClr val="686B6B"/>
                </a:solidFill>
                <a:latin typeface="CiscoSansTT"/>
                <a:ea typeface="CiscoSansTT"/>
                <a:cs typeface="CiscoSansTT"/>
              </a:defRPr>
            </a:lvl7pPr>
            <a:lvl8pPr algn="ctr">
              <a:defRPr sz="1125" b="0">
                <a:solidFill>
                  <a:srgbClr val="686B6B"/>
                </a:solidFill>
                <a:latin typeface="CiscoSansTT"/>
                <a:ea typeface="CiscoSansTT"/>
                <a:cs typeface="CiscoSansTT"/>
              </a:defRPr>
            </a:lvl8pPr>
            <a:lvl9pPr algn="ctr">
              <a:defRPr sz="1125" b="0">
                <a:solidFill>
                  <a:srgbClr val="686B6B"/>
                </a:solidFill>
                <a:latin typeface="CiscoSansTT"/>
                <a:ea typeface="CiscoSansTT"/>
                <a:cs typeface="CiscoSansTT"/>
              </a:defRPr>
            </a:lvl9pPr>
          </a:lstStyle>
          <a:p>
            <a:pPr algn="ctr">
              <a:defRPr sz="1125" b="0">
                <a:solidFill>
                  <a:srgbClr val="686B6B"/>
                </a:solidFill>
                <a:latin typeface="CiscoSansTT"/>
                <a:ea typeface="CiscoSansTT"/>
                <a:cs typeface="CiscoSansTT"/>
              </a:defRPr>
            </a:pPr>
            <a:r>
              <a:rPr sz="1125" b="0">
                <a:solidFill>
                  <a:srgbClr val="686B6B"/>
                </a:solidFill>
                <a:latin typeface="CiscoSansTT"/>
                <a:ea typeface="CiscoSansTT"/>
                <a:cs typeface="CiscoSansTT"/>
              </a:rPr>
              <a:t>observes requests</a:t>
            </a:r>
          </a:p>
        </p:txBody>
      </p:sp>
      <p:sp>
        <p:nvSpPr>
          <p:cNvPr id="39" name="obi-export-label">
            <a:extLst>
              <a:ext uri="{FF2B5EF4-FFF2-40B4-BE49-F238E27FC236}">
                <a16:creationId xmlns:a16="http://schemas.microsoft.com/office/drawing/2014/main" id="{15E2EEE5-6F0D-432B-BC00-BA82995B2C50}"/>
              </a:ext>
            </a:extLst>
          </p:cNvPr>
          <p:cNvSpPr>
            <a:spLocks noGrp="1"/>
          </p:cNvSpPr>
          <p:nvPr/>
        </p:nvSpPr>
        <p:spPr>
          <a:xfrm>
            <a:off x="10420350" y="4467225"/>
            <a:ext cx="1028700" cy="257175"/>
          </a:xfrm>
          <a:prstGeom prst="rect">
            <a:avLst/>
          </a:prstGeom>
          <a:noFill/>
          <a:ln w="0">
            <a:noFill/>
          </a:ln>
        </p:spPr>
        <p:txBody>
          <a:bodyPr anchor="ctr">
            <a:noAutofit/>
          </a:bodyPr>
          <a:lstStyle>
            <a:defPPr algn="ctr">
              <a:defRPr sz="1200" b="0">
                <a:solidFill>
                  <a:srgbClr val="686B6B"/>
                </a:solidFill>
                <a:latin typeface="CiscoSansTT"/>
                <a:ea typeface="CiscoSansTT"/>
                <a:cs typeface="CiscoSansTT"/>
              </a:defRPr>
            </a:defPPr>
            <a:lvl1pPr algn="ctr">
              <a:defRPr sz="1200" b="0">
                <a:solidFill>
                  <a:srgbClr val="686B6B"/>
                </a:solidFill>
                <a:latin typeface="CiscoSansTT"/>
                <a:ea typeface="CiscoSansTT"/>
                <a:cs typeface="CiscoSansTT"/>
              </a:defRPr>
            </a:lvl1pPr>
            <a:lvl2pPr algn="ctr">
              <a:defRPr sz="1200" b="0">
                <a:solidFill>
                  <a:srgbClr val="686B6B"/>
                </a:solidFill>
                <a:latin typeface="CiscoSansTT"/>
                <a:ea typeface="CiscoSansTT"/>
                <a:cs typeface="CiscoSansTT"/>
              </a:defRPr>
            </a:lvl2pPr>
            <a:lvl3pPr algn="ctr">
              <a:defRPr sz="1200" b="0">
                <a:solidFill>
                  <a:srgbClr val="686B6B"/>
                </a:solidFill>
                <a:latin typeface="CiscoSansTT"/>
                <a:ea typeface="CiscoSansTT"/>
                <a:cs typeface="CiscoSansTT"/>
              </a:defRPr>
            </a:lvl3pPr>
            <a:lvl4pPr algn="ctr">
              <a:defRPr sz="1200" b="0">
                <a:solidFill>
                  <a:srgbClr val="686B6B"/>
                </a:solidFill>
                <a:latin typeface="CiscoSansTT"/>
                <a:ea typeface="CiscoSansTT"/>
                <a:cs typeface="CiscoSansTT"/>
              </a:defRPr>
            </a:lvl4pPr>
            <a:lvl5pPr algn="ctr">
              <a:defRPr sz="1200" b="0">
                <a:solidFill>
                  <a:srgbClr val="686B6B"/>
                </a:solidFill>
                <a:latin typeface="CiscoSansTT"/>
                <a:ea typeface="CiscoSansTT"/>
                <a:cs typeface="CiscoSansTT"/>
              </a:defRPr>
            </a:lvl5pPr>
            <a:lvl6pPr algn="ctr">
              <a:defRPr sz="1200" b="0">
                <a:solidFill>
                  <a:srgbClr val="686B6B"/>
                </a:solidFill>
                <a:latin typeface="CiscoSansTT"/>
                <a:ea typeface="CiscoSansTT"/>
                <a:cs typeface="CiscoSansTT"/>
              </a:defRPr>
            </a:lvl6pPr>
            <a:lvl7pPr algn="ctr">
              <a:defRPr sz="1200" b="0">
                <a:solidFill>
                  <a:srgbClr val="686B6B"/>
                </a:solidFill>
                <a:latin typeface="CiscoSansTT"/>
                <a:ea typeface="CiscoSansTT"/>
                <a:cs typeface="CiscoSansTT"/>
              </a:defRPr>
            </a:lvl7pPr>
            <a:lvl8pPr algn="ctr">
              <a:defRPr sz="1200" b="0">
                <a:solidFill>
                  <a:srgbClr val="686B6B"/>
                </a:solidFill>
                <a:latin typeface="CiscoSansTT"/>
                <a:ea typeface="CiscoSansTT"/>
                <a:cs typeface="CiscoSansTT"/>
              </a:defRPr>
            </a:lvl8pPr>
            <a:lvl9pPr algn="ctr">
              <a:defRPr sz="1200" b="0">
                <a:solidFill>
                  <a:srgbClr val="686B6B"/>
                </a:solidFill>
                <a:latin typeface="CiscoSansTT"/>
                <a:ea typeface="CiscoSansTT"/>
                <a:cs typeface="CiscoSansTT"/>
              </a:defRPr>
            </a:lvl9pPr>
          </a:lstStyle>
          <a:p>
            <a:pPr algn="ctr">
              <a:defRPr sz="1200" b="0">
                <a:solidFill>
                  <a:srgbClr val="686B6B"/>
                </a:solidFill>
                <a:latin typeface="CiscoSansTT"/>
                <a:ea typeface="CiscoSansTT"/>
                <a:cs typeface="CiscoSansTT"/>
              </a:defRPr>
            </a:pPr>
            <a:r>
              <a:rPr sz="1200" b="0">
                <a:solidFill>
                  <a:srgbClr val="686B6B"/>
                </a:solidFill>
                <a:latin typeface="CiscoSansTT"/>
                <a:ea typeface="CiscoSansTT"/>
                <a:cs typeface="CiscoSansTT"/>
              </a:rPr>
              <a:t>exports</a:t>
            </a:r>
          </a:p>
        </p:txBody>
      </p:sp>
      <p:sp>
        <p:nvSpPr>
          <p:cNvPr id="40" name="obi-docs-link">
            <a:extLst>
              <a:ext uri="{FF2B5EF4-FFF2-40B4-BE49-F238E27FC236}">
                <a16:creationId xmlns:a16="http://schemas.microsoft.com/office/drawing/2014/main" id="{EFB89B9D-BF70-4863-BA65-4AC881ED75AE}"/>
              </a:ext>
            </a:extLst>
          </p:cNvPr>
          <p:cNvSpPr>
            <a:spLocks noGrp="1"/>
          </p:cNvSpPr>
          <p:nvPr/>
        </p:nvSpPr>
        <p:spPr>
          <a:xfrm>
            <a:off x="8724900" y="5848350"/>
            <a:ext cx="1200150"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4"/>
              </a:rPr>
              <a:t>OBI docs</a:t>
            </a:r>
          </a:p>
        </p:txBody>
      </p:sp>
      <p:sp>
        <p:nvSpPr>
          <p:cNvPr id="41" name="obi-repo-link">
            <a:extLst>
              <a:ext uri="{FF2B5EF4-FFF2-40B4-BE49-F238E27FC236}">
                <a16:creationId xmlns:a16="http://schemas.microsoft.com/office/drawing/2014/main" id="{B6DC096B-BDCF-4F2E-8CDC-9A415ACE1F79}"/>
              </a:ext>
            </a:extLst>
          </p:cNvPr>
          <p:cNvSpPr>
            <a:spLocks noGrp="1"/>
          </p:cNvSpPr>
          <p:nvPr/>
        </p:nvSpPr>
        <p:spPr>
          <a:xfrm>
            <a:off x="10010775" y="5848350"/>
            <a:ext cx="1666875"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5"/>
              </a:rPr>
              <a:t>OBI on GitHub</a:t>
            </a:r>
          </a:p>
        </p:txBody>
      </p:sp>
    </p:spTree>
    <p:extLst>
      <p:ext uri="{BB962C8B-B14F-4D97-AF65-F5344CB8AC3E}">
        <p14:creationId xmlns:p14="http://schemas.microsoft.com/office/powerpoint/2010/main" val="65446708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title">
            <a:extLst>
              <a:ext uri="{FF2B5EF4-FFF2-40B4-BE49-F238E27FC236}">
                <a16:creationId xmlns:a16="http://schemas.microsoft.com/office/drawing/2014/main" id="{F30FCB05-D8E9-4E9A-A589-036B48EA73AC}"/>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Trace context connects service spans</a:t>
            </a:r>
          </a:p>
        </p:txBody>
      </p:sp>
      <p:sp>
        <p:nvSpPr>
          <p:cNvPr id="27" name="unlinked-heading">
            <a:extLst>
              <a:ext uri="{FF2B5EF4-FFF2-40B4-BE49-F238E27FC236}">
                <a16:creationId xmlns:a16="http://schemas.microsoft.com/office/drawing/2014/main" id="{BE0074D4-3EF6-4F92-8C5D-F977FE480364}"/>
              </a:ext>
            </a:extLst>
          </p:cNvPr>
          <p:cNvSpPr>
            <a:spLocks noGrp="1"/>
          </p:cNvSpPr>
          <p:nvPr/>
        </p:nvSpPr>
        <p:spPr>
          <a:xfrm>
            <a:off x="666750" y="1171575"/>
            <a:ext cx="10858500" cy="428625"/>
          </a:xfrm>
          <a:prstGeom prst="rect">
            <a:avLst/>
          </a:prstGeom>
          <a:noFill/>
          <a:ln w="0">
            <a:noFill/>
          </a:ln>
        </p:spPr>
        <p:txBody>
          <a:bodyPr anchor="ctr">
            <a:noAutofit/>
          </a:bodyPr>
          <a:lstStyle>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a:pPr algn="l">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Without shared context</a:t>
            </a:r>
          </a:p>
        </p:txBody>
      </p:sp>
      <p:sp>
        <p:nvSpPr>
          <p:cNvPr id="28" name="separate-trace-frame-0">
            <a:extLst>
              <a:ext uri="{FF2B5EF4-FFF2-40B4-BE49-F238E27FC236}">
                <a16:creationId xmlns:a16="http://schemas.microsoft.com/office/drawing/2014/main" id="{14814128-16E5-4BA3-979D-6CBA73DA5546}"/>
              </a:ext>
            </a:extLst>
          </p:cNvPr>
          <p:cNvSpPr>
            <a:spLocks noGrp="1"/>
          </p:cNvSpPr>
          <p:nvPr/>
        </p:nvSpPr>
        <p:spPr>
          <a:xfrm>
            <a:off x="666750" y="1752600"/>
            <a:ext cx="3143250" cy="1352550"/>
          </a:xfrm>
          <a:prstGeom prst="roundRect">
            <a:avLst>
              <a:gd name="adj" fmla="val 4225"/>
            </a:avLst>
          </a:prstGeom>
          <a:solidFill>
            <a:srgbClr val="FFFFFF"/>
          </a:solidFill>
          <a:ln w="12383">
            <a:solidFill>
              <a:srgbClr val="CFD5DD"/>
            </a:solidFill>
          </a:ln>
        </p:spPr>
        <p:txBody>
          <a:bodyPr/>
          <a:lstStyle/>
          <a:p>
            <a:endParaRPr lang="en-ES"/>
          </a:p>
        </p:txBody>
      </p:sp>
      <p:sp>
        <p:nvSpPr>
          <p:cNvPr id="29" name="separate-trace-id-0">
            <a:extLst>
              <a:ext uri="{FF2B5EF4-FFF2-40B4-BE49-F238E27FC236}">
                <a16:creationId xmlns:a16="http://schemas.microsoft.com/office/drawing/2014/main" id="{78F09825-D99C-45BD-9697-BE159D460FA5}"/>
              </a:ext>
            </a:extLst>
          </p:cNvPr>
          <p:cNvSpPr>
            <a:spLocks noGrp="1"/>
          </p:cNvSpPr>
          <p:nvPr/>
        </p:nvSpPr>
        <p:spPr>
          <a:xfrm>
            <a:off x="819150" y="1866900"/>
            <a:ext cx="2838450" cy="361950"/>
          </a:xfrm>
          <a:prstGeom prst="rect">
            <a:avLst/>
          </a:prstGeom>
          <a:noFill/>
          <a:ln w="0">
            <a:noFill/>
          </a:ln>
        </p:spPr>
        <p:txBody>
          <a:bodyPr anchor="ctr">
            <a:noAutofit/>
          </a:bodyPr>
          <a:lstStyle>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A</a:t>
            </a:r>
          </a:p>
        </p:txBody>
      </p:sp>
      <p:sp>
        <p:nvSpPr>
          <p:cNvPr id="30" name="separate-span-0">
            <a:extLst>
              <a:ext uri="{FF2B5EF4-FFF2-40B4-BE49-F238E27FC236}">
                <a16:creationId xmlns:a16="http://schemas.microsoft.com/office/drawing/2014/main" id="{37F8CAC3-664A-40A8-BD70-08D886049721}"/>
              </a:ext>
            </a:extLst>
          </p:cNvPr>
          <p:cNvSpPr>
            <a:spLocks noGrp="1"/>
          </p:cNvSpPr>
          <p:nvPr/>
        </p:nvSpPr>
        <p:spPr>
          <a:xfrm>
            <a:off x="809625" y="2381250"/>
            <a:ext cx="2857500" cy="504825"/>
          </a:xfrm>
          <a:prstGeom prst="roundRect">
            <a:avLst>
              <a:gd name="adj" fmla="val 11321"/>
            </a:avLst>
          </a:prstGeom>
          <a:solidFill>
            <a:srgbClr val="E2E7ED"/>
          </a:solidFill>
          <a:ln w="12383">
            <a:solidFill>
              <a:srgbClr val="E2E7ED"/>
            </a:solidFill>
          </a:ln>
        </p:spPr>
        <p:txBody>
          <a:bodyPr/>
          <a:lstStyle/>
          <a:p>
            <a:endParaRPr lang="en-ES"/>
          </a:p>
        </p:txBody>
      </p:sp>
      <p:sp>
        <p:nvSpPr>
          <p:cNvPr id="31" name="separate-service-0">
            <a:extLst>
              <a:ext uri="{FF2B5EF4-FFF2-40B4-BE49-F238E27FC236}">
                <a16:creationId xmlns:a16="http://schemas.microsoft.com/office/drawing/2014/main" id="{59477838-3DE2-4AFD-8EEC-CD550A967917}"/>
              </a:ext>
            </a:extLst>
          </p:cNvPr>
          <p:cNvSpPr>
            <a:spLocks noGrp="1"/>
          </p:cNvSpPr>
          <p:nvPr/>
        </p:nvSpPr>
        <p:spPr>
          <a:xfrm>
            <a:off x="809625" y="2381250"/>
            <a:ext cx="2857500" cy="50482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edge-nginx</a:t>
            </a:r>
          </a:p>
        </p:txBody>
      </p:sp>
      <p:sp>
        <p:nvSpPr>
          <p:cNvPr id="32" name="separate-trace-frame-1">
            <a:extLst>
              <a:ext uri="{FF2B5EF4-FFF2-40B4-BE49-F238E27FC236}">
                <a16:creationId xmlns:a16="http://schemas.microsoft.com/office/drawing/2014/main" id="{34750BEB-A3EC-4FB8-9EF8-8FFBB0A3BCD0}"/>
              </a:ext>
            </a:extLst>
          </p:cNvPr>
          <p:cNvSpPr>
            <a:spLocks noGrp="1"/>
          </p:cNvSpPr>
          <p:nvPr/>
        </p:nvSpPr>
        <p:spPr>
          <a:xfrm>
            <a:off x="4524375" y="1752600"/>
            <a:ext cx="3143250" cy="1352550"/>
          </a:xfrm>
          <a:prstGeom prst="roundRect">
            <a:avLst>
              <a:gd name="adj" fmla="val 4225"/>
            </a:avLst>
          </a:prstGeom>
          <a:solidFill>
            <a:srgbClr val="FFFFFF"/>
          </a:solidFill>
          <a:ln w="12383">
            <a:solidFill>
              <a:srgbClr val="CFD5DD"/>
            </a:solidFill>
          </a:ln>
        </p:spPr>
        <p:txBody>
          <a:bodyPr/>
          <a:lstStyle/>
          <a:p>
            <a:endParaRPr lang="en-ES"/>
          </a:p>
        </p:txBody>
      </p:sp>
      <p:sp>
        <p:nvSpPr>
          <p:cNvPr id="33" name="separate-trace-id-1">
            <a:extLst>
              <a:ext uri="{FF2B5EF4-FFF2-40B4-BE49-F238E27FC236}">
                <a16:creationId xmlns:a16="http://schemas.microsoft.com/office/drawing/2014/main" id="{60F1AB02-7EA8-44C2-B4D1-8222F9B22AF2}"/>
              </a:ext>
            </a:extLst>
          </p:cNvPr>
          <p:cNvSpPr>
            <a:spLocks noGrp="1"/>
          </p:cNvSpPr>
          <p:nvPr/>
        </p:nvSpPr>
        <p:spPr>
          <a:xfrm>
            <a:off x="4676775" y="1866900"/>
            <a:ext cx="2838450" cy="361950"/>
          </a:xfrm>
          <a:prstGeom prst="rect">
            <a:avLst/>
          </a:prstGeom>
          <a:noFill/>
          <a:ln w="0">
            <a:noFill/>
          </a:ln>
        </p:spPr>
        <p:txBody>
          <a:bodyPr anchor="ctr">
            <a:noAutofit/>
          </a:bodyPr>
          <a:lstStyle>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B</a:t>
            </a:r>
          </a:p>
        </p:txBody>
      </p:sp>
      <p:sp>
        <p:nvSpPr>
          <p:cNvPr id="34" name="separate-span-1">
            <a:extLst>
              <a:ext uri="{FF2B5EF4-FFF2-40B4-BE49-F238E27FC236}">
                <a16:creationId xmlns:a16="http://schemas.microsoft.com/office/drawing/2014/main" id="{706B10C1-863D-48C5-A266-A4442E275E24}"/>
              </a:ext>
            </a:extLst>
          </p:cNvPr>
          <p:cNvSpPr>
            <a:spLocks noGrp="1"/>
          </p:cNvSpPr>
          <p:nvPr/>
        </p:nvSpPr>
        <p:spPr>
          <a:xfrm>
            <a:off x="4667250" y="2381250"/>
            <a:ext cx="2857500" cy="504825"/>
          </a:xfrm>
          <a:prstGeom prst="roundRect">
            <a:avLst>
              <a:gd name="adj" fmla="val 11321"/>
            </a:avLst>
          </a:prstGeom>
          <a:solidFill>
            <a:srgbClr val="E2E7ED"/>
          </a:solidFill>
          <a:ln w="12383">
            <a:solidFill>
              <a:srgbClr val="E2E7ED"/>
            </a:solidFill>
          </a:ln>
        </p:spPr>
        <p:txBody>
          <a:bodyPr/>
          <a:lstStyle/>
          <a:p>
            <a:endParaRPr lang="en-ES"/>
          </a:p>
        </p:txBody>
      </p:sp>
      <p:sp>
        <p:nvSpPr>
          <p:cNvPr id="35" name="separate-service-1">
            <a:extLst>
              <a:ext uri="{FF2B5EF4-FFF2-40B4-BE49-F238E27FC236}">
                <a16:creationId xmlns:a16="http://schemas.microsoft.com/office/drawing/2014/main" id="{4E732843-75DB-4053-B4C6-2F55B8F80B0F}"/>
              </a:ext>
            </a:extLst>
          </p:cNvPr>
          <p:cNvSpPr>
            <a:spLocks noGrp="1"/>
          </p:cNvSpPr>
          <p:nvPr/>
        </p:nvSpPr>
        <p:spPr>
          <a:xfrm>
            <a:off x="4667250" y="2381250"/>
            <a:ext cx="2857500" cy="50482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recommendations-v2</a:t>
            </a:r>
          </a:p>
        </p:txBody>
      </p:sp>
      <p:sp>
        <p:nvSpPr>
          <p:cNvPr id="36" name="separate-trace-frame-2">
            <a:extLst>
              <a:ext uri="{FF2B5EF4-FFF2-40B4-BE49-F238E27FC236}">
                <a16:creationId xmlns:a16="http://schemas.microsoft.com/office/drawing/2014/main" id="{A568798A-4EF3-4FBC-9BA4-56EABCE841C7}"/>
              </a:ext>
            </a:extLst>
          </p:cNvPr>
          <p:cNvSpPr>
            <a:spLocks noGrp="1"/>
          </p:cNvSpPr>
          <p:nvPr/>
        </p:nvSpPr>
        <p:spPr>
          <a:xfrm>
            <a:off x="8382000" y="1752600"/>
            <a:ext cx="3143250" cy="1352550"/>
          </a:xfrm>
          <a:prstGeom prst="roundRect">
            <a:avLst>
              <a:gd name="adj" fmla="val 4225"/>
            </a:avLst>
          </a:prstGeom>
          <a:solidFill>
            <a:srgbClr val="FFFFFF"/>
          </a:solidFill>
          <a:ln w="12383">
            <a:solidFill>
              <a:srgbClr val="CFD5DD"/>
            </a:solidFill>
          </a:ln>
        </p:spPr>
        <p:txBody>
          <a:bodyPr/>
          <a:lstStyle/>
          <a:p>
            <a:endParaRPr lang="en-ES"/>
          </a:p>
        </p:txBody>
      </p:sp>
      <p:sp>
        <p:nvSpPr>
          <p:cNvPr id="37" name="separate-trace-id-2">
            <a:extLst>
              <a:ext uri="{FF2B5EF4-FFF2-40B4-BE49-F238E27FC236}">
                <a16:creationId xmlns:a16="http://schemas.microsoft.com/office/drawing/2014/main" id="{E1770F39-922D-4F2E-8A65-39FFF6579412}"/>
              </a:ext>
            </a:extLst>
          </p:cNvPr>
          <p:cNvSpPr>
            <a:spLocks noGrp="1"/>
          </p:cNvSpPr>
          <p:nvPr/>
        </p:nvSpPr>
        <p:spPr>
          <a:xfrm>
            <a:off x="8534400" y="1866900"/>
            <a:ext cx="2838450" cy="361950"/>
          </a:xfrm>
          <a:prstGeom prst="rect">
            <a:avLst/>
          </a:prstGeom>
          <a:noFill/>
          <a:ln w="0">
            <a:noFill/>
          </a:ln>
        </p:spPr>
        <p:txBody>
          <a:bodyPr anchor="ctr">
            <a:noAutofit/>
          </a:bodyPr>
          <a:lstStyle>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C</a:t>
            </a:r>
          </a:p>
        </p:txBody>
      </p:sp>
      <p:sp>
        <p:nvSpPr>
          <p:cNvPr id="38" name="separate-span-2">
            <a:extLst>
              <a:ext uri="{FF2B5EF4-FFF2-40B4-BE49-F238E27FC236}">
                <a16:creationId xmlns:a16="http://schemas.microsoft.com/office/drawing/2014/main" id="{2EBE708F-606B-4F43-B99A-AF12B1FF631A}"/>
              </a:ext>
            </a:extLst>
          </p:cNvPr>
          <p:cNvSpPr>
            <a:spLocks noGrp="1"/>
          </p:cNvSpPr>
          <p:nvPr/>
        </p:nvSpPr>
        <p:spPr>
          <a:xfrm>
            <a:off x="8524875" y="2381250"/>
            <a:ext cx="2857500" cy="504825"/>
          </a:xfrm>
          <a:prstGeom prst="roundRect">
            <a:avLst>
              <a:gd name="adj" fmla="val 11321"/>
            </a:avLst>
          </a:prstGeom>
          <a:solidFill>
            <a:srgbClr val="E2E7ED"/>
          </a:solidFill>
          <a:ln w="12383">
            <a:solidFill>
              <a:srgbClr val="E2E7ED"/>
            </a:solidFill>
          </a:ln>
        </p:spPr>
        <p:txBody>
          <a:bodyPr/>
          <a:lstStyle/>
          <a:p>
            <a:endParaRPr lang="en-ES"/>
          </a:p>
        </p:txBody>
      </p:sp>
      <p:sp>
        <p:nvSpPr>
          <p:cNvPr id="39" name="separate-service-2">
            <a:extLst>
              <a:ext uri="{FF2B5EF4-FFF2-40B4-BE49-F238E27FC236}">
                <a16:creationId xmlns:a16="http://schemas.microsoft.com/office/drawing/2014/main" id="{EA1B71A6-9C8B-4BA5-9E33-F978B2A4CB8B}"/>
              </a:ext>
            </a:extLst>
          </p:cNvPr>
          <p:cNvSpPr>
            <a:spLocks noGrp="1"/>
          </p:cNvSpPr>
          <p:nvPr/>
        </p:nvSpPr>
        <p:spPr>
          <a:xfrm>
            <a:off x="8524875" y="2381250"/>
            <a:ext cx="2857500" cy="50482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recommendations-v1</a:t>
            </a:r>
          </a:p>
        </p:txBody>
      </p:sp>
      <p:sp>
        <p:nvSpPr>
          <p:cNvPr id="40" name="linked-heading">
            <a:extLst>
              <a:ext uri="{FF2B5EF4-FFF2-40B4-BE49-F238E27FC236}">
                <a16:creationId xmlns:a16="http://schemas.microsoft.com/office/drawing/2014/main" id="{7F65EF36-D6E5-4F14-AC6C-2CCD6A06C14D}"/>
              </a:ext>
            </a:extLst>
          </p:cNvPr>
          <p:cNvSpPr>
            <a:spLocks noGrp="1"/>
          </p:cNvSpPr>
          <p:nvPr/>
        </p:nvSpPr>
        <p:spPr>
          <a:xfrm>
            <a:off x="666750" y="3381375"/>
            <a:ext cx="10858500" cy="428625"/>
          </a:xfrm>
          <a:prstGeom prst="rect">
            <a:avLst/>
          </a:prstGeom>
          <a:noFill/>
          <a:ln w="0">
            <a:noFill/>
          </a:ln>
        </p:spPr>
        <p:txBody>
          <a:bodyPr anchor="ctr">
            <a:noAutofit/>
          </a:bodyPr>
          <a:lstStyle>
            <a:defPPr algn="l">
              <a:defRPr sz="2100" b="1">
                <a:solidFill>
                  <a:srgbClr val="FF007F"/>
                </a:solidFill>
                <a:latin typeface="CiscoSansTT Medium"/>
                <a:ea typeface="CiscoSansTT Medium"/>
                <a:cs typeface="CiscoSansTT Medium"/>
              </a:defRPr>
            </a:defPPr>
            <a:lvl1pPr algn="l">
              <a:defRPr sz="2100" b="1">
                <a:solidFill>
                  <a:srgbClr val="FF007F"/>
                </a:solidFill>
                <a:latin typeface="CiscoSansTT Medium"/>
                <a:ea typeface="CiscoSansTT Medium"/>
                <a:cs typeface="CiscoSansTT Medium"/>
              </a:defRPr>
            </a:lvl1pPr>
            <a:lvl2pPr algn="l">
              <a:defRPr sz="2100" b="1">
                <a:solidFill>
                  <a:srgbClr val="FF007F"/>
                </a:solidFill>
                <a:latin typeface="CiscoSansTT Medium"/>
                <a:ea typeface="CiscoSansTT Medium"/>
                <a:cs typeface="CiscoSansTT Medium"/>
              </a:defRPr>
            </a:lvl2pPr>
            <a:lvl3pPr algn="l">
              <a:defRPr sz="2100" b="1">
                <a:solidFill>
                  <a:srgbClr val="FF007F"/>
                </a:solidFill>
                <a:latin typeface="CiscoSansTT Medium"/>
                <a:ea typeface="CiscoSansTT Medium"/>
                <a:cs typeface="CiscoSansTT Medium"/>
              </a:defRPr>
            </a:lvl3pPr>
            <a:lvl4pPr algn="l">
              <a:defRPr sz="2100" b="1">
                <a:solidFill>
                  <a:srgbClr val="FF007F"/>
                </a:solidFill>
                <a:latin typeface="CiscoSansTT Medium"/>
                <a:ea typeface="CiscoSansTT Medium"/>
                <a:cs typeface="CiscoSansTT Medium"/>
              </a:defRPr>
            </a:lvl4pPr>
            <a:lvl5pPr algn="l">
              <a:defRPr sz="2100" b="1">
                <a:solidFill>
                  <a:srgbClr val="FF007F"/>
                </a:solidFill>
                <a:latin typeface="CiscoSansTT Medium"/>
                <a:ea typeface="CiscoSansTT Medium"/>
                <a:cs typeface="CiscoSansTT Medium"/>
              </a:defRPr>
            </a:lvl5pPr>
            <a:lvl6pPr algn="l">
              <a:defRPr sz="2100" b="1">
                <a:solidFill>
                  <a:srgbClr val="FF007F"/>
                </a:solidFill>
                <a:latin typeface="CiscoSansTT Medium"/>
                <a:ea typeface="CiscoSansTT Medium"/>
                <a:cs typeface="CiscoSansTT Medium"/>
              </a:defRPr>
            </a:lvl6pPr>
            <a:lvl7pPr algn="l">
              <a:defRPr sz="2100" b="1">
                <a:solidFill>
                  <a:srgbClr val="FF007F"/>
                </a:solidFill>
                <a:latin typeface="CiscoSansTT Medium"/>
                <a:ea typeface="CiscoSansTT Medium"/>
                <a:cs typeface="CiscoSansTT Medium"/>
              </a:defRPr>
            </a:lvl7pPr>
            <a:lvl8pPr algn="l">
              <a:defRPr sz="2100" b="1">
                <a:solidFill>
                  <a:srgbClr val="FF007F"/>
                </a:solidFill>
                <a:latin typeface="CiscoSansTT Medium"/>
                <a:ea typeface="CiscoSansTT Medium"/>
                <a:cs typeface="CiscoSansTT Medium"/>
              </a:defRPr>
            </a:lvl8pPr>
            <a:lvl9pPr algn="l">
              <a:defRPr sz="2100" b="1">
                <a:solidFill>
                  <a:srgbClr val="FF007F"/>
                </a:solidFill>
                <a:latin typeface="CiscoSansTT Medium"/>
                <a:ea typeface="CiscoSansTT Medium"/>
                <a:cs typeface="CiscoSansTT Medium"/>
              </a:defRPr>
            </a:lvl9pPr>
          </a:lstStyle>
          <a:p>
            <a:pPr algn="l">
              <a:defRPr sz="2100" b="1">
                <a:solidFill>
                  <a:srgbClr val="FF007F"/>
                </a:solidFill>
                <a:latin typeface="CiscoSansTT Medium"/>
                <a:ea typeface="CiscoSansTT Medium"/>
                <a:cs typeface="CiscoSansTT Medium"/>
              </a:defRPr>
            </a:pPr>
            <a:r>
              <a:rPr sz="2100" b="1">
                <a:solidFill>
                  <a:srgbClr val="FF007F"/>
                </a:solidFill>
                <a:latin typeface="CiscoSansTT Medium"/>
                <a:ea typeface="CiscoSansTT Medium"/>
                <a:cs typeface="CiscoSansTT Medium"/>
              </a:rPr>
              <a:t>With propagated context</a:t>
            </a:r>
          </a:p>
        </p:txBody>
      </p:sp>
      <p:sp>
        <p:nvSpPr>
          <p:cNvPr id="41" name="connected-trace-frame">
            <a:extLst>
              <a:ext uri="{FF2B5EF4-FFF2-40B4-BE49-F238E27FC236}">
                <a16:creationId xmlns:a16="http://schemas.microsoft.com/office/drawing/2014/main" id="{0992DFDC-3791-40FA-84D5-2480858394D4}"/>
              </a:ext>
            </a:extLst>
          </p:cNvPr>
          <p:cNvSpPr>
            <a:spLocks noGrp="1"/>
          </p:cNvSpPr>
          <p:nvPr/>
        </p:nvSpPr>
        <p:spPr>
          <a:xfrm>
            <a:off x="666750" y="3981450"/>
            <a:ext cx="10858500" cy="1619250"/>
          </a:xfrm>
          <a:prstGeom prst="roundRect">
            <a:avLst>
              <a:gd name="adj" fmla="val 3529"/>
            </a:avLst>
          </a:prstGeom>
          <a:solidFill>
            <a:srgbClr val="FFFFFF"/>
          </a:solidFill>
          <a:ln w="16193">
            <a:solidFill>
              <a:srgbClr val="FF007F"/>
            </a:solidFill>
          </a:ln>
        </p:spPr>
        <p:txBody>
          <a:bodyPr/>
          <a:lstStyle/>
          <a:p>
            <a:endParaRPr lang="en-ES"/>
          </a:p>
        </p:txBody>
      </p:sp>
      <p:sp>
        <p:nvSpPr>
          <p:cNvPr id="42" name="connected-trace-id">
            <a:extLst>
              <a:ext uri="{FF2B5EF4-FFF2-40B4-BE49-F238E27FC236}">
                <a16:creationId xmlns:a16="http://schemas.microsoft.com/office/drawing/2014/main" id="{2BFDC140-42F8-4843-973F-37B21FC8BB69}"/>
              </a:ext>
            </a:extLst>
          </p:cNvPr>
          <p:cNvSpPr>
            <a:spLocks noGrp="1"/>
          </p:cNvSpPr>
          <p:nvPr/>
        </p:nvSpPr>
        <p:spPr>
          <a:xfrm>
            <a:off x="876300" y="4114800"/>
            <a:ext cx="10439400" cy="361950"/>
          </a:xfrm>
          <a:prstGeom prst="rect">
            <a:avLst/>
          </a:prstGeom>
          <a:noFill/>
          <a:ln w="0">
            <a:noFill/>
          </a:ln>
        </p:spPr>
        <p:txBody>
          <a:bodyPr anchor="ctr">
            <a:noAutofit/>
          </a:bodyPr>
          <a:lstStyle>
            <a:defPPr algn="l">
              <a:defRPr sz="1875" b="1">
                <a:solidFill>
                  <a:srgbClr val="FF007F"/>
                </a:solidFill>
                <a:latin typeface="CiscoSansTT Medium"/>
                <a:ea typeface="CiscoSansTT Medium"/>
                <a:cs typeface="CiscoSansTT Medium"/>
              </a:defRPr>
            </a:defPPr>
            <a:lvl1pPr algn="l">
              <a:defRPr sz="1875" b="1">
                <a:solidFill>
                  <a:srgbClr val="FF007F"/>
                </a:solidFill>
                <a:latin typeface="CiscoSansTT Medium"/>
                <a:ea typeface="CiscoSansTT Medium"/>
                <a:cs typeface="CiscoSansTT Medium"/>
              </a:defRPr>
            </a:lvl1pPr>
            <a:lvl2pPr algn="l">
              <a:defRPr sz="1875" b="1">
                <a:solidFill>
                  <a:srgbClr val="FF007F"/>
                </a:solidFill>
                <a:latin typeface="CiscoSansTT Medium"/>
                <a:ea typeface="CiscoSansTT Medium"/>
                <a:cs typeface="CiscoSansTT Medium"/>
              </a:defRPr>
            </a:lvl2pPr>
            <a:lvl3pPr algn="l">
              <a:defRPr sz="1875" b="1">
                <a:solidFill>
                  <a:srgbClr val="FF007F"/>
                </a:solidFill>
                <a:latin typeface="CiscoSansTT Medium"/>
                <a:ea typeface="CiscoSansTT Medium"/>
                <a:cs typeface="CiscoSansTT Medium"/>
              </a:defRPr>
            </a:lvl3pPr>
            <a:lvl4pPr algn="l">
              <a:defRPr sz="1875" b="1">
                <a:solidFill>
                  <a:srgbClr val="FF007F"/>
                </a:solidFill>
                <a:latin typeface="CiscoSansTT Medium"/>
                <a:ea typeface="CiscoSansTT Medium"/>
                <a:cs typeface="CiscoSansTT Medium"/>
              </a:defRPr>
            </a:lvl4pPr>
            <a:lvl5pPr algn="l">
              <a:defRPr sz="1875" b="1">
                <a:solidFill>
                  <a:srgbClr val="FF007F"/>
                </a:solidFill>
                <a:latin typeface="CiscoSansTT Medium"/>
                <a:ea typeface="CiscoSansTT Medium"/>
                <a:cs typeface="CiscoSansTT Medium"/>
              </a:defRPr>
            </a:lvl5pPr>
            <a:lvl6pPr algn="l">
              <a:defRPr sz="1875" b="1">
                <a:solidFill>
                  <a:srgbClr val="FF007F"/>
                </a:solidFill>
                <a:latin typeface="CiscoSansTT Medium"/>
                <a:ea typeface="CiscoSansTT Medium"/>
                <a:cs typeface="CiscoSansTT Medium"/>
              </a:defRPr>
            </a:lvl6pPr>
            <a:lvl7pPr algn="l">
              <a:defRPr sz="1875" b="1">
                <a:solidFill>
                  <a:srgbClr val="FF007F"/>
                </a:solidFill>
                <a:latin typeface="CiscoSansTT Medium"/>
                <a:ea typeface="CiscoSansTT Medium"/>
                <a:cs typeface="CiscoSansTT Medium"/>
              </a:defRPr>
            </a:lvl7pPr>
            <a:lvl8pPr algn="l">
              <a:defRPr sz="1875" b="1">
                <a:solidFill>
                  <a:srgbClr val="FF007F"/>
                </a:solidFill>
                <a:latin typeface="CiscoSansTT Medium"/>
                <a:ea typeface="CiscoSansTT Medium"/>
                <a:cs typeface="CiscoSansTT Medium"/>
              </a:defRPr>
            </a:lvl8pPr>
            <a:lvl9pPr algn="l">
              <a:defRPr sz="1875" b="1">
                <a:solidFill>
                  <a:srgbClr val="FF007F"/>
                </a:solidFill>
                <a:latin typeface="CiscoSansTT Medium"/>
                <a:ea typeface="CiscoSansTT Medium"/>
                <a:cs typeface="CiscoSansTT Medium"/>
              </a:defRPr>
            </a:lvl9pPr>
          </a:lstStyle>
          <a:p>
            <a:pPr algn="l">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Trace A</a:t>
            </a:r>
          </a:p>
        </p:txBody>
      </p:sp>
      <p:sp>
        <p:nvSpPr>
          <p:cNvPr id="43" name="connected-span-0">
            <a:extLst>
              <a:ext uri="{FF2B5EF4-FFF2-40B4-BE49-F238E27FC236}">
                <a16:creationId xmlns:a16="http://schemas.microsoft.com/office/drawing/2014/main" id="{3ED0AE42-321B-42A9-85C0-938094FE2766}"/>
              </a:ext>
            </a:extLst>
          </p:cNvPr>
          <p:cNvSpPr>
            <a:spLocks noGrp="1"/>
          </p:cNvSpPr>
          <p:nvPr/>
        </p:nvSpPr>
        <p:spPr>
          <a:xfrm>
            <a:off x="809625" y="4714875"/>
            <a:ext cx="2857500" cy="523875"/>
          </a:xfrm>
          <a:prstGeom prst="roundRect">
            <a:avLst>
              <a:gd name="adj" fmla="val 10909"/>
            </a:avLst>
          </a:prstGeom>
          <a:solidFill>
            <a:srgbClr val="F6ECF5"/>
          </a:solidFill>
          <a:ln w="12383">
            <a:solidFill>
              <a:srgbClr val="FF007F"/>
            </a:solidFill>
          </a:ln>
        </p:spPr>
        <p:txBody>
          <a:bodyPr/>
          <a:lstStyle/>
          <a:p>
            <a:endParaRPr lang="en-ES"/>
          </a:p>
        </p:txBody>
      </p:sp>
      <p:sp>
        <p:nvSpPr>
          <p:cNvPr id="44" name="connected-service-0">
            <a:extLst>
              <a:ext uri="{FF2B5EF4-FFF2-40B4-BE49-F238E27FC236}">
                <a16:creationId xmlns:a16="http://schemas.microsoft.com/office/drawing/2014/main" id="{3631A881-AAB9-408E-B055-23887B43F1B3}"/>
              </a:ext>
            </a:extLst>
          </p:cNvPr>
          <p:cNvSpPr>
            <a:spLocks noGrp="1"/>
          </p:cNvSpPr>
          <p:nvPr/>
        </p:nvSpPr>
        <p:spPr>
          <a:xfrm>
            <a:off x="809625" y="4714875"/>
            <a:ext cx="2857500" cy="52387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edge-nginx</a:t>
            </a:r>
          </a:p>
        </p:txBody>
      </p:sp>
      <p:cxnSp>
        <p:nvCxnSpPr>
          <p:cNvPr id="45" name="connected-call-0">
            <a:extLst>
              <a:ext uri="{FF2B5EF4-FFF2-40B4-BE49-F238E27FC236}">
                <a16:creationId xmlns:a16="http://schemas.microsoft.com/office/drawing/2014/main" id="{1CEA6D18-6822-4704-8889-6193F61EE3BD}"/>
              </a:ext>
            </a:extLst>
          </p:cNvPr>
          <p:cNvCxnSpPr/>
          <p:nvPr/>
        </p:nvCxnSpPr>
        <p:spPr>
          <a:xfrm>
            <a:off x="3667125" y="4976813"/>
            <a:ext cx="1000125" cy="0"/>
          </a:xfrm>
          <a:prstGeom prst="straightConnector1">
            <a:avLst/>
          </a:prstGeom>
          <a:ln w="21908">
            <a:solidFill>
              <a:srgbClr val="FF007F"/>
            </a:solidFill>
            <a:tailEnd type="arrow" w="med" len="med"/>
          </a:ln>
        </p:spPr>
      </p:cxnSp>
      <p:sp>
        <p:nvSpPr>
          <p:cNvPr id="46" name="connected-span-1">
            <a:extLst>
              <a:ext uri="{FF2B5EF4-FFF2-40B4-BE49-F238E27FC236}">
                <a16:creationId xmlns:a16="http://schemas.microsoft.com/office/drawing/2014/main" id="{E94F0DCD-3993-4401-A189-78395AFDDC8E}"/>
              </a:ext>
            </a:extLst>
          </p:cNvPr>
          <p:cNvSpPr>
            <a:spLocks noGrp="1"/>
          </p:cNvSpPr>
          <p:nvPr/>
        </p:nvSpPr>
        <p:spPr>
          <a:xfrm>
            <a:off x="4667250" y="4714875"/>
            <a:ext cx="2857500" cy="523875"/>
          </a:xfrm>
          <a:prstGeom prst="roundRect">
            <a:avLst>
              <a:gd name="adj" fmla="val 10909"/>
            </a:avLst>
          </a:prstGeom>
          <a:solidFill>
            <a:srgbClr val="F6ECF5"/>
          </a:solidFill>
          <a:ln w="12383">
            <a:solidFill>
              <a:srgbClr val="FF007F"/>
            </a:solidFill>
          </a:ln>
        </p:spPr>
        <p:txBody>
          <a:bodyPr/>
          <a:lstStyle/>
          <a:p>
            <a:endParaRPr lang="en-ES"/>
          </a:p>
        </p:txBody>
      </p:sp>
      <p:sp>
        <p:nvSpPr>
          <p:cNvPr id="47" name="connected-service-1">
            <a:extLst>
              <a:ext uri="{FF2B5EF4-FFF2-40B4-BE49-F238E27FC236}">
                <a16:creationId xmlns:a16="http://schemas.microsoft.com/office/drawing/2014/main" id="{521B59B2-5E34-4272-A475-06DDF926610E}"/>
              </a:ext>
            </a:extLst>
          </p:cNvPr>
          <p:cNvSpPr>
            <a:spLocks noGrp="1"/>
          </p:cNvSpPr>
          <p:nvPr/>
        </p:nvSpPr>
        <p:spPr>
          <a:xfrm>
            <a:off x="4667250" y="4714875"/>
            <a:ext cx="2857500" cy="52387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recommendations-v2</a:t>
            </a:r>
          </a:p>
        </p:txBody>
      </p:sp>
      <p:cxnSp>
        <p:nvCxnSpPr>
          <p:cNvPr id="48" name="connected-call-1">
            <a:extLst>
              <a:ext uri="{FF2B5EF4-FFF2-40B4-BE49-F238E27FC236}">
                <a16:creationId xmlns:a16="http://schemas.microsoft.com/office/drawing/2014/main" id="{318BEE17-753B-4840-BB8F-2C3747AF3A88}"/>
              </a:ext>
            </a:extLst>
          </p:cNvPr>
          <p:cNvCxnSpPr/>
          <p:nvPr/>
        </p:nvCxnSpPr>
        <p:spPr>
          <a:xfrm>
            <a:off x="7524750" y="4976813"/>
            <a:ext cx="1000125" cy="0"/>
          </a:xfrm>
          <a:prstGeom prst="straightConnector1">
            <a:avLst/>
          </a:prstGeom>
          <a:ln w="21908">
            <a:solidFill>
              <a:srgbClr val="FF007F"/>
            </a:solidFill>
            <a:tailEnd type="arrow" w="med" len="med"/>
          </a:ln>
        </p:spPr>
      </p:cxnSp>
      <p:sp>
        <p:nvSpPr>
          <p:cNvPr id="49" name="connected-span-2">
            <a:extLst>
              <a:ext uri="{FF2B5EF4-FFF2-40B4-BE49-F238E27FC236}">
                <a16:creationId xmlns:a16="http://schemas.microsoft.com/office/drawing/2014/main" id="{437FEDA6-15E2-4C70-B857-AA9C445EF009}"/>
              </a:ext>
            </a:extLst>
          </p:cNvPr>
          <p:cNvSpPr>
            <a:spLocks noGrp="1"/>
          </p:cNvSpPr>
          <p:nvPr/>
        </p:nvSpPr>
        <p:spPr>
          <a:xfrm>
            <a:off x="8524875" y="4714875"/>
            <a:ext cx="2857500" cy="523875"/>
          </a:xfrm>
          <a:prstGeom prst="roundRect">
            <a:avLst>
              <a:gd name="adj" fmla="val 10909"/>
            </a:avLst>
          </a:prstGeom>
          <a:solidFill>
            <a:srgbClr val="F6ECF5"/>
          </a:solidFill>
          <a:ln w="12383">
            <a:solidFill>
              <a:srgbClr val="FF007F"/>
            </a:solidFill>
          </a:ln>
        </p:spPr>
        <p:txBody>
          <a:bodyPr/>
          <a:lstStyle/>
          <a:p>
            <a:endParaRPr lang="en-ES"/>
          </a:p>
        </p:txBody>
      </p:sp>
      <p:sp>
        <p:nvSpPr>
          <p:cNvPr id="50" name="connected-service-2">
            <a:extLst>
              <a:ext uri="{FF2B5EF4-FFF2-40B4-BE49-F238E27FC236}">
                <a16:creationId xmlns:a16="http://schemas.microsoft.com/office/drawing/2014/main" id="{0DE5CD28-5D01-479B-B3A9-D3D00BB64879}"/>
              </a:ext>
            </a:extLst>
          </p:cNvPr>
          <p:cNvSpPr>
            <a:spLocks noGrp="1"/>
          </p:cNvSpPr>
          <p:nvPr/>
        </p:nvSpPr>
        <p:spPr>
          <a:xfrm>
            <a:off x="8524875" y="4714875"/>
            <a:ext cx="2857500" cy="52387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recommendations-v1</a:t>
            </a:r>
          </a:p>
        </p:txBody>
      </p:sp>
      <p:sp>
        <p:nvSpPr>
          <p:cNvPr id="51" name="trace-takeaway">
            <a:extLst>
              <a:ext uri="{FF2B5EF4-FFF2-40B4-BE49-F238E27FC236}">
                <a16:creationId xmlns:a16="http://schemas.microsoft.com/office/drawing/2014/main" id="{E55C148F-3014-441A-A226-24A26882EE69}"/>
              </a:ext>
            </a:extLst>
          </p:cNvPr>
          <p:cNvSpPr>
            <a:spLocks noGrp="1"/>
          </p:cNvSpPr>
          <p:nvPr/>
        </p:nvSpPr>
        <p:spPr>
          <a:xfrm>
            <a:off x="666750" y="5791200"/>
            <a:ext cx="10858500" cy="419100"/>
          </a:xfrm>
          <a:prstGeom prst="rect">
            <a:avLst/>
          </a:prstGeom>
          <a:noFill/>
          <a:ln w="0">
            <a:noFill/>
          </a:ln>
        </p:spPr>
        <p:txBody>
          <a:bodyPr anchor="ctr">
            <a:noAutofit/>
          </a:bodyPr>
          <a:lstStyle>
            <a:defPPr algn="ctr">
              <a:defRPr sz="1950" b="1">
                <a:solidFill>
                  <a:srgbClr val="07182A"/>
                </a:solidFill>
                <a:latin typeface="CiscoSansTT Medium"/>
                <a:ea typeface="CiscoSansTT Medium"/>
                <a:cs typeface="CiscoSansTT Medium"/>
              </a:defRPr>
            </a:defPPr>
            <a:lvl1pPr algn="ctr">
              <a:defRPr sz="1950" b="1">
                <a:solidFill>
                  <a:srgbClr val="07182A"/>
                </a:solidFill>
                <a:latin typeface="CiscoSansTT Medium"/>
                <a:ea typeface="CiscoSansTT Medium"/>
                <a:cs typeface="CiscoSansTT Medium"/>
              </a:defRPr>
            </a:lvl1pPr>
            <a:lvl2pPr algn="ctr">
              <a:defRPr sz="1950" b="1">
                <a:solidFill>
                  <a:srgbClr val="07182A"/>
                </a:solidFill>
                <a:latin typeface="CiscoSansTT Medium"/>
                <a:ea typeface="CiscoSansTT Medium"/>
                <a:cs typeface="CiscoSansTT Medium"/>
              </a:defRPr>
            </a:lvl2pPr>
            <a:lvl3pPr algn="ctr">
              <a:defRPr sz="1950" b="1">
                <a:solidFill>
                  <a:srgbClr val="07182A"/>
                </a:solidFill>
                <a:latin typeface="CiscoSansTT Medium"/>
                <a:ea typeface="CiscoSansTT Medium"/>
                <a:cs typeface="CiscoSansTT Medium"/>
              </a:defRPr>
            </a:lvl3pPr>
            <a:lvl4pPr algn="ctr">
              <a:defRPr sz="1950" b="1">
                <a:solidFill>
                  <a:srgbClr val="07182A"/>
                </a:solidFill>
                <a:latin typeface="CiscoSansTT Medium"/>
                <a:ea typeface="CiscoSansTT Medium"/>
                <a:cs typeface="CiscoSansTT Medium"/>
              </a:defRPr>
            </a:lvl4pPr>
            <a:lvl5pPr algn="ctr">
              <a:defRPr sz="1950" b="1">
                <a:solidFill>
                  <a:srgbClr val="07182A"/>
                </a:solidFill>
                <a:latin typeface="CiscoSansTT Medium"/>
                <a:ea typeface="CiscoSansTT Medium"/>
                <a:cs typeface="CiscoSansTT Medium"/>
              </a:defRPr>
            </a:lvl5pPr>
            <a:lvl6pPr algn="ctr">
              <a:defRPr sz="1950" b="1">
                <a:solidFill>
                  <a:srgbClr val="07182A"/>
                </a:solidFill>
                <a:latin typeface="CiscoSansTT Medium"/>
                <a:ea typeface="CiscoSansTT Medium"/>
                <a:cs typeface="CiscoSansTT Medium"/>
              </a:defRPr>
            </a:lvl6pPr>
            <a:lvl7pPr algn="ctr">
              <a:defRPr sz="1950" b="1">
                <a:solidFill>
                  <a:srgbClr val="07182A"/>
                </a:solidFill>
                <a:latin typeface="CiscoSansTT Medium"/>
                <a:ea typeface="CiscoSansTT Medium"/>
                <a:cs typeface="CiscoSansTT Medium"/>
              </a:defRPr>
            </a:lvl7pPr>
            <a:lvl8pPr algn="ctr">
              <a:defRPr sz="1950" b="1">
                <a:solidFill>
                  <a:srgbClr val="07182A"/>
                </a:solidFill>
                <a:latin typeface="CiscoSansTT Medium"/>
                <a:ea typeface="CiscoSansTT Medium"/>
                <a:cs typeface="CiscoSansTT Medium"/>
              </a:defRPr>
            </a:lvl8pPr>
            <a:lvl9pPr algn="ctr">
              <a:defRPr sz="1950" b="1">
                <a:solidFill>
                  <a:srgbClr val="07182A"/>
                </a:solidFill>
                <a:latin typeface="CiscoSansTT Medium"/>
                <a:ea typeface="CiscoSansTT Medium"/>
                <a:cs typeface="CiscoSansTT Medium"/>
              </a:defRPr>
            </a:lvl9pPr>
          </a:lstStyle>
          <a:p>
            <a:pPr algn="ctr">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One trace connects the operations across all three services.</a:t>
            </a:r>
          </a:p>
        </p:txBody>
      </p:sp>
    </p:spTree>
    <p:extLst>
      <p:ext uri="{BB962C8B-B14F-4D97-AF65-F5344CB8AC3E}">
        <p14:creationId xmlns:p14="http://schemas.microsoft.com/office/powerpoint/2010/main" val="76814743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HTTP </a:t>
            </a: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dirty="0">
                <a:solidFill>
                  <a:srgbClr val="686B6B"/>
                </a:solidFill>
                <a:latin typeface="CiscoSansTT"/>
                <a:ea typeface="CiscoSansTT"/>
                <a:cs typeface="CiscoSansTT"/>
              </a:rPr>
              <a:t>Which request was slow?</a:t>
            </a:r>
            <a:r>
              <a:rPr lang="en-US" sz="1800" b="0" dirty="0">
                <a:solidFill>
                  <a:srgbClr val="686B6B"/>
                </a:solidFill>
                <a:latin typeface="CiscoSansTT"/>
                <a:ea typeface="CiscoSansTT"/>
                <a:cs typeface="CiscoSansTT"/>
              </a:rPr>
              <a:t> And why?</a:t>
            </a:r>
            <a:endParaRPr sz="1800" b="0" dirty="0">
              <a:solidFill>
                <a:srgbClr val="686B6B"/>
              </a:solidFill>
              <a:latin typeface="CiscoSansTT"/>
              <a:ea typeface="CiscoSansTT"/>
              <a:cs typeface="CiscoSansTT"/>
            </a:endParaRP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533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5BE4714C-E09A-4E15-A6FA-743BF91C0637}"/>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network metrics: when to enable them</a:t>
            </a:r>
          </a:p>
        </p:txBody>
      </p:sp>
      <p:sp>
        <p:nvSpPr>
          <p:cNvPr id="11" name="network-definition">
            <a:extLst>
              <a:ext uri="{FF2B5EF4-FFF2-40B4-BE49-F238E27FC236}">
                <a16:creationId xmlns:a16="http://schemas.microsoft.com/office/drawing/2014/main" id="{FDC60109-7549-450B-BEE5-B1C467860AA3}"/>
              </a:ext>
            </a:extLst>
          </p:cNvPr>
          <p:cNvSpPr>
            <a:spLocks noGrp="1"/>
          </p:cNvSpPr>
          <p:nvPr/>
        </p:nvSpPr>
        <p:spPr>
          <a:xfrm>
            <a:off x="666750" y="1047750"/>
            <a:ext cx="10858500" cy="4381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buNone/>
              <a:defRPr sz="1875" b="0">
                <a:solidFill>
                  <a:srgbClr val="686B6B"/>
                </a:solidFill>
                <a:latin typeface="CiscoSansTT"/>
                <a:ea typeface="CiscoSansTT"/>
                <a:cs typeface="CiscoSansTT"/>
              </a:defRPr>
            </a:lvl1pPr>
            <a:lvl2pPr algn="l">
              <a:buNone/>
              <a:defRPr sz="1875" b="0">
                <a:solidFill>
                  <a:srgbClr val="686B6B"/>
                </a:solidFill>
                <a:latin typeface="CiscoSansTT"/>
                <a:ea typeface="CiscoSansTT"/>
                <a:cs typeface="CiscoSansTT"/>
              </a:defRPr>
            </a:lvl2pPr>
            <a:lvl3pPr algn="l">
              <a:buNone/>
              <a:defRPr sz="1875" b="0">
                <a:solidFill>
                  <a:srgbClr val="686B6B"/>
                </a:solidFill>
                <a:latin typeface="CiscoSansTT"/>
                <a:ea typeface="CiscoSansTT"/>
                <a:cs typeface="CiscoSansTT"/>
              </a:defRPr>
            </a:lvl3pPr>
            <a:lvl4pPr algn="l">
              <a:buNone/>
              <a:defRPr sz="1875" b="0">
                <a:solidFill>
                  <a:srgbClr val="686B6B"/>
                </a:solidFill>
                <a:latin typeface="CiscoSansTT"/>
                <a:ea typeface="CiscoSansTT"/>
                <a:cs typeface="CiscoSansTT"/>
              </a:defRPr>
            </a:lvl4pPr>
            <a:lvl5pPr algn="l">
              <a:buNone/>
              <a:defRPr sz="1875" b="0">
                <a:solidFill>
                  <a:srgbClr val="686B6B"/>
                </a:solidFill>
                <a:latin typeface="CiscoSansTT"/>
                <a:ea typeface="CiscoSansTT"/>
                <a:cs typeface="CiscoSansTT"/>
              </a:defRPr>
            </a:lvl5pPr>
            <a:lvl6pPr algn="l">
              <a:buNone/>
              <a:defRPr sz="1875" b="0">
                <a:solidFill>
                  <a:srgbClr val="686B6B"/>
                </a:solidFill>
                <a:latin typeface="CiscoSansTT"/>
                <a:ea typeface="CiscoSansTT"/>
                <a:cs typeface="CiscoSansTT"/>
              </a:defRPr>
            </a:lvl6pPr>
            <a:lvl7pPr algn="l">
              <a:buNone/>
              <a:defRPr sz="1875" b="0">
                <a:solidFill>
                  <a:srgbClr val="686B6B"/>
                </a:solidFill>
                <a:latin typeface="CiscoSansTT"/>
                <a:ea typeface="CiscoSansTT"/>
                <a:cs typeface="CiscoSansTT"/>
              </a:defRPr>
            </a:lvl7pPr>
            <a:lvl8pPr algn="l">
              <a:buNone/>
              <a:defRPr sz="1875" b="0">
                <a:solidFill>
                  <a:srgbClr val="686B6B"/>
                </a:solidFill>
                <a:latin typeface="CiscoSansTT"/>
                <a:ea typeface="CiscoSansTT"/>
                <a:cs typeface="CiscoSansTT"/>
              </a:defRPr>
            </a:lvl8pPr>
            <a:lvl9pPr algn="l">
              <a:buNone/>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Optional traffic-volume metrics, separate from application traces.</a:t>
            </a:r>
          </a:p>
        </p:txBody>
      </p:sp>
      <p:sp>
        <p:nvSpPr>
          <p:cNvPr id="12" name="network-heading-0">
            <a:extLst>
              <a:ext uri="{FF2B5EF4-FFF2-40B4-BE49-F238E27FC236}">
                <a16:creationId xmlns:a16="http://schemas.microsoft.com/office/drawing/2014/main" id="{22DA0A7B-1FB9-4472-B613-7463E2E65088}"/>
              </a:ext>
            </a:extLst>
          </p:cNvPr>
          <p:cNvSpPr>
            <a:spLocks noGrp="1"/>
          </p:cNvSpPr>
          <p:nvPr/>
        </p:nvSpPr>
        <p:spPr>
          <a:xfrm>
            <a:off x="762000" y="1790700"/>
            <a:ext cx="2857500" cy="704850"/>
          </a:xfrm>
          <a:prstGeom prst="rect">
            <a:avLst/>
          </a:prstGeom>
          <a:noFill/>
          <a:ln w="0">
            <a:noFill/>
          </a:ln>
        </p:spPr>
        <p:txBody>
          <a:bodyPr anchor="ctr">
            <a:noAutofit/>
          </a:bodyPr>
          <a:lstStyle>
            <a:defPPr algn="l">
              <a:defRPr sz="2175" b="1">
                <a:solidFill>
                  <a:srgbClr val="FF007F"/>
                </a:solidFill>
                <a:latin typeface="CiscoSansTT Medium"/>
                <a:ea typeface="CiscoSansTT Medium"/>
                <a:cs typeface="CiscoSansTT Medium"/>
              </a:defRPr>
            </a:defPPr>
            <a:lvl1pPr algn="l">
              <a:buNone/>
              <a:defRPr sz="2175" b="1">
                <a:solidFill>
                  <a:srgbClr val="FF007F"/>
                </a:solidFill>
                <a:latin typeface="CiscoSansTT Medium"/>
                <a:ea typeface="CiscoSansTT Medium"/>
                <a:cs typeface="CiscoSansTT Medium"/>
              </a:defRPr>
            </a:lvl1pPr>
            <a:lvl2pPr algn="l">
              <a:buNone/>
              <a:defRPr sz="2175" b="1">
                <a:solidFill>
                  <a:srgbClr val="FF007F"/>
                </a:solidFill>
                <a:latin typeface="CiscoSansTT Medium"/>
                <a:ea typeface="CiscoSansTT Medium"/>
                <a:cs typeface="CiscoSansTT Medium"/>
              </a:defRPr>
            </a:lvl2pPr>
            <a:lvl3pPr algn="l">
              <a:buNone/>
              <a:defRPr sz="2175" b="1">
                <a:solidFill>
                  <a:srgbClr val="FF007F"/>
                </a:solidFill>
                <a:latin typeface="CiscoSansTT Medium"/>
                <a:ea typeface="CiscoSansTT Medium"/>
                <a:cs typeface="CiscoSansTT Medium"/>
              </a:defRPr>
            </a:lvl3pPr>
            <a:lvl4pPr algn="l">
              <a:buNone/>
              <a:defRPr sz="2175" b="1">
                <a:solidFill>
                  <a:srgbClr val="FF007F"/>
                </a:solidFill>
                <a:latin typeface="CiscoSansTT Medium"/>
                <a:ea typeface="CiscoSansTT Medium"/>
                <a:cs typeface="CiscoSansTT Medium"/>
              </a:defRPr>
            </a:lvl4pPr>
            <a:lvl5pPr algn="l">
              <a:buNone/>
              <a:defRPr sz="2175" b="1">
                <a:solidFill>
                  <a:srgbClr val="FF007F"/>
                </a:solidFill>
                <a:latin typeface="CiscoSansTT Medium"/>
                <a:ea typeface="CiscoSansTT Medium"/>
                <a:cs typeface="CiscoSansTT Medium"/>
              </a:defRPr>
            </a:lvl5pPr>
            <a:lvl6pPr algn="l">
              <a:buNone/>
              <a:defRPr sz="2175" b="1">
                <a:solidFill>
                  <a:srgbClr val="FF007F"/>
                </a:solidFill>
                <a:latin typeface="CiscoSansTT Medium"/>
                <a:ea typeface="CiscoSansTT Medium"/>
                <a:cs typeface="CiscoSansTT Medium"/>
              </a:defRPr>
            </a:lvl6pPr>
            <a:lvl7pPr algn="l">
              <a:buNone/>
              <a:defRPr sz="2175" b="1">
                <a:solidFill>
                  <a:srgbClr val="FF007F"/>
                </a:solidFill>
                <a:latin typeface="CiscoSansTT Medium"/>
                <a:ea typeface="CiscoSansTT Medium"/>
                <a:cs typeface="CiscoSansTT Medium"/>
              </a:defRPr>
            </a:lvl7pPr>
            <a:lvl8pPr algn="l">
              <a:buNone/>
              <a:defRPr sz="2175" b="1">
                <a:solidFill>
                  <a:srgbClr val="FF007F"/>
                </a:solidFill>
                <a:latin typeface="CiscoSansTT Medium"/>
                <a:ea typeface="CiscoSansTT Medium"/>
                <a:cs typeface="CiscoSansTT Medium"/>
              </a:defRPr>
            </a:lvl8pPr>
            <a:lvl9pPr algn="l">
              <a:buNone/>
              <a:defRPr sz="2175" b="1">
                <a:solidFill>
                  <a:srgbClr val="FF007F"/>
                </a:solidFill>
                <a:latin typeface="CiscoSansTT Medium"/>
                <a:ea typeface="CiscoSansTT Medium"/>
                <a:cs typeface="CiscoSansTT Medium"/>
              </a:defRPr>
            </a:lvl9pPr>
          </a:lstStyle>
          <a:p>
            <a:pPr algn="l">
              <a:buNone/>
              <a:defRPr sz="2175" b="1">
                <a:solidFill>
                  <a:srgbClr val="FF007F"/>
                </a:solidFill>
                <a:latin typeface="CiscoSansTT Medium"/>
                <a:ea typeface="CiscoSansTT Medium"/>
                <a:cs typeface="CiscoSansTT Medium"/>
              </a:defRPr>
            </a:pPr>
            <a:r>
              <a:rPr sz="2175" b="1">
                <a:solidFill>
                  <a:srgbClr val="FF007F"/>
                </a:solidFill>
                <a:latin typeface="CiscoSansTT Medium"/>
                <a:ea typeface="CiscoSansTT Medium"/>
                <a:cs typeface="CiscoSansTT Medium"/>
              </a:rPr>
              <a:t>What they add</a:t>
            </a:r>
          </a:p>
        </p:txBody>
      </p:sp>
      <p:sp>
        <p:nvSpPr>
          <p:cNvPr id="13" name="network-body-0">
            <a:extLst>
              <a:ext uri="{FF2B5EF4-FFF2-40B4-BE49-F238E27FC236}">
                <a16:creationId xmlns:a16="http://schemas.microsoft.com/office/drawing/2014/main" id="{AF8FEED1-7E86-42F8-AAC2-EF5AF031F7F8}"/>
              </a:ext>
            </a:extLst>
          </p:cNvPr>
          <p:cNvSpPr>
            <a:spLocks noGrp="1"/>
          </p:cNvSpPr>
          <p:nvPr/>
        </p:nvSpPr>
        <p:spPr>
          <a:xfrm>
            <a:off x="3905250" y="17907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Bytes and packets between endpoints,</a:t>
            </a:r>
          </a:p>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with Kubernetes workload labels.</a:t>
            </a:r>
          </a:p>
        </p:txBody>
      </p:sp>
      <p:sp>
        <p:nvSpPr>
          <p:cNvPr id="14" name="network-rule-0">
            <a:extLst>
              <a:ext uri="{FF2B5EF4-FFF2-40B4-BE49-F238E27FC236}">
                <a16:creationId xmlns:a16="http://schemas.microsoft.com/office/drawing/2014/main" id="{1B0A576A-E211-40EE-B765-E1849A442BA5}"/>
              </a:ext>
            </a:extLst>
          </p:cNvPr>
          <p:cNvSpPr>
            <a:spLocks noGrp="1"/>
          </p:cNvSpPr>
          <p:nvPr/>
        </p:nvSpPr>
        <p:spPr>
          <a:xfrm>
            <a:off x="762000" y="2686050"/>
            <a:ext cx="10668000" cy="9525"/>
          </a:xfrm>
          <a:prstGeom prst="rect">
            <a:avLst/>
          </a:prstGeom>
          <a:solidFill>
            <a:srgbClr val="D6DDE3"/>
          </a:solidFill>
          <a:ln w="0">
            <a:noFill/>
          </a:ln>
        </p:spPr>
        <p:txBody>
          <a:bodyPr/>
          <a:lstStyle/>
          <a:p>
            <a:endParaRPr/>
          </a:p>
        </p:txBody>
      </p:sp>
      <p:sp>
        <p:nvSpPr>
          <p:cNvPr id="15" name="network-heading-1">
            <a:extLst>
              <a:ext uri="{FF2B5EF4-FFF2-40B4-BE49-F238E27FC236}">
                <a16:creationId xmlns:a16="http://schemas.microsoft.com/office/drawing/2014/main" id="{FA873DA4-F84F-453B-8B71-9AA7BB3DF16C}"/>
              </a:ext>
            </a:extLst>
          </p:cNvPr>
          <p:cNvSpPr>
            <a:spLocks noGrp="1"/>
          </p:cNvSpPr>
          <p:nvPr/>
        </p:nvSpPr>
        <p:spPr>
          <a:xfrm>
            <a:off x="762000" y="2895600"/>
            <a:ext cx="2857500" cy="70485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buNone/>
              <a:defRPr sz="2175" b="1">
                <a:solidFill>
                  <a:srgbClr val="0860FE"/>
                </a:solidFill>
                <a:latin typeface="CiscoSansTT Medium"/>
                <a:ea typeface="CiscoSansTT Medium"/>
                <a:cs typeface="CiscoSansTT Medium"/>
              </a:defRPr>
            </a:lvl1pPr>
            <a:lvl2pPr algn="l">
              <a:buNone/>
              <a:defRPr sz="2175" b="1">
                <a:solidFill>
                  <a:srgbClr val="0860FE"/>
                </a:solidFill>
                <a:latin typeface="CiscoSansTT Medium"/>
                <a:ea typeface="CiscoSansTT Medium"/>
                <a:cs typeface="CiscoSansTT Medium"/>
              </a:defRPr>
            </a:lvl2pPr>
            <a:lvl3pPr algn="l">
              <a:buNone/>
              <a:defRPr sz="2175" b="1">
                <a:solidFill>
                  <a:srgbClr val="0860FE"/>
                </a:solidFill>
                <a:latin typeface="CiscoSansTT Medium"/>
                <a:ea typeface="CiscoSansTT Medium"/>
                <a:cs typeface="CiscoSansTT Medium"/>
              </a:defRPr>
            </a:lvl3pPr>
            <a:lvl4pPr algn="l">
              <a:buNone/>
              <a:defRPr sz="2175" b="1">
                <a:solidFill>
                  <a:srgbClr val="0860FE"/>
                </a:solidFill>
                <a:latin typeface="CiscoSansTT Medium"/>
                <a:ea typeface="CiscoSansTT Medium"/>
                <a:cs typeface="CiscoSansTT Medium"/>
              </a:defRPr>
            </a:lvl4pPr>
            <a:lvl5pPr algn="l">
              <a:buNone/>
              <a:defRPr sz="2175" b="1">
                <a:solidFill>
                  <a:srgbClr val="0860FE"/>
                </a:solidFill>
                <a:latin typeface="CiscoSansTT Medium"/>
                <a:ea typeface="CiscoSansTT Medium"/>
                <a:cs typeface="CiscoSansTT Medium"/>
              </a:defRPr>
            </a:lvl5pPr>
            <a:lvl6pPr algn="l">
              <a:buNone/>
              <a:defRPr sz="2175" b="1">
                <a:solidFill>
                  <a:srgbClr val="0860FE"/>
                </a:solidFill>
                <a:latin typeface="CiscoSansTT Medium"/>
                <a:ea typeface="CiscoSansTT Medium"/>
                <a:cs typeface="CiscoSansTT Medium"/>
              </a:defRPr>
            </a:lvl6pPr>
            <a:lvl7pPr algn="l">
              <a:buNone/>
              <a:defRPr sz="2175" b="1">
                <a:solidFill>
                  <a:srgbClr val="0860FE"/>
                </a:solidFill>
                <a:latin typeface="CiscoSansTT Medium"/>
                <a:ea typeface="CiscoSansTT Medium"/>
                <a:cs typeface="CiscoSansTT Medium"/>
              </a:defRPr>
            </a:lvl7pPr>
            <a:lvl8pPr algn="l">
              <a:buNone/>
              <a:defRPr sz="2175" b="1">
                <a:solidFill>
                  <a:srgbClr val="0860FE"/>
                </a:solidFill>
                <a:latin typeface="CiscoSansTT Medium"/>
                <a:ea typeface="CiscoSansTT Medium"/>
                <a:cs typeface="CiscoSansTT Medium"/>
              </a:defRPr>
            </a:lvl8pPr>
            <a:lvl9pPr algn="l">
              <a:buNone/>
              <a:defRPr sz="2175" b="1">
                <a:solidFill>
                  <a:srgbClr val="0860FE"/>
                </a:solidFill>
                <a:latin typeface="CiscoSansTT Medium"/>
                <a:ea typeface="CiscoSansTT Medium"/>
                <a:cs typeface="CiscoSansTT Medium"/>
              </a:defRPr>
            </a:lvl9pPr>
          </a:lstStyle>
          <a:p>
            <a:pPr algn="l">
              <a:buNone/>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Useful for</a:t>
            </a:r>
          </a:p>
        </p:txBody>
      </p:sp>
      <p:sp>
        <p:nvSpPr>
          <p:cNvPr id="16" name="network-body-1">
            <a:extLst>
              <a:ext uri="{FF2B5EF4-FFF2-40B4-BE49-F238E27FC236}">
                <a16:creationId xmlns:a16="http://schemas.microsoft.com/office/drawing/2014/main" id="{C1638B0B-F23C-49DC-9192-79237A3EA7D7}"/>
              </a:ext>
            </a:extLst>
          </p:cNvPr>
          <p:cNvSpPr>
            <a:spLocks noGrp="1"/>
          </p:cNvSpPr>
          <p:nvPr/>
        </p:nvSpPr>
        <p:spPr>
          <a:xfrm>
            <a:off x="3905250" y="28956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Finding traffic-heavy services</a:t>
            </a:r>
          </a:p>
        </p:txBody>
      </p:sp>
      <p:sp>
        <p:nvSpPr>
          <p:cNvPr id="17" name="network-rule-1">
            <a:extLst>
              <a:ext uri="{FF2B5EF4-FFF2-40B4-BE49-F238E27FC236}">
                <a16:creationId xmlns:a16="http://schemas.microsoft.com/office/drawing/2014/main" id="{46E47913-8214-447C-AD61-E270EE73256B}"/>
              </a:ext>
            </a:extLst>
          </p:cNvPr>
          <p:cNvSpPr>
            <a:spLocks noGrp="1"/>
          </p:cNvSpPr>
          <p:nvPr/>
        </p:nvSpPr>
        <p:spPr>
          <a:xfrm>
            <a:off x="762000" y="3790950"/>
            <a:ext cx="10668000" cy="9525"/>
          </a:xfrm>
          <a:prstGeom prst="rect">
            <a:avLst/>
          </a:prstGeom>
          <a:solidFill>
            <a:srgbClr val="D6DDE3"/>
          </a:solidFill>
          <a:ln w="0">
            <a:noFill/>
          </a:ln>
        </p:spPr>
        <p:txBody>
          <a:bodyPr/>
          <a:lstStyle/>
          <a:p>
            <a:endParaRPr/>
          </a:p>
        </p:txBody>
      </p:sp>
      <p:sp>
        <p:nvSpPr>
          <p:cNvPr id="21" name="network-selection">
            <a:extLst>
              <a:ext uri="{FF2B5EF4-FFF2-40B4-BE49-F238E27FC236}">
                <a16:creationId xmlns:a16="http://schemas.microsoft.com/office/drawing/2014/main" id="{84BA9390-28BA-4730-9B9D-34A39C50AF17}"/>
              </a:ext>
            </a:extLst>
          </p:cNvPr>
          <p:cNvSpPr>
            <a:spLocks noGrp="1"/>
          </p:cNvSpPr>
          <p:nvPr/>
        </p:nvSpPr>
        <p:spPr>
          <a:xfrm>
            <a:off x="762000" y="4200525"/>
            <a:ext cx="10668000" cy="457200"/>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buNone/>
              <a:defRPr sz="1875" b="1">
                <a:solidFill>
                  <a:srgbClr val="07182A"/>
                </a:solidFill>
                <a:latin typeface="CiscoSansTT Medium"/>
                <a:ea typeface="CiscoSansTT Medium"/>
                <a:cs typeface="CiscoSansTT Medium"/>
              </a:defRPr>
            </a:lvl1pPr>
            <a:lvl2pPr algn="l">
              <a:buNone/>
              <a:defRPr sz="1875" b="1">
                <a:solidFill>
                  <a:srgbClr val="07182A"/>
                </a:solidFill>
                <a:latin typeface="CiscoSansTT Medium"/>
                <a:ea typeface="CiscoSansTT Medium"/>
                <a:cs typeface="CiscoSansTT Medium"/>
              </a:defRPr>
            </a:lvl2pPr>
            <a:lvl3pPr algn="l">
              <a:buNone/>
              <a:defRPr sz="1875" b="1">
                <a:solidFill>
                  <a:srgbClr val="07182A"/>
                </a:solidFill>
                <a:latin typeface="CiscoSansTT Medium"/>
                <a:ea typeface="CiscoSansTT Medium"/>
                <a:cs typeface="CiscoSansTT Medium"/>
              </a:defRPr>
            </a:lvl3pPr>
            <a:lvl4pPr algn="l">
              <a:buNone/>
              <a:defRPr sz="1875" b="1">
                <a:solidFill>
                  <a:srgbClr val="07182A"/>
                </a:solidFill>
                <a:latin typeface="CiscoSansTT Medium"/>
                <a:ea typeface="CiscoSansTT Medium"/>
                <a:cs typeface="CiscoSansTT Medium"/>
              </a:defRPr>
            </a:lvl4pPr>
            <a:lvl5pPr algn="l">
              <a:buNone/>
              <a:defRPr sz="1875" b="1">
                <a:solidFill>
                  <a:srgbClr val="07182A"/>
                </a:solidFill>
                <a:latin typeface="CiscoSansTT Medium"/>
                <a:ea typeface="CiscoSansTT Medium"/>
                <a:cs typeface="CiscoSansTT Medium"/>
              </a:defRPr>
            </a:lvl5pPr>
            <a:lvl6pPr algn="l">
              <a:buNone/>
              <a:defRPr sz="1875" b="1">
                <a:solidFill>
                  <a:srgbClr val="07182A"/>
                </a:solidFill>
                <a:latin typeface="CiscoSansTT Medium"/>
                <a:ea typeface="CiscoSansTT Medium"/>
                <a:cs typeface="CiscoSansTT Medium"/>
              </a:defRPr>
            </a:lvl6pPr>
            <a:lvl7pPr algn="l">
              <a:buNone/>
              <a:defRPr sz="1875" b="1">
                <a:solidFill>
                  <a:srgbClr val="07182A"/>
                </a:solidFill>
                <a:latin typeface="CiscoSansTT Medium"/>
                <a:ea typeface="CiscoSansTT Medium"/>
                <a:cs typeface="CiscoSansTT Medium"/>
              </a:defRPr>
            </a:lvl7pPr>
            <a:lvl8pPr algn="l">
              <a:buNone/>
              <a:defRPr sz="1875" b="1">
                <a:solidFill>
                  <a:srgbClr val="07182A"/>
                </a:solidFill>
                <a:latin typeface="CiscoSansTT Medium"/>
                <a:ea typeface="CiscoSansTT Medium"/>
                <a:cs typeface="CiscoSansTT Medium"/>
              </a:defRPr>
            </a:lvl8pPr>
            <a:lvl9pPr algn="l">
              <a:buNone/>
              <a:defRPr sz="1875" b="1">
                <a:solidFill>
                  <a:srgbClr val="07182A"/>
                </a:solidFill>
                <a:latin typeface="CiscoSansTT Medium"/>
                <a:ea typeface="CiscoSansTT Medium"/>
                <a:cs typeface="CiscoSansTT Medium"/>
              </a:defRPr>
            </a:lvl9pPr>
          </a:lstStyle>
          <a:p>
            <a:pPr algn="l">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Enable them when you need an additional network-volume view.</a:t>
            </a:r>
          </a:p>
        </p:txBody>
      </p:sp>
      <p:sp>
        <p:nvSpPr>
          <p:cNvPr id="22" name="network-cilium-config">
            <a:extLst>
              <a:ext uri="{FF2B5EF4-FFF2-40B4-BE49-F238E27FC236}">
                <a16:creationId xmlns:a16="http://schemas.microsoft.com/office/drawing/2014/main" id="{8BFA5B85-D8D2-4152-8D31-979037069024}"/>
              </a:ext>
            </a:extLst>
          </p:cNvPr>
          <p:cNvSpPr>
            <a:spLocks noGrp="1"/>
          </p:cNvSpPr>
          <p:nvPr/>
        </p:nvSpPr>
        <p:spPr>
          <a:xfrm>
            <a:off x="762000" y="4876800"/>
            <a:ext cx="10668000" cy="457200"/>
          </a:xfrm>
          <a:prstGeom prst="rect">
            <a:avLst/>
          </a:prstGeom>
          <a:noFill/>
          <a:ln w="0">
            <a:noFill/>
          </a:ln>
        </p:spPr>
        <p:txBody>
          <a:bodyPr anchor="ctr">
            <a:noAutofit/>
          </a:bodyPr>
          <a:lstStyle>
            <a:defPPr algn="l">
              <a:defRPr sz="1650" b="0">
                <a:solidFill>
                  <a:srgbClr val="686B6B"/>
                </a:solidFill>
                <a:latin typeface="CiscoSansTT"/>
                <a:ea typeface="CiscoSansTT"/>
                <a:cs typeface="CiscoSansTT"/>
              </a:defRPr>
            </a:defPPr>
            <a:lvl1pPr algn="l">
              <a:buNone/>
              <a:defRPr sz="1650" b="0">
                <a:solidFill>
                  <a:srgbClr val="686B6B"/>
                </a:solidFill>
                <a:latin typeface="CiscoSansTT"/>
                <a:ea typeface="CiscoSansTT"/>
                <a:cs typeface="CiscoSansTT"/>
              </a:defRPr>
            </a:lvl1pPr>
            <a:lvl2pPr algn="l">
              <a:buNone/>
              <a:defRPr sz="1650" b="0">
                <a:solidFill>
                  <a:srgbClr val="686B6B"/>
                </a:solidFill>
                <a:latin typeface="CiscoSansTT"/>
                <a:ea typeface="CiscoSansTT"/>
                <a:cs typeface="CiscoSansTT"/>
              </a:defRPr>
            </a:lvl2pPr>
            <a:lvl3pPr algn="l">
              <a:buNone/>
              <a:defRPr sz="1650" b="0">
                <a:solidFill>
                  <a:srgbClr val="686B6B"/>
                </a:solidFill>
                <a:latin typeface="CiscoSansTT"/>
                <a:ea typeface="CiscoSansTT"/>
                <a:cs typeface="CiscoSansTT"/>
              </a:defRPr>
            </a:lvl3pPr>
            <a:lvl4pPr algn="l">
              <a:buNone/>
              <a:defRPr sz="1650" b="0">
                <a:solidFill>
                  <a:srgbClr val="686B6B"/>
                </a:solidFill>
                <a:latin typeface="CiscoSansTT"/>
                <a:ea typeface="CiscoSansTT"/>
                <a:cs typeface="CiscoSansTT"/>
              </a:defRPr>
            </a:lvl4pPr>
            <a:lvl5pPr algn="l">
              <a:buNone/>
              <a:defRPr sz="1650" b="0">
                <a:solidFill>
                  <a:srgbClr val="686B6B"/>
                </a:solidFill>
                <a:latin typeface="CiscoSansTT"/>
                <a:ea typeface="CiscoSansTT"/>
                <a:cs typeface="CiscoSansTT"/>
              </a:defRPr>
            </a:lvl5pPr>
            <a:lvl6pPr algn="l">
              <a:buNone/>
              <a:defRPr sz="1650" b="0">
                <a:solidFill>
                  <a:srgbClr val="686B6B"/>
                </a:solidFill>
                <a:latin typeface="CiscoSansTT"/>
                <a:ea typeface="CiscoSansTT"/>
                <a:cs typeface="CiscoSansTT"/>
              </a:defRPr>
            </a:lvl6pPr>
            <a:lvl7pPr algn="l">
              <a:buNone/>
              <a:defRPr sz="1650" b="0">
                <a:solidFill>
                  <a:srgbClr val="686B6B"/>
                </a:solidFill>
                <a:latin typeface="CiscoSansTT"/>
                <a:ea typeface="CiscoSansTT"/>
                <a:cs typeface="CiscoSansTT"/>
              </a:defRPr>
            </a:lvl7pPr>
            <a:lvl8pPr algn="l">
              <a:buNone/>
              <a:defRPr sz="1650" b="0">
                <a:solidFill>
                  <a:srgbClr val="686B6B"/>
                </a:solidFill>
                <a:latin typeface="CiscoSansTT"/>
                <a:ea typeface="CiscoSansTT"/>
                <a:cs typeface="CiscoSansTT"/>
              </a:defRPr>
            </a:lvl8pPr>
            <a:lvl9pPr algn="l">
              <a:buNone/>
              <a:defRPr sz="1650" b="0">
                <a:solidFill>
                  <a:srgbClr val="686B6B"/>
                </a:solidFill>
                <a:latin typeface="CiscoSansTT"/>
                <a:ea typeface="CiscoSansTT"/>
                <a:cs typeface="CiscoSansTT"/>
              </a:defRPr>
            </a:lvl9pPr>
          </a:lstStyle>
          <a:p>
            <a:pPr algn="l">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With Cilium: network.source: socket_filter. Keep exported labels limited.</a:t>
            </a:r>
          </a:p>
        </p:txBody>
      </p:sp>
    </p:spTree>
    <p:extLst>
      <p:ext uri="{BB962C8B-B14F-4D97-AF65-F5344CB8AC3E}">
        <p14:creationId xmlns:p14="http://schemas.microsoft.com/office/powerpoint/2010/main" val="1785190512"/>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87FACB85-A5FC-4526-9914-22C8BFC4174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150" b="0">
                <a:solidFill>
                  <a:srgbClr val="07182A"/>
                </a:solidFill>
                <a:latin typeface="CiscoSansTT"/>
                <a:ea typeface="CiscoSansTT"/>
                <a:cs typeface="CiscoSansTT"/>
              </a:defRPr>
            </a:defPPr>
            <a:lvl1pPr algn="l">
              <a:defRPr sz="3150" b="0">
                <a:solidFill>
                  <a:srgbClr val="07182A"/>
                </a:solidFill>
                <a:latin typeface="CiscoSansTT"/>
                <a:ea typeface="CiscoSansTT"/>
                <a:cs typeface="CiscoSansTT"/>
              </a:defRPr>
            </a:lvl1pPr>
            <a:lvl2pPr algn="l">
              <a:defRPr sz="3150" b="0">
                <a:solidFill>
                  <a:srgbClr val="07182A"/>
                </a:solidFill>
                <a:latin typeface="CiscoSansTT"/>
                <a:ea typeface="CiscoSansTT"/>
                <a:cs typeface="CiscoSansTT"/>
              </a:defRPr>
            </a:lvl2pPr>
            <a:lvl3pPr algn="l">
              <a:defRPr sz="3150" b="0">
                <a:solidFill>
                  <a:srgbClr val="07182A"/>
                </a:solidFill>
                <a:latin typeface="CiscoSansTT"/>
                <a:ea typeface="CiscoSansTT"/>
                <a:cs typeface="CiscoSansTT"/>
              </a:defRPr>
            </a:lvl3pPr>
            <a:lvl4pPr algn="l">
              <a:defRPr sz="3150" b="0">
                <a:solidFill>
                  <a:srgbClr val="07182A"/>
                </a:solidFill>
                <a:latin typeface="CiscoSansTT"/>
                <a:ea typeface="CiscoSansTT"/>
                <a:cs typeface="CiscoSansTT"/>
              </a:defRPr>
            </a:lvl4pPr>
            <a:lvl5pPr algn="l">
              <a:defRPr sz="3150" b="0">
                <a:solidFill>
                  <a:srgbClr val="07182A"/>
                </a:solidFill>
                <a:latin typeface="CiscoSansTT"/>
                <a:ea typeface="CiscoSansTT"/>
                <a:cs typeface="CiscoSansTT"/>
              </a:defRPr>
            </a:lvl5pPr>
            <a:lvl6pPr algn="l">
              <a:defRPr sz="3150" b="0">
                <a:solidFill>
                  <a:srgbClr val="07182A"/>
                </a:solidFill>
                <a:latin typeface="CiscoSansTT"/>
                <a:ea typeface="CiscoSansTT"/>
                <a:cs typeface="CiscoSansTT"/>
              </a:defRPr>
            </a:lvl6pPr>
            <a:lvl7pPr algn="l">
              <a:defRPr sz="3150" b="0">
                <a:solidFill>
                  <a:srgbClr val="07182A"/>
                </a:solidFill>
                <a:latin typeface="CiscoSansTT"/>
                <a:ea typeface="CiscoSansTT"/>
                <a:cs typeface="CiscoSansTT"/>
              </a:defRPr>
            </a:lvl7pPr>
            <a:lvl8pPr algn="l">
              <a:defRPr sz="3150" b="0">
                <a:solidFill>
                  <a:srgbClr val="07182A"/>
                </a:solidFill>
                <a:latin typeface="CiscoSansTT"/>
                <a:ea typeface="CiscoSansTT"/>
                <a:cs typeface="CiscoSansTT"/>
              </a:defRPr>
            </a:lvl8pPr>
            <a:lvl9pPr algn="l">
              <a:defRPr sz="3150" b="0">
                <a:solidFill>
                  <a:srgbClr val="07182A"/>
                </a:solidFill>
                <a:latin typeface="CiscoSansTT"/>
                <a:ea typeface="CiscoSansTT"/>
                <a:cs typeface="CiscoSansTT"/>
              </a:defRPr>
            </a:lvl9pPr>
          </a:lstStyle>
          <a:p xmlns:a="http://schemas.openxmlformats.org/drawingml/2006/main">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OBI and Cilium on the same node</a:t>
            </a:r>
          </a:p>
        </p:txBody>
      </p:sp>
      <p:sp>
        <p:nvSpPr>
          <p:cNvPr id="14" name="Rectangle 13">
            <a:extLst xmlns:a="http://schemas.openxmlformats.org/drawingml/2006/main">
              <a:ext uri="{FF2B5EF4-FFF2-40B4-BE49-F238E27FC236}">
                <a16:creationId xmlns:a16="http://schemas.microsoft.com/office/drawing/2014/main" id="{EBB07FB0-36F4-48B1-8714-832800EE3B62}"/>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D612FC7A-1A2B-4638-9E69-C1CD77A5A17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
        <p:nvSpPr>
          <p:cNvPr id="16" name="shared-worker-node">
            <a:extLst xmlns:a="http://schemas.openxmlformats.org/drawingml/2006/main">
              <a:ext uri="{FF2B5EF4-FFF2-40B4-BE49-F238E27FC236}">
                <a16:creationId xmlns:a16="http://schemas.microsoft.com/office/drawing/2014/main" id="{D417A7EB-45BF-42DF-9A70-2005426E61ED}"/>
              </a:ext>
            </a:extLst>
          </p:cNvPr>
          <p:cNvSpPr>
            <a:spLocks xmlns:a="http://schemas.openxmlformats.org/drawingml/2006/main" noGrp="1"/>
          </p:cNvSpPr>
          <p:nvPr/>
        </p:nvSpPr>
        <p:spPr>
          <a:xfrm xmlns:a="http://schemas.openxmlformats.org/drawingml/2006/main">
            <a:off x="762000" y="1647825"/>
            <a:ext cx="3190875" cy="3819525"/>
          </a:xfrm>
          <a:prstGeom xmlns:a="http://schemas.openxmlformats.org/drawingml/2006/main" prst="rect">
            <a:avLst/>
          </a:prstGeom>
          <a:noFill xmlns:a="http://schemas.openxmlformats.org/drawingml/2006/main"/>
          <a:ln xmlns:a="http://schemas.openxmlformats.org/drawingml/2006/main" w="15240">
            <a:solidFill>
              <a:srgbClr val="CFD5DD"/>
            </a:solidFill>
          </a:ln>
        </p:spPr>
      </p:sp>
      <p:sp>
        <p:nvSpPr>
          <p:cNvPr id="17" name="worker-node-heading">
            <a:extLst xmlns:a="http://schemas.openxmlformats.org/drawingml/2006/main">
              <a:ext uri="{FF2B5EF4-FFF2-40B4-BE49-F238E27FC236}">
                <a16:creationId xmlns:a16="http://schemas.microsoft.com/office/drawing/2014/main" id="{A9B4F930-A7F0-43AB-AAC0-29BA71CD3811}"/>
              </a:ext>
            </a:extLst>
          </p:cNvPr>
          <p:cNvSpPr>
            <a:spLocks xmlns:a="http://schemas.openxmlformats.org/drawingml/2006/main" noGrp="1"/>
          </p:cNvSpPr>
          <p:nvPr/>
        </p:nvSpPr>
        <p:spPr>
          <a:xfrm xmlns:a="http://schemas.openxmlformats.org/drawingml/2006/main">
            <a:off x="952500" y="1809750"/>
            <a:ext cx="2809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xmlns:a="http://schemas.openxmlformats.org/drawingml/2006/main">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One worker node</a:t>
            </a:r>
          </a:p>
        </p:txBody>
      </p:sp>
      <p:sp>
        <p:nvSpPr>
          <p:cNvPr id="18" name="obi-agent">
            <a:extLst xmlns:a="http://schemas.openxmlformats.org/drawingml/2006/main">
              <a:ext uri="{FF2B5EF4-FFF2-40B4-BE49-F238E27FC236}">
                <a16:creationId xmlns:a16="http://schemas.microsoft.com/office/drawing/2014/main" id="{DC8297CE-16F8-4192-B40F-21431D171D46}"/>
              </a:ext>
            </a:extLst>
          </p:cNvPr>
          <p:cNvSpPr>
            <a:spLocks xmlns:a="http://schemas.openxmlformats.org/drawingml/2006/main" noGrp="1"/>
          </p:cNvSpPr>
          <p:nvPr/>
        </p:nvSpPr>
        <p:spPr>
          <a:xfrm xmlns:a="http://schemas.openxmlformats.org/drawingml/2006/main">
            <a:off x="1000125" y="2533650"/>
            <a:ext cx="2714625" cy="1028700"/>
          </a:xfrm>
          <a:prstGeom xmlns:a="http://schemas.openxmlformats.org/drawingml/2006/main" prst="rect">
            <a:avLst/>
          </a:prstGeom>
          <a:solidFill xmlns:a="http://schemas.openxmlformats.org/drawingml/2006/main">
            <a:srgbClr val="F6ECF5"/>
          </a:solidFill>
          <a:ln xmlns:a="http://schemas.openxmlformats.org/drawingml/2006/main" w="14288">
            <a:solidFill>
              <a:srgbClr val="FF007F"/>
            </a:solidFill>
          </a:ln>
        </p:spPr>
      </p:sp>
      <p:sp>
        <p:nvSpPr>
          <p:cNvPr id="19" name="obi-agent-label">
            <a:extLst xmlns:a="http://schemas.openxmlformats.org/drawingml/2006/main">
              <a:ext uri="{FF2B5EF4-FFF2-40B4-BE49-F238E27FC236}">
                <a16:creationId xmlns:a16="http://schemas.microsoft.com/office/drawing/2014/main" id="{C7034A89-C90E-4178-B858-FA0F84CF6882}"/>
              </a:ext>
            </a:extLst>
          </p:cNvPr>
          <p:cNvSpPr>
            <a:spLocks xmlns:a="http://schemas.openxmlformats.org/drawingml/2006/main" noGrp="1"/>
          </p:cNvSpPr>
          <p:nvPr/>
        </p:nvSpPr>
        <p:spPr>
          <a:xfrm xmlns:a="http://schemas.openxmlformats.org/drawingml/2006/main">
            <a:off x="1095375" y="2600325"/>
            <a:ext cx="252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1">
                <a:solidFill>
                  <a:srgbClr val="FF007F"/>
                </a:solidFill>
                <a:latin typeface="CiscoSansTT Medium"/>
                <a:ea typeface="CiscoSansTT Medium"/>
                <a:cs typeface="CiscoSansTT Medium"/>
              </a:defRPr>
            </a:defPPr>
            <a:lvl1pPr algn="ctr">
              <a:defRPr sz="2025" b="1">
                <a:solidFill>
                  <a:srgbClr val="FF007F"/>
                </a:solidFill>
                <a:latin typeface="CiscoSansTT Medium"/>
                <a:ea typeface="CiscoSansTT Medium"/>
                <a:cs typeface="CiscoSansTT Medium"/>
              </a:defRPr>
            </a:lvl1pPr>
            <a:lvl2pPr algn="ctr">
              <a:defRPr sz="2025" b="1">
                <a:solidFill>
                  <a:srgbClr val="FF007F"/>
                </a:solidFill>
                <a:latin typeface="CiscoSansTT Medium"/>
                <a:ea typeface="CiscoSansTT Medium"/>
                <a:cs typeface="CiscoSansTT Medium"/>
              </a:defRPr>
            </a:lvl2pPr>
            <a:lvl3pPr algn="ctr">
              <a:defRPr sz="2025" b="1">
                <a:solidFill>
                  <a:srgbClr val="FF007F"/>
                </a:solidFill>
                <a:latin typeface="CiscoSansTT Medium"/>
                <a:ea typeface="CiscoSansTT Medium"/>
                <a:cs typeface="CiscoSansTT Medium"/>
              </a:defRPr>
            </a:lvl3pPr>
            <a:lvl4pPr algn="ctr">
              <a:defRPr sz="2025" b="1">
                <a:solidFill>
                  <a:srgbClr val="FF007F"/>
                </a:solidFill>
                <a:latin typeface="CiscoSansTT Medium"/>
                <a:ea typeface="CiscoSansTT Medium"/>
                <a:cs typeface="CiscoSansTT Medium"/>
              </a:defRPr>
            </a:lvl4pPr>
            <a:lvl5pPr algn="ctr">
              <a:defRPr sz="2025" b="1">
                <a:solidFill>
                  <a:srgbClr val="FF007F"/>
                </a:solidFill>
                <a:latin typeface="CiscoSansTT Medium"/>
                <a:ea typeface="CiscoSansTT Medium"/>
                <a:cs typeface="CiscoSansTT Medium"/>
              </a:defRPr>
            </a:lvl5pPr>
            <a:lvl6pPr algn="ctr">
              <a:defRPr sz="2025" b="1">
                <a:solidFill>
                  <a:srgbClr val="FF007F"/>
                </a:solidFill>
                <a:latin typeface="CiscoSansTT Medium"/>
                <a:ea typeface="CiscoSansTT Medium"/>
                <a:cs typeface="CiscoSansTT Medium"/>
              </a:defRPr>
            </a:lvl6pPr>
            <a:lvl7pPr algn="ctr">
              <a:defRPr sz="2025" b="1">
                <a:solidFill>
                  <a:srgbClr val="FF007F"/>
                </a:solidFill>
                <a:latin typeface="CiscoSansTT Medium"/>
                <a:ea typeface="CiscoSansTT Medium"/>
                <a:cs typeface="CiscoSansTT Medium"/>
              </a:defRPr>
            </a:lvl7pPr>
            <a:lvl8pPr algn="ctr">
              <a:defRPr sz="2025" b="1">
                <a:solidFill>
                  <a:srgbClr val="FF007F"/>
                </a:solidFill>
                <a:latin typeface="CiscoSansTT Medium"/>
                <a:ea typeface="CiscoSansTT Medium"/>
                <a:cs typeface="CiscoSansTT Medium"/>
              </a:defRPr>
            </a:lvl8pPr>
            <a:lvl9pPr algn="ctr">
              <a:defRPr sz="2025" b="1">
                <a:solidFill>
                  <a:srgbClr val="FF007F"/>
                </a:solidFill>
                <a:latin typeface="CiscoSansTT Medium"/>
                <a:ea typeface="CiscoSansTT Medium"/>
                <a:cs typeface="CiscoSansTT Medium"/>
              </a:defRPr>
            </a:lvl9pPr>
          </a:lstStyle>
          <a:p xmlns:a="http://schemas.openxmlformats.org/drawingml/2006/main">
            <a:pPr algn="ctr">
              <a:defRPr sz="2025" b="1">
                <a:solidFill>
                  <a:srgbClr val="FF007F"/>
                </a:solidFill>
                <a:latin typeface="CiscoSansTT Medium"/>
                <a:ea typeface="CiscoSansTT Medium"/>
                <a:cs typeface="CiscoSansTT Medium"/>
              </a:defRPr>
            </a:pPr>
            <a:r>
              <a:rPr sz="2025" b="1">
                <a:solidFill>
                  <a:srgbClr val="FF007F"/>
                </a:solidFill>
                <a:latin typeface="CiscoSansTT Medium"/>
                <a:ea typeface="CiscoSansTT Medium"/>
                <a:cs typeface="CiscoSansTT Medium"/>
              </a:rPr>
              <a:t>OBI</a:t>
            </a:r>
          </a:p>
        </p:txBody>
      </p:sp>
      <p:sp>
        <p:nvSpPr>
          <p:cNvPr id="20" name="obi-agent-role">
            <a:extLst xmlns:a="http://schemas.openxmlformats.org/drawingml/2006/main">
              <a:ext uri="{FF2B5EF4-FFF2-40B4-BE49-F238E27FC236}">
                <a16:creationId xmlns:a16="http://schemas.microsoft.com/office/drawing/2014/main" id="{2CCEF436-66A2-4D77-A8B5-C4D8AC90DD05}"/>
              </a:ext>
            </a:extLst>
          </p:cNvPr>
          <p:cNvSpPr>
            <a:spLocks xmlns:a="http://schemas.openxmlformats.org/drawingml/2006/main" noGrp="1"/>
          </p:cNvSpPr>
          <p:nvPr/>
        </p:nvSpPr>
        <p:spPr>
          <a:xfrm xmlns:a="http://schemas.openxmlformats.org/drawingml/2006/main">
            <a:off x="1095375" y="3000375"/>
            <a:ext cx="2524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 traces</a:t>
            </a:r>
          </a:p>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and metrics</a:t>
            </a:r>
          </a:p>
        </p:txBody>
      </p:sp>
      <p:sp>
        <p:nvSpPr>
          <p:cNvPr id="21" name="cilium-agent">
            <a:extLst xmlns:a="http://schemas.openxmlformats.org/drawingml/2006/main">
              <a:ext uri="{FF2B5EF4-FFF2-40B4-BE49-F238E27FC236}">
                <a16:creationId xmlns:a16="http://schemas.microsoft.com/office/drawing/2014/main" id="{20D479C0-19C1-4669-A063-EE5696A5F403}"/>
              </a:ext>
            </a:extLst>
          </p:cNvPr>
          <p:cNvSpPr>
            <a:spLocks xmlns:a="http://schemas.openxmlformats.org/drawingml/2006/main" noGrp="1"/>
          </p:cNvSpPr>
          <p:nvPr/>
        </p:nvSpPr>
        <p:spPr>
          <a:xfrm xmlns:a="http://schemas.openxmlformats.org/drawingml/2006/main">
            <a:off x="1000125" y="3990975"/>
            <a:ext cx="2714625" cy="1028700"/>
          </a:xfrm>
          <a:prstGeom xmlns:a="http://schemas.openxmlformats.org/drawingml/2006/main" prst="rect">
            <a:avLst/>
          </a:prstGeom>
          <a:solidFill xmlns:a="http://schemas.openxmlformats.org/drawingml/2006/main">
            <a:srgbClr val="EAF8FC"/>
          </a:solidFill>
          <a:ln xmlns:a="http://schemas.openxmlformats.org/drawingml/2006/main" w="14288">
            <a:solidFill>
              <a:srgbClr val="0860FE"/>
            </a:solidFill>
          </a:ln>
        </p:spPr>
      </p:sp>
      <p:sp>
        <p:nvSpPr>
          <p:cNvPr id="22" name="cilium-agent-label">
            <a:extLst xmlns:a="http://schemas.openxmlformats.org/drawingml/2006/main">
              <a:ext uri="{FF2B5EF4-FFF2-40B4-BE49-F238E27FC236}">
                <a16:creationId xmlns:a16="http://schemas.microsoft.com/office/drawing/2014/main" id="{B9934AD5-3A3C-412B-A9A1-CDBC6533F846}"/>
              </a:ext>
            </a:extLst>
          </p:cNvPr>
          <p:cNvSpPr>
            <a:spLocks xmlns:a="http://schemas.openxmlformats.org/drawingml/2006/main" noGrp="1"/>
          </p:cNvSpPr>
          <p:nvPr/>
        </p:nvSpPr>
        <p:spPr>
          <a:xfrm xmlns:a="http://schemas.openxmlformats.org/drawingml/2006/main">
            <a:off x="1095375" y="4057650"/>
            <a:ext cx="252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1">
                <a:solidFill>
                  <a:srgbClr val="0860FE"/>
                </a:solidFill>
                <a:latin typeface="CiscoSansTT Medium"/>
                <a:ea typeface="CiscoSansTT Medium"/>
                <a:cs typeface="CiscoSansTT Medium"/>
              </a:defRPr>
            </a:defPPr>
            <a:lvl1pPr algn="ctr">
              <a:defRPr sz="2025" b="1">
                <a:solidFill>
                  <a:srgbClr val="0860FE"/>
                </a:solidFill>
                <a:latin typeface="CiscoSansTT Medium"/>
                <a:ea typeface="CiscoSansTT Medium"/>
                <a:cs typeface="CiscoSansTT Medium"/>
              </a:defRPr>
            </a:lvl1pPr>
            <a:lvl2pPr algn="ctr">
              <a:defRPr sz="2025" b="1">
                <a:solidFill>
                  <a:srgbClr val="0860FE"/>
                </a:solidFill>
                <a:latin typeface="CiscoSansTT Medium"/>
                <a:ea typeface="CiscoSansTT Medium"/>
                <a:cs typeface="CiscoSansTT Medium"/>
              </a:defRPr>
            </a:lvl2pPr>
            <a:lvl3pPr algn="ctr">
              <a:defRPr sz="2025" b="1">
                <a:solidFill>
                  <a:srgbClr val="0860FE"/>
                </a:solidFill>
                <a:latin typeface="CiscoSansTT Medium"/>
                <a:ea typeface="CiscoSansTT Medium"/>
                <a:cs typeface="CiscoSansTT Medium"/>
              </a:defRPr>
            </a:lvl3pPr>
            <a:lvl4pPr algn="ctr">
              <a:defRPr sz="2025" b="1">
                <a:solidFill>
                  <a:srgbClr val="0860FE"/>
                </a:solidFill>
                <a:latin typeface="CiscoSansTT Medium"/>
                <a:ea typeface="CiscoSansTT Medium"/>
                <a:cs typeface="CiscoSansTT Medium"/>
              </a:defRPr>
            </a:lvl4pPr>
            <a:lvl5pPr algn="ctr">
              <a:defRPr sz="2025" b="1">
                <a:solidFill>
                  <a:srgbClr val="0860FE"/>
                </a:solidFill>
                <a:latin typeface="CiscoSansTT Medium"/>
                <a:ea typeface="CiscoSansTT Medium"/>
                <a:cs typeface="CiscoSansTT Medium"/>
              </a:defRPr>
            </a:lvl5pPr>
            <a:lvl6pPr algn="ctr">
              <a:defRPr sz="2025" b="1">
                <a:solidFill>
                  <a:srgbClr val="0860FE"/>
                </a:solidFill>
                <a:latin typeface="CiscoSansTT Medium"/>
                <a:ea typeface="CiscoSansTT Medium"/>
                <a:cs typeface="CiscoSansTT Medium"/>
              </a:defRPr>
            </a:lvl6pPr>
            <a:lvl7pPr algn="ctr">
              <a:defRPr sz="2025" b="1">
                <a:solidFill>
                  <a:srgbClr val="0860FE"/>
                </a:solidFill>
                <a:latin typeface="CiscoSansTT Medium"/>
                <a:ea typeface="CiscoSansTT Medium"/>
                <a:cs typeface="CiscoSansTT Medium"/>
              </a:defRPr>
            </a:lvl7pPr>
            <a:lvl8pPr algn="ctr">
              <a:defRPr sz="2025" b="1">
                <a:solidFill>
                  <a:srgbClr val="0860FE"/>
                </a:solidFill>
                <a:latin typeface="CiscoSansTT Medium"/>
                <a:ea typeface="CiscoSansTT Medium"/>
                <a:cs typeface="CiscoSansTT Medium"/>
              </a:defRPr>
            </a:lvl8pPr>
            <a:lvl9pPr algn="ctr">
              <a:defRPr sz="2025" b="1">
                <a:solidFill>
                  <a:srgbClr val="0860FE"/>
                </a:solidFill>
                <a:latin typeface="CiscoSansTT Medium"/>
                <a:ea typeface="CiscoSansTT Medium"/>
                <a:cs typeface="CiscoSansTT Medium"/>
              </a:defRPr>
            </a:lvl9pPr>
          </a:lstStyle>
          <a:p xmlns:a="http://schemas.openxmlformats.org/drawingml/2006/main">
            <a:pPr algn="ctr">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Cilium + Hubble</a:t>
            </a:r>
          </a:p>
        </p:txBody>
      </p:sp>
      <p:sp>
        <p:nvSpPr>
          <p:cNvPr id="23" name="cilium-agent-role">
            <a:extLst xmlns:a="http://schemas.openxmlformats.org/drawingml/2006/main">
              <a:ext uri="{FF2B5EF4-FFF2-40B4-BE49-F238E27FC236}">
                <a16:creationId xmlns:a16="http://schemas.microsoft.com/office/drawing/2014/main" id="{58449F0B-6B69-4160-BD18-CA3CDA49F7D5}"/>
              </a:ext>
            </a:extLst>
          </p:cNvPr>
          <p:cNvSpPr>
            <a:spLocks xmlns:a="http://schemas.openxmlformats.org/drawingml/2006/main" noGrp="1"/>
          </p:cNvSpPr>
          <p:nvPr/>
        </p:nvSpPr>
        <p:spPr>
          <a:xfrm xmlns:a="http://schemas.openxmlformats.org/drawingml/2006/main">
            <a:off x="1095375" y="4457700"/>
            <a:ext cx="2524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Networking, policy,</a:t>
            </a:r>
          </a:p>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and flows</a:t>
            </a:r>
          </a:p>
        </p:txBody>
      </p:sp>
      <p:sp>
        <p:nvSpPr>
          <p:cNvPr id="24" name="check-number-01">
            <a:extLst xmlns:a="http://schemas.openxmlformats.org/drawingml/2006/main">
              <a:ext uri="{FF2B5EF4-FFF2-40B4-BE49-F238E27FC236}">
                <a16:creationId xmlns:a16="http://schemas.microsoft.com/office/drawing/2014/main" id="{C1DE81FB-9EF5-48A4-B316-8BF80D027043}"/>
              </a:ext>
            </a:extLst>
          </p:cNvPr>
          <p:cNvSpPr>
            <a:spLocks xmlns:a="http://schemas.openxmlformats.org/drawingml/2006/main" noGrp="1"/>
          </p:cNvSpPr>
          <p:nvPr/>
        </p:nvSpPr>
        <p:spPr>
          <a:xfrm xmlns:a="http://schemas.openxmlformats.org/drawingml/2006/main">
            <a:off x="4429125" y="1714500"/>
            <a:ext cx="523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1">
                <a:solidFill>
                  <a:srgbClr val="0860FE"/>
                </a:solidFill>
                <a:latin typeface="CiscoSansTT Medium"/>
                <a:ea typeface="CiscoSansTT Medium"/>
                <a:cs typeface="CiscoSansTT Medium"/>
              </a:defRPr>
            </a:defPPr>
            <a:lvl1pPr algn="l">
              <a:defRPr sz="2025" b="1">
                <a:solidFill>
                  <a:srgbClr val="0860FE"/>
                </a:solidFill>
                <a:latin typeface="CiscoSansTT Medium"/>
                <a:ea typeface="CiscoSansTT Medium"/>
                <a:cs typeface="CiscoSansTT Medium"/>
              </a:defRPr>
            </a:lvl1pPr>
            <a:lvl2pPr algn="l">
              <a:defRPr sz="2025" b="1">
                <a:solidFill>
                  <a:srgbClr val="0860FE"/>
                </a:solidFill>
                <a:latin typeface="CiscoSansTT Medium"/>
                <a:ea typeface="CiscoSansTT Medium"/>
                <a:cs typeface="CiscoSansTT Medium"/>
              </a:defRPr>
            </a:lvl2pPr>
            <a:lvl3pPr algn="l">
              <a:defRPr sz="2025" b="1">
                <a:solidFill>
                  <a:srgbClr val="0860FE"/>
                </a:solidFill>
                <a:latin typeface="CiscoSansTT Medium"/>
                <a:ea typeface="CiscoSansTT Medium"/>
                <a:cs typeface="CiscoSansTT Medium"/>
              </a:defRPr>
            </a:lvl3pPr>
            <a:lvl4pPr algn="l">
              <a:defRPr sz="2025" b="1">
                <a:solidFill>
                  <a:srgbClr val="0860FE"/>
                </a:solidFill>
                <a:latin typeface="CiscoSansTT Medium"/>
                <a:ea typeface="CiscoSansTT Medium"/>
                <a:cs typeface="CiscoSansTT Medium"/>
              </a:defRPr>
            </a:lvl4pPr>
            <a:lvl5pPr algn="l">
              <a:defRPr sz="2025" b="1">
                <a:solidFill>
                  <a:srgbClr val="0860FE"/>
                </a:solidFill>
                <a:latin typeface="CiscoSansTT Medium"/>
                <a:ea typeface="CiscoSansTT Medium"/>
                <a:cs typeface="CiscoSansTT Medium"/>
              </a:defRPr>
            </a:lvl5pPr>
            <a:lvl6pPr algn="l">
              <a:defRPr sz="2025" b="1">
                <a:solidFill>
                  <a:srgbClr val="0860FE"/>
                </a:solidFill>
                <a:latin typeface="CiscoSansTT Medium"/>
                <a:ea typeface="CiscoSansTT Medium"/>
                <a:cs typeface="CiscoSansTT Medium"/>
              </a:defRPr>
            </a:lvl6pPr>
            <a:lvl7pPr algn="l">
              <a:defRPr sz="2025" b="1">
                <a:solidFill>
                  <a:srgbClr val="0860FE"/>
                </a:solidFill>
                <a:latin typeface="CiscoSansTT Medium"/>
                <a:ea typeface="CiscoSansTT Medium"/>
                <a:cs typeface="CiscoSansTT Medium"/>
              </a:defRPr>
            </a:lvl7pPr>
            <a:lvl8pPr algn="l">
              <a:defRPr sz="2025" b="1">
                <a:solidFill>
                  <a:srgbClr val="0860FE"/>
                </a:solidFill>
                <a:latin typeface="CiscoSansTT Medium"/>
                <a:ea typeface="CiscoSansTT Medium"/>
                <a:cs typeface="CiscoSansTT Medium"/>
              </a:defRPr>
            </a:lvl8pPr>
            <a:lvl9pPr algn="l">
              <a:defRPr sz="2025" b="1">
                <a:solidFill>
                  <a:srgbClr val="0860FE"/>
                </a:solidFill>
                <a:latin typeface="CiscoSansTT Medium"/>
                <a:ea typeface="CiscoSansTT Medium"/>
                <a:cs typeface="CiscoSansTT Medium"/>
              </a:defRPr>
            </a:lvl9pPr>
          </a:lstStyle>
          <a:p xmlns:a="http://schemas.openxmlformats.org/drawingml/2006/main">
            <a:pPr algn="l">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01</a:t>
            </a:r>
          </a:p>
        </p:txBody>
      </p:sp>
      <p:sp>
        <p:nvSpPr>
          <p:cNvPr id="25" name="check-label-01">
            <a:extLst xmlns:a="http://schemas.openxmlformats.org/drawingml/2006/main">
              <a:ext uri="{FF2B5EF4-FFF2-40B4-BE49-F238E27FC236}">
                <a16:creationId xmlns:a16="http://schemas.microsoft.com/office/drawing/2014/main" id="{60142FA9-3915-4409-9632-8CB4B6ADCDFA}"/>
              </a:ext>
            </a:extLst>
          </p:cNvPr>
          <p:cNvSpPr>
            <a:spLocks xmlns:a="http://schemas.openxmlformats.org/drawingml/2006/main" noGrp="1"/>
          </p:cNvSpPr>
          <p:nvPr/>
        </p:nvSpPr>
        <p:spPr>
          <a:xfrm xmlns:a="http://schemas.openxmlformats.org/drawingml/2006/main">
            <a:off x="5076825" y="1714500"/>
            <a:ext cx="628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xmlns:a="http://schemas.openxmlformats.org/drawingml/2006/main">
            <a:pPr algn="l">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Traffic behavior</a:t>
            </a:r>
          </a:p>
        </p:txBody>
      </p:sp>
      <p:sp>
        <p:nvSpPr>
          <p:cNvPr id="26" name="check-question-01">
            <a:extLst xmlns:a="http://schemas.openxmlformats.org/drawingml/2006/main">
              <a:ext uri="{FF2B5EF4-FFF2-40B4-BE49-F238E27FC236}">
                <a16:creationId xmlns:a16="http://schemas.microsoft.com/office/drawing/2014/main" id="{33BFD717-47EC-4EB4-B430-95DCBEB575B7}"/>
              </a:ext>
            </a:extLst>
          </p:cNvPr>
          <p:cNvSpPr>
            <a:spLocks xmlns:a="http://schemas.openxmlformats.org/drawingml/2006/main" noGrp="1"/>
          </p:cNvSpPr>
          <p:nvPr/>
        </p:nvSpPr>
        <p:spPr>
          <a:xfrm xmlns:a="http://schemas.openxmlformats.org/drawingml/2006/main">
            <a:off x="5076825" y="2171700"/>
            <a:ext cx="628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xmlns:a="http://schemas.openxmlformats.org/drawingml/2006/main">
            <a:pPr algn="l">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Do networking and policy still work?</a:t>
            </a:r>
          </a:p>
        </p:txBody>
      </p:sp>
      <p:sp>
        <p:nvSpPr>
          <p:cNvPr id="27" name="check-number-02">
            <a:extLst xmlns:a="http://schemas.openxmlformats.org/drawingml/2006/main">
              <a:ext uri="{FF2B5EF4-FFF2-40B4-BE49-F238E27FC236}">
                <a16:creationId xmlns:a16="http://schemas.microsoft.com/office/drawing/2014/main" id="{45A53098-78C3-420B-B7FE-8CDE432B5A9F}"/>
              </a:ext>
            </a:extLst>
          </p:cNvPr>
          <p:cNvSpPr>
            <a:spLocks xmlns:a="http://schemas.openxmlformats.org/drawingml/2006/main" noGrp="1"/>
          </p:cNvSpPr>
          <p:nvPr/>
        </p:nvSpPr>
        <p:spPr>
          <a:xfrm xmlns:a="http://schemas.openxmlformats.org/drawingml/2006/main">
            <a:off x="4429125" y="3086100"/>
            <a:ext cx="523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1">
                <a:solidFill>
                  <a:srgbClr val="0860FE"/>
                </a:solidFill>
                <a:latin typeface="CiscoSansTT Medium"/>
                <a:ea typeface="CiscoSansTT Medium"/>
                <a:cs typeface="CiscoSansTT Medium"/>
              </a:defRPr>
            </a:defPPr>
            <a:lvl1pPr algn="l">
              <a:defRPr sz="2025" b="1">
                <a:solidFill>
                  <a:srgbClr val="0860FE"/>
                </a:solidFill>
                <a:latin typeface="CiscoSansTT Medium"/>
                <a:ea typeface="CiscoSansTT Medium"/>
                <a:cs typeface="CiscoSansTT Medium"/>
              </a:defRPr>
            </a:lvl1pPr>
            <a:lvl2pPr algn="l">
              <a:defRPr sz="2025" b="1">
                <a:solidFill>
                  <a:srgbClr val="0860FE"/>
                </a:solidFill>
                <a:latin typeface="CiscoSansTT Medium"/>
                <a:ea typeface="CiscoSansTT Medium"/>
                <a:cs typeface="CiscoSansTT Medium"/>
              </a:defRPr>
            </a:lvl2pPr>
            <a:lvl3pPr algn="l">
              <a:defRPr sz="2025" b="1">
                <a:solidFill>
                  <a:srgbClr val="0860FE"/>
                </a:solidFill>
                <a:latin typeface="CiscoSansTT Medium"/>
                <a:ea typeface="CiscoSansTT Medium"/>
                <a:cs typeface="CiscoSansTT Medium"/>
              </a:defRPr>
            </a:lvl3pPr>
            <a:lvl4pPr algn="l">
              <a:defRPr sz="2025" b="1">
                <a:solidFill>
                  <a:srgbClr val="0860FE"/>
                </a:solidFill>
                <a:latin typeface="CiscoSansTT Medium"/>
                <a:ea typeface="CiscoSansTT Medium"/>
                <a:cs typeface="CiscoSansTT Medium"/>
              </a:defRPr>
            </a:lvl4pPr>
            <a:lvl5pPr algn="l">
              <a:defRPr sz="2025" b="1">
                <a:solidFill>
                  <a:srgbClr val="0860FE"/>
                </a:solidFill>
                <a:latin typeface="CiscoSansTT Medium"/>
                <a:ea typeface="CiscoSansTT Medium"/>
                <a:cs typeface="CiscoSansTT Medium"/>
              </a:defRPr>
            </a:lvl5pPr>
            <a:lvl6pPr algn="l">
              <a:defRPr sz="2025" b="1">
                <a:solidFill>
                  <a:srgbClr val="0860FE"/>
                </a:solidFill>
                <a:latin typeface="CiscoSansTT Medium"/>
                <a:ea typeface="CiscoSansTT Medium"/>
                <a:cs typeface="CiscoSansTT Medium"/>
              </a:defRPr>
            </a:lvl6pPr>
            <a:lvl7pPr algn="l">
              <a:defRPr sz="2025" b="1">
                <a:solidFill>
                  <a:srgbClr val="0860FE"/>
                </a:solidFill>
                <a:latin typeface="CiscoSansTT Medium"/>
                <a:ea typeface="CiscoSansTT Medium"/>
                <a:cs typeface="CiscoSansTT Medium"/>
              </a:defRPr>
            </a:lvl7pPr>
            <a:lvl8pPr algn="l">
              <a:defRPr sz="2025" b="1">
                <a:solidFill>
                  <a:srgbClr val="0860FE"/>
                </a:solidFill>
                <a:latin typeface="CiscoSansTT Medium"/>
                <a:ea typeface="CiscoSansTT Medium"/>
                <a:cs typeface="CiscoSansTT Medium"/>
              </a:defRPr>
            </a:lvl8pPr>
            <a:lvl9pPr algn="l">
              <a:defRPr sz="2025" b="1">
                <a:solidFill>
                  <a:srgbClr val="0860FE"/>
                </a:solidFill>
                <a:latin typeface="CiscoSansTT Medium"/>
                <a:ea typeface="CiscoSansTT Medium"/>
                <a:cs typeface="CiscoSansTT Medium"/>
              </a:defRPr>
            </a:lvl9pPr>
          </a:lstStyle>
          <a:p xmlns:a="http://schemas.openxmlformats.org/drawingml/2006/main">
            <a:pPr algn="l">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02</a:t>
            </a:r>
          </a:p>
        </p:txBody>
      </p:sp>
      <p:sp>
        <p:nvSpPr>
          <p:cNvPr id="28" name="check-label-02">
            <a:extLst xmlns:a="http://schemas.openxmlformats.org/drawingml/2006/main">
              <a:ext uri="{FF2B5EF4-FFF2-40B4-BE49-F238E27FC236}">
                <a16:creationId xmlns:a16="http://schemas.microsoft.com/office/drawing/2014/main" id="{5F71C06B-4CFA-4771-9EE6-18E29F345289}"/>
              </a:ext>
            </a:extLst>
          </p:cNvPr>
          <p:cNvSpPr>
            <a:spLocks xmlns:a="http://schemas.openxmlformats.org/drawingml/2006/main" noGrp="1"/>
          </p:cNvSpPr>
          <p:nvPr/>
        </p:nvSpPr>
        <p:spPr>
          <a:xfrm xmlns:a="http://schemas.openxmlformats.org/drawingml/2006/main">
            <a:off x="5076825" y="3086100"/>
            <a:ext cx="628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xmlns:a="http://schemas.openxmlformats.org/drawingml/2006/main">
            <a:pPr algn="l">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Visibility</a:t>
            </a:r>
          </a:p>
        </p:txBody>
      </p:sp>
      <p:sp>
        <p:nvSpPr>
          <p:cNvPr id="29" name="check-question-02">
            <a:extLst xmlns:a="http://schemas.openxmlformats.org/drawingml/2006/main">
              <a:ext uri="{FF2B5EF4-FFF2-40B4-BE49-F238E27FC236}">
                <a16:creationId xmlns:a16="http://schemas.microsoft.com/office/drawing/2014/main" id="{F2621847-F2F3-487E-B4AC-884CFBD13199}"/>
              </a:ext>
            </a:extLst>
          </p:cNvPr>
          <p:cNvSpPr>
            <a:spLocks xmlns:a="http://schemas.openxmlformats.org/drawingml/2006/main" noGrp="1"/>
          </p:cNvSpPr>
          <p:nvPr/>
        </p:nvSpPr>
        <p:spPr>
          <a:xfrm xmlns:a="http://schemas.openxmlformats.org/drawingml/2006/main">
            <a:off x="5076825" y="3543300"/>
            <a:ext cx="628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xmlns:a="http://schemas.openxmlformats.org/drawingml/2006/main">
            <a:pPr algn="l">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Do OBI and Hubble capture useful evidence?</a:t>
            </a:r>
          </a:p>
        </p:txBody>
      </p:sp>
      <p:sp>
        <p:nvSpPr>
          <p:cNvPr id="30" name="check-number-03">
            <a:extLst xmlns:a="http://schemas.openxmlformats.org/drawingml/2006/main">
              <a:ext uri="{FF2B5EF4-FFF2-40B4-BE49-F238E27FC236}">
                <a16:creationId xmlns:a16="http://schemas.microsoft.com/office/drawing/2014/main" id="{76AA4093-F6A3-474D-B73F-5FB189EC5B61}"/>
              </a:ext>
            </a:extLst>
          </p:cNvPr>
          <p:cNvSpPr>
            <a:spLocks xmlns:a="http://schemas.openxmlformats.org/drawingml/2006/main" noGrp="1"/>
          </p:cNvSpPr>
          <p:nvPr/>
        </p:nvSpPr>
        <p:spPr>
          <a:xfrm xmlns:a="http://schemas.openxmlformats.org/drawingml/2006/main">
            <a:off x="4429125" y="4457700"/>
            <a:ext cx="523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1">
                <a:solidFill>
                  <a:srgbClr val="0860FE"/>
                </a:solidFill>
                <a:latin typeface="CiscoSansTT Medium"/>
                <a:ea typeface="CiscoSansTT Medium"/>
                <a:cs typeface="CiscoSansTT Medium"/>
              </a:defRPr>
            </a:defPPr>
            <a:lvl1pPr algn="l">
              <a:defRPr sz="2025" b="1">
                <a:solidFill>
                  <a:srgbClr val="0860FE"/>
                </a:solidFill>
                <a:latin typeface="CiscoSansTT Medium"/>
                <a:ea typeface="CiscoSansTT Medium"/>
                <a:cs typeface="CiscoSansTT Medium"/>
              </a:defRPr>
            </a:lvl1pPr>
            <a:lvl2pPr algn="l">
              <a:defRPr sz="2025" b="1">
                <a:solidFill>
                  <a:srgbClr val="0860FE"/>
                </a:solidFill>
                <a:latin typeface="CiscoSansTT Medium"/>
                <a:ea typeface="CiscoSansTT Medium"/>
                <a:cs typeface="CiscoSansTT Medium"/>
              </a:defRPr>
            </a:lvl2pPr>
            <a:lvl3pPr algn="l">
              <a:defRPr sz="2025" b="1">
                <a:solidFill>
                  <a:srgbClr val="0860FE"/>
                </a:solidFill>
                <a:latin typeface="CiscoSansTT Medium"/>
                <a:ea typeface="CiscoSansTT Medium"/>
                <a:cs typeface="CiscoSansTT Medium"/>
              </a:defRPr>
            </a:lvl3pPr>
            <a:lvl4pPr algn="l">
              <a:defRPr sz="2025" b="1">
                <a:solidFill>
                  <a:srgbClr val="0860FE"/>
                </a:solidFill>
                <a:latin typeface="CiscoSansTT Medium"/>
                <a:ea typeface="CiscoSansTT Medium"/>
                <a:cs typeface="CiscoSansTT Medium"/>
              </a:defRPr>
            </a:lvl4pPr>
            <a:lvl5pPr algn="l">
              <a:defRPr sz="2025" b="1">
                <a:solidFill>
                  <a:srgbClr val="0860FE"/>
                </a:solidFill>
                <a:latin typeface="CiscoSansTT Medium"/>
                <a:ea typeface="CiscoSansTT Medium"/>
                <a:cs typeface="CiscoSansTT Medium"/>
              </a:defRPr>
            </a:lvl5pPr>
            <a:lvl6pPr algn="l">
              <a:defRPr sz="2025" b="1">
                <a:solidFill>
                  <a:srgbClr val="0860FE"/>
                </a:solidFill>
                <a:latin typeface="CiscoSansTT Medium"/>
                <a:ea typeface="CiscoSansTT Medium"/>
                <a:cs typeface="CiscoSansTT Medium"/>
              </a:defRPr>
            </a:lvl6pPr>
            <a:lvl7pPr algn="l">
              <a:defRPr sz="2025" b="1">
                <a:solidFill>
                  <a:srgbClr val="0860FE"/>
                </a:solidFill>
                <a:latin typeface="CiscoSansTT Medium"/>
                <a:ea typeface="CiscoSansTT Medium"/>
                <a:cs typeface="CiscoSansTT Medium"/>
              </a:defRPr>
            </a:lvl7pPr>
            <a:lvl8pPr algn="l">
              <a:defRPr sz="2025" b="1">
                <a:solidFill>
                  <a:srgbClr val="0860FE"/>
                </a:solidFill>
                <a:latin typeface="CiscoSansTT Medium"/>
                <a:ea typeface="CiscoSansTT Medium"/>
                <a:cs typeface="CiscoSansTT Medium"/>
              </a:defRPr>
            </a:lvl8pPr>
            <a:lvl9pPr algn="l">
              <a:defRPr sz="2025" b="1">
                <a:solidFill>
                  <a:srgbClr val="0860FE"/>
                </a:solidFill>
                <a:latin typeface="CiscoSansTT Medium"/>
                <a:ea typeface="CiscoSansTT Medium"/>
                <a:cs typeface="CiscoSansTT Medium"/>
              </a:defRPr>
            </a:lvl9pPr>
          </a:lstStyle>
          <a:p xmlns:a="http://schemas.openxmlformats.org/drawingml/2006/main">
            <a:pPr algn="l">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03</a:t>
            </a:r>
          </a:p>
        </p:txBody>
      </p:sp>
      <p:sp>
        <p:nvSpPr>
          <p:cNvPr id="31" name="check-label-03">
            <a:extLst xmlns:a="http://schemas.openxmlformats.org/drawingml/2006/main">
              <a:ext uri="{FF2B5EF4-FFF2-40B4-BE49-F238E27FC236}">
                <a16:creationId xmlns:a16="http://schemas.microsoft.com/office/drawing/2014/main" id="{2829DC8F-5AA9-4F3C-B2DF-70A7C32522D9}"/>
              </a:ext>
            </a:extLst>
          </p:cNvPr>
          <p:cNvSpPr>
            <a:spLocks xmlns:a="http://schemas.openxmlformats.org/drawingml/2006/main" noGrp="1"/>
          </p:cNvSpPr>
          <p:nvPr/>
        </p:nvSpPr>
        <p:spPr>
          <a:xfrm xmlns:a="http://schemas.openxmlformats.org/drawingml/2006/main">
            <a:off x="5076825" y="4457700"/>
            <a:ext cx="628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xmlns:a="http://schemas.openxmlformats.org/drawingml/2006/main">
            <a:pPr algn="l">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Added cost</a:t>
            </a:r>
          </a:p>
        </p:txBody>
      </p:sp>
      <p:sp>
        <p:nvSpPr>
          <p:cNvPr id="32" name="check-question-03">
            <a:extLst xmlns:a="http://schemas.openxmlformats.org/drawingml/2006/main">
              <a:ext uri="{FF2B5EF4-FFF2-40B4-BE49-F238E27FC236}">
                <a16:creationId xmlns:a16="http://schemas.microsoft.com/office/drawing/2014/main" id="{CDF8AE4B-D015-4977-9377-C37D52CC828E}"/>
              </a:ext>
            </a:extLst>
          </p:cNvPr>
          <p:cNvSpPr>
            <a:spLocks xmlns:a="http://schemas.openxmlformats.org/drawingml/2006/main" noGrp="1"/>
          </p:cNvSpPr>
          <p:nvPr/>
        </p:nvSpPr>
        <p:spPr>
          <a:xfrm xmlns:a="http://schemas.openxmlformats.org/drawingml/2006/main">
            <a:off x="5076825" y="4914900"/>
            <a:ext cx="628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xmlns:a="http://schemas.openxmlformats.org/drawingml/2006/main">
            <a:pPr algn="l">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How much CPU, memory, and telemetry is added?</a:t>
            </a:r>
          </a:p>
        </p:txBody>
      </p:sp>
      <p:sp>
        <p:nvSpPr>
          <p:cNvPr id="33" name="coexistence-takeaway">
            <a:extLst xmlns:a="http://schemas.openxmlformats.org/drawingml/2006/main">
              <a:ext uri="{FF2B5EF4-FFF2-40B4-BE49-F238E27FC236}">
                <a16:creationId xmlns:a16="http://schemas.microsoft.com/office/drawing/2014/main" id="{AD40CA54-1114-4921-A5B6-0D2F835F14A0}"/>
              </a:ext>
            </a:extLst>
          </p:cNvPr>
          <p:cNvSpPr>
            <a:spLocks xmlns:a="http://schemas.openxmlformats.org/drawingml/2006/main" noGrp="1"/>
          </p:cNvSpPr>
          <p:nvPr/>
        </p:nvSpPr>
        <p:spPr>
          <a:xfrm xmlns:a="http://schemas.openxmlformats.org/drawingml/2006/main">
            <a:off x="762000" y="588645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xmlns:a="http://schemas.openxmlformats.org/drawingml/2006/main">
            <a:pPr algn="ctr">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Both agents running is only the first check.</a:t>
            </a:r>
          </a:p>
        </p:txBody>
      </p:sp>
    </p:spTree>
    <p:extLst>
      <p:ext uri="{BB962C8B-B14F-4D97-AF65-F5344CB8AC3E}">
        <p14:creationId xmlns:p14="http://schemas.microsoft.com/office/powerpoint/2010/main" val="1161320730"/>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TC is the one shared checkpoint we will </a:t>
            </a:r>
            <a:r>
              <a:rPr lang="en-US" sz="1650" b="1" dirty="0">
                <a:solidFill>
                  <a:srgbClr val="FFFFFF"/>
                </a:solidFill>
                <a:latin typeface="CiscoSansTT Medium"/>
                <a:ea typeface="CiscoSansTT Medium"/>
                <a:cs typeface="CiscoSansTT Medium"/>
              </a:rPr>
              <a:t>explore</a:t>
            </a:r>
            <a:endParaRPr sz="1650" b="1" dirty="0">
              <a:solidFill>
                <a:srgbClr val="FFFFFF"/>
              </a:solidFill>
              <a:latin typeface="CiscoSansTT Medium"/>
              <a:ea typeface="CiscoSansTT Medium"/>
              <a:cs typeface="CiscoSansTT Medium"/>
            </a:endParaRPr>
          </a:p>
        </p:txBody>
      </p:sp>
    </p:spTree>
    <p:extLst>
      <p:ext uri="{BB962C8B-B14F-4D97-AF65-F5344CB8AC3E}">
        <p14:creationId xmlns:p14="http://schemas.microsoft.com/office/powerpoint/2010/main" val="1882857912"/>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2" name="Straight Arrow Connector 361">
            <a:extLst>
              <a:ext uri="{FF2B5EF4-FFF2-40B4-BE49-F238E27FC236}">
                <a16:creationId xmlns:a16="http://schemas.microsoft.com/office/drawing/2014/main" id="{268E87F2-7F1B-4AD8-AD5D-5C8813C32B3E}"/>
              </a:ext>
            </a:extLst>
          </p:cNvPr>
          <p:cNvCxnSpPr>
            <a:stCxn id="9" idx="3"/>
            <a:endCxn id="10" idx="1"/>
          </p:cNvCxnSpPr>
          <p:nvPr/>
        </p:nvCxnSpPr>
        <p:spPr>
          <a:xfrm>
            <a:off x="2952750" y="2647950"/>
            <a:ext cx="2000250" cy="0"/>
          </a:xfrm>
          <a:prstGeom prst="straightConnector1">
            <a:avLst/>
          </a:prstGeom>
          <a:ln w="19050">
            <a:solidFill>
              <a:srgbClr val="686B6B"/>
            </a:solidFill>
            <a:tailEnd type="arrow" w="med" len="med"/>
          </a:ln>
        </p:spPr>
      </p:cxnSp>
      <p:sp>
        <p:nvSpPr>
          <p:cNvPr id="26" name="slide-title">
            <a:extLst>
              <a:ext uri="{FF2B5EF4-FFF2-40B4-BE49-F238E27FC236}">
                <a16:creationId xmlns:a16="http://schemas.microsoft.com/office/drawing/2014/main" id="{F30FCB05-D8E9-4E9A-A589-036B48EA73AC}"/>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OBI and Cilium share TC hooks</a:t>
            </a:r>
          </a:p>
        </p:txBody>
      </p:sp>
      <p:sp>
        <p:nvSpPr>
          <p:cNvPr id="9" name="Rounded Rectangle 8">
            <a:extLst>
              <a:ext uri="{FF2B5EF4-FFF2-40B4-BE49-F238E27FC236}">
                <a16:creationId xmlns:a16="http://schemas.microsoft.com/office/drawing/2014/main" id="{696BD036-81BB-46F4-A7AB-4D4FBF7CFB83}"/>
              </a:ext>
            </a:extLst>
          </p:cNvPr>
          <p:cNvSpPr>
            <a:spLocks noGrp="1"/>
          </p:cNvSpPr>
          <p:nvPr/>
        </p:nvSpPr>
        <p:spPr>
          <a:xfrm>
            <a:off x="666750" y="2238375"/>
            <a:ext cx="2286000" cy="819150"/>
          </a:xfrm>
          <a:prstGeom prst="roundRect">
            <a:avLst>
              <a:gd name="adj" fmla="val 10526"/>
            </a:avLst>
          </a:prstGeom>
          <a:solidFill>
            <a:srgbClr val="F4F6F8"/>
          </a:solidFill>
          <a:ln w="14288">
            <a:solidFill>
              <a:srgbClr val="A6A6A6"/>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Application process</a:t>
            </a:r>
          </a:p>
        </p:txBody>
      </p:sp>
      <p:sp>
        <p:nvSpPr>
          <p:cNvPr id="10" name="Rounded Rectangle 9">
            <a:extLst>
              <a:ext uri="{FF2B5EF4-FFF2-40B4-BE49-F238E27FC236}">
                <a16:creationId xmlns:a16="http://schemas.microsoft.com/office/drawing/2014/main" id="{A91280D8-EB21-46FE-8E56-DC7EFF804CF9}"/>
              </a:ext>
            </a:extLst>
          </p:cNvPr>
          <p:cNvSpPr>
            <a:spLocks noGrp="1"/>
          </p:cNvSpPr>
          <p:nvPr/>
        </p:nvSpPr>
        <p:spPr>
          <a:xfrm>
            <a:off x="4953000" y="2238375"/>
            <a:ext cx="2286000" cy="819150"/>
          </a:xfrm>
          <a:prstGeom prst="roundRect">
            <a:avLst>
              <a:gd name="adj" fmla="val 10526"/>
            </a:avLst>
          </a:prstGeom>
          <a:solidFill>
            <a:srgbClr val="FFFFFF"/>
          </a:solidFill>
          <a:ln w="14288">
            <a:solidFill>
              <a:srgbClr val="0860FE"/>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Host-side veth</a:t>
            </a:r>
          </a:p>
        </p:txBody>
      </p:sp>
      <p:sp>
        <p:nvSpPr>
          <p:cNvPr id="11" name="Rounded Rectangle 10">
            <a:extLst>
              <a:ext uri="{FF2B5EF4-FFF2-40B4-BE49-F238E27FC236}">
                <a16:creationId xmlns:a16="http://schemas.microsoft.com/office/drawing/2014/main" id="{CDF2353C-694D-4CB4-9EA5-DA115205C4B4}"/>
              </a:ext>
            </a:extLst>
          </p:cNvPr>
          <p:cNvSpPr>
            <a:spLocks noGrp="1"/>
          </p:cNvSpPr>
          <p:nvPr/>
        </p:nvSpPr>
        <p:spPr>
          <a:xfrm>
            <a:off x="9239250" y="2238375"/>
            <a:ext cx="2095500" cy="819150"/>
          </a:xfrm>
          <a:prstGeom prst="roundRect">
            <a:avLst>
              <a:gd name="adj" fmla="val 10526"/>
            </a:avLst>
          </a:prstGeom>
          <a:solidFill>
            <a:srgbClr val="F4F6F8"/>
          </a:solidFill>
          <a:ln w="14288">
            <a:solidFill>
              <a:srgbClr val="A6A6A6"/>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Network</a:t>
            </a:r>
          </a:p>
        </p:txBody>
      </p:sp>
      <p:cxnSp>
        <p:nvCxnSpPr>
          <p:cNvPr id="350" name="Straight Arrow Connector 37">
            <a:extLst>
              <a:ext uri="{FF2B5EF4-FFF2-40B4-BE49-F238E27FC236}">
                <a16:creationId xmlns:a16="http://schemas.microsoft.com/office/drawing/2014/main" id="{34ED727E-A515-419C-943E-EF26C720AB6F}"/>
              </a:ext>
            </a:extLst>
          </p:cNvPr>
          <p:cNvCxnSpPr>
            <a:stCxn id="10" idx="3"/>
            <a:endCxn id="11" idx="1"/>
          </p:cNvCxnSpPr>
          <p:nvPr/>
        </p:nvCxnSpPr>
        <p:spPr>
          <a:xfrm>
            <a:off x="7239000" y="2647950"/>
            <a:ext cx="2000250" cy="0"/>
          </a:xfrm>
          <a:prstGeom prst="straightConnector1">
            <a:avLst/>
          </a:prstGeom>
          <a:ln w="23813">
            <a:solidFill>
              <a:srgbClr val="686B6B"/>
            </a:solidFill>
            <a:prstDash val="solid"/>
            <a:tailEnd type="arrow" w="med" len="med"/>
          </a:ln>
        </p:spPr>
      </p:cxnSp>
      <p:sp>
        <p:nvSpPr>
          <p:cNvPr id="14" name="Rounded Rectangle 13">
            <a:extLst>
              <a:ext uri="{FF2B5EF4-FFF2-40B4-BE49-F238E27FC236}">
                <a16:creationId xmlns:a16="http://schemas.microsoft.com/office/drawing/2014/main" id="{87530A25-FA22-4956-8BEA-4DCA6ABD07D0}"/>
              </a:ext>
            </a:extLst>
          </p:cNvPr>
          <p:cNvSpPr>
            <a:spLocks noGrp="1"/>
          </p:cNvSpPr>
          <p:nvPr/>
        </p:nvSpPr>
        <p:spPr>
          <a:xfrm>
            <a:off x="2381250" y="3667125"/>
            <a:ext cx="7429500" cy="1809750"/>
          </a:xfrm>
          <a:prstGeom prst="roundRect">
            <a:avLst>
              <a:gd name="adj" fmla="val 4706"/>
            </a:avLst>
          </a:prstGeom>
          <a:solidFill>
            <a:srgbClr val="07182A"/>
          </a:solidFill>
          <a:ln w="0">
            <a:noFill/>
          </a:ln>
        </p:spPr>
        <p:txBody>
          <a:bodyPr/>
          <a:lstStyle/>
          <a:p>
            <a:endParaRPr/>
          </a:p>
        </p:txBody>
      </p:sp>
      <p:sp>
        <p:nvSpPr>
          <p:cNvPr id="15" name="Rectangle 14">
            <a:extLst>
              <a:ext uri="{FF2B5EF4-FFF2-40B4-BE49-F238E27FC236}">
                <a16:creationId xmlns:a16="http://schemas.microsoft.com/office/drawing/2014/main" id="{6781C774-D4AF-488E-B34F-6E2E2AA5302D}"/>
              </a:ext>
            </a:extLst>
          </p:cNvPr>
          <p:cNvSpPr>
            <a:spLocks noGrp="1"/>
          </p:cNvSpPr>
          <p:nvPr/>
        </p:nvSpPr>
        <p:spPr>
          <a:xfrm>
            <a:off x="2724150" y="3829050"/>
            <a:ext cx="6743700" cy="361950"/>
          </a:xfrm>
          <a:prstGeom prst="rect">
            <a:avLst/>
          </a:prstGeom>
          <a:noFill/>
          <a:ln w="0">
            <a:noFill/>
          </a:ln>
        </p:spPr>
        <p:txBody>
          <a:bodyPr anchor="ctr">
            <a:noAutofit/>
          </a:bodyPr>
          <a:lstStyle>
            <a:defPPr algn="ctr">
              <a:defRPr sz="1950" b="1">
                <a:solidFill>
                  <a:srgbClr val="FFFFFF"/>
                </a:solidFill>
                <a:latin typeface="CiscoSansTT Medium"/>
                <a:ea typeface="CiscoSansTT Medium"/>
                <a:cs typeface="CiscoSansTT Medium"/>
              </a:defRPr>
            </a:defPPr>
            <a:lvl1pPr algn="ctr">
              <a:buNone/>
              <a:defRPr sz="1800" b="1">
                <a:solidFill>
                  <a:srgbClr val="FFFFFF"/>
                </a:solidFill>
                <a:latin typeface="CiscoSansTT Medium"/>
                <a:ea typeface="CiscoSansTT Medium"/>
                <a:cs typeface="CiscoSansTT Medium"/>
              </a:defRPr>
            </a:lvl1pPr>
            <a:lvl2pPr algn="ctr">
              <a:buNone/>
              <a:defRPr sz="1800" b="1">
                <a:solidFill>
                  <a:srgbClr val="FFFFFF"/>
                </a:solidFill>
                <a:latin typeface="CiscoSansTT Medium"/>
                <a:ea typeface="CiscoSansTT Medium"/>
                <a:cs typeface="CiscoSansTT Medium"/>
              </a:defRPr>
            </a:lvl2pPr>
            <a:lvl3pPr algn="ctr">
              <a:buNone/>
              <a:defRPr sz="1800" b="1">
                <a:solidFill>
                  <a:srgbClr val="FFFFFF"/>
                </a:solidFill>
                <a:latin typeface="CiscoSansTT Medium"/>
                <a:ea typeface="CiscoSansTT Medium"/>
                <a:cs typeface="CiscoSansTT Medium"/>
              </a:defRPr>
            </a:lvl3pPr>
            <a:lvl4pPr algn="ctr">
              <a:buNone/>
              <a:defRPr sz="1800" b="1">
                <a:solidFill>
                  <a:srgbClr val="FFFFFF"/>
                </a:solidFill>
                <a:latin typeface="CiscoSansTT Medium"/>
                <a:ea typeface="CiscoSansTT Medium"/>
                <a:cs typeface="CiscoSansTT Medium"/>
              </a:defRPr>
            </a:lvl4pPr>
            <a:lvl5pPr algn="ctr">
              <a:buNone/>
              <a:defRPr sz="1800" b="1">
                <a:solidFill>
                  <a:srgbClr val="FFFFFF"/>
                </a:solidFill>
                <a:latin typeface="CiscoSansTT Medium"/>
                <a:ea typeface="CiscoSansTT Medium"/>
                <a:cs typeface="CiscoSansTT Medium"/>
              </a:defRPr>
            </a:lvl5pPr>
            <a:lvl6pPr algn="ctr">
              <a:buNone/>
              <a:defRPr sz="1800" b="1">
                <a:solidFill>
                  <a:srgbClr val="FFFFFF"/>
                </a:solidFill>
                <a:latin typeface="CiscoSansTT Medium"/>
                <a:ea typeface="CiscoSansTT Medium"/>
                <a:cs typeface="CiscoSansTT Medium"/>
              </a:defRPr>
            </a:lvl6pPr>
            <a:lvl7pPr algn="ctr">
              <a:buNone/>
              <a:defRPr sz="1800" b="1">
                <a:solidFill>
                  <a:srgbClr val="FFFFFF"/>
                </a:solidFill>
                <a:latin typeface="CiscoSansTT Medium"/>
                <a:ea typeface="CiscoSansTT Medium"/>
                <a:cs typeface="CiscoSansTT Medium"/>
              </a:defRPr>
            </a:lvl7pPr>
            <a:lvl8pPr algn="ctr">
              <a:buNone/>
              <a:defRPr sz="1800" b="1">
                <a:solidFill>
                  <a:srgbClr val="FFFFFF"/>
                </a:solidFill>
                <a:latin typeface="CiscoSansTT Medium"/>
                <a:ea typeface="CiscoSansTT Medium"/>
                <a:cs typeface="CiscoSansTT Medium"/>
              </a:defRPr>
            </a:lvl8pPr>
            <a:lvl9pPr algn="ctr">
              <a:buNone/>
              <a:defRPr sz="1800" b="1">
                <a:solidFill>
                  <a:srgbClr val="FFFFFF"/>
                </a:solidFill>
                <a:latin typeface="CiscoSansTT Medium"/>
                <a:ea typeface="CiscoSansTT Medium"/>
                <a:cs typeface="CiscoSansTT Medium"/>
              </a:defRPr>
            </a:lvl9pPr>
          </a:lstStyle>
          <a:p>
            <a:pPr algn="ctr">
              <a:buNone/>
              <a:defRPr sz="1950" b="1">
                <a:solidFill>
                  <a:srgbClr val="FFFFFF"/>
                </a:solidFill>
                <a:latin typeface="CiscoSansTT Medium"/>
                <a:ea typeface="CiscoSansTT Medium"/>
                <a:cs typeface="CiscoSansTT Medium"/>
              </a:defRPr>
            </a:pPr>
            <a:r>
              <a:rPr sz="1950" b="1">
                <a:solidFill>
                  <a:srgbClr val="FFFFFF"/>
                </a:solidFill>
                <a:latin typeface="CiscoSansTT Medium"/>
                <a:ea typeface="CiscoSansTT Medium"/>
                <a:cs typeface="CiscoSansTT Medium"/>
              </a:rPr>
              <a:t>Shared TC hooks on the host-side veth</a:t>
            </a:r>
          </a:p>
        </p:txBody>
      </p:sp>
      <p:sp>
        <p:nvSpPr>
          <p:cNvPr id="16" name="Rounded Rectangle 15">
            <a:extLst>
              <a:ext uri="{FF2B5EF4-FFF2-40B4-BE49-F238E27FC236}">
                <a16:creationId xmlns:a16="http://schemas.microsoft.com/office/drawing/2014/main" id="{8FFC60E2-24BF-46E6-8463-DF1287D49085}"/>
              </a:ext>
            </a:extLst>
          </p:cNvPr>
          <p:cNvSpPr>
            <a:spLocks noGrp="1"/>
          </p:cNvSpPr>
          <p:nvPr/>
        </p:nvSpPr>
        <p:spPr>
          <a:xfrm>
            <a:off x="2724150" y="4333875"/>
            <a:ext cx="1428750" cy="419100"/>
          </a:xfrm>
          <a:prstGeom prst="roundRect">
            <a:avLst>
              <a:gd name="adj" fmla="val 20000"/>
            </a:avLst>
          </a:prstGeom>
          <a:solidFill>
            <a:srgbClr val="FFFFFF"/>
          </a:solidFill>
          <a:ln w="0">
            <a:noFill/>
          </a:ln>
        </p:spPr>
        <p:txBody>
          <a:bodyPr anchor="ctr">
            <a:noAutofit/>
          </a:bodyPr>
          <a:lstStyle>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TC ingress</a:t>
            </a:r>
          </a:p>
        </p:txBody>
      </p:sp>
      <p:sp>
        <p:nvSpPr>
          <p:cNvPr id="17" name="Rounded Rectangle 16">
            <a:extLst>
              <a:ext uri="{FF2B5EF4-FFF2-40B4-BE49-F238E27FC236}">
                <a16:creationId xmlns:a16="http://schemas.microsoft.com/office/drawing/2014/main" id="{40962869-3F21-45D8-B5A8-6F906157B194}"/>
              </a:ext>
            </a:extLst>
          </p:cNvPr>
          <p:cNvSpPr>
            <a:spLocks noGrp="1"/>
          </p:cNvSpPr>
          <p:nvPr/>
        </p:nvSpPr>
        <p:spPr>
          <a:xfrm>
            <a:off x="4400550" y="4333875"/>
            <a:ext cx="2095500" cy="419100"/>
          </a:xfrm>
          <a:prstGeom prst="roundRect">
            <a:avLst>
              <a:gd name="adj" fmla="val 20000"/>
            </a:avLst>
          </a:prstGeom>
          <a:solidFill>
            <a:srgbClr val="FF007F"/>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OBI propagation</a:t>
            </a:r>
          </a:p>
        </p:txBody>
      </p:sp>
      <p:sp>
        <p:nvSpPr>
          <p:cNvPr id="18" name="Rectangle 17">
            <a:extLst>
              <a:ext uri="{FF2B5EF4-FFF2-40B4-BE49-F238E27FC236}">
                <a16:creationId xmlns:a16="http://schemas.microsoft.com/office/drawing/2014/main" id="{6AD94758-A1ED-4586-AB0C-2F2F07415612}"/>
              </a:ext>
            </a:extLst>
          </p:cNvPr>
          <p:cNvSpPr>
            <a:spLocks noGrp="1"/>
          </p:cNvSpPr>
          <p:nvPr/>
        </p:nvSpPr>
        <p:spPr>
          <a:xfrm>
            <a:off x="6648450" y="4410075"/>
            <a:ext cx="323850" cy="266700"/>
          </a:xfrm>
          <a:prstGeom prst="rect">
            <a:avLst/>
          </a:prstGeom>
          <a:noFill/>
          <a:ln w="0">
            <a:noFill/>
          </a:ln>
        </p:spPr>
        <p:txBody>
          <a:bodyPr anchor="t">
            <a:normAutofit fontScale="83333"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a:ext uri="{FF2B5EF4-FFF2-40B4-BE49-F238E27FC236}">
                <a16:creationId xmlns:a16="http://schemas.microsoft.com/office/drawing/2014/main" id="{A5377F8E-C8A7-4E79-92B3-3E9549EC1889}"/>
              </a:ext>
            </a:extLst>
          </p:cNvPr>
          <p:cNvSpPr>
            <a:spLocks noGrp="1"/>
          </p:cNvSpPr>
          <p:nvPr/>
        </p:nvSpPr>
        <p:spPr>
          <a:xfrm>
            <a:off x="7124700" y="4333875"/>
            <a:ext cx="2343150" cy="419100"/>
          </a:xfrm>
          <a:prstGeom prst="roundRect">
            <a:avLst>
              <a:gd name="adj" fmla="val 20000"/>
            </a:avLst>
          </a:prstGeom>
          <a:solidFill>
            <a:srgbClr val="0860FE"/>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Cilium datapath</a:t>
            </a:r>
          </a:p>
        </p:txBody>
      </p:sp>
      <p:sp>
        <p:nvSpPr>
          <p:cNvPr id="20" name="Rounded Rectangle 19">
            <a:extLst>
              <a:ext uri="{FF2B5EF4-FFF2-40B4-BE49-F238E27FC236}">
                <a16:creationId xmlns:a16="http://schemas.microsoft.com/office/drawing/2014/main" id="{991B3726-39BE-47A6-8FF9-D40A56F03B4F}"/>
              </a:ext>
            </a:extLst>
          </p:cNvPr>
          <p:cNvSpPr>
            <a:spLocks noGrp="1"/>
          </p:cNvSpPr>
          <p:nvPr/>
        </p:nvSpPr>
        <p:spPr>
          <a:xfrm>
            <a:off x="2724150" y="4914900"/>
            <a:ext cx="1428750" cy="419100"/>
          </a:xfrm>
          <a:prstGeom prst="roundRect">
            <a:avLst>
              <a:gd name="adj" fmla="val 20000"/>
            </a:avLst>
          </a:prstGeom>
          <a:solidFill>
            <a:srgbClr val="FFFFFF"/>
          </a:solidFill>
          <a:ln w="0">
            <a:noFill/>
          </a:ln>
        </p:spPr>
        <p:txBody>
          <a:bodyPr anchor="ctr">
            <a:noAutofit/>
          </a:bodyPr>
          <a:lstStyle>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TC egress</a:t>
            </a:r>
          </a:p>
        </p:txBody>
      </p:sp>
      <p:sp>
        <p:nvSpPr>
          <p:cNvPr id="21" name="Rounded Rectangle 20">
            <a:extLst>
              <a:ext uri="{FF2B5EF4-FFF2-40B4-BE49-F238E27FC236}">
                <a16:creationId xmlns:a16="http://schemas.microsoft.com/office/drawing/2014/main" id="{E819752B-899A-4C7E-BF89-47C6539C8406}"/>
              </a:ext>
            </a:extLst>
          </p:cNvPr>
          <p:cNvSpPr>
            <a:spLocks noGrp="1"/>
          </p:cNvSpPr>
          <p:nvPr/>
        </p:nvSpPr>
        <p:spPr>
          <a:xfrm>
            <a:off x="4400550" y="4914900"/>
            <a:ext cx="2095500" cy="419100"/>
          </a:xfrm>
          <a:prstGeom prst="roundRect">
            <a:avLst>
              <a:gd name="adj" fmla="val 20000"/>
            </a:avLst>
          </a:prstGeom>
          <a:solidFill>
            <a:srgbClr val="FF007F"/>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OBI propagation</a:t>
            </a:r>
          </a:p>
        </p:txBody>
      </p:sp>
      <p:sp>
        <p:nvSpPr>
          <p:cNvPr id="22" name="Rectangle 21">
            <a:extLst>
              <a:ext uri="{FF2B5EF4-FFF2-40B4-BE49-F238E27FC236}">
                <a16:creationId xmlns:a16="http://schemas.microsoft.com/office/drawing/2014/main" id="{53F2990E-ED0E-4915-9483-1143960BA0A9}"/>
              </a:ext>
            </a:extLst>
          </p:cNvPr>
          <p:cNvSpPr>
            <a:spLocks noGrp="1"/>
          </p:cNvSpPr>
          <p:nvPr/>
        </p:nvSpPr>
        <p:spPr>
          <a:xfrm>
            <a:off x="6648450" y="4991100"/>
            <a:ext cx="323850" cy="266700"/>
          </a:xfrm>
          <a:prstGeom prst="rect">
            <a:avLst/>
          </a:prstGeom>
          <a:noFill/>
          <a:ln w="0">
            <a:noFill/>
          </a:ln>
        </p:spPr>
        <p:txBody>
          <a:bodyPr anchor="t">
            <a:normAutofit fontScale="83333"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a:ext uri="{FF2B5EF4-FFF2-40B4-BE49-F238E27FC236}">
                <a16:creationId xmlns:a16="http://schemas.microsoft.com/office/drawing/2014/main" id="{A5FFF6D5-7BCC-4B0B-9620-BB834FEE02EF}"/>
              </a:ext>
            </a:extLst>
          </p:cNvPr>
          <p:cNvSpPr>
            <a:spLocks noGrp="1"/>
          </p:cNvSpPr>
          <p:nvPr/>
        </p:nvSpPr>
        <p:spPr>
          <a:xfrm>
            <a:off x="7124700" y="4914900"/>
            <a:ext cx="2343150" cy="419100"/>
          </a:xfrm>
          <a:prstGeom prst="roundRect">
            <a:avLst>
              <a:gd name="adj" fmla="val 20000"/>
            </a:avLst>
          </a:prstGeom>
          <a:solidFill>
            <a:srgbClr val="0860FE"/>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Cilium datapath</a:t>
            </a:r>
          </a:p>
        </p:txBody>
      </p:sp>
      <p:cxnSp>
        <p:nvCxnSpPr>
          <p:cNvPr id="361" name="Straight Arrow Connector 48">
            <a:extLst>
              <a:ext uri="{FF2B5EF4-FFF2-40B4-BE49-F238E27FC236}">
                <a16:creationId xmlns:a16="http://schemas.microsoft.com/office/drawing/2014/main" id="{1F7AD18C-6BE3-4C33-A621-A47780B3BC62}"/>
              </a:ext>
            </a:extLst>
          </p:cNvPr>
          <p:cNvCxnSpPr>
            <a:stCxn id="10" idx="2"/>
            <a:endCxn id="14" idx="0"/>
          </p:cNvCxnSpPr>
          <p:nvPr/>
        </p:nvCxnSpPr>
        <p:spPr>
          <a:xfrm>
            <a:off x="6096000" y="3057525"/>
            <a:ext cx="0" cy="609600"/>
          </a:xfrm>
          <a:prstGeom prst="straightConnector1">
            <a:avLst/>
          </a:prstGeom>
          <a:ln w="23813">
            <a:solidFill>
              <a:srgbClr val="07182A"/>
            </a:solidFill>
            <a:prstDash val="solid"/>
          </a:ln>
        </p:spPr>
      </p:cxnSp>
      <p:sp>
        <p:nvSpPr>
          <p:cNvPr id="363" name="tc-feature-scope">
            <a:extLst>
              <a:ext uri="{FF2B5EF4-FFF2-40B4-BE49-F238E27FC236}">
                <a16:creationId xmlns:a16="http://schemas.microsoft.com/office/drawing/2014/main" id="{33E18D36-F8B6-4805-9305-83192A381F48}"/>
              </a:ext>
            </a:extLst>
          </p:cNvPr>
          <p:cNvSpPr>
            <a:spLocks noGrp="1"/>
          </p:cNvSpPr>
          <p:nvPr/>
        </p:nvSpPr>
        <p:spPr>
          <a:xfrm>
            <a:off x="666750" y="1143000"/>
            <a:ext cx="10858500" cy="495300"/>
          </a:xfrm>
          <a:prstGeom prst="rect">
            <a:avLst/>
          </a:prstGeom>
          <a:noFill/>
          <a:ln w="0">
            <a:noFill/>
          </a:ln>
        </p:spPr>
        <p:txBody>
          <a:bodyPr anchor="ctr">
            <a:noAutofit/>
          </a:bodyPr>
          <a:lstStyle>
            <a:defPPr algn="l">
              <a:defRPr sz="2025" b="0">
                <a:solidFill>
                  <a:srgbClr val="686B6B"/>
                </a:solidFill>
                <a:latin typeface="CiscoSansTT"/>
                <a:ea typeface="CiscoSansTT"/>
                <a:cs typeface="CiscoSansTT"/>
              </a:defRPr>
            </a:defPPr>
            <a:lvl1pPr algn="l">
              <a:defRPr sz="2025" b="0">
                <a:solidFill>
                  <a:srgbClr val="686B6B"/>
                </a:solidFill>
                <a:latin typeface="CiscoSansTT"/>
                <a:ea typeface="CiscoSansTT"/>
                <a:cs typeface="CiscoSansTT"/>
              </a:defRPr>
            </a:lvl1pPr>
            <a:lvl2pPr algn="l">
              <a:defRPr sz="2025" b="0">
                <a:solidFill>
                  <a:srgbClr val="686B6B"/>
                </a:solidFill>
                <a:latin typeface="CiscoSansTT"/>
                <a:ea typeface="CiscoSansTT"/>
                <a:cs typeface="CiscoSansTT"/>
              </a:defRPr>
            </a:lvl2pPr>
            <a:lvl3pPr algn="l">
              <a:defRPr sz="2025" b="0">
                <a:solidFill>
                  <a:srgbClr val="686B6B"/>
                </a:solidFill>
                <a:latin typeface="CiscoSansTT"/>
                <a:ea typeface="CiscoSansTT"/>
                <a:cs typeface="CiscoSansTT"/>
              </a:defRPr>
            </a:lvl3pPr>
            <a:lvl4pPr algn="l">
              <a:defRPr sz="2025" b="0">
                <a:solidFill>
                  <a:srgbClr val="686B6B"/>
                </a:solidFill>
                <a:latin typeface="CiscoSansTT"/>
                <a:ea typeface="CiscoSansTT"/>
                <a:cs typeface="CiscoSansTT"/>
              </a:defRPr>
            </a:lvl4pPr>
            <a:lvl5pPr algn="l">
              <a:defRPr sz="2025" b="0">
                <a:solidFill>
                  <a:srgbClr val="686B6B"/>
                </a:solidFill>
                <a:latin typeface="CiscoSansTT"/>
                <a:ea typeface="CiscoSansTT"/>
                <a:cs typeface="CiscoSansTT"/>
              </a:defRPr>
            </a:lvl5pPr>
            <a:lvl6pPr algn="l">
              <a:defRPr sz="2025" b="0">
                <a:solidFill>
                  <a:srgbClr val="686B6B"/>
                </a:solidFill>
                <a:latin typeface="CiscoSansTT"/>
                <a:ea typeface="CiscoSansTT"/>
                <a:cs typeface="CiscoSansTT"/>
              </a:defRPr>
            </a:lvl6pPr>
            <a:lvl7pPr algn="l">
              <a:defRPr sz="2025" b="0">
                <a:solidFill>
                  <a:srgbClr val="686B6B"/>
                </a:solidFill>
                <a:latin typeface="CiscoSansTT"/>
                <a:ea typeface="CiscoSansTT"/>
                <a:cs typeface="CiscoSansTT"/>
              </a:defRPr>
            </a:lvl7pPr>
            <a:lvl8pPr algn="l">
              <a:defRPr sz="2025" b="0">
                <a:solidFill>
                  <a:srgbClr val="686B6B"/>
                </a:solidFill>
                <a:latin typeface="CiscoSansTT"/>
                <a:ea typeface="CiscoSansTT"/>
                <a:cs typeface="CiscoSansTT"/>
              </a:defRPr>
            </a:lvl8pPr>
            <a:lvl9pPr algn="l">
              <a:defRPr sz="2025" b="0">
                <a:solidFill>
                  <a:srgbClr val="686B6B"/>
                </a:solidFill>
                <a:latin typeface="CiscoSansTT"/>
                <a:ea typeface="CiscoSansTT"/>
                <a:cs typeface="CiscoSansTT"/>
              </a:defRPr>
            </a:lvl9pPr>
          </a:lstStyle>
          <a:p>
            <a:pPr algn="l">
              <a:defRPr sz="2025" b="0">
                <a:solidFill>
                  <a:srgbClr val="686B6B"/>
                </a:solidFill>
                <a:latin typeface="CiscoSansTT"/>
                <a:ea typeface="CiscoSansTT"/>
                <a:cs typeface="CiscoSansTT"/>
              </a:defRPr>
            </a:pPr>
            <a:r>
              <a:rPr sz="2025" b="0">
                <a:solidFill>
                  <a:srgbClr val="686B6B"/>
                </a:solidFill>
                <a:latin typeface="CiscoSansTT"/>
                <a:ea typeface="CiscoSansTT"/>
                <a:cs typeface="CiscoSansTT"/>
              </a:rPr>
              <a:t>With OBI TCP propagation enabled, both agents can attach at these hooks.</a:t>
            </a:r>
          </a:p>
        </p:txBody>
      </p:sp>
      <p:sp>
        <p:nvSpPr>
          <p:cNvPr id="364" name="direction-reference">
            <a:extLst>
              <a:ext uri="{FF2B5EF4-FFF2-40B4-BE49-F238E27FC236}">
                <a16:creationId xmlns:a16="http://schemas.microsoft.com/office/drawing/2014/main" id="{A6AC3E28-F5D6-49FC-8023-804E31296162}"/>
              </a:ext>
            </a:extLst>
          </p:cNvPr>
          <p:cNvSpPr>
            <a:spLocks noGrp="1"/>
          </p:cNvSpPr>
          <p:nvPr/>
        </p:nvSpPr>
        <p:spPr>
          <a:xfrm>
            <a:off x="666750" y="5724525"/>
            <a:ext cx="10858500" cy="409575"/>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Ingress and egress refer to the host-side interface.</a:t>
            </a:r>
          </a:p>
        </p:txBody>
      </p:sp>
    </p:spTree>
    <p:extLst>
      <p:ext uri="{BB962C8B-B14F-4D97-AF65-F5344CB8AC3E}">
        <p14:creationId xmlns:p14="http://schemas.microsoft.com/office/powerpoint/2010/main" val="76814743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title">
            <a:extLst>
              <a:ext uri="{FF2B5EF4-FFF2-40B4-BE49-F238E27FC236}">
                <a16:creationId xmlns:a16="http://schemas.microsoft.com/office/drawing/2014/main" id="{F77D8302-E9B9-45A8-8DDD-64A76D176D1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7" name="Rectangle 6">
            <a:extLst>
              <a:ext uri="{FF2B5EF4-FFF2-40B4-BE49-F238E27FC236}">
                <a16:creationId xmlns:a16="http://schemas.microsoft.com/office/drawing/2014/main" id="{5849D950-B4D4-4CE5-85CA-9490FD1D80FC}"/>
              </a:ext>
            </a:extLst>
          </p:cNvPr>
          <p:cNvSpPr>
            <a:spLocks noGrp="1"/>
          </p:cNvSpPr>
          <p:nvPr/>
        </p:nvSpPr>
        <p:spPr>
          <a:xfrm>
            <a:off x="1428750" y="4476750"/>
            <a:ext cx="9334500" cy="571500"/>
          </a:xfrm>
          <a:prstGeom prst="rect">
            <a:avLst/>
          </a:prstGeom>
          <a:noFill/>
          <a:ln w="0">
            <a:noFill/>
          </a:ln>
        </p:spPr>
        <p:txBody>
          <a:bodyPr anchor="ctr">
            <a:noAutofit/>
          </a:bodyPr>
          <a:lstStyle>
            <a:defPPr algn="ctr">
              <a:defRPr sz="2100" b="0">
                <a:solidFill>
                  <a:srgbClr val="07182A"/>
                </a:solidFill>
                <a:latin typeface="CiscoSansTT"/>
                <a:ea typeface="CiscoSansTT"/>
                <a:cs typeface="CiscoSansTT"/>
              </a:defRPr>
            </a:defPPr>
            <a:lvl1pPr algn="ctr">
              <a:defRPr sz="2100" b="0">
                <a:solidFill>
                  <a:srgbClr val="07182A"/>
                </a:solidFill>
                <a:latin typeface="CiscoSansTT"/>
                <a:ea typeface="CiscoSansTT"/>
                <a:cs typeface="CiscoSansTT"/>
              </a:defRPr>
            </a:lvl1pPr>
            <a:lvl2pPr algn="ctr">
              <a:defRPr sz="2100" b="0">
                <a:solidFill>
                  <a:srgbClr val="07182A"/>
                </a:solidFill>
                <a:latin typeface="CiscoSansTT"/>
                <a:ea typeface="CiscoSansTT"/>
                <a:cs typeface="CiscoSansTT"/>
              </a:defRPr>
            </a:lvl2pPr>
            <a:lvl3pPr algn="ctr">
              <a:defRPr sz="2100" b="0">
                <a:solidFill>
                  <a:srgbClr val="07182A"/>
                </a:solidFill>
                <a:latin typeface="CiscoSansTT"/>
                <a:ea typeface="CiscoSansTT"/>
                <a:cs typeface="CiscoSansTT"/>
              </a:defRPr>
            </a:lvl3pPr>
            <a:lvl4pPr algn="ctr">
              <a:defRPr sz="2100" b="0">
                <a:solidFill>
                  <a:srgbClr val="07182A"/>
                </a:solidFill>
                <a:latin typeface="CiscoSansTT"/>
                <a:ea typeface="CiscoSansTT"/>
                <a:cs typeface="CiscoSansTT"/>
              </a:defRPr>
            </a:lvl4pPr>
            <a:lvl5pPr algn="ctr">
              <a:defRPr sz="2100" b="0">
                <a:solidFill>
                  <a:srgbClr val="07182A"/>
                </a:solidFill>
                <a:latin typeface="CiscoSansTT"/>
                <a:ea typeface="CiscoSansTT"/>
                <a:cs typeface="CiscoSansTT"/>
              </a:defRPr>
            </a:lvl5pPr>
            <a:lvl6pPr algn="ctr">
              <a:defRPr sz="2100" b="0">
                <a:solidFill>
                  <a:srgbClr val="07182A"/>
                </a:solidFill>
                <a:latin typeface="CiscoSansTT"/>
                <a:ea typeface="CiscoSansTT"/>
                <a:cs typeface="CiscoSansTT"/>
              </a:defRPr>
            </a:lvl6pPr>
            <a:lvl7pPr algn="ctr">
              <a:defRPr sz="2100" b="0">
                <a:solidFill>
                  <a:srgbClr val="07182A"/>
                </a:solidFill>
                <a:latin typeface="CiscoSansTT"/>
                <a:ea typeface="CiscoSansTT"/>
                <a:cs typeface="CiscoSansTT"/>
              </a:defRPr>
            </a:lvl7pPr>
            <a:lvl8pPr algn="ctr">
              <a:defRPr sz="2100" b="0">
                <a:solidFill>
                  <a:srgbClr val="07182A"/>
                </a:solidFill>
                <a:latin typeface="CiscoSansTT"/>
                <a:ea typeface="CiscoSansTT"/>
                <a:cs typeface="CiscoSansTT"/>
              </a:defRPr>
            </a:lvl8pPr>
            <a:lvl9pPr algn="ctr">
              <a:defRPr sz="2100" b="0">
                <a:solidFill>
                  <a:srgbClr val="07182A"/>
                </a:solidFill>
                <a:latin typeface="CiscoSansTT"/>
                <a:ea typeface="CiscoSansTT"/>
                <a:cs typeface="CiscoSansTT"/>
              </a:defRPr>
            </a:lvl9pPr>
          </a:lstStyle>
          <a:p>
            <a:pPr algn="ctr">
              <a:buNone/>
              <a:defRPr sz="2100" b="0">
                <a:solidFill>
                  <a:srgbClr val="07182A"/>
                </a:solidFill>
                <a:latin typeface="CiscoSansTT"/>
                <a:ea typeface="CiscoSansTT"/>
                <a:cs typeface="CiscoSansTT"/>
              </a:defRPr>
            </a:pPr>
            <a:r>
              <a:rPr sz="2100" b="0">
                <a:solidFill>
                  <a:srgbClr val="07182A"/>
                </a:solidFill>
                <a:latin typeface="CiscoSansTT"/>
                <a:ea typeface="CiscoSansTT"/>
                <a:cs typeface="CiscoSansTT"/>
              </a:rPr>
              <a:t>OBI observes the packet before Cilium can change its path or drop it.</a:t>
            </a:r>
          </a:p>
        </p:txBody>
      </p:sp>
      <p:sp>
        <p:nvSpPr>
          <p:cNvPr id="8" name="Rounded Rectangle 7">
            <a:extLst>
              <a:ext uri="{FF2B5EF4-FFF2-40B4-BE49-F238E27FC236}">
                <a16:creationId xmlns:a16="http://schemas.microsoft.com/office/drawing/2014/main" id="{E0211182-A93E-4D75-B6E0-FD340F786B7E}"/>
              </a:ext>
            </a:extLst>
          </p:cNvPr>
          <p:cNvSpPr>
            <a:spLocks noGrp="1"/>
          </p:cNvSpPr>
          <p:nvPr/>
        </p:nvSpPr>
        <p:spPr>
          <a:xfrm>
            <a:off x="4191000" y="5410200"/>
            <a:ext cx="3810000" cy="381000"/>
          </a:xfrm>
          <a:prstGeom prst="roundRect">
            <a:avLst>
              <a:gd name="adj" fmla="val 20000"/>
            </a:avLst>
          </a:prstGeom>
          <a:solidFill>
            <a:srgbClr val="07182A"/>
          </a:solidFill>
          <a:ln w="0">
            <a:noFill/>
          </a:ln>
        </p:spPr>
        <p:txBody>
          <a:bodyPr anchor="ctr">
            <a:normAutofit/>
          </a:bodyPr>
          <a:lstStyle/>
          <a:p>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
        <p:nvSpPr>
          <p:cNvPr id="10" name="obi-tc-step">
            <a:extLst>
              <a:ext uri="{FF2B5EF4-FFF2-40B4-BE49-F238E27FC236}">
                <a16:creationId xmlns:a16="http://schemas.microsoft.com/office/drawing/2014/main" id="{6A062542-EA9B-400B-9F22-65A6D4F08617}"/>
              </a:ext>
            </a:extLst>
          </p:cNvPr>
          <p:cNvSpPr>
            <a:spLocks noGrp="1"/>
          </p:cNvSpPr>
          <p:nvPr/>
        </p:nvSpPr>
        <p:spPr>
          <a:xfrm>
            <a:off x="857250" y="2333625"/>
            <a:ext cx="3143250" cy="1524000"/>
          </a:xfrm>
          <a:prstGeom prst="roundRect">
            <a:avLst>
              <a:gd name="adj" fmla="val 4375"/>
            </a:avLst>
          </a:prstGeom>
          <a:solidFill>
            <a:srgbClr val="F6ECF5"/>
          </a:solidFill>
          <a:ln w="11906">
            <a:solidFill>
              <a:srgbClr val="FF007F"/>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OBI</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Observe + propagate</a:t>
            </a:r>
          </a:p>
        </p:txBody>
      </p:sp>
      <p:sp>
        <p:nvSpPr>
          <p:cNvPr id="11" name="cilium-tc-step">
            <a:extLst>
              <a:ext uri="{FF2B5EF4-FFF2-40B4-BE49-F238E27FC236}">
                <a16:creationId xmlns:a16="http://schemas.microsoft.com/office/drawing/2014/main" id="{A3B9CEC6-752C-4ABC-9BF5-4879C0F521AA}"/>
              </a:ext>
            </a:extLst>
          </p:cNvPr>
          <p:cNvSpPr>
            <a:spLocks noGrp="1"/>
          </p:cNvSpPr>
          <p:nvPr/>
        </p:nvSpPr>
        <p:spPr>
          <a:xfrm>
            <a:off x="5715000" y="2333625"/>
            <a:ext cx="5619750" cy="1524000"/>
          </a:xfrm>
          <a:prstGeom prst="roundRect">
            <a:avLst>
              <a:gd name="adj" fmla="val 4375"/>
            </a:avLst>
          </a:prstGeom>
          <a:solidFill>
            <a:srgbClr val="EAF8FC"/>
          </a:solidFill>
          <a:ln w="11906">
            <a:solidFill>
              <a:srgbClr val="0860FE"/>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Cilium</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Apply routing + policy</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Forward, redirect, or drop</a:t>
            </a:r>
          </a:p>
        </p:txBody>
      </p:sp>
      <p:cxnSp>
        <p:nvCxnSpPr>
          <p:cNvPr id="12" name="obi-before-cilium">
            <a:extLst>
              <a:ext uri="{FF2B5EF4-FFF2-40B4-BE49-F238E27FC236}">
                <a16:creationId xmlns:a16="http://schemas.microsoft.com/office/drawing/2014/main" id="{92A5194C-4A31-4F04-AA36-5203AD8600C8}"/>
              </a:ext>
            </a:extLst>
          </p:cNvPr>
          <p:cNvCxnSpPr/>
          <p:nvPr/>
        </p:nvCxnSpPr>
        <p:spPr>
          <a:xfrm>
            <a:off x="4000500" y="3095625"/>
            <a:ext cx="1714500" cy="0"/>
          </a:xfrm>
          <a:prstGeom prst="straightConnector1">
            <a:avLst/>
          </a:prstGeom>
          <a:ln w="19050">
            <a:solidFill>
              <a:srgbClr val="FF007F"/>
            </a:solidFill>
            <a:tailEnd type="arrow" w="med" len="med"/>
          </a:ln>
        </p:spPr>
      </p:cxnSp>
      <p:sp>
        <p:nvSpPr>
          <p:cNvPr id="13" name="tc-illustrative-order">
            <a:extLst>
              <a:ext uri="{FF2B5EF4-FFF2-40B4-BE49-F238E27FC236}">
                <a16:creationId xmlns:a16="http://schemas.microsoft.com/office/drawing/2014/main" id="{EA46B996-2ED9-458E-8011-7FA128FE8897}"/>
              </a:ext>
            </a:extLst>
          </p:cNvPr>
          <p:cNvSpPr>
            <a:spLocks noGrp="1"/>
          </p:cNvSpPr>
          <p:nvPr/>
        </p:nvSpPr>
        <p:spPr>
          <a:xfrm>
            <a:off x="857250" y="1581150"/>
            <a:ext cx="10477500" cy="457200"/>
          </a:xfrm>
          <a:prstGeom prst="rect">
            <a:avLst/>
          </a:prstGeom>
          <a:noFill/>
          <a:ln w="0">
            <a:noFill/>
          </a:ln>
        </p:spPr>
        <p:txBody>
          <a:bodyPr anchor="ctr">
            <a:noAutofit/>
          </a:bodyPr>
          <a:lstStyle>
            <a:defPPr algn="l">
              <a:defRPr sz="1950" b="0">
                <a:solidFill>
                  <a:srgbClr val="686B6B"/>
                </a:solidFill>
                <a:latin typeface="CiscoSansTT"/>
                <a:ea typeface="CiscoSansTT"/>
                <a:cs typeface="CiscoSansTT"/>
              </a:defRPr>
            </a:defPPr>
            <a:lvl1pPr algn="l">
              <a:defRPr sz="1950" b="0">
                <a:solidFill>
                  <a:srgbClr val="686B6B"/>
                </a:solidFill>
                <a:latin typeface="CiscoSansTT"/>
                <a:ea typeface="CiscoSansTT"/>
                <a:cs typeface="CiscoSansTT"/>
              </a:defRPr>
            </a:lvl1pPr>
            <a:lvl2pPr algn="l">
              <a:defRPr sz="1950" b="0">
                <a:solidFill>
                  <a:srgbClr val="686B6B"/>
                </a:solidFill>
                <a:latin typeface="CiscoSansTT"/>
                <a:ea typeface="CiscoSansTT"/>
                <a:cs typeface="CiscoSansTT"/>
              </a:defRPr>
            </a:lvl2pPr>
            <a:lvl3pPr algn="l">
              <a:defRPr sz="1950" b="0">
                <a:solidFill>
                  <a:srgbClr val="686B6B"/>
                </a:solidFill>
                <a:latin typeface="CiscoSansTT"/>
                <a:ea typeface="CiscoSansTT"/>
                <a:cs typeface="CiscoSansTT"/>
              </a:defRPr>
            </a:lvl3pPr>
            <a:lvl4pPr algn="l">
              <a:defRPr sz="1950" b="0">
                <a:solidFill>
                  <a:srgbClr val="686B6B"/>
                </a:solidFill>
                <a:latin typeface="CiscoSansTT"/>
                <a:ea typeface="CiscoSansTT"/>
                <a:cs typeface="CiscoSansTT"/>
              </a:defRPr>
            </a:lvl4pPr>
            <a:lvl5pPr algn="l">
              <a:defRPr sz="1950" b="0">
                <a:solidFill>
                  <a:srgbClr val="686B6B"/>
                </a:solidFill>
                <a:latin typeface="CiscoSansTT"/>
                <a:ea typeface="CiscoSansTT"/>
                <a:cs typeface="CiscoSansTT"/>
              </a:defRPr>
            </a:lvl5pPr>
            <a:lvl6pPr algn="l">
              <a:defRPr sz="1950" b="0">
                <a:solidFill>
                  <a:srgbClr val="686B6B"/>
                </a:solidFill>
                <a:latin typeface="CiscoSansTT"/>
                <a:ea typeface="CiscoSansTT"/>
                <a:cs typeface="CiscoSansTT"/>
              </a:defRPr>
            </a:lvl6pPr>
            <a:lvl7pPr algn="l">
              <a:defRPr sz="1950" b="0">
                <a:solidFill>
                  <a:srgbClr val="686B6B"/>
                </a:solidFill>
                <a:latin typeface="CiscoSansTT"/>
                <a:ea typeface="CiscoSansTT"/>
                <a:cs typeface="CiscoSansTT"/>
              </a:defRPr>
            </a:lvl7pPr>
            <a:lvl8pPr algn="l">
              <a:defRPr sz="1950" b="0">
                <a:solidFill>
                  <a:srgbClr val="686B6B"/>
                </a:solidFill>
                <a:latin typeface="CiscoSansTT"/>
                <a:ea typeface="CiscoSansTT"/>
                <a:cs typeface="CiscoSansTT"/>
              </a:defRPr>
            </a:lvl8pPr>
            <a:lvl9pPr algn="l">
              <a:defRPr sz="1950" b="0">
                <a:solidFill>
                  <a:srgbClr val="686B6B"/>
                </a:solidFill>
                <a:latin typeface="CiscoSansTT"/>
                <a:ea typeface="CiscoSansTT"/>
                <a:cs typeface="CiscoSansTT"/>
              </a:defRPr>
            </a:lvl9pPr>
          </a:lstStyle>
          <a:p>
            <a:pPr algn="l">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Illustrative order at a shared TC hook</a:t>
            </a:r>
          </a:p>
        </p:txBody>
      </p:sp>
    </p:spTree>
    <p:extLst>
      <p:ext uri="{BB962C8B-B14F-4D97-AF65-F5344CB8AC3E}">
        <p14:creationId xmlns:p14="http://schemas.microsoft.com/office/powerpoint/2010/main" val="109276977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B8A3B1EA-297C-45CD-AE4B-023352055ED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dirty="0">
                <a:solidFill>
                  <a:srgbClr val="07182A"/>
                </a:solidFill>
                <a:latin typeface="CiscoSansTT Medium"/>
                <a:ea typeface="CiscoSansTT Medium"/>
                <a:cs typeface="CiscoSansTT Medium"/>
              </a:rPr>
              <a:t>TCX</a:t>
            </a:r>
            <a:r>
              <a:rPr lang="en-US" sz="3000" b="1" dirty="0">
                <a:solidFill>
                  <a:srgbClr val="07182A"/>
                </a:solidFill>
                <a:latin typeface="CiscoSansTT Medium"/>
                <a:ea typeface="CiscoSansTT Medium"/>
                <a:cs typeface="CiscoSansTT Medium"/>
              </a:rPr>
              <a:t> attachment</a:t>
            </a:r>
            <a:r>
              <a:rPr sz="3000" b="1" dirty="0">
                <a:solidFill>
                  <a:srgbClr val="07182A"/>
                </a:solidFill>
                <a:latin typeface="CiscoSansTT Medium"/>
                <a:ea typeface="CiscoSansTT Medium"/>
                <a:cs typeface="CiscoSansTT Medium"/>
              </a:rPr>
              <a:t> controls the order for both agents</a:t>
            </a:r>
          </a:p>
        </p:txBody>
      </p:sp>
      <p:sp>
        <p:nvSpPr>
          <p:cNvPr id="3" name="Rounded Rectangle 2">
            <a:extLst>
              <a:ext uri="{FF2B5EF4-FFF2-40B4-BE49-F238E27FC236}">
                <a16:creationId xmlns:a16="http://schemas.microsoft.com/office/drawing/2014/main" id="{02145BF7-101A-4CDA-A92E-4AF9A6F59DBF}"/>
              </a:ext>
            </a:extLst>
          </p:cNvPr>
          <p:cNvSpPr>
            <a:spLocks noGrp="1"/>
          </p:cNvSpPr>
          <p:nvPr/>
        </p:nvSpPr>
        <p:spPr>
          <a:xfrm>
            <a:off x="819150" y="2266950"/>
            <a:ext cx="1143000" cy="381000"/>
          </a:xfrm>
          <a:prstGeom prst="roundRect">
            <a:avLst>
              <a:gd name="adj" fmla="val 20000"/>
            </a:avLst>
          </a:prstGeom>
          <a:solidFill>
            <a:srgbClr val="FF007F"/>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a:ext uri="{FF2B5EF4-FFF2-40B4-BE49-F238E27FC236}">
                <a16:creationId xmlns:a16="http://schemas.microsoft.com/office/drawing/2014/main" id="{9607A6B3-920E-4336-8F50-FE14D1F316A7}"/>
              </a:ext>
            </a:extLst>
          </p:cNvPr>
          <p:cNvSpPr>
            <a:spLocks noGrp="1"/>
          </p:cNvSpPr>
          <p:nvPr/>
        </p:nvSpPr>
        <p:spPr>
          <a:xfrm>
            <a:off x="2381250" y="1952625"/>
            <a:ext cx="2571750" cy="1381125"/>
          </a:xfrm>
          <a:prstGeom prst="roundRect">
            <a:avLst>
              <a:gd name="adj" fmla="val 5517"/>
            </a:avLst>
          </a:prstGeom>
          <a:solidFill>
            <a:srgbClr val="F4EAF4"/>
          </a:solidFill>
          <a:ln w="14288">
            <a:solidFill>
              <a:srgbClr val="FF007F"/>
            </a:solidFill>
          </a:ln>
        </p:spPr>
        <p:txBody>
          <a:bodyPr anchor="ctr">
            <a:noAutofit/>
          </a:bodyPr>
          <a:lstStyle>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a:ext uri="{FF2B5EF4-FFF2-40B4-BE49-F238E27FC236}">
                <a16:creationId xmlns:a16="http://schemas.microsoft.com/office/drawing/2014/main" id="{CD71B99A-9619-4677-B426-4010E78FE632}"/>
              </a:ext>
            </a:extLst>
          </p:cNvPr>
          <p:cNvSpPr>
            <a:spLocks noGrp="1"/>
          </p:cNvSpPr>
          <p:nvPr/>
        </p:nvSpPr>
        <p:spPr>
          <a:xfrm>
            <a:off x="7239000" y="1952625"/>
            <a:ext cx="2571750" cy="1381125"/>
          </a:xfrm>
          <a:prstGeom prst="roundRect">
            <a:avLst>
              <a:gd name="adj" fmla="val 5517"/>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a:ext uri="{FF2B5EF4-FFF2-40B4-BE49-F238E27FC236}">
                <a16:creationId xmlns:a16="http://schemas.microsoft.com/office/drawing/2014/main" id="{A25EFA0D-21C9-45F7-A6DB-22113BE509FF}"/>
              </a:ext>
            </a:extLst>
          </p:cNvPr>
          <p:cNvSpPr>
            <a:spLocks noGrp="1"/>
          </p:cNvSpPr>
          <p:nvPr/>
        </p:nvSpPr>
        <p:spPr>
          <a:xfrm>
            <a:off x="10239375" y="2266950"/>
            <a:ext cx="1143000" cy="381000"/>
          </a:xfrm>
          <a:prstGeom prst="roundRect">
            <a:avLst>
              <a:gd name="adj" fmla="val 20000"/>
            </a:avLst>
          </a:prstGeom>
          <a:solidFill>
            <a:srgbClr val="0860FE"/>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a:ext uri="{FF2B5EF4-FFF2-40B4-BE49-F238E27FC236}">
                <a16:creationId xmlns:a16="http://schemas.microsoft.com/office/drawing/2014/main" id="{26B767C4-2ACD-40AD-B092-E0FD08B75B50}"/>
              </a:ext>
            </a:extLst>
          </p:cNvPr>
          <p:cNvCxnSpPr>
            <a:stCxn id="4" idx="3"/>
            <a:endCxn id="5" idx="1"/>
          </p:cNvCxnSpPr>
          <p:nvPr/>
        </p:nvCxnSpPr>
        <p:spPr>
          <a:xfrm>
            <a:off x="4953000" y="2643188"/>
            <a:ext cx="2286000" cy="0"/>
          </a:xfrm>
          <a:prstGeom prst="straightConnector1">
            <a:avLst/>
          </a:prstGeom>
          <a:ln w="38100">
            <a:solidFill>
              <a:srgbClr val="07182A"/>
            </a:solidFill>
            <a:prstDash val="solid"/>
            <a:tailEnd type="arrow" w="med" len="med"/>
          </a:ln>
        </p:spPr>
      </p:cxnSp>
      <p:sp>
        <p:nvSpPr>
          <p:cNvPr id="8" name="Rectangle 7">
            <a:extLst>
              <a:ext uri="{FF2B5EF4-FFF2-40B4-BE49-F238E27FC236}">
                <a16:creationId xmlns:a16="http://schemas.microsoft.com/office/drawing/2014/main" id="{81723338-AEC6-46A8-A6E9-DB0E8AC17B5D}"/>
              </a:ext>
            </a:extLst>
          </p:cNvPr>
          <p:cNvSpPr>
            <a:spLocks noGrp="1"/>
          </p:cNvSpPr>
          <p:nvPr/>
        </p:nvSpPr>
        <p:spPr>
          <a:xfrm>
            <a:off x="2381250" y="3848100"/>
            <a:ext cx="7429500" cy="19050"/>
          </a:xfrm>
          <a:prstGeom prst="rect">
            <a:avLst/>
          </a:prstGeom>
          <a:solidFill>
            <a:srgbClr val="D6D6D6"/>
          </a:solidFill>
          <a:ln w="0">
            <a:noFill/>
          </a:ln>
        </p:spPr>
        <p:txBody>
          <a:bodyPr/>
          <a:lstStyle/>
          <a:p>
            <a:endParaRPr/>
          </a:p>
        </p:txBody>
      </p:sp>
      <p:sp>
        <p:nvSpPr>
          <p:cNvPr id="9" name="Rectangle 8">
            <a:extLst>
              <a:ext uri="{FF2B5EF4-FFF2-40B4-BE49-F238E27FC236}">
                <a16:creationId xmlns:a16="http://schemas.microsoft.com/office/drawing/2014/main" id="{0D7691E9-DC2A-4F17-918F-76C126E8BF88}"/>
              </a:ext>
            </a:extLst>
          </p:cNvPr>
          <p:cNvSpPr>
            <a:spLocks noGrp="1"/>
          </p:cNvSpPr>
          <p:nvPr/>
        </p:nvSpPr>
        <p:spPr>
          <a:xfrm>
            <a:off x="1905000" y="4286250"/>
            <a:ext cx="95250" cy="95250"/>
          </a:xfrm>
          <a:prstGeom prst="rect">
            <a:avLst/>
          </a:prstGeom>
          <a:solidFill>
            <a:srgbClr val="02C8FF"/>
          </a:solidFill>
          <a:ln w="0">
            <a:noFill/>
          </a:ln>
        </p:spPr>
        <p:txBody>
          <a:bodyPr/>
          <a:lstStyle/>
          <a:p>
            <a:endParaRPr/>
          </a:p>
        </p:txBody>
      </p:sp>
      <p:sp>
        <p:nvSpPr>
          <p:cNvPr id="10" name="Rectangle 9">
            <a:extLst>
              <a:ext uri="{FF2B5EF4-FFF2-40B4-BE49-F238E27FC236}">
                <a16:creationId xmlns:a16="http://schemas.microsoft.com/office/drawing/2014/main" id="{0267C6E7-9B37-4D0C-896A-F682D66023B1}"/>
              </a:ext>
            </a:extLst>
          </p:cNvPr>
          <p:cNvSpPr>
            <a:spLocks noGrp="1"/>
          </p:cNvSpPr>
          <p:nvPr/>
        </p:nvSpPr>
        <p:spPr>
          <a:xfrm>
            <a:off x="2171700" y="41910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a:ext uri="{FF2B5EF4-FFF2-40B4-BE49-F238E27FC236}">
                <a16:creationId xmlns:a16="http://schemas.microsoft.com/office/drawing/2014/main" id="{C33D4382-6522-4B0D-84F2-1F90F244A5B8}"/>
              </a:ext>
            </a:extLst>
          </p:cNvPr>
          <p:cNvSpPr>
            <a:spLocks noGrp="1"/>
          </p:cNvSpPr>
          <p:nvPr/>
        </p:nvSpPr>
        <p:spPr>
          <a:xfrm>
            <a:off x="1905000" y="4838700"/>
            <a:ext cx="95250" cy="95250"/>
          </a:xfrm>
          <a:prstGeom prst="rect">
            <a:avLst/>
          </a:prstGeom>
          <a:solidFill>
            <a:srgbClr val="02C8FF"/>
          </a:solidFill>
          <a:ln w="0">
            <a:noFill/>
          </a:ln>
        </p:spPr>
        <p:txBody>
          <a:bodyPr/>
          <a:lstStyle/>
          <a:p>
            <a:endParaRPr/>
          </a:p>
        </p:txBody>
      </p:sp>
      <p:sp>
        <p:nvSpPr>
          <p:cNvPr id="12" name="Rectangle 11">
            <a:extLst>
              <a:ext uri="{FF2B5EF4-FFF2-40B4-BE49-F238E27FC236}">
                <a16:creationId xmlns:a16="http://schemas.microsoft.com/office/drawing/2014/main" id="{34AFD7D3-DBBC-467B-AF67-D1E09884FC95}"/>
              </a:ext>
            </a:extLst>
          </p:cNvPr>
          <p:cNvSpPr>
            <a:spLocks noGrp="1"/>
          </p:cNvSpPr>
          <p:nvPr/>
        </p:nvSpPr>
        <p:spPr>
          <a:xfrm>
            <a:off x="2171700" y="474345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a:ext uri="{FF2B5EF4-FFF2-40B4-BE49-F238E27FC236}">
                <a16:creationId xmlns:a16="http://schemas.microsoft.com/office/drawing/2014/main" id="{ED5168D3-A4AE-4C03-BD57-4769C0F69AAF}"/>
              </a:ext>
            </a:extLst>
          </p:cNvPr>
          <p:cNvSpPr>
            <a:spLocks noGrp="1"/>
          </p:cNvSpPr>
          <p:nvPr/>
        </p:nvSpPr>
        <p:spPr>
          <a:xfrm>
            <a:off x="1905000" y="5391150"/>
            <a:ext cx="95250" cy="95250"/>
          </a:xfrm>
          <a:prstGeom prst="rect">
            <a:avLst/>
          </a:prstGeom>
          <a:solidFill>
            <a:srgbClr val="FF9000"/>
          </a:solidFill>
          <a:ln w="0">
            <a:noFill/>
          </a:ln>
        </p:spPr>
        <p:txBody>
          <a:bodyPr/>
          <a:lstStyle/>
          <a:p>
            <a:endParaRPr/>
          </a:p>
        </p:txBody>
      </p:sp>
      <p:sp>
        <p:nvSpPr>
          <p:cNvPr id="14" name="Rectangle 13">
            <a:extLst>
              <a:ext uri="{FF2B5EF4-FFF2-40B4-BE49-F238E27FC236}">
                <a16:creationId xmlns:a16="http://schemas.microsoft.com/office/drawing/2014/main" id="{418E2667-0F13-4934-813C-7529483B1954}"/>
              </a:ext>
            </a:extLst>
          </p:cNvPr>
          <p:cNvSpPr>
            <a:spLocks noGrp="1"/>
          </p:cNvSpPr>
          <p:nvPr/>
        </p:nvSpPr>
        <p:spPr>
          <a:xfrm>
            <a:off x="2171700" y="52959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Tree>
    <p:extLst>
      <p:ext uri="{BB962C8B-B14F-4D97-AF65-F5344CB8AC3E}">
        <p14:creationId xmlns:p14="http://schemas.microsoft.com/office/powerpoint/2010/main" val="72672164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7997A2C8-CA2D-4412-9BCD-C55128D0BAAF}"/>
              </a:ext>
            </a:extLst>
          </p:cNvPr>
          <p:cNvSpPr>
            <a:spLocks noGrp="1"/>
          </p:cNvSpPr>
          <p:nvPr/>
        </p:nvSpPr>
        <p:spPr>
          <a:xfrm>
            <a:off x="323850" y="228600"/>
            <a:ext cx="11049000" cy="685800"/>
          </a:xfrm>
          <a:prstGeom prst="rect">
            <a:avLst/>
          </a:prstGeom>
          <a:noFill/>
          <a:ln w="0">
            <a:noFill/>
          </a:ln>
        </p:spPr>
        <p:txBody>
          <a:bodyPr anchor="t">
            <a:normAutofit/>
          </a:bodyPr>
          <a:lstStyle/>
          <a:p>
            <a:pPr>
              <a:defRPr sz="3000" b="1">
                <a:solidFill>
                  <a:srgbClr val="07182A"/>
                </a:solidFill>
                <a:latin typeface="CiscoSansTT Medium"/>
                <a:ea typeface="CiscoSansTT Medium"/>
                <a:cs typeface="CiscoSansTT Medium"/>
              </a:defRPr>
            </a:pPr>
            <a:r>
              <a:rPr lang="en-ES" sz="3000" b="1" dirty="0">
                <a:solidFill>
                  <a:srgbClr val="07182A"/>
                </a:solidFill>
                <a:latin typeface="CiscoSansTT Medium"/>
              </a:rPr>
              <a:t>Traditional</a:t>
            </a:r>
            <a:r>
              <a:rPr sz="3000" b="1" dirty="0">
                <a:solidFill>
                  <a:srgbClr val="07182A"/>
                </a:solidFill>
                <a:latin typeface="CiscoSansTT Medium"/>
                <a:ea typeface="CiscoSansTT Medium"/>
                <a:cs typeface="CiscoSansTT Medium"/>
              </a:rPr>
              <a:t> TC</a:t>
            </a:r>
            <a:r>
              <a:rPr lang="en-US" sz="3000" b="1" dirty="0">
                <a:solidFill>
                  <a:srgbClr val="07182A"/>
                </a:solidFill>
                <a:latin typeface="CiscoSansTT Medium"/>
                <a:ea typeface="CiscoSansTT Medium"/>
                <a:cs typeface="CiscoSansTT Medium"/>
              </a:rPr>
              <a:t> attachment</a:t>
            </a:r>
            <a:r>
              <a:rPr sz="3000" b="1" dirty="0">
                <a:solidFill>
                  <a:srgbClr val="07182A"/>
                </a:solidFill>
                <a:latin typeface="CiscoSansTT Medium"/>
                <a:ea typeface="CiscoSansTT Medium"/>
                <a:cs typeface="CiscoSansTT Medium"/>
              </a:rPr>
              <a:t> needs a priority contract</a:t>
            </a:r>
          </a:p>
        </p:txBody>
      </p:sp>
      <p:sp>
        <p:nvSpPr>
          <p:cNvPr id="2" name="slide-subtitle">
            <a:extLst>
              <a:ext uri="{FF2B5EF4-FFF2-40B4-BE49-F238E27FC236}">
                <a16:creationId xmlns:a16="http://schemas.microsoft.com/office/drawing/2014/main" id="{12E78F13-D05E-4B31-8F53-5C07894486A3}"/>
              </a:ext>
            </a:extLst>
          </p:cNvPr>
          <p:cNvSpPr>
            <a:spLocks noGrp="1"/>
          </p:cNvSpPr>
          <p:nvPr/>
        </p:nvSpPr>
        <p:spPr>
          <a:xfrm>
            <a:off x="552450" y="1028700"/>
            <a:ext cx="10668000" cy="45720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a:ext uri="{FF2B5EF4-FFF2-40B4-BE49-F238E27FC236}">
                <a16:creationId xmlns:a16="http://schemas.microsoft.com/office/drawing/2014/main" id="{F4340365-7A62-46A0-B861-397C798F1ECA}"/>
              </a:ext>
            </a:extLst>
          </p:cNvPr>
          <p:cNvSpPr>
            <a:spLocks noGrp="1"/>
          </p:cNvSpPr>
          <p:nvPr/>
        </p:nvSpPr>
        <p:spPr>
          <a:xfrm>
            <a:off x="1714500" y="2095500"/>
            <a:ext cx="28575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a:ext uri="{FF2B5EF4-FFF2-40B4-BE49-F238E27FC236}">
                <a16:creationId xmlns:a16="http://schemas.microsoft.com/office/drawing/2014/main" id="{C1DD56C0-7A7F-457E-A82A-D0E7175F4478}"/>
              </a:ext>
            </a:extLst>
          </p:cNvPr>
          <p:cNvSpPr>
            <a:spLocks noGrp="1"/>
          </p:cNvSpPr>
          <p:nvPr/>
        </p:nvSpPr>
        <p:spPr>
          <a:xfrm>
            <a:off x="7620000" y="2095500"/>
            <a:ext cx="28575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a:extLst>
              <a:ext uri="{FF2B5EF4-FFF2-40B4-BE49-F238E27FC236}">
                <a16:creationId xmlns:a16="http://schemas.microsoft.com/office/drawing/2014/main" id="{797D88E8-3667-4134-9800-450B462DB550}"/>
              </a:ext>
            </a:extLst>
          </p:cNvPr>
          <p:cNvCxnSpPr>
            <a:stCxn id="3" idx="3"/>
            <a:endCxn id="4" idx="1"/>
          </p:cNvCxnSpPr>
          <p:nvPr/>
        </p:nvCxnSpPr>
        <p:spPr>
          <a:xfrm>
            <a:off x="4572000" y="2809875"/>
            <a:ext cx="3048000" cy="0"/>
          </a:xfrm>
          <a:prstGeom prst="straightConnector1">
            <a:avLst/>
          </a:prstGeom>
          <a:ln w="38100">
            <a:solidFill>
              <a:srgbClr val="07182A"/>
            </a:solidFill>
            <a:prstDash val="solid"/>
            <a:tailEnd type="arrow" w="med" len="med"/>
          </a:ln>
        </p:spPr>
      </p:cxnSp>
      <p:sp>
        <p:nvSpPr>
          <p:cNvPr id="6" name="Rectangle 5">
            <a:extLst>
              <a:ext uri="{FF2B5EF4-FFF2-40B4-BE49-F238E27FC236}">
                <a16:creationId xmlns:a16="http://schemas.microsoft.com/office/drawing/2014/main" id="{4C0547DB-5BC5-42F5-A58E-A3894A5C481C}"/>
              </a:ext>
            </a:extLst>
          </p:cNvPr>
          <p:cNvSpPr>
            <a:spLocks noGrp="1"/>
          </p:cNvSpPr>
          <p:nvPr/>
        </p:nvSpPr>
        <p:spPr>
          <a:xfrm>
            <a:off x="5191125" y="2495550"/>
            <a:ext cx="1809750" cy="323850"/>
          </a:xfrm>
          <a:prstGeom prst="rect">
            <a:avLst/>
          </a:prstGeom>
          <a:noFill/>
          <a:ln w="0">
            <a:noFill/>
          </a:ln>
        </p:spPr>
        <p:txBody>
          <a:bodyPr anchor="t">
            <a:normAutofit fontScale="99924" lnSpcReduction="10000"/>
          </a:bodyPr>
          <a:lstStyle/>
          <a:p>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a:ext uri="{FF2B5EF4-FFF2-40B4-BE49-F238E27FC236}">
                <a16:creationId xmlns:a16="http://schemas.microsoft.com/office/drawing/2014/main" id="{B2ACBA55-06AE-437C-82A4-3A7F2047B29D}"/>
              </a:ext>
            </a:extLst>
          </p:cNvPr>
          <p:cNvSpPr>
            <a:spLocks noGrp="1"/>
          </p:cNvSpPr>
          <p:nvPr/>
        </p:nvSpPr>
        <p:spPr>
          <a:xfrm>
            <a:off x="1714500" y="4191000"/>
            <a:ext cx="8763000" cy="895350"/>
          </a:xfrm>
          <a:prstGeom prst="roundRect">
            <a:avLst>
              <a:gd name="adj" fmla="val 8511"/>
            </a:avLst>
          </a:prstGeom>
          <a:solidFill>
            <a:srgbClr val="FDEDEF"/>
          </a:solidFill>
          <a:ln w="14288">
            <a:solidFill>
              <a:srgbClr val="E84551"/>
            </a:solidFill>
          </a:ln>
        </p:spPr>
        <p:txBody>
          <a:bodyPr/>
          <a:lstStyle/>
          <a:p>
            <a:endParaRPr/>
          </a:p>
        </p:txBody>
      </p:sp>
      <p:sp>
        <p:nvSpPr>
          <p:cNvPr id="8" name="Rectangle 7">
            <a:extLst>
              <a:ext uri="{FF2B5EF4-FFF2-40B4-BE49-F238E27FC236}">
                <a16:creationId xmlns:a16="http://schemas.microsoft.com/office/drawing/2014/main" id="{9822725E-E431-4615-AF0C-451355CBF45D}"/>
              </a:ext>
            </a:extLst>
          </p:cNvPr>
          <p:cNvSpPr>
            <a:spLocks noGrp="1"/>
          </p:cNvSpPr>
          <p:nvPr/>
        </p:nvSpPr>
        <p:spPr>
          <a:xfrm>
            <a:off x="2114550" y="4381500"/>
            <a:ext cx="7962900" cy="381000"/>
          </a:xfrm>
          <a:prstGeom prst="rect">
            <a:avLst/>
          </a:prstGeom>
          <a:noFill/>
          <a:ln w="0">
            <a:noFill/>
          </a:ln>
        </p:spPr>
        <p:txBody>
          <a:bodyPr anchor="t">
            <a:normAutofit fontScale="97063" lnSpcReduction="10000"/>
          </a:bodyPr>
          <a:lstStyle/>
          <a:p>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30" name="Rectangle 29">
            <a:extLst>
              <a:ext uri="{FF2B5EF4-FFF2-40B4-BE49-F238E27FC236}">
                <a16:creationId xmlns:a16="http://schemas.microsoft.com/office/drawing/2014/main" id="{5D41BDE8-8302-49E9-B1E5-5C3AC5F420C4}"/>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31" name="Rectangle 30">
            <a:extLst>
              <a:ext uri="{FF2B5EF4-FFF2-40B4-BE49-F238E27FC236}">
                <a16:creationId xmlns:a16="http://schemas.microsoft.com/office/drawing/2014/main" id="{125222E2-1BD0-45FD-A671-C4C40F2B3E00}"/>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
        <p:nvSpPr>
          <p:cNvPr id="82" name="legacy-scope-13">
            <a:extLst>
              <a:ext uri="{FF2B5EF4-FFF2-40B4-BE49-F238E27FC236}">
                <a16:creationId xmlns:a16="http://schemas.microsoft.com/office/drawing/2014/main" id="{4CC8AF7F-33BE-4416-AA98-47F6C1C618C8}"/>
              </a:ext>
            </a:extLst>
          </p:cNvPr>
          <p:cNvSpPr>
            <a:spLocks noGrp="1"/>
          </p:cNvSpPr>
          <p:nvPr/>
        </p:nvSpPr>
        <p:spPr>
          <a:xfrm>
            <a:off x="666750" y="1552575"/>
            <a:ext cx="10858500" cy="361950"/>
          </a:xfrm>
          <a:prstGeom prst="rect">
            <a:avLst/>
          </a:prstGeom>
          <a:noFill/>
          <a:ln w="0">
            <a:noFill/>
          </a:ln>
        </p:spPr>
        <p:txBody>
          <a:bodyPr anchor="ctr">
            <a:noAutofit/>
          </a:bodyPr>
          <a:lstStyle>
            <a:defPPr algn="l">
              <a:defRPr sz="1650" b="0">
                <a:solidFill>
                  <a:srgbClr val="0860FE"/>
                </a:solidFill>
                <a:latin typeface="CiscoSansTT"/>
                <a:ea typeface="CiscoSansTT"/>
                <a:cs typeface="CiscoSansTT"/>
              </a:defRPr>
            </a:defPPr>
            <a:lvl1pPr algn="l">
              <a:defRPr sz="1650" b="0">
                <a:solidFill>
                  <a:srgbClr val="0860FE"/>
                </a:solidFill>
                <a:latin typeface="CiscoSansTT"/>
                <a:ea typeface="CiscoSansTT"/>
                <a:cs typeface="CiscoSansTT"/>
              </a:defRPr>
            </a:lvl1pPr>
            <a:lvl2pPr algn="l">
              <a:defRPr sz="1650" b="0">
                <a:solidFill>
                  <a:srgbClr val="0860FE"/>
                </a:solidFill>
                <a:latin typeface="CiscoSansTT"/>
                <a:ea typeface="CiscoSansTT"/>
                <a:cs typeface="CiscoSansTT"/>
              </a:defRPr>
            </a:lvl2pPr>
            <a:lvl3pPr algn="l">
              <a:defRPr sz="1650" b="0">
                <a:solidFill>
                  <a:srgbClr val="0860FE"/>
                </a:solidFill>
                <a:latin typeface="CiscoSansTT"/>
                <a:ea typeface="CiscoSansTT"/>
                <a:cs typeface="CiscoSansTT"/>
              </a:defRPr>
            </a:lvl3pPr>
            <a:lvl4pPr algn="l">
              <a:defRPr sz="1650" b="0">
                <a:solidFill>
                  <a:srgbClr val="0860FE"/>
                </a:solidFill>
                <a:latin typeface="CiscoSansTT"/>
                <a:ea typeface="CiscoSansTT"/>
                <a:cs typeface="CiscoSansTT"/>
              </a:defRPr>
            </a:lvl4pPr>
            <a:lvl5pPr algn="l">
              <a:defRPr sz="1650" b="0">
                <a:solidFill>
                  <a:srgbClr val="0860FE"/>
                </a:solidFill>
                <a:latin typeface="CiscoSansTT"/>
                <a:ea typeface="CiscoSansTT"/>
                <a:cs typeface="CiscoSansTT"/>
              </a:defRPr>
            </a:lvl5pPr>
            <a:lvl6pPr algn="l">
              <a:defRPr sz="1650" b="0">
                <a:solidFill>
                  <a:srgbClr val="0860FE"/>
                </a:solidFill>
                <a:latin typeface="CiscoSansTT"/>
                <a:ea typeface="CiscoSansTT"/>
                <a:cs typeface="CiscoSansTT"/>
              </a:defRPr>
            </a:lvl6pPr>
            <a:lvl7pPr algn="l">
              <a:defRPr sz="1650" b="0">
                <a:solidFill>
                  <a:srgbClr val="0860FE"/>
                </a:solidFill>
                <a:latin typeface="CiscoSansTT"/>
                <a:ea typeface="CiscoSansTT"/>
                <a:cs typeface="CiscoSansTT"/>
              </a:defRPr>
            </a:lvl7pPr>
            <a:lvl8pPr algn="l">
              <a:defRPr sz="1650" b="0">
                <a:solidFill>
                  <a:srgbClr val="0860FE"/>
                </a:solidFill>
                <a:latin typeface="CiscoSansTT"/>
                <a:ea typeface="CiscoSansTT"/>
                <a:cs typeface="CiscoSansTT"/>
              </a:defRPr>
            </a:lvl8pPr>
            <a:lvl9pPr algn="l">
              <a:defRPr sz="1650" b="0">
                <a:solidFill>
                  <a:srgbClr val="0860FE"/>
                </a:solidFill>
                <a:latin typeface="CiscoSansTT"/>
                <a:ea typeface="CiscoSansTT"/>
                <a:cs typeface="CiscoSansTT"/>
              </a:defRPr>
            </a:lvl9pPr>
          </a:lstStyle>
          <a:p>
            <a:pPr algn="l">
              <a:defRPr sz="1650" b="0">
                <a:solidFill>
                  <a:srgbClr val="0860FE"/>
                </a:solidFill>
                <a:latin typeface="CiscoSansTT"/>
                <a:ea typeface="CiscoSansTT"/>
                <a:cs typeface="CiscoSansTT"/>
              </a:defRPr>
            </a:pPr>
            <a:r>
              <a:rPr sz="1650" b="0">
                <a:solidFill>
                  <a:srgbClr val="0860FE"/>
                </a:solidFill>
                <a:latin typeface="CiscoSansTT"/>
                <a:ea typeface="CiscoSansTT"/>
                <a:cs typeface="CiscoSansTT"/>
              </a:rPr>
              <a:t>Conflict test: OBI v0.13.0 with optional TC network collection enabled.</a:t>
            </a:r>
          </a:p>
        </p:txBody>
      </p:sp>
    </p:spTree>
    <p:extLst>
      <p:ext uri="{BB962C8B-B14F-4D97-AF65-F5344CB8AC3E}">
        <p14:creationId xmlns:p14="http://schemas.microsoft.com/office/powerpoint/2010/main" val="1735774523"/>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
        <p:nvSpPr>
          <p:cNvPr id="7" name="legacy-scope-14">
            <a:extLst>
              <a:ext uri="{FF2B5EF4-FFF2-40B4-BE49-F238E27FC236}">
                <a16:creationId xmlns:a16="http://schemas.microsoft.com/office/drawing/2014/main" id="{43A08D25-20BE-438B-99EE-112AAA72E1E6}"/>
              </a:ext>
            </a:extLst>
          </p:cNvPr>
          <p:cNvSpPr>
            <a:spLocks noGrp="1"/>
          </p:cNvSpPr>
          <p:nvPr/>
        </p:nvSpPr>
        <p:spPr>
          <a:xfrm>
            <a:off x="1524000" y="933450"/>
            <a:ext cx="10096500" cy="247650"/>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a:solidFill>
                  <a:srgbClr val="0860FE"/>
                </a:solidFill>
                <a:latin typeface="CiscoSansTT"/>
                <a:ea typeface="CiscoSansTT"/>
                <a:cs typeface="CiscoSansTT"/>
              </a:rPr>
              <a:t>Conflict test: OBI v0.13.0 with optional TC network collection enabled.</a:t>
            </a:r>
          </a:p>
        </p:txBody>
      </p:sp>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rPr lang="en-US" dirty="0"/>
              <a:t>Demo</a:t>
            </a:r>
            <a:br>
              <a:rPr lang="en-US" dirty="0"/>
            </a:br>
            <a:r>
              <a:rPr lang="en-US" dirty="0"/>
              <a:t>O</a:t>
            </a:r>
            <a:r>
              <a:rPr dirty="0"/>
              <a:t>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1D9519B1-DD3C-456B-88F7-9C043015AC4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2" name="traffic-generator">
            <a:extLst>
              <a:ext uri="{FF2B5EF4-FFF2-40B4-BE49-F238E27FC236}">
                <a16:creationId xmlns:a16="http://schemas.microsoft.com/office/drawing/2014/main" id="{B2013DE7-A00A-46FB-9D6E-381B133F5F7D}"/>
              </a:ext>
            </a:extLst>
          </p:cNvPr>
          <p:cNvSpPr>
            <a:spLocks noGrp="1"/>
          </p:cNvSpPr>
          <p:nvPr/>
        </p:nvSpPr>
        <p:spPr>
          <a:xfrm>
            <a:off x="476250" y="1885950"/>
            <a:ext cx="1428750" cy="723900"/>
          </a:xfrm>
          <a:prstGeom prst="roundRect">
            <a:avLst>
              <a:gd name="adj" fmla="val 9211"/>
            </a:avLst>
          </a:prstGeom>
          <a:solidFill>
            <a:srgbClr val="F4F6F7"/>
          </a:solidFill>
          <a:ln w="11906">
            <a:solidFill>
              <a:srgbClr val="686B6B"/>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traffic</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generator</a:t>
            </a:r>
          </a:p>
        </p:txBody>
      </p:sp>
      <p:sp>
        <p:nvSpPr>
          <p:cNvPr id="23" name="edge-nginx">
            <a:extLst>
              <a:ext uri="{FF2B5EF4-FFF2-40B4-BE49-F238E27FC236}">
                <a16:creationId xmlns:a16="http://schemas.microsoft.com/office/drawing/2014/main" id="{79A1E394-24BB-4C32-B7A7-6794D977F69F}"/>
              </a:ext>
            </a:extLst>
          </p:cNvPr>
          <p:cNvSpPr>
            <a:spLocks noGrp="1"/>
          </p:cNvSpPr>
          <p:nvPr/>
        </p:nvSpPr>
        <p:spPr>
          <a:xfrm>
            <a:off x="2571750" y="1885950"/>
            <a:ext cx="1905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edge-nginx</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entry proxy</a:t>
            </a:r>
          </a:p>
        </p:txBody>
      </p:sp>
      <p:sp>
        <p:nvSpPr>
          <p:cNvPr id="24" name="recommendations-v2">
            <a:extLst>
              <a:ext uri="{FF2B5EF4-FFF2-40B4-BE49-F238E27FC236}">
                <a16:creationId xmlns:a16="http://schemas.microsoft.com/office/drawing/2014/main" id="{018165D8-0175-4909-947E-574496E1811A}"/>
              </a:ext>
            </a:extLst>
          </p:cNvPr>
          <p:cNvSpPr>
            <a:spLocks noGrp="1"/>
          </p:cNvSpPr>
          <p:nvPr/>
        </p:nvSpPr>
        <p:spPr>
          <a:xfrm>
            <a:off x="5524500" y="1885950"/>
            <a:ext cx="257175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recommendations-v2</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newer tier</a:t>
            </a:r>
          </a:p>
        </p:txBody>
      </p:sp>
      <p:sp>
        <p:nvSpPr>
          <p:cNvPr id="25" name="recommendations-v1">
            <a:extLst>
              <a:ext uri="{FF2B5EF4-FFF2-40B4-BE49-F238E27FC236}">
                <a16:creationId xmlns:a16="http://schemas.microsoft.com/office/drawing/2014/main" id="{B2DF36A6-DCA1-49DD-9757-0C200CD1CF32}"/>
              </a:ext>
            </a:extLst>
          </p:cNvPr>
          <p:cNvSpPr>
            <a:spLocks noGrp="1"/>
          </p:cNvSpPr>
          <p:nvPr/>
        </p:nvSpPr>
        <p:spPr>
          <a:xfrm>
            <a:off x="8953500" y="1885950"/>
            <a:ext cx="2667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recommendations-v1</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legacy backend</a:t>
            </a:r>
          </a:p>
        </p:txBody>
      </p:sp>
      <p:sp>
        <p:nvSpPr>
          <p:cNvPr id="34" name="observation-scope">
            <a:extLst>
              <a:ext uri="{FF2B5EF4-FFF2-40B4-BE49-F238E27FC236}">
                <a16:creationId xmlns:a16="http://schemas.microsoft.com/office/drawing/2014/main" id="{47F7DE59-9BE9-4EF6-B38F-97B0FA0597B4}"/>
              </a:ext>
            </a:extLst>
          </p:cNvPr>
          <p:cNvSpPr>
            <a:spLocks noGrp="1"/>
          </p:cNvSpPr>
          <p:nvPr/>
        </p:nvSpPr>
        <p:spPr>
          <a:xfrm>
            <a:off x="619125" y="3571875"/>
            <a:ext cx="10953750" cy="3619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buNone/>
              <a:defRPr sz="1800" b="1">
                <a:solidFill>
                  <a:srgbClr val="07182A"/>
                </a:solidFill>
                <a:latin typeface="CiscoSansTT Medium"/>
                <a:ea typeface="CiscoSansTT Medium"/>
                <a:cs typeface="CiscoSansTT Medium"/>
              </a:defRPr>
            </a:lvl1pPr>
            <a:lvl2pPr algn="ctr">
              <a:buNone/>
              <a:defRPr sz="1800" b="1">
                <a:solidFill>
                  <a:srgbClr val="07182A"/>
                </a:solidFill>
                <a:latin typeface="CiscoSansTT Medium"/>
                <a:ea typeface="CiscoSansTT Medium"/>
                <a:cs typeface="CiscoSansTT Medium"/>
              </a:defRPr>
            </a:lvl2pPr>
            <a:lvl3pPr algn="ctr">
              <a:buNone/>
              <a:defRPr sz="1800" b="1">
                <a:solidFill>
                  <a:srgbClr val="07182A"/>
                </a:solidFill>
                <a:latin typeface="CiscoSansTT Medium"/>
                <a:ea typeface="CiscoSansTT Medium"/>
                <a:cs typeface="CiscoSansTT Medium"/>
              </a:defRPr>
            </a:lvl3pPr>
            <a:lvl4pPr algn="ctr">
              <a:buNone/>
              <a:defRPr sz="1800" b="1">
                <a:solidFill>
                  <a:srgbClr val="07182A"/>
                </a:solidFill>
                <a:latin typeface="CiscoSansTT Medium"/>
                <a:ea typeface="CiscoSansTT Medium"/>
                <a:cs typeface="CiscoSansTT Medium"/>
              </a:defRPr>
            </a:lvl4pPr>
            <a:lvl5pPr algn="ctr">
              <a:buNone/>
              <a:defRPr sz="1800" b="1">
                <a:solidFill>
                  <a:srgbClr val="07182A"/>
                </a:solidFill>
                <a:latin typeface="CiscoSansTT Medium"/>
                <a:ea typeface="CiscoSansTT Medium"/>
                <a:cs typeface="CiscoSansTT Medium"/>
              </a:defRPr>
            </a:lvl5pPr>
            <a:lvl6pPr algn="ctr">
              <a:buNone/>
              <a:defRPr sz="1800" b="1">
                <a:solidFill>
                  <a:srgbClr val="07182A"/>
                </a:solidFill>
                <a:latin typeface="CiscoSansTT Medium"/>
                <a:ea typeface="CiscoSansTT Medium"/>
                <a:cs typeface="CiscoSansTT Medium"/>
              </a:defRPr>
            </a:lvl6pPr>
            <a:lvl7pPr algn="ctr">
              <a:buNone/>
              <a:defRPr sz="1800" b="1">
                <a:solidFill>
                  <a:srgbClr val="07182A"/>
                </a:solidFill>
                <a:latin typeface="CiscoSansTT Medium"/>
                <a:ea typeface="CiscoSansTT Medium"/>
                <a:cs typeface="CiscoSansTT Medium"/>
              </a:defRPr>
            </a:lvl7pPr>
            <a:lvl8pPr algn="ctr">
              <a:buNone/>
              <a:defRPr sz="1800" b="1">
                <a:solidFill>
                  <a:srgbClr val="07182A"/>
                </a:solidFill>
                <a:latin typeface="CiscoSansTT Medium"/>
                <a:ea typeface="CiscoSansTT Medium"/>
                <a:cs typeface="CiscoSansTT Medium"/>
              </a:defRPr>
            </a:lvl8pPr>
            <a:lvl9pPr algn="ctr">
              <a:buNone/>
              <a:defRPr sz="1800" b="1">
                <a:solidFill>
                  <a:srgbClr val="07182A"/>
                </a:solidFill>
                <a:latin typeface="CiscoSansTT Medium"/>
                <a:ea typeface="CiscoSansTT Medium"/>
                <a:cs typeface="CiscoSansTT Medium"/>
              </a:defRPr>
            </a:lvl9p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a:ext uri="{FF2B5EF4-FFF2-40B4-BE49-F238E27FC236}">
                <a16:creationId xmlns:a16="http://schemas.microsoft.com/office/drawing/2014/main" id="{1EAADB6A-C90D-4C28-A778-DCCA3FBA54A3}"/>
              </a:ext>
            </a:extLst>
          </p:cNvPr>
          <p:cNvSpPr>
            <a:spLocks noGrp="1"/>
          </p:cNvSpPr>
          <p:nvPr/>
        </p:nvSpPr>
        <p:spPr>
          <a:xfrm>
            <a:off x="666750" y="4095750"/>
            <a:ext cx="3238500" cy="495300"/>
          </a:xfrm>
          <a:prstGeom prst="roundRect">
            <a:avLst>
              <a:gd name="adj" fmla="val 13462"/>
            </a:avLst>
          </a:prstGeom>
          <a:solidFill>
            <a:srgbClr val="F6ECF5"/>
          </a:solidFill>
          <a:ln w="11906">
            <a:solidFill>
              <a:srgbClr val="FF007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OBI: traces + RED metrics</a:t>
            </a:r>
          </a:p>
        </p:txBody>
      </p:sp>
      <p:sp>
        <p:nvSpPr>
          <p:cNvPr id="36" name="hubble-metrics-export">
            <a:extLst>
              <a:ext uri="{FF2B5EF4-FFF2-40B4-BE49-F238E27FC236}">
                <a16:creationId xmlns:a16="http://schemas.microsoft.com/office/drawing/2014/main" id="{88C21540-6E3B-4709-AC82-8BAA7B5FCB66}"/>
              </a:ext>
            </a:extLst>
          </p:cNvPr>
          <p:cNvSpPr>
            <a:spLocks noGrp="1"/>
          </p:cNvSpPr>
          <p:nvPr/>
        </p:nvSpPr>
        <p:spPr>
          <a:xfrm>
            <a:off x="666750" y="4857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a:ext uri="{FF2B5EF4-FFF2-40B4-BE49-F238E27FC236}">
                <a16:creationId xmlns:a16="http://schemas.microsoft.com/office/drawing/2014/main" id="{BD3F4742-71FC-43B3-8587-FAE799739BBD}"/>
              </a:ext>
            </a:extLst>
          </p:cNvPr>
          <p:cNvSpPr>
            <a:spLocks noGrp="1"/>
          </p:cNvSpPr>
          <p:nvPr/>
        </p:nvSpPr>
        <p:spPr>
          <a:xfrm>
            <a:off x="666750" y="5619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a:ext uri="{FF2B5EF4-FFF2-40B4-BE49-F238E27FC236}">
                <a16:creationId xmlns:a16="http://schemas.microsoft.com/office/drawing/2014/main" id="{F80404ED-2315-4A13-AD67-564A35FBF9AA}"/>
              </a:ext>
            </a:extLst>
          </p:cNvPr>
          <p:cNvSpPr>
            <a:spLocks noGrp="1"/>
          </p:cNvSpPr>
          <p:nvPr/>
        </p:nvSpPr>
        <p:spPr>
          <a:xfrm>
            <a:off x="5715000" y="4857750"/>
            <a:ext cx="1905000" cy="495300"/>
          </a:xfrm>
          <a:prstGeom prst="roundRect">
            <a:avLst>
              <a:gd name="adj" fmla="val 13462"/>
            </a:avLst>
          </a:prstGeom>
          <a:solidFill>
            <a:srgbClr val="FFFFFF"/>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OTel Collector</a:t>
            </a:r>
          </a:p>
        </p:txBody>
      </p:sp>
      <p:sp>
        <p:nvSpPr>
          <p:cNvPr id="39" name="grafana">
            <a:extLst>
              <a:ext uri="{FF2B5EF4-FFF2-40B4-BE49-F238E27FC236}">
                <a16:creationId xmlns:a16="http://schemas.microsoft.com/office/drawing/2014/main" id="{100D82A6-2AC9-46C6-BBD3-B701D082BBE5}"/>
              </a:ext>
            </a:extLst>
          </p:cNvPr>
          <p:cNvSpPr>
            <a:spLocks noGrp="1"/>
          </p:cNvSpPr>
          <p:nvPr/>
        </p:nvSpPr>
        <p:spPr>
          <a:xfrm>
            <a:off x="9525000" y="4095750"/>
            <a:ext cx="2095500" cy="1257300"/>
          </a:xfrm>
          <a:prstGeom prst="roundRect">
            <a:avLst>
              <a:gd name="adj" fmla="val 5303"/>
            </a:avLst>
          </a:prstGeom>
          <a:solidFill>
            <a:srgbClr val="F4F6F7"/>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buNone/>
              <a:defRPr sz="1725" b="0">
                <a:solidFill>
                  <a:srgbClr val="07182A"/>
                </a:solidFill>
                <a:latin typeface="CiscoSansTT"/>
                <a:ea typeface="CiscoSansTT"/>
                <a:cs typeface="CiscoSansTT"/>
              </a:defRPr>
            </a:lvl1pPr>
            <a:lvl2pPr algn="ctr">
              <a:buNone/>
              <a:defRPr sz="1725" b="0">
                <a:solidFill>
                  <a:srgbClr val="07182A"/>
                </a:solidFill>
                <a:latin typeface="CiscoSansTT"/>
                <a:ea typeface="CiscoSansTT"/>
                <a:cs typeface="CiscoSansTT"/>
              </a:defRPr>
            </a:lvl2pPr>
            <a:lvl3pPr algn="ctr">
              <a:buNone/>
              <a:defRPr sz="1725" b="0">
                <a:solidFill>
                  <a:srgbClr val="07182A"/>
                </a:solidFill>
                <a:latin typeface="CiscoSansTT"/>
                <a:ea typeface="CiscoSansTT"/>
                <a:cs typeface="CiscoSansTT"/>
              </a:defRPr>
            </a:lvl3pPr>
            <a:lvl4pPr algn="ctr">
              <a:buNone/>
              <a:defRPr sz="1725" b="0">
                <a:solidFill>
                  <a:srgbClr val="07182A"/>
                </a:solidFill>
                <a:latin typeface="CiscoSansTT"/>
                <a:ea typeface="CiscoSansTT"/>
                <a:cs typeface="CiscoSansTT"/>
              </a:defRPr>
            </a:lvl4pPr>
            <a:lvl5pPr algn="ctr">
              <a:buNone/>
              <a:defRPr sz="1725" b="0">
                <a:solidFill>
                  <a:srgbClr val="07182A"/>
                </a:solidFill>
                <a:latin typeface="CiscoSansTT"/>
                <a:ea typeface="CiscoSansTT"/>
                <a:cs typeface="CiscoSansTT"/>
              </a:defRPr>
            </a:lvl5pPr>
            <a:lvl6pPr algn="ctr">
              <a:buNone/>
              <a:defRPr sz="1725" b="0">
                <a:solidFill>
                  <a:srgbClr val="07182A"/>
                </a:solidFill>
                <a:latin typeface="CiscoSansTT"/>
                <a:ea typeface="CiscoSansTT"/>
                <a:cs typeface="CiscoSansTT"/>
              </a:defRPr>
            </a:lvl6pPr>
            <a:lvl7pPr algn="ctr">
              <a:buNone/>
              <a:defRPr sz="1725" b="0">
                <a:solidFill>
                  <a:srgbClr val="07182A"/>
                </a:solidFill>
                <a:latin typeface="CiscoSansTT"/>
                <a:ea typeface="CiscoSansTT"/>
                <a:cs typeface="CiscoSansTT"/>
              </a:defRPr>
            </a:lvl7pPr>
            <a:lvl8pPr algn="ctr">
              <a:buNone/>
              <a:defRPr sz="1725" b="0">
                <a:solidFill>
                  <a:srgbClr val="07182A"/>
                </a:solidFill>
                <a:latin typeface="CiscoSansTT"/>
                <a:ea typeface="CiscoSansTT"/>
                <a:cs typeface="CiscoSansTT"/>
              </a:defRPr>
            </a:lvl8pPr>
            <a:lvl9pPr algn="ctr">
              <a:buNone/>
              <a:defRPr sz="1725" b="0">
                <a:solidFill>
                  <a:srgbClr val="07182A"/>
                </a:solidFill>
                <a:latin typeface="CiscoSansTT"/>
                <a:ea typeface="CiscoSansTT"/>
                <a:cs typeface="CiscoSansTT"/>
              </a:defRPr>
            </a:lvl9pPr>
          </a:lstStyle>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Grafana</a:t>
            </a:r>
          </a:p>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 metrics</a:t>
            </a:r>
          </a:p>
        </p:txBody>
      </p:sp>
      <p:sp>
        <p:nvSpPr>
          <p:cNvPr id="40" name="hubble-cli-ui">
            <a:extLst>
              <a:ext uri="{FF2B5EF4-FFF2-40B4-BE49-F238E27FC236}">
                <a16:creationId xmlns:a16="http://schemas.microsoft.com/office/drawing/2014/main" id="{7B9348D4-B364-49AC-A11D-7C853FE2500F}"/>
              </a:ext>
            </a:extLst>
          </p:cNvPr>
          <p:cNvSpPr>
            <a:spLocks noGrp="1"/>
          </p:cNvSpPr>
          <p:nvPr/>
        </p:nvSpPr>
        <p:spPr>
          <a:xfrm>
            <a:off x="9525000" y="5619750"/>
            <a:ext cx="2095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UI</a:t>
            </a:r>
          </a:p>
        </p:txBody>
      </p:sp>
      <p:cxnSp>
        <p:nvCxnSpPr>
          <p:cNvPr id="41" name="obi-to-grafana">
            <a:extLst>
              <a:ext uri="{FF2B5EF4-FFF2-40B4-BE49-F238E27FC236}">
                <a16:creationId xmlns:a16="http://schemas.microsoft.com/office/drawing/2014/main" id="{8B4B15AC-3DCF-44DD-A9BD-574ED9D70F2A}"/>
              </a:ext>
            </a:extLst>
          </p:cNvPr>
          <p:cNvCxnSpPr/>
          <p:nvPr/>
        </p:nvCxnSpPr>
        <p:spPr>
          <a:xfrm>
            <a:off x="3905250" y="4343400"/>
            <a:ext cx="5619750" cy="0"/>
          </a:xfrm>
          <a:prstGeom prst="straightConnector1">
            <a:avLst/>
          </a:prstGeom>
          <a:ln w="19050">
            <a:solidFill>
              <a:srgbClr val="FF007F"/>
            </a:solidFill>
            <a:prstDash val="solid"/>
            <a:tailEnd type="arrow" w="med" len="med"/>
          </a:ln>
        </p:spPr>
      </p:cxnSp>
      <p:cxnSp>
        <p:nvCxnSpPr>
          <p:cNvPr id="42" name="metrics-to-collector">
            <a:extLst>
              <a:ext uri="{FF2B5EF4-FFF2-40B4-BE49-F238E27FC236}">
                <a16:creationId xmlns:a16="http://schemas.microsoft.com/office/drawing/2014/main" id="{E2120A30-7D9B-4192-BD06-1659272AE903}"/>
              </a:ext>
            </a:extLst>
          </p:cNvPr>
          <p:cNvCxnSpPr/>
          <p:nvPr/>
        </p:nvCxnSpPr>
        <p:spPr>
          <a:xfrm>
            <a:off x="3905250" y="5105400"/>
            <a:ext cx="1809750" cy="0"/>
          </a:xfrm>
          <a:prstGeom prst="straightConnector1">
            <a:avLst/>
          </a:prstGeom>
          <a:ln w="19050">
            <a:solidFill>
              <a:srgbClr val="0860FE"/>
            </a:solidFill>
            <a:prstDash val="solid"/>
            <a:tailEnd type="arrow" w="med" len="med"/>
          </a:ln>
        </p:spPr>
      </p:cxnSp>
      <p:cxnSp>
        <p:nvCxnSpPr>
          <p:cNvPr id="43" name="collector-to-grafana">
            <a:extLst>
              <a:ext uri="{FF2B5EF4-FFF2-40B4-BE49-F238E27FC236}">
                <a16:creationId xmlns:a16="http://schemas.microsoft.com/office/drawing/2014/main" id="{85349D30-0D5D-432E-83C7-AAB474BC4990}"/>
              </a:ext>
            </a:extLst>
          </p:cNvPr>
          <p:cNvCxnSpPr/>
          <p:nvPr/>
        </p:nvCxnSpPr>
        <p:spPr>
          <a:xfrm>
            <a:off x="7620000" y="5105400"/>
            <a:ext cx="1905000" cy="0"/>
          </a:xfrm>
          <a:prstGeom prst="straightConnector1">
            <a:avLst/>
          </a:prstGeom>
          <a:ln w="19050">
            <a:solidFill>
              <a:srgbClr val="0860FE"/>
            </a:solidFill>
            <a:prstDash val="solid"/>
            <a:tailEnd type="arrow" w="med" len="med"/>
          </a:ln>
        </p:spPr>
      </p:cxnSp>
      <p:cxnSp>
        <p:nvCxnSpPr>
          <p:cNvPr id="44" name="flows-to-ui">
            <a:extLst>
              <a:ext uri="{FF2B5EF4-FFF2-40B4-BE49-F238E27FC236}">
                <a16:creationId xmlns:a16="http://schemas.microsoft.com/office/drawing/2014/main" id="{FD8B1710-CB3A-433D-8434-1DC83819AA22}"/>
              </a:ext>
            </a:extLst>
          </p:cNvPr>
          <p:cNvCxnSpPr/>
          <p:nvPr/>
        </p:nvCxnSpPr>
        <p:spPr>
          <a:xfrm>
            <a:off x="3905250" y="5867400"/>
            <a:ext cx="5619750" cy="0"/>
          </a:xfrm>
          <a:prstGeom prst="straightConnector1">
            <a:avLst/>
          </a:prstGeom>
          <a:ln w="19050">
            <a:solidFill>
              <a:srgbClr val="0860FE"/>
            </a:solidFill>
            <a:prstDash val="solid"/>
            <a:tailEnd type="arrow" w="med" len="med"/>
          </a:ln>
        </p:spPr>
      </p:cxnSp>
      <p:sp>
        <p:nvSpPr>
          <p:cNvPr id="45" name="rollout-route">
            <a:extLst>
              <a:ext uri="{FF2B5EF4-FFF2-40B4-BE49-F238E27FC236}">
                <a16:creationId xmlns:a16="http://schemas.microsoft.com/office/drawing/2014/main" id="{4B4B4BAE-D60A-4F3B-A61A-6FC626E30F50}"/>
              </a:ext>
            </a:extLst>
          </p:cNvPr>
          <p:cNvSpPr>
            <a:spLocks noGrp="1"/>
          </p:cNvSpPr>
          <p:nvPr/>
        </p:nvSpPr>
        <p:spPr>
          <a:xfrm>
            <a:off x="5476875" y="1438275"/>
            <a:ext cx="6096000" cy="342900"/>
          </a:xfrm>
          <a:prstGeom prst="rect">
            <a:avLst/>
          </a:prstGeom>
          <a:noFill/>
          <a:ln w="0">
            <a:noFill/>
          </a:ln>
        </p:spPr>
        <p:txBody>
          <a:bodyPr anchor="ctr">
            <a:noAutofit/>
          </a:bodyPr>
          <a:lstStyle>
            <a:defPPr algn="ctr">
              <a:defRPr sz="1575" b="0">
                <a:solidFill>
                  <a:srgbClr val="0860FE"/>
                </a:solidFill>
                <a:latin typeface="CiscoSansTT"/>
                <a:ea typeface="CiscoSansTT"/>
                <a:cs typeface="CiscoSansTT"/>
              </a:defRPr>
            </a:defPPr>
            <a:lvl1pPr algn="ctr">
              <a:defRPr sz="1575" b="0">
                <a:solidFill>
                  <a:srgbClr val="0860FE"/>
                </a:solidFill>
                <a:latin typeface="CiscoSansTT"/>
                <a:ea typeface="CiscoSansTT"/>
                <a:cs typeface="CiscoSansTT"/>
              </a:defRPr>
            </a:lvl1pPr>
            <a:lvl2pPr algn="ctr">
              <a:defRPr sz="1575" b="0">
                <a:solidFill>
                  <a:srgbClr val="0860FE"/>
                </a:solidFill>
                <a:latin typeface="CiscoSansTT"/>
                <a:ea typeface="CiscoSansTT"/>
                <a:cs typeface="CiscoSansTT"/>
              </a:defRPr>
            </a:lvl2pPr>
            <a:lvl3pPr algn="ctr">
              <a:defRPr sz="1575" b="0">
                <a:solidFill>
                  <a:srgbClr val="0860FE"/>
                </a:solidFill>
                <a:latin typeface="CiscoSansTT"/>
                <a:ea typeface="CiscoSansTT"/>
                <a:cs typeface="CiscoSansTT"/>
              </a:defRPr>
            </a:lvl3pPr>
            <a:lvl4pPr algn="ctr">
              <a:defRPr sz="1575" b="0">
                <a:solidFill>
                  <a:srgbClr val="0860FE"/>
                </a:solidFill>
                <a:latin typeface="CiscoSansTT"/>
                <a:ea typeface="CiscoSansTT"/>
                <a:cs typeface="CiscoSansTT"/>
              </a:defRPr>
            </a:lvl4pPr>
            <a:lvl5pPr algn="ctr">
              <a:defRPr sz="1575" b="0">
                <a:solidFill>
                  <a:srgbClr val="0860FE"/>
                </a:solidFill>
                <a:latin typeface="CiscoSansTT"/>
                <a:ea typeface="CiscoSansTT"/>
                <a:cs typeface="CiscoSansTT"/>
              </a:defRPr>
            </a:lvl5pPr>
            <a:lvl6pPr algn="ctr">
              <a:defRPr sz="1575" b="0">
                <a:solidFill>
                  <a:srgbClr val="0860FE"/>
                </a:solidFill>
                <a:latin typeface="CiscoSansTT"/>
                <a:ea typeface="CiscoSansTT"/>
                <a:cs typeface="CiscoSansTT"/>
              </a:defRPr>
            </a:lvl6pPr>
            <a:lvl7pPr algn="ctr">
              <a:defRPr sz="1575" b="0">
                <a:solidFill>
                  <a:srgbClr val="0860FE"/>
                </a:solidFill>
                <a:latin typeface="CiscoSansTT"/>
                <a:ea typeface="CiscoSansTT"/>
                <a:cs typeface="CiscoSansTT"/>
              </a:defRPr>
            </a:lvl7pPr>
            <a:lvl8pPr algn="ctr">
              <a:defRPr sz="1575" b="0">
                <a:solidFill>
                  <a:srgbClr val="0860FE"/>
                </a:solidFill>
                <a:latin typeface="CiscoSansTT"/>
                <a:ea typeface="CiscoSansTT"/>
                <a:cs typeface="CiscoSansTT"/>
              </a:defRPr>
            </a:lvl8pPr>
            <a:lvl9pPr algn="ctr">
              <a:defRPr sz="1575" b="0">
                <a:solidFill>
                  <a:srgbClr val="0860FE"/>
                </a:solidFill>
                <a:latin typeface="CiscoSansTT"/>
                <a:ea typeface="CiscoSansTT"/>
                <a:cs typeface="CiscoSansTT"/>
              </a:defRPr>
            </a:lvl9pPr>
          </a:lstStyle>
          <a:p>
            <a:pPr algn="ctr">
              <a:defRPr sz="1575" b="0">
                <a:solidFill>
                  <a:srgbClr val="0860FE"/>
                </a:solidFill>
                <a:latin typeface="CiscoSansTT"/>
                <a:ea typeface="CiscoSansTT"/>
                <a:cs typeface="CiscoSansTT"/>
              </a:defRPr>
            </a:pPr>
            <a:r>
              <a:rPr sz="1575" b="0">
                <a:solidFill>
                  <a:srgbClr val="0860FE"/>
                </a:solidFill>
                <a:latin typeface="CiscoSansTT"/>
                <a:ea typeface="CiscoSansTT"/>
                <a:cs typeface="CiscoSansTT"/>
              </a:rPr>
              <a:t>Rollout request</a:t>
            </a:r>
          </a:p>
        </p:txBody>
      </p:sp>
      <p:cxnSp>
        <p:nvCxnSpPr>
          <p:cNvPr id="46" name="generator-to-edge">
            <a:extLst>
              <a:ext uri="{FF2B5EF4-FFF2-40B4-BE49-F238E27FC236}">
                <a16:creationId xmlns:a16="http://schemas.microsoft.com/office/drawing/2014/main" id="{C1752FA4-1A6C-4F0A-9305-70936FAFF8A5}"/>
              </a:ext>
            </a:extLst>
          </p:cNvPr>
          <p:cNvCxnSpPr/>
          <p:nvPr/>
        </p:nvCxnSpPr>
        <p:spPr>
          <a:xfrm>
            <a:off x="1905000" y="2247900"/>
            <a:ext cx="666750" cy="0"/>
          </a:xfrm>
          <a:prstGeom prst="straightConnector1">
            <a:avLst/>
          </a:prstGeom>
          <a:ln w="19050">
            <a:solidFill>
              <a:srgbClr val="686B6B"/>
            </a:solidFill>
            <a:tailEnd type="arrow" w="med" len="med"/>
          </a:ln>
        </p:spPr>
      </p:cxnSp>
      <p:cxnSp>
        <p:nvCxnSpPr>
          <p:cNvPr id="47" name="edge-to-v2">
            <a:extLst>
              <a:ext uri="{FF2B5EF4-FFF2-40B4-BE49-F238E27FC236}">
                <a16:creationId xmlns:a16="http://schemas.microsoft.com/office/drawing/2014/main" id="{4EE3E7E5-D667-41CC-B365-7B0034F8BA6D}"/>
              </a:ext>
            </a:extLst>
          </p:cNvPr>
          <p:cNvCxnSpPr/>
          <p:nvPr/>
        </p:nvCxnSpPr>
        <p:spPr>
          <a:xfrm>
            <a:off x="4476750" y="2247900"/>
            <a:ext cx="1047750" cy="0"/>
          </a:xfrm>
          <a:prstGeom prst="straightConnector1">
            <a:avLst/>
          </a:prstGeom>
          <a:ln w="19050">
            <a:solidFill>
              <a:srgbClr val="0860FE"/>
            </a:solidFill>
            <a:tailEnd type="arrow" w="med" len="med"/>
          </a:ln>
        </p:spPr>
      </p:cxnSp>
      <p:cxnSp>
        <p:nvCxnSpPr>
          <p:cNvPr id="48" name="v2-to-v1">
            <a:extLst>
              <a:ext uri="{FF2B5EF4-FFF2-40B4-BE49-F238E27FC236}">
                <a16:creationId xmlns:a16="http://schemas.microsoft.com/office/drawing/2014/main" id="{8816EF8F-63BD-4288-98FD-203A932107B8}"/>
              </a:ext>
            </a:extLst>
          </p:cNvPr>
          <p:cNvCxnSpPr/>
          <p:nvPr/>
        </p:nvCxnSpPr>
        <p:spPr>
          <a:xfrm>
            <a:off x="8096250" y="2247900"/>
            <a:ext cx="857250" cy="0"/>
          </a:xfrm>
          <a:prstGeom prst="straightConnector1">
            <a:avLst/>
          </a:prstGeom>
          <a:ln w="19050">
            <a:solidFill>
              <a:srgbClr val="0860FE"/>
            </a:solidFill>
            <a:tailEnd type="arrow" w="med" len="med"/>
          </a:ln>
        </p:spPr>
      </p:cxnSp>
      <p:cxnSp>
        <p:nvCxnSpPr>
          <p:cNvPr id="49" name="direct-v1-down">
            <a:extLst>
              <a:ext uri="{FF2B5EF4-FFF2-40B4-BE49-F238E27FC236}">
                <a16:creationId xmlns:a16="http://schemas.microsoft.com/office/drawing/2014/main" id="{B0D77129-90AF-48F7-A6CF-649FB49AE727}"/>
              </a:ext>
            </a:extLst>
          </p:cNvPr>
          <p:cNvCxnSpPr/>
          <p:nvPr/>
        </p:nvCxnSpPr>
        <p:spPr>
          <a:xfrm>
            <a:off x="3524250" y="2609850"/>
            <a:ext cx="0" cy="466725"/>
          </a:xfrm>
          <a:prstGeom prst="straightConnector1">
            <a:avLst/>
          </a:prstGeom>
          <a:ln w="19050">
            <a:solidFill>
              <a:srgbClr val="FF8A00"/>
            </a:solidFill>
          </a:ln>
        </p:spPr>
      </p:cxnSp>
      <p:cxnSp>
        <p:nvCxnSpPr>
          <p:cNvPr id="50" name="direct-v1-across">
            <a:extLst>
              <a:ext uri="{FF2B5EF4-FFF2-40B4-BE49-F238E27FC236}">
                <a16:creationId xmlns:a16="http://schemas.microsoft.com/office/drawing/2014/main" id="{4BBD4F43-2FDD-4479-80DB-2E8C771F427A}"/>
              </a:ext>
            </a:extLst>
          </p:cNvPr>
          <p:cNvCxnSpPr/>
          <p:nvPr/>
        </p:nvCxnSpPr>
        <p:spPr>
          <a:xfrm>
            <a:off x="3524250" y="3076575"/>
            <a:ext cx="6762750" cy="0"/>
          </a:xfrm>
          <a:prstGeom prst="straightConnector1">
            <a:avLst/>
          </a:prstGeom>
          <a:ln w="19050">
            <a:solidFill>
              <a:srgbClr val="FF8A00"/>
            </a:solidFill>
          </a:ln>
        </p:spPr>
      </p:cxnSp>
      <p:cxnSp>
        <p:nvCxnSpPr>
          <p:cNvPr id="51" name="direct-v1-up">
            <a:extLst>
              <a:ext uri="{FF2B5EF4-FFF2-40B4-BE49-F238E27FC236}">
                <a16:creationId xmlns:a16="http://schemas.microsoft.com/office/drawing/2014/main" id="{7C026934-6D92-4E7C-B8C3-A12DCA5434B8}"/>
              </a:ext>
            </a:extLst>
          </p:cNvPr>
          <p:cNvCxnSpPr/>
          <p:nvPr/>
        </p:nvCxnSpPr>
        <p:spPr>
          <a:xfrm>
            <a:off x="10287000" y="2609850"/>
            <a:ext cx="0" cy="466725"/>
          </a:xfrm>
          <a:prstGeom prst="straightConnector1">
            <a:avLst/>
          </a:prstGeom>
          <a:ln w="19050">
            <a:solidFill>
              <a:srgbClr val="FF8A00"/>
            </a:solidFill>
            <a:headEnd type="arrow" w="med" len="med"/>
          </a:ln>
        </p:spPr>
      </p:cxnSp>
      <p:sp>
        <p:nvSpPr>
          <p:cNvPr id="52" name="direct-route-label">
            <a:extLst>
              <a:ext uri="{FF2B5EF4-FFF2-40B4-BE49-F238E27FC236}">
                <a16:creationId xmlns:a16="http://schemas.microsoft.com/office/drawing/2014/main" id="{5577A973-472B-46EB-90B8-B85789CC3886}"/>
              </a:ext>
            </a:extLst>
          </p:cNvPr>
          <p:cNvSpPr>
            <a:spLocks noGrp="1"/>
          </p:cNvSpPr>
          <p:nvPr/>
        </p:nvSpPr>
        <p:spPr>
          <a:xfrm>
            <a:off x="4095750" y="3162300"/>
            <a:ext cx="6191250" cy="314325"/>
          </a:xfrm>
          <a:prstGeom prst="rect">
            <a:avLst/>
          </a:prstGeom>
          <a:noFill/>
          <a:ln w="0">
            <a:noFill/>
          </a:ln>
        </p:spPr>
        <p:txBody>
          <a:bodyPr anchor="ctr">
            <a:noAutofit/>
          </a:bodyPr>
          <a:lstStyle>
            <a:defPPr algn="ctr">
              <a:defRPr sz="1500" b="0">
                <a:solidFill>
                  <a:srgbClr val="FF8A00"/>
                </a:solidFill>
                <a:latin typeface="CiscoSansTT"/>
                <a:ea typeface="CiscoSansTT"/>
                <a:cs typeface="CiscoSansTT"/>
              </a:defRPr>
            </a:defPPr>
            <a:lvl1pPr algn="ctr">
              <a:defRPr sz="1500" b="0">
                <a:solidFill>
                  <a:srgbClr val="FF8A00"/>
                </a:solidFill>
                <a:latin typeface="CiscoSansTT"/>
                <a:ea typeface="CiscoSansTT"/>
                <a:cs typeface="CiscoSansTT"/>
              </a:defRPr>
            </a:lvl1pPr>
            <a:lvl2pPr algn="ctr">
              <a:defRPr sz="1500" b="0">
                <a:solidFill>
                  <a:srgbClr val="FF8A00"/>
                </a:solidFill>
                <a:latin typeface="CiscoSansTT"/>
                <a:ea typeface="CiscoSansTT"/>
                <a:cs typeface="CiscoSansTT"/>
              </a:defRPr>
            </a:lvl2pPr>
            <a:lvl3pPr algn="ctr">
              <a:defRPr sz="1500" b="0">
                <a:solidFill>
                  <a:srgbClr val="FF8A00"/>
                </a:solidFill>
                <a:latin typeface="CiscoSansTT"/>
                <a:ea typeface="CiscoSansTT"/>
                <a:cs typeface="CiscoSansTT"/>
              </a:defRPr>
            </a:lvl3pPr>
            <a:lvl4pPr algn="ctr">
              <a:defRPr sz="1500" b="0">
                <a:solidFill>
                  <a:srgbClr val="FF8A00"/>
                </a:solidFill>
                <a:latin typeface="CiscoSansTT"/>
                <a:ea typeface="CiscoSansTT"/>
                <a:cs typeface="CiscoSansTT"/>
              </a:defRPr>
            </a:lvl4pPr>
            <a:lvl5pPr algn="ctr">
              <a:defRPr sz="1500" b="0">
                <a:solidFill>
                  <a:srgbClr val="FF8A00"/>
                </a:solidFill>
                <a:latin typeface="CiscoSansTT"/>
                <a:ea typeface="CiscoSansTT"/>
                <a:cs typeface="CiscoSansTT"/>
              </a:defRPr>
            </a:lvl5pPr>
            <a:lvl6pPr algn="ctr">
              <a:defRPr sz="1500" b="0">
                <a:solidFill>
                  <a:srgbClr val="FF8A00"/>
                </a:solidFill>
                <a:latin typeface="CiscoSansTT"/>
                <a:ea typeface="CiscoSansTT"/>
                <a:cs typeface="CiscoSansTT"/>
              </a:defRPr>
            </a:lvl6pPr>
            <a:lvl7pPr algn="ctr">
              <a:defRPr sz="1500" b="0">
                <a:solidFill>
                  <a:srgbClr val="FF8A00"/>
                </a:solidFill>
                <a:latin typeface="CiscoSansTT"/>
                <a:ea typeface="CiscoSansTT"/>
                <a:cs typeface="CiscoSansTT"/>
              </a:defRPr>
            </a:lvl7pPr>
            <a:lvl8pPr algn="ctr">
              <a:defRPr sz="1500" b="0">
                <a:solidFill>
                  <a:srgbClr val="FF8A00"/>
                </a:solidFill>
                <a:latin typeface="CiscoSansTT"/>
                <a:ea typeface="CiscoSansTT"/>
                <a:cs typeface="CiscoSansTT"/>
              </a:defRPr>
            </a:lvl8pPr>
            <a:lvl9pPr algn="ctr">
              <a:defRPr sz="1500" b="0">
                <a:solidFill>
                  <a:srgbClr val="FF8A00"/>
                </a:solidFill>
                <a:latin typeface="CiscoSansTT"/>
                <a:ea typeface="CiscoSansTT"/>
                <a:cs typeface="CiscoSansTT"/>
              </a:defRPr>
            </a:lvl9pPr>
          </a:lstStyle>
          <a:p>
            <a:pPr algn="ctr">
              <a:defRPr sz="1500" b="0">
                <a:solidFill>
                  <a:srgbClr val="FF8A00"/>
                </a:solidFill>
                <a:latin typeface="CiscoSansTT"/>
                <a:ea typeface="CiscoSansTT"/>
                <a:cs typeface="CiscoSansTT"/>
              </a:defRPr>
            </a:pPr>
            <a:r>
              <a:rPr sz="1500" b="0">
                <a:solidFill>
                  <a:srgbClr val="FF8A00"/>
                </a:solidFill>
                <a:latin typeface="CiscoSansTT"/>
                <a:ea typeface="CiscoSansTT"/>
                <a:cs typeface="CiscoSansTT"/>
              </a:rPr>
              <a:t>Direct request to v1, used in the denial demo</a:t>
            </a:r>
          </a:p>
        </p:txBody>
      </p:sp>
    </p:spTree>
    <p:extLst>
      <p:ext uri="{BB962C8B-B14F-4D97-AF65-F5344CB8AC3E}">
        <p14:creationId xmlns:p14="http://schemas.microsoft.com/office/powerpoint/2010/main" val="30099115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lang="en-US" sz="3000" b="1" dirty="0">
                <a:solidFill>
                  <a:srgbClr val="07182A"/>
                </a:solidFill>
                <a:latin typeface="CiscoSansTT Medium"/>
                <a:ea typeface="CiscoSansTT Medium"/>
                <a:cs typeface="CiscoSansTT Medium"/>
              </a:rPr>
              <a:t>P</a:t>
            </a:r>
            <a:r>
              <a:rPr sz="3000" b="1" dirty="0">
                <a:solidFill>
                  <a:srgbClr val="07182A"/>
                </a:solidFill>
                <a:latin typeface="CiscoSansTT Medium"/>
                <a:ea typeface="CiscoSansTT Medium"/>
                <a:cs typeface="CiscoSansTT Medium"/>
              </a:rPr>
              <a:t>rove coexistence</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1FA760BB-E05C-48FA-A99F-779C746673E9}"/>
              </a:ext>
            </a:extLst>
          </p:cNvPr>
          <p:cNvSpPr>
            <a:spLocks noGrp="1"/>
          </p:cNvSpPr>
          <p:nvPr/>
        </p:nvSpPr>
        <p:spPr>
          <a:xfrm>
            <a:off x="323850" y="152400"/>
            <a:ext cx="11049000" cy="609600"/>
          </a:xfrm>
          <a:prstGeom prst="rect">
            <a:avLst/>
          </a:prstGeom>
          <a:noFill/>
          <a:ln w="0">
            <a:noFill/>
          </a:ln>
        </p:spPr>
        <p:txBody>
          <a:bodyPr anchor="ctr">
            <a:noAutofit/>
          </a:bodyPr>
          <a:lstStyle>
            <a:defPPr algn="l">
              <a:defRPr sz="3000" b="0">
                <a:solidFill>
                  <a:srgbClr val="07182A"/>
                </a:solidFill>
                <a:latin typeface="CiscoSansTT"/>
                <a:ea typeface="CiscoSansTT"/>
                <a:cs typeface="CiscoSansTT"/>
              </a:defRPr>
            </a:defPPr>
            <a:lvl1pPr algn="l">
              <a:defRPr sz="3000" b="0">
                <a:solidFill>
                  <a:srgbClr val="07182A"/>
                </a:solidFill>
                <a:latin typeface="CiscoSansTT"/>
                <a:ea typeface="CiscoSansTT"/>
                <a:cs typeface="CiscoSansTT"/>
              </a:defRPr>
            </a:lvl1pPr>
            <a:lvl2pPr algn="l">
              <a:defRPr sz="3000" b="0">
                <a:solidFill>
                  <a:srgbClr val="07182A"/>
                </a:solidFill>
                <a:latin typeface="CiscoSansTT"/>
                <a:ea typeface="CiscoSansTT"/>
                <a:cs typeface="CiscoSansTT"/>
              </a:defRPr>
            </a:lvl2pPr>
            <a:lvl3pPr algn="l">
              <a:defRPr sz="3000" b="0">
                <a:solidFill>
                  <a:srgbClr val="07182A"/>
                </a:solidFill>
                <a:latin typeface="CiscoSansTT"/>
                <a:ea typeface="CiscoSansTT"/>
                <a:cs typeface="CiscoSansTT"/>
              </a:defRPr>
            </a:lvl3pPr>
            <a:lvl4pPr algn="l">
              <a:defRPr sz="3000" b="0">
                <a:solidFill>
                  <a:srgbClr val="07182A"/>
                </a:solidFill>
                <a:latin typeface="CiscoSansTT"/>
                <a:ea typeface="CiscoSansTT"/>
                <a:cs typeface="CiscoSansTT"/>
              </a:defRPr>
            </a:lvl4pPr>
            <a:lvl5pPr algn="l">
              <a:defRPr sz="3000" b="0">
                <a:solidFill>
                  <a:srgbClr val="07182A"/>
                </a:solidFill>
                <a:latin typeface="CiscoSansTT"/>
                <a:ea typeface="CiscoSansTT"/>
                <a:cs typeface="CiscoSansTT"/>
              </a:defRPr>
            </a:lvl5pPr>
            <a:lvl6pPr algn="l">
              <a:defRPr sz="3000" b="0">
                <a:solidFill>
                  <a:srgbClr val="07182A"/>
                </a:solidFill>
                <a:latin typeface="CiscoSansTT"/>
                <a:ea typeface="CiscoSansTT"/>
                <a:cs typeface="CiscoSansTT"/>
              </a:defRPr>
            </a:lvl6pPr>
            <a:lvl7pPr algn="l">
              <a:defRPr sz="3000" b="0">
                <a:solidFill>
                  <a:srgbClr val="07182A"/>
                </a:solidFill>
                <a:latin typeface="CiscoSansTT"/>
                <a:ea typeface="CiscoSansTT"/>
                <a:cs typeface="CiscoSansTT"/>
              </a:defRPr>
            </a:lvl7pPr>
            <a:lvl8pPr algn="l">
              <a:defRPr sz="3000" b="0">
                <a:solidFill>
                  <a:srgbClr val="07182A"/>
                </a:solidFill>
                <a:latin typeface="CiscoSansTT"/>
                <a:ea typeface="CiscoSansTT"/>
                <a:cs typeface="CiscoSansTT"/>
              </a:defRPr>
            </a:lvl8pPr>
            <a:lvl9pPr algn="l">
              <a:defRPr sz="3000" b="0">
                <a:solidFill>
                  <a:srgbClr val="07182A"/>
                </a:solidFill>
                <a:latin typeface="CiscoSansTT"/>
                <a:ea typeface="CiscoSansTT"/>
                <a:cs typeface="CiscoSansTT"/>
              </a:defRPr>
            </a:lvl9pPr>
          </a:lstStyle>
          <a:p>
            <a:pPr algn="l">
              <a:buNone/>
              <a:defRPr sz="3000" b="0">
                <a:solidFill>
                  <a:srgbClr val="07182A"/>
                </a:solidFill>
                <a:latin typeface="CiscoSansTT"/>
                <a:ea typeface="CiscoSansTT"/>
                <a:cs typeface="CiscoSansTT"/>
              </a:defRPr>
            </a:pPr>
            <a:r>
              <a:rPr sz="3000" b="0">
                <a:solidFill>
                  <a:srgbClr val="07182A"/>
                </a:solidFill>
                <a:latin typeface="CiscoSansTT"/>
                <a:ea typeface="CiscoSansTT"/>
                <a:cs typeface="CiscoSansTT"/>
              </a:rPr>
              <a:t>Correlating signals in one dashboard</a:t>
            </a: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9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682A6B35-0096-4A47-842C-C23DCA99A97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468534" cy="3638550"/>
          </a:xfrm>
          <a:prstGeom prst="roundRect">
            <a:avLst>
              <a:gd name="adj" fmla="val 1852"/>
            </a:avLst>
          </a:prstGeom>
        </p:spPr>
      </p:pic>
      <p:sp>
        <p:nvSpPr>
          <p:cNvPr id="1001" name="slide-title">
            <a:extLst>
              <a:ext uri="{FF2B5EF4-FFF2-40B4-BE49-F238E27FC236}">
                <a16:creationId xmlns:a16="http://schemas.microsoft.com/office/drawing/2014/main" id="{08AB1C87-B595-4FE4-A7EF-B320D1DB7812}"/>
              </a:ext>
            </a:extLst>
          </p:cNvPr>
          <p:cNvSpPr>
            <a:spLocks noGrp="1"/>
          </p:cNvSpPr>
          <p:nvPr/>
        </p:nvSpPr>
        <p:spPr>
          <a:xfrm>
            <a:off x="533400" y="361950"/>
            <a:ext cx="10763250" cy="6477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Policy denial: what each view shows</a:t>
            </a:r>
          </a:p>
        </p:txBody>
      </p:sp>
      <p:sp>
        <p:nvSpPr>
          <p:cNvPr id="1002" name="denial-route">
            <a:extLst>
              <a:ext uri="{FF2B5EF4-FFF2-40B4-BE49-F238E27FC236}">
                <a16:creationId xmlns:a16="http://schemas.microsoft.com/office/drawing/2014/main" id="{3795B665-5D7D-4C68-9291-CD86A7E442D5}"/>
              </a:ext>
            </a:extLst>
          </p:cNvPr>
          <p:cNvSpPr>
            <a:spLocks noGrp="1"/>
          </p:cNvSpPr>
          <p:nvPr/>
        </p:nvSpPr>
        <p:spPr>
          <a:xfrm>
            <a:off x="571500" y="1066800"/>
            <a:ext cx="11049000" cy="41910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sp>
        <p:nvSpPr>
          <p:cNvPr id="1004" name="grafana-drop-caption">
            <a:extLst>
              <a:ext uri="{FF2B5EF4-FFF2-40B4-BE49-F238E27FC236}">
                <a16:creationId xmlns:a16="http://schemas.microsoft.com/office/drawing/2014/main" id="{372632C0-3BBC-44F0-A646-621952DAA9B6}"/>
              </a:ext>
            </a:extLst>
          </p:cNvPr>
          <p:cNvSpPr>
            <a:spLocks noGrp="1"/>
          </p:cNvSpPr>
          <p:nvPr/>
        </p:nvSpPr>
        <p:spPr>
          <a:xfrm>
            <a:off x="7143750" y="3762375"/>
            <a:ext cx="4572000" cy="514350"/>
          </a:xfrm>
          <a:prstGeom prst="rect">
            <a:avLst/>
          </a:prstGeom>
          <a:noFill/>
          <a:ln w="0">
            <a:noFill/>
          </a:ln>
        </p:spPr>
        <p:txBody>
          <a:bodyPr anchor="ctr">
            <a:noAutofit/>
          </a:bodyPr>
          <a:lstStyle>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a:ext uri="{FF2B5EF4-FFF2-40B4-BE49-F238E27FC236}">
                <a16:creationId xmlns:a16="http://schemas.microsoft.com/office/drawing/2014/main" id="{0724876A-175F-4E78-850C-8F380A591ABE}"/>
              </a:ext>
            </a:extLst>
          </p:cNvPr>
          <p:cNvSpPr>
            <a:spLocks noGrp="1"/>
          </p:cNvSpPr>
          <p:nvPr/>
        </p:nvSpPr>
        <p:spPr>
          <a:xfrm>
            <a:off x="7143750" y="4276725"/>
            <a:ext cx="4572000" cy="428625"/>
          </a:xfrm>
          <a:prstGeom prst="rect">
            <a:avLst/>
          </a:prstGeom>
          <a:noFill/>
          <a:ln w="0">
            <a:noFill/>
          </a:ln>
        </p:spPr>
        <p:txBody>
          <a:bodyPr anchor="ctr">
            <a:noAutofit/>
          </a:bodyPr>
          <a:lstStyle>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a:pPr algn="l">
              <a:defRPr sz="1650" b="1">
                <a:solidFill>
                  <a:srgbClr val="0860FE"/>
                </a:solidFill>
                <a:latin typeface="CiscoSansTT Medium"/>
                <a:ea typeface="CiscoSansTT Medium"/>
                <a:cs typeface="CiscoSansTT Medium"/>
              </a:defRPr>
            </a:pPr>
            <a:r>
              <a:rPr sz="1650" b="1" dirty="0">
                <a:solidFill>
                  <a:srgbClr val="0860FE"/>
                </a:solidFill>
                <a:latin typeface="CiscoSansTT Medium"/>
                <a:ea typeface="CiscoSansTT Medium"/>
                <a:cs typeface="CiscoSansTT Medium"/>
              </a:rPr>
              <a:t>Hubble: Policy denied / DROPPED</a:t>
            </a:r>
          </a:p>
        </p:txBody>
      </p:sp>
      <p:pic>
        <p:nvPicPr>
          <p:cNvPr id="2" name="Picture 1">
            <a:extLst>
              <a:ext uri="{FF2B5EF4-FFF2-40B4-BE49-F238E27FC236}">
                <a16:creationId xmlns:a16="http://schemas.microsoft.com/office/drawing/2014/main" id="{B0652DC0-27FC-2737-BB52-E712ADDAF3DC}"/>
              </a:ext>
            </a:extLst>
          </p:cNvPr>
          <p:cNvPicPr>
            <a:picLocks noChangeAspect="1"/>
          </p:cNvPicPr>
          <p:nvPr/>
        </p:nvPicPr>
        <p:blipFill>
          <a:blip r:embed="rId6"/>
          <a:stretch>
            <a:fillRect/>
          </a:stretch>
        </p:blipFill>
        <p:spPr>
          <a:xfrm>
            <a:off x="7198414" y="1828800"/>
            <a:ext cx="4517336" cy="1948101"/>
          </a:xfrm>
          <a:prstGeom prst="rect">
            <a:avLst/>
          </a:prstGeom>
        </p:spPr>
      </p:pic>
    </p:spTree>
    <p:extLst>
      <p:ext uri="{BB962C8B-B14F-4D97-AF65-F5344CB8AC3E}">
        <p14:creationId xmlns:p14="http://schemas.microsoft.com/office/powerpoint/2010/main" val="192345970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0" name="common-networking">
            <a:extLst>
              <a:ext uri="{FF2B5EF4-FFF2-40B4-BE49-F238E27FC236}">
                <a16:creationId xmlns:a16="http://schemas.microsoft.com/office/drawing/2014/main" id="{31FBF9E9-2EBA-4347-AEF8-6C0373449A4F}"/>
              </a:ext>
            </a:extLst>
          </p:cNvPr>
          <p:cNvSpPr>
            <a:spLocks noGrp="1"/>
          </p:cNvSpPr>
          <p:nvPr/>
        </p:nvSpPr>
        <p:spPr>
          <a:xfrm>
            <a:off x="762000" y="1104900"/>
            <a:ext cx="10668000" cy="400050"/>
          </a:xfrm>
          <a:prstGeom prst="rect">
            <a:avLst/>
          </a:prstGeom>
          <a:noFill/>
          <a:ln w="0">
            <a:noFill/>
          </a:ln>
        </p:spPr>
        <p:txBody>
          <a:bodyPr anchor="ctr">
            <a:noAutofit/>
          </a:bodyPr>
          <a:lstStyle>
            <a:defPPr algn="l">
              <a:defRPr sz="1950" b="0">
                <a:solidFill>
                  <a:srgbClr val="686B6B"/>
                </a:solidFill>
                <a:latin typeface="CiscoSansTT"/>
                <a:ea typeface="CiscoSansTT"/>
                <a:cs typeface="CiscoSansTT"/>
              </a:defRPr>
            </a:defPPr>
            <a:lvl1pPr algn="l">
              <a:defRPr sz="1950" b="0">
                <a:solidFill>
                  <a:srgbClr val="686B6B"/>
                </a:solidFill>
                <a:latin typeface="CiscoSansTT"/>
                <a:ea typeface="CiscoSansTT"/>
                <a:cs typeface="CiscoSansTT"/>
              </a:defRPr>
            </a:lvl1pPr>
            <a:lvl2pPr algn="l">
              <a:defRPr sz="1950" b="0">
                <a:solidFill>
                  <a:srgbClr val="686B6B"/>
                </a:solidFill>
                <a:latin typeface="CiscoSansTT"/>
                <a:ea typeface="CiscoSansTT"/>
                <a:cs typeface="CiscoSansTT"/>
              </a:defRPr>
            </a:lvl2pPr>
            <a:lvl3pPr algn="l">
              <a:defRPr sz="1950" b="0">
                <a:solidFill>
                  <a:srgbClr val="686B6B"/>
                </a:solidFill>
                <a:latin typeface="CiscoSansTT"/>
                <a:ea typeface="CiscoSansTT"/>
                <a:cs typeface="CiscoSansTT"/>
              </a:defRPr>
            </a:lvl3pPr>
            <a:lvl4pPr algn="l">
              <a:defRPr sz="1950" b="0">
                <a:solidFill>
                  <a:srgbClr val="686B6B"/>
                </a:solidFill>
                <a:latin typeface="CiscoSansTT"/>
                <a:ea typeface="CiscoSansTT"/>
                <a:cs typeface="CiscoSansTT"/>
              </a:defRPr>
            </a:lvl4pPr>
            <a:lvl5pPr algn="l">
              <a:defRPr sz="1950" b="0">
                <a:solidFill>
                  <a:srgbClr val="686B6B"/>
                </a:solidFill>
                <a:latin typeface="CiscoSansTT"/>
                <a:ea typeface="CiscoSansTT"/>
                <a:cs typeface="CiscoSansTT"/>
              </a:defRPr>
            </a:lvl5pPr>
            <a:lvl6pPr algn="l">
              <a:defRPr sz="1950" b="0">
                <a:solidFill>
                  <a:srgbClr val="686B6B"/>
                </a:solidFill>
                <a:latin typeface="CiscoSansTT"/>
                <a:ea typeface="CiscoSansTT"/>
                <a:cs typeface="CiscoSansTT"/>
              </a:defRPr>
            </a:lvl6pPr>
            <a:lvl7pPr algn="l">
              <a:defRPr sz="1950" b="0">
                <a:solidFill>
                  <a:srgbClr val="686B6B"/>
                </a:solidFill>
                <a:latin typeface="CiscoSansTT"/>
                <a:ea typeface="CiscoSansTT"/>
                <a:cs typeface="CiscoSansTT"/>
              </a:defRPr>
            </a:lvl7pPr>
            <a:lvl8pPr algn="l">
              <a:defRPr sz="1950" b="0">
                <a:solidFill>
                  <a:srgbClr val="686B6B"/>
                </a:solidFill>
                <a:latin typeface="CiscoSansTT"/>
                <a:ea typeface="CiscoSansTT"/>
                <a:cs typeface="CiscoSansTT"/>
              </a:defRPr>
            </a:lvl8pPr>
            <a:lvl9pPr algn="l">
              <a:defRPr sz="1950" b="0">
                <a:solidFill>
                  <a:srgbClr val="686B6B"/>
                </a:solidFill>
                <a:latin typeface="CiscoSansTT"/>
                <a:ea typeface="CiscoSansTT"/>
                <a:cs typeface="CiscoSansTT"/>
              </a:defRPr>
            </a:lvl9pPr>
          </a:lstStyle>
          <a:p>
            <a:pPr algn="l">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Cilium networking is enabled in every scenario.</a:t>
            </a:r>
          </a:p>
        </p:txBody>
      </p:sp>
      <p:graphicFrame>
        <p:nvGraphicFramePr>
          <p:cNvPr id="21" name="Table 20">
            <a:extLst>
              <a:ext uri="{FF2B5EF4-FFF2-40B4-BE49-F238E27FC236}">
                <a16:creationId xmlns:a16="http://schemas.microsoft.com/office/drawing/2014/main" id="{CA56689E-14B9-4ACB-984E-F1E4C6574764}"/>
              </a:ext>
            </a:extLst>
          </p:cNvPr>
          <p:cNvGraphicFramePr/>
          <p:nvPr>
            <p:extLst>
              <p:ext uri="{D42A27DB-BD31-4B8C-83A1-F6EECF244321}">
                <p14:modId xmlns:p14="http://schemas.microsoft.com/office/powerpoint/2010/main" val="710346894"/>
              </p:ext>
            </p:extLst>
          </p:nvPr>
        </p:nvGraphicFramePr>
        <p:xfrm>
          <a:off x="762000" y="1638300"/>
          <a:ext cx="10668000" cy="4114800"/>
        </p:xfrm>
        <a:graphic>
          <a:graphicData uri="http://schemas.openxmlformats.org/drawingml/2006/table">
            <a:tbl>
              <a:tblPr/>
              <a:tblGrid>
                <a:gridCol w="200025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gridCol w="5619750">
                  <a:extLst>
                    <a:ext uri="{9D8B030D-6E8A-4147-A177-3AD203B41FA5}">
                      <a16:colId xmlns:a16="http://schemas.microsoft.com/office/drawing/2014/main" val="20002"/>
                    </a:ext>
                  </a:extLst>
                </a:gridCol>
              </a:tblGrid>
              <a:tr h="495300">
                <a:tc>
                  <a:txBody>
                    <a:bodyPr/>
                    <a:lstStyle/>
                    <a:p>
                      <a:pPr algn="ctr"/>
                      <a:r>
                        <a:rPr sz="1875" b="1">
                          <a:solidFill>
                            <a:srgbClr val="07182A"/>
                          </a:solidFill>
                          <a:latin typeface="CiscoSansTT Medium"/>
                          <a:ea typeface="CiscoSansTT Medium"/>
                          <a:cs typeface="CiscoSansTT Medium"/>
                        </a:rPr>
                        <a:t>Scenario</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lang="en-GB" sz="2000" b="1" dirty="0">
                          <a:solidFill>
                            <a:srgbClr val="07182A"/>
                          </a:solidFill>
                          <a:latin typeface="CiscoSansTT Medium"/>
                          <a:ea typeface="CiscoSansTT Medium"/>
                          <a:cs typeface="CiscoSansTT Medium"/>
                        </a:rPr>
                        <a:t>Cilium &amp; </a:t>
                      </a:r>
                      <a:r>
                        <a:rPr sz="1875" b="1" dirty="0">
                          <a:solidFill>
                            <a:srgbClr val="07182A"/>
                          </a:solidFill>
                          <a:latin typeface="CiscoSansTT Medium"/>
                          <a:ea typeface="CiscoSansTT Medium"/>
                          <a:cs typeface="CiscoSansTT Medium"/>
                        </a:rPr>
                        <a:t>Hubble</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875" b="1">
                          <a:solidFill>
                            <a:srgbClr val="07182A"/>
                          </a:solidFill>
                          <a:latin typeface="CiscoSansTT Medium"/>
                          <a:ea typeface="CiscoSansTT Medium"/>
                          <a:cs typeface="CiscoSansTT Medium"/>
                        </a:rPr>
                        <a:t>OBI</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0"/>
                  </a:ext>
                </a:extLst>
              </a:tr>
              <a:tr h="723900">
                <a:tc>
                  <a:txBody>
                    <a:bodyPr/>
                    <a:lstStyle/>
                    <a:p>
                      <a:pPr algn="ctr"/>
                      <a:r>
                        <a:rPr sz="1725" b="1">
                          <a:solidFill>
                            <a:srgbClr val="07182A"/>
                          </a:solidFill>
                          <a:latin typeface="CiscoSansTT Medium"/>
                          <a:ea typeface="CiscoSansTT Medium"/>
                          <a:cs typeface="CiscoSansTT Medium"/>
                        </a:rPr>
                        <a:t>A</a:t>
                      </a:r>
                    </a:p>
                    <a:p>
                      <a:pPr algn="ctr"/>
                      <a:r>
                        <a:rPr sz="1725" b="1">
                          <a:solidFill>
                            <a:srgbClr val="07182A"/>
                          </a:solidFill>
                          <a:latin typeface="CiscoSansTT Medium"/>
                          <a:ea typeface="CiscoSansTT Medium"/>
                          <a:cs typeface="CiscoSansTT Medium"/>
                        </a:rPr>
                        <a:t>Planned</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Off</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Off</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1"/>
                  </a:ext>
                </a:extLst>
              </a:tr>
              <a:tr h="723900">
                <a:tc>
                  <a:txBody>
                    <a:bodyPr/>
                    <a:lstStyle/>
                    <a:p>
                      <a:pPr algn="ctr"/>
                      <a:r>
                        <a:rPr sz="1725" b="1">
                          <a:solidFill>
                            <a:srgbClr val="0860FE"/>
                          </a:solidFill>
                          <a:latin typeface="CiscoSansTT Medium"/>
                          <a:ea typeface="CiscoSansTT Medium"/>
                          <a:cs typeface="CiscoSansTT Medium"/>
                        </a:rPr>
                        <a:t>B</a:t>
                      </a:r>
                    </a:p>
                    <a:p>
                      <a:pPr algn="ctr"/>
                      <a:r>
                        <a:rPr sz="1725" b="1">
                          <a:solidFill>
                            <a:srgbClr val="0860FE"/>
                          </a:solidFill>
                          <a:latin typeface="CiscoSansTT Medium"/>
                          <a:ea typeface="CiscoSansTT Medium"/>
                          <a:cs typeface="CiscoSansTT Medium"/>
                        </a:rPr>
                        <a:t>Measured</a:t>
                      </a:r>
                    </a:p>
                  </a:txBody>
                  <a:tcPr anchor="ctr">
                    <a:lnL w="0">
                      <a:noFill/>
                    </a:lnL>
                    <a:lnR w="0">
                      <a:noFill/>
                    </a:lnR>
                    <a:lnT w="6350">
                      <a:solidFill>
                        <a:srgbClr val="CFD5DD"/>
                      </a:solidFill>
                    </a:lnT>
                    <a:lnB w="6350">
                      <a:solidFill>
                        <a:srgbClr val="CFD5DD"/>
                      </a:solidFill>
                    </a:lnB>
                    <a:solidFill>
                      <a:srgbClr val="EAF8FC"/>
                    </a:solidFill>
                  </a:tcPr>
                </a:tc>
                <a:tc>
                  <a:txBody>
                    <a:bodyPr/>
                    <a:lstStyle/>
                    <a:p>
                      <a:pPr algn="l"/>
                      <a:r>
                        <a:rPr sz="1725" b="0">
                          <a:solidFill>
                            <a:srgbClr val="07182A"/>
                          </a:solidFill>
                          <a:latin typeface="CiscoSansTT"/>
                          <a:ea typeface="CiscoSansTT"/>
                          <a:cs typeface="CiscoSansTT"/>
                        </a:rPr>
                        <a:t>Flows (L3/L4)</a:t>
                      </a:r>
                    </a:p>
                  </a:txBody>
                  <a:tcPr anchor="ctr">
                    <a:lnL w="0">
                      <a:noFill/>
                    </a:lnL>
                    <a:lnR w="0">
                      <a:noFill/>
                    </a:lnR>
                    <a:lnT w="6350">
                      <a:solidFill>
                        <a:srgbClr val="CFD5DD"/>
                      </a:solidFill>
                    </a:lnT>
                    <a:lnB w="6350">
                      <a:solidFill>
                        <a:srgbClr val="CFD5DD"/>
                      </a:solidFill>
                    </a:lnB>
                    <a:solidFill>
                      <a:srgbClr val="EAF8FC"/>
                    </a:solidFill>
                  </a:tcPr>
                </a:tc>
                <a:tc>
                  <a:txBody>
                    <a:bodyPr/>
                    <a:lstStyle/>
                    <a:p>
                      <a:pPr algn="l"/>
                      <a:r>
                        <a:rPr sz="1725" b="0">
                          <a:solidFill>
                            <a:srgbClr val="07182A"/>
                          </a:solidFill>
                          <a:latin typeface="CiscoSansTT"/>
                          <a:ea typeface="CiscoSansTT"/>
                          <a:cs typeface="CiscoSansTT"/>
                        </a:rPr>
                        <a:t>Off</a:t>
                      </a:r>
                    </a:p>
                  </a:txBody>
                  <a:tcPr anchor="ctr">
                    <a:lnL w="0">
                      <a:noFill/>
                    </a:lnL>
                    <a:lnR w="0">
                      <a:noFill/>
                    </a:lnR>
                    <a:lnT w="6350">
                      <a:solidFill>
                        <a:srgbClr val="CFD5DD"/>
                      </a:solidFill>
                    </a:lnT>
                    <a:lnB w="6350">
                      <a:solidFill>
                        <a:srgbClr val="CFD5DD"/>
                      </a:solidFill>
                    </a:lnB>
                    <a:solidFill>
                      <a:srgbClr val="EAF8FC"/>
                    </a:solidFill>
                  </a:tcPr>
                </a:tc>
                <a:extLst>
                  <a:ext uri="{0D108BD9-81ED-4DB2-BD59-A6C34878D82A}">
                    <a16:rowId xmlns:a16="http://schemas.microsoft.com/office/drawing/2014/main" val="10002"/>
                  </a:ext>
                </a:extLst>
              </a:tr>
              <a:tr h="723900">
                <a:tc>
                  <a:txBody>
                    <a:bodyPr/>
                    <a:lstStyle/>
                    <a:p>
                      <a:pPr algn="ctr"/>
                      <a:r>
                        <a:rPr sz="1725" b="1">
                          <a:solidFill>
                            <a:srgbClr val="07182A"/>
                          </a:solidFill>
                          <a:latin typeface="CiscoSansTT Medium"/>
                          <a:ea typeface="CiscoSansTT Medium"/>
                          <a:cs typeface="CiscoSansTT Medium"/>
                        </a:rPr>
                        <a:t>C</a:t>
                      </a:r>
                    </a:p>
                    <a:p>
                      <a:pPr algn="ctr"/>
                      <a:r>
                        <a:rPr sz="1725" b="1">
                          <a:solidFill>
                            <a:srgbClr val="07182A"/>
                          </a:solidFill>
                          <a:latin typeface="CiscoSansTT Medium"/>
                          <a:ea typeface="CiscoSansTT Medium"/>
                          <a:cs typeface="CiscoSansTT Medium"/>
                        </a:rPr>
                        <a:t>Planned</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Flows (L3/L4)</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RED metrics only</a:t>
                      </a:r>
                    </a:p>
                    <a:p>
                      <a:pPr algn="l"/>
                      <a:r>
                        <a:rPr sz="1725" b="0">
                          <a:solidFill>
                            <a:srgbClr val="07182A"/>
                          </a:solidFill>
                          <a:latin typeface="CiscoSansTT"/>
                          <a:ea typeface="CiscoSansTT"/>
                          <a:cs typeface="CiscoSansTT"/>
                        </a:rPr>
                        <a:t>No traces or TCP propagation</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3"/>
                  </a:ext>
                </a:extLst>
              </a:tr>
              <a:tr h="723900">
                <a:tc>
                  <a:txBody>
                    <a:bodyPr/>
                    <a:lstStyle/>
                    <a:p>
                      <a:pPr algn="ctr"/>
                      <a:r>
                        <a:rPr sz="1725" b="1">
                          <a:solidFill>
                            <a:srgbClr val="FF007F"/>
                          </a:solidFill>
                          <a:latin typeface="CiscoSansTT Medium"/>
                          <a:ea typeface="CiscoSansTT Medium"/>
                          <a:cs typeface="CiscoSansTT Medium"/>
                        </a:rPr>
                        <a:t>D</a:t>
                      </a:r>
                    </a:p>
                    <a:p>
                      <a:pPr algn="ctr"/>
                      <a:r>
                        <a:rPr sz="1725" b="1">
                          <a:solidFill>
                            <a:srgbClr val="FF007F"/>
                          </a:solidFill>
                          <a:latin typeface="CiscoSansTT Medium"/>
                          <a:ea typeface="CiscoSansTT Medium"/>
                          <a:cs typeface="CiscoSansTT Medium"/>
                        </a:rPr>
                        <a:t>Measured</a:t>
                      </a:r>
                    </a:p>
                  </a:txBody>
                  <a:tcPr anchor="ctr">
                    <a:lnL w="0">
                      <a:noFill/>
                    </a:lnL>
                    <a:lnR w="0">
                      <a:noFill/>
                    </a:lnR>
                    <a:lnT w="6350">
                      <a:solidFill>
                        <a:srgbClr val="CFD5DD"/>
                      </a:solidFill>
                    </a:lnT>
                    <a:lnB w="6350">
                      <a:solidFill>
                        <a:srgbClr val="CFD5DD"/>
                      </a:solidFill>
                    </a:lnB>
                    <a:solidFill>
                      <a:srgbClr val="F6ECF5"/>
                    </a:solidFill>
                  </a:tcPr>
                </a:tc>
                <a:tc>
                  <a:txBody>
                    <a:bodyPr/>
                    <a:lstStyle/>
                    <a:p>
                      <a:pPr algn="l"/>
                      <a:r>
                        <a:rPr sz="1725" b="0">
                          <a:solidFill>
                            <a:srgbClr val="07182A"/>
                          </a:solidFill>
                          <a:latin typeface="CiscoSansTT"/>
                          <a:ea typeface="CiscoSansTT"/>
                          <a:cs typeface="CiscoSansTT"/>
                        </a:rPr>
                        <a:t>Flows (L3/L4)</a:t>
                      </a:r>
                    </a:p>
                  </a:txBody>
                  <a:tcPr anchor="ctr">
                    <a:lnL w="0">
                      <a:noFill/>
                    </a:lnL>
                    <a:lnR w="0">
                      <a:noFill/>
                    </a:lnR>
                    <a:lnT w="6350">
                      <a:solidFill>
                        <a:srgbClr val="CFD5DD"/>
                      </a:solidFill>
                    </a:lnT>
                    <a:lnB w="6350">
                      <a:solidFill>
                        <a:srgbClr val="CFD5DD"/>
                      </a:solidFill>
                    </a:lnB>
                    <a:solidFill>
                      <a:srgbClr val="F6ECF5"/>
                    </a:solidFill>
                  </a:tcPr>
                </a:tc>
                <a:tc>
                  <a:txBody>
                    <a:bodyPr/>
                    <a:lstStyle/>
                    <a:p>
                      <a:pPr algn="l"/>
                      <a:r>
                        <a:rPr sz="1725" b="0">
                          <a:solidFill>
                            <a:srgbClr val="07182A"/>
                          </a:solidFill>
                          <a:latin typeface="CiscoSansTT"/>
                          <a:ea typeface="CiscoSansTT"/>
                          <a:cs typeface="CiscoSansTT"/>
                        </a:rPr>
                        <a:t>RED metrics + traces</a:t>
                      </a:r>
                    </a:p>
                    <a:p>
                      <a:pPr algn="l"/>
                      <a:r>
                        <a:rPr sz="1725" b="0">
                          <a:solidFill>
                            <a:srgbClr val="07182A"/>
                          </a:solidFill>
                          <a:latin typeface="CiscoSansTT"/>
                          <a:ea typeface="CiscoSansTT"/>
                          <a:cs typeface="CiscoSansTT"/>
                        </a:rPr>
                        <a:t>TCP propagation (TCX)</a:t>
                      </a:r>
                    </a:p>
                  </a:txBody>
                  <a:tcPr anchor="ctr">
                    <a:lnL w="0">
                      <a:noFill/>
                    </a:lnL>
                    <a:lnR w="0">
                      <a:noFill/>
                    </a:lnR>
                    <a:lnT w="6350">
                      <a:solidFill>
                        <a:srgbClr val="CFD5DD"/>
                      </a:solidFill>
                    </a:lnT>
                    <a:lnB w="6350">
                      <a:solidFill>
                        <a:srgbClr val="CFD5DD"/>
                      </a:solidFill>
                    </a:lnB>
                    <a:solidFill>
                      <a:srgbClr val="F6ECF5"/>
                    </a:solidFill>
                  </a:tcPr>
                </a:tc>
                <a:extLst>
                  <a:ext uri="{0D108BD9-81ED-4DB2-BD59-A6C34878D82A}">
                    <a16:rowId xmlns:a16="http://schemas.microsoft.com/office/drawing/2014/main" val="10004"/>
                  </a:ext>
                </a:extLst>
              </a:tr>
              <a:tr h="723900">
                <a:tc>
                  <a:txBody>
                    <a:bodyPr/>
                    <a:lstStyle/>
                    <a:p>
                      <a:pPr algn="ctr"/>
                      <a:r>
                        <a:rPr sz="1725" b="1">
                          <a:solidFill>
                            <a:srgbClr val="07182A"/>
                          </a:solidFill>
                          <a:latin typeface="CiscoSansTT Medium"/>
                          <a:ea typeface="CiscoSansTT Medium"/>
                          <a:cs typeface="CiscoSansTT Medium"/>
                        </a:rPr>
                        <a:t>E</a:t>
                      </a:r>
                    </a:p>
                    <a:p>
                      <a:pPr algn="ctr"/>
                      <a:r>
                        <a:rPr sz="1725" b="1">
                          <a:solidFill>
                            <a:srgbClr val="07182A"/>
                          </a:solidFill>
                          <a:latin typeface="CiscoSansTT Medium"/>
                          <a:ea typeface="CiscoSansTT Medium"/>
                          <a:cs typeface="CiscoSansTT Medium"/>
                        </a:rPr>
                        <a:t>Planned</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Flows (L3/L4)</a:t>
                      </a:r>
                    </a:p>
                    <a:p>
                      <a:pPr algn="l"/>
                      <a:r>
                        <a:rPr sz="1725" b="0">
                          <a:solidFill>
                            <a:srgbClr val="07182A"/>
                          </a:solidFill>
                          <a:latin typeface="CiscoSansTT"/>
                          <a:ea typeface="CiscoSansTT"/>
                          <a:cs typeface="CiscoSansTT"/>
                        </a:rPr>
                        <a:t>+ L7 via Envoy</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dirty="0">
                          <a:solidFill>
                            <a:srgbClr val="07182A"/>
                          </a:solidFill>
                          <a:latin typeface="CiscoSansTT"/>
                          <a:ea typeface="CiscoSansTT"/>
                          <a:cs typeface="CiscoSansTT"/>
                        </a:rPr>
                        <a:t>RED metrics + traces</a:t>
                      </a:r>
                    </a:p>
                    <a:p>
                      <a:pPr algn="l"/>
                      <a:r>
                        <a:rPr sz="1725" b="0" dirty="0">
                          <a:solidFill>
                            <a:srgbClr val="07182A"/>
                          </a:solidFill>
                          <a:latin typeface="CiscoSansTT"/>
                          <a:ea typeface="CiscoSansTT"/>
                          <a:cs typeface="CiscoSansTT"/>
                        </a:rPr>
                        <a:t>TCP propagation (TCX)</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5"/>
                  </a:ext>
                </a:extLst>
              </a:tr>
            </a:tbl>
          </a:graphicData>
        </a:graphic>
      </p:graphicFrame>
      <p:sp>
        <p:nvSpPr>
          <p:cNvPr id="22" name="scenario-controls">
            <a:extLst>
              <a:ext uri="{FF2B5EF4-FFF2-40B4-BE49-F238E27FC236}">
                <a16:creationId xmlns:a16="http://schemas.microsoft.com/office/drawing/2014/main" id="{213A8E4D-17B5-49BB-BEBF-5F432814CCC0}"/>
              </a:ext>
            </a:extLst>
          </p:cNvPr>
          <p:cNvSpPr>
            <a:spLocks noGrp="1"/>
          </p:cNvSpPr>
          <p:nvPr/>
        </p:nvSpPr>
        <p:spPr>
          <a:xfrm>
            <a:off x="762000" y="5934075"/>
            <a:ext cx="10668000" cy="4000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a:ext uri="{FF2B5EF4-FFF2-40B4-BE49-F238E27FC236}">
                <a16:creationId xmlns:a16="http://schemas.microsoft.com/office/drawing/2014/main" id="{6E890BCB-BEDF-4A21-BC9C-E03C004765D8}"/>
              </a:ext>
            </a:extLst>
          </p:cNvPr>
          <p:cNvSpPr>
            <a:spLocks noGrp="1"/>
          </p:cNvSpPr>
          <p:nvPr/>
        </p:nvSpPr>
        <p:spPr>
          <a:xfrm>
            <a:off x="762000" y="1219200"/>
            <a:ext cx="10668000" cy="400050"/>
          </a:xfrm>
          <a:prstGeom prst="rect">
            <a:avLst/>
          </a:prstGeom>
          <a:noFill/>
          <a:ln w="0">
            <a:noFill/>
          </a:ln>
        </p:spPr>
        <p:txBody>
          <a:bodyPr anchor="ctr">
            <a:noAutofit/>
          </a:body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Table 25">
            <a:extLst>
              <a:ext uri="{FF2B5EF4-FFF2-40B4-BE49-F238E27FC236}">
                <a16:creationId xmlns:a16="http://schemas.microsoft.com/office/drawing/2014/main" id="{5F6B783C-A950-4497-A579-B6230CCFE40D}"/>
              </a:ext>
            </a:extLst>
          </p:cNvPr>
          <p:cNvGraphicFramePr/>
          <p:nvPr/>
        </p:nvGraphicFramePr>
        <p:xfrm>
          <a:off x="762000" y="1847850"/>
          <a:ext cx="10668000" cy="3200400"/>
        </p:xfrm>
        <a:graphic>
          <a:graphicData uri="http://schemas.openxmlformats.org/drawingml/2006/table">
            <a:tbl>
              <a:tblPr/>
              <a:tblGrid>
                <a:gridCol w="3429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33400">
                <a:tc>
                  <a:txBody>
                    <a:bodyPr/>
                    <a:lstStyle/>
                    <a:p>
                      <a:r>
                        <a:rPr sz="1575" b="1">
                          <a:solidFill>
                            <a:srgbClr val="07182A"/>
                          </a:solidFill>
                          <a:latin typeface="CiscoSansTT Medium"/>
                          <a:ea typeface="CiscoSansTT Medium"/>
                          <a:cs typeface="CiscoSansTT Medium"/>
                        </a:rPr>
                        <a:t>Metric</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860FE"/>
                          </a:solidFill>
                          <a:latin typeface="CiscoSansTT Medium"/>
                          <a:ea typeface="CiscoSansTT Medium"/>
                          <a:cs typeface="CiscoSansTT Medium"/>
                        </a:rPr>
                        <a:t>B: OBI off</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FF007F"/>
                          </a:solidFill>
                          <a:latin typeface="CiscoSansTT Medium"/>
                          <a:ea typeface="CiscoSansTT Medium"/>
                          <a:cs typeface="CiscoSansTT Medium"/>
                        </a:rPr>
                        <a:t>D: OBI on (TCX)</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33400">
                <a:tc>
                  <a:txBody>
                    <a:bodyPr/>
                    <a:lstStyle/>
                    <a:p>
                      <a:r>
                        <a:rPr sz="1650" b="0">
                          <a:solidFill>
                            <a:srgbClr val="07182A"/>
                          </a:solidFill>
                          <a:latin typeface="CiscoSansTT"/>
                          <a:ea typeface="CiscoSansTT"/>
                          <a:cs typeface="CiscoSansTT"/>
                        </a:rPr>
                        <a:t>Throughput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33400">
                <a:tc>
                  <a:txBody>
                    <a:bodyPr/>
                    <a:lstStyle/>
                    <a:p>
                      <a:r>
                        <a:rPr sz="1650" b="0">
                          <a:solidFill>
                            <a:srgbClr val="07182A"/>
                          </a:solidFill>
                          <a:latin typeface="CiscoSansTT"/>
                          <a:ea typeface="CiscoSansTT"/>
                          <a:cs typeface="CiscoSansTT"/>
                        </a:rPr>
                        <a:t>p95 latency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2"/>
                  </a:ext>
                </a:extLst>
              </a:tr>
              <a:tr h="533400">
                <a:tc>
                  <a:txBody>
                    <a:bodyPr/>
                    <a:lstStyle/>
                    <a:p>
                      <a:r>
                        <a:rPr sz="1650" b="0">
                          <a:solidFill>
                            <a:srgbClr val="07182A"/>
                          </a:solidFill>
                          <a:latin typeface="CiscoSansTT"/>
                          <a:ea typeface="CiscoSansTT"/>
                          <a:cs typeface="CiscoSansTT"/>
                        </a:rPr>
                        <a:t>Failed requests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33400">
                <a:tc>
                  <a:txBody>
                    <a:bodyPr/>
                    <a:lstStyle/>
                    <a:p>
                      <a:r>
                        <a:rPr sz="1650" b="0">
                          <a:solidFill>
                            <a:srgbClr val="07182A"/>
                          </a:solidFill>
                          <a:latin typeface="CiscoSansTT"/>
                          <a:ea typeface="CiscoSansTT"/>
                          <a:cs typeface="CiscoSansTT"/>
                        </a:rPr>
                        <a:t>OBI CPU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4"/>
                  </a:ext>
                </a:extLst>
              </a:tr>
              <a:tr h="533400">
                <a:tc>
                  <a:txBody>
                    <a:bodyPr/>
                    <a:lstStyle/>
                    <a:p>
                      <a:r>
                        <a:rPr sz="1650" b="0">
                          <a:solidFill>
                            <a:srgbClr val="07182A"/>
                          </a:solidFill>
                          <a:latin typeface="CiscoSansTT"/>
                          <a:ea typeface="CiscoSansTT"/>
                          <a:cs typeface="CiscoSansTT"/>
                        </a:rPr>
                        <a:t>OBI working set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Rectangle 21">
            <a:extLst>
              <a:ext uri="{FF2B5EF4-FFF2-40B4-BE49-F238E27FC236}">
                <a16:creationId xmlns:a16="http://schemas.microsoft.com/office/drawing/2014/main" id="{7E4A5844-4C7E-4BBD-A8D9-FF29BB2E0634}"/>
              </a:ext>
            </a:extLst>
          </p:cNvPr>
          <p:cNvSpPr>
            <a:spLocks noGrp="1"/>
          </p:cNvSpPr>
          <p:nvPr/>
        </p:nvSpPr>
        <p:spPr>
          <a:xfrm>
            <a:off x="762000" y="5238750"/>
            <a:ext cx="10668000" cy="400050"/>
          </a:xfrm>
          <a:prstGeom prst="rect">
            <a:avLst/>
          </a:prstGeom>
          <a:noFill/>
          <a:ln w="0">
            <a:noFill/>
          </a:ln>
        </p:spPr>
        <p:txBody>
          <a:bodyPr anchor="ctr">
            <a:noAutofit/>
          </a:bodyPr>
          <a:lstStyle/>
          <a:p>
            <a:pPr algn="l">
              <a:buNone/>
              <a:defRPr sz="1725" b="1">
                <a:solidFill>
                  <a:srgbClr val="07182A"/>
                </a:solidFill>
                <a:latin typeface="CiscoSansTT Medium"/>
                <a:ea typeface="CiscoSansTT Medium"/>
                <a:cs typeface="CiscoSansTT Medium"/>
              </a:defRPr>
            </a:pPr>
            <a:r>
              <a:rPr sz="1725" b="1" dirty="0">
                <a:solidFill>
                  <a:srgbClr val="07182A"/>
                </a:solidFill>
                <a:latin typeface="CiscoSansTT Medium"/>
                <a:ea typeface="CiscoSansTT Medium"/>
                <a:cs typeface="CiscoSansTT Medium"/>
              </a:rPr>
              <a:t>D exported 7,210 spans.</a:t>
            </a:r>
          </a:p>
        </p:txBody>
      </p:sp>
      <p:grpSp>
        <p:nvGrpSpPr>
          <p:cNvPr id="29" name="Minimal p95 increase"/>
          <p:cNvGrpSpPr/>
          <p:nvPr/>
        </p:nvGrpSpPr>
        <p:grpSpPr>
          <a:xfrm>
            <a:off x="0" y="0"/>
            <a:ext cx="12192000" cy="6858000"/>
            <a:chOff x="0" y="0"/>
            <a:chExt cx="12192000" cy="6858000"/>
          </a:xfrm>
        </p:grpSpPr>
        <p:sp>
          <p:nvSpPr>
            <p:cNvPr id="27" name="p95-increase-highlight">
              <a:extLst xmlns:a="http://schemas.openxmlformats.org/drawingml/2006/main">
                <a:ext uri="{FF2B5EF4-FFF2-40B4-BE49-F238E27FC236}">
                  <a16:creationId xmlns:a16="http://schemas.microsoft.com/office/drawing/2014/main" id="{06C80578-2799-413E-87E0-18889254E406}"/>
                </a:ext>
              </a:extLst>
            </p:cNvPr>
            <p:cNvSpPr>
              <a:spLocks xmlns:a="http://schemas.openxmlformats.org/drawingml/2006/main" noGrp="1"/>
            </p:cNvSpPr>
            <p:nvPr/>
          </p:nvSpPr>
          <p:spPr>
            <a:xfrm xmlns:a="http://schemas.openxmlformats.org/drawingml/2006/main">
              <a:off x="9096375" y="2952750"/>
              <a:ext cx="2190750" cy="438150"/>
            </a:xfrm>
            <a:prstGeom xmlns:a="http://schemas.openxmlformats.org/drawingml/2006/main" prst="rect">
              <a:avLst/>
            </a:prstGeom>
            <a:noFill xmlns:a="http://schemas.openxmlformats.org/drawingml/2006/main"/>
            <a:ln xmlns:a="http://schemas.openxmlformats.org/drawingml/2006/main" w="25718">
              <a:solidFill>
                <a:srgbClr val="FF007F"/>
              </a:solidFill>
            </a:ln>
          </p:spPr>
        </p:sp>
        <p:sp>
          <p:nvSpPr>
            <p:cNvPr id="28" name="minimal-increase-caption">
              <a:extLst xmlns:a="http://schemas.openxmlformats.org/drawingml/2006/main">
                <a:ext uri="{FF2B5EF4-FFF2-40B4-BE49-F238E27FC236}">
                  <a16:creationId xmlns:a16="http://schemas.microsoft.com/office/drawing/2014/main" id="{5BF6F799-7CEC-42B6-9C9D-C69CC308E901}"/>
                </a:ext>
              </a:extLst>
            </p:cNvPr>
            <p:cNvSpPr>
              <a:spLocks xmlns:a="http://schemas.openxmlformats.org/drawingml/2006/main" noGrp="1"/>
            </p:cNvSpPr>
            <p:nvPr/>
          </p:nvSpPr>
          <p:spPr>
            <a:xfrm xmlns:a="http://schemas.openxmlformats.org/drawingml/2006/main">
              <a:off x="762000" y="5762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950" b="1">
                  <a:solidFill>
                    <a:srgbClr val="FF007F"/>
                  </a:solidFill>
                  <a:latin typeface="CiscoSansTT Medium"/>
                  <a:ea typeface="CiscoSansTT Medium"/>
                  <a:cs typeface="CiscoSansTT Medium"/>
                </a:defRPr>
              </a:defPPr>
              <a:lvl1pPr algn="ctr">
                <a:defRPr sz="1950" b="1">
                  <a:solidFill>
                    <a:srgbClr val="FF007F"/>
                  </a:solidFill>
                  <a:latin typeface="CiscoSansTT Medium"/>
                  <a:ea typeface="CiscoSansTT Medium"/>
                  <a:cs typeface="CiscoSansTT Medium"/>
                </a:defRPr>
              </a:lvl1pPr>
              <a:lvl2pPr algn="ctr">
                <a:defRPr sz="1950" b="1">
                  <a:solidFill>
                    <a:srgbClr val="FF007F"/>
                  </a:solidFill>
                  <a:latin typeface="CiscoSansTT Medium"/>
                  <a:ea typeface="CiscoSansTT Medium"/>
                  <a:cs typeface="CiscoSansTT Medium"/>
                </a:defRPr>
              </a:lvl2pPr>
              <a:lvl3pPr algn="ctr">
                <a:defRPr sz="1950" b="1">
                  <a:solidFill>
                    <a:srgbClr val="FF007F"/>
                  </a:solidFill>
                  <a:latin typeface="CiscoSansTT Medium"/>
                  <a:ea typeface="CiscoSansTT Medium"/>
                  <a:cs typeface="CiscoSansTT Medium"/>
                </a:defRPr>
              </a:lvl3pPr>
              <a:lvl4pPr algn="ctr">
                <a:defRPr sz="1950" b="1">
                  <a:solidFill>
                    <a:srgbClr val="FF007F"/>
                  </a:solidFill>
                  <a:latin typeface="CiscoSansTT Medium"/>
                  <a:ea typeface="CiscoSansTT Medium"/>
                  <a:cs typeface="CiscoSansTT Medium"/>
                </a:defRPr>
              </a:lvl4pPr>
              <a:lvl5pPr algn="ctr">
                <a:defRPr sz="1950" b="1">
                  <a:solidFill>
                    <a:srgbClr val="FF007F"/>
                  </a:solidFill>
                  <a:latin typeface="CiscoSansTT Medium"/>
                  <a:ea typeface="CiscoSansTT Medium"/>
                  <a:cs typeface="CiscoSansTT Medium"/>
                </a:defRPr>
              </a:lvl5pPr>
              <a:lvl6pPr algn="ctr">
                <a:defRPr sz="1950" b="1">
                  <a:solidFill>
                    <a:srgbClr val="FF007F"/>
                  </a:solidFill>
                  <a:latin typeface="CiscoSansTT Medium"/>
                  <a:ea typeface="CiscoSansTT Medium"/>
                  <a:cs typeface="CiscoSansTT Medium"/>
                </a:defRPr>
              </a:lvl6pPr>
              <a:lvl7pPr algn="ctr">
                <a:defRPr sz="1950" b="1">
                  <a:solidFill>
                    <a:srgbClr val="FF007F"/>
                  </a:solidFill>
                  <a:latin typeface="CiscoSansTT Medium"/>
                  <a:ea typeface="CiscoSansTT Medium"/>
                  <a:cs typeface="CiscoSansTT Medium"/>
                </a:defRPr>
              </a:lvl7pPr>
              <a:lvl8pPr algn="ctr">
                <a:defRPr sz="1950" b="1">
                  <a:solidFill>
                    <a:srgbClr val="FF007F"/>
                  </a:solidFill>
                  <a:latin typeface="CiscoSansTT Medium"/>
                  <a:ea typeface="CiscoSansTT Medium"/>
                  <a:cs typeface="CiscoSansTT Medium"/>
                </a:defRPr>
              </a:lvl8pPr>
              <a:lvl9pPr algn="ctr">
                <a:defRPr sz="1950" b="1">
                  <a:solidFill>
                    <a:srgbClr val="FF007F"/>
                  </a:solidFill>
                  <a:latin typeface="CiscoSansTT Medium"/>
                  <a:ea typeface="CiscoSansTT Medium"/>
                  <a:cs typeface="CiscoSansTT Medium"/>
                </a:defRPr>
              </a:lvl9pPr>
            </a:lstStyle>
            <a:p xmlns:a="http://schemas.openxmlformats.org/drawingml/2006/main">
              <a:pPr algn="ctr">
                <a:defRPr sz="1950" b="1">
                  <a:solidFill>
                    <a:srgbClr val="FF007F"/>
                  </a:solidFill>
                  <a:latin typeface="CiscoSansTT Medium"/>
                  <a:ea typeface="CiscoSansTT Medium"/>
                  <a:cs typeface="CiscoSansTT Medium"/>
                </a:defRPr>
              </a:pPr>
              <a:r>
                <a:rPr sz="1950" b="1">
                  <a:solidFill>
                    <a:srgbClr val="FF007F"/>
                  </a:solidFill>
                  <a:latin typeface="CiscoSansTT Medium"/>
                  <a:ea typeface="CiscoSansTT Medium"/>
                  <a:cs typeface="CiscoSansTT Medium"/>
                </a:rPr>
                <a:t>Minimal p95 increase in this rehearsal: +2 ms (about +0.2%)</a:t>
              </a:r>
            </a:p>
          </p:txBody>
        </p:sp>
      </p:grpSp>
    </p:spTree>
    <p:extLst>
      <p:ext uri="{BB962C8B-B14F-4D97-AF65-F5344CB8AC3E}">
        <p14:creationId xmlns:p14="http://schemas.microsoft.com/office/powerpoint/2010/main" val="61737127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lide-title">
            <a:extLst>
              <a:ext uri="{FF2B5EF4-FFF2-40B4-BE49-F238E27FC236}">
                <a16:creationId xmlns:a16="http://schemas.microsoft.com/office/drawing/2014/main" id="{0804FCC2-7680-4AC0-BBC5-FBB9F3E982E3}"/>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4" name="rollout-number-1">
            <a:extLst>
              <a:ext uri="{FF2B5EF4-FFF2-40B4-BE49-F238E27FC236}">
                <a16:creationId xmlns:a16="http://schemas.microsoft.com/office/drawing/2014/main" id="{9308E42D-368D-42DF-BAAF-1095889907AF}"/>
              </a:ext>
            </a:extLst>
          </p:cNvPr>
          <p:cNvSpPr>
            <a:spLocks noGrp="1"/>
          </p:cNvSpPr>
          <p:nvPr/>
        </p:nvSpPr>
        <p:spPr>
          <a:xfrm>
            <a:off x="199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25" name="rollout-number-text-1">
            <a:extLst>
              <a:ext uri="{FF2B5EF4-FFF2-40B4-BE49-F238E27FC236}">
                <a16:creationId xmlns:a16="http://schemas.microsoft.com/office/drawing/2014/main" id="{619226F0-2C55-4B95-86FA-7FF888CBDC86}"/>
              </a:ext>
            </a:extLst>
          </p:cNvPr>
          <p:cNvSpPr>
            <a:spLocks noGrp="1"/>
          </p:cNvSpPr>
          <p:nvPr/>
        </p:nvSpPr>
        <p:spPr>
          <a:xfrm>
            <a:off x="199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1</a:t>
            </a:r>
          </a:p>
        </p:txBody>
      </p:sp>
      <p:sp>
        <p:nvSpPr>
          <p:cNvPr id="26" name="rollout-stage-1">
            <a:extLst>
              <a:ext uri="{FF2B5EF4-FFF2-40B4-BE49-F238E27FC236}">
                <a16:creationId xmlns:a16="http://schemas.microsoft.com/office/drawing/2014/main" id="{0D9F601A-DCFA-40AE-9459-F28334FCE873}"/>
              </a:ext>
            </a:extLst>
          </p:cNvPr>
          <p:cNvSpPr>
            <a:spLocks noGrp="1"/>
          </p:cNvSpPr>
          <p:nvPr/>
        </p:nvSpPr>
        <p:spPr>
          <a:xfrm>
            <a:off x="85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27" name="rollout-heading-1">
            <a:extLst>
              <a:ext uri="{FF2B5EF4-FFF2-40B4-BE49-F238E27FC236}">
                <a16:creationId xmlns:a16="http://schemas.microsoft.com/office/drawing/2014/main" id="{4DADEB56-54C0-4C4E-97F2-0BFC936E3F54}"/>
              </a:ext>
            </a:extLst>
          </p:cNvPr>
          <p:cNvSpPr>
            <a:spLocks noGrp="1"/>
          </p:cNvSpPr>
          <p:nvPr/>
        </p:nvSpPr>
        <p:spPr>
          <a:xfrm>
            <a:off x="95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Start small</a:t>
            </a:r>
          </a:p>
        </p:txBody>
      </p:sp>
      <p:sp>
        <p:nvSpPr>
          <p:cNvPr id="28" name="rollout-detail-1">
            <a:extLst>
              <a:ext uri="{FF2B5EF4-FFF2-40B4-BE49-F238E27FC236}">
                <a16:creationId xmlns:a16="http://schemas.microsoft.com/office/drawing/2014/main" id="{A6BA2584-1CA0-4DCB-9D32-CE2A9205A391}"/>
              </a:ext>
            </a:extLst>
          </p:cNvPr>
          <p:cNvSpPr>
            <a:spLocks noGrp="1"/>
          </p:cNvSpPr>
          <p:nvPr/>
        </p:nvSpPr>
        <p:spPr>
          <a:xfrm>
            <a:off x="76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Enable OBI on</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 few nodes.</a:t>
            </a:r>
          </a:p>
        </p:txBody>
      </p:sp>
      <p:cxnSp>
        <p:nvCxnSpPr>
          <p:cNvPr id="29" name="rollout-arrow-1">
            <a:extLst>
              <a:ext uri="{FF2B5EF4-FFF2-40B4-BE49-F238E27FC236}">
                <a16:creationId xmlns:a16="http://schemas.microsoft.com/office/drawing/2014/main" id="{0179766C-AD8A-4FD1-A004-F5D775C68530}"/>
              </a:ext>
            </a:extLst>
          </p:cNvPr>
          <p:cNvCxnSpPr/>
          <p:nvPr/>
        </p:nvCxnSpPr>
        <p:spPr>
          <a:xfrm>
            <a:off x="3714750" y="2667000"/>
            <a:ext cx="952500" cy="0"/>
          </a:xfrm>
          <a:prstGeom prst="straightConnector1">
            <a:avLst/>
          </a:prstGeom>
          <a:ln w="19050">
            <a:solidFill>
              <a:srgbClr val="07182A"/>
            </a:solidFill>
            <a:tailEnd type="arrow" w="med" len="med"/>
          </a:ln>
        </p:spPr>
      </p:cxnSp>
      <p:sp>
        <p:nvSpPr>
          <p:cNvPr id="30" name="rollout-number-2">
            <a:extLst>
              <a:ext uri="{FF2B5EF4-FFF2-40B4-BE49-F238E27FC236}">
                <a16:creationId xmlns:a16="http://schemas.microsoft.com/office/drawing/2014/main" id="{A100CE3B-3491-4B9A-857A-EEB73D75781E}"/>
              </a:ext>
            </a:extLst>
          </p:cNvPr>
          <p:cNvSpPr>
            <a:spLocks noGrp="1"/>
          </p:cNvSpPr>
          <p:nvPr/>
        </p:nvSpPr>
        <p:spPr>
          <a:xfrm>
            <a:off x="580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31" name="rollout-number-text-2">
            <a:extLst>
              <a:ext uri="{FF2B5EF4-FFF2-40B4-BE49-F238E27FC236}">
                <a16:creationId xmlns:a16="http://schemas.microsoft.com/office/drawing/2014/main" id="{40545FEE-4643-46CC-A839-77140AB8174D}"/>
              </a:ext>
            </a:extLst>
          </p:cNvPr>
          <p:cNvSpPr>
            <a:spLocks noGrp="1"/>
          </p:cNvSpPr>
          <p:nvPr/>
        </p:nvSpPr>
        <p:spPr>
          <a:xfrm>
            <a:off x="580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2</a:t>
            </a:r>
          </a:p>
        </p:txBody>
      </p:sp>
      <p:sp>
        <p:nvSpPr>
          <p:cNvPr id="32" name="rollout-stage-2">
            <a:extLst>
              <a:ext uri="{FF2B5EF4-FFF2-40B4-BE49-F238E27FC236}">
                <a16:creationId xmlns:a16="http://schemas.microsoft.com/office/drawing/2014/main" id="{45EF45FE-6984-4B14-9E82-02158503DC49}"/>
              </a:ext>
            </a:extLst>
          </p:cNvPr>
          <p:cNvSpPr>
            <a:spLocks noGrp="1"/>
          </p:cNvSpPr>
          <p:nvPr/>
        </p:nvSpPr>
        <p:spPr>
          <a:xfrm>
            <a:off x="466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33" name="rollout-heading-2">
            <a:extLst>
              <a:ext uri="{FF2B5EF4-FFF2-40B4-BE49-F238E27FC236}">
                <a16:creationId xmlns:a16="http://schemas.microsoft.com/office/drawing/2014/main" id="{B0EE6170-72EB-46BB-9763-23A6455523C9}"/>
              </a:ext>
            </a:extLst>
          </p:cNvPr>
          <p:cNvSpPr>
            <a:spLocks noGrp="1"/>
          </p:cNvSpPr>
          <p:nvPr/>
        </p:nvSpPr>
        <p:spPr>
          <a:xfrm>
            <a:off x="476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Check the results</a:t>
            </a:r>
          </a:p>
        </p:txBody>
      </p:sp>
      <p:sp>
        <p:nvSpPr>
          <p:cNvPr id="34" name="rollout-detail-2">
            <a:extLst>
              <a:ext uri="{FF2B5EF4-FFF2-40B4-BE49-F238E27FC236}">
                <a16:creationId xmlns:a16="http://schemas.microsoft.com/office/drawing/2014/main" id="{C18F365B-6D88-4255-A1FD-1CB128985C00}"/>
              </a:ext>
            </a:extLst>
          </p:cNvPr>
          <p:cNvSpPr>
            <a:spLocks noGrp="1"/>
          </p:cNvSpPr>
          <p:nvPr/>
        </p:nvSpPr>
        <p:spPr>
          <a:xfrm>
            <a:off x="457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Check requests, telemetry,</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and resource use.</a:t>
            </a:r>
          </a:p>
        </p:txBody>
      </p:sp>
      <p:cxnSp>
        <p:nvCxnSpPr>
          <p:cNvPr id="35" name="rollout-arrow-2">
            <a:extLst>
              <a:ext uri="{FF2B5EF4-FFF2-40B4-BE49-F238E27FC236}">
                <a16:creationId xmlns:a16="http://schemas.microsoft.com/office/drawing/2014/main" id="{1B1C721C-EF54-428C-938D-43530224DDCF}"/>
              </a:ext>
            </a:extLst>
          </p:cNvPr>
          <p:cNvCxnSpPr/>
          <p:nvPr/>
        </p:nvCxnSpPr>
        <p:spPr>
          <a:xfrm>
            <a:off x="7524750" y="2667000"/>
            <a:ext cx="952500" cy="0"/>
          </a:xfrm>
          <a:prstGeom prst="straightConnector1">
            <a:avLst/>
          </a:prstGeom>
          <a:ln w="19050">
            <a:solidFill>
              <a:srgbClr val="07182A"/>
            </a:solidFill>
            <a:tailEnd type="arrow" w="med" len="med"/>
          </a:ln>
        </p:spPr>
      </p:cxnSp>
      <p:sp>
        <p:nvSpPr>
          <p:cNvPr id="36" name="rollout-number-3">
            <a:extLst>
              <a:ext uri="{FF2B5EF4-FFF2-40B4-BE49-F238E27FC236}">
                <a16:creationId xmlns:a16="http://schemas.microsoft.com/office/drawing/2014/main" id="{92BA6C3E-B0C9-40CC-9894-53985EFBE5D2}"/>
              </a:ext>
            </a:extLst>
          </p:cNvPr>
          <p:cNvSpPr>
            <a:spLocks noGrp="1"/>
          </p:cNvSpPr>
          <p:nvPr/>
        </p:nvSpPr>
        <p:spPr>
          <a:xfrm>
            <a:off x="9610725" y="1562100"/>
            <a:ext cx="590550" cy="400050"/>
          </a:xfrm>
          <a:prstGeom prst="roundRect">
            <a:avLst>
              <a:gd name="adj" fmla="val 16667"/>
            </a:avLst>
          </a:prstGeom>
          <a:solidFill>
            <a:srgbClr val="29AA61"/>
          </a:solidFill>
          <a:ln w="11906">
            <a:solidFill>
              <a:srgbClr val="29AA61"/>
            </a:solidFill>
          </a:ln>
        </p:spPr>
        <p:txBody>
          <a:bodyPr/>
          <a:lstStyle/>
          <a:p>
            <a:endParaRPr lang="en-ES"/>
          </a:p>
        </p:txBody>
      </p:sp>
      <p:sp>
        <p:nvSpPr>
          <p:cNvPr id="37" name="rollout-number-text-3">
            <a:extLst>
              <a:ext uri="{FF2B5EF4-FFF2-40B4-BE49-F238E27FC236}">
                <a16:creationId xmlns:a16="http://schemas.microsoft.com/office/drawing/2014/main" id="{C1B684A9-18CB-41D7-8F1C-54E4212478EB}"/>
              </a:ext>
            </a:extLst>
          </p:cNvPr>
          <p:cNvSpPr>
            <a:spLocks noGrp="1"/>
          </p:cNvSpPr>
          <p:nvPr/>
        </p:nvSpPr>
        <p:spPr>
          <a:xfrm>
            <a:off x="961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3</a:t>
            </a:r>
          </a:p>
        </p:txBody>
      </p:sp>
      <p:sp>
        <p:nvSpPr>
          <p:cNvPr id="38" name="rollout-stage-3">
            <a:extLst>
              <a:ext uri="{FF2B5EF4-FFF2-40B4-BE49-F238E27FC236}">
                <a16:creationId xmlns:a16="http://schemas.microsoft.com/office/drawing/2014/main" id="{AA730FC7-5D39-4996-9C02-44A69411EE92}"/>
              </a:ext>
            </a:extLst>
          </p:cNvPr>
          <p:cNvSpPr>
            <a:spLocks noGrp="1"/>
          </p:cNvSpPr>
          <p:nvPr/>
        </p:nvSpPr>
        <p:spPr>
          <a:xfrm>
            <a:off x="8477250" y="2238375"/>
            <a:ext cx="2857500" cy="857250"/>
          </a:xfrm>
          <a:prstGeom prst="roundRect">
            <a:avLst>
              <a:gd name="adj" fmla="val 7778"/>
            </a:avLst>
          </a:prstGeom>
          <a:solidFill>
            <a:srgbClr val="EDF7F0"/>
          </a:solidFill>
          <a:ln w="11906">
            <a:solidFill>
              <a:srgbClr val="29AA61"/>
            </a:solidFill>
          </a:ln>
        </p:spPr>
        <p:txBody>
          <a:bodyPr/>
          <a:lstStyle/>
          <a:p>
            <a:endParaRPr lang="en-ES"/>
          </a:p>
        </p:txBody>
      </p:sp>
      <p:sp>
        <p:nvSpPr>
          <p:cNvPr id="39" name="rollout-heading-3">
            <a:extLst>
              <a:ext uri="{FF2B5EF4-FFF2-40B4-BE49-F238E27FC236}">
                <a16:creationId xmlns:a16="http://schemas.microsoft.com/office/drawing/2014/main" id="{CAC2F09C-EE61-4C50-92EF-A2C57C3D5311}"/>
              </a:ext>
            </a:extLst>
          </p:cNvPr>
          <p:cNvSpPr>
            <a:spLocks noGrp="1"/>
          </p:cNvSpPr>
          <p:nvPr/>
        </p:nvSpPr>
        <p:spPr>
          <a:xfrm>
            <a:off x="857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Expand gradually</a:t>
            </a:r>
          </a:p>
        </p:txBody>
      </p:sp>
      <p:sp>
        <p:nvSpPr>
          <p:cNvPr id="40" name="rollout-detail-3">
            <a:extLst>
              <a:ext uri="{FF2B5EF4-FFF2-40B4-BE49-F238E27FC236}">
                <a16:creationId xmlns:a16="http://schemas.microsoft.com/office/drawing/2014/main" id="{D57A334E-42B1-4AFE-8D9C-3D300F40F752}"/>
              </a:ext>
            </a:extLst>
          </p:cNvPr>
          <p:cNvSpPr>
            <a:spLocks noGrp="1"/>
          </p:cNvSpPr>
          <p:nvPr/>
        </p:nvSpPr>
        <p:spPr>
          <a:xfrm>
            <a:off x="838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Add more nodes</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when checks pass.</a:t>
            </a:r>
          </a:p>
        </p:txBody>
      </p:sp>
      <p:sp>
        <p:nvSpPr>
          <p:cNvPr id="41" name="rollout-rollback-background">
            <a:extLst>
              <a:ext uri="{FF2B5EF4-FFF2-40B4-BE49-F238E27FC236}">
                <a16:creationId xmlns:a16="http://schemas.microsoft.com/office/drawing/2014/main" id="{6420A510-A7D3-4C46-9EC4-A9B23720F370}"/>
              </a:ext>
            </a:extLst>
          </p:cNvPr>
          <p:cNvSpPr>
            <a:spLocks noGrp="1"/>
          </p:cNvSpPr>
          <p:nvPr/>
        </p:nvSpPr>
        <p:spPr>
          <a:xfrm>
            <a:off x="1219200" y="4838700"/>
            <a:ext cx="9753600" cy="857250"/>
          </a:xfrm>
          <a:prstGeom prst="roundRect">
            <a:avLst>
              <a:gd name="adj" fmla="val 7778"/>
            </a:avLst>
          </a:prstGeom>
          <a:solidFill>
            <a:srgbClr val="F4F6F7"/>
          </a:solidFill>
          <a:ln w="11906">
            <a:solidFill>
              <a:srgbClr val="D6DDE3"/>
            </a:solidFill>
          </a:ln>
        </p:spPr>
        <p:txBody>
          <a:bodyPr/>
          <a:lstStyle/>
          <a:p>
            <a:endParaRPr lang="en-ES"/>
          </a:p>
        </p:txBody>
      </p:sp>
      <p:sp>
        <p:nvSpPr>
          <p:cNvPr id="42" name="rollout-rollback">
            <a:extLst>
              <a:ext uri="{FF2B5EF4-FFF2-40B4-BE49-F238E27FC236}">
                <a16:creationId xmlns:a16="http://schemas.microsoft.com/office/drawing/2014/main" id="{DB47BD46-21DC-47C2-87C2-9413DBB62336}"/>
              </a:ext>
            </a:extLst>
          </p:cNvPr>
          <p:cNvSpPr>
            <a:spLocks noGrp="1"/>
          </p:cNvSpPr>
          <p:nvPr/>
        </p:nvSpPr>
        <p:spPr>
          <a:xfrm>
            <a:off x="1619250" y="5019675"/>
            <a:ext cx="8953500" cy="495300"/>
          </a:xfrm>
          <a:prstGeom prst="rect">
            <a:avLst/>
          </a:prstGeom>
          <a:noFill/>
          <a:ln w="0">
            <a:noFill/>
          </a:ln>
        </p:spPr>
        <p:txBody>
          <a:bodyPr anchor="ctr">
            <a:noAutofit/>
          </a:bodyPr>
          <a:lstStyle>
            <a:defPPr algn="ctr">
              <a:defRPr sz="1875" b="1">
                <a:solidFill>
                  <a:srgbClr val="07182A"/>
                </a:solidFill>
                <a:latin typeface="CiscoSansTT Medium"/>
                <a:ea typeface="CiscoSansTT Medium"/>
                <a:cs typeface="CiscoSansTT Medium"/>
              </a:defRPr>
            </a:defPPr>
            <a:lvl1pPr algn="ctr">
              <a:defRPr sz="1875" b="1">
                <a:solidFill>
                  <a:srgbClr val="07182A"/>
                </a:solidFill>
                <a:latin typeface="CiscoSansTT Medium"/>
                <a:ea typeface="CiscoSansTT Medium"/>
                <a:cs typeface="CiscoSansTT Medium"/>
              </a:defRPr>
            </a:lvl1pPr>
            <a:lvl2pPr algn="ctr">
              <a:defRPr sz="1875" b="1">
                <a:solidFill>
                  <a:srgbClr val="07182A"/>
                </a:solidFill>
                <a:latin typeface="CiscoSansTT Medium"/>
                <a:ea typeface="CiscoSansTT Medium"/>
                <a:cs typeface="CiscoSansTT Medium"/>
              </a:defRPr>
            </a:lvl2pPr>
            <a:lvl3pPr algn="ctr">
              <a:defRPr sz="1875" b="1">
                <a:solidFill>
                  <a:srgbClr val="07182A"/>
                </a:solidFill>
                <a:latin typeface="CiscoSansTT Medium"/>
                <a:ea typeface="CiscoSansTT Medium"/>
                <a:cs typeface="CiscoSansTT Medium"/>
              </a:defRPr>
            </a:lvl3pPr>
            <a:lvl4pPr algn="ctr">
              <a:defRPr sz="1875" b="1">
                <a:solidFill>
                  <a:srgbClr val="07182A"/>
                </a:solidFill>
                <a:latin typeface="CiscoSansTT Medium"/>
                <a:ea typeface="CiscoSansTT Medium"/>
                <a:cs typeface="CiscoSansTT Medium"/>
              </a:defRPr>
            </a:lvl4pPr>
            <a:lvl5pPr algn="ctr">
              <a:defRPr sz="1875" b="1">
                <a:solidFill>
                  <a:srgbClr val="07182A"/>
                </a:solidFill>
                <a:latin typeface="CiscoSansTT Medium"/>
                <a:ea typeface="CiscoSansTT Medium"/>
                <a:cs typeface="CiscoSansTT Medium"/>
              </a:defRPr>
            </a:lvl5pPr>
            <a:lvl6pPr algn="ctr">
              <a:defRPr sz="1875" b="1">
                <a:solidFill>
                  <a:srgbClr val="07182A"/>
                </a:solidFill>
                <a:latin typeface="CiscoSansTT Medium"/>
                <a:ea typeface="CiscoSansTT Medium"/>
                <a:cs typeface="CiscoSansTT Medium"/>
              </a:defRPr>
            </a:lvl6pPr>
            <a:lvl7pPr algn="ctr">
              <a:defRPr sz="1875" b="1">
                <a:solidFill>
                  <a:srgbClr val="07182A"/>
                </a:solidFill>
                <a:latin typeface="CiscoSansTT Medium"/>
                <a:ea typeface="CiscoSansTT Medium"/>
                <a:cs typeface="CiscoSansTT Medium"/>
              </a:defRPr>
            </a:lvl7pPr>
            <a:lvl8pPr algn="ctr">
              <a:defRPr sz="1875" b="1">
                <a:solidFill>
                  <a:srgbClr val="07182A"/>
                </a:solidFill>
                <a:latin typeface="CiscoSansTT Medium"/>
                <a:ea typeface="CiscoSansTT Medium"/>
                <a:cs typeface="CiscoSansTT Medium"/>
              </a:defRPr>
            </a:lvl8pPr>
            <a:lvl9pPr algn="ctr">
              <a:defRPr sz="1875" b="1">
                <a:solidFill>
                  <a:srgbClr val="07182A"/>
                </a:solidFill>
                <a:latin typeface="CiscoSansTT Medium"/>
                <a:ea typeface="CiscoSansTT Medium"/>
                <a:cs typeface="CiscoSansTT Medium"/>
              </a:defRPr>
            </a:lvl9pPr>
          </a:lstStyle>
          <a:p>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If a check fails, stop and restore the previous setup.</a:t>
            </a:r>
          </a:p>
        </p:txBody>
      </p:sp>
    </p:spTree>
    <p:extLst>
      <p:ext uri="{BB962C8B-B14F-4D97-AF65-F5344CB8AC3E}">
        <p14:creationId xmlns:p14="http://schemas.microsoft.com/office/powerpoint/2010/main" val="315884920"/>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99C880A8-3582-4338-BB63-C79554C56E94}"/>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a:ext uri="{FF2B5EF4-FFF2-40B4-BE49-F238E27FC236}">
                <a16:creationId xmlns:a16="http://schemas.microsoft.com/office/drawing/2014/main" id="{CEC07943-9C3B-4328-9CA2-532BB469DBA6}"/>
              </a:ext>
            </a:extLst>
          </p:cNvPr>
          <p:cNvSpPr>
            <a:spLocks noGrp="1"/>
          </p:cNvSpPr>
          <p:nvPr/>
        </p:nvSpPr>
        <p:spPr>
          <a:xfrm>
            <a:off x="781050" y="1524000"/>
            <a:ext cx="857250" cy="552450"/>
          </a:xfrm>
          <a:prstGeom prst="rect">
            <a:avLst/>
          </a:prstGeom>
          <a:noFill/>
          <a:ln w="0">
            <a:noFill/>
          </a:ln>
        </p:spPr>
        <p:txBody>
          <a:bodyPr anchor="t">
            <a:normAutofit/>
          </a:bodyPr>
          <a:lstStyle/>
          <a:p>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909DFF60-89E5-4A12-A77D-719A2348DAA4}"/>
              </a:ext>
            </a:extLst>
          </p:cNvPr>
          <p:cNvSpPr>
            <a:spLocks noGrp="1"/>
          </p:cNvSpPr>
          <p:nvPr/>
        </p:nvSpPr>
        <p:spPr>
          <a:xfrm>
            <a:off x="1905000" y="152400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Verify traffic + order</a:t>
            </a:r>
          </a:p>
        </p:txBody>
      </p:sp>
      <p:sp>
        <p:nvSpPr>
          <p:cNvPr id="4" name="Rectangle 3">
            <a:extLst>
              <a:ext uri="{FF2B5EF4-FFF2-40B4-BE49-F238E27FC236}">
                <a16:creationId xmlns:a16="http://schemas.microsoft.com/office/drawing/2014/main" id="{1DED608B-AA10-4F56-83D1-A47EE6CD188F}"/>
              </a:ext>
            </a:extLst>
          </p:cNvPr>
          <p:cNvSpPr>
            <a:spLocks noGrp="1"/>
          </p:cNvSpPr>
          <p:nvPr/>
        </p:nvSpPr>
        <p:spPr>
          <a:xfrm>
            <a:off x="5953125" y="154305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Check allowed and denied traffic.</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TCX or legacy priorities.</a:t>
            </a:r>
          </a:p>
        </p:txBody>
      </p:sp>
      <p:sp>
        <p:nvSpPr>
          <p:cNvPr id="5" name="Rectangle 4">
            <a:extLst>
              <a:ext uri="{FF2B5EF4-FFF2-40B4-BE49-F238E27FC236}">
                <a16:creationId xmlns:a16="http://schemas.microsoft.com/office/drawing/2014/main" id="{B063BBC9-28E7-4543-A22D-F34BBD91DF39}"/>
              </a:ext>
            </a:extLst>
          </p:cNvPr>
          <p:cNvSpPr>
            <a:spLocks noGrp="1"/>
          </p:cNvSpPr>
          <p:nvPr/>
        </p:nvSpPr>
        <p:spPr>
          <a:xfrm>
            <a:off x="1905000" y="2333625"/>
            <a:ext cx="9477375"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7744041E-5BE1-4917-AB80-60DE28645E6A}"/>
              </a:ext>
            </a:extLst>
          </p:cNvPr>
          <p:cNvSpPr>
            <a:spLocks noGrp="1"/>
          </p:cNvSpPr>
          <p:nvPr/>
        </p:nvSpPr>
        <p:spPr>
          <a:xfrm>
            <a:off x="781050" y="2905125"/>
            <a:ext cx="857250" cy="552450"/>
          </a:xfrm>
          <a:prstGeom prst="rect">
            <a:avLst/>
          </a:prstGeom>
          <a:noFill/>
          <a:ln w="0">
            <a:noFill/>
          </a:ln>
        </p:spPr>
        <p:txBody>
          <a:bodyPr anchor="t">
            <a:normAutofit/>
          </a:bodyPr>
          <a:lstStyle/>
          <a:p>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FE853C3F-C124-4539-A207-DDBFF83B7A34}"/>
              </a:ext>
            </a:extLst>
          </p:cNvPr>
          <p:cNvSpPr>
            <a:spLocks noGrp="1"/>
          </p:cNvSpPr>
          <p:nvPr/>
        </p:nvSpPr>
        <p:spPr>
          <a:xfrm>
            <a:off x="1905000" y="2905125"/>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Correlate the signals</a:t>
            </a:r>
          </a:p>
        </p:txBody>
      </p:sp>
      <p:sp>
        <p:nvSpPr>
          <p:cNvPr id="8" name="Rectangle 7">
            <a:extLst>
              <a:ext uri="{FF2B5EF4-FFF2-40B4-BE49-F238E27FC236}">
                <a16:creationId xmlns:a16="http://schemas.microsoft.com/office/drawing/2014/main" id="{FC46DB99-40F6-4A65-86C7-09E7DE84F08A}"/>
              </a:ext>
            </a:extLst>
          </p:cNvPr>
          <p:cNvSpPr>
            <a:spLocks noGrp="1"/>
          </p:cNvSpPr>
          <p:nvPr/>
        </p:nvSpPr>
        <p:spPr>
          <a:xfrm>
            <a:off x="5953125" y="2924175"/>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Match time, workloads, direction, and port.</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Use OBI traces with Hubble flow evidence.</a:t>
            </a:r>
          </a:p>
        </p:txBody>
      </p:sp>
      <p:sp>
        <p:nvSpPr>
          <p:cNvPr id="9" name="Rectangle 8">
            <a:extLst>
              <a:ext uri="{FF2B5EF4-FFF2-40B4-BE49-F238E27FC236}">
                <a16:creationId xmlns:a16="http://schemas.microsoft.com/office/drawing/2014/main" id="{06E77A3C-525A-4F41-9208-7530006142A6}"/>
              </a:ext>
            </a:extLst>
          </p:cNvPr>
          <p:cNvSpPr>
            <a:spLocks noGrp="1"/>
          </p:cNvSpPr>
          <p:nvPr/>
        </p:nvSpPr>
        <p:spPr>
          <a:xfrm>
            <a:off x="1905000" y="3714750"/>
            <a:ext cx="9477375"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0733A2E0-4853-430E-B861-8F608C46153F}"/>
              </a:ext>
            </a:extLst>
          </p:cNvPr>
          <p:cNvSpPr>
            <a:spLocks noGrp="1"/>
          </p:cNvSpPr>
          <p:nvPr/>
        </p:nvSpPr>
        <p:spPr>
          <a:xfrm>
            <a:off x="781050" y="4286250"/>
            <a:ext cx="857250" cy="552450"/>
          </a:xfrm>
          <a:prstGeom prst="rect">
            <a:avLst/>
          </a:prstGeom>
          <a:noFill/>
          <a:ln w="0">
            <a:noFill/>
          </a:ln>
        </p:spPr>
        <p:txBody>
          <a:bodyPr anchor="t">
            <a:normAutofit/>
          </a:bodyPr>
          <a:lstStyle/>
          <a:p>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5C6F9620-6253-4E71-BDCC-B3879164F272}"/>
              </a:ext>
            </a:extLst>
          </p:cNvPr>
          <p:cNvSpPr>
            <a:spLocks noGrp="1"/>
          </p:cNvSpPr>
          <p:nvPr/>
        </p:nvSpPr>
        <p:spPr>
          <a:xfrm>
            <a:off x="1905000" y="428625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Measure before rollout</a:t>
            </a:r>
          </a:p>
        </p:txBody>
      </p:sp>
      <p:sp>
        <p:nvSpPr>
          <p:cNvPr id="12" name="Rectangle 11">
            <a:extLst>
              <a:ext uri="{FF2B5EF4-FFF2-40B4-BE49-F238E27FC236}">
                <a16:creationId xmlns:a16="http://schemas.microsoft.com/office/drawing/2014/main" id="{042175F6-EADD-46D7-BB92-94092EF9F2DD}"/>
              </a:ext>
            </a:extLst>
          </p:cNvPr>
          <p:cNvSpPr>
            <a:spLocks noGrp="1"/>
          </p:cNvSpPr>
          <p:nvPr/>
        </p:nvSpPr>
        <p:spPr>
          <a:xfrm>
            <a:off x="5953125" y="430530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Compare CPU, memory, missing telemetry,</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and data volume before expanding.</a:t>
            </a:r>
          </a:p>
        </p:txBody>
      </p:sp>
      <p:sp>
        <p:nvSpPr>
          <p:cNvPr id="13" name="Rectangle 12">
            <a:extLst>
              <a:ext uri="{FF2B5EF4-FFF2-40B4-BE49-F238E27FC236}">
                <a16:creationId xmlns:a16="http://schemas.microsoft.com/office/drawing/2014/main" id="{6DB2593E-1A84-4909-8DB4-F01E41F71A0B}"/>
              </a:ext>
            </a:extLst>
          </p:cNvPr>
          <p:cNvSpPr>
            <a:spLocks noGrp="1"/>
          </p:cNvSpPr>
          <p:nvPr/>
        </p:nvSpPr>
        <p:spPr>
          <a:xfrm>
            <a:off x="1905000" y="5095875"/>
            <a:ext cx="9477375"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91055546"/>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a:ext uri="{FF2B5EF4-FFF2-40B4-BE49-F238E27FC236}">
                <a16:creationId xmlns:a16="http://schemas.microsoft.com/office/drawing/2014/main" id="{2BBB1705-8A86-4DED-B223-99D39B18DAC1}"/>
              </a:ext>
            </a:extLst>
          </p:cNvPr>
          <p:cNvSpPr>
            <a:spLocks noGrp="1"/>
          </p:cNvSpPr>
          <p:nvPr/>
        </p:nvSpPr>
        <p:spPr>
          <a:xfrm>
            <a:off x="762000" y="1476375"/>
            <a:ext cx="4381500" cy="361950"/>
          </a:xfrm>
          <a:prstGeom prst="rect">
            <a:avLst/>
          </a:prstGeom>
          <a:noFill/>
          <a:ln w="0">
            <a:noFill/>
          </a:ln>
        </p:spPr>
        <p:txBody>
          <a:bodyPr anchor="t">
            <a:normAutofit fontScale="94667" lnSpcReduction="10000"/>
          </a:bodyPr>
          <a:lstStyle/>
          <a:p>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6B685953-4679-4CFB-B385-330DB1330E0D}"/>
              </a:ext>
            </a:extLst>
          </p:cNvPr>
          <p:cNvSpPr>
            <a:spLocks noGrp="1"/>
          </p:cNvSpPr>
          <p:nvPr/>
        </p:nvSpPr>
        <p:spPr>
          <a:xfrm>
            <a:off x="9525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7976" lnSpcReduction="10000"/>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7976" lnSpcReduction="10000"/>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transition/>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353</TotalTime>
  <Words>7670</Words>
  <Application>Microsoft Macintosh PowerPoint</Application>
  <DocSecurity>0</DocSecurity>
  <PresentationFormat>Widescreen</PresentationFormat>
  <Paragraphs>731</Paragraphs>
  <Slides>37</Slides>
  <Notes>37</Notes>
  <HiddenSlides>2</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CiscoSansTT Medium</vt:lpstr>
      <vt:lpstr>CiscoSansTT</vt:lpstr>
      <vt:lpstr>Calibri</vt:lpstr>
      <vt:lpstr>Arial</vt:lpstr>
      <vt:lpstr>Cisco Light 05-21-2025</vt:lpstr>
      <vt:lpstr>Two eBPF Systems, One Kubernetes Node</vt:lpstr>
      <vt:lpstr>PowerPoint Presentation</vt:lpstr>
      <vt:lpstr>PowerPoint Presentation</vt:lpstr>
      <vt:lpstr>PowerPoint Presentation</vt:lpstr>
      <vt:lpstr>PowerPoint Presentation</vt:lpstr>
      <vt:lpstr>PowerPoint Presentation</vt:lpstr>
      <vt:lpstr>The coexistence problem</vt:lpstr>
      <vt:lpstr>PowerPoint Presentation</vt:lpstr>
      <vt:lpstr>PowerPoint Presentation</vt:lpstr>
      <vt:lpstr>PowerPoint Presentation</vt:lpstr>
      <vt:lpstr>PowerPoint Presentation</vt:lpstr>
      <vt:lpstr>Attachment order</vt:lpstr>
      <vt:lpstr>PowerPoint Presentation</vt:lpstr>
      <vt:lpstr>PowerPoint Presentation</vt:lpstr>
      <vt:lpstr>PowerPoint Presentation</vt:lpstr>
      <vt:lpstr>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PowerPoint Presentation</vt:lpstr>
      <vt:lpstr>Appendix</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11</cp:revision>
  <dcterms:created xsi:type="dcterms:W3CDTF">2026-09-27T17:17:35Z</dcterms:created>
  <dcterms:modified xsi:type="dcterms:W3CDTF">2026-10-30T14:34:44Z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