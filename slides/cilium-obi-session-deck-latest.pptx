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77"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50302020102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127"/>
    <p:restoredTop sz="79177"/>
  </p:normalViewPr>
  <p:slideViewPr>
    <p:cSldViewPr snapToGrid="0">
      <p:cViewPr varScale="1">
        <p:scale>
          <a:sx n="177" d="100"/>
          <a:sy n="177" d="100"/>
        </p:scale>
        <p:origin x="28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bytes and packets between endpoints. Kubernetes metadata can identify the source and destination workloads.</a:t>
            </a:r>
          </a:p>
          <a:p>
            <a:endParaRPr/>
          </a:p>
          <a:p>
            <a:r>
              <a:t>Use these metrics to find services that send the most traffic, or to export traffic volume through an OpenTelemetry pipeline.</a:t>
            </a:r>
          </a:p>
          <a:p>
            <a:endParaRPr/>
          </a:p>
          <a:p>
            <a:r>
              <a:t>These network-volume counters do not provide the Cilium policy record that says Policy denied. Hubble and OBI may also count traffic differently because they observe and aggregate it at different points.</a:t>
            </a:r>
          </a:p>
          <a:p>
            <a:endParaRPr/>
          </a:p>
          <a:p>
            <a:r>
              <a:t>When enabling OBI network collection alongside Cilium, choose network.source: socket_filter. Limit labels to the dimensions you need, because many endpoint and port combinations can create many metric series.</a:t>
            </a:r>
          </a:p>
          <a:p>
            <a:endParaRPr/>
          </a:p>
          <a:p>
            <a:r>
              <a:t>Optional network-volume collection is separate from application tracing and TCP trace-context propagation. Disabling the network-volume collector does not disable those application features.</a:t>
            </a:r>
          </a:p>
          <a:p>
            <a:endParaRPr/>
          </a:p>
          <a:p>
            <a:r>
              <a:t>Transition: the next section explains the shared kernel hooks and why attachment order matters.</a:t>
            </a:r>
          </a:p>
          <a:p>
            <a:endParaRPr/>
          </a:p>
          <a:p>
            <a:r>
              <a:t>Sources:</a:t>
            </a:r>
          </a:p>
          <a:p>
            <a:r>
              <a:t>- https://opentelemetry.io/docs/zero-code/obi/network/</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a:t>
            </a:r>
          </a:p>
          <a:p xmlns:a="http://schemas.openxmlformats.org/drawingml/2006/main">
            <a:r>
              <a:t/>
            </a:r>
            <a:endParaRPr/>
          </a:p>
          <a:p xmlns:a="http://schemas.openxmlformats.org/drawingml/2006/main">
            <a:r>
              <a:t>A span describes one operation, such as edge-nginx handling a request or v2 calling v1. A trace groups the related operations so we can follow a request across services.</a:t>
            </a:r>
          </a:p>
          <a:p xmlns:a="http://schemas.openxmlformats.org/drawingml/2006/main">
            <a:r>
              <a:t/>
            </a:r>
            <a:endParaRPr/>
          </a:p>
          <a:p xmlns:a="http://schemas.openxmlformats.org/drawingml/2006/main">
            <a:r>
              <a:t>Read the first row. If the operations have no shared trace context, they can appear as separate traces. The letters A, B, and C are illustrative IDs, not captured telemetry. The missing arrows show that the backend cannot connect these separate records into the intended request journey.</a:t>
            </a:r>
          </a:p>
          <a:p xmlns:a="http://schemas.openxmlformats.org/drawingml/2006/main">
            <a:r>
              <a:t/>
            </a:r>
            <a:endParaRPr/>
          </a:p>
          <a:p xmlns:a="http://schemas.openxmlformats.org/drawingml/2006/main">
            <a:r>
              <a:t>Read the second row. Propagating trace context lets the downstream operations keep the same trace ID and the relevant parent relationship. The backend can then display the operations together. The arrows represent the service calls. These examples explain the purpose of context propagation, not a before-and-after measurement from our demo.</a:t>
            </a:r>
          </a:p>
          <a:p xmlns:a="http://schemas.openxmlformats.org/drawingml/2006/main">
            <a:r>
              <a:t/>
            </a:r>
            <a:endParaRPr/>
          </a:p>
          <a:p xmlns:a="http://schemas.openxmlformats.org/drawingml/2006/main">
            <a:r>
              <a:t>Now move to the packet path below. In the veth datapath used here, the pod connects to the node through a virtual interface pair. OBI can use optional TCP context propagation at the host-side traffic-control hooks. Cilium also uses these hooks for networking and policy. Both TC ingress and TC egress can contain programs from both agents. Ingress and egress refer to the host-side interface.</a:t>
            </a:r>
          </a:p>
          <a:p xmlns:a="http://schemas.openxmlformats.org/drawingml/2006/main">
            <a:r>
              <a:t/>
            </a:r>
            <a:endParaRPr/>
          </a:p>
          <a:p xmlns:a="http://schemas.openxmlformats.org/drawingml/2006/main">
            <a:r>
              <a:t>TCP propagation is one propagation mechanism. Other supported mechanisms, including HTTP headers, can also carry context. OBI application telemetry does not always require these shared TCP attachments. Our next question is the execution order when both agents attach here.</a:t>
            </a:r>
          </a:p>
          <a:p xmlns:a="http://schemas.openxmlformats.org/drawingml/2006/main">
            <a:r>
              <a:t/>
            </a:r>
          </a:p>
          <a:p xmlns:a="http://schemas.openxmlformats.org/drawingml/2006/main">
            <a:r>
              <a:t>Sources:</a:t>
            </a:r>
          </a:p>
          <a:p xmlns:a="http://schemas.openxmlformats.org/drawingml/2006/main">
            <a:r>
              <a:t>- https://opentelemetry.io/docs/concepts/context-propagation/</a:t>
            </a:r>
          </a:p>
          <a:p xmlns:a="http://schemas.openxmlformats.org/drawingml/2006/main">
            <a:r>
              <a:t>- https://opentelemetry.io/docs/zero-code/obi/cilium-compatibility/</a:t>
            </a:r>
          </a:p>
          <a:p xmlns:a="http://schemas.openxmlformats.org/drawingml/2006/main">
            <a:r>
              <a:t>- https://opentelemetry.io/docs/zero-code/obi/distributed-traces/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 is the Linux traffic-control subsystem that provides the packet checkpoints. TCX is the newer API for attaching eBPF programs at those checkpoints. Here, agents request first or last positions instead of coordinating legacy filter-priority numbers.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Legacy TC here means the older attachment method through Netlink. The packet checkpoint is still TC. Order comes from numeric priorities: priority 1 runs before priority 2. TCX achieves relative ordering through first and last positions instead.</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endParaRP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a:p xmlns:a="http://schemas.openxmlformats.org/drawingml/2006/main">
            <a:r>
              <a:t/>
            </a:r>
          </a:p>
          <a:p xmlns:a="http://schemas.openxmlformats.org/drawingml/2006/main">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 Play the video.</a:t>
            </a:r>
          </a:p>
          <a:p xmlns:a="http://schemas.openxmlformats.org/drawingml/2006/main">
            <a:r>
              <a:t/>
            </a:r>
            <a:endParaRPr/>
          </a:p>
          <a:p xmlns:a="http://schemas.openxmlformats.org/drawingml/2006/main">
            <a:r>
              <a:t>This compares two separate test clusters. Both use Cilium 1.20.2 and OBI v0.13.0. TCX is off, so the older TC mechanism uses priority numbers. A lower number runs earlier.</a:t>
            </a:r>
          </a:p>
          <a:p xmlns:a="http://schemas.openxmlformats.org/drawingml/2006/main">
            <a:r>
              <a:t/>
            </a:r>
            <a:endParaRPr/>
          </a:p>
          <a:p xmlns:a="http://schemas.openxmlformats.org/drawingml/2006/main">
            <a:r>
              <a:t>LEFT: Cilium uses priority 1. OBI detects that conflict and stops itself. That is why OBI shows 0/1 ready. The nginx request still returns HTTP 200: the application network continues to work while OBI is unavailable.</a:t>
            </a:r>
          </a:p>
          <a:p xmlns:a="http://schemas.openxmlformats.org/drawingml/2006/main">
            <a:r>
              <a:t/>
            </a:r>
            <a:endParaRPr/>
          </a:p>
          <a:p xmlns:a="http://schemas.openxmlformats.org/drawingml/2006/main">
            <a:r>
              <a:t>RIGHT: a fresh cluster uses Cilium priority 2. OBI can install its filter at priority 1, ahead of Cilium. OBI shows 1/1 ready and prints an HTTP span. The nginx request also returns HTTP 200.</a:t>
            </a:r>
          </a:p>
          <a:p xmlns:a="http://schemas.openxmlformats.org/drawingml/2006/main">
            <a:r>
              <a:t/>
            </a:r>
            <a:endParaRPr/>
          </a:p>
          <a:p xmlns:a="http://schemas.openxmlformats.org/drawingml/2006/main">
            <a:r>
              <a:t>What this teaches: check application health AND observability health. A successful request does not tell us that OBI is running or producing data.</a:t>
            </a:r>
          </a:p>
          <a:p xmlns:a="http://schemas.openxmlformats.org/drawingml/2006/main">
            <a:r>
              <a:t/>
            </a:r>
            <a:endParaRPr/>
          </a:p>
          <a:p xmlns:a="http://schemas.openxmlformats.org/drawingml/2006/main">
            <a:r>
              <a:t>Scope: this recording enables OBI's optional network.source: tc mode. Our application-only OBI configuration did not trigger this startup guard. The two sides are saved outputs from separate runs, replayed for the talk.</a:t>
            </a:r>
          </a:p>
          <a:p xmlns:a="http://schemas.openxmlformats.org/drawingml/2006/main">
            <a:r>
              <a:t/>
            </a:r>
            <a:endParaRPr/>
          </a:p>
          <a:p xmlns:a="http://schemas.openxmlformats.org/drawingml/2006/main">
            <a:r>
              <a:t>Sources:</a:t>
            </a:r>
          </a:p>
          <a:p xmlns:a="http://schemas.openxmlformats.org/drawingml/2006/main">
            <a:r>
              <a:t>- https://github.com/ajimenez1503/cilium-obi-demo/blob/main/demo/legacy-priority-recording.md</a:t>
            </a:r>
            <a:endParaRPr/>
          </a:p>
          <a:p xmlns:a="http://schemas.openxmlformats.org/drawingml/2006/main">
            <a:r>
              <a:t>- https://github.com/ajimenez1503/cilium-obi-demo/tree/main/evidence/legacy-priority-2026-09-27</a:t>
            </a:r>
          </a:p>
          <a:p xmlns:a="http://schemas.openxmlformats.org/drawingml/2006/main">
            <a:r>
              <a:t>- https://opentelemetry.io/docs/zero-code/obi/cilium-compatibility/</a:t>
            </a:r>
          </a:p>
          <a:p xmlns:a="http://schemas.openxmlformats.org/drawingml/2006/main">
            <a:r>
              <a:t/>
            </a:r>
          </a:p>
          <a:p xmlns:a="http://schemas.openxmlformats.org/drawingml/2006/main">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 Click the video to play. The clip plays at 1.5 times the previous speed and lasts about 20 seconds.</a:t>
            </a:r>
          </a:p>
          <a:p xmlns:a="http://schemas.openxmlformats.org/drawingml/2006/main">
            <a:r>
              <a:t/>
            </a:r>
            <a:endParaRPr/>
          </a:p>
          <a:p xmlns:a="http://schemas.openxmlformats.org/drawingml/2006/main">
            <a:r>
              <a:t>00:00 to about 00:05.3: upper Grafana view. Point to OBI request rate, errors, and latency beside the network flow and verdict panels. These totals cover the selected workloads and time window.</a:t>
            </a:r>
          </a:p>
          <a:p xmlns:a="http://schemas.openxmlformats.org/drawingml/2006/main">
            <a:r>
              <a:t/>
            </a:r>
            <a:endParaRPr/>
          </a:p>
          <a:p xmlns:a="http://schemas.openxmlformats.org/drawingml/2006/main">
            <a:r>
              <a:t>About 00:05.3 to 00:13.3: lower Grafana view. Point to the service edges and the network metrics. The existing reading holds are shorter at this playback speed.</a:t>
            </a:r>
          </a:p>
          <a:p xmlns:a="http://schemas.openxmlformats.org/drawingml/2006/main">
            <a:r>
              <a:t/>
            </a:r>
            <a:endParaRPr/>
          </a:p>
          <a:p xmlns:a="http://schemas.openxmlformats.org/drawingml/2006/main">
            <a:r>
              <a:t>About 00:13.3 to 00:19.8: Hubble UI. Follow edge-nginx to recommendations-v2 and recommendations-v2 to recommendations-v1. Point to workload identity, direction, port, and the FORWARDED verdict.</a:t>
            </a:r>
          </a:p>
          <a:p xmlns:a="http://schemas.openxmlformats.org/drawingml/2006/main">
            <a:r>
              <a:t/>
            </a:r>
            <a:endParaRPr/>
          </a:p>
          <a:p xmlns:a="http://schemas.openxmlformats.org/drawingml/2006/main">
            <a:r>
              <a:t>Correlate the views by time window, namespace, source and destination workload, direction, and port. Grafana shows aggregated metrics. Hubble UI shows flow records. These fields provide investigative context and do not establish a unique flow-to-trace-ID join.</a:t>
            </a:r>
          </a:p>
          <a:p xmlns:a="http://schemas.openxmlformats.org/drawingml/2006/main">
            <a:r>
              <a:t/>
            </a:r>
            <a:endParaRPr/>
          </a:p>
          <a:p xmlns:a="http://schemas.openxmlformats.org/drawingml/2006/main">
            <a:r>
              <a:t>The acceleration changes presentation timing only. It preserves the recorded sequence and telemetry values.</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a:p xmlns:a="http://schemas.openxmlformats.org/drawingml/2006/main">
            <a:r>
              <a:t>- https://github.com/ajimenez1503/cilium-obi-demo/blob/main/slides/recordings/presentation-edits.json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Read each row as a complete configuration. On means the feature is enabled. Off means it is disabled. Cilium networking remains enabled in all five scenarios.</a:t>
            </a:r>
          </a:p>
          <a:p xmlns:a="http://schemas.openxmlformats.org/drawingml/2006/main">
            <a:r>
              <a:t/>
            </a:r>
            <a:endParaRPr/>
          </a:p>
          <a:p xmlns:a="http://schemas.openxmlformats.org/drawingml/2006/main">
            <a:r>
              <a:t>A is the planned Cilium baseline with Hubble and OBI disabled. B enables Hubble L3/L4 flow visibility and leaves OBI off. C adds OBI application RED metrics, with traces and TCP propagation off. D keeps Hubble and OBI metrics, then enables OBI traces and TCP propagation through TCX. E keeps D and adds selected Hubble L7 visibility through Envoy.</a:t>
            </a:r>
          </a:p>
          <a:p xmlns:a="http://schemas.openxmlformats.org/drawingml/2006/main">
            <a:r>
              <a:t/>
            </a:r>
            <a:endParaRPr/>
          </a:p>
          <a:p xmlns:a="http://schemas.openxmlformats.org/drawingml/2006/main">
            <a:r>
              <a:t>Only B and D have recorded measurements. A, C, and E are planned scenario definitions. They have no results in this deck. In particular, the planned E configuration has not established L7 compatibility or overhead.</a:t>
            </a:r>
          </a:p>
          <a:p xmlns:a="http://schemas.openxmlformats.org/drawingml/2006/main">
            <a:r>
              <a:t/>
            </a:r>
            <a:endParaRPr/>
          </a:p>
          <a:p xmlns:a="http://schemas.openxmlformats.org/drawingml/2006/main">
            <a:r>
              <a:t>The OBI metrics column means application RED metrics. Optional OBI network-volume collection is a separate feature. The TCP propagation column describes propagation through the TCP path. It does not describe every possible trace-context propagation mechanism.</a:t>
            </a:r>
          </a:p>
          <a:p xmlns:a="http://schemas.openxmlformats.org/drawingml/2006/main">
            <a:r>
              <a:t/>
            </a:r>
          </a:p>
          <a:p xmlns:a="http://schemas.openxmlformats.org/drawingml/2006/main">
            <a:r>
              <a:t>Keep the cluster, request route, load, pod placement, and backend constant. B compared with D measures the addition of the configured OBI features together. This comparison does not isolate the cost of TCX itself.</a:t>
            </a:r>
          </a:p>
          <a:p xmlns:a="http://schemas.openxmlformats.org/drawingml/2006/main">
            <a:r>
              <a:t/>
            </a:r>
          </a:p>
          <a:p xmlns:a="http://schemas.openxmlformats.org/drawingml/2006/main">
            <a:r>
              <a:t>For every measured scenario capture throughput, latency, request failures, CPU, memory, exported spans, Hubble telemetry loss, and live BPF attachments. The next slide shows the existing B and D local rehearsal results.</a:t>
            </a:r>
          </a:p>
          <a:p xmlns:a="http://schemas.openxmlformats.org/drawingml/2006/main">
            <a:r>
              <a:t/>
            </a: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https://github.com/ajimenez1503/cilium-obi-demo/blob/main/evidence/benchmark-2026-09-26/results.md</a:t>
            </a:r>
          </a:p>
          <a:p xmlns:a="http://schemas.openxmlformats.org/drawingml/2006/main">
            <a:r>
              <a:t>- https://docs.cilium.io/en/stable/operations/performance/benchmark/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These are local kind rehearsal observations for B (Cilium and Hubble, OBI off) and D (Cilium and Hubble plus OBI with TCX). They are not production capacity results. The no-</a:t>
            </a:r>
            <a:r>
              <a:rPr dirty="0" err="1"/>
              <a:t>eBPF</a:t>
            </a:r>
            <a:r>
              <a:rPr dirty="0"/>
              <a:t> reference N and conditions A, C, and E remain unmeasured.</a:t>
            </a:r>
          </a:p>
          <a:p>
            <a:endParaRPr dirty="0"/>
          </a:p>
          <a:p>
            <a:r>
              <a:rPr dirty="0"/>
              <a:t>Both conditions used the same three-node cluster and route. Background demo traffic was paused. Each condition had a 40-request warm-up and five samples of 200 requests at concurrency 20 through </a:t>
            </a:r>
            <a:r>
              <a:rPr dirty="0" err="1"/>
              <a:t>kubectl</a:t>
            </a:r>
            <a:r>
              <a:rPr dirty="0"/>
              <a:t> port-forward. B ran before D, so time-order effects remain possible. Throughput median: B 19.77 req/s; D 19.73 req/s. p95 median: B 1,018 </a:t>
            </a:r>
            <a:r>
              <a:rPr dirty="0" err="1"/>
              <a:t>ms</a:t>
            </a:r>
            <a:r>
              <a:rPr dirty="0"/>
              <a:t>; D 1,020 </a:t>
            </a:r>
            <a:r>
              <a:rPr dirty="0" err="1"/>
              <a:t>ms.</a:t>
            </a:r>
            <a:r>
              <a:rPr dirty="0"/>
              <a:t> There were zero failed requests across 1,000 requests in each condition. OBI used a median 0.0128 CPU cores and 253.2 MiB working set across two pods. The Collector accepted and exported 7,210 spans during D. These numbers describe this single rehearsal only.</a:t>
            </a:r>
          </a:p>
          <a:p>
            <a:endParaRPr dirty="0"/>
          </a:p>
          <a:p>
            <a:r>
              <a:rPr dirty="0"/>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dirty="0"/>
          </a:p>
          <a:p>
            <a:r>
              <a:rPr dirty="0"/>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dirty="0"/>
          </a:p>
          <a:p>
            <a:r>
              <a:rPr dirty="0"/>
              <a:t>Sources:</a:t>
            </a:r>
          </a:p>
          <a:p>
            <a:r>
              <a:rPr dirty="0"/>
              <a:t>- /Users/antonjim/Documents/Playground/cilium-obi-demo/evidence/benchmark-2026-09-26/</a:t>
            </a:r>
            <a:r>
              <a:rPr dirty="0" err="1"/>
              <a:t>results.md</a:t>
            </a:r>
            <a:endParaRPr dirty="0"/>
          </a:p>
          <a:p>
            <a:r>
              <a:rPr dirty="0"/>
              <a:t>- https://</a:t>
            </a:r>
            <a:r>
              <a:rPr dirty="0" err="1"/>
              <a:t>docs.cilium.io</a:t>
            </a:r>
            <a:r>
              <a:rPr dirty="0"/>
              <a:t>/</a:t>
            </a:r>
            <a:r>
              <a:rPr dirty="0" err="1"/>
              <a:t>en</a:t>
            </a:r>
            <a:r>
              <a:rPr dirty="0"/>
              <a:t>/latest/observability/metrics/#lost-events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2.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uses eBPF to observe requests sent or</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received by supported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for supported operations.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cxnSp>
        <p:nvCxnSpPr>
          <p:cNvPr id="362" name="Straight Arrow Connector 361">
            <a:extLst xmlns:a="http://schemas.openxmlformats.org/drawingml/2006/main">
              <a:ext uri="{FF2B5EF4-FFF2-40B4-BE49-F238E27FC236}">
                <a16:creationId xmlns:a16="http://schemas.microsoft.com/office/drawing/2014/main" id="{18E61F14-CB46-4534-8DF9-2B1992C65408}"/>
              </a:ext>
            </a:extLst>
          </p:cNvPr>
          <p:cNvCxnSpPr>
            <a:stCxn xmlns:a="http://schemas.openxmlformats.org/drawingml/2006/main" id="9" idx="3"/>
            <a:endCxn xmlns:a="http://schemas.openxmlformats.org/drawingml/2006/main" id="10" idx="1"/>
          </p:cNvCxnSpPr>
          <p:nvPr/>
        </p:nvCxnSpPr>
        <p:spPr>
          <a:xfrm xmlns:a="http://schemas.openxmlformats.org/drawingml/2006/main">
            <a:off x="2952750" y="3409950"/>
            <a:ext cx="2000250" cy="0"/>
          </a:xfrm>
          <a:prstGeom xmlns:a="http://schemas.openxmlformats.org/drawingml/2006/main" prst="straightConnector1">
            <a:avLst/>
          </a:prstGeom>
          <a:ln xmlns:a="http://schemas.openxmlformats.org/drawingml/2006/main" w="19050">
            <a:solidFill>
              <a:srgbClr val="686B6B"/>
            </a:solidFill>
            <a:tailEnd type="arrow" w="med" len="med"/>
          </a:ln>
        </p:spPr>
      </p:cxnSp>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defRPr sz="3150" b="0">
                <a:solidFill>
                  <a:srgbClr val="07182A"/>
                </a:solidFill>
                <a:latin typeface="CiscoSansTT"/>
                <a:ea typeface="CiscoSansTT"/>
                <a:cs typeface="CiscoSansTT"/>
              </a:defRPr>
            </a:lvl1pPr>
            <a:lvl2pPr algn="l">
              <a:defRPr sz="3150" b="0">
                <a:solidFill>
                  <a:srgbClr val="07182A"/>
                </a:solidFill>
                <a:latin typeface="CiscoSansTT"/>
                <a:ea typeface="CiscoSansTT"/>
                <a:cs typeface="CiscoSansTT"/>
              </a:defRPr>
            </a:lvl2pPr>
            <a:lvl3pPr algn="l">
              <a:defRPr sz="3150" b="0">
                <a:solidFill>
                  <a:srgbClr val="07182A"/>
                </a:solidFill>
                <a:latin typeface="CiscoSansTT"/>
                <a:ea typeface="CiscoSansTT"/>
                <a:cs typeface="CiscoSansTT"/>
              </a:defRPr>
            </a:lvl3pPr>
            <a:lvl4pPr algn="l">
              <a:defRPr sz="3150" b="0">
                <a:solidFill>
                  <a:srgbClr val="07182A"/>
                </a:solidFill>
                <a:latin typeface="CiscoSansTT"/>
                <a:ea typeface="CiscoSansTT"/>
                <a:cs typeface="CiscoSansTT"/>
              </a:defRPr>
            </a:lvl4pPr>
            <a:lvl5pPr algn="l">
              <a:defRPr sz="3150" b="0">
                <a:solidFill>
                  <a:srgbClr val="07182A"/>
                </a:solidFill>
                <a:latin typeface="CiscoSansTT"/>
                <a:ea typeface="CiscoSansTT"/>
                <a:cs typeface="CiscoSansTT"/>
              </a:defRPr>
            </a:lvl5pPr>
            <a:lvl6pPr algn="l">
              <a:defRPr sz="3150" b="0">
                <a:solidFill>
                  <a:srgbClr val="07182A"/>
                </a:solidFill>
                <a:latin typeface="CiscoSansTT"/>
                <a:ea typeface="CiscoSansTT"/>
                <a:cs typeface="CiscoSansTT"/>
              </a:defRPr>
            </a:lvl6pPr>
            <a:lvl7pPr algn="l">
              <a:defRPr sz="3150" b="0">
                <a:solidFill>
                  <a:srgbClr val="07182A"/>
                </a:solidFill>
                <a:latin typeface="CiscoSansTT"/>
                <a:ea typeface="CiscoSansTT"/>
                <a:cs typeface="CiscoSansTT"/>
              </a:defRPr>
            </a:lvl7pPr>
            <a:lvl8pPr algn="l">
              <a:defRPr sz="3150" b="0">
                <a:solidFill>
                  <a:srgbClr val="07182A"/>
                </a:solidFill>
                <a:latin typeface="CiscoSansTT"/>
                <a:ea typeface="CiscoSansTT"/>
                <a:cs typeface="CiscoSansTT"/>
              </a:defRPr>
            </a:lvl8pPr>
            <a:lvl9pPr algn="l">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30480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30480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30480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xmlns:a="http://schemas.openxmlformats.org/drawingml/2006/main">
              <a:ext uri="{FF2B5EF4-FFF2-40B4-BE49-F238E27FC236}">
                <a16:creationId xmlns:a16="http://schemas.microsoft.com/office/drawing/2014/main" id="{35D6B9FD-86B4-4448-8B32-F10EC91C82BE}"/>
              </a:ext>
            </a:extLst>
          </p:cNvPr>
          <p:cNvCxnSpPr>
            <a:stCxn xmlns:a="http://schemas.openxmlformats.org/drawingml/2006/main" id="10" idx="3"/>
            <a:endCxn xmlns:a="http://schemas.openxmlformats.org/drawingml/2006/main" id="11" idx="1"/>
          </p:cNvCxnSpPr>
          <p:nvPr/>
        </p:nvCxnSpPr>
        <p:spPr>
          <a:xfrm xmlns:a="http://schemas.openxmlformats.org/drawingml/2006/main">
            <a:off x="7239000" y="34099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1910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3624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FFFFFF"/>
                </a:solidFill>
                <a:latin typeface="CiscoSansTT Medium"/>
                <a:ea typeface="CiscoSansTT Medium"/>
                <a:cs typeface="CiscoSansTT Medium"/>
              </a:defRPr>
            </a:defPPr>
            <a:lvl1pPr algn="ctr">
              <a:defRPr sz="1800" b="1">
                <a:solidFill>
                  <a:srgbClr val="FFFFFF"/>
                </a:solidFill>
                <a:latin typeface="CiscoSansTT Medium"/>
                <a:ea typeface="CiscoSansTT Medium"/>
                <a:cs typeface="CiscoSansTT Medium"/>
              </a:defRPr>
            </a:lvl1pPr>
            <a:lvl2pPr algn="ctr">
              <a:defRPr sz="1800" b="1">
                <a:solidFill>
                  <a:srgbClr val="FFFFFF"/>
                </a:solidFill>
                <a:latin typeface="CiscoSansTT Medium"/>
                <a:ea typeface="CiscoSansTT Medium"/>
                <a:cs typeface="CiscoSansTT Medium"/>
              </a:defRPr>
            </a:lvl2pPr>
            <a:lvl3pPr algn="ctr">
              <a:defRPr sz="1800" b="1">
                <a:solidFill>
                  <a:srgbClr val="FFFFFF"/>
                </a:solidFill>
                <a:latin typeface="CiscoSansTT Medium"/>
                <a:ea typeface="CiscoSansTT Medium"/>
                <a:cs typeface="CiscoSansTT Medium"/>
              </a:defRPr>
            </a:lvl3pPr>
            <a:lvl4pPr algn="ctr">
              <a:defRPr sz="1800" b="1">
                <a:solidFill>
                  <a:srgbClr val="FFFFFF"/>
                </a:solidFill>
                <a:latin typeface="CiscoSansTT Medium"/>
                <a:ea typeface="CiscoSansTT Medium"/>
                <a:cs typeface="CiscoSansTT Medium"/>
              </a:defRPr>
            </a:lvl4pPr>
            <a:lvl5pPr algn="ctr">
              <a:defRPr sz="1800" b="1">
                <a:solidFill>
                  <a:srgbClr val="FFFFFF"/>
                </a:solidFill>
                <a:latin typeface="CiscoSansTT Medium"/>
                <a:ea typeface="CiscoSansTT Medium"/>
                <a:cs typeface="CiscoSansTT Medium"/>
              </a:defRPr>
            </a:lvl5pPr>
            <a:lvl6pPr algn="ctr">
              <a:defRPr sz="1800" b="1">
                <a:solidFill>
                  <a:srgbClr val="FFFFFF"/>
                </a:solidFill>
                <a:latin typeface="CiscoSansTT Medium"/>
                <a:ea typeface="CiscoSansTT Medium"/>
                <a:cs typeface="CiscoSansTT Medium"/>
              </a:defRPr>
            </a:lvl6pPr>
            <a:lvl7pPr algn="ctr">
              <a:defRPr sz="1800" b="1">
                <a:solidFill>
                  <a:srgbClr val="FFFFFF"/>
                </a:solidFill>
                <a:latin typeface="CiscoSansTT Medium"/>
                <a:ea typeface="CiscoSansTT Medium"/>
                <a:cs typeface="CiscoSansTT Medium"/>
              </a:defRPr>
            </a:lvl7pPr>
            <a:lvl8pPr algn="ctr">
              <a:defRPr sz="1800" b="1">
                <a:solidFill>
                  <a:srgbClr val="FFFFFF"/>
                </a:solidFill>
                <a:latin typeface="CiscoSansTT Medium"/>
                <a:ea typeface="CiscoSansTT Medium"/>
                <a:cs typeface="CiscoSansTT Medium"/>
              </a:defRPr>
            </a:lvl8pPr>
            <a:lvl9pPr algn="ctr">
              <a:defRPr sz="1800" b="1">
                <a:solidFill>
                  <a:srgbClr val="FFFFFF"/>
                </a:solidFill>
                <a:latin typeface="CiscoSansTT Medium"/>
                <a:ea typeface="CiscoSansTT Medium"/>
                <a:cs typeface="CiscoSansTT Medium"/>
              </a:defRPr>
            </a:lvl9pPr>
          </a:lstStyle>
          <a:p xmlns:a="http://schemas.openxmlformats.org/drawingml/2006/main">
            <a:pPr algn="ctr">
              <a:buNone/>
              <a:defRPr sz="1800" b="1">
                <a:solidFill>
                  <a:srgbClr val="FFFFFF"/>
                </a:solidFill>
                <a:latin typeface="CiscoSansTT Medium"/>
                <a:ea typeface="CiscoSansTT Medium"/>
                <a:cs typeface="CiscoSansTT Medium"/>
              </a:defRPr>
            </a:pPr>
            <a:r>
              <a:rPr sz="1800" b="1">
                <a:solidFill>
                  <a:srgbClr val="FFFFFF"/>
                </a:solidFill>
                <a:latin typeface="CiscoSansTT Medium"/>
                <a:ea typeface="CiscoSansTT Medium"/>
                <a:cs typeface="CiscoSansTT Medium"/>
              </a:rPr>
              <a:t>Optional TCP propagation shares TC hooks with Cilium</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8196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8196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8672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333"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8196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2959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2959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3435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333"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2959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xmlns:a="http://schemas.openxmlformats.org/drawingml/2006/main">
              <a:ext uri="{FF2B5EF4-FFF2-40B4-BE49-F238E27FC236}">
                <a16:creationId xmlns:a16="http://schemas.microsoft.com/office/drawing/2014/main" id="{7695462F-ECF5-482C-B1BE-8E8375D4A3A1}"/>
              </a:ext>
            </a:extLst>
          </p:cNvPr>
          <p:cNvCxnSpPr>
            <a:stCxn xmlns:a="http://schemas.openxmlformats.org/drawingml/2006/main" id="10" idx="2"/>
            <a:endCxn xmlns:a="http://schemas.openxmlformats.org/drawingml/2006/main" id="14" idx="0"/>
          </p:cNvCxnSpPr>
          <p:nvPr/>
        </p:nvCxnSpPr>
        <p:spPr>
          <a:xfrm xmlns:a="http://schemas.openxmlformats.org/drawingml/2006/main">
            <a:off x="6096000" y="37719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363" name="trace-unlinked-label">
            <a:extLst xmlns:a="http://schemas.openxmlformats.org/drawingml/2006/main">
              <a:ext uri="{FF2B5EF4-FFF2-40B4-BE49-F238E27FC236}">
                <a16:creationId xmlns:a16="http://schemas.microsoft.com/office/drawing/2014/main" id="{0BE79987-1C2D-47DC-8792-C378C3689D37}"/>
              </a:ext>
            </a:extLst>
          </p:cNvPr>
          <p:cNvSpPr>
            <a:spLocks xmlns:a="http://schemas.openxmlformats.org/drawingml/2006/main" noGrp="1"/>
          </p:cNvSpPr>
          <p:nvPr/>
        </p:nvSpPr>
        <p:spPr>
          <a:xfrm xmlns:a="http://schemas.openxmlformats.org/drawingml/2006/main">
            <a:off x="666750" y="1066800"/>
            <a:ext cx="1952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Separate traces</a:t>
            </a:r>
          </a:p>
        </p:txBody>
      </p:sp>
      <p:sp>
        <p:nvSpPr>
          <p:cNvPr id="364" name="trace-linked-label">
            <a:extLst xmlns:a="http://schemas.openxmlformats.org/drawingml/2006/main">
              <a:ext uri="{FF2B5EF4-FFF2-40B4-BE49-F238E27FC236}">
                <a16:creationId xmlns:a16="http://schemas.microsoft.com/office/drawing/2014/main" id="{B1A38AA5-7EA2-4555-BBDC-FE27590A2286}"/>
              </a:ext>
            </a:extLst>
          </p:cNvPr>
          <p:cNvSpPr>
            <a:spLocks xmlns:a="http://schemas.openxmlformats.org/drawingml/2006/main" noGrp="1"/>
          </p:cNvSpPr>
          <p:nvPr/>
        </p:nvSpPr>
        <p:spPr>
          <a:xfrm xmlns:a="http://schemas.openxmlformats.org/drawingml/2006/main">
            <a:off x="666750" y="1847850"/>
            <a:ext cx="2047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1">
                <a:solidFill>
                  <a:srgbClr val="FF007F"/>
                </a:solidFill>
                <a:latin typeface="CiscoSansTT Medium"/>
                <a:ea typeface="CiscoSansTT Medium"/>
                <a:cs typeface="CiscoSansTT Medium"/>
              </a:defRPr>
            </a:defPPr>
            <a:lvl1pPr algn="l">
              <a:defRPr sz="1800" b="1">
                <a:solidFill>
                  <a:srgbClr val="FF007F"/>
                </a:solidFill>
                <a:latin typeface="CiscoSansTT Medium"/>
                <a:ea typeface="CiscoSansTT Medium"/>
                <a:cs typeface="CiscoSansTT Medium"/>
              </a:defRPr>
            </a:lvl1pPr>
            <a:lvl2pPr algn="l">
              <a:defRPr sz="1800" b="1">
                <a:solidFill>
                  <a:srgbClr val="FF007F"/>
                </a:solidFill>
                <a:latin typeface="CiscoSansTT Medium"/>
                <a:ea typeface="CiscoSansTT Medium"/>
                <a:cs typeface="CiscoSansTT Medium"/>
              </a:defRPr>
            </a:lvl2pPr>
            <a:lvl3pPr algn="l">
              <a:defRPr sz="1800" b="1">
                <a:solidFill>
                  <a:srgbClr val="FF007F"/>
                </a:solidFill>
                <a:latin typeface="CiscoSansTT Medium"/>
                <a:ea typeface="CiscoSansTT Medium"/>
                <a:cs typeface="CiscoSansTT Medium"/>
              </a:defRPr>
            </a:lvl3pPr>
            <a:lvl4pPr algn="l">
              <a:defRPr sz="1800" b="1">
                <a:solidFill>
                  <a:srgbClr val="FF007F"/>
                </a:solidFill>
                <a:latin typeface="CiscoSansTT Medium"/>
                <a:ea typeface="CiscoSansTT Medium"/>
                <a:cs typeface="CiscoSansTT Medium"/>
              </a:defRPr>
            </a:lvl4pPr>
            <a:lvl5pPr algn="l">
              <a:defRPr sz="1800" b="1">
                <a:solidFill>
                  <a:srgbClr val="FF007F"/>
                </a:solidFill>
                <a:latin typeface="CiscoSansTT Medium"/>
                <a:ea typeface="CiscoSansTT Medium"/>
                <a:cs typeface="CiscoSansTT Medium"/>
              </a:defRPr>
            </a:lvl5pPr>
            <a:lvl6pPr algn="l">
              <a:defRPr sz="1800" b="1">
                <a:solidFill>
                  <a:srgbClr val="FF007F"/>
                </a:solidFill>
                <a:latin typeface="CiscoSansTT Medium"/>
                <a:ea typeface="CiscoSansTT Medium"/>
                <a:cs typeface="CiscoSansTT Medium"/>
              </a:defRPr>
            </a:lvl6pPr>
            <a:lvl7pPr algn="l">
              <a:defRPr sz="1800" b="1">
                <a:solidFill>
                  <a:srgbClr val="FF007F"/>
                </a:solidFill>
                <a:latin typeface="CiscoSansTT Medium"/>
                <a:ea typeface="CiscoSansTT Medium"/>
                <a:cs typeface="CiscoSansTT Medium"/>
              </a:defRPr>
            </a:lvl7pPr>
            <a:lvl8pPr algn="l">
              <a:defRPr sz="1800" b="1">
                <a:solidFill>
                  <a:srgbClr val="FF007F"/>
                </a:solidFill>
                <a:latin typeface="CiscoSansTT Medium"/>
                <a:ea typeface="CiscoSansTT Medium"/>
                <a:cs typeface="CiscoSansTT Medium"/>
              </a:defRPr>
            </a:lvl8pPr>
            <a:lvl9pPr algn="l">
              <a:defRPr sz="1800" b="1">
                <a:solidFill>
                  <a:srgbClr val="FF007F"/>
                </a:solidFill>
                <a:latin typeface="CiscoSansTT Medium"/>
                <a:ea typeface="CiscoSansTT Medium"/>
                <a:cs typeface="CiscoSansTT Medium"/>
              </a:defRPr>
            </a:lvl9pPr>
          </a:lstStyle>
          <a:p xmlns:a="http://schemas.openxmlformats.org/drawingml/2006/main">
            <a:pPr algn="l">
              <a:defRPr sz="1800" b="1">
                <a:solidFill>
                  <a:srgbClr val="FF007F"/>
                </a:solidFill>
                <a:latin typeface="CiscoSansTT Medium"/>
                <a:ea typeface="CiscoSansTT Medium"/>
                <a:cs typeface="CiscoSansTT Medium"/>
              </a:defRPr>
            </a:pPr>
            <a:r>
              <a:rPr sz="1800" b="1">
                <a:solidFill>
                  <a:srgbClr val="FF007F"/>
                </a:solidFill>
                <a:latin typeface="CiscoSansTT Medium"/>
                <a:ea typeface="CiscoSansTT Medium"/>
                <a:cs typeface="CiscoSansTT Medium"/>
              </a:rPr>
              <a:t>Connected trace</a:t>
            </a:r>
          </a:p>
        </p:txBody>
      </p:sp>
      <p:sp>
        <p:nvSpPr>
          <p:cNvPr id="365" name="trace-unlinked-0">
            <a:extLst xmlns:a="http://schemas.openxmlformats.org/drawingml/2006/main">
              <a:ext uri="{FF2B5EF4-FFF2-40B4-BE49-F238E27FC236}">
                <a16:creationId xmlns:a16="http://schemas.microsoft.com/office/drawing/2014/main" id="{3FAF14B7-8553-4B99-961F-FDB6AE607A35}"/>
              </a:ext>
            </a:extLst>
          </p:cNvPr>
          <p:cNvSpPr>
            <a:spLocks xmlns:a="http://schemas.openxmlformats.org/drawingml/2006/main" noGrp="1"/>
          </p:cNvSpPr>
          <p:nvPr/>
        </p:nvSpPr>
        <p:spPr>
          <a:xfrm xmlns:a="http://schemas.openxmlformats.org/drawingml/2006/main">
            <a:off x="2914650" y="100012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edge-nginx</a:t>
            </a:r>
          </a:p>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trace A</a:t>
            </a:r>
          </a:p>
        </p:txBody>
      </p:sp>
      <p:sp>
        <p:nvSpPr>
          <p:cNvPr id="366" name="trace-linked-0">
            <a:extLst xmlns:a="http://schemas.openxmlformats.org/drawingml/2006/main">
              <a:ext uri="{FF2B5EF4-FFF2-40B4-BE49-F238E27FC236}">
                <a16:creationId xmlns:a16="http://schemas.microsoft.com/office/drawing/2014/main" id="{B90CCBA3-88B5-4055-BBCF-2298EA515487}"/>
              </a:ext>
            </a:extLst>
          </p:cNvPr>
          <p:cNvSpPr>
            <a:spLocks xmlns:a="http://schemas.openxmlformats.org/drawingml/2006/main" noGrp="1"/>
          </p:cNvSpPr>
          <p:nvPr/>
        </p:nvSpPr>
        <p:spPr>
          <a:xfrm xmlns:a="http://schemas.openxmlformats.org/drawingml/2006/main">
            <a:off x="2914650" y="178117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edge-nginx</a:t>
            </a:r>
          </a:p>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trace A</a:t>
            </a:r>
          </a:p>
        </p:txBody>
      </p:sp>
      <p:cxnSp>
        <p:nvCxnSpPr>
          <p:cNvPr id="367" name="trace-linked-arrow-0">
            <a:extLst xmlns:a="http://schemas.openxmlformats.org/drawingml/2006/main">
              <a:ext uri="{FF2B5EF4-FFF2-40B4-BE49-F238E27FC236}">
                <a16:creationId xmlns:a16="http://schemas.microsoft.com/office/drawing/2014/main" id="{93630A0C-FC44-4BCF-B7AE-BACCBF33A0D1}"/>
              </a:ext>
            </a:extLst>
          </p:cNvPr>
          <p:cNvCxnSpPr/>
          <p:nvPr/>
        </p:nvCxnSpPr>
        <p:spPr>
          <a:xfrm xmlns:a="http://schemas.openxmlformats.org/drawingml/2006/main">
            <a:off x="5391150" y="2105025"/>
            <a:ext cx="523875" cy="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368" name="trace-unlinked-1">
            <a:extLst xmlns:a="http://schemas.openxmlformats.org/drawingml/2006/main">
              <a:ext uri="{FF2B5EF4-FFF2-40B4-BE49-F238E27FC236}">
                <a16:creationId xmlns:a16="http://schemas.microsoft.com/office/drawing/2014/main" id="{1C15D6A6-0105-42E5-A543-FAF253FF6685}"/>
              </a:ext>
            </a:extLst>
          </p:cNvPr>
          <p:cNvSpPr>
            <a:spLocks xmlns:a="http://schemas.openxmlformats.org/drawingml/2006/main" noGrp="1"/>
          </p:cNvSpPr>
          <p:nvPr/>
        </p:nvSpPr>
        <p:spPr>
          <a:xfrm xmlns:a="http://schemas.openxmlformats.org/drawingml/2006/main">
            <a:off x="5915025" y="100012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recommendations-v2</a:t>
            </a:r>
          </a:p>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trace B</a:t>
            </a:r>
          </a:p>
        </p:txBody>
      </p:sp>
      <p:sp>
        <p:nvSpPr>
          <p:cNvPr id="369" name="trace-linked-1">
            <a:extLst xmlns:a="http://schemas.openxmlformats.org/drawingml/2006/main">
              <a:ext uri="{FF2B5EF4-FFF2-40B4-BE49-F238E27FC236}">
                <a16:creationId xmlns:a16="http://schemas.microsoft.com/office/drawing/2014/main" id="{FA8BCBF6-C9A0-4740-BB6E-A374B314DFDB}"/>
              </a:ext>
            </a:extLst>
          </p:cNvPr>
          <p:cNvSpPr>
            <a:spLocks xmlns:a="http://schemas.openxmlformats.org/drawingml/2006/main" noGrp="1"/>
          </p:cNvSpPr>
          <p:nvPr/>
        </p:nvSpPr>
        <p:spPr>
          <a:xfrm xmlns:a="http://schemas.openxmlformats.org/drawingml/2006/main">
            <a:off x="5915025" y="178117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recommendations-v2</a:t>
            </a:r>
          </a:p>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trace A</a:t>
            </a:r>
          </a:p>
        </p:txBody>
      </p:sp>
      <p:cxnSp>
        <p:nvCxnSpPr>
          <p:cNvPr id="370" name="trace-linked-arrow-1">
            <a:extLst xmlns:a="http://schemas.openxmlformats.org/drawingml/2006/main">
              <a:ext uri="{FF2B5EF4-FFF2-40B4-BE49-F238E27FC236}">
                <a16:creationId xmlns:a16="http://schemas.microsoft.com/office/drawing/2014/main" id="{B4D57240-A80C-4EE6-BA42-758C6E29962D}"/>
              </a:ext>
            </a:extLst>
          </p:cNvPr>
          <p:cNvCxnSpPr/>
          <p:nvPr/>
        </p:nvCxnSpPr>
        <p:spPr>
          <a:xfrm xmlns:a="http://schemas.openxmlformats.org/drawingml/2006/main">
            <a:off x="8391525" y="2105025"/>
            <a:ext cx="523875" cy="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371" name="trace-unlinked-2">
            <a:extLst xmlns:a="http://schemas.openxmlformats.org/drawingml/2006/main">
              <a:ext uri="{FF2B5EF4-FFF2-40B4-BE49-F238E27FC236}">
                <a16:creationId xmlns:a16="http://schemas.microsoft.com/office/drawing/2014/main" id="{6FD2E93F-1192-44FC-AB38-830956782A31}"/>
              </a:ext>
            </a:extLst>
          </p:cNvPr>
          <p:cNvSpPr>
            <a:spLocks xmlns:a="http://schemas.openxmlformats.org/drawingml/2006/main" noGrp="1"/>
          </p:cNvSpPr>
          <p:nvPr/>
        </p:nvSpPr>
        <p:spPr>
          <a:xfrm xmlns:a="http://schemas.openxmlformats.org/drawingml/2006/main">
            <a:off x="8915400" y="100012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recommendations-v1</a:t>
            </a:r>
          </a:p>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trace C</a:t>
            </a:r>
          </a:p>
        </p:txBody>
      </p:sp>
      <p:sp>
        <p:nvSpPr>
          <p:cNvPr id="372" name="trace-linked-2">
            <a:extLst xmlns:a="http://schemas.openxmlformats.org/drawingml/2006/main">
              <a:ext uri="{FF2B5EF4-FFF2-40B4-BE49-F238E27FC236}">
                <a16:creationId xmlns:a16="http://schemas.microsoft.com/office/drawing/2014/main" id="{5CFA554C-82EB-4F07-8EEF-164D586B6E01}"/>
              </a:ext>
            </a:extLst>
          </p:cNvPr>
          <p:cNvSpPr>
            <a:spLocks xmlns:a="http://schemas.openxmlformats.org/drawingml/2006/main" noGrp="1"/>
          </p:cNvSpPr>
          <p:nvPr/>
        </p:nvSpPr>
        <p:spPr>
          <a:xfrm xmlns:a="http://schemas.openxmlformats.org/drawingml/2006/main">
            <a:off x="8915400" y="1781175"/>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recommendations-v1</a:t>
            </a:r>
          </a:p>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trace A</a:t>
            </a:r>
          </a:p>
        </p:txBody>
      </p:sp>
      <p:sp>
        <p:nvSpPr>
          <p:cNvPr id="373" name="propagation-caption">
            <a:extLst xmlns:a="http://schemas.openxmlformats.org/drawingml/2006/main">
              <a:ext uri="{FF2B5EF4-FFF2-40B4-BE49-F238E27FC236}">
                <a16:creationId xmlns:a16="http://schemas.microsoft.com/office/drawing/2014/main" id="{68B18FA2-4072-4C3A-9876-58868BE0C058}"/>
              </a:ext>
            </a:extLst>
          </p:cNvPr>
          <p:cNvSpPr>
            <a:spLocks xmlns:a="http://schemas.openxmlformats.org/drawingml/2006/main" noGrp="1"/>
          </p:cNvSpPr>
          <p:nvPr/>
        </p:nvSpPr>
        <p:spPr>
          <a:xfrm xmlns:a="http://schemas.openxmlformats.org/drawingml/2006/main">
            <a:off x="666750" y="24669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Trace context connects operations across services into one request journey.</a:t>
            </a:r>
          </a:p>
        </p:txBody>
      </p:sp>
    </p:spTree>
    <p:extLst>
      <p:ext uri="{BB962C8B-B14F-4D97-AF65-F5344CB8AC3E}">
        <p14:creationId xmlns:p14="http://schemas.microsoft.com/office/powerpoint/2010/main" val="76814743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xmlns:a="http://schemas.openxmlformats.org/drawingml/2006/main">
              <a:ext uri="{FF2B5EF4-FFF2-40B4-BE49-F238E27FC236}">
                <a16:creationId xmlns:a16="http://schemas.microsoft.com/office/drawing/2014/main" id="{797D88E8-3667-4134-9800-450B462DB550}"/>
              </a:ext>
            </a:extLst>
          </p:cNvPr>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563"/>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82" name="legacy-scope-13">
            <a:extLst xmlns:a="http://schemas.openxmlformats.org/drawingml/2006/main">
              <a:ext uri="{FF2B5EF4-FFF2-40B4-BE49-F238E27FC236}">
                <a16:creationId xmlns:a16="http://schemas.microsoft.com/office/drawing/2014/main" id="{4CC8AF7F-33BE-4416-AA98-47F6C1C618C8}"/>
              </a:ext>
            </a:extLst>
          </p:cNvPr>
          <p:cNvSpPr>
            <a:spLocks xmlns:a="http://schemas.openxmlformats.org/drawingml/2006/main" noGrp="1"/>
          </p:cNvSpPr>
          <p:nvPr/>
        </p:nvSpPr>
        <p:spPr>
          <a:xfrm xmlns:a="http://schemas.openxmlformats.org/drawingml/2006/main">
            <a:off x="666750" y="155257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0">
                <a:solidFill>
                  <a:srgbClr val="0860FE"/>
                </a:solidFill>
                <a:latin typeface="CiscoSansTT"/>
                <a:ea typeface="CiscoSansTT"/>
                <a:cs typeface="CiscoSansTT"/>
              </a:defRPr>
            </a:defPPr>
            <a:lvl1pPr algn="l">
              <a:defRPr sz="1650" b="0">
                <a:solidFill>
                  <a:srgbClr val="0860FE"/>
                </a:solidFill>
                <a:latin typeface="CiscoSansTT"/>
                <a:ea typeface="CiscoSansTT"/>
                <a:cs typeface="CiscoSansTT"/>
              </a:defRPr>
            </a:lvl1pPr>
            <a:lvl2pPr algn="l">
              <a:defRPr sz="1650" b="0">
                <a:solidFill>
                  <a:srgbClr val="0860FE"/>
                </a:solidFill>
                <a:latin typeface="CiscoSansTT"/>
                <a:ea typeface="CiscoSansTT"/>
                <a:cs typeface="CiscoSansTT"/>
              </a:defRPr>
            </a:lvl2pPr>
            <a:lvl3pPr algn="l">
              <a:defRPr sz="1650" b="0">
                <a:solidFill>
                  <a:srgbClr val="0860FE"/>
                </a:solidFill>
                <a:latin typeface="CiscoSansTT"/>
                <a:ea typeface="CiscoSansTT"/>
                <a:cs typeface="CiscoSansTT"/>
              </a:defRPr>
            </a:lvl3pPr>
            <a:lvl4pPr algn="l">
              <a:defRPr sz="1650" b="0">
                <a:solidFill>
                  <a:srgbClr val="0860FE"/>
                </a:solidFill>
                <a:latin typeface="CiscoSansTT"/>
                <a:ea typeface="CiscoSansTT"/>
                <a:cs typeface="CiscoSansTT"/>
              </a:defRPr>
            </a:lvl4pPr>
            <a:lvl5pPr algn="l">
              <a:defRPr sz="1650" b="0">
                <a:solidFill>
                  <a:srgbClr val="0860FE"/>
                </a:solidFill>
                <a:latin typeface="CiscoSansTT"/>
                <a:ea typeface="CiscoSansTT"/>
                <a:cs typeface="CiscoSansTT"/>
              </a:defRPr>
            </a:lvl5pPr>
            <a:lvl6pPr algn="l">
              <a:defRPr sz="1650" b="0">
                <a:solidFill>
                  <a:srgbClr val="0860FE"/>
                </a:solidFill>
                <a:latin typeface="CiscoSansTT"/>
                <a:ea typeface="CiscoSansTT"/>
                <a:cs typeface="CiscoSansTT"/>
              </a:defRPr>
            </a:lvl6pPr>
            <a:lvl7pPr algn="l">
              <a:defRPr sz="1650" b="0">
                <a:solidFill>
                  <a:srgbClr val="0860FE"/>
                </a:solidFill>
                <a:latin typeface="CiscoSansTT"/>
                <a:ea typeface="CiscoSansTT"/>
                <a:cs typeface="CiscoSansTT"/>
              </a:defRPr>
            </a:lvl7pPr>
            <a:lvl8pPr algn="l">
              <a:defRPr sz="1650" b="0">
                <a:solidFill>
                  <a:srgbClr val="0860FE"/>
                </a:solidFill>
                <a:latin typeface="CiscoSansTT"/>
                <a:ea typeface="CiscoSansTT"/>
                <a:cs typeface="CiscoSansTT"/>
              </a:defRPr>
            </a:lvl8pPr>
            <a:lvl9pPr algn="l">
              <a:defRPr sz="1650" b="0">
                <a:solidFill>
                  <a:srgbClr val="0860FE"/>
                </a:solidFill>
                <a:latin typeface="CiscoSansTT"/>
                <a:ea typeface="CiscoSansTT"/>
                <a:cs typeface="CiscoSansTT"/>
              </a:defRPr>
            </a:lvl9pPr>
          </a:lstStyle>
          <a:p xmlns:a="http://schemas.openxmlformats.org/drawingml/2006/main">
            <a:pPr algn="l">
              <a:defRPr sz="1650" b="0">
                <a:solidFill>
                  <a:srgbClr val="0860FE"/>
                </a:solidFill>
                <a:latin typeface="CiscoSansTT"/>
                <a:ea typeface="CiscoSansTT"/>
                <a:cs typeface="CiscoSansTT"/>
              </a:defRPr>
            </a:pPr>
            <a:r>
              <a:rPr sz="165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73577452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
        <p:nvSpPr>
          <p:cNvPr id="7" name="legacy-scope-14">
            <a:extLst xmlns:a="http://schemas.openxmlformats.org/drawingml/2006/main">
              <a:ext uri="{FF2B5EF4-FFF2-40B4-BE49-F238E27FC236}">
                <a16:creationId xmlns:a16="http://schemas.microsoft.com/office/drawing/2014/main" id="{43A08D25-20BE-438B-99EE-112AAA72E1E6}"/>
              </a:ext>
            </a:extLst>
          </p:cNvPr>
          <p:cNvSpPr>
            <a:spLocks xmlns:a="http://schemas.openxmlformats.org/drawingml/2006/main" noGrp="1"/>
          </p:cNvSpPr>
          <p:nvPr/>
        </p:nvSpPr>
        <p:spPr>
          <a:xfrm xmlns:a="http://schemas.openxmlformats.org/drawingml/2006/main">
            <a:off x="1524000" y="9334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xmlns:a="http://schemas.openxmlformats.org/drawingml/2006/main">
            <a:pPr algn="l">
              <a:defRPr sz="1500" b="0">
                <a:solidFill>
                  <a:srgbClr val="0860FE"/>
                </a:solidFill>
                <a:latin typeface="CiscoSansTT"/>
                <a:ea typeface="CiscoSansTT"/>
                <a:cs typeface="CiscoSansTT"/>
              </a:defRPr>
            </a:pPr>
            <a:r>
              <a:rPr sz="150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dirty="0"/>
              <a:t>Live demo </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0" name="matrix-common-baseline">
            <a:extLst xmlns:a="http://schemas.openxmlformats.org/drawingml/2006/main">
              <a:ext uri="{FF2B5EF4-FFF2-40B4-BE49-F238E27FC236}">
                <a16:creationId xmlns:a16="http://schemas.microsoft.com/office/drawing/2014/main" id="{B329934B-FE8A-4130-86CC-A9058619FC98}"/>
              </a:ext>
            </a:extLst>
          </p:cNvPr>
          <p:cNvSpPr>
            <a:spLocks xmlns:a="http://schemas.openxmlformats.org/drawingml/2006/main" noGrp="1"/>
          </p:cNvSpPr>
          <p:nvPr/>
        </p:nvSpPr>
        <p:spPr>
          <a:xfrm xmlns:a="http://schemas.openxmlformats.org/drawingml/2006/main">
            <a:off x="762000" y="11144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xmlns:a="http://schemas.openxmlformats.org/drawingml/2006/main">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Cilium networking is enabled in every scenario.</a:t>
            </a:r>
          </a:p>
        </p:txBody>
      </p:sp>
      <p:graphicFrame>
        <p:nvGraphicFramePr>
          <p:cNvPr id="21" name="">
            <a:extLst xmlns:a="http://schemas.openxmlformats.org/drawingml/2006/main">
              <a:ext uri="{FF2B5EF4-FFF2-40B4-BE49-F238E27FC236}">
                <a16:creationId xmlns:a16="http://schemas.microsoft.com/office/drawing/2014/main" id="{FA64263C-1D2C-4AB7-8F71-036F7E775E5D}"/>
              </a:ext>
            </a:extLst>
          </p:cNvPr>
          <p:cNvGraphicFramePr/>
          <p:nvPr/>
        </p:nvGraphicFramePr>
        <p:xfrm>
          <a:off xmlns:a="http://schemas.openxmlformats.org/drawingml/2006/main" x="762000" y="1762125"/>
          <a:ext xmlns:a="http://schemas.openxmlformats.org/drawingml/2006/main" cx="10668000" cy="3733800"/>
        </p:xfrm>
        <a:graphic xmlns:a="http://schemas.openxmlformats.org/drawingml/2006/main">
          <a:graphicData uri="http://schemas.openxmlformats.org/drawingml/2006/table">
            <a:tbl>
              <a:tblPr firstRow="0" bandRow="0" bandCol="0"/>
              <a:tblGrid>
                <a:gridCol w="1190625"/>
                <a:gridCol w="1428750"/>
                <a:gridCol w="1476375"/>
                <a:gridCol w="1476375"/>
                <a:gridCol w="1381125"/>
                <a:gridCol w="1952625"/>
                <a:gridCol w="1762125"/>
              </a:tblGrid>
              <a:tr h="781050">
                <a:tc>
                  <a:txBody>
                    <a:bodyPr>
                      <a:noAutofit/>
                    </a:bodyPr>
                    <a:lstStyle/>
                    <a:p>
                      <a:pPr algn="ctr"/>
                      <a:r>
                        <a:rPr sz="1575" b="1">
                          <a:solidFill>
                            <a:srgbClr val="07182A"/>
                          </a:solidFill>
                          <a:latin typeface="CiscoSansTT Medium"/>
                          <a:ea typeface="CiscoSansTT Medium"/>
                          <a:cs typeface="CiscoSansTT Medium"/>
                        </a:rPr>
                        <a:t>Scenario</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Run status</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Hubble</a:t>
                      </a:r>
                    </a:p>
                    <a:p>
                      <a:pPr algn="ctr"/>
                      <a:r>
                        <a:rPr sz="1575" b="1">
                          <a:solidFill>
                            <a:srgbClr val="07182A"/>
                          </a:solidFill>
                          <a:latin typeface="CiscoSansTT Medium"/>
                          <a:ea typeface="CiscoSansTT Medium"/>
                          <a:cs typeface="CiscoSansTT Medium"/>
                        </a:rPr>
                        <a:t>L3/L4</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OBI RED</a:t>
                      </a:r>
                    </a:p>
                    <a:p>
                      <a:pPr algn="ctr"/>
                      <a:r>
                        <a:rPr sz="1575" b="1">
                          <a:solidFill>
                            <a:srgbClr val="07182A"/>
                          </a:solidFill>
                          <a:latin typeface="CiscoSansTT Medium"/>
                          <a:ea typeface="CiscoSansTT Medium"/>
                          <a:cs typeface="CiscoSansTT Medium"/>
                        </a:rPr>
                        <a:t>metrics</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OBI</a:t>
                      </a:r>
                    </a:p>
                    <a:p>
                      <a:pPr algn="ctr"/>
                      <a:r>
                        <a:rPr sz="1575" b="1">
                          <a:solidFill>
                            <a:srgbClr val="07182A"/>
                          </a:solidFill>
                          <a:latin typeface="CiscoSansTT Medium"/>
                          <a:ea typeface="CiscoSansTT Medium"/>
                          <a:cs typeface="CiscoSansTT Medium"/>
                        </a:rPr>
                        <a:t>traces</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TCP</a:t>
                      </a:r>
                    </a:p>
                    <a:p>
                      <a:pPr algn="ctr"/>
                      <a:r>
                        <a:rPr sz="1575" b="1">
                          <a:solidFill>
                            <a:srgbClr val="07182A"/>
                          </a:solidFill>
                          <a:latin typeface="CiscoSansTT Medium"/>
                          <a:ea typeface="CiscoSansTT Medium"/>
                          <a:cs typeface="CiscoSansTT Medium"/>
                        </a:rPr>
                        <a:t>propagation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575" b="1">
                          <a:solidFill>
                            <a:srgbClr val="07182A"/>
                          </a:solidFill>
                          <a:latin typeface="CiscoSansTT Medium"/>
                          <a:ea typeface="CiscoSansTT Medium"/>
                          <a:cs typeface="CiscoSansTT Medium"/>
                        </a:rPr>
                        <a:t>Hubble</a:t>
                      </a:r>
                    </a:p>
                    <a:p>
                      <a:pPr algn="ctr"/>
                      <a:r>
                        <a:rPr sz="1575" b="1">
                          <a:solidFill>
                            <a:srgbClr val="07182A"/>
                          </a:solidFill>
                          <a:latin typeface="CiscoSansTT Medium"/>
                          <a:ea typeface="CiscoSansTT Medium"/>
                          <a:cs typeface="CiscoSansTT Medium"/>
                        </a:rPr>
                        <a:t>L7</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r>
              <a:tr h="590550">
                <a:tc>
                  <a:txBody>
                    <a:bodyPr>
                      <a:noAutofit/>
                    </a:bodyPr>
                    <a:lstStyle/>
                    <a:p>
                      <a:pPr algn="ctr"/>
                      <a:r>
                        <a:rPr sz="1950" b="1">
                          <a:solidFill>
                            <a:srgbClr val="07182A"/>
                          </a:solidFill>
                          <a:latin typeface="CiscoSansTT Medium"/>
                          <a:ea typeface="CiscoSansTT Medium"/>
                          <a:cs typeface="CiscoSansTT Medium"/>
                        </a:rPr>
                        <a:t>A</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1">
                          <a:solidFill>
                            <a:srgbClr val="07182A"/>
                          </a:solidFill>
                          <a:latin typeface="CiscoSansTT"/>
                          <a:ea typeface="CiscoSansTT"/>
                          <a:cs typeface="CiscoSansTT"/>
                        </a:rPr>
                        <a:t>Planned</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r>
              <a:tr h="590550">
                <a:tc>
                  <a:txBody>
                    <a:bodyPr>
                      <a:noAutofit/>
                    </a:bodyPr>
                    <a:lstStyle/>
                    <a:p>
                      <a:pPr algn="ctr"/>
                      <a:r>
                        <a:rPr sz="1950" b="1">
                          <a:solidFill>
                            <a:srgbClr val="0860FE"/>
                          </a:solidFill>
                          <a:latin typeface="CiscoSansTT Medium"/>
                          <a:ea typeface="CiscoSansTT Medium"/>
                          <a:cs typeface="CiscoSansTT Medium"/>
                        </a:rPr>
                        <a:t>B</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1">
                          <a:solidFill>
                            <a:srgbClr val="0860FE"/>
                          </a:solidFill>
                          <a:latin typeface="CiscoSansTT"/>
                          <a:ea typeface="CiscoSansTT"/>
                          <a:cs typeface="CiscoSansTT"/>
                        </a:rPr>
                        <a:t>Measured</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EAF8FC"/>
                    </a:solidFill>
                  </a:tcPr>
                </a:tc>
              </a:tr>
              <a:tr h="590550">
                <a:tc>
                  <a:txBody>
                    <a:bodyPr>
                      <a:noAutofit/>
                    </a:bodyPr>
                    <a:lstStyle/>
                    <a:p>
                      <a:pPr algn="ctr"/>
                      <a:r>
                        <a:rPr sz="1950" b="1">
                          <a:solidFill>
                            <a:srgbClr val="07182A"/>
                          </a:solidFill>
                          <a:latin typeface="CiscoSansTT Medium"/>
                          <a:ea typeface="CiscoSansTT Medium"/>
                          <a:cs typeface="CiscoSansTT Medium"/>
                        </a:rPr>
                        <a:t>C</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1">
                          <a:solidFill>
                            <a:srgbClr val="07182A"/>
                          </a:solidFill>
                          <a:latin typeface="CiscoSansTT"/>
                          <a:ea typeface="CiscoSansTT"/>
                          <a:cs typeface="CiscoSansTT"/>
                        </a:rPr>
                        <a:t>Planned</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r>
              <a:tr h="590550">
                <a:tc>
                  <a:txBody>
                    <a:bodyPr>
                      <a:noAutofit/>
                    </a:bodyPr>
                    <a:lstStyle/>
                    <a:p>
                      <a:pPr algn="ctr"/>
                      <a:r>
                        <a:rPr sz="1950" b="1">
                          <a:solidFill>
                            <a:srgbClr val="FF007F"/>
                          </a:solidFill>
                          <a:latin typeface="CiscoSansTT Medium"/>
                          <a:ea typeface="CiscoSansTT Medium"/>
                          <a:cs typeface="CiscoSansTT Medium"/>
                        </a:rPr>
                        <a:t>D</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1">
                          <a:solidFill>
                            <a:srgbClr val="FF007F"/>
                          </a:solidFill>
                          <a:latin typeface="CiscoSansTT"/>
                          <a:ea typeface="CiscoSansTT"/>
                          <a:cs typeface="CiscoSansTT"/>
                        </a:rPr>
                        <a:t>Measured</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0">
                          <a:solidFill>
                            <a:srgbClr val="07182A"/>
                          </a:solidFill>
                          <a:latin typeface="CiscoSansTT"/>
                          <a:ea typeface="CiscoSansTT"/>
                          <a:cs typeface="CiscoSansTT"/>
                        </a:rPr>
                        <a:t>On (TCX)</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c>
                  <a:txBody>
                    <a:bodyPr>
                      <a:noAutofit/>
                    </a:bodyPr>
                    <a:lstStyle/>
                    <a:p>
                      <a:pPr algn="ctr"/>
                      <a:r>
                        <a:rPr sz="1725" b="0">
                          <a:solidFill>
                            <a:srgbClr val="07182A"/>
                          </a:solidFill>
                          <a:latin typeface="CiscoSansTT"/>
                          <a:ea typeface="CiscoSansTT"/>
                          <a:cs typeface="CiscoSansTT"/>
                        </a:rPr>
                        <a:t>Off</a:t>
                      </a:r>
                    </a:p>
                  </a:txBody>
                  <a:tcPr marL="91440" marR="91440" marT="45720" marB="45720" anchor="ctr">
                    <a:lnL w="0">
                      <a:noFill/>
                    </a:lnL>
                    <a:lnR w="0">
                      <a:noFill/>
                    </a:lnR>
                    <a:lnT w="6350">
                      <a:solidFill>
                        <a:srgbClr val="D6DDE3"/>
                      </a:solidFill>
                    </a:lnT>
                    <a:lnB w="6350">
                      <a:solidFill>
                        <a:srgbClr val="D6DDE3"/>
                      </a:solidFill>
                    </a:lnB>
                    <a:solidFill>
                      <a:srgbClr val="F6ECF5"/>
                    </a:solidFill>
                  </a:tcPr>
                </a:tc>
              </a:tr>
              <a:tr h="590550">
                <a:tc>
                  <a:txBody>
                    <a:bodyPr>
                      <a:noAutofit/>
                    </a:bodyPr>
                    <a:lstStyle/>
                    <a:p>
                      <a:pPr algn="ctr"/>
                      <a:r>
                        <a:rPr sz="1950" b="1">
                          <a:solidFill>
                            <a:srgbClr val="07182A"/>
                          </a:solidFill>
                          <a:latin typeface="CiscoSansTT Medium"/>
                          <a:ea typeface="CiscoSansTT Medium"/>
                          <a:cs typeface="CiscoSansTT Medium"/>
                        </a:rPr>
                        <a:t>E</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1">
                          <a:solidFill>
                            <a:srgbClr val="07182A"/>
                          </a:solidFill>
                          <a:latin typeface="CiscoSansTT"/>
                          <a:ea typeface="CiscoSansTT"/>
                          <a:cs typeface="CiscoSansTT"/>
                        </a:rPr>
                        <a:t>Planned</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 (TCX)</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c>
                  <a:txBody>
                    <a:bodyPr>
                      <a:noAutofit/>
                    </a:bodyPr>
                    <a:lstStyle/>
                    <a:p>
                      <a:pPr algn="ctr"/>
                      <a:r>
                        <a:rPr sz="1725" b="0">
                          <a:solidFill>
                            <a:srgbClr val="07182A"/>
                          </a:solidFill>
                          <a:latin typeface="CiscoSansTT"/>
                          <a:ea typeface="CiscoSansTT"/>
                          <a:cs typeface="CiscoSansTT"/>
                        </a:rPr>
                        <a:t>On (Envoy)</a:t>
                      </a:r>
                    </a:p>
                  </a:txBody>
                  <a:tcPr marL="91440" marR="91440" marT="45720" marB="45720" anchor="ctr">
                    <a:lnL w="0">
                      <a:noFill/>
                    </a:lnL>
                    <a:lnR w="0">
                      <a:noFill/>
                    </a:lnR>
                    <a:lnT w="6350">
                      <a:solidFill>
                        <a:srgbClr val="D6DDE3"/>
                      </a:solidFill>
                    </a:lnT>
                    <a:lnB w="6350">
                      <a:solidFill>
                        <a:srgbClr val="D6DDE3"/>
                      </a:solidFill>
                    </a:lnB>
                    <a:solidFill>
                      <a:srgbClr val="FFFFFF"/>
                    </a:solidFill>
                  </a:tcPr>
                </a:tc>
              </a:tr>
            </a:tbl>
          </a:graphicData>
        </a:graphic>
      </p:graphicFrame>
      <p:sp>
        <p:nvSpPr>
          <p:cNvPr id="22" name="matrix-controls">
            <a:extLst xmlns:a="http://schemas.openxmlformats.org/drawingml/2006/main">
              <a:ext uri="{FF2B5EF4-FFF2-40B4-BE49-F238E27FC236}">
                <a16:creationId xmlns:a16="http://schemas.microsoft.com/office/drawing/2014/main" id="{4D741863-18F2-4FE8-9009-6A81C6066413}"/>
              </a:ext>
            </a:extLst>
          </p:cNvPr>
          <p:cNvSpPr>
            <a:spLocks xmlns:a="http://schemas.openxmlformats.org/drawingml/2006/main" noGrp="1"/>
          </p:cNvSpPr>
          <p:nvPr/>
        </p:nvSpPr>
        <p:spPr>
          <a:xfrm xmlns:a="http://schemas.openxmlformats.org/drawingml/2006/main">
            <a:off x="762000" y="57721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185</TotalTime>
  <Words>7290</Words>
  <Application>Microsoft Macintosh PowerPoint</Application>
  <DocSecurity>0</DocSecurity>
  <PresentationFormat>Widescreen</PresentationFormat>
  <Paragraphs>678</Paragraphs>
  <Slides>36</Slides>
  <Notes>36</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CiscoSansTT Medium</vt:lpstr>
      <vt:lpstr>CiscoSansTT</vt:lpstr>
      <vt:lpstr>Calibri</vt:lpstr>
      <vt:lpstr>Arial</vt:lpstr>
      <vt:lpstr>Cisco Light 05-21-2025</vt:lpstr>
      <vt:lpstr>Two eBPF Systems, One Kubernetes Node</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7</cp:revision>
  <dcterms:created xsi:type="dcterms:W3CDTF">2026-09-27T17:17:35Z</dcterms:created>
  <dcterms:modified xsi:type="dcterms:W3CDTF">2026-10-29T19:38:01Z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