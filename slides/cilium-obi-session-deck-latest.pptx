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Oct29PolicyIllustration"/>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90302020109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96"/>
    <p:restoredTop sz="79213"/>
  </p:normalViewPr>
  <p:slideViewPr>
    <p:cSldViewPr snapToGrid="0">
      <p:cViewPr varScale="1">
        <p:scale>
          <a:sx n="178" d="100"/>
          <a:sy n="178" d="100"/>
        </p:scale>
        <p:origin x="247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Oct29PolicyIllustration"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pp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a:endParaRPr/>
          </a:p>
          <a:p>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p>
          <a:p>
            <a:endParaRPr/>
          </a:p>
          <a:p>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a:p>
          <a:p>
            <a:r>
              <a:t>Transition: the next slide shows why program order matters, followed by TCX and Netlink fallback.</a:t>
            </a:r>
          </a:p>
          <a:p>
            <a:endParaRPr/>
          </a:p>
          <a:p>
            <a:r>
              <a:t>Sources:</a:t>
            </a:r>
          </a:p>
          <a:p>
            <a:r>
              <a:t>- https://opentelemetry.io/docs/zero-code/obi/cilium-compatibility/</a:t>
            </a:r>
          </a:p>
          <a:p>
            <a:r>
              <a:t>- https://opentelemetry.io/docs/zero-code/obi/configure/metrics-traces-attributes/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 classifier can change packet state or return a terminal result. This is why order affects visibility and trace continuity, not only overhead.</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a:endParaRPr/>
          </a:p>
          <a:p>
            <a:r>
              <a:t>First bullet: both programs can share the same hook, and TCX manages their relative order. You do not need to coordinate the older TC filter priority numbers for this TCX path.</a:t>
            </a:r>
          </a:p>
          <a:p>
            <a:endParaRPr/>
          </a:p>
          <a:p>
            <a:r>
              <a:t>Second bullet: check what the agents actually use. A kernel version is only a clue, because distributions can backport kernel features. Check startup logs and the actual attachments on the running node.</a:t>
            </a:r>
          </a:p>
          <a:p>
            <a:endParaRPr/>
          </a:p>
          <a:p>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a:endParaRPr/>
          </a:p>
          <a:p>
            <a:r>
              <a:t>Technical detail for questions: the pinned OBI requests link.Head(); the pinned Cilium requests link.Tail().</a:t>
            </a:r>
          </a:p>
          <a:p>
            <a:endParaRPr/>
          </a:p>
          <a:p>
            <a:r>
              <a:t>Sources:</a:t>
            </a:r>
          </a:p>
          <a:p>
            <a:r>
              <a:t>- https://opentelemetry.io/docs/zero-code/obi/cilium-compatibility/</a:t>
            </a:r>
          </a:p>
          <a:p>
            <a:r>
              <a:t>- https://github.com/open-telemetry/opentelemetry-ebpf-instrumentation/blob/v0.13.0/pkg/internal/ebpf/tcmanager/tcxmanager.go</a:t>
            </a:r>
          </a:p>
          <a:p>
            <a:r>
              <a:t>- https://github.com/cilium/cilium/blob/v1.20.2/pkg/datapath/loader/tcx.go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a:endParaRPr/>
          </a:p>
          <a:p>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a:endParaRPr/>
          </a:p>
          <a:p>
            <a:r>
              <a:t>Always pin versions, render configuration, and inspect the live attachment order on a Linux node. This experiment does not measure packet overhead or prove every application path.</a:t>
            </a:r>
          </a:p>
          <a:p>
            <a:endParaRPr/>
          </a:p>
          <a:p>
            <a:r>
              <a:t>Sources:</a:t>
            </a:r>
          </a:p>
          <a:p>
            <a:r>
              <a:t>- https://opentelemetry.io/docs/zero-code/obi/cilium-compatibility/</a:t>
            </a:r>
          </a:p>
          <a:p>
            <a:r>
              <a:t>- https://github.com/open-telemetry/opentelemetry-ebpf-instrumentation/blob/v0.13.0/pkg/obi/config.go</a:t>
            </a:r>
          </a:p>
          <a:p>
            <a:r>
              <a:t>- https://github.com/open-telemetry/opentelemetry-ebpf-instrumentation/blob/v0.13.0/pkg/ebpf/tcmanager/cilium_support.go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 Play the video.</a:t>
            </a:r>
          </a:p>
          <a:p>
            <a:endParaRPr dirty="0"/>
          </a:p>
          <a:p>
            <a:r>
              <a:rPr dirty="0"/>
              <a:t>This compares two separate test clusters. Both use Cilium 1.20.2 and OBI v0.13.0. TCX is off, so the older TC mechanism uses priority numbers. A lower number runs earlier.</a:t>
            </a:r>
          </a:p>
          <a:p>
            <a:endParaRPr dirty="0"/>
          </a:p>
          <a:p>
            <a:r>
              <a:rPr dirty="0"/>
              <a:t>LEFT: Cilium uses priority 1. OBI detects that conflict and stops itself. That is why OBI shows 0/1 ready. The nginx request still returns HTTP 200: the application network continues to work while OBI is unavailable.</a:t>
            </a:r>
          </a:p>
          <a:p>
            <a:endParaRPr dirty="0"/>
          </a:p>
          <a:p>
            <a:r>
              <a:rPr dirty="0"/>
              <a:t>RIGHT: a fresh cluster uses Cilium priority 2. OBI can install its filter at priority 1, ahead of Cilium. OBI shows 1/1 ready and prints an HTTP span. The nginx request also returns HTTP 200.</a:t>
            </a:r>
          </a:p>
          <a:p>
            <a:endParaRPr dirty="0"/>
          </a:p>
          <a:p>
            <a:r>
              <a:rPr dirty="0"/>
              <a:t>What this teaches: check application health AND observability health. A successful request does not tell us that OBI is running or producing data.</a:t>
            </a:r>
          </a:p>
          <a:p>
            <a:endParaRPr dirty="0"/>
          </a:p>
          <a:p>
            <a:r>
              <a:rPr dirty="0"/>
              <a:t>Scope: this recording enables OBI's optional </a:t>
            </a:r>
            <a:r>
              <a:rPr dirty="0" err="1"/>
              <a:t>network.source</a:t>
            </a:r>
            <a:r>
              <a:rPr dirty="0"/>
              <a:t>: </a:t>
            </a:r>
            <a:r>
              <a:rPr dirty="0" err="1"/>
              <a:t>tc</a:t>
            </a:r>
            <a:r>
              <a:rPr dirty="0"/>
              <a:t> mode. Our application-only OBI configuration did not trigger this startup guard. The two sides are saved outputs from separate runs, replayed for the talk.</a:t>
            </a:r>
          </a:p>
          <a:p>
            <a:endParaRPr dirty="0"/>
          </a:p>
          <a:p>
            <a:r>
              <a:rPr dirty="0"/>
              <a:t>Sources:</a:t>
            </a:r>
          </a:p>
          <a:p>
            <a:r>
              <a:rPr dirty="0"/>
              <a:t>- https://</a:t>
            </a:r>
            <a:r>
              <a:rPr dirty="0" err="1"/>
              <a:t>github.com</a:t>
            </a:r>
            <a:r>
              <a:rPr dirty="0"/>
              <a:t>/ajimenez1503/cilium-obi-demo/blob/main/demo/legacy-priority-</a:t>
            </a:r>
            <a:r>
              <a:rPr dirty="0" err="1"/>
              <a:t>recording.md</a:t>
            </a:r>
            <a:endParaRPr dirty="0"/>
          </a:p>
          <a:p>
            <a:r>
              <a:rPr dirty="0"/>
              <a:t>- https://</a:t>
            </a:r>
            <a:r>
              <a:rPr dirty="0" err="1"/>
              <a:t>github.com</a:t>
            </a:r>
            <a:r>
              <a:rPr dirty="0"/>
              <a:t>/ajimenez1503/cilium-obi-demo/tree/main/evidence/legacy-priority-2026-09-27</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a:t>
            </a:r>
          </a:p>
          <a:p>
            <a:endParaRPr dirty="0"/>
          </a:p>
          <a:p>
            <a:r>
              <a:rPr dirty="0"/>
              <a:t>Start with the upper diagram.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a:endParaRPr dirty="0"/>
          </a:p>
          <a:p>
            <a:r>
              <a:rPr dirty="0"/>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a:endParaRPr dirty="0"/>
          </a:p>
          <a:p>
            <a:r>
              <a:rPr dirty="0"/>
              <a:t>Both versions, plus edge-nginx, are selected by the OBI discovery configuration. OBI watches their supported operations and creates spans and RED metrics. The applications do not call OBI as an application dependency.</a:t>
            </a:r>
          </a:p>
          <a:p>
            <a:endParaRPr dirty="0"/>
          </a:p>
          <a:p>
            <a:r>
              <a:rPr dirty="0"/>
              <a:t>Cilium and Hubble also cover traffic for all three services. Hubble is not connected only to v1. The diagram's lower arrows represent telemetry exports, not application calls.</a:t>
            </a:r>
          </a:p>
          <a:p>
            <a:endParaRPr dirty="0"/>
          </a:p>
          <a:p>
            <a:r>
              <a:rPr dirty="0"/>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a:endParaRPr dirty="0"/>
          </a:p>
          <a:p>
            <a:r>
              <a:rPr dirty="0"/>
              <a:t>For the denial demo, the policy allows v2 to call v1 on port 8081. It blocks edge-nginx from calling v1 directly. That is why the orange direct route is the one we exercise during the failure.</a:t>
            </a:r>
          </a:p>
          <a:p>
            <a:endParaRPr dirty="0"/>
          </a:p>
          <a:p>
            <a:r>
              <a:rPr dirty="0"/>
              <a:t>Sources:</a:t>
            </a:r>
          </a:p>
          <a:p>
            <a:r>
              <a:rPr dirty="0"/>
              <a:t>- https://</a:t>
            </a:r>
            <a:r>
              <a:rPr dirty="0" err="1"/>
              <a:t>github.com</a:t>
            </a:r>
            <a:r>
              <a:rPr dirty="0"/>
              <a:t>/ajimenez1503/cilium-obi-demo/blob/main/demo/obi-</a:t>
            </a:r>
            <a:r>
              <a:rPr dirty="0" err="1"/>
              <a:t>values.yaml</a:t>
            </a:r>
            <a:endParaRPr dirty="0"/>
          </a:p>
          <a:p>
            <a:r>
              <a:rPr dirty="0"/>
              <a:t>- https://</a:t>
            </a:r>
            <a:r>
              <a:rPr dirty="0" err="1"/>
              <a:t>github.com</a:t>
            </a:r>
            <a:r>
              <a:rPr dirty="0"/>
              <a:t>/ajimenez1503/cilium-obi-demo/blob/main/demo/policy-</a:t>
            </a:r>
            <a:r>
              <a:rPr dirty="0" err="1"/>
              <a:t>deny.yaml</a:t>
            </a:r>
            <a:endParaRPr dirty="0"/>
          </a:p>
          <a:p>
            <a:r>
              <a:rPr dirty="0"/>
              <a:t>- https://</a:t>
            </a:r>
            <a:r>
              <a:rPr dirty="0" err="1"/>
              <a:t>github.com</a:t>
            </a:r>
            <a:r>
              <a:rPr dirty="0"/>
              <a:t>/open-telemetry/</a:t>
            </a:r>
            <a:r>
              <a:rPr dirty="0" err="1"/>
              <a:t>opentelemetry</a:t>
            </a:r>
            <a:r>
              <a:rPr dirty="0"/>
              <a:t>-</a:t>
            </a:r>
            <a:r>
              <a:rPr dirty="0" err="1"/>
              <a:t>ebpf</a:t>
            </a:r>
            <a:r>
              <a:rPr dirty="0"/>
              <a:t>-instrumentation/tree/main/examples/nginx</a:t>
            </a:r>
          </a:p>
          <a:p>
            <a:r>
              <a:rPr dirty="0"/>
              <a:t>- https://</a:t>
            </a:r>
            <a:r>
              <a:rPr dirty="0" err="1"/>
              <a:t>docs.cilium.io</a:t>
            </a:r>
            <a:r>
              <a:rPr dirty="0"/>
              <a:t>/</a:t>
            </a:r>
            <a:r>
              <a:rPr dirty="0" err="1"/>
              <a:t>en</a:t>
            </a:r>
            <a:r>
              <a:rPr dirty="0"/>
              <a:t>/stable/observability/metrics/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a:endParaRPr dirty="0"/>
          </a:p>
          <a:p>
            <a:r>
              <a:rPr dirty="0"/>
              <a:t>Sources:</a:t>
            </a:r>
          </a:p>
          <a:p>
            <a:r>
              <a:rPr dirty="0"/>
              <a:t>- https://</a:t>
            </a:r>
            <a:r>
              <a:rPr dirty="0" err="1"/>
              <a:t>docs.cilium.io</a:t>
            </a:r>
            <a:r>
              <a:rPr dirty="0"/>
              <a:t>/</a:t>
            </a:r>
            <a:r>
              <a:rPr dirty="0" err="1"/>
              <a:t>en</a:t>
            </a:r>
            <a:r>
              <a:rPr dirty="0"/>
              <a:t>/stable/observability/</a:t>
            </a:r>
            <a:r>
              <a:rPr dirty="0" err="1"/>
              <a:t>hubble</a:t>
            </a:r>
            <a:r>
              <a:rPr dirty="0"/>
              <a:t>/</a:t>
            </a:r>
          </a:p>
          <a:p>
            <a:r>
              <a:rPr dirty="0"/>
              <a:t>- https://</a:t>
            </a:r>
            <a:r>
              <a:rPr dirty="0" err="1"/>
              <a:t>opentelemetry.io</a:t>
            </a:r>
            <a:r>
              <a:rPr dirty="0"/>
              <a:t>/docs/zero-code/obi/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3 minutes. Play the video on the left.</a:t>
            </a:r>
          </a:p>
          <a:p>
            <a:endParaRPr dirty="0"/>
          </a:p>
          <a:p>
            <a:r>
              <a:rPr dirty="0"/>
              <a:t>The policy permits recommendations-v2 to call recommendations-v1 on TCP port 8081. It blocks direct calls from edge-nginx to v1. We send the direct v1 request, so the caller times out.</a:t>
            </a:r>
          </a:p>
          <a:p>
            <a:endParaRPr dirty="0"/>
          </a:p>
          <a:p>
            <a:r>
              <a:rPr dirty="0"/>
              <a:t>At about 00:18, point to the Hubble terminal output. It names edge-nginx and recommendations-v1:8081, then says INGRESS DENIED and Policy denied DROPPED. This is the exact evidence of the enforcement decision.</a:t>
            </a:r>
          </a:p>
          <a:p>
            <a:endParaRPr dirty="0"/>
          </a:p>
          <a:p>
            <a:r>
              <a:rPr dirty="0"/>
              <a:t>At about 00:34, the Grafana Drops by reason panel shows a yellow drop spike. The enlarged still on this slide comes from that same recording. Its yellow-series label is below the recorded viewport; the still crops out the unrelated visible legend row. Use the graph to locate the increase in dropped traffic, and use Hubble to confirm the specific policy reason.</a:t>
            </a:r>
          </a:p>
          <a:p>
            <a:endParaRPr dirty="0"/>
          </a:p>
          <a:p>
            <a:r>
              <a:rPr dirty="0"/>
              <a:t>On the combined dashboard, Flows by verdict also has a DROPPED series. It is close to zero compared with the much larger FORWARDED series. Hide FORWARDED or inspect the DROPPED legend value when presenting. The trace-derived service graph does not display a policy-denial badge; a blocked request may never create a destination server span.</a:t>
            </a:r>
          </a:p>
          <a:p>
            <a:endParaRPr dirty="0"/>
          </a:p>
          <a:p>
            <a:r>
              <a:rPr dirty="0"/>
              <a:t>OBI is where we inspect the caller's application symptom, such as a timeout or upstream error, when the relevant span is available. This recording displays the curl timeout and Hubble verdict; it does not display a failed OBI span. Do not claim that the capture proves that span. Match time, workload, direction, and port to investigate the same failure. The recording removes the policy and verifies HTTP 200 recovery.</a:t>
            </a:r>
          </a:p>
          <a:p>
            <a:endParaRPr dirty="0"/>
          </a:p>
          <a:p>
            <a:r>
              <a:rPr dirty="0"/>
              <a:t>Sources:</a:t>
            </a:r>
          </a:p>
          <a:p>
            <a:r>
              <a:rPr dirty="0"/>
              <a:t>- https://</a:t>
            </a:r>
            <a:r>
              <a:rPr dirty="0" err="1"/>
              <a:t>github.com</a:t>
            </a:r>
            <a:r>
              <a:rPr dirty="0"/>
              <a:t>/ajimenez1503/cilium-obi-demo/blob/main/demo/policy-</a:t>
            </a:r>
            <a:r>
              <a:rPr dirty="0" err="1"/>
              <a:t>deny.yaml</a:t>
            </a:r>
            <a:endParaRPr dirty="0"/>
          </a:p>
          <a:p>
            <a:r>
              <a:rPr dirty="0"/>
              <a:t>- https://</a:t>
            </a:r>
            <a:r>
              <a:rPr dirty="0" err="1"/>
              <a:t>github.com</a:t>
            </a:r>
            <a:r>
              <a:rPr dirty="0"/>
              <a:t>/ajimenez1503/cilium-obi-demo/blob/main/slides/recordings/demo-3-policy-denial.mp4</a:t>
            </a:r>
          </a:p>
          <a:p>
            <a:r>
              <a:rPr dirty="0"/>
              <a:t>- https://</a:t>
            </a:r>
            <a:r>
              <a:rPr dirty="0" err="1"/>
              <a:t>docs.cilium.io</a:t>
            </a:r>
            <a:r>
              <a:rPr dirty="0"/>
              <a:t>/</a:t>
            </a:r>
            <a:r>
              <a:rPr dirty="0" err="1"/>
              <a:t>en</a:t>
            </a:r>
            <a:r>
              <a:rPr dirty="0"/>
              <a:t>/stable/observability/metrics/#</a:t>
            </a:r>
            <a:r>
              <a:rPr dirty="0" err="1"/>
              <a:t>hubble</a:t>
            </a:r>
            <a:r>
              <a:rPr dirty="0"/>
              <a:t>-exported-metrics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OBI has an optional network collector as well as application instrumentation. It counts traffic between endpoints, including bytes and packets. Kubernetes metadata can add the source and destination workloads to those metrics.</a:t>
            </a:r>
          </a:p>
          <a:p xmlns:a="http://schemas.openxmlformats.org/drawingml/2006/main">
            <a:r>
              <a:t/>
            </a:r>
            <a:endParaRPr/>
          </a:p>
          <a:p xmlns:a="http://schemas.openxmlformats.org/drawingml/2006/main">
            <a:r>
              <a:t>Use it to answer questions such as which service sends the most traffic, or to send network-volume metrics through an OpenTelemetry pipeline. It can be useful when Hubble is not available or when these metrics answer an additional question.</a:t>
            </a:r>
          </a:p>
          <a:p xmlns:a="http://schemas.openxmlformats.org/drawingml/2006/main">
            <a:r>
              <a:t/>
            </a:r>
          </a:p>
          <a:p xmlns:a="http://schemas.openxmlformats.org/drawingml/2006/main">
            <a:r>
              <a:t>In this combined demo, Hubble is the default network source because it provides flows and Cilium policy verdicts. OBI network-volume counters do not provide the Cilium record that says Policy denied. The two tools can count traffic differently because observation points, filters, and aggregation differ.</a:t>
            </a:r>
          </a:p>
          <a:p xmlns:a="http://schemas.openxmlformats.org/drawingml/2006/main">
            <a:r>
              <a:t/>
            </a:r>
          </a:p>
          <a:p xmlns:a="http://schemas.openxmlformats.org/drawingml/2006/main">
            <a:r>
              <a:t>The main demo leaves optional OBI network metrics off. OBI still generates application spans and RED metrics. Its TCP trace-context propagation is another feature: it connects application spans across services. Keeping network-volume metrics off does not turn application tracing off.</a:t>
            </a:r>
          </a:p>
          <a:p xmlns:a="http://schemas.openxmlformats.org/drawingml/2006/main">
            <a:r>
              <a:t/>
            </a:r>
          </a:p>
          <a:p xmlns:a="http://schemas.openxmlformats.org/drawingml/2006/main">
            <a:r>
              <a:t>If we deliberately enable OBI network collection beside Cilium, choose network.source: socket_filter. Limit labels to the dimensions you need; many address and port combinations can create many metric series and increase collection and storage costs.</a:t>
            </a:r>
          </a:p>
          <a:p xmlns:a="http://schemas.openxmlformats.org/drawingml/2006/main">
            <a:r>
              <a:t/>
            </a:r>
          </a:p>
          <a:p xmlns:a="http://schemas.openxmlformats.org/drawingml/2006/main">
            <a:r>
              <a:t>The separate legacy-priority recording enables network.source: tc to demonstrate that compatibility guard. That controlled test is not the default deployment design.</a:t>
            </a:r>
          </a:p>
          <a:p xmlns:a="http://schemas.openxmlformats.org/drawingml/2006/main">
            <a:r>
              <a:t/>
            </a:r>
          </a:p>
          <a:p xmlns:a="http://schemas.openxmlformats.org/drawingml/2006/main">
            <a:r>
              <a:t>Sources:</a:t>
            </a:r>
          </a:p>
          <a:p xmlns:a="http://schemas.openxmlformats.org/drawingml/2006/main">
            <a:r>
              <a:t>- https://opentelemetry.io/docs/zero-code/obi/network/</a:t>
            </a:r>
          </a:p>
          <a:p xmlns:a="http://schemas.openxmlformats.org/drawingml/2006/main">
            <a:r>
              <a:t>- https://opentelemetry.io/docs/zero-code/obi/network/config/</a:t>
            </a:r>
          </a:p>
          <a:p xmlns:a="http://schemas.openxmlformats.org/drawingml/2006/main">
            <a:r>
              <a:t>- https://github.com/open-telemetry/opentelemetry-ebpf-instrumentation/blob/v0.13.0/pkg/obi/network_cfg.go</a:t>
            </a:r>
          </a:p>
          <a:p xmlns:a="http://schemas.openxmlformats.org/drawingml/2006/main">
            <a:r>
              <a:t>- https://github.com/ajimenez1503/cilium-obi-demo/blob/main/demo/obi-values.yaml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 minutes</a:t>
            </a:r>
          </a:p>
          <a:p>
            <a:endParaRPr/>
          </a:p>
          <a:p>
            <a:r>
              <a:t>These are local kind rehearsal observations for B (Cilium and Hubble, OBI off) and D (Cilium and Hubble plus OBI with TCX). They are not production capacity results. The no-eBPF reference N and conditions A, C, and E remain unmeasured.</a:t>
            </a:r>
          </a:p>
          <a:p>
            <a:endParaRPr/>
          </a:p>
          <a:p>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a:endParaRPr/>
          </a:p>
          <a:p>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a:p>
          <a:p>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a:p>
          <a:p>
            <a:r>
              <a:t>Sources:</a:t>
            </a:r>
          </a:p>
          <a:p>
            <a:r>
              <a:t>- /Users/antonjim/Documents/Playground/cilium-obi-demo/evidence/benchmark-2026-09-26/results.md</a:t>
            </a:r>
          </a:p>
          <a:p>
            <a:r>
              <a:t>- https://docs.cilium.io/en/latest/observability/metrics/#lost-events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The goal is to enable OBI on a small group of nodes first, learn from those nodes, and then expand.</a:t>
            </a:r>
          </a:p>
          <a:p xmlns:a="http://schemas.openxmlformats.org/drawingml/2006/main">
            <a:r>
              <a:t/>
            </a:r>
            <a:endParaRPr/>
          </a:p>
          <a:p xmlns:a="http://schemas.openxmlformats.org/drawingml/2006/main">
            <a:r>
              <a:t>1. Check nodes. Record the kernel features, OBI and Cilium versions, and Cilium datapath. Confirm that the chosen TCX or legacy attachment method is supported on the actual nodes. BTF, if mentioned in a question, is kernel type metadata used by eBPF tools.</a:t>
            </a:r>
          </a:p>
          <a:p xmlns:a="http://schemas.openxmlformats.org/drawingml/2006/main">
            <a:r>
              <a:t/>
            </a:r>
            <a:endParaRPr/>
          </a:p>
          <a:p xmlns:a="http://schemas.openxmlformats.org/drawingml/2006/main">
            <a:r>
              <a:t>2. Check config. Review the final Kubernetes YAML that Helm generates. Check the permissions, host filesystem mounts, and attachment settings. Then check startup logs and actual attachments after deployment.</a:t>
            </a:r>
          </a:p>
          <a:p xmlns:a="http://schemas.openxmlformats.org/drawingml/2006/main">
            <a:r>
              <a:t/>
            </a:r>
            <a:endParaRPr/>
          </a:p>
          <a:p xmlns:a="http://schemas.openxmlformats.org/drawingml/2006/main">
            <a:r>
              <a:t>3. Start small. Use node selection to run OBI on a few nodes. Keep a clear way to disable that new OBI configuration and return to the previous setup.</a:t>
            </a:r>
          </a:p>
          <a:p xmlns:a="http://schemas.openxmlformats.org/drawingml/2006/main">
            <a:r>
              <a:t/>
            </a:r>
            <a:endParaRPr/>
          </a:p>
          <a:p xmlns:a="http://schemas.openxmlformats.org/drawingml/2006/main">
            <a:r>
              <a:t>4. Test traffic. Exercise calls within one node, calls across nodes, and calls through a Kubernetes Service. Also test one connection that policy should allow and one it should deny. Check the application result and the expected telemetry.</a:t>
            </a:r>
          </a:p>
          <a:p xmlns:a="http://schemas.openxmlformats.org/drawingml/2006/main">
            <a:r>
              <a:t/>
            </a:r>
            <a:endParaRPr/>
          </a:p>
          <a:p xmlns:a="http://schemas.openxmlformats.org/drawingml/2006/main">
            <a:r>
              <a:t>5. Expand. Compare this group with its baseline using the CPU, memory, missing-data, and volume checks from the earlier rollout-check slide. Expand gradually when the results meet your chosen limits. If a check fails, stop expansion, restore the previous setup, and investigate.</a:t>
            </a:r>
          </a:p>
          <a:p xmlns:a="http://schemas.openxmlformats.org/drawingml/2006/main">
            <a:r>
              <a:t/>
            </a:r>
            <a:endParaRPr/>
          </a:p>
          <a:p xmlns:a="http://schemas.openxmlformats.org/drawingml/2006/main">
            <a:r>
              <a:t>This is what the old labels meant: Inventory meant check the environment; Render meant inspect Helm's generated YAML; Canary meant start on a few nodes; Exercise meant test real requests; Promote meant expand the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 minute</a:t>
            </a:r>
          </a:p>
          <a:p>
            <a:endParaRPr/>
          </a:p>
          <a:p>
            <a:r>
              <a:t>Close by restating the operational contract. Safe coexistence means verified order, preserved traffic, complete enough telemetry, and measured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endParaRPr/>
          </a:p>
          <a:p xmlns:a="http://schemas.openxmlformats.org/drawingml/2006/main">
            <a:r>
              <a:t>This is an illustrative version of the dashboard. The Grafana chart is the saved recording at about 00:34. The editable Policy denied / DROPPED legend is added for explanation; the original capture did not display that policy-reason label. The graph values and curve are unchanged.</a:t>
            </a:r>
          </a:p>
          <a:p xmlns:a="http://schemas.openxmlformats.org/drawingml/2006/main">
            <a:r>
              <a:t/>
            </a:r>
            <a:endParaRPr/>
          </a:p>
          <a:p xmlns:a="http://schemas.openxmlformats.org/drawingml/2006/main">
            <a:r>
              <a:t>Tell the audience what the label represents: Cilium denied the direct connection from edge-nginx to recommendations-v1:8081. The Hubble recording at about 00:18 proves that verdict with Policy denied and DROPPED. The chart shows the rise in dropped traffic over time.</a:t>
            </a:r>
          </a:p>
          <a:p xmlns:a="http://schemas.openxmlformats.org/drawingml/2006/main">
            <a:r>
              <a:t/>
            </a:r>
            <a:endParaRPr/>
          </a:p>
          <a:p xmlns:a="http://schemas.openxmlformats.org/drawingml/2006/main">
            <a:r>
              <a:t>The original slide 20 remains in the deck as a hidden reference, with its unmodified recording. Do not describe this added legend as captured Grafana output or as a newly validated dashboard feature.</a:t>
            </a:r>
          </a:p>
          <a:p xmlns:a="http://schemas.openxmlformats.org/drawingml/2006/main">
            <a:r>
              <a:t/>
            </a:r>
            <a:endParaRPr/>
          </a:p>
          <a:p xmlns:a="http://schemas.openxmlformats.org/drawingml/2006/main">
            <a:r>
              <a:t>Sources:</a:t>
            </a:r>
          </a:p>
          <a:p xmlns:a="http://schemas.openxmlformats.org/drawingml/2006/main">
            <a:r>
              <a:t>- https://github.com/ajimenez1503/cilium-obi-demo/blob/main/slides/recordings/demo-3-policy-denial.mp4</a:t>
            </a:r>
            <a:endParaRPr/>
          </a:p>
          <a:p xmlns:a="http://schemas.openxmlformats.org/drawingml/2006/main">
            <a:r>
              <a:t>- https://github.com/ajimenez1503/cilium-obi-demo/blob/main/demo/policy-deny.yaml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1.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_rels/slide37.xml.rels><?xml version="1.0" encoding="UTF-8" standalone="yes"?><Relationships xmlns="http://schemas.openxmlformats.org/package/2006/relationships"><Relationship Id="rIdLayout" Type="http://schemas.openxmlformats.org/officeDocument/2006/relationships/slideLayout" Target="/ppt/slideLayouts/slideLayout10.xml"/><Relationship Id="rIdNotes" Type="http://schemas.openxmlformats.org/officeDocument/2006/relationships/notesSlide" Target="/ppt/notesSlides/notesSlide37.xml"/><Relationship Id="rIdIllustrativeGraph" Type="http://schemas.openxmlformats.org/officeDocument/2006/relationships/image" Target="/pp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45833" lnSpcReduction="1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t">
            <a:noAutofit/>
          </a:bodyPr>
          <a:lstStyle/>
          <a:p>
            <a:pPr algn="l">
              <a:defRPr sz="2100" b="0">
                <a:solidFill>
                  <a:srgbClr val="686B6B"/>
                </a:solidFill>
                <a:latin typeface="CiscoSansTT"/>
                <a:ea typeface="CiscoSansTT"/>
                <a:cs typeface="CiscoSansTT"/>
              </a:defRPr>
            </a:pPr>
            <a:r>
              <a:rPr sz="2100" b="0" dirty="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9810750" cy="14288"/>
          </a:xfrm>
          <a:prstGeom prst="rect">
            <a:avLst/>
          </a:prstGeom>
          <a:solidFill>
            <a:srgbClr val="D6D6D6"/>
          </a:solidFill>
          <a:ln w="0">
            <a:noFill/>
          </a:ln>
        </p:spPr>
        <p:txBody>
          <a:bodyPr/>
          <a:lstStyle/>
          <a:p>
            <a:endParaRPr lang="en-ES"/>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9810750" cy="14288"/>
          </a:xfrm>
          <a:prstGeom prst="rect">
            <a:avLst/>
          </a:prstGeom>
          <a:solidFill>
            <a:srgbClr val="D6D6D6"/>
          </a:solidFill>
          <a:ln w="0">
            <a:noFill/>
          </a:ln>
        </p:spPr>
        <p:txBody>
          <a:bodyPr/>
          <a:lstStyle/>
          <a:p>
            <a:endParaRPr lang="en-ES"/>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8858250" cy="419100"/>
          </a:xfrm>
          <a:prstGeom prst="rect">
            <a:avLst/>
          </a:prstGeom>
          <a:noFill/>
          <a:ln w="0">
            <a:noFill/>
          </a:ln>
        </p:spPr>
        <p:txBody>
          <a:bodyPr anchor="t">
            <a:noAutofit/>
          </a:bodyPr>
          <a:lstStyle/>
          <a:p>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9601200" cy="504825"/>
          </a:xfrm>
          <a:prstGeom prst="rect">
            <a:avLst/>
          </a:prstGeom>
          <a:noFill/>
          <a:ln w="0">
            <a:noFill/>
          </a:ln>
        </p:spPr>
        <p:txBody>
          <a:bodyPr anchor="t">
            <a:noAutofit/>
          </a:bodyPr>
          <a:lstStyle/>
          <a:p>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838825"/>
            <a:ext cx="10763250" cy="419100"/>
          </a:xfrm>
          <a:prstGeom prst="rect">
            <a:avLst/>
          </a:prstGeom>
          <a:noFill/>
          <a:ln w="0">
            <a:noFill/>
          </a:ln>
        </p:spPr>
        <p:txBody>
          <a:bodyPr anchor="t">
            <a:noAutofit/>
          </a:bodyPr>
          <a:lstStyle/>
          <a:p>
            <a:pPr algn="l">
              <a:defRPr sz="1725" b="0">
                <a:solidFill>
                  <a:srgbClr val="0860FE"/>
                </a:solidFill>
                <a:latin typeface="CiscoSansTT"/>
                <a:ea typeface="CiscoSansTT"/>
                <a:cs typeface="CiscoSansTT"/>
              </a:defRPr>
            </a:pPr>
            <a:r>
              <a:rPr sz="1725" b="0" dirty="0">
                <a:solidFill>
                  <a:srgbClr val="0860FE"/>
                </a:solidFill>
                <a:latin typeface="CiscoSansTT"/>
                <a:ea typeface="CiscoSansTT"/>
                <a:cs typeface="CiscoSansTT"/>
              </a:rPr>
              <a:t>No application code changes. RED</a:t>
            </a:r>
            <a:r>
              <a:rPr lang="en-US" sz="1725" b="0" dirty="0">
                <a:solidFill>
                  <a:srgbClr val="0860FE"/>
                </a:solidFill>
                <a:latin typeface="CiscoSansTT"/>
                <a:ea typeface="CiscoSansTT"/>
                <a:cs typeface="CiscoSansTT"/>
              </a:rPr>
              <a:t> metrics </a:t>
            </a:r>
            <a:r>
              <a:rPr sz="1725" b="0" dirty="0">
                <a:solidFill>
                  <a:srgbClr val="0860FE"/>
                </a:solidFill>
                <a:latin typeface="CiscoSansTT"/>
                <a:ea typeface="CiscoSansTT"/>
                <a:cs typeface="CiscoSansTT"/>
              </a:rPr>
              <a:t> = request rate, errors, duration.</a:t>
            </a:r>
          </a:p>
        </p:txBody>
      </p:sp>
    </p:spTree>
    <p:extLst>
      <p:ext uri="{BB962C8B-B14F-4D97-AF65-F5344CB8AC3E}">
        <p14:creationId xmlns:p14="http://schemas.microsoft.com/office/powerpoint/2010/main" val="654467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45833" lnSpcReduction="1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F63C1725-D5B0-4F01-BEB5-31162F4096B3}"/>
              </a:ext>
            </a:extLst>
          </p:cNvPr>
          <p:cNvCxnSpPr>
            <a:stCxn id="9" idx="3"/>
            <a:endCxn id="10" idx="1"/>
          </p:cNvCxnSpPr>
          <p:nvPr/>
        </p:nvCxnSpPr>
        <p:spPr>
          <a:xfrm>
            <a:off x="2952750" y="32194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a:ext uri="{FF2B5EF4-FFF2-40B4-BE49-F238E27FC236}">
                <a16:creationId xmlns:a16="http://schemas.microsoft.com/office/drawing/2014/main" id="{9D6C336A-55D5-4177-AF1B-389608688355}"/>
              </a:ext>
            </a:extLst>
          </p:cNvPr>
          <p:cNvSpPr>
            <a:spLocks noGrp="1"/>
          </p:cNvSpPr>
          <p:nvPr/>
        </p:nvSpPr>
        <p:spPr>
          <a:xfrm>
            <a:off x="552450" y="1028700"/>
            <a:ext cx="10668000" cy="457200"/>
          </a:xfrm>
          <a:prstGeom prst="rect">
            <a:avLst/>
          </a:prstGeom>
          <a:noFill/>
          <a:ln w="0">
            <a:noFill/>
          </a:ln>
        </p:spPr>
        <p:txBody>
          <a:bodyPr anchor="t">
            <a:normAutofit fontScale="92500"/>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OBI can add trace context here.                                                       Cilium processes pod traffic here.</a:t>
            </a:r>
          </a:p>
        </p:txBody>
      </p:sp>
      <p:sp>
        <p:nvSpPr>
          <p:cNvPr id="3" name="Rounded Rectangle 2">
            <a:extLst>
              <a:ext uri="{FF2B5EF4-FFF2-40B4-BE49-F238E27FC236}">
                <a16:creationId xmlns:a16="http://schemas.microsoft.com/office/drawing/2014/main" id="{2C6A31FC-F26E-42CD-9AE6-3C77F3A50EB6}"/>
              </a:ext>
            </a:extLst>
          </p:cNvPr>
          <p:cNvSpPr>
            <a:spLocks noGrp="1"/>
          </p:cNvSpPr>
          <p:nvPr/>
        </p:nvSpPr>
        <p:spPr>
          <a:xfrm>
            <a:off x="666750" y="1562100"/>
            <a:ext cx="4762500" cy="781050"/>
          </a:xfrm>
          <a:prstGeom prst="roundRect">
            <a:avLst>
              <a:gd name="adj" fmla="val 9756"/>
            </a:avLst>
          </a:prstGeom>
          <a:solidFill>
            <a:srgbClr val="F9F0F6"/>
          </a:solidFill>
          <a:ln w="14288">
            <a:solidFill>
              <a:srgbClr val="FF007F"/>
            </a:solidFill>
          </a:ln>
        </p:spPr>
        <p:txBody>
          <a:bodyPr/>
          <a:lstStyle/>
          <a:p>
            <a:endParaRPr/>
          </a:p>
        </p:txBody>
      </p:sp>
      <p:sp>
        <p:nvSpPr>
          <p:cNvPr id="4" name="Rectangle 3">
            <a:extLst>
              <a:ext uri="{FF2B5EF4-FFF2-40B4-BE49-F238E27FC236}">
                <a16:creationId xmlns:a16="http://schemas.microsoft.com/office/drawing/2014/main" id="{EA4F80D9-21A7-4BB0-8B6C-ADE46F071600}"/>
              </a:ext>
            </a:extLst>
          </p:cNvPr>
          <p:cNvSpPr>
            <a:spLocks noGrp="1"/>
          </p:cNvSpPr>
          <p:nvPr/>
        </p:nvSpPr>
        <p:spPr>
          <a:xfrm>
            <a:off x="895350" y="1695450"/>
            <a:ext cx="2095500" cy="285750"/>
          </a:xfrm>
          <a:prstGeom prst="rect">
            <a:avLst/>
          </a:prstGeom>
          <a:noFill/>
          <a:ln w="0">
            <a:noFill/>
          </a:ln>
        </p:spPr>
        <p:txBody>
          <a:bodyPr anchor="t">
            <a:normAutofit fontScale="89091" lnSpcReduction="20000"/>
          </a:bodyPr>
          <a:lstStyle/>
          <a:p>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a:ext uri="{FF2B5EF4-FFF2-40B4-BE49-F238E27FC236}">
                <a16:creationId xmlns:a16="http://schemas.microsoft.com/office/drawing/2014/main" id="{3095A0B0-00E3-4075-B666-952E0C2DC6C9}"/>
              </a:ext>
            </a:extLst>
          </p:cNvPr>
          <p:cNvSpPr>
            <a:spLocks noGrp="1"/>
          </p:cNvSpPr>
          <p:nvPr/>
        </p:nvSpPr>
        <p:spPr>
          <a:xfrm>
            <a:off x="895350" y="2000250"/>
            <a:ext cx="400050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a:ext uri="{FF2B5EF4-FFF2-40B4-BE49-F238E27FC236}">
                <a16:creationId xmlns:a16="http://schemas.microsoft.com/office/drawing/2014/main" id="{8894B500-4C60-4EB7-A55D-B07E8DDA0609}"/>
              </a:ext>
            </a:extLst>
          </p:cNvPr>
          <p:cNvSpPr>
            <a:spLocks noGrp="1"/>
          </p:cNvSpPr>
          <p:nvPr/>
        </p:nvSpPr>
        <p:spPr>
          <a:xfrm>
            <a:off x="6762750" y="1562100"/>
            <a:ext cx="4762500" cy="781050"/>
          </a:xfrm>
          <a:prstGeom prst="roundRect">
            <a:avLst>
              <a:gd name="adj" fmla="val 9756"/>
            </a:avLst>
          </a:prstGeom>
          <a:solidFill>
            <a:srgbClr val="EAF7FC"/>
          </a:solidFill>
          <a:ln w="14288">
            <a:solidFill>
              <a:srgbClr val="0860FE"/>
            </a:solidFill>
          </a:ln>
        </p:spPr>
        <p:txBody>
          <a:bodyPr/>
          <a:lstStyle/>
          <a:p>
            <a:endParaRPr/>
          </a:p>
        </p:txBody>
      </p:sp>
      <p:sp>
        <p:nvSpPr>
          <p:cNvPr id="7" name="Rectangle 6">
            <a:extLst>
              <a:ext uri="{FF2B5EF4-FFF2-40B4-BE49-F238E27FC236}">
                <a16:creationId xmlns:a16="http://schemas.microsoft.com/office/drawing/2014/main" id="{20A765CC-FD83-44B5-A7D3-BA0C7F84DAAD}"/>
              </a:ext>
            </a:extLst>
          </p:cNvPr>
          <p:cNvSpPr>
            <a:spLocks noGrp="1"/>
          </p:cNvSpPr>
          <p:nvPr/>
        </p:nvSpPr>
        <p:spPr>
          <a:xfrm>
            <a:off x="6991350" y="1695450"/>
            <a:ext cx="2286000" cy="285750"/>
          </a:xfrm>
          <a:prstGeom prst="rect">
            <a:avLst/>
          </a:prstGeom>
          <a:noFill/>
          <a:ln w="0">
            <a:noFill/>
          </a:ln>
        </p:spPr>
        <p:txBody>
          <a:bodyPr anchor="t">
            <a:normAutofit fontScale="89091" lnSpcReduction="20000"/>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a:ext uri="{FF2B5EF4-FFF2-40B4-BE49-F238E27FC236}">
                <a16:creationId xmlns:a16="http://schemas.microsoft.com/office/drawing/2014/main" id="{6C28BB69-CC38-4098-95A7-E508628C9EA9}"/>
              </a:ext>
            </a:extLst>
          </p:cNvPr>
          <p:cNvSpPr>
            <a:spLocks noGrp="1"/>
          </p:cNvSpPr>
          <p:nvPr/>
        </p:nvSpPr>
        <p:spPr>
          <a:xfrm>
            <a:off x="6991350" y="2000250"/>
            <a:ext cx="390525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857500"/>
            <a:ext cx="22860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857500"/>
            <a:ext cx="2286000" cy="723900"/>
          </a:xfrm>
          <a:prstGeom prst="roundRect">
            <a:avLst>
              <a:gd name="adj" fmla="val 10526"/>
            </a:avLst>
          </a:prstGeom>
          <a:solidFill>
            <a:srgbClr val="FFFFFF"/>
          </a:solidFill>
          <a:ln w="14288">
            <a:solidFill>
              <a:srgbClr val="0860FE"/>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857500"/>
            <a:ext cx="20955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a:ext uri="{FF2B5EF4-FFF2-40B4-BE49-F238E27FC236}">
                <a16:creationId xmlns:a16="http://schemas.microsoft.com/office/drawing/2014/main" id="{88FAD868-6809-46F0-9E35-273A7055DB23}"/>
              </a:ext>
            </a:extLst>
          </p:cNvPr>
          <p:cNvCxnSpPr>
            <a:stCxn id="10" idx="3"/>
            <a:endCxn id="11" idx="1"/>
          </p:cNvCxnSpPr>
          <p:nvPr/>
        </p:nvCxnSpPr>
        <p:spPr>
          <a:xfrm>
            <a:off x="7239000" y="32194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4000500"/>
            <a:ext cx="7429500" cy="16192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4171950"/>
            <a:ext cx="6743700" cy="323850"/>
          </a:xfrm>
          <a:prstGeom prst="rect">
            <a:avLst/>
          </a:prstGeom>
          <a:noFill/>
          <a:ln w="0">
            <a:noFill/>
          </a:ln>
        </p:spPr>
        <p:txBody>
          <a:bodyPr anchor="t">
            <a:normAutofit fontScale="92500" lnSpcReduction="20000"/>
          </a:bodyPr>
          <a:lstStyle/>
          <a:p>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62915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62915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67677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62915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510540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510540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515302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510540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26DE8223-1734-4228-998C-9A84E060C69E}"/>
              </a:ext>
            </a:extLst>
          </p:cNvPr>
          <p:cNvCxnSpPr>
            <a:stCxn id="10" idx="2"/>
            <a:endCxn id="14" idx="0"/>
          </p:cNvCxnSpPr>
          <p:nvPr/>
        </p:nvCxnSpPr>
        <p:spPr>
          <a:xfrm>
            <a:off x="6096000" y="3581400"/>
            <a:ext cx="0" cy="419100"/>
          </a:xfrm>
          <a:prstGeom prst="straightConnector1">
            <a:avLst/>
          </a:prstGeom>
          <a:ln w="23813">
            <a:solidFill>
              <a:srgbClr val="07182A"/>
            </a:solidFill>
            <a:prstDash val="solid"/>
          </a:ln>
        </p:spPr>
      </p:cxnSp>
      <p:sp>
        <p:nvSpPr>
          <p:cNvPr id="25" name="Rectangle 24">
            <a:extLst>
              <a:ext uri="{FF2B5EF4-FFF2-40B4-BE49-F238E27FC236}">
                <a16:creationId xmlns:a16="http://schemas.microsoft.com/office/drawing/2014/main" id="{690A0E5E-ABFD-43B5-ACA6-CE5E7DF4A46A}"/>
              </a:ext>
            </a:extLst>
          </p:cNvPr>
          <p:cNvSpPr>
            <a:spLocks noGrp="1"/>
          </p:cNvSpPr>
          <p:nvPr/>
        </p:nvSpPr>
        <p:spPr>
          <a:xfrm>
            <a:off x="1657350" y="5867400"/>
            <a:ext cx="8877300" cy="400050"/>
          </a:xfrm>
          <a:prstGeom prst="rect">
            <a:avLst/>
          </a:prstGeom>
          <a:noFill/>
          <a:ln w="0">
            <a:noFill/>
          </a:ln>
        </p:spPr>
        <p:txBody>
          <a:bodyPr anchor="t">
            <a:normAutofit/>
          </a:bodyPr>
          <a:lstStyle/>
          <a:p>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a:ext uri="{FF2B5EF4-FFF2-40B4-BE49-F238E27FC236}">
                <a16:creationId xmlns:a16="http://schemas.microsoft.com/office/drawing/2014/main" id="{89E643B8-484C-47AA-9109-FE670EBCDCA3}"/>
              </a:ext>
            </a:extLst>
          </p:cNvPr>
          <p:cNvSpPr>
            <a:spLocks noGrp="1"/>
          </p:cNvSpPr>
          <p:nvPr/>
        </p:nvSpPr>
        <p:spPr>
          <a:xfrm>
            <a:off x="857250" y="2286000"/>
            <a:ext cx="26670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a:ext uri="{FF2B5EF4-FFF2-40B4-BE49-F238E27FC236}">
                <a16:creationId xmlns:a16="http://schemas.microsoft.com/office/drawing/2014/main" id="{DB9EED84-A760-4E45-9239-12010D6F4F51}"/>
              </a:ext>
            </a:extLst>
          </p:cNvPr>
          <p:cNvSpPr>
            <a:spLocks noGrp="1"/>
          </p:cNvSpPr>
          <p:nvPr/>
        </p:nvSpPr>
        <p:spPr>
          <a:xfrm>
            <a:off x="4762500" y="2286000"/>
            <a:ext cx="26670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a:ext uri="{FF2B5EF4-FFF2-40B4-BE49-F238E27FC236}">
                <a16:creationId xmlns:a16="http://schemas.microsoft.com/office/drawing/2014/main" id="{D3FFBFE2-6F79-4ED3-B669-7768049C0EA0}"/>
              </a:ext>
            </a:extLst>
          </p:cNvPr>
          <p:cNvSpPr>
            <a:spLocks noGrp="1"/>
          </p:cNvSpPr>
          <p:nvPr/>
        </p:nvSpPr>
        <p:spPr>
          <a:xfrm>
            <a:off x="8667750" y="2286000"/>
            <a:ext cx="2667000" cy="1428750"/>
          </a:xfrm>
          <a:prstGeom prst="roundRect">
            <a:avLst>
              <a:gd name="adj" fmla="val 5333"/>
            </a:avLst>
          </a:prstGeom>
          <a:solidFill>
            <a:srgbClr val="F4F6F8"/>
          </a:solidFill>
          <a:ln w="14288">
            <a:solidFill>
              <a:srgbClr val="A6A6A6"/>
            </a:solidFill>
          </a:ln>
        </p:spPr>
        <p:txBody>
          <a:bodyPr anchor="ctr">
            <a:normAutofit/>
          </a:body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id="2" idx="3"/>
            <a:endCxn id="3" idx="1"/>
          </p:cNvCxnSpPr>
          <p:nvPr/>
        </p:nvCxnSpPr>
        <p:spPr>
          <a:xfrm>
            <a:off x="3524250" y="3000375"/>
            <a:ext cx="1238250" cy="0"/>
          </a:xfrm>
          <a:prstGeom prst="straightConnector1">
            <a:avLst/>
          </a:prstGeom>
          <a:ln w="38100">
            <a:solidFill>
              <a:srgbClr val="FF007F"/>
            </a:solidFill>
            <a:prstDash val="solid"/>
            <a:tailEnd type="arrow" w="med" len="med"/>
          </a:ln>
        </p:spPr>
      </p:cxnSp>
      <p:cxnSp>
        <p:nvCxnSpPr>
          <p:cNvPr id="92" name="Straight Arrow Connector 13"/>
          <p:cNvCxnSpPr>
            <a:stCxn id="3" idx="3"/>
            <a:endCxn id="4" idx="1"/>
          </p:cNvCxnSpPr>
          <p:nvPr/>
        </p:nvCxnSpPr>
        <p:spPr>
          <a:xfrm>
            <a:off x="7429500" y="3000375"/>
            <a:ext cx="1238250" cy="0"/>
          </a:xfrm>
          <a:prstGeom prst="straightConnector1">
            <a:avLst/>
          </a:prstGeom>
          <a:ln w="38100">
            <a:solidFill>
              <a:srgbClr val="0860FE"/>
            </a:solidFill>
            <a:prstDash val="solid"/>
            <a:tailEnd type="arrow" w="med" len="med"/>
          </a:ln>
        </p:spPr>
      </p:cxn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t">
            <a:normAutofit fontScale="90905"/>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2" name="slide-subtitle">
            <a:extLst>
              <a:ext uri="{FF2B5EF4-FFF2-40B4-BE49-F238E27FC236}">
                <a16:creationId xmlns:a16="http://schemas.microsoft.com/office/drawing/2014/main" id="{8179063A-DDEB-4CBB-997A-D5FC68A8A3FF}"/>
              </a:ext>
            </a:extLst>
          </p:cNvPr>
          <p:cNvSpPr>
            <a:spLocks noGrp="1"/>
          </p:cNvSpPr>
          <p:nvPr/>
        </p:nvSpPr>
        <p:spPr>
          <a:xfrm>
            <a:off x="552450" y="1028700"/>
            <a:ext cx="10668000" cy="45720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 this demo, OBI runs before Cilium at the shared TC hook.</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a:ext uri="{FF2B5EF4-FFF2-40B4-BE49-F238E27FC236}">
                <a16:creationId xmlns:a16="http://schemas.microsoft.com/office/drawing/2014/main" id="{B5C33083-7928-4AD1-8B86-7E12A3E3A89A}"/>
              </a:ext>
            </a:extLst>
          </p:cNvPr>
          <p:cNvSpPr>
            <a:spLocks noGrp="1"/>
          </p:cNvSpPr>
          <p:nvPr/>
        </p:nvSpPr>
        <p:spPr>
          <a:xfrm>
            <a:off x="2381250" y="5467350"/>
            <a:ext cx="7429500" cy="342900"/>
          </a:xfrm>
          <a:prstGeom prst="rect">
            <a:avLst/>
          </a:prstGeom>
          <a:noFill/>
          <a:ln w="0">
            <a:noFill/>
          </a:ln>
        </p:spPr>
        <p:txBody>
          <a:bodyPr anchor="t">
            <a:normAutofit/>
          </a:body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Live demo: one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1D9519B1-DD3C-456B-88F7-9C043015AC4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1" name="route-explanation">
            <a:extLst>
              <a:ext uri="{FF2B5EF4-FFF2-40B4-BE49-F238E27FC236}">
                <a16:creationId xmlns:a16="http://schemas.microsoft.com/office/drawing/2014/main" id="{76B77E75-8BA3-4FFC-B046-9E567735FFE8}"/>
              </a:ext>
            </a:extLst>
          </p:cNvPr>
          <p:cNvSpPr>
            <a:spLocks noGrp="1"/>
          </p:cNvSpPr>
          <p:nvPr/>
        </p:nvSpPr>
        <p:spPr>
          <a:xfrm>
            <a:off x="619125" y="1028700"/>
            <a:ext cx="10953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URL chooses the route. v2 is a newer tier that can call legacy v1.</a:t>
            </a:r>
          </a:p>
        </p:txBody>
      </p:sp>
      <p:sp>
        <p:nvSpPr>
          <p:cNvPr id="22" name="traffic-generator">
            <a:extLst>
              <a:ext uri="{FF2B5EF4-FFF2-40B4-BE49-F238E27FC236}">
                <a16:creationId xmlns:a16="http://schemas.microsoft.com/office/drawing/2014/main" id="{B2013DE7-A00A-46FB-9D6E-381B133F5F7D}"/>
              </a:ext>
            </a:extLst>
          </p:cNvPr>
          <p:cNvSpPr>
            <a:spLocks noGrp="1"/>
          </p:cNvSpPr>
          <p:nvPr/>
        </p:nvSpPr>
        <p:spPr>
          <a:xfrm>
            <a:off x="476250" y="1885950"/>
            <a:ext cx="1428750" cy="723900"/>
          </a:xfrm>
          <a:prstGeom prst="roundRect">
            <a:avLst>
              <a:gd name="adj" fmla="val 9211"/>
            </a:avLst>
          </a:prstGeom>
          <a:solidFill>
            <a:srgbClr val="F4F6F7"/>
          </a:solidFill>
          <a:ln w="11906">
            <a:solidFill>
              <a:srgbClr val="686B6B"/>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a:ext uri="{FF2B5EF4-FFF2-40B4-BE49-F238E27FC236}">
                <a16:creationId xmlns:a16="http://schemas.microsoft.com/office/drawing/2014/main" id="{79A1E394-24BB-4C32-B7A7-6794D977F69F}"/>
              </a:ext>
            </a:extLst>
          </p:cNvPr>
          <p:cNvSpPr>
            <a:spLocks noGrp="1"/>
          </p:cNvSpPr>
          <p:nvPr/>
        </p:nvSpPr>
        <p:spPr>
          <a:xfrm>
            <a:off x="2571750" y="1885950"/>
            <a:ext cx="1905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a:ext uri="{FF2B5EF4-FFF2-40B4-BE49-F238E27FC236}">
                <a16:creationId xmlns:a16="http://schemas.microsoft.com/office/drawing/2014/main" id="{018165D8-0175-4909-947E-574496E1811A}"/>
              </a:ext>
            </a:extLst>
          </p:cNvPr>
          <p:cNvSpPr>
            <a:spLocks noGrp="1"/>
          </p:cNvSpPr>
          <p:nvPr/>
        </p:nvSpPr>
        <p:spPr>
          <a:xfrm>
            <a:off x="5524500" y="1885950"/>
            <a:ext cx="257175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a:ext uri="{FF2B5EF4-FFF2-40B4-BE49-F238E27FC236}">
                <a16:creationId xmlns:a16="http://schemas.microsoft.com/office/drawing/2014/main" id="{B2DF36A6-DCA1-49DD-9757-0C200CD1CF32}"/>
              </a:ext>
            </a:extLst>
          </p:cNvPr>
          <p:cNvSpPr>
            <a:spLocks noGrp="1"/>
          </p:cNvSpPr>
          <p:nvPr/>
        </p:nvSpPr>
        <p:spPr>
          <a:xfrm>
            <a:off x="8953500" y="1885950"/>
            <a:ext cx="2667000" cy="723900"/>
          </a:xfrm>
          <a:prstGeom prst="roundRect">
            <a:avLst>
              <a:gd name="adj" fmla="val 9211"/>
            </a:avLst>
          </a:prstGeom>
          <a:solidFill>
            <a:srgbClr val="FFFFFF"/>
          </a:solidFill>
          <a:ln w="11906">
            <a:solidFill>
              <a:srgbClr val="02C8F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cxnSp>
        <p:nvCxnSpPr>
          <p:cNvPr id="26" name="generator-to-edge">
            <a:extLst>
              <a:ext uri="{FF2B5EF4-FFF2-40B4-BE49-F238E27FC236}">
                <a16:creationId xmlns:a16="http://schemas.microsoft.com/office/drawing/2014/main" id="{03DCBB50-DD35-4D77-97D6-9303A796A9A6}"/>
              </a:ext>
            </a:extLst>
          </p:cNvPr>
          <p:cNvCxnSpPr/>
          <p:nvPr/>
        </p:nvCxnSpPr>
        <p:spPr>
          <a:xfrm>
            <a:off x="1905000" y="2247900"/>
            <a:ext cx="666750" cy="0"/>
          </a:xfrm>
          <a:prstGeom prst="straightConnector1">
            <a:avLst/>
          </a:prstGeom>
          <a:ln w="19050">
            <a:solidFill>
              <a:srgbClr val="686B6B"/>
            </a:solidFill>
            <a:prstDash val="solid"/>
            <a:tailEnd type="arrow" w="med" len="med"/>
          </a:ln>
        </p:spPr>
      </p:cxnSp>
      <p:cxnSp>
        <p:nvCxnSpPr>
          <p:cNvPr id="27" name="edge-to-v2">
            <a:extLst>
              <a:ext uri="{FF2B5EF4-FFF2-40B4-BE49-F238E27FC236}">
                <a16:creationId xmlns:a16="http://schemas.microsoft.com/office/drawing/2014/main" id="{D5637263-50E3-450B-BBCF-47422A40CCF2}"/>
              </a:ext>
            </a:extLst>
          </p:cNvPr>
          <p:cNvCxnSpPr/>
          <p:nvPr/>
        </p:nvCxnSpPr>
        <p:spPr>
          <a:xfrm>
            <a:off x="4476750" y="2247900"/>
            <a:ext cx="1047750" cy="0"/>
          </a:xfrm>
          <a:prstGeom prst="straightConnector1">
            <a:avLst/>
          </a:prstGeom>
          <a:ln w="19050">
            <a:solidFill>
              <a:srgbClr val="0860FE"/>
            </a:solidFill>
            <a:prstDash val="solid"/>
            <a:tailEnd type="arrow" w="med" len="med"/>
          </a:ln>
        </p:spPr>
      </p:cxnSp>
      <p:cxnSp>
        <p:nvCxnSpPr>
          <p:cNvPr id="28" name="v2-to-v1">
            <a:extLst>
              <a:ext uri="{FF2B5EF4-FFF2-40B4-BE49-F238E27FC236}">
                <a16:creationId xmlns:a16="http://schemas.microsoft.com/office/drawing/2014/main" id="{69A98BB8-C1C1-4DCE-9981-A3AF8E5980B5}"/>
              </a:ext>
            </a:extLst>
          </p:cNvPr>
          <p:cNvCxnSpPr/>
          <p:nvPr/>
        </p:nvCxnSpPr>
        <p:spPr>
          <a:xfrm>
            <a:off x="8096250" y="2247900"/>
            <a:ext cx="857250" cy="0"/>
          </a:xfrm>
          <a:prstGeom prst="straightConnector1">
            <a:avLst/>
          </a:prstGeom>
          <a:ln w="19050">
            <a:solidFill>
              <a:srgbClr val="0860FE"/>
            </a:solidFill>
            <a:prstDash val="solid"/>
            <a:tailEnd type="arrow" w="med" len="med"/>
          </a:ln>
        </p:spPr>
      </p:cxnSp>
      <p:sp>
        <p:nvSpPr>
          <p:cNvPr id="29" name="rollout-route">
            <a:extLst>
              <a:ext uri="{FF2B5EF4-FFF2-40B4-BE49-F238E27FC236}">
                <a16:creationId xmlns:a16="http://schemas.microsoft.com/office/drawing/2014/main" id="{F8FCDE0A-2755-40AC-A278-F3EF408D2131}"/>
              </a:ext>
            </a:extLst>
          </p:cNvPr>
          <p:cNvSpPr>
            <a:spLocks noGrp="1"/>
          </p:cNvSpPr>
          <p:nvPr/>
        </p:nvSpPr>
        <p:spPr>
          <a:xfrm>
            <a:off x="5476875" y="1533525"/>
            <a:ext cx="3905250" cy="285750"/>
          </a:xfrm>
          <a:prstGeom prst="rect">
            <a:avLst/>
          </a:prstGeom>
          <a:noFill/>
          <a:ln w="0">
            <a:noFill/>
          </a:ln>
        </p:spPr>
        <p:txBody>
          <a:bodyPr anchor="ctr">
            <a:noAutofit/>
          </a:bodyPr>
          <a:lstStyle>
            <a:defPPr algn="ctr">
              <a:defRPr sz="1425" b="0">
                <a:solidFill>
                  <a:srgbClr val="0860FE"/>
                </a:solidFill>
                <a:latin typeface="CiscoSansTT"/>
                <a:ea typeface="CiscoSansTT"/>
                <a:cs typeface="CiscoSansTT"/>
              </a:defRPr>
            </a:defPPr>
            <a:lvl1pPr algn="ctr">
              <a:defRPr sz="1425" b="0">
                <a:solidFill>
                  <a:srgbClr val="0860FE"/>
                </a:solidFill>
                <a:latin typeface="CiscoSansTT"/>
                <a:ea typeface="CiscoSansTT"/>
                <a:cs typeface="CiscoSansTT"/>
              </a:defRPr>
            </a:lvl1pPr>
            <a:lvl2pPr algn="ctr">
              <a:defRPr sz="1425" b="0">
                <a:solidFill>
                  <a:srgbClr val="0860FE"/>
                </a:solidFill>
                <a:latin typeface="CiscoSansTT"/>
                <a:ea typeface="CiscoSansTT"/>
                <a:cs typeface="CiscoSansTT"/>
              </a:defRPr>
            </a:lvl2pPr>
            <a:lvl3pPr algn="ctr">
              <a:defRPr sz="1425" b="0">
                <a:solidFill>
                  <a:srgbClr val="0860FE"/>
                </a:solidFill>
                <a:latin typeface="CiscoSansTT"/>
                <a:ea typeface="CiscoSansTT"/>
                <a:cs typeface="CiscoSansTT"/>
              </a:defRPr>
            </a:lvl3pPr>
            <a:lvl4pPr algn="ctr">
              <a:defRPr sz="1425" b="0">
                <a:solidFill>
                  <a:srgbClr val="0860FE"/>
                </a:solidFill>
                <a:latin typeface="CiscoSansTT"/>
                <a:ea typeface="CiscoSansTT"/>
                <a:cs typeface="CiscoSansTT"/>
              </a:defRPr>
            </a:lvl4pPr>
            <a:lvl5pPr algn="ctr">
              <a:defRPr sz="1425" b="0">
                <a:solidFill>
                  <a:srgbClr val="0860FE"/>
                </a:solidFill>
                <a:latin typeface="CiscoSansTT"/>
                <a:ea typeface="CiscoSansTT"/>
                <a:cs typeface="CiscoSansTT"/>
              </a:defRPr>
            </a:lvl5pPr>
            <a:lvl6pPr algn="ctr">
              <a:defRPr sz="1425" b="0">
                <a:solidFill>
                  <a:srgbClr val="0860FE"/>
                </a:solidFill>
                <a:latin typeface="CiscoSansTT"/>
                <a:ea typeface="CiscoSansTT"/>
                <a:cs typeface="CiscoSansTT"/>
              </a:defRPr>
            </a:lvl6pPr>
            <a:lvl7pPr algn="ctr">
              <a:defRPr sz="1425" b="0">
                <a:solidFill>
                  <a:srgbClr val="0860FE"/>
                </a:solidFill>
                <a:latin typeface="CiscoSansTT"/>
                <a:ea typeface="CiscoSansTT"/>
                <a:cs typeface="CiscoSansTT"/>
              </a:defRPr>
            </a:lvl7pPr>
            <a:lvl8pPr algn="ctr">
              <a:defRPr sz="1425" b="0">
                <a:solidFill>
                  <a:srgbClr val="0860FE"/>
                </a:solidFill>
                <a:latin typeface="CiscoSansTT"/>
                <a:ea typeface="CiscoSansTT"/>
                <a:cs typeface="CiscoSansTT"/>
              </a:defRPr>
            </a:lvl8pPr>
            <a:lvl9pPr algn="ctr">
              <a:defRPr sz="1425" b="0">
                <a:solidFill>
                  <a:srgbClr val="0860FE"/>
                </a:solidFill>
                <a:latin typeface="CiscoSansTT"/>
                <a:ea typeface="CiscoSansTT"/>
                <a:cs typeface="CiscoSansTT"/>
              </a:defRPr>
            </a:lvl9pPr>
          </a:lstStyle>
          <a:p>
            <a:pPr algn="ctr">
              <a:defRPr sz="1425" b="0">
                <a:solidFill>
                  <a:srgbClr val="0860FE"/>
                </a:solidFill>
                <a:latin typeface="CiscoSansTT"/>
                <a:ea typeface="CiscoSansTT"/>
                <a:cs typeface="CiscoSansTT"/>
              </a:defRPr>
            </a:pPr>
            <a:r>
              <a:rPr sz="1425" b="0">
                <a:solidFill>
                  <a:srgbClr val="0860FE"/>
                </a:solidFill>
                <a:latin typeface="CiscoSansTT"/>
                <a:ea typeface="CiscoSansTT"/>
                <a:cs typeface="CiscoSansTT"/>
              </a:rPr>
              <a:t>Rollout request</a:t>
            </a:r>
          </a:p>
        </p:txBody>
      </p:sp>
      <p:cxnSp>
        <p:nvCxnSpPr>
          <p:cNvPr id="30" name="direct-v1-down">
            <a:extLst>
              <a:ext uri="{FF2B5EF4-FFF2-40B4-BE49-F238E27FC236}">
                <a16:creationId xmlns:a16="http://schemas.microsoft.com/office/drawing/2014/main" id="{5C91DAC6-A476-42E3-9525-E71D21BFE787}"/>
              </a:ext>
            </a:extLst>
          </p:cNvPr>
          <p:cNvCxnSpPr/>
          <p:nvPr/>
        </p:nvCxnSpPr>
        <p:spPr>
          <a:xfrm>
            <a:off x="3524250" y="2609850"/>
            <a:ext cx="0" cy="485775"/>
          </a:xfrm>
          <a:prstGeom prst="straightConnector1">
            <a:avLst/>
          </a:prstGeom>
          <a:ln w="19050">
            <a:solidFill>
              <a:srgbClr val="FF8A00"/>
            </a:solidFill>
            <a:prstDash val="solid"/>
          </a:ln>
        </p:spPr>
      </p:cxnSp>
      <p:cxnSp>
        <p:nvCxnSpPr>
          <p:cNvPr id="31" name="direct-v1-across">
            <a:extLst>
              <a:ext uri="{FF2B5EF4-FFF2-40B4-BE49-F238E27FC236}">
                <a16:creationId xmlns:a16="http://schemas.microsoft.com/office/drawing/2014/main" id="{26BDF892-FFF4-4C7E-809B-35AA3B4B8B46}"/>
              </a:ext>
            </a:extLst>
          </p:cNvPr>
          <p:cNvCxnSpPr/>
          <p:nvPr/>
        </p:nvCxnSpPr>
        <p:spPr>
          <a:xfrm>
            <a:off x="3524250" y="3095625"/>
            <a:ext cx="6762750" cy="0"/>
          </a:xfrm>
          <a:prstGeom prst="straightConnector1">
            <a:avLst/>
          </a:prstGeom>
          <a:ln w="19050">
            <a:solidFill>
              <a:srgbClr val="FF8A00"/>
            </a:solidFill>
            <a:prstDash val="solid"/>
          </a:ln>
        </p:spPr>
      </p:cxnSp>
      <p:cxnSp>
        <p:nvCxnSpPr>
          <p:cNvPr id="32" name="direct-v1-up">
            <a:extLst>
              <a:ext uri="{FF2B5EF4-FFF2-40B4-BE49-F238E27FC236}">
                <a16:creationId xmlns:a16="http://schemas.microsoft.com/office/drawing/2014/main" id="{13425690-81B6-4156-B450-5A973F604C9A}"/>
              </a:ext>
            </a:extLst>
          </p:cNvPr>
          <p:cNvCxnSpPr/>
          <p:nvPr/>
        </p:nvCxnSpPr>
        <p:spPr>
          <a:xfrm>
            <a:off x="10287000" y="2609850"/>
            <a:ext cx="0" cy="485775"/>
          </a:xfrm>
          <a:prstGeom prst="straightConnector1">
            <a:avLst/>
          </a:prstGeom>
          <a:ln w="19050">
            <a:solidFill>
              <a:srgbClr val="FF8A00"/>
            </a:solidFill>
            <a:prstDash val="solid"/>
            <a:headEnd type="arrow" w="med" len="med"/>
          </a:ln>
        </p:spPr>
      </p:cxnSp>
      <p:sp>
        <p:nvSpPr>
          <p:cNvPr id="33" name="direct-route-label">
            <a:extLst>
              <a:ext uri="{FF2B5EF4-FFF2-40B4-BE49-F238E27FC236}">
                <a16:creationId xmlns:a16="http://schemas.microsoft.com/office/drawing/2014/main" id="{12FE53C8-6E3A-45E4-A451-80D12AFD0E8F}"/>
              </a:ext>
            </a:extLst>
          </p:cNvPr>
          <p:cNvSpPr>
            <a:spLocks noGrp="1"/>
          </p:cNvSpPr>
          <p:nvPr/>
        </p:nvSpPr>
        <p:spPr>
          <a:xfrm>
            <a:off x="4048125" y="3190875"/>
            <a:ext cx="6096000" cy="2857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Direct v1 request, used in the denial demo</a:t>
            </a:r>
          </a:p>
        </p:txBody>
      </p:sp>
      <p:sp>
        <p:nvSpPr>
          <p:cNvPr id="34" name="observation-scope">
            <a:extLst>
              <a:ext uri="{FF2B5EF4-FFF2-40B4-BE49-F238E27FC236}">
                <a16:creationId xmlns:a16="http://schemas.microsoft.com/office/drawing/2014/main" id="{47F7DE59-9BE9-4EF6-B38F-97B0FA0597B4}"/>
              </a:ext>
            </a:extLst>
          </p:cNvPr>
          <p:cNvSpPr>
            <a:spLocks noGrp="1"/>
          </p:cNvSpPr>
          <p:nvPr/>
        </p:nvSpPr>
        <p:spPr>
          <a:xfrm>
            <a:off x="619125" y="3571875"/>
            <a:ext cx="10953750" cy="3619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a:ext uri="{FF2B5EF4-FFF2-40B4-BE49-F238E27FC236}">
                <a16:creationId xmlns:a16="http://schemas.microsoft.com/office/drawing/2014/main" id="{1EAADB6A-C90D-4C28-A778-DCCA3FBA54A3}"/>
              </a:ext>
            </a:extLst>
          </p:cNvPr>
          <p:cNvSpPr>
            <a:spLocks noGrp="1"/>
          </p:cNvSpPr>
          <p:nvPr/>
        </p:nvSpPr>
        <p:spPr>
          <a:xfrm>
            <a:off x="666750" y="4095750"/>
            <a:ext cx="3238500" cy="495300"/>
          </a:xfrm>
          <a:prstGeom prst="roundRect">
            <a:avLst>
              <a:gd name="adj" fmla="val 13462"/>
            </a:avLst>
          </a:prstGeom>
          <a:solidFill>
            <a:srgbClr val="F6ECF5"/>
          </a:solidFill>
          <a:ln w="11906">
            <a:solidFill>
              <a:srgbClr val="FF007F"/>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dirty="0">
                <a:solidFill>
                  <a:srgbClr val="07182A"/>
                </a:solidFill>
                <a:latin typeface="CiscoSansTT"/>
                <a:ea typeface="CiscoSansTT"/>
                <a:cs typeface="CiscoSansTT"/>
              </a:rPr>
              <a:t>OBI: </a:t>
            </a:r>
            <a:r>
              <a:rPr lang="en-US" sz="1650" b="0" dirty="0">
                <a:solidFill>
                  <a:srgbClr val="07182A"/>
                </a:solidFill>
                <a:latin typeface="CiscoSansTT"/>
                <a:ea typeface="CiscoSansTT"/>
                <a:cs typeface="CiscoSansTT"/>
              </a:rPr>
              <a:t>traces</a:t>
            </a:r>
            <a:r>
              <a:rPr sz="1650" b="0" dirty="0">
                <a:solidFill>
                  <a:srgbClr val="07182A"/>
                </a:solidFill>
                <a:latin typeface="CiscoSansTT"/>
                <a:ea typeface="CiscoSansTT"/>
                <a:cs typeface="CiscoSansTT"/>
              </a:rPr>
              <a:t> + RED metrics</a:t>
            </a:r>
          </a:p>
        </p:txBody>
      </p:sp>
      <p:sp>
        <p:nvSpPr>
          <p:cNvPr id="36" name="hubble-metrics-export">
            <a:extLst>
              <a:ext uri="{FF2B5EF4-FFF2-40B4-BE49-F238E27FC236}">
                <a16:creationId xmlns:a16="http://schemas.microsoft.com/office/drawing/2014/main" id="{88C21540-6E3B-4709-AC82-8BAA7B5FCB66}"/>
              </a:ext>
            </a:extLst>
          </p:cNvPr>
          <p:cNvSpPr>
            <a:spLocks noGrp="1"/>
          </p:cNvSpPr>
          <p:nvPr/>
        </p:nvSpPr>
        <p:spPr>
          <a:xfrm>
            <a:off x="666750" y="4857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a:ext uri="{FF2B5EF4-FFF2-40B4-BE49-F238E27FC236}">
                <a16:creationId xmlns:a16="http://schemas.microsoft.com/office/drawing/2014/main" id="{BD3F4742-71FC-43B3-8587-FAE799739BBD}"/>
              </a:ext>
            </a:extLst>
          </p:cNvPr>
          <p:cNvSpPr>
            <a:spLocks noGrp="1"/>
          </p:cNvSpPr>
          <p:nvPr/>
        </p:nvSpPr>
        <p:spPr>
          <a:xfrm>
            <a:off x="666750" y="5619750"/>
            <a:ext cx="3238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a:ext uri="{FF2B5EF4-FFF2-40B4-BE49-F238E27FC236}">
                <a16:creationId xmlns:a16="http://schemas.microsoft.com/office/drawing/2014/main" id="{F80404ED-2315-4A13-AD67-564A35FBF9AA}"/>
              </a:ext>
            </a:extLst>
          </p:cNvPr>
          <p:cNvSpPr>
            <a:spLocks noGrp="1"/>
          </p:cNvSpPr>
          <p:nvPr/>
        </p:nvSpPr>
        <p:spPr>
          <a:xfrm>
            <a:off x="5715000" y="4857750"/>
            <a:ext cx="1905000" cy="495300"/>
          </a:xfrm>
          <a:prstGeom prst="roundRect">
            <a:avLst>
              <a:gd name="adj" fmla="val 13462"/>
            </a:avLst>
          </a:prstGeom>
          <a:solidFill>
            <a:srgbClr val="FFFFFF"/>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lang="en-US" sz="1650" b="0" dirty="0" err="1">
                <a:solidFill>
                  <a:srgbClr val="07182A"/>
                </a:solidFill>
                <a:latin typeface="CiscoSansTT"/>
                <a:ea typeface="CiscoSansTT"/>
                <a:cs typeface="CiscoSansTT"/>
              </a:rPr>
              <a:t>OTel</a:t>
            </a:r>
            <a:r>
              <a:rPr lang="en-US" sz="1650" b="0" dirty="0">
                <a:solidFill>
                  <a:srgbClr val="07182A"/>
                </a:solidFill>
                <a:latin typeface="CiscoSansTT"/>
                <a:ea typeface="CiscoSansTT"/>
                <a:cs typeface="CiscoSansTT"/>
              </a:rPr>
              <a:t> </a:t>
            </a:r>
            <a:r>
              <a:rPr sz="1650" b="0" dirty="0">
                <a:solidFill>
                  <a:srgbClr val="07182A"/>
                </a:solidFill>
                <a:latin typeface="CiscoSansTT"/>
                <a:ea typeface="CiscoSansTT"/>
                <a:cs typeface="CiscoSansTT"/>
              </a:rPr>
              <a:t>Collector</a:t>
            </a:r>
          </a:p>
        </p:txBody>
      </p:sp>
      <p:sp>
        <p:nvSpPr>
          <p:cNvPr id="39" name="grafana">
            <a:extLst>
              <a:ext uri="{FF2B5EF4-FFF2-40B4-BE49-F238E27FC236}">
                <a16:creationId xmlns:a16="http://schemas.microsoft.com/office/drawing/2014/main" id="{100D82A6-2AC9-46C6-BBD3-B701D082BBE5}"/>
              </a:ext>
            </a:extLst>
          </p:cNvPr>
          <p:cNvSpPr>
            <a:spLocks noGrp="1"/>
          </p:cNvSpPr>
          <p:nvPr/>
        </p:nvSpPr>
        <p:spPr>
          <a:xfrm>
            <a:off x="9525000" y="4095750"/>
            <a:ext cx="2095500" cy="1257300"/>
          </a:xfrm>
          <a:prstGeom prst="roundRect">
            <a:avLst>
              <a:gd name="adj" fmla="val 5303"/>
            </a:avLst>
          </a:prstGeom>
          <a:solidFill>
            <a:srgbClr val="F4F6F7"/>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Grafana</a:t>
            </a:r>
          </a:p>
          <a:p>
            <a:pPr algn="ctr">
              <a:defRPr sz="1725" b="0">
                <a:solidFill>
                  <a:srgbClr val="07182A"/>
                </a:solidFill>
                <a:latin typeface="CiscoSansTT"/>
                <a:ea typeface="CiscoSansTT"/>
                <a:cs typeface="CiscoSansTT"/>
              </a:defRPr>
            </a:pPr>
            <a:r>
              <a:rPr sz="1725" b="0" dirty="0">
                <a:solidFill>
                  <a:srgbClr val="07182A"/>
                </a:solidFill>
                <a:latin typeface="CiscoSansTT"/>
                <a:ea typeface="CiscoSansTT"/>
                <a:cs typeface="CiscoSansTT"/>
              </a:rPr>
              <a:t>traces + metrics</a:t>
            </a:r>
          </a:p>
        </p:txBody>
      </p:sp>
      <p:sp>
        <p:nvSpPr>
          <p:cNvPr id="40" name="hubble-cli-ui">
            <a:extLst>
              <a:ext uri="{FF2B5EF4-FFF2-40B4-BE49-F238E27FC236}">
                <a16:creationId xmlns:a16="http://schemas.microsoft.com/office/drawing/2014/main" id="{7B9348D4-B364-49AC-A11D-7C853FE2500F}"/>
              </a:ext>
            </a:extLst>
          </p:cNvPr>
          <p:cNvSpPr>
            <a:spLocks noGrp="1"/>
          </p:cNvSpPr>
          <p:nvPr/>
        </p:nvSpPr>
        <p:spPr>
          <a:xfrm>
            <a:off x="9525000" y="5619750"/>
            <a:ext cx="2095500" cy="495300"/>
          </a:xfrm>
          <a:prstGeom prst="roundRect">
            <a:avLst>
              <a:gd name="adj" fmla="val 13462"/>
            </a:avLst>
          </a:prstGeom>
          <a:solidFill>
            <a:srgbClr val="EAF8FC"/>
          </a:solidFill>
          <a:ln w="11906">
            <a:solidFill>
              <a:srgbClr val="0860FE"/>
            </a:solidFill>
          </a:ln>
        </p:spPr>
        <p:txBody>
          <a:bodyPr anchor="ctr">
            <a:noAutofit/>
          </a:bodyPr>
          <a:lstStyle>
            <a:defPPr algn="ctr">
              <a:defRPr sz="1650" b="0">
                <a:solidFill>
                  <a:srgbClr val="07182A"/>
                </a:solidFill>
                <a:latin typeface="CiscoSansTT"/>
                <a:ea typeface="CiscoSansTT"/>
                <a:cs typeface="CiscoSansTT"/>
              </a:defRPr>
            </a:defPPr>
            <a:lvl1pPr algn="ctr">
              <a:defRPr sz="1650" b="0">
                <a:solidFill>
                  <a:srgbClr val="07182A"/>
                </a:solidFill>
                <a:latin typeface="CiscoSansTT"/>
                <a:ea typeface="CiscoSansTT"/>
                <a:cs typeface="CiscoSansTT"/>
              </a:defRPr>
            </a:lvl1pPr>
            <a:lvl2pPr algn="ctr">
              <a:defRPr sz="1650" b="0">
                <a:solidFill>
                  <a:srgbClr val="07182A"/>
                </a:solidFill>
                <a:latin typeface="CiscoSansTT"/>
                <a:ea typeface="CiscoSansTT"/>
                <a:cs typeface="CiscoSansTT"/>
              </a:defRPr>
            </a:lvl2pPr>
            <a:lvl3pPr algn="ctr">
              <a:defRPr sz="1650" b="0">
                <a:solidFill>
                  <a:srgbClr val="07182A"/>
                </a:solidFill>
                <a:latin typeface="CiscoSansTT"/>
                <a:ea typeface="CiscoSansTT"/>
                <a:cs typeface="CiscoSansTT"/>
              </a:defRPr>
            </a:lvl3pPr>
            <a:lvl4pPr algn="ctr">
              <a:defRPr sz="1650" b="0">
                <a:solidFill>
                  <a:srgbClr val="07182A"/>
                </a:solidFill>
                <a:latin typeface="CiscoSansTT"/>
                <a:ea typeface="CiscoSansTT"/>
                <a:cs typeface="CiscoSansTT"/>
              </a:defRPr>
            </a:lvl4pPr>
            <a:lvl5pPr algn="ctr">
              <a:defRPr sz="1650" b="0">
                <a:solidFill>
                  <a:srgbClr val="07182A"/>
                </a:solidFill>
                <a:latin typeface="CiscoSansTT"/>
                <a:ea typeface="CiscoSansTT"/>
                <a:cs typeface="CiscoSansTT"/>
              </a:defRPr>
            </a:lvl5pPr>
            <a:lvl6pPr algn="ctr">
              <a:defRPr sz="1650" b="0">
                <a:solidFill>
                  <a:srgbClr val="07182A"/>
                </a:solidFill>
                <a:latin typeface="CiscoSansTT"/>
                <a:ea typeface="CiscoSansTT"/>
                <a:cs typeface="CiscoSansTT"/>
              </a:defRPr>
            </a:lvl6pPr>
            <a:lvl7pPr algn="ctr">
              <a:defRPr sz="1650" b="0">
                <a:solidFill>
                  <a:srgbClr val="07182A"/>
                </a:solidFill>
                <a:latin typeface="CiscoSansTT"/>
                <a:ea typeface="CiscoSansTT"/>
                <a:cs typeface="CiscoSansTT"/>
              </a:defRPr>
            </a:lvl7pPr>
            <a:lvl8pPr algn="ctr">
              <a:defRPr sz="1650" b="0">
                <a:solidFill>
                  <a:srgbClr val="07182A"/>
                </a:solidFill>
                <a:latin typeface="CiscoSansTT"/>
                <a:ea typeface="CiscoSansTT"/>
                <a:cs typeface="CiscoSansTT"/>
              </a:defRPr>
            </a:lvl8pPr>
            <a:lvl9pPr algn="ctr">
              <a:defRPr sz="1650" b="0">
                <a:solidFill>
                  <a:srgbClr val="07182A"/>
                </a:solidFill>
                <a:latin typeface="CiscoSansTT"/>
                <a:ea typeface="CiscoSansTT"/>
                <a:cs typeface="CiscoSansTT"/>
              </a:defRPr>
            </a:lvl9pPr>
          </a:lstStyle>
          <a:p>
            <a:pPr algn="ctr">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CLI / UI</a:t>
            </a:r>
          </a:p>
        </p:txBody>
      </p:sp>
      <p:cxnSp>
        <p:nvCxnSpPr>
          <p:cNvPr id="41" name="obi-to-grafana">
            <a:extLst>
              <a:ext uri="{FF2B5EF4-FFF2-40B4-BE49-F238E27FC236}">
                <a16:creationId xmlns:a16="http://schemas.microsoft.com/office/drawing/2014/main" id="{8B474019-C3F7-43A4-A5FC-29C875C5F4F4}"/>
              </a:ext>
            </a:extLst>
          </p:cNvPr>
          <p:cNvCxnSpPr/>
          <p:nvPr/>
        </p:nvCxnSpPr>
        <p:spPr>
          <a:xfrm>
            <a:off x="3905250" y="4343400"/>
            <a:ext cx="5619750" cy="0"/>
          </a:xfrm>
          <a:prstGeom prst="straightConnector1">
            <a:avLst/>
          </a:prstGeom>
          <a:ln w="19050">
            <a:solidFill>
              <a:srgbClr val="FF007F"/>
            </a:solidFill>
            <a:prstDash val="solid"/>
            <a:tailEnd type="arrow" w="med" len="med"/>
          </a:ln>
        </p:spPr>
      </p:cxnSp>
      <p:cxnSp>
        <p:nvCxnSpPr>
          <p:cNvPr id="42" name="metrics-to-collector">
            <a:extLst>
              <a:ext uri="{FF2B5EF4-FFF2-40B4-BE49-F238E27FC236}">
                <a16:creationId xmlns:a16="http://schemas.microsoft.com/office/drawing/2014/main" id="{34D414C3-343D-432A-8C63-E4259A44C246}"/>
              </a:ext>
            </a:extLst>
          </p:cNvPr>
          <p:cNvCxnSpPr/>
          <p:nvPr/>
        </p:nvCxnSpPr>
        <p:spPr>
          <a:xfrm>
            <a:off x="3905250" y="5105400"/>
            <a:ext cx="1809750" cy="0"/>
          </a:xfrm>
          <a:prstGeom prst="straightConnector1">
            <a:avLst/>
          </a:prstGeom>
          <a:ln w="19050">
            <a:solidFill>
              <a:srgbClr val="0860FE"/>
            </a:solidFill>
            <a:prstDash val="solid"/>
            <a:tailEnd type="arrow" w="med" len="med"/>
          </a:ln>
        </p:spPr>
      </p:cxnSp>
      <p:cxnSp>
        <p:nvCxnSpPr>
          <p:cNvPr id="43" name="collector-to-grafana">
            <a:extLst>
              <a:ext uri="{FF2B5EF4-FFF2-40B4-BE49-F238E27FC236}">
                <a16:creationId xmlns:a16="http://schemas.microsoft.com/office/drawing/2014/main" id="{9DF04F7F-976C-44B3-9BB7-3F0656E2AC86}"/>
              </a:ext>
            </a:extLst>
          </p:cNvPr>
          <p:cNvCxnSpPr/>
          <p:nvPr/>
        </p:nvCxnSpPr>
        <p:spPr>
          <a:xfrm>
            <a:off x="7620000" y="5105400"/>
            <a:ext cx="1905000" cy="0"/>
          </a:xfrm>
          <a:prstGeom prst="straightConnector1">
            <a:avLst/>
          </a:prstGeom>
          <a:ln w="19050">
            <a:solidFill>
              <a:srgbClr val="0860FE"/>
            </a:solidFill>
            <a:prstDash val="solid"/>
            <a:tailEnd type="arrow" w="med" len="med"/>
          </a:ln>
        </p:spPr>
      </p:cxnSp>
      <p:cxnSp>
        <p:nvCxnSpPr>
          <p:cNvPr id="44" name="flows-to-ui">
            <a:extLst>
              <a:ext uri="{FF2B5EF4-FFF2-40B4-BE49-F238E27FC236}">
                <a16:creationId xmlns:a16="http://schemas.microsoft.com/office/drawing/2014/main" id="{8242BB3C-CD4B-49FE-8895-BAF664F2263E}"/>
              </a:ext>
            </a:extLst>
          </p:cNvPr>
          <p:cNvCxnSpPr/>
          <p:nvPr/>
        </p:nvCxnSpPr>
        <p:spPr>
          <a:xfrm>
            <a:off x="3905250" y="5867400"/>
            <a:ext cx="5619750" cy="0"/>
          </a:xfrm>
          <a:prstGeom prst="straightConnector1">
            <a:avLst/>
          </a:prstGeom>
          <a:ln w="19050">
            <a:solidFill>
              <a:srgbClr val="0860FE"/>
            </a:solidFill>
            <a:prstDash val="solid"/>
            <a:tailEnd type="arrow" w="med" len="med"/>
          </a:ln>
        </p:spPr>
      </p:cxnSp>
    </p:spTree>
    <p:extLst>
      <p:ext uri="{BB962C8B-B14F-4D97-AF65-F5344CB8AC3E}">
        <p14:creationId xmlns:p14="http://schemas.microsoft.com/office/powerpoint/2010/main" val="300991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7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pic>
        <p:nvPicPr>
          <p:cNvPr id="1003" name="Picture 1002">
            <a:extLst>
              <a:ext uri="{FF2B5EF4-FFF2-40B4-BE49-F238E27FC236}">
                <a16:creationId xmlns:a16="http://schemas.microsoft.com/office/drawing/2014/main" id="{CE29DD6A-E1C0-467D-A29E-B2E2D00AFDD3}"/>
              </a:ext>
            </a:extLst>
          </p:cNvPr>
          <p:cNvPicPr>
            <a:picLocks noChangeAspect="1"/>
          </p:cNvPicPr>
          <p:nvPr/>
        </p:nvPicPr>
        <p:blipFill>
          <a:blip r:embed="rId6"/>
          <a:srcRect l="50278" t="59259" r="1111" b="8765"/>
          <a:stretch/>
        </p:blipFill>
        <p:spPr>
          <a:xfrm>
            <a:off x="7143750" y="1809750"/>
            <a:ext cx="4572000" cy="1691640"/>
          </a:xfrm>
          <a:prstGeom prst="rect">
            <a:avLst/>
          </a:prstGeom>
        </p:spPr>
      </p:pic>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5434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Hubble: Policy denied / DROPPED</a:t>
            </a:r>
          </a:p>
        </p:txBody>
      </p:sp>
      <p:sp>
        <p:nvSpPr>
          <p:cNvPr id="1006" name="obi-symptom">
            <a:extLst>
              <a:ext uri="{FF2B5EF4-FFF2-40B4-BE49-F238E27FC236}">
                <a16:creationId xmlns:a16="http://schemas.microsoft.com/office/drawing/2014/main" id="{7BEAF65C-EF5D-467F-B67F-722D64B8E5EE}"/>
              </a:ext>
            </a:extLst>
          </p:cNvPr>
          <p:cNvSpPr>
            <a:spLocks noGrp="1"/>
          </p:cNvSpPr>
          <p:nvPr/>
        </p:nvSpPr>
        <p:spPr>
          <a:xfrm>
            <a:off x="7143750" y="5114925"/>
            <a:ext cx="4572000" cy="476250"/>
          </a:xfrm>
          <a:prstGeom prst="rect">
            <a:avLst/>
          </a:prstGeom>
          <a:noFill/>
          <a:ln w="0">
            <a:noFill/>
          </a:ln>
        </p:spPr>
        <p:txBody>
          <a:bodyPr anchor="ctr">
            <a:noAutofit/>
          </a:bodyPr>
          <a:lstStyle>
            <a:defPPr algn="l">
              <a:defRPr sz="1650" b="0">
                <a:solidFill>
                  <a:srgbClr val="07182A"/>
                </a:solidFill>
                <a:latin typeface="CiscoSansTT"/>
                <a:ea typeface="CiscoSansTT"/>
                <a:cs typeface="CiscoSansTT"/>
              </a:defRPr>
            </a:defPPr>
            <a:lvl1pPr algn="l">
              <a:defRPr sz="1650" b="0">
                <a:solidFill>
                  <a:srgbClr val="07182A"/>
                </a:solidFill>
                <a:latin typeface="CiscoSansTT"/>
                <a:ea typeface="CiscoSansTT"/>
                <a:cs typeface="CiscoSansTT"/>
              </a:defRPr>
            </a:lvl1pPr>
            <a:lvl2pPr algn="l">
              <a:defRPr sz="1650" b="0">
                <a:solidFill>
                  <a:srgbClr val="07182A"/>
                </a:solidFill>
                <a:latin typeface="CiscoSansTT"/>
                <a:ea typeface="CiscoSansTT"/>
                <a:cs typeface="CiscoSansTT"/>
              </a:defRPr>
            </a:lvl2pPr>
            <a:lvl3pPr algn="l">
              <a:defRPr sz="1650" b="0">
                <a:solidFill>
                  <a:srgbClr val="07182A"/>
                </a:solidFill>
                <a:latin typeface="CiscoSansTT"/>
                <a:ea typeface="CiscoSansTT"/>
                <a:cs typeface="CiscoSansTT"/>
              </a:defRPr>
            </a:lvl3pPr>
            <a:lvl4pPr algn="l">
              <a:defRPr sz="1650" b="0">
                <a:solidFill>
                  <a:srgbClr val="07182A"/>
                </a:solidFill>
                <a:latin typeface="CiscoSansTT"/>
                <a:ea typeface="CiscoSansTT"/>
                <a:cs typeface="CiscoSansTT"/>
              </a:defRPr>
            </a:lvl4pPr>
            <a:lvl5pPr algn="l">
              <a:defRPr sz="1650" b="0">
                <a:solidFill>
                  <a:srgbClr val="07182A"/>
                </a:solidFill>
                <a:latin typeface="CiscoSansTT"/>
                <a:ea typeface="CiscoSansTT"/>
                <a:cs typeface="CiscoSansTT"/>
              </a:defRPr>
            </a:lvl5pPr>
            <a:lvl6pPr algn="l">
              <a:defRPr sz="1650" b="0">
                <a:solidFill>
                  <a:srgbClr val="07182A"/>
                </a:solidFill>
                <a:latin typeface="CiscoSansTT"/>
                <a:ea typeface="CiscoSansTT"/>
                <a:cs typeface="CiscoSansTT"/>
              </a:defRPr>
            </a:lvl6pPr>
            <a:lvl7pPr algn="l">
              <a:defRPr sz="1650" b="0">
                <a:solidFill>
                  <a:srgbClr val="07182A"/>
                </a:solidFill>
                <a:latin typeface="CiscoSansTT"/>
                <a:ea typeface="CiscoSansTT"/>
                <a:cs typeface="CiscoSansTT"/>
              </a:defRPr>
            </a:lvl7pPr>
            <a:lvl8pPr algn="l">
              <a:defRPr sz="1650" b="0">
                <a:solidFill>
                  <a:srgbClr val="07182A"/>
                </a:solidFill>
                <a:latin typeface="CiscoSansTT"/>
                <a:ea typeface="CiscoSansTT"/>
                <a:cs typeface="CiscoSansTT"/>
              </a:defRPr>
            </a:lvl8pPr>
            <a:lvl9pPr algn="l">
              <a:defRPr sz="1650" b="0">
                <a:solidFill>
                  <a:srgbClr val="07182A"/>
                </a:solidFill>
                <a:latin typeface="CiscoSansTT"/>
                <a:ea typeface="CiscoSansTT"/>
                <a:cs typeface="CiscoSansTT"/>
              </a:defRPr>
            </a:lvl9pPr>
          </a:lstStyle>
          <a:p>
            <a:pPr algn="l">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In OBI, inspect the caller's request outcome</a:t>
            </a:r>
          </a:p>
        </p:txBody>
      </p:sp>
      <p:sp>
        <p:nvSpPr>
          <p:cNvPr id="1007" name="video-guide">
            <a:extLst>
              <a:ext uri="{FF2B5EF4-FFF2-40B4-BE49-F238E27FC236}">
                <a16:creationId xmlns:a16="http://schemas.microsoft.com/office/drawing/2014/main" id="{42248169-98A0-44BB-87E7-A99F0A2384CF}"/>
              </a:ext>
            </a:extLst>
          </p:cNvPr>
          <p:cNvSpPr>
            <a:spLocks noGrp="1"/>
          </p:cNvSpPr>
          <p:nvPr/>
        </p:nvSpPr>
        <p:spPr>
          <a:xfrm>
            <a:off x="476250" y="5448300"/>
            <a:ext cx="6191250" cy="381000"/>
          </a:xfrm>
          <a:prstGeom prst="rect">
            <a:avLst/>
          </a:prstGeom>
          <a:noFill/>
          <a:ln w="0">
            <a:noFill/>
          </a:ln>
        </p:spPr>
        <p:txBody>
          <a:bodyPr anchor="ctr">
            <a:noAutofit/>
          </a:bodyPr>
          <a:lstStyle>
            <a:defPPr algn="l">
              <a:defRPr sz="1500" b="0">
                <a:solidFill>
                  <a:srgbClr val="686B6B"/>
                </a:solidFill>
                <a:latin typeface="CiscoSansTT"/>
                <a:ea typeface="CiscoSansTT"/>
                <a:cs typeface="CiscoSansTT"/>
              </a:defRPr>
            </a:defPPr>
            <a:lvl1pPr algn="l">
              <a:defRPr sz="1500" b="0">
                <a:solidFill>
                  <a:srgbClr val="686B6B"/>
                </a:solidFill>
                <a:latin typeface="CiscoSansTT"/>
                <a:ea typeface="CiscoSansTT"/>
                <a:cs typeface="CiscoSansTT"/>
              </a:defRPr>
            </a:lvl1pPr>
            <a:lvl2pPr algn="l">
              <a:defRPr sz="1500" b="0">
                <a:solidFill>
                  <a:srgbClr val="686B6B"/>
                </a:solidFill>
                <a:latin typeface="CiscoSansTT"/>
                <a:ea typeface="CiscoSansTT"/>
                <a:cs typeface="CiscoSansTT"/>
              </a:defRPr>
            </a:lvl2pPr>
            <a:lvl3pPr algn="l">
              <a:defRPr sz="1500" b="0">
                <a:solidFill>
                  <a:srgbClr val="686B6B"/>
                </a:solidFill>
                <a:latin typeface="CiscoSansTT"/>
                <a:ea typeface="CiscoSansTT"/>
                <a:cs typeface="CiscoSansTT"/>
              </a:defRPr>
            </a:lvl3pPr>
            <a:lvl4pPr algn="l">
              <a:defRPr sz="1500" b="0">
                <a:solidFill>
                  <a:srgbClr val="686B6B"/>
                </a:solidFill>
                <a:latin typeface="CiscoSansTT"/>
                <a:ea typeface="CiscoSansTT"/>
                <a:cs typeface="CiscoSansTT"/>
              </a:defRPr>
            </a:lvl4pPr>
            <a:lvl5pPr algn="l">
              <a:defRPr sz="1500" b="0">
                <a:solidFill>
                  <a:srgbClr val="686B6B"/>
                </a:solidFill>
                <a:latin typeface="CiscoSansTT"/>
                <a:ea typeface="CiscoSansTT"/>
                <a:cs typeface="CiscoSansTT"/>
              </a:defRPr>
            </a:lvl5pPr>
            <a:lvl6pPr algn="l">
              <a:defRPr sz="1500" b="0">
                <a:solidFill>
                  <a:srgbClr val="686B6B"/>
                </a:solidFill>
                <a:latin typeface="CiscoSansTT"/>
                <a:ea typeface="CiscoSansTT"/>
                <a:cs typeface="CiscoSansTT"/>
              </a:defRPr>
            </a:lvl6pPr>
            <a:lvl7pPr algn="l">
              <a:defRPr sz="1500" b="0">
                <a:solidFill>
                  <a:srgbClr val="686B6B"/>
                </a:solidFill>
                <a:latin typeface="CiscoSansTT"/>
                <a:ea typeface="CiscoSansTT"/>
                <a:cs typeface="CiscoSansTT"/>
              </a:defRPr>
            </a:lvl7pPr>
            <a:lvl8pPr algn="l">
              <a:defRPr sz="1500" b="0">
                <a:solidFill>
                  <a:srgbClr val="686B6B"/>
                </a:solidFill>
                <a:latin typeface="CiscoSansTT"/>
                <a:ea typeface="CiscoSansTT"/>
                <a:cs typeface="CiscoSansTT"/>
              </a:defRPr>
            </a:lvl8pPr>
            <a:lvl9pPr algn="l">
              <a:defRPr sz="1500" b="0">
                <a:solidFill>
                  <a:srgbClr val="686B6B"/>
                </a:solidFill>
                <a:latin typeface="CiscoSansTT"/>
                <a:ea typeface="CiscoSansTT"/>
                <a:cs typeface="CiscoSansTT"/>
              </a:defRPr>
            </a:lvl9pPr>
          </a:lstStyle>
          <a:p>
            <a:pPr algn="l">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Replay: Hubble at 00:18, Grafana at 00:34</a:t>
            </a:r>
          </a:p>
        </p:txBody>
      </p:sp>
      <p:sp>
        <p:nvSpPr>
          <p:cNvPr id="1008" name="denial-meaning">
            <a:extLst>
              <a:ext uri="{FF2B5EF4-FFF2-40B4-BE49-F238E27FC236}">
                <a16:creationId xmlns:a16="http://schemas.microsoft.com/office/drawing/2014/main" id="{78784F3E-4EFD-4928-8195-944817FF87D7}"/>
              </a:ext>
            </a:extLst>
          </p:cNvPr>
          <p:cNvSpPr>
            <a:spLocks noGrp="1"/>
          </p:cNvSpPr>
          <p:nvPr/>
        </p:nvSpPr>
        <p:spPr>
          <a:xfrm>
            <a:off x="571500" y="5934075"/>
            <a:ext cx="11049000" cy="361950"/>
          </a:xfrm>
          <a:prstGeom prst="rect">
            <a:avLst/>
          </a:prstGeom>
          <a:noFill/>
          <a:ln w="0">
            <a:noFill/>
          </a:ln>
        </p:spPr>
        <p:txBody>
          <a:bodyPr anchor="ctr">
            <a:noAutofit/>
          </a:bodyPr>
          <a:lstStyle>
            <a:defPPr algn="l">
              <a:defRPr sz="1575" b="1">
                <a:solidFill>
                  <a:srgbClr val="07182A"/>
                </a:solidFill>
                <a:latin typeface="CiscoSansTT Medium"/>
                <a:ea typeface="CiscoSansTT Medium"/>
                <a:cs typeface="CiscoSansTT Medium"/>
              </a:defRPr>
            </a:defPPr>
            <a:lvl1pPr algn="l">
              <a:defRPr sz="1575" b="1">
                <a:solidFill>
                  <a:srgbClr val="07182A"/>
                </a:solidFill>
                <a:latin typeface="CiscoSansTT Medium"/>
                <a:ea typeface="CiscoSansTT Medium"/>
                <a:cs typeface="CiscoSansTT Medium"/>
              </a:defRPr>
            </a:lvl1pPr>
            <a:lvl2pPr algn="l">
              <a:defRPr sz="1575" b="1">
                <a:solidFill>
                  <a:srgbClr val="07182A"/>
                </a:solidFill>
                <a:latin typeface="CiscoSansTT Medium"/>
                <a:ea typeface="CiscoSansTT Medium"/>
                <a:cs typeface="CiscoSansTT Medium"/>
              </a:defRPr>
            </a:lvl2pPr>
            <a:lvl3pPr algn="l">
              <a:defRPr sz="1575" b="1">
                <a:solidFill>
                  <a:srgbClr val="07182A"/>
                </a:solidFill>
                <a:latin typeface="CiscoSansTT Medium"/>
                <a:ea typeface="CiscoSansTT Medium"/>
                <a:cs typeface="CiscoSansTT Medium"/>
              </a:defRPr>
            </a:lvl3pPr>
            <a:lvl4pPr algn="l">
              <a:defRPr sz="1575" b="1">
                <a:solidFill>
                  <a:srgbClr val="07182A"/>
                </a:solidFill>
                <a:latin typeface="CiscoSansTT Medium"/>
                <a:ea typeface="CiscoSansTT Medium"/>
                <a:cs typeface="CiscoSansTT Medium"/>
              </a:defRPr>
            </a:lvl4pPr>
            <a:lvl5pPr algn="l">
              <a:defRPr sz="1575" b="1">
                <a:solidFill>
                  <a:srgbClr val="07182A"/>
                </a:solidFill>
                <a:latin typeface="CiscoSansTT Medium"/>
                <a:ea typeface="CiscoSansTT Medium"/>
                <a:cs typeface="CiscoSansTT Medium"/>
              </a:defRPr>
            </a:lvl5pPr>
            <a:lvl6pPr algn="l">
              <a:defRPr sz="1575" b="1">
                <a:solidFill>
                  <a:srgbClr val="07182A"/>
                </a:solidFill>
                <a:latin typeface="CiscoSansTT Medium"/>
                <a:ea typeface="CiscoSansTT Medium"/>
                <a:cs typeface="CiscoSansTT Medium"/>
              </a:defRPr>
            </a:lvl6pPr>
            <a:lvl7pPr algn="l">
              <a:defRPr sz="1575" b="1">
                <a:solidFill>
                  <a:srgbClr val="07182A"/>
                </a:solidFill>
                <a:latin typeface="CiscoSansTT Medium"/>
                <a:ea typeface="CiscoSansTT Medium"/>
                <a:cs typeface="CiscoSansTT Medium"/>
              </a:defRPr>
            </a:lvl7pPr>
            <a:lvl8pPr algn="l">
              <a:defRPr sz="1575" b="1">
                <a:solidFill>
                  <a:srgbClr val="07182A"/>
                </a:solidFill>
                <a:latin typeface="CiscoSansTT Medium"/>
                <a:ea typeface="CiscoSansTT Medium"/>
                <a:cs typeface="CiscoSansTT Medium"/>
              </a:defRPr>
            </a:lvl8pPr>
            <a:lvl9pPr algn="l">
              <a:defRPr sz="1575" b="1">
                <a:solidFill>
                  <a:srgbClr val="07182A"/>
                </a:solidFill>
                <a:latin typeface="CiscoSansTT Medium"/>
                <a:ea typeface="CiscoSansTT Medium"/>
                <a:cs typeface="CiscoSansTT Medium"/>
              </a:defRPr>
            </a:lvl9pPr>
          </a:lstStyle>
          <a:p>
            <a:pPr algn="l">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The graph counts drops. The Hubble record identifies the denied connection.</a:t>
            </a:r>
          </a:p>
        </p:txBody>
      </p:sp>
    </p:spTree>
    <p:extLst>
      <p:ext uri="{BB962C8B-B14F-4D97-AF65-F5344CB8AC3E}">
        <p14:creationId xmlns:p14="http://schemas.microsoft.com/office/powerpoint/2010/main" val="1923459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8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xmlns:a="http://schemas.openxmlformats.org/drawingml/2006/main">
              <a:ext uri="{FF2B5EF4-FFF2-40B4-BE49-F238E27FC236}">
                <a16:creationId xmlns:a16="http://schemas.microsoft.com/office/drawing/2014/main" id="{FDC60109-7549-450B-BEE5-B1C467860AA3}"/>
              </a:ext>
            </a:extLst>
          </p:cNvPr>
          <p:cNvSpPr>
            <a:spLocks xmlns:a="http://schemas.openxmlformats.org/drawingml/2006/main" noGrp="1"/>
          </p:cNvSpPr>
          <p:nvPr/>
        </p:nvSpPr>
        <p:spPr>
          <a:xfrm xmlns:a="http://schemas.openxmlformats.org/drawingml/2006/main">
            <a:off x="666750" y="1047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xmlns:a="http://schemas.openxmlformats.org/drawingml/2006/main">
              <a:ext uri="{FF2B5EF4-FFF2-40B4-BE49-F238E27FC236}">
                <a16:creationId xmlns:a16="http://schemas.microsoft.com/office/drawing/2014/main" id="{22DA0A7B-1FB9-4472-B613-7463E2E65088}"/>
              </a:ext>
            </a:extLst>
          </p:cNvPr>
          <p:cNvSpPr>
            <a:spLocks xmlns:a="http://schemas.openxmlformats.org/drawingml/2006/main" noGrp="1"/>
          </p:cNvSpPr>
          <p:nvPr/>
        </p:nvSpPr>
        <p:spPr>
          <a:xfrm xmlns:a="http://schemas.openxmlformats.org/drawingml/2006/main">
            <a:off x="762000" y="17907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FF007F"/>
                </a:solidFill>
                <a:latin typeface="CiscoSansTT Medium"/>
                <a:ea typeface="CiscoSansTT Medium"/>
                <a:cs typeface="CiscoSansTT Medium"/>
              </a:defRPr>
            </a:defPPr>
            <a:lvl1pPr algn="l">
              <a:defRPr sz="2175" b="1">
                <a:solidFill>
                  <a:srgbClr val="FF007F"/>
                </a:solidFill>
                <a:latin typeface="CiscoSansTT Medium"/>
                <a:ea typeface="CiscoSansTT Medium"/>
                <a:cs typeface="CiscoSansTT Medium"/>
              </a:defRPr>
            </a:lvl1pPr>
            <a:lvl2pPr algn="l">
              <a:defRPr sz="2175" b="1">
                <a:solidFill>
                  <a:srgbClr val="FF007F"/>
                </a:solidFill>
                <a:latin typeface="CiscoSansTT Medium"/>
                <a:ea typeface="CiscoSansTT Medium"/>
                <a:cs typeface="CiscoSansTT Medium"/>
              </a:defRPr>
            </a:lvl2pPr>
            <a:lvl3pPr algn="l">
              <a:defRPr sz="2175" b="1">
                <a:solidFill>
                  <a:srgbClr val="FF007F"/>
                </a:solidFill>
                <a:latin typeface="CiscoSansTT Medium"/>
                <a:ea typeface="CiscoSansTT Medium"/>
                <a:cs typeface="CiscoSansTT Medium"/>
              </a:defRPr>
            </a:lvl3pPr>
            <a:lvl4pPr algn="l">
              <a:defRPr sz="2175" b="1">
                <a:solidFill>
                  <a:srgbClr val="FF007F"/>
                </a:solidFill>
                <a:latin typeface="CiscoSansTT Medium"/>
                <a:ea typeface="CiscoSansTT Medium"/>
                <a:cs typeface="CiscoSansTT Medium"/>
              </a:defRPr>
            </a:lvl4pPr>
            <a:lvl5pPr algn="l">
              <a:defRPr sz="2175" b="1">
                <a:solidFill>
                  <a:srgbClr val="FF007F"/>
                </a:solidFill>
                <a:latin typeface="CiscoSansTT Medium"/>
                <a:ea typeface="CiscoSansTT Medium"/>
                <a:cs typeface="CiscoSansTT Medium"/>
              </a:defRPr>
            </a:lvl5pPr>
            <a:lvl6pPr algn="l">
              <a:defRPr sz="2175" b="1">
                <a:solidFill>
                  <a:srgbClr val="FF007F"/>
                </a:solidFill>
                <a:latin typeface="CiscoSansTT Medium"/>
                <a:ea typeface="CiscoSansTT Medium"/>
                <a:cs typeface="CiscoSansTT Medium"/>
              </a:defRPr>
            </a:lvl6pPr>
            <a:lvl7pPr algn="l">
              <a:defRPr sz="2175" b="1">
                <a:solidFill>
                  <a:srgbClr val="FF007F"/>
                </a:solidFill>
                <a:latin typeface="CiscoSansTT Medium"/>
                <a:ea typeface="CiscoSansTT Medium"/>
                <a:cs typeface="CiscoSansTT Medium"/>
              </a:defRPr>
            </a:lvl7pPr>
            <a:lvl8pPr algn="l">
              <a:defRPr sz="2175" b="1">
                <a:solidFill>
                  <a:srgbClr val="FF007F"/>
                </a:solidFill>
                <a:latin typeface="CiscoSansTT Medium"/>
                <a:ea typeface="CiscoSansTT Medium"/>
                <a:cs typeface="CiscoSansTT Medium"/>
              </a:defRPr>
            </a:lvl8pPr>
            <a:lvl9pPr algn="l">
              <a:defRPr sz="2175" b="1">
                <a:solidFill>
                  <a:srgbClr val="FF007F"/>
                </a:solidFill>
                <a:latin typeface="CiscoSansTT Medium"/>
                <a:ea typeface="CiscoSansTT Medium"/>
                <a:cs typeface="CiscoSansTT Medium"/>
              </a:defRPr>
            </a:lvl9pPr>
          </a:lstStyle>
          <a:p xmlns:a="http://schemas.openxmlformats.org/drawingml/2006/main">
            <a:pPr algn="l">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xmlns:a="http://schemas.openxmlformats.org/drawingml/2006/main">
              <a:ext uri="{FF2B5EF4-FFF2-40B4-BE49-F238E27FC236}">
                <a16:creationId xmlns:a16="http://schemas.microsoft.com/office/drawing/2014/main" id="{AF8FEED1-7E86-42F8-AAC2-EF5AF031F7F8}"/>
              </a:ext>
            </a:extLst>
          </p:cNvPr>
          <p:cNvSpPr>
            <a:spLocks xmlns:a="http://schemas.openxmlformats.org/drawingml/2006/main" noGrp="1"/>
          </p:cNvSpPr>
          <p:nvPr/>
        </p:nvSpPr>
        <p:spPr>
          <a:xfrm xmlns:a="http://schemas.openxmlformats.org/drawingml/2006/main">
            <a:off x="3905250" y="17907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xmlns:a="http://schemas.openxmlformats.org/drawingml/2006/main">
              <a:ext uri="{FF2B5EF4-FFF2-40B4-BE49-F238E27FC236}">
                <a16:creationId xmlns:a16="http://schemas.microsoft.com/office/drawing/2014/main" id="{1B0A576A-E211-40EE-B765-E1849A442BA5}"/>
              </a:ext>
            </a:extLst>
          </p:cNvPr>
          <p:cNvSpPr>
            <a:spLocks xmlns:a="http://schemas.openxmlformats.org/drawingml/2006/main" noGrp="1"/>
          </p:cNvSpPr>
          <p:nvPr/>
        </p:nvSpPr>
        <p:spPr>
          <a:xfrm xmlns:a="http://schemas.openxmlformats.org/drawingml/2006/main">
            <a:off x="762000" y="2686050"/>
            <a:ext cx="10668000" cy="9525"/>
          </a:xfrm>
          <a:prstGeom xmlns:a="http://schemas.openxmlformats.org/drawingml/2006/main" prst="rect">
            <a:avLst/>
          </a:prstGeom>
          <a:solidFill xmlns:a="http://schemas.openxmlformats.org/drawingml/2006/main">
            <a:srgbClr val="D6DDE3"/>
          </a:solidFill>
          <a:ln xmlns:a="http://schemas.openxmlformats.org/drawingml/2006/main" w="0">
            <a:noFill/>
          </a:ln>
        </p:spPr>
      </p:sp>
      <p:sp>
        <p:nvSpPr>
          <p:cNvPr id="15" name="network-heading-1">
            <a:extLst xmlns:a="http://schemas.openxmlformats.org/drawingml/2006/main">
              <a:ext uri="{FF2B5EF4-FFF2-40B4-BE49-F238E27FC236}">
                <a16:creationId xmlns:a16="http://schemas.microsoft.com/office/drawing/2014/main" id="{FA873DA4-F84F-453B-8B71-9AA7BB3DF16C}"/>
              </a:ext>
            </a:extLst>
          </p:cNvPr>
          <p:cNvSpPr>
            <a:spLocks xmlns:a="http://schemas.openxmlformats.org/drawingml/2006/main" noGrp="1"/>
          </p:cNvSpPr>
          <p:nvPr/>
        </p:nvSpPr>
        <p:spPr>
          <a:xfrm xmlns:a="http://schemas.openxmlformats.org/drawingml/2006/main">
            <a:off x="762000" y="28956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xmlns:a="http://schemas.openxmlformats.org/drawingml/2006/main">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xmlns:a="http://schemas.openxmlformats.org/drawingml/2006/main">
              <a:ext uri="{FF2B5EF4-FFF2-40B4-BE49-F238E27FC236}">
                <a16:creationId xmlns:a16="http://schemas.microsoft.com/office/drawing/2014/main" id="{C1638B0B-F23C-49DC-9192-79237A3EA7D7}"/>
              </a:ext>
            </a:extLst>
          </p:cNvPr>
          <p:cNvSpPr>
            <a:spLocks xmlns:a="http://schemas.openxmlformats.org/drawingml/2006/main" noGrp="1"/>
          </p:cNvSpPr>
          <p:nvPr/>
        </p:nvSpPr>
        <p:spPr>
          <a:xfrm xmlns:a="http://schemas.openxmlformats.org/drawingml/2006/main">
            <a:off x="3905250" y="28956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 or exporting</a:t>
            </a:r>
          </a:p>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network volume through OpenTelemetry.</a:t>
            </a:r>
          </a:p>
        </p:txBody>
      </p:sp>
      <p:sp>
        <p:nvSpPr>
          <p:cNvPr id="17" name="network-rule-1">
            <a:extLst xmlns:a="http://schemas.openxmlformats.org/drawingml/2006/main">
              <a:ext uri="{FF2B5EF4-FFF2-40B4-BE49-F238E27FC236}">
                <a16:creationId xmlns:a16="http://schemas.microsoft.com/office/drawing/2014/main" id="{46E47913-8214-447C-AD61-E270EE73256B}"/>
              </a:ext>
            </a:extLst>
          </p:cNvPr>
          <p:cNvSpPr>
            <a:spLocks xmlns:a="http://schemas.openxmlformats.org/drawingml/2006/main" noGrp="1"/>
          </p:cNvSpPr>
          <p:nvPr/>
        </p:nvSpPr>
        <p:spPr>
          <a:xfrm xmlns:a="http://schemas.openxmlformats.org/drawingml/2006/main">
            <a:off x="762000" y="3790950"/>
            <a:ext cx="10668000" cy="9525"/>
          </a:xfrm>
          <a:prstGeom xmlns:a="http://schemas.openxmlformats.org/drawingml/2006/main" prst="rect">
            <a:avLst/>
          </a:prstGeom>
          <a:solidFill xmlns:a="http://schemas.openxmlformats.org/drawingml/2006/main">
            <a:srgbClr val="D6DDE3"/>
          </a:solidFill>
          <a:ln xmlns:a="http://schemas.openxmlformats.org/drawingml/2006/main" w="0">
            <a:noFill/>
          </a:ln>
        </p:spPr>
      </p:sp>
      <p:sp>
        <p:nvSpPr>
          <p:cNvPr id="18" name="network-heading-2">
            <a:extLst xmlns:a="http://schemas.openxmlformats.org/drawingml/2006/main">
              <a:ext uri="{FF2B5EF4-FFF2-40B4-BE49-F238E27FC236}">
                <a16:creationId xmlns:a16="http://schemas.microsoft.com/office/drawing/2014/main" id="{DFC010D3-E6C7-49D8-87D5-0F5F89D1FC03}"/>
              </a:ext>
            </a:extLst>
          </p:cNvPr>
          <p:cNvSpPr>
            <a:spLocks xmlns:a="http://schemas.openxmlformats.org/drawingml/2006/main" noGrp="1"/>
          </p:cNvSpPr>
          <p:nvPr/>
        </p:nvSpPr>
        <p:spPr>
          <a:xfrm xmlns:a="http://schemas.openxmlformats.org/drawingml/2006/main">
            <a:off x="762000" y="40005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860FE"/>
                </a:solidFill>
                <a:latin typeface="CiscoSansTT Medium"/>
                <a:ea typeface="CiscoSansTT Medium"/>
                <a:cs typeface="CiscoSansTT Medium"/>
              </a:defRPr>
            </a:defPPr>
            <a:lvl1pPr algn="l">
              <a:defRPr sz="2175" b="1">
                <a:solidFill>
                  <a:srgbClr val="0860FE"/>
                </a:solidFill>
                <a:latin typeface="CiscoSansTT Medium"/>
                <a:ea typeface="CiscoSansTT Medium"/>
                <a:cs typeface="CiscoSansTT Medium"/>
              </a:defRPr>
            </a:lvl1pPr>
            <a:lvl2pPr algn="l">
              <a:defRPr sz="2175" b="1">
                <a:solidFill>
                  <a:srgbClr val="0860FE"/>
                </a:solidFill>
                <a:latin typeface="CiscoSansTT Medium"/>
                <a:ea typeface="CiscoSansTT Medium"/>
                <a:cs typeface="CiscoSansTT Medium"/>
              </a:defRPr>
            </a:lvl2pPr>
            <a:lvl3pPr algn="l">
              <a:defRPr sz="2175" b="1">
                <a:solidFill>
                  <a:srgbClr val="0860FE"/>
                </a:solidFill>
                <a:latin typeface="CiscoSansTT Medium"/>
                <a:ea typeface="CiscoSansTT Medium"/>
                <a:cs typeface="CiscoSansTT Medium"/>
              </a:defRPr>
            </a:lvl3pPr>
            <a:lvl4pPr algn="l">
              <a:defRPr sz="2175" b="1">
                <a:solidFill>
                  <a:srgbClr val="0860FE"/>
                </a:solidFill>
                <a:latin typeface="CiscoSansTT Medium"/>
                <a:ea typeface="CiscoSansTT Medium"/>
                <a:cs typeface="CiscoSansTT Medium"/>
              </a:defRPr>
            </a:lvl4pPr>
            <a:lvl5pPr algn="l">
              <a:defRPr sz="2175" b="1">
                <a:solidFill>
                  <a:srgbClr val="0860FE"/>
                </a:solidFill>
                <a:latin typeface="CiscoSansTT Medium"/>
                <a:ea typeface="CiscoSansTT Medium"/>
                <a:cs typeface="CiscoSansTT Medium"/>
              </a:defRPr>
            </a:lvl5pPr>
            <a:lvl6pPr algn="l">
              <a:defRPr sz="2175" b="1">
                <a:solidFill>
                  <a:srgbClr val="0860FE"/>
                </a:solidFill>
                <a:latin typeface="CiscoSansTT Medium"/>
                <a:ea typeface="CiscoSansTT Medium"/>
                <a:cs typeface="CiscoSansTT Medium"/>
              </a:defRPr>
            </a:lvl6pPr>
            <a:lvl7pPr algn="l">
              <a:defRPr sz="2175" b="1">
                <a:solidFill>
                  <a:srgbClr val="0860FE"/>
                </a:solidFill>
                <a:latin typeface="CiscoSansTT Medium"/>
                <a:ea typeface="CiscoSansTT Medium"/>
                <a:cs typeface="CiscoSansTT Medium"/>
              </a:defRPr>
            </a:lvl7pPr>
            <a:lvl8pPr algn="l">
              <a:defRPr sz="2175" b="1">
                <a:solidFill>
                  <a:srgbClr val="0860FE"/>
                </a:solidFill>
                <a:latin typeface="CiscoSansTT Medium"/>
                <a:ea typeface="CiscoSansTT Medium"/>
                <a:cs typeface="CiscoSansTT Medium"/>
              </a:defRPr>
            </a:lvl8pPr>
            <a:lvl9pPr algn="l">
              <a:defRPr sz="2175" b="1">
                <a:solidFill>
                  <a:srgbClr val="0860FE"/>
                </a:solidFill>
                <a:latin typeface="CiscoSansTT Medium"/>
                <a:ea typeface="CiscoSansTT Medium"/>
                <a:cs typeface="CiscoSansTT Medium"/>
              </a:defRPr>
            </a:lvl9pPr>
          </a:lstStyle>
          <a:p xmlns:a="http://schemas.openxmlformats.org/drawingml/2006/main">
            <a:pPr algn="l">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Our demo</a:t>
            </a:r>
          </a:p>
        </p:txBody>
      </p:sp>
      <p:sp>
        <p:nvSpPr>
          <p:cNvPr id="19" name="network-body-2">
            <a:extLst xmlns:a="http://schemas.openxmlformats.org/drawingml/2006/main">
              <a:ext uri="{FF2B5EF4-FFF2-40B4-BE49-F238E27FC236}">
                <a16:creationId xmlns:a16="http://schemas.microsoft.com/office/drawing/2014/main" id="{44EA833B-9F22-4103-A8A7-0A9BEC5B5E26}"/>
              </a:ext>
            </a:extLst>
          </p:cNvPr>
          <p:cNvSpPr>
            <a:spLocks xmlns:a="http://schemas.openxmlformats.org/drawingml/2006/main" noGrp="1"/>
          </p:cNvSpPr>
          <p:nvPr/>
        </p:nvSpPr>
        <p:spPr>
          <a:xfrm xmlns:a="http://schemas.openxmlformats.org/drawingml/2006/main">
            <a:off x="3905250" y="40005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Hubble: network + policy. OBI: app traces + RED.</a:t>
            </a:r>
          </a:p>
          <a:p xmlns:a="http://schemas.openxmlformats.org/drawingml/2006/main">
            <a:pPr algn="l">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Optional OBI network metrics stay off in this demo.</a:t>
            </a:r>
          </a:p>
        </p:txBody>
      </p:sp>
      <p:sp>
        <p:nvSpPr>
          <p:cNvPr id="20" name="network-rule-2">
            <a:extLst xmlns:a="http://schemas.openxmlformats.org/drawingml/2006/main">
              <a:ext uri="{FF2B5EF4-FFF2-40B4-BE49-F238E27FC236}">
                <a16:creationId xmlns:a16="http://schemas.microsoft.com/office/drawing/2014/main" id="{B2657F30-EBB0-4E74-9337-3A75779C05EA}"/>
              </a:ext>
            </a:extLst>
          </p:cNvPr>
          <p:cNvSpPr>
            <a:spLocks xmlns:a="http://schemas.openxmlformats.org/drawingml/2006/main" noGrp="1"/>
          </p:cNvSpPr>
          <p:nvPr/>
        </p:nvSpPr>
        <p:spPr>
          <a:xfrm xmlns:a="http://schemas.openxmlformats.org/drawingml/2006/main">
            <a:off x="762000" y="4895850"/>
            <a:ext cx="10668000" cy="9525"/>
          </a:xfrm>
          <a:prstGeom xmlns:a="http://schemas.openxmlformats.org/drawingml/2006/main" prst="rect">
            <a:avLst/>
          </a:prstGeom>
          <a:solidFill xmlns:a="http://schemas.openxmlformats.org/drawingml/2006/main">
            <a:srgbClr val="D6DDE3"/>
          </a:solidFill>
          <a:ln xmlns:a="http://schemas.openxmlformats.org/drawingml/2006/main" w="0">
            <a:noFill/>
          </a:ln>
        </p:spPr>
      </p:sp>
      <p:sp>
        <p:nvSpPr>
          <p:cNvPr id="21" name="network-selection">
            <a:extLst xmlns:a="http://schemas.openxmlformats.org/drawingml/2006/main">
              <a:ext uri="{FF2B5EF4-FFF2-40B4-BE49-F238E27FC236}">
                <a16:creationId xmlns:a16="http://schemas.microsoft.com/office/drawing/2014/main" id="{84BA9390-28BA-4730-9B9D-34A39C50AF17}"/>
              </a:ext>
            </a:extLst>
          </p:cNvPr>
          <p:cNvSpPr>
            <a:spLocks xmlns:a="http://schemas.openxmlformats.org/drawingml/2006/main" noGrp="1"/>
          </p:cNvSpPr>
          <p:nvPr/>
        </p:nvSpPr>
        <p:spPr>
          <a:xfrm xmlns:a="http://schemas.openxmlformats.org/drawingml/2006/main">
            <a:off x="762000" y="52768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xmlns:a="http://schemas.openxmlformats.org/drawingml/2006/main">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xmlns:a="http://schemas.openxmlformats.org/drawingml/2006/main">
              <a:ext uri="{FF2B5EF4-FFF2-40B4-BE49-F238E27FC236}">
                <a16:creationId xmlns:a16="http://schemas.microsoft.com/office/drawing/2014/main" id="{8BFA5B85-D8D2-4152-8D31-979037069024}"/>
              </a:ext>
            </a:extLst>
          </p:cNvPr>
          <p:cNvSpPr>
            <a:spLocks xmlns:a="http://schemas.openxmlformats.org/drawingml/2006/main" noGrp="1"/>
          </p:cNvSpPr>
          <p:nvPr/>
        </p:nvSpPr>
        <p:spPr>
          <a:xfrm xmlns:a="http://schemas.openxmlformats.org/drawingml/2006/main">
            <a:off x="762000" y="58007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0">
                <a:solidFill>
                  <a:srgbClr val="686B6B"/>
                </a:solidFill>
                <a:latin typeface="CiscoSansTT"/>
                <a:ea typeface="CiscoSansTT"/>
                <a:cs typeface="CiscoSansTT"/>
              </a:defRPr>
            </a:defPPr>
            <a:lvl1pPr algn="l">
              <a:defRPr sz="1650" b="0">
                <a:solidFill>
                  <a:srgbClr val="686B6B"/>
                </a:solidFill>
                <a:latin typeface="CiscoSansTT"/>
                <a:ea typeface="CiscoSansTT"/>
                <a:cs typeface="CiscoSansTT"/>
              </a:defRPr>
            </a:lvl1pPr>
            <a:lvl2pPr algn="l">
              <a:defRPr sz="1650" b="0">
                <a:solidFill>
                  <a:srgbClr val="686B6B"/>
                </a:solidFill>
                <a:latin typeface="CiscoSansTT"/>
                <a:ea typeface="CiscoSansTT"/>
                <a:cs typeface="CiscoSansTT"/>
              </a:defRPr>
            </a:lvl2pPr>
            <a:lvl3pPr algn="l">
              <a:defRPr sz="1650" b="0">
                <a:solidFill>
                  <a:srgbClr val="686B6B"/>
                </a:solidFill>
                <a:latin typeface="CiscoSansTT"/>
                <a:ea typeface="CiscoSansTT"/>
                <a:cs typeface="CiscoSansTT"/>
              </a:defRPr>
            </a:lvl3pPr>
            <a:lvl4pPr algn="l">
              <a:defRPr sz="1650" b="0">
                <a:solidFill>
                  <a:srgbClr val="686B6B"/>
                </a:solidFill>
                <a:latin typeface="CiscoSansTT"/>
                <a:ea typeface="CiscoSansTT"/>
                <a:cs typeface="CiscoSansTT"/>
              </a:defRPr>
            </a:lvl4pPr>
            <a:lvl5pPr algn="l">
              <a:defRPr sz="1650" b="0">
                <a:solidFill>
                  <a:srgbClr val="686B6B"/>
                </a:solidFill>
                <a:latin typeface="CiscoSansTT"/>
                <a:ea typeface="CiscoSansTT"/>
                <a:cs typeface="CiscoSansTT"/>
              </a:defRPr>
            </a:lvl5pPr>
            <a:lvl6pPr algn="l">
              <a:defRPr sz="1650" b="0">
                <a:solidFill>
                  <a:srgbClr val="686B6B"/>
                </a:solidFill>
                <a:latin typeface="CiscoSansTT"/>
                <a:ea typeface="CiscoSansTT"/>
                <a:cs typeface="CiscoSansTT"/>
              </a:defRPr>
            </a:lvl6pPr>
            <a:lvl7pPr algn="l">
              <a:defRPr sz="1650" b="0">
                <a:solidFill>
                  <a:srgbClr val="686B6B"/>
                </a:solidFill>
                <a:latin typeface="CiscoSansTT"/>
                <a:ea typeface="CiscoSansTT"/>
                <a:cs typeface="CiscoSansTT"/>
              </a:defRPr>
            </a:lvl7pPr>
            <a:lvl8pPr algn="l">
              <a:defRPr sz="1650" b="0">
                <a:solidFill>
                  <a:srgbClr val="686B6B"/>
                </a:solidFill>
                <a:latin typeface="CiscoSansTT"/>
                <a:ea typeface="CiscoSansTT"/>
                <a:cs typeface="CiscoSansTT"/>
              </a:defRPr>
            </a:lvl8pPr>
            <a:lvl9pPr algn="l">
              <a:defRPr sz="1650" b="0">
                <a:solidFill>
                  <a:srgbClr val="686B6B"/>
                </a:solidFill>
                <a:latin typeface="CiscoSansTT"/>
                <a:ea typeface="CiscoSansTT"/>
                <a:cs typeface="CiscoSansTT"/>
              </a:defRPr>
            </a:lvl9pPr>
          </a:lstStyle>
          <a:p xmlns:a="http://schemas.openxmlformats.org/drawingml/2006/main">
            <a:pPr algn="l">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a:ext uri="{FF2B5EF4-FFF2-40B4-BE49-F238E27FC236}">
                <a16:creationId xmlns:a16="http://schemas.microsoft.com/office/drawing/2014/main" id="{6E890BCB-BEDF-4A21-BC9C-E03C004765D8}"/>
              </a:ext>
            </a:extLst>
          </p:cNvPr>
          <p:cNvSpPr>
            <a:spLocks noGrp="1"/>
          </p:cNvSpPr>
          <p:nvPr/>
        </p:nvSpPr>
        <p:spPr>
          <a:xfrm>
            <a:off x="762000" y="1219200"/>
            <a:ext cx="10668000" cy="400050"/>
          </a:xfrm>
          <a:prstGeom prst="rect">
            <a:avLst/>
          </a:prstGeom>
          <a:noFill/>
          <a:ln w="0">
            <a:noFill/>
          </a:ln>
        </p:spPr>
        <p:txBody>
          <a:bodyPr anchor="ctr">
            <a:noAutofit/>
          </a:bodyPr>
          <a:lstStyle/>
          <a:p>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p:cNvGraphicFramePr/>
          <p:nvPr>
            <p:extLst>
              <p:ext uri="{D42A27DB-BD31-4B8C-83A1-F6EECF244321}">
                <p14:modId xmlns:p14="http://schemas.microsoft.com/office/powerpoint/2010/main" val="2353555426"/>
              </p:ext>
            </p:extLst>
          </p:nvPr>
        </p:nvGraphicFramePr>
        <p:xfrm>
          <a:off x="762000" y="1847850"/>
          <a:ext cx="10668000" cy="3200400"/>
        </p:xfrm>
        <a:graphic>
          <a:graphicData uri="http://schemas.openxmlformats.org/drawingml/2006/table">
            <a:tbl>
              <a:tblPr/>
              <a:tblGrid>
                <a:gridCol w="342900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533400">
                <a:tc>
                  <a:txBody>
                    <a:bodyPr/>
                    <a:lstStyle/>
                    <a:p>
                      <a:r>
                        <a:rPr sz="1575" b="1">
                          <a:solidFill>
                            <a:srgbClr val="07182A"/>
                          </a:solidFill>
                          <a:latin typeface="CiscoSansTT Medium"/>
                          <a:ea typeface="CiscoSansTT Medium"/>
                          <a:cs typeface="CiscoSansTT Medium"/>
                        </a:rPr>
                        <a:t>Metric</a:t>
                      </a: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0860FE"/>
                          </a:solidFill>
                          <a:latin typeface="CiscoSansTT Medium"/>
                          <a:ea typeface="CiscoSansTT Medium"/>
                          <a:cs typeface="CiscoSansTT Medium"/>
                        </a:rPr>
                        <a:t>B: OBI </a:t>
                      </a:r>
                      <a:r>
                        <a:rPr lang="en-US" sz="1575" b="1" dirty="0">
                          <a:solidFill>
                            <a:srgbClr val="0860FE"/>
                          </a:solidFill>
                          <a:latin typeface="CiscoSansTT Medium"/>
                          <a:ea typeface="CiscoSansTT Medium"/>
                          <a:cs typeface="CiscoSansTT Medium"/>
                        </a:rPr>
                        <a:t>(TCX </a:t>
                      </a:r>
                      <a:r>
                        <a:rPr sz="1575" b="1" dirty="0">
                          <a:solidFill>
                            <a:srgbClr val="0860FE"/>
                          </a:solidFill>
                          <a:latin typeface="CiscoSansTT Medium"/>
                          <a:ea typeface="CiscoSansTT Medium"/>
                          <a:cs typeface="CiscoSansTT Medium"/>
                        </a:rPr>
                        <a:t>off</a:t>
                      </a:r>
                      <a:r>
                        <a:rPr lang="en-US" sz="1575" b="1" dirty="0">
                          <a:solidFill>
                            <a:srgbClr val="0860FE"/>
                          </a:solidFill>
                          <a:latin typeface="CiscoSansTT Medium"/>
                          <a:ea typeface="CiscoSansTT Medium"/>
                          <a:cs typeface="CiscoSansTT Medium"/>
                        </a:rPr>
                        <a:t>)</a:t>
                      </a:r>
                      <a:endParaRPr sz="1575" b="1" dirty="0">
                        <a:solidFill>
                          <a:srgbClr val="0860FE"/>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dirty="0">
                          <a:solidFill>
                            <a:srgbClr val="FF007F"/>
                          </a:solidFill>
                          <a:latin typeface="CiscoSansTT Medium"/>
                          <a:ea typeface="CiscoSansTT Medium"/>
                          <a:cs typeface="CiscoSansTT Medium"/>
                        </a:rPr>
                        <a:t>D: OBI </a:t>
                      </a:r>
                      <a:r>
                        <a:rPr lang="en-US" sz="1575" b="1" dirty="0">
                          <a:solidFill>
                            <a:srgbClr val="FF007F"/>
                          </a:solidFill>
                          <a:latin typeface="CiscoSansTT Medium"/>
                          <a:ea typeface="CiscoSansTT Medium"/>
                          <a:cs typeface="CiscoSansTT Medium"/>
                        </a:rPr>
                        <a:t>(</a:t>
                      </a:r>
                      <a:r>
                        <a:rPr sz="1575" b="1" dirty="0">
                          <a:solidFill>
                            <a:srgbClr val="FF007F"/>
                          </a:solidFill>
                          <a:latin typeface="CiscoSansTT Medium"/>
                          <a:ea typeface="CiscoSansTT Medium"/>
                          <a:cs typeface="CiscoSansTT Medium"/>
                        </a:rPr>
                        <a:t>TCX</a:t>
                      </a:r>
                      <a:r>
                        <a:rPr lang="en-US" sz="1575" b="1" dirty="0">
                          <a:solidFill>
                            <a:srgbClr val="FF007F"/>
                          </a:solidFill>
                          <a:latin typeface="CiscoSansTT Medium"/>
                          <a:ea typeface="CiscoSansTT Medium"/>
                          <a:cs typeface="CiscoSansTT Medium"/>
                        </a:rPr>
                        <a:t> </a:t>
                      </a:r>
                      <a:r>
                        <a:rPr lang="en-GB" sz="1575" b="1" dirty="0">
                          <a:solidFill>
                            <a:srgbClr val="FF007F"/>
                          </a:solidFill>
                          <a:latin typeface="CiscoSansTT Medium"/>
                          <a:ea typeface="CiscoSansTT Medium"/>
                          <a:cs typeface="CiscoSansTT Medium"/>
                        </a:rPr>
                        <a:t>on)</a:t>
                      </a:r>
                      <a:endParaRPr sz="1575" b="1" dirty="0">
                        <a:solidFill>
                          <a:srgbClr val="FF007F"/>
                        </a:solidFill>
                        <a:latin typeface="CiscoSansTT Medium"/>
                        <a:ea typeface="CiscoSansTT Medium"/>
                        <a:cs typeface="CiscoSansTT Medium"/>
                      </a:endParaRPr>
                    </a:p>
                  </a:txBody>
                  <a:tcPr>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0"/>
                  </a:ext>
                </a:extLst>
              </a:tr>
              <a:tr h="533400">
                <a:tc>
                  <a:txBody>
                    <a:bodyPr/>
                    <a:lstStyle/>
                    <a:p>
                      <a:r>
                        <a:rPr sz="1650" b="0">
                          <a:solidFill>
                            <a:srgbClr val="07182A"/>
                          </a:solidFill>
                          <a:latin typeface="CiscoSansTT"/>
                          <a:ea typeface="CiscoSansTT"/>
                          <a:cs typeface="CiscoSansTT"/>
                        </a:rPr>
                        <a:t>Throughput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1"/>
                  </a:ext>
                </a:extLst>
              </a:tr>
              <a:tr h="533400">
                <a:tc>
                  <a:txBody>
                    <a:bodyPr/>
                    <a:lstStyle/>
                    <a:p>
                      <a:r>
                        <a:rPr sz="1650" b="0">
                          <a:solidFill>
                            <a:srgbClr val="07182A"/>
                          </a:solidFill>
                          <a:latin typeface="CiscoSansTT"/>
                          <a:ea typeface="CiscoSansTT"/>
                          <a:cs typeface="CiscoSansTT"/>
                        </a:rPr>
                        <a:t>p95 latency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2"/>
                  </a:ext>
                </a:extLst>
              </a:tr>
              <a:tr h="533400">
                <a:tc>
                  <a:txBody>
                    <a:bodyPr/>
                    <a:lstStyle/>
                    <a:p>
                      <a:r>
                        <a:rPr sz="1650" b="0">
                          <a:solidFill>
                            <a:srgbClr val="07182A"/>
                          </a:solidFill>
                          <a:latin typeface="CiscoSansTT"/>
                          <a:ea typeface="CiscoSansTT"/>
                          <a:cs typeface="CiscoSansTT"/>
                        </a:rPr>
                        <a:t>Failed requests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3"/>
                  </a:ext>
                </a:extLst>
              </a:tr>
              <a:tr h="533400">
                <a:tc>
                  <a:txBody>
                    <a:bodyPr/>
                    <a:lstStyle/>
                    <a:p>
                      <a:r>
                        <a:rPr sz="1650" b="0">
                          <a:solidFill>
                            <a:srgbClr val="07182A"/>
                          </a:solidFill>
                          <a:latin typeface="CiscoSansTT"/>
                          <a:ea typeface="CiscoSansTT"/>
                          <a:cs typeface="CiscoSansTT"/>
                        </a:rPr>
                        <a:t>OBI CPU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4"/>
                  </a:ext>
                </a:extLst>
              </a:tr>
              <a:tr h="533400">
                <a:tc>
                  <a:txBody>
                    <a:bodyPr/>
                    <a:lstStyle/>
                    <a:p>
                      <a:r>
                        <a:rPr sz="1650" b="0">
                          <a:solidFill>
                            <a:srgbClr val="07182A"/>
                          </a:solidFill>
                          <a:latin typeface="CiscoSansTT"/>
                          <a:ea typeface="CiscoSansTT"/>
                          <a:cs typeface="CiscoSansTT"/>
                        </a:rPr>
                        <a:t>OBI working set (median)</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a:lnL w="0">
                      <a:noFill/>
                    </a:lnL>
                    <a:lnR w="0">
                      <a:noFill/>
                    </a:lnR>
                    <a:lnT w="6350">
                      <a:solidFill>
                        <a:srgbClr val="D6DDE3"/>
                      </a:solidFill>
                    </a:lnT>
                    <a:lnB w="6350">
                      <a:solidFill>
                        <a:srgbClr val="D6DDE3"/>
                      </a:solidFill>
                    </a:lnB>
                    <a:solidFill>
                      <a:srgbClr val="FFFFFF"/>
                    </a:solidFill>
                  </a:tcPr>
                </a:tc>
                <a:tc>
                  <a:txBody>
                    <a:bodyPr/>
                    <a:lstStyle/>
                    <a:p>
                      <a:r>
                        <a:rPr sz="1650" b="0" dirty="0">
                          <a:solidFill>
                            <a:srgbClr val="07182A"/>
                          </a:solidFill>
                          <a:latin typeface="CiscoSansTT"/>
                          <a:ea typeface="CiscoSansTT"/>
                          <a:cs typeface="CiscoSansTT"/>
                        </a:rPr>
                        <a:t>Added</a:t>
                      </a:r>
                    </a:p>
                  </a:txBody>
                  <a:tcPr>
                    <a:lnL w="0">
                      <a:noFill/>
                    </a:lnL>
                    <a:lnR w="0">
                      <a:noFill/>
                    </a:lnR>
                    <a:lnT w="6350">
                      <a:solidFill>
                        <a:srgbClr val="D6DDE3"/>
                      </a:solidFill>
                    </a:lnT>
                    <a:lnB w="6350">
                      <a:solidFill>
                        <a:srgbClr val="D6DDE3"/>
                      </a:solidFill>
                    </a:lnB>
                    <a:solidFill>
                      <a:srgbClr val="FFFFFF"/>
                    </a:solidFill>
                  </a:tcPr>
                </a:tc>
                <a:extLst>
                  <a:ext uri="{0D108BD9-81ED-4DB2-BD59-A6C34878D82A}">
                    <a16:rowId xmlns:a16="http://schemas.microsoft.com/office/drawing/2014/main" val="10005"/>
                  </a:ext>
                </a:extLst>
              </a:tr>
            </a:tbl>
          </a:graphicData>
        </a:graphic>
      </p:graphicFrame>
      <p:sp>
        <p:nvSpPr>
          <p:cNvPr id="22" name="Rectangle 21">
            <a:extLst>
              <a:ext uri="{FF2B5EF4-FFF2-40B4-BE49-F238E27FC236}">
                <a16:creationId xmlns:a16="http://schemas.microsoft.com/office/drawing/2014/main" id="{7E4A5844-4C7E-4BBD-A8D9-FF29BB2E0634}"/>
              </a:ext>
            </a:extLst>
          </p:cNvPr>
          <p:cNvSpPr>
            <a:spLocks noGrp="1"/>
          </p:cNvSpPr>
          <p:nvPr/>
        </p:nvSpPr>
        <p:spPr>
          <a:xfrm>
            <a:off x="762000" y="5238750"/>
            <a:ext cx="10668000" cy="400050"/>
          </a:xfrm>
          <a:prstGeom prst="rect">
            <a:avLst/>
          </a:prstGeom>
          <a:noFill/>
          <a:ln w="0">
            <a:noFill/>
          </a:ln>
        </p:spPr>
        <p:txBody>
          <a:bodyPr anchor="ctr">
            <a:noAutofit/>
          </a:body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a:ext uri="{FF2B5EF4-FFF2-40B4-BE49-F238E27FC236}">
                <a16:creationId xmlns:a16="http://schemas.microsoft.com/office/drawing/2014/main" id="{ACEAF919-558E-452B-89A0-A05DEBBE4D1E}"/>
              </a:ext>
            </a:extLst>
          </p:cNvPr>
          <p:cNvSpPr>
            <a:spLocks noGrp="1"/>
          </p:cNvSpPr>
          <p:nvPr/>
        </p:nvSpPr>
        <p:spPr>
          <a:xfrm>
            <a:off x="762000" y="5772150"/>
            <a:ext cx="10668000" cy="419100"/>
          </a:xfrm>
          <a:prstGeom prst="rect">
            <a:avLst/>
          </a:prstGeom>
          <a:noFill/>
          <a:ln w="0">
            <a:noFill/>
          </a:ln>
        </p:spPr>
        <p:txBody>
          <a:bodyPr anchor="ctr">
            <a:noAutofit/>
          </a:bodyPr>
          <a:lstStyle/>
          <a:p>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 name="Rounded Rectangle 1">
            <a:extLst>
              <a:ext uri="{FF2B5EF4-FFF2-40B4-BE49-F238E27FC236}">
                <a16:creationId xmlns:a16="http://schemas.microsoft.com/office/drawing/2014/main" id="{698BD03A-070E-4088-91CA-DC458B098F6D}"/>
              </a:ext>
            </a:extLst>
          </p:cNvPr>
          <p:cNvSpPr>
            <a:spLocks noGrp="1"/>
          </p:cNvSpPr>
          <p:nvPr/>
        </p:nvSpPr>
        <p:spPr>
          <a:xfrm>
            <a:off x="118110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a:ext uri="{FF2B5EF4-FFF2-40B4-BE49-F238E27FC236}">
                <a16:creationId xmlns:a16="http://schemas.microsoft.com/office/drawing/2014/main" id="{FB3120F1-0ED1-469F-BDF9-CC7EF00E3199}"/>
              </a:ext>
            </a:extLst>
          </p:cNvPr>
          <p:cNvSpPr>
            <a:spLocks noGrp="1"/>
          </p:cNvSpPr>
          <p:nvPr/>
        </p:nvSpPr>
        <p:spPr>
          <a:xfrm>
            <a:off x="49530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nodes</a:t>
            </a:r>
          </a:p>
        </p:txBody>
      </p:sp>
      <p:sp>
        <p:nvSpPr>
          <p:cNvPr id="4" name="Rectangle 3">
            <a:extLst>
              <a:ext uri="{FF2B5EF4-FFF2-40B4-BE49-F238E27FC236}">
                <a16:creationId xmlns:a16="http://schemas.microsoft.com/office/drawing/2014/main" id="{9F1B11C9-9418-4A97-BB8C-E47A9A7B6BFF}"/>
              </a:ext>
            </a:extLst>
          </p:cNvPr>
          <p:cNvSpPr>
            <a:spLocks noGrp="1"/>
          </p:cNvSpPr>
          <p:nvPr/>
        </p:nvSpPr>
        <p:spPr>
          <a:xfrm>
            <a:off x="4953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Kernel support,</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agent versions,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Cilium datapath</a:t>
            </a:r>
          </a:p>
        </p:txBody>
      </p:sp>
      <p:sp>
        <p:nvSpPr>
          <p:cNvPr id="5" name="Rounded Rectangle 4">
            <a:extLst>
              <a:ext uri="{FF2B5EF4-FFF2-40B4-BE49-F238E27FC236}">
                <a16:creationId xmlns:a16="http://schemas.microsoft.com/office/drawing/2014/main" id="{77283EF9-0DA7-4352-AC2C-4A111427C91E}"/>
              </a:ext>
            </a:extLst>
          </p:cNvPr>
          <p:cNvSpPr>
            <a:spLocks noGrp="1"/>
          </p:cNvSpPr>
          <p:nvPr/>
        </p:nvSpPr>
        <p:spPr>
          <a:xfrm>
            <a:off x="351472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a:ext uri="{FF2B5EF4-FFF2-40B4-BE49-F238E27FC236}">
                <a16:creationId xmlns:a16="http://schemas.microsoft.com/office/drawing/2014/main" id="{31AE3182-7279-498E-A7D7-EB92A540F69D}"/>
              </a:ext>
            </a:extLst>
          </p:cNvPr>
          <p:cNvSpPr>
            <a:spLocks noGrp="1"/>
          </p:cNvSpPr>
          <p:nvPr/>
        </p:nvSpPr>
        <p:spPr>
          <a:xfrm>
            <a:off x="282892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config</a:t>
            </a:r>
          </a:p>
        </p:txBody>
      </p:sp>
      <p:sp>
        <p:nvSpPr>
          <p:cNvPr id="7" name="Rectangle 6">
            <a:extLst>
              <a:ext uri="{FF2B5EF4-FFF2-40B4-BE49-F238E27FC236}">
                <a16:creationId xmlns:a16="http://schemas.microsoft.com/office/drawing/2014/main" id="{35476832-7A0A-4A45-8FA2-5A422CB7CAA0}"/>
              </a:ext>
            </a:extLst>
          </p:cNvPr>
          <p:cNvSpPr>
            <a:spLocks noGrp="1"/>
          </p:cNvSpPr>
          <p:nvPr/>
        </p:nvSpPr>
        <p:spPr>
          <a:xfrm>
            <a:off x="282892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Permissions,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mounts,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attachment order</a:t>
            </a:r>
          </a:p>
        </p:txBody>
      </p:sp>
      <p:sp>
        <p:nvSpPr>
          <p:cNvPr id="8" name="Rounded Rectangle 7">
            <a:extLst>
              <a:ext uri="{FF2B5EF4-FFF2-40B4-BE49-F238E27FC236}">
                <a16:creationId xmlns:a16="http://schemas.microsoft.com/office/drawing/2014/main" id="{8D81A81D-A030-4FCD-806D-F92FD6797A24}"/>
              </a:ext>
            </a:extLst>
          </p:cNvPr>
          <p:cNvSpPr>
            <a:spLocks noGrp="1"/>
          </p:cNvSpPr>
          <p:nvPr/>
        </p:nvSpPr>
        <p:spPr>
          <a:xfrm>
            <a:off x="584835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a:ext uri="{FF2B5EF4-FFF2-40B4-BE49-F238E27FC236}">
                <a16:creationId xmlns:a16="http://schemas.microsoft.com/office/drawing/2014/main" id="{B4BF8A64-F1F8-496B-AD30-EFFA1E22F3C1}"/>
              </a:ext>
            </a:extLst>
          </p:cNvPr>
          <p:cNvSpPr>
            <a:spLocks noGrp="1"/>
          </p:cNvSpPr>
          <p:nvPr/>
        </p:nvSpPr>
        <p:spPr>
          <a:xfrm>
            <a:off x="516255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Start small</a:t>
            </a:r>
          </a:p>
        </p:txBody>
      </p:sp>
      <p:sp>
        <p:nvSpPr>
          <p:cNvPr id="10" name="Rectangle 9">
            <a:extLst>
              <a:ext uri="{FF2B5EF4-FFF2-40B4-BE49-F238E27FC236}">
                <a16:creationId xmlns:a16="http://schemas.microsoft.com/office/drawing/2014/main" id="{B7354191-4C68-4286-B0CB-A2CBCAE7A6DE}"/>
              </a:ext>
            </a:extLst>
          </p:cNvPr>
          <p:cNvSpPr>
            <a:spLocks noGrp="1"/>
          </p:cNvSpPr>
          <p:nvPr/>
        </p:nvSpPr>
        <p:spPr>
          <a:xfrm>
            <a:off x="516255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 few selected nodes.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Keep rollback</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ready.</a:t>
            </a:r>
          </a:p>
        </p:txBody>
      </p:sp>
      <p:sp>
        <p:nvSpPr>
          <p:cNvPr id="11" name="Rounded Rectangle 10">
            <a:extLst>
              <a:ext uri="{FF2B5EF4-FFF2-40B4-BE49-F238E27FC236}">
                <a16:creationId xmlns:a16="http://schemas.microsoft.com/office/drawing/2014/main" id="{A718CAF2-5121-49EA-A878-4287C411D3DF}"/>
              </a:ext>
            </a:extLst>
          </p:cNvPr>
          <p:cNvSpPr>
            <a:spLocks noGrp="1"/>
          </p:cNvSpPr>
          <p:nvPr/>
        </p:nvSpPr>
        <p:spPr>
          <a:xfrm>
            <a:off x="818197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a:ext uri="{FF2B5EF4-FFF2-40B4-BE49-F238E27FC236}">
                <a16:creationId xmlns:a16="http://schemas.microsoft.com/office/drawing/2014/main" id="{89DAFA5E-F22D-49BF-BDA0-446E1721FD8C}"/>
              </a:ext>
            </a:extLst>
          </p:cNvPr>
          <p:cNvSpPr>
            <a:spLocks noGrp="1"/>
          </p:cNvSpPr>
          <p:nvPr/>
        </p:nvSpPr>
        <p:spPr>
          <a:xfrm>
            <a:off x="749617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Test traffic</a:t>
            </a:r>
          </a:p>
        </p:txBody>
      </p:sp>
      <p:sp>
        <p:nvSpPr>
          <p:cNvPr id="13" name="Rectangle 12">
            <a:extLst>
              <a:ext uri="{FF2B5EF4-FFF2-40B4-BE49-F238E27FC236}">
                <a16:creationId xmlns:a16="http://schemas.microsoft.com/office/drawing/2014/main" id="{D82F6F63-443B-4774-81BA-BBEF0877C882}"/>
              </a:ext>
            </a:extLst>
          </p:cNvPr>
          <p:cNvSpPr>
            <a:spLocks noGrp="1"/>
          </p:cNvSpPr>
          <p:nvPr/>
        </p:nvSpPr>
        <p:spPr>
          <a:xfrm>
            <a:off x="749617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Same-node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cross-node calls,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allowed and denied</a:t>
            </a:r>
          </a:p>
        </p:txBody>
      </p:sp>
      <p:sp>
        <p:nvSpPr>
          <p:cNvPr id="14" name="Rounded Rectangle 13">
            <a:extLst>
              <a:ext uri="{FF2B5EF4-FFF2-40B4-BE49-F238E27FC236}">
                <a16:creationId xmlns:a16="http://schemas.microsoft.com/office/drawing/2014/main" id="{D2175F4C-7525-4FBF-BE5C-D89327EC2625}"/>
              </a:ext>
            </a:extLst>
          </p:cNvPr>
          <p:cNvSpPr>
            <a:spLocks noGrp="1"/>
          </p:cNvSpPr>
          <p:nvPr/>
        </p:nvSpPr>
        <p:spPr>
          <a:xfrm>
            <a:off x="10515600" y="1571625"/>
            <a:ext cx="590550" cy="381000"/>
          </a:xfrm>
          <a:prstGeom prst="roundRect">
            <a:avLst>
              <a:gd name="adj" fmla="val 20000"/>
            </a:avLst>
          </a:prstGeom>
          <a:solidFill>
            <a:srgbClr val="2DAA5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a:ext uri="{FF2B5EF4-FFF2-40B4-BE49-F238E27FC236}">
                <a16:creationId xmlns:a16="http://schemas.microsoft.com/office/drawing/2014/main" id="{6CE53DC2-CA77-4D57-BF19-1957B258B104}"/>
              </a:ext>
            </a:extLst>
          </p:cNvPr>
          <p:cNvSpPr>
            <a:spLocks noGrp="1"/>
          </p:cNvSpPr>
          <p:nvPr/>
        </p:nvSpPr>
        <p:spPr>
          <a:xfrm>
            <a:off x="9829800" y="2238375"/>
            <a:ext cx="2000250" cy="838200"/>
          </a:xfrm>
          <a:prstGeom prst="roundRect">
            <a:avLst>
              <a:gd name="adj" fmla="val 9091"/>
            </a:avLst>
          </a:prstGeom>
          <a:solidFill>
            <a:srgbClr val="EAF7EF"/>
          </a:solidFill>
          <a:ln w="14288">
            <a:solidFill>
              <a:srgbClr val="2DAA5F"/>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Expand</a:t>
            </a:r>
          </a:p>
        </p:txBody>
      </p:sp>
      <p:sp>
        <p:nvSpPr>
          <p:cNvPr id="16" name="Rectangle 15">
            <a:extLst>
              <a:ext uri="{FF2B5EF4-FFF2-40B4-BE49-F238E27FC236}">
                <a16:creationId xmlns:a16="http://schemas.microsoft.com/office/drawing/2014/main" id="{2490163B-5B41-454E-B471-3248BDB5BC0B}"/>
              </a:ext>
            </a:extLst>
          </p:cNvPr>
          <p:cNvSpPr>
            <a:spLocks noGrp="1"/>
          </p:cNvSpPr>
          <p:nvPr/>
        </p:nvSpPr>
        <p:spPr>
          <a:xfrm>
            <a:off x="98298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Compare requests,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resources,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telemetry quality</a:t>
            </a:r>
          </a:p>
        </p:txBody>
      </p:sp>
      <p:cxnSp>
        <p:nvCxnSpPr>
          <p:cNvPr id="299" name="Straight Arrow Connector 38">
            <a:extLst>
              <a:ext uri="{FF2B5EF4-FFF2-40B4-BE49-F238E27FC236}">
                <a16:creationId xmlns:a16="http://schemas.microsoft.com/office/drawing/2014/main" id="{7B3B69E5-442B-4BA3-BEE9-E4D0B7DB7B99}"/>
              </a:ext>
            </a:extLst>
          </p:cNvPr>
          <p:cNvCxnSpPr>
            <a:stCxn id="3" idx="3"/>
            <a:endCxn id="6" idx="1"/>
          </p:cNvCxnSpPr>
          <p:nvPr/>
        </p:nvCxnSpPr>
        <p:spPr>
          <a:xfrm>
            <a:off x="2495550" y="2657475"/>
            <a:ext cx="333375" cy="0"/>
          </a:xfrm>
          <a:prstGeom prst="straightConnector1">
            <a:avLst/>
          </a:prstGeom>
          <a:ln w="19050">
            <a:solidFill>
              <a:srgbClr val="07182A"/>
            </a:solidFill>
            <a:prstDash val="solid"/>
            <a:tailEnd type="arrow" w="med" len="med"/>
          </a:ln>
        </p:spPr>
      </p:cxnSp>
      <p:cxnSp>
        <p:nvCxnSpPr>
          <p:cNvPr id="300" name="Straight Arrow Connector 39">
            <a:extLst>
              <a:ext uri="{FF2B5EF4-FFF2-40B4-BE49-F238E27FC236}">
                <a16:creationId xmlns:a16="http://schemas.microsoft.com/office/drawing/2014/main" id="{74D0A627-ABD3-4683-81CB-A3B63367B664}"/>
              </a:ext>
            </a:extLst>
          </p:cNvPr>
          <p:cNvCxnSpPr>
            <a:stCxn id="6" idx="3"/>
            <a:endCxn id="9" idx="1"/>
          </p:cNvCxnSpPr>
          <p:nvPr/>
        </p:nvCxnSpPr>
        <p:spPr>
          <a:xfrm>
            <a:off x="4829175" y="2657475"/>
            <a:ext cx="333375" cy="0"/>
          </a:xfrm>
          <a:prstGeom prst="straightConnector1">
            <a:avLst/>
          </a:prstGeom>
          <a:ln w="19050">
            <a:solidFill>
              <a:srgbClr val="07182A"/>
            </a:solidFill>
            <a:prstDash val="solid"/>
            <a:tailEnd type="arrow" w="med" len="med"/>
          </a:ln>
        </p:spPr>
      </p:cxnSp>
      <p:cxnSp>
        <p:nvCxnSpPr>
          <p:cNvPr id="301" name="Straight Arrow Connector 40">
            <a:extLst>
              <a:ext uri="{FF2B5EF4-FFF2-40B4-BE49-F238E27FC236}">
                <a16:creationId xmlns:a16="http://schemas.microsoft.com/office/drawing/2014/main" id="{51C97834-FDF8-45DD-91AD-89E6EC92F5C7}"/>
              </a:ext>
            </a:extLst>
          </p:cNvPr>
          <p:cNvCxnSpPr>
            <a:stCxn id="9" idx="3"/>
            <a:endCxn id="12" idx="1"/>
          </p:cNvCxnSpPr>
          <p:nvPr/>
        </p:nvCxnSpPr>
        <p:spPr>
          <a:xfrm>
            <a:off x="7162800" y="2657475"/>
            <a:ext cx="333375" cy="0"/>
          </a:xfrm>
          <a:prstGeom prst="straightConnector1">
            <a:avLst/>
          </a:prstGeom>
          <a:ln w="19050">
            <a:solidFill>
              <a:srgbClr val="07182A"/>
            </a:solidFill>
            <a:prstDash val="solid"/>
            <a:tailEnd type="arrow" w="med" len="med"/>
          </a:ln>
        </p:spPr>
      </p:cxnSp>
      <p:cxnSp>
        <p:nvCxnSpPr>
          <p:cNvPr id="302" name="Straight Arrow Connector 41">
            <a:extLst>
              <a:ext uri="{FF2B5EF4-FFF2-40B4-BE49-F238E27FC236}">
                <a16:creationId xmlns:a16="http://schemas.microsoft.com/office/drawing/2014/main" id="{B42F02B1-EA9D-4BB4-943C-B83A31595EA2}"/>
              </a:ext>
            </a:extLst>
          </p:cNvPr>
          <p:cNvCxnSpPr>
            <a:stCxn id="12" idx="3"/>
            <a:endCxn id="15" idx="1"/>
          </p:cNvCxnSpPr>
          <p:nvPr/>
        </p:nvCxnSpPr>
        <p:spPr>
          <a:xfrm>
            <a:off x="9496425" y="2657475"/>
            <a:ext cx="333375" cy="0"/>
          </a:xfrm>
          <a:prstGeom prst="straightConnector1">
            <a:avLst/>
          </a:prstGeom>
          <a:ln w="19050">
            <a:solidFill>
              <a:srgbClr val="07182A"/>
            </a:solidFill>
            <a:prstDash val="solid"/>
            <a:tailEnd type="arrow" w="med" len="med"/>
          </a:ln>
        </p:spPr>
      </p:cxnSp>
      <p:sp>
        <p:nvSpPr>
          <p:cNvPr id="21" name="Rounded Rectangle 20">
            <a:extLst>
              <a:ext uri="{FF2B5EF4-FFF2-40B4-BE49-F238E27FC236}">
                <a16:creationId xmlns:a16="http://schemas.microsoft.com/office/drawing/2014/main" id="{A8E5CA0D-8A5D-4BD3-A93D-56E4A51883CE}"/>
              </a:ext>
            </a:extLst>
          </p:cNvPr>
          <p:cNvSpPr>
            <a:spLocks noGrp="1"/>
          </p:cNvSpPr>
          <p:nvPr/>
        </p:nvSpPr>
        <p:spPr>
          <a:xfrm>
            <a:off x="1219200" y="4838700"/>
            <a:ext cx="9753600" cy="857250"/>
          </a:xfrm>
          <a:prstGeom prst="roundRect">
            <a:avLst>
              <a:gd name="adj" fmla="val 8889"/>
            </a:avLst>
          </a:prstGeom>
          <a:solidFill>
            <a:srgbClr val="F4F6F8"/>
          </a:solidFill>
          <a:ln w="14288">
            <a:solidFill>
              <a:srgbClr val="D6D6D6"/>
            </a:solidFill>
          </a:ln>
        </p:spPr>
        <p:txBody>
          <a:bodyPr/>
          <a:lstStyle/>
          <a:p>
            <a:endParaRPr/>
          </a:p>
        </p:txBody>
      </p:sp>
      <p:sp>
        <p:nvSpPr>
          <p:cNvPr id="22" name="Rectangle 21">
            <a:extLst>
              <a:ext uri="{FF2B5EF4-FFF2-40B4-BE49-F238E27FC236}">
                <a16:creationId xmlns:a16="http://schemas.microsoft.com/office/drawing/2014/main" id="{BFD370B6-619A-467A-BD71-9857194631E6}"/>
              </a:ext>
            </a:extLst>
          </p:cNvPr>
          <p:cNvSpPr>
            <a:spLocks noGrp="1"/>
          </p:cNvSpPr>
          <p:nvPr/>
        </p:nvSpPr>
        <p:spPr>
          <a:xfrm>
            <a:off x="1619250" y="5048250"/>
            <a:ext cx="8953500" cy="4762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Expand when the checks pass. If they fail, pause and restore the previous setup.</a:t>
            </a:r>
          </a:p>
        </p:txBody>
      </p:sp>
    </p:spTree>
    <p:extLst>
      <p:ext uri="{BB962C8B-B14F-4D97-AF65-F5344CB8AC3E}">
        <p14:creationId xmlns:p14="http://schemas.microsoft.com/office/powerpoint/2010/main" val="3158849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title">
            <a:extLst>
              <a:ext uri="{FF2B5EF4-FFF2-40B4-BE49-F238E27FC236}">
                <a16:creationId xmlns:a16="http://schemas.microsoft.com/office/drawing/2014/main" id="{99C880A8-3582-4338-BB63-C79554C56E94}"/>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a:ext uri="{FF2B5EF4-FFF2-40B4-BE49-F238E27FC236}">
                <a16:creationId xmlns:a16="http://schemas.microsoft.com/office/drawing/2014/main" id="{CEC07943-9C3B-4328-9CA2-532BB469DBA6}"/>
              </a:ext>
            </a:extLst>
          </p:cNvPr>
          <p:cNvSpPr>
            <a:spLocks noGrp="1"/>
          </p:cNvSpPr>
          <p:nvPr/>
        </p:nvSpPr>
        <p:spPr>
          <a:xfrm>
            <a:off x="781050" y="1524000"/>
            <a:ext cx="857250" cy="552450"/>
          </a:xfrm>
          <a:prstGeom prst="rect">
            <a:avLst/>
          </a:prstGeom>
          <a:noFill/>
          <a:ln w="0">
            <a:noFill/>
          </a:ln>
        </p:spPr>
        <p:txBody>
          <a:bodyPr anchor="t">
            <a:normAutofit/>
          </a:bodyPr>
          <a:lstStyle/>
          <a:p>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909DFF60-89E5-4A12-A77D-719A2348DAA4}"/>
              </a:ext>
            </a:extLst>
          </p:cNvPr>
          <p:cNvSpPr>
            <a:spLocks noGrp="1"/>
          </p:cNvSpPr>
          <p:nvPr/>
        </p:nvSpPr>
        <p:spPr>
          <a:xfrm>
            <a:off x="1905000" y="1524000"/>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a:ext uri="{FF2B5EF4-FFF2-40B4-BE49-F238E27FC236}">
                <a16:creationId xmlns:a16="http://schemas.microsoft.com/office/drawing/2014/main" id="{1DED608B-AA10-4F56-83D1-A47EE6CD188F}"/>
              </a:ext>
            </a:extLst>
          </p:cNvPr>
          <p:cNvSpPr>
            <a:spLocks noGrp="1"/>
          </p:cNvSpPr>
          <p:nvPr/>
        </p:nvSpPr>
        <p:spPr>
          <a:xfrm>
            <a:off x="5953125" y="154305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a:ext uri="{FF2B5EF4-FFF2-40B4-BE49-F238E27FC236}">
                <a16:creationId xmlns:a16="http://schemas.microsoft.com/office/drawing/2014/main" id="{B063BBC9-28E7-4543-A22D-F34BBD91DF39}"/>
              </a:ext>
            </a:extLst>
          </p:cNvPr>
          <p:cNvSpPr>
            <a:spLocks noGrp="1"/>
          </p:cNvSpPr>
          <p:nvPr/>
        </p:nvSpPr>
        <p:spPr>
          <a:xfrm>
            <a:off x="1905000" y="2333625"/>
            <a:ext cx="9477375"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7744041E-5BE1-4917-AB80-60DE28645E6A}"/>
              </a:ext>
            </a:extLst>
          </p:cNvPr>
          <p:cNvSpPr>
            <a:spLocks noGrp="1"/>
          </p:cNvSpPr>
          <p:nvPr/>
        </p:nvSpPr>
        <p:spPr>
          <a:xfrm>
            <a:off x="781050" y="2905125"/>
            <a:ext cx="857250" cy="552450"/>
          </a:xfrm>
          <a:prstGeom prst="rect">
            <a:avLst/>
          </a:prstGeom>
          <a:noFill/>
          <a:ln w="0">
            <a:noFill/>
          </a:ln>
        </p:spPr>
        <p:txBody>
          <a:bodyPr anchor="t">
            <a:normAutofit/>
          </a:bodyPr>
          <a:lstStyle/>
          <a:p>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FE853C3F-C124-4539-A207-DDBFF83B7A34}"/>
              </a:ext>
            </a:extLst>
          </p:cNvPr>
          <p:cNvSpPr>
            <a:spLocks noGrp="1"/>
          </p:cNvSpPr>
          <p:nvPr/>
        </p:nvSpPr>
        <p:spPr>
          <a:xfrm>
            <a:off x="1905000" y="2905125"/>
            <a:ext cx="3905250" cy="438150"/>
          </a:xfrm>
          <a:prstGeom prst="rect">
            <a:avLst/>
          </a:prstGeom>
          <a:noFill/>
          <a:ln w="0">
            <a:noFill/>
          </a:ln>
        </p:spPr>
        <p:txBody>
          <a:bodyPr anchor="t">
            <a:normAutofit fontScale="94792" lnSpcReduction="1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a:ext uri="{FF2B5EF4-FFF2-40B4-BE49-F238E27FC236}">
                <a16:creationId xmlns:a16="http://schemas.microsoft.com/office/drawing/2014/main" id="{FC46DB99-40F6-4A65-86C7-09E7DE84F08A}"/>
              </a:ext>
            </a:extLst>
          </p:cNvPr>
          <p:cNvSpPr>
            <a:spLocks noGrp="1"/>
          </p:cNvSpPr>
          <p:nvPr/>
        </p:nvSpPr>
        <p:spPr>
          <a:xfrm>
            <a:off x="5953125" y="2924175"/>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a:ext uri="{FF2B5EF4-FFF2-40B4-BE49-F238E27FC236}">
                <a16:creationId xmlns:a16="http://schemas.microsoft.com/office/drawing/2014/main" id="{06E77A3C-525A-4F41-9208-7530006142A6}"/>
              </a:ext>
            </a:extLst>
          </p:cNvPr>
          <p:cNvSpPr>
            <a:spLocks noGrp="1"/>
          </p:cNvSpPr>
          <p:nvPr/>
        </p:nvSpPr>
        <p:spPr>
          <a:xfrm>
            <a:off x="1905000" y="3714750"/>
            <a:ext cx="9477375"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0733A2E0-4853-430E-B861-8F608C46153F}"/>
              </a:ext>
            </a:extLst>
          </p:cNvPr>
          <p:cNvSpPr>
            <a:spLocks noGrp="1"/>
          </p:cNvSpPr>
          <p:nvPr/>
        </p:nvSpPr>
        <p:spPr>
          <a:xfrm>
            <a:off x="781050" y="4286250"/>
            <a:ext cx="857250" cy="552450"/>
          </a:xfrm>
          <a:prstGeom prst="rect">
            <a:avLst/>
          </a:prstGeom>
          <a:noFill/>
          <a:ln w="0">
            <a:noFill/>
          </a:ln>
        </p:spPr>
        <p:txBody>
          <a:bodyPr anchor="t">
            <a:normAutofit/>
          </a:bodyPr>
          <a:lstStyle/>
          <a:p>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5C6F9620-6253-4E71-BDCC-B3879164F272}"/>
              </a:ext>
            </a:extLst>
          </p:cNvPr>
          <p:cNvSpPr>
            <a:spLocks noGrp="1"/>
          </p:cNvSpPr>
          <p:nvPr/>
        </p:nvSpPr>
        <p:spPr>
          <a:xfrm>
            <a:off x="1905000" y="4286250"/>
            <a:ext cx="3905250" cy="438150"/>
          </a:xfrm>
          <a:prstGeom prst="rect">
            <a:avLst/>
          </a:prstGeom>
          <a:noFill/>
          <a:ln w="0">
            <a:noFill/>
          </a:ln>
        </p:spPr>
        <p:txBody>
          <a:bodyPr anchor="t">
            <a:normAutofit fontScale="70461" lnSpcReduction="20000"/>
          </a:bodyPr>
          <a:lstStyle/>
          <a:p>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a:ext uri="{FF2B5EF4-FFF2-40B4-BE49-F238E27FC236}">
                <a16:creationId xmlns:a16="http://schemas.microsoft.com/office/drawing/2014/main" id="{042175F6-EADD-46D7-BB92-94092EF9F2DD}"/>
              </a:ext>
            </a:extLst>
          </p:cNvPr>
          <p:cNvSpPr>
            <a:spLocks noGrp="1"/>
          </p:cNvSpPr>
          <p:nvPr/>
        </p:nvSpPr>
        <p:spPr>
          <a:xfrm>
            <a:off x="5953125" y="4305300"/>
            <a:ext cx="5429250" cy="6667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a:ext uri="{FF2B5EF4-FFF2-40B4-BE49-F238E27FC236}">
                <a16:creationId xmlns:a16="http://schemas.microsoft.com/office/drawing/2014/main" id="{6DB2593E-1A84-4909-8DB4-F01E41F71A0B}"/>
              </a:ext>
            </a:extLst>
          </p:cNvPr>
          <p:cNvSpPr>
            <a:spLocks noGrp="1"/>
          </p:cNvSpPr>
          <p:nvPr/>
        </p:nvSpPr>
        <p:spPr>
          <a:xfrm>
            <a:off x="1905000" y="5095875"/>
            <a:ext cx="9477375"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91055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sld>
</file>

<file path=ppt/slides/slide37.xml><?xml version="1.0" encoding="utf-8"?>
<p:sld xmlns:p="http://schemas.openxmlformats.org/presentationml/2006/main" show="1">
  <p:cSld>
    <p:spTree>
      <p:nvGrpSpPr>
        <p:cNvPr id="1" name=""/>
        <p:cNvGrpSpPr/>
        <p:nvPr/>
      </p:nvGrpSpPr>
      <p:grpSpPr>
        <a:xfrm xmlns:a="http://schemas.openxmlformats.org/drawingml/2006/main"/>
      </p:grpSpPr>
      <p:sp>
        <p:nvSpPr>
          <p:cNvPr id="1001"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in Grafana</a:t>
            </a:r>
          </a:p>
        </p:txBody>
      </p:sp>
      <p:sp>
        <p:nvSpPr>
          <p:cNvPr id="1002" name="illustration-disclosure">
            <a:extLst xmlns:a="http://schemas.openxmlformats.org/drawingml/2006/main">
              <a:ext uri="{FF2B5EF4-FFF2-40B4-BE49-F238E27FC236}">
                <a16:creationId xmlns:a16="http://schemas.microsoft.com/office/drawing/2014/main" id="{4DBD7C2B-6A97-4931-96F1-3C7B76ABAD30}"/>
              </a:ext>
            </a:extLst>
          </p:cNvPr>
          <p:cNvSpPr>
            <a:spLocks xmlns:a="http://schemas.openxmlformats.org/drawingml/2006/main" noGrp="1"/>
          </p:cNvSpPr>
          <p:nvPr/>
        </p:nvSpPr>
        <p:spPr>
          <a:xfrm xmlns:a="http://schemas.openxmlformats.org/drawingml/2006/main">
            <a:off x="619125" y="10287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xmlns:a="http://schemas.openxmlformats.org/drawingml/2006/main">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Illustration: the policy label is added to the recorded graph.</a:t>
            </a:r>
          </a:p>
        </p:txBody>
      </p:sp>
      <p:pic>
        <p:nvPicPr>
          <p:cNvPr id="1003" name="">
            <a:extLst xmlns:a="http://schemas.openxmlformats.org/drawingml/2006/main">
              <a:ext uri="{FF2B5EF4-FFF2-40B4-BE49-F238E27FC236}">
                <a16:creationId xmlns:a16="http://schemas.microsoft.com/office/drawing/2014/main" id="{CE3E5B51-7552-498D-BF66-F50313AF337A}"/>
              </a:ext>
            </a:extLst>
          </p:cNvPr>
          <p:cNvPicPr>
            <a:picLocks xmlns:a="http://schemas.openxmlformats.org/drawingml/2006/main" noChangeAspect="1"/>
          </p:cNvPicPr>
          <p:nvPr/>
        </p:nvPicPr>
        <p:blipFill>
          <a:blip xmlns:r="http://schemas.openxmlformats.org/officeDocument/2006/relationships" xmlns:a="http://schemas.openxmlformats.org/drawingml/2006/main" r:embed="rIdIllustrativeGraph"/>
          <a:srcRect xmlns:a="http://schemas.openxmlformats.org/drawingml/2006/main" l="50278" t="59259" r="1111" b="8765"/>
          <a:stretch xmlns:a="http://schemas.openxmlformats.org/drawingml/2006/main"/>
        </p:blipFill>
        <p:spPr>
          <a:xfrm xmlns:a="http://schemas.openxmlformats.org/drawingml/2006/main">
            <a:off x="1524000" y="1714500"/>
            <a:ext cx="9144000" cy="3383280"/>
          </a:xfrm>
          <a:prstGeom xmlns:a="http://schemas.openxmlformats.org/drawingml/2006/main" prst="rect">
            <a:avLst/>
          </a:prstGeom>
        </p:spPr>
      </p:pic>
      <p:sp>
        <p:nvSpPr>
          <p:cNvPr id="1004" name="illustrative-grafana-legend">
            <a:extLst xmlns:a="http://schemas.openxmlformats.org/drawingml/2006/main">
              <a:ext uri="{FF2B5EF4-FFF2-40B4-BE49-F238E27FC236}">
                <a16:creationId xmlns:a16="http://schemas.microsoft.com/office/drawing/2014/main" id="{E1068049-1661-4155-82C6-31AFE1FEF8EE}"/>
              </a:ext>
            </a:extLst>
          </p:cNvPr>
          <p:cNvSpPr>
            <a:spLocks xmlns:a="http://schemas.openxmlformats.org/drawingml/2006/main" noGrp="1"/>
          </p:cNvSpPr>
          <p:nvPr/>
        </p:nvSpPr>
        <p:spPr>
          <a:xfrm xmlns:a="http://schemas.openxmlformats.org/drawingml/2006/main">
            <a:off x="1524000" y="5097780"/>
            <a:ext cx="9144000" cy="533400"/>
          </a:xfrm>
          <a:prstGeom xmlns:a="http://schemas.openxmlformats.org/drawingml/2006/main" prst="rect">
            <a:avLst/>
          </a:prstGeom>
          <a:solidFill xmlns:a="http://schemas.openxmlformats.org/drawingml/2006/main">
            <a:srgbClr val="0B0F14"/>
          </a:solidFill>
          <a:ln xmlns:a="http://schemas.openxmlformats.org/drawingml/2006/main" w="0">
            <a:noFill/>
          </a:ln>
        </p:spPr>
      </p:sp>
      <p:sp>
        <p:nvSpPr>
          <p:cNvPr id="1005" name="policy-series-swatch">
            <a:extLst xmlns:a="http://schemas.openxmlformats.org/drawingml/2006/main">
              <a:ext uri="{FF2B5EF4-FFF2-40B4-BE49-F238E27FC236}">
                <a16:creationId xmlns:a16="http://schemas.microsoft.com/office/drawing/2014/main" id="{42D6D46B-8423-4681-BBB7-EEF29E458E4F}"/>
              </a:ext>
            </a:extLst>
          </p:cNvPr>
          <p:cNvSpPr>
            <a:spLocks xmlns:a="http://schemas.openxmlformats.org/drawingml/2006/main" noGrp="1"/>
          </p:cNvSpPr>
          <p:nvPr/>
        </p:nvSpPr>
        <p:spPr>
          <a:xfrm xmlns:a="http://schemas.openxmlformats.org/drawingml/2006/main">
            <a:off x="1752600" y="5353050"/>
            <a:ext cx="266700" cy="38100"/>
          </a:xfrm>
          <a:prstGeom xmlns:a="http://schemas.openxmlformats.org/drawingml/2006/main" prst="rect">
            <a:avLst/>
          </a:prstGeom>
          <a:solidFill xmlns:a="http://schemas.openxmlformats.org/drawingml/2006/main">
            <a:srgbClr val="FFE000"/>
          </a:solidFill>
          <a:ln xmlns:a="http://schemas.openxmlformats.org/drawingml/2006/main" w="0">
            <a:noFill/>
          </a:ln>
        </p:spPr>
      </p:sp>
      <p:sp>
        <p:nvSpPr>
          <p:cNvPr id="1006" name="policy-series-label">
            <a:extLst xmlns:a="http://schemas.openxmlformats.org/drawingml/2006/main">
              <a:ext uri="{FF2B5EF4-FFF2-40B4-BE49-F238E27FC236}">
                <a16:creationId xmlns:a16="http://schemas.microsoft.com/office/drawing/2014/main" id="{6A90A6F5-FA47-4D44-9593-8E72AC3D0E3F}"/>
              </a:ext>
            </a:extLst>
          </p:cNvPr>
          <p:cNvSpPr>
            <a:spLocks xmlns:a="http://schemas.openxmlformats.org/drawingml/2006/main" noGrp="1"/>
          </p:cNvSpPr>
          <p:nvPr/>
        </p:nvSpPr>
        <p:spPr>
          <a:xfrm xmlns:a="http://schemas.openxmlformats.org/drawingml/2006/main">
            <a:off x="2133600" y="51720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0">
                <a:solidFill>
                  <a:srgbClr val="D8D9DF"/>
                </a:solidFill>
                <a:latin typeface="CiscoSansTT"/>
                <a:ea typeface="CiscoSansTT"/>
                <a:cs typeface="CiscoSansTT"/>
              </a:defRPr>
            </a:defPPr>
            <a:lvl1pPr algn="l">
              <a:defRPr sz="1800" b="0">
                <a:solidFill>
                  <a:srgbClr val="D8D9DF"/>
                </a:solidFill>
                <a:latin typeface="CiscoSansTT"/>
                <a:ea typeface="CiscoSansTT"/>
                <a:cs typeface="CiscoSansTT"/>
              </a:defRPr>
            </a:lvl1pPr>
            <a:lvl2pPr algn="l">
              <a:defRPr sz="1800" b="0">
                <a:solidFill>
                  <a:srgbClr val="D8D9DF"/>
                </a:solidFill>
                <a:latin typeface="CiscoSansTT"/>
                <a:ea typeface="CiscoSansTT"/>
                <a:cs typeface="CiscoSansTT"/>
              </a:defRPr>
            </a:lvl2pPr>
            <a:lvl3pPr algn="l">
              <a:defRPr sz="1800" b="0">
                <a:solidFill>
                  <a:srgbClr val="D8D9DF"/>
                </a:solidFill>
                <a:latin typeface="CiscoSansTT"/>
                <a:ea typeface="CiscoSansTT"/>
                <a:cs typeface="CiscoSansTT"/>
              </a:defRPr>
            </a:lvl3pPr>
            <a:lvl4pPr algn="l">
              <a:defRPr sz="1800" b="0">
                <a:solidFill>
                  <a:srgbClr val="D8D9DF"/>
                </a:solidFill>
                <a:latin typeface="CiscoSansTT"/>
                <a:ea typeface="CiscoSansTT"/>
                <a:cs typeface="CiscoSansTT"/>
              </a:defRPr>
            </a:lvl4pPr>
            <a:lvl5pPr algn="l">
              <a:defRPr sz="1800" b="0">
                <a:solidFill>
                  <a:srgbClr val="D8D9DF"/>
                </a:solidFill>
                <a:latin typeface="CiscoSansTT"/>
                <a:ea typeface="CiscoSansTT"/>
                <a:cs typeface="CiscoSansTT"/>
              </a:defRPr>
            </a:lvl5pPr>
            <a:lvl6pPr algn="l">
              <a:defRPr sz="1800" b="0">
                <a:solidFill>
                  <a:srgbClr val="D8D9DF"/>
                </a:solidFill>
                <a:latin typeface="CiscoSansTT"/>
                <a:ea typeface="CiscoSansTT"/>
                <a:cs typeface="CiscoSansTT"/>
              </a:defRPr>
            </a:lvl6pPr>
            <a:lvl7pPr algn="l">
              <a:defRPr sz="1800" b="0">
                <a:solidFill>
                  <a:srgbClr val="D8D9DF"/>
                </a:solidFill>
                <a:latin typeface="CiscoSansTT"/>
                <a:ea typeface="CiscoSansTT"/>
                <a:cs typeface="CiscoSansTT"/>
              </a:defRPr>
            </a:lvl7pPr>
            <a:lvl8pPr algn="l">
              <a:defRPr sz="1800" b="0">
                <a:solidFill>
                  <a:srgbClr val="D8D9DF"/>
                </a:solidFill>
                <a:latin typeface="CiscoSansTT"/>
                <a:ea typeface="CiscoSansTT"/>
                <a:cs typeface="CiscoSansTT"/>
              </a:defRPr>
            </a:lvl8pPr>
            <a:lvl9pPr algn="l">
              <a:defRPr sz="1800" b="0">
                <a:solidFill>
                  <a:srgbClr val="D8D9DF"/>
                </a:solidFill>
                <a:latin typeface="CiscoSansTT"/>
                <a:ea typeface="CiscoSansTT"/>
                <a:cs typeface="CiscoSansTT"/>
              </a:defRPr>
            </a:lvl9pPr>
          </a:lstStyle>
          <a:p xmlns:a="http://schemas.openxmlformats.org/drawingml/2006/main">
            <a:pPr algn="l">
              <a:defRPr sz="1800" b="0">
                <a:solidFill>
                  <a:srgbClr val="D8D9DF"/>
                </a:solidFill>
                <a:latin typeface="CiscoSansTT"/>
                <a:ea typeface="CiscoSansTT"/>
                <a:cs typeface="CiscoSansTT"/>
              </a:defRPr>
            </a:pPr>
            <a:r>
              <a:rPr sz="1800" b="0">
                <a:solidFill>
                  <a:srgbClr val="D8D9DF"/>
                </a:solidFill>
                <a:latin typeface="CiscoSansTT"/>
                <a:ea typeface="CiscoSansTT"/>
                <a:cs typeface="CiscoSansTT"/>
              </a:rPr>
              <a:t>Policy denied / DROPPED</a:t>
            </a:r>
          </a:p>
        </p:txBody>
      </p:sp>
      <p:sp>
        <p:nvSpPr>
          <p:cNvPr id="1007" name="legend-disclosure">
            <a:extLst xmlns:a="http://schemas.openxmlformats.org/drawingml/2006/main">
              <a:ext uri="{FF2B5EF4-FFF2-40B4-BE49-F238E27FC236}">
                <a16:creationId xmlns:a16="http://schemas.microsoft.com/office/drawing/2014/main" id="{4CFE220E-C0C3-4C0E-9A01-10CC868A2F73}"/>
              </a:ext>
            </a:extLst>
          </p:cNvPr>
          <p:cNvSpPr>
            <a:spLocks xmlns:a="http://schemas.openxmlformats.org/drawingml/2006/main" noGrp="1"/>
          </p:cNvSpPr>
          <p:nvPr/>
        </p:nvSpPr>
        <p:spPr>
          <a:xfrm xmlns:a="http://schemas.openxmlformats.org/drawingml/2006/main">
            <a:off x="8048625" y="5210175"/>
            <a:ext cx="238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0">
                <a:solidFill>
                  <a:srgbClr val="ADB4BF"/>
                </a:solidFill>
                <a:latin typeface="CiscoSansTT"/>
                <a:ea typeface="CiscoSansTT"/>
                <a:cs typeface="CiscoSansTT"/>
              </a:defRPr>
            </a:defPPr>
            <a:lvl1pPr algn="r">
              <a:defRPr sz="1350" b="0">
                <a:solidFill>
                  <a:srgbClr val="ADB4BF"/>
                </a:solidFill>
                <a:latin typeface="CiscoSansTT"/>
                <a:ea typeface="CiscoSansTT"/>
                <a:cs typeface="CiscoSansTT"/>
              </a:defRPr>
            </a:lvl1pPr>
            <a:lvl2pPr algn="r">
              <a:defRPr sz="1350" b="0">
                <a:solidFill>
                  <a:srgbClr val="ADB4BF"/>
                </a:solidFill>
                <a:latin typeface="CiscoSansTT"/>
                <a:ea typeface="CiscoSansTT"/>
                <a:cs typeface="CiscoSansTT"/>
              </a:defRPr>
            </a:lvl2pPr>
            <a:lvl3pPr algn="r">
              <a:defRPr sz="1350" b="0">
                <a:solidFill>
                  <a:srgbClr val="ADB4BF"/>
                </a:solidFill>
                <a:latin typeface="CiscoSansTT"/>
                <a:ea typeface="CiscoSansTT"/>
                <a:cs typeface="CiscoSansTT"/>
              </a:defRPr>
            </a:lvl3pPr>
            <a:lvl4pPr algn="r">
              <a:defRPr sz="1350" b="0">
                <a:solidFill>
                  <a:srgbClr val="ADB4BF"/>
                </a:solidFill>
                <a:latin typeface="CiscoSansTT"/>
                <a:ea typeface="CiscoSansTT"/>
                <a:cs typeface="CiscoSansTT"/>
              </a:defRPr>
            </a:lvl4pPr>
            <a:lvl5pPr algn="r">
              <a:defRPr sz="1350" b="0">
                <a:solidFill>
                  <a:srgbClr val="ADB4BF"/>
                </a:solidFill>
                <a:latin typeface="CiscoSansTT"/>
                <a:ea typeface="CiscoSansTT"/>
                <a:cs typeface="CiscoSansTT"/>
              </a:defRPr>
            </a:lvl5pPr>
            <a:lvl6pPr algn="r">
              <a:defRPr sz="1350" b="0">
                <a:solidFill>
                  <a:srgbClr val="ADB4BF"/>
                </a:solidFill>
                <a:latin typeface="CiscoSansTT"/>
                <a:ea typeface="CiscoSansTT"/>
                <a:cs typeface="CiscoSansTT"/>
              </a:defRPr>
            </a:lvl6pPr>
            <a:lvl7pPr algn="r">
              <a:defRPr sz="1350" b="0">
                <a:solidFill>
                  <a:srgbClr val="ADB4BF"/>
                </a:solidFill>
                <a:latin typeface="CiscoSansTT"/>
                <a:ea typeface="CiscoSansTT"/>
                <a:cs typeface="CiscoSansTT"/>
              </a:defRPr>
            </a:lvl7pPr>
            <a:lvl8pPr algn="r">
              <a:defRPr sz="1350" b="0">
                <a:solidFill>
                  <a:srgbClr val="ADB4BF"/>
                </a:solidFill>
                <a:latin typeface="CiscoSansTT"/>
                <a:ea typeface="CiscoSansTT"/>
                <a:cs typeface="CiscoSansTT"/>
              </a:defRPr>
            </a:lvl8pPr>
            <a:lvl9pPr algn="r">
              <a:defRPr sz="1350" b="0">
                <a:solidFill>
                  <a:srgbClr val="ADB4BF"/>
                </a:solidFill>
                <a:latin typeface="CiscoSansTT"/>
                <a:ea typeface="CiscoSansTT"/>
                <a:cs typeface="CiscoSansTT"/>
              </a:defRPr>
            </a:lvl9pPr>
          </a:lstStyle>
          <a:p xmlns:a="http://schemas.openxmlformats.org/drawingml/2006/main">
            <a:pPr algn="r">
              <a:defRPr sz="1350" b="0">
                <a:solidFill>
                  <a:srgbClr val="ADB4BF"/>
                </a:solidFill>
                <a:latin typeface="CiscoSansTT"/>
                <a:ea typeface="CiscoSansTT"/>
                <a:cs typeface="CiscoSansTT"/>
              </a:defRPr>
            </a:pPr>
            <a:r>
              <a:rPr sz="1350" b="0">
                <a:solidFill>
                  <a:srgbClr val="ADB4BF"/>
                </a:solidFill>
                <a:latin typeface="CiscoSansTT"/>
                <a:ea typeface="CiscoSansTT"/>
                <a:cs typeface="CiscoSansTT"/>
              </a:rPr>
              <a:t>Illustrative label</a:t>
            </a:r>
          </a:p>
        </p:txBody>
      </p:sp>
      <p:sp>
        <p:nvSpPr>
          <p:cNvPr id="1008" name="confirmed-hubble-context">
            <a:extLst xmlns:a="http://schemas.openxmlformats.org/drawingml/2006/main">
              <a:ext uri="{FF2B5EF4-FFF2-40B4-BE49-F238E27FC236}">
                <a16:creationId xmlns:a16="http://schemas.microsoft.com/office/drawing/2014/main" id="{A4C65709-3FB8-4363-BA31-4CE4D7B9FE9A}"/>
              </a:ext>
            </a:extLst>
          </p:cNvPr>
          <p:cNvSpPr>
            <a:spLocks xmlns:a="http://schemas.openxmlformats.org/drawingml/2006/main" noGrp="1"/>
          </p:cNvSpPr>
          <p:nvPr/>
        </p:nvSpPr>
        <p:spPr>
          <a:xfrm xmlns:a="http://schemas.openxmlformats.org/drawingml/2006/main">
            <a:off x="666750" y="58197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650" b="1">
                <a:solidFill>
                  <a:srgbClr val="07182A"/>
                </a:solidFill>
                <a:latin typeface="CiscoSansTT Medium"/>
                <a:ea typeface="CiscoSansTT Medium"/>
                <a:cs typeface="CiscoSansTT Medium"/>
              </a:defRPr>
            </a:defPPr>
            <a:lvl1pPr algn="ctr">
              <a:defRPr sz="1650" b="1">
                <a:solidFill>
                  <a:srgbClr val="07182A"/>
                </a:solidFill>
                <a:latin typeface="CiscoSansTT Medium"/>
                <a:ea typeface="CiscoSansTT Medium"/>
                <a:cs typeface="CiscoSansTT Medium"/>
              </a:defRPr>
            </a:lvl1pPr>
            <a:lvl2pPr algn="ctr">
              <a:defRPr sz="1650" b="1">
                <a:solidFill>
                  <a:srgbClr val="07182A"/>
                </a:solidFill>
                <a:latin typeface="CiscoSansTT Medium"/>
                <a:ea typeface="CiscoSansTT Medium"/>
                <a:cs typeface="CiscoSansTT Medium"/>
              </a:defRPr>
            </a:lvl2pPr>
            <a:lvl3pPr algn="ctr">
              <a:defRPr sz="1650" b="1">
                <a:solidFill>
                  <a:srgbClr val="07182A"/>
                </a:solidFill>
                <a:latin typeface="CiscoSansTT Medium"/>
                <a:ea typeface="CiscoSansTT Medium"/>
                <a:cs typeface="CiscoSansTT Medium"/>
              </a:defRPr>
            </a:lvl3pPr>
            <a:lvl4pPr algn="ctr">
              <a:defRPr sz="1650" b="1">
                <a:solidFill>
                  <a:srgbClr val="07182A"/>
                </a:solidFill>
                <a:latin typeface="CiscoSansTT Medium"/>
                <a:ea typeface="CiscoSansTT Medium"/>
                <a:cs typeface="CiscoSansTT Medium"/>
              </a:defRPr>
            </a:lvl4pPr>
            <a:lvl5pPr algn="ctr">
              <a:defRPr sz="1650" b="1">
                <a:solidFill>
                  <a:srgbClr val="07182A"/>
                </a:solidFill>
                <a:latin typeface="CiscoSansTT Medium"/>
                <a:ea typeface="CiscoSansTT Medium"/>
                <a:cs typeface="CiscoSansTT Medium"/>
              </a:defRPr>
            </a:lvl5pPr>
            <a:lvl6pPr algn="ctr">
              <a:defRPr sz="1650" b="1">
                <a:solidFill>
                  <a:srgbClr val="07182A"/>
                </a:solidFill>
                <a:latin typeface="CiscoSansTT Medium"/>
                <a:ea typeface="CiscoSansTT Medium"/>
                <a:cs typeface="CiscoSansTT Medium"/>
              </a:defRPr>
            </a:lvl6pPr>
            <a:lvl7pPr algn="ctr">
              <a:defRPr sz="1650" b="1">
                <a:solidFill>
                  <a:srgbClr val="07182A"/>
                </a:solidFill>
                <a:latin typeface="CiscoSansTT Medium"/>
                <a:ea typeface="CiscoSansTT Medium"/>
                <a:cs typeface="CiscoSansTT Medium"/>
              </a:defRPr>
            </a:lvl7pPr>
            <a:lvl8pPr algn="ctr">
              <a:defRPr sz="1650" b="1">
                <a:solidFill>
                  <a:srgbClr val="07182A"/>
                </a:solidFill>
                <a:latin typeface="CiscoSansTT Medium"/>
                <a:ea typeface="CiscoSansTT Medium"/>
                <a:cs typeface="CiscoSansTT Medium"/>
              </a:defRPr>
            </a:lvl8pPr>
            <a:lvl9pPr algn="ctr">
              <a:defRPr sz="1650" b="1">
                <a:solidFill>
                  <a:srgbClr val="07182A"/>
                </a:solidFill>
                <a:latin typeface="CiscoSansTT Medium"/>
                <a:ea typeface="CiscoSansTT Medium"/>
                <a:cs typeface="CiscoSansTT Medium"/>
              </a:defRPr>
            </a:lvl9pPr>
          </a:lstStyle>
          <a:p xmlns:a="http://schemas.openxmlformats.org/drawingml/2006/main">
            <a:pPr algn="ctr">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Hubble confirms the denied connection: edge-nginx to recommendations-v1:8081.</a:t>
            </a:r>
          </a:p>
        </p:txBody>
      </p:sp>
    </p:spTree>
    <p:extLst>
      <p:ext uri="{BB962C8B-B14F-4D97-AF65-F5344CB8AC3E}">
        <p14:creationId xmlns:p14="http://schemas.microsoft.com/office/powerpoint/2010/main" val="1923459705"/>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30</TotalTime>
  <Words>6730</Words>
  <Application>Microsoft Macintosh PowerPoint</Application>
  <DocSecurity>0</DocSecurity>
  <PresentationFormat>Widescreen</PresentationFormat>
  <Paragraphs>640</Paragraphs>
  <Slides>37</Slides>
  <Notes>36</Notes>
  <HiddenSlides>1</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2</cp:revision>
  <dcterms:created xsi:type="dcterms:W3CDTF">2026-09-27T17:17:35Z</dcterms:created>
  <dcterms:modified xsi:type="dcterms:W3CDTF">2026-10-29T07:49:02Z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