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9144000"/>
  <p:embeddedFontLst>
    <p:embeddedFont>
      <p:font typeface="CiscoSansTT" panose="020B0503020201020303" pitchFamily="34" charset="0"/>
      <p:regular r:id="rId39"/>
      <p:bold r:id="rId40"/>
      <p:italic r:id="rId41"/>
      <p:boldItalic r:id="rId42"/>
    </p:embeddedFont>
    <p:embeddedFont>
      <p:font typeface="CiscoSansTT Medium" panose="020B0903020201090303" pitchFamily="34" charset="0"/>
      <p:regular r:id="rId43"/>
      <p:italic r:id="rId44"/>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857"/>
    <p:restoredTop sz="79213"/>
  </p:normalViewPr>
  <p:slideViewPr>
    <p:cSldViewPr snapToGrid="0">
      <p:cViewPr varScale="1">
        <p:scale>
          <a:sx n="178" d="100"/>
          <a:sy n="178" d="100"/>
        </p:scale>
        <p:origin x="280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dk1" tx1="lt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1 minute</a:t>
            </a:r>
          </a:p>
          <a:p>
            <a:endParaRPr dirty="0"/>
          </a:p>
          <a:p>
            <a:r>
              <a:rPr dirty="0"/>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a:endParaRPr/>
          </a:p>
          <a:p>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a:endParaRPr/>
          </a:p>
          <a:p>
            <a:r>
              <a:t>Transition: now compare these application signals with the networking and policy evidence from Cilium and Hubble.</a:t>
            </a:r>
          </a:p>
          <a:p>
            <a:endParaRPr/>
          </a:p>
          <a:p>
            <a:r>
              <a:t>Sources:</a:t>
            </a:r>
          </a:p>
          <a:p>
            <a:r>
              <a:t>- https://opentelemetry.io/docs/zero-code/obi/</a:t>
            </a:r>
          </a:p>
          <a:p>
            <a:r>
              <a:t>- https://opentelemetry.io/docs/zero-code/obi/getting-started/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a:endParaRPr/>
          </a:p>
          <a:p>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a:endParaRPr/>
          </a:p>
          <a:p>
            <a:r>
              <a:t>Transition: both products use eBPF, so the next section examines what happens when they attach on the same node.</a:t>
            </a:r>
          </a:p>
          <a:p>
            <a:endParaRPr/>
          </a:p>
          <a:p>
            <a:r>
              <a:t>Sources:</a:t>
            </a:r>
          </a:p>
          <a:p>
            <a:r>
              <a:t>- https://opentelemetry.io/docs/zero-code/obi/</a:t>
            </a:r>
          </a:p>
          <a:p>
            <a:r>
              <a:t>- https://docs.cilium.io/en/stable/overview/intro/</a:t>
            </a:r>
          </a:p>
          <a:p>
            <a:r>
              <a:t>- https://docs.cilium.io/en/stable/observability/hubble/</a:t>
            </a:r>
          </a:p>
          <a:p>
            <a:r>
              <a:t>- https://docs.cilium.io/en/stable/observability/visibility/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The coexistence problem.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Ask the audience: What changes when both eBPF agents share a Kubernetes node? Cilium already handles networking and network policy. OBI adds zero-code application telemetry. Both may be healthy DaemonSets while their attachments change packet processing order or leave gaps in the evidence.</a:t>
            </a:r>
          </a:p>
          <a:p>
            <a:endParaRPr/>
          </a:p>
          <a:p>
            <a:r>
              <a:t>Walk through the three checks on the slide. First, confirm packets still take the intended path. Second, verify that OBI produces application traces and metrics while Hubble reports the corresponding flows and policy verdicts. Third, measure incremental CPU, memory, and telemetry volume. The point is to verify coexistence, not merely that both agents started. Transition: let us look at the hooks they share.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1 minute</a:t>
            </a:r>
          </a:p>
          <a:p>
            <a:endParaRPr/>
          </a:p>
          <a:p>
            <a:r>
              <a:t>Give the audience a map before naming kernel program types. An eBPF program is a small program that Linux runs at a particular checkpoint, often called a hook. We only need one shared checkpoint for this talk.</a:t>
            </a:r>
          </a:p>
          <a:p>
            <a:endParaRPr/>
          </a:p>
          <a:p>
            <a:r>
              <a:t>Walk down the four rows. OBI observes supported application requests and creates OpenTelemetry spans. A veth pair is a virtual link between the pod network namespace and the node. Cilium handles pod networking and policy in the kernel path. Traffic control, abbreviated TC, is a kernel attachment point on that network path. When OBI uses TCP trace-context propagation, OBI and Cilium can both attach TC programs on the host-side veth.</a:t>
            </a:r>
          </a:p>
          <a:p>
            <a:endParaRPr/>
          </a:p>
          <a:p>
            <a:r>
              <a:t>The fourth row is a checkpoint within kernel networking, not a separate network layer. Do not explain uprobes, kprobes, XDP, cgroup hooks, or BPF_PROG_TYPE_SCHED_CLS here. The next slide zooms into the host-side TC hooks and defines ingress and egress. Then we examine attachment order.</a:t>
            </a:r>
          </a:p>
          <a:p>
            <a:endParaRPr/>
          </a:p>
          <a:p>
            <a:r>
              <a:t>Sources:</a:t>
            </a:r>
          </a:p>
          <a:p>
            <a:r>
              <a:t>- https://opentelemetry.io/docs/zero-code/obi/</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Start with the packet path from the application process to the host-side veth and network. A veth pair is the virtual link between pod and node. Focus on the dark panel: the host-side interface has TC ingress and TC egress hooks. Ingress means a packet arrives at that interface; egress means it leaves.</a:t>
            </a:r>
          </a:p>
          <a:p>
            <a:endParaRPr/>
          </a:p>
          <a:p>
            <a:r>
              <a:t>With OBI TCP context propagation enabled, OBI can attach a traffic-control classifier program to those hooks to carry trace context. Cilium also uses traffic-control classifier programs for the datapath. The exact kernel program type is BPF_PROG_TYPE_SCHED_CLS, but keep that name in the notes unless someone asks. The important idea is that both programs can share an ordered chain at the same hook. Neither agent owns TC exclusively.</a:t>
            </a:r>
          </a:p>
          <a:p>
            <a:endParaRPr/>
          </a:p>
          <a:p>
            <a:r>
              <a:t>This overlap is conditional. OBI application telemetry can exist without its TCP propagation programs. Header-only propagation avoids the shared TCP TC attachment, but it does not provide the same TCP-based zero-code trace continuity. Do not imply that every OBI deployment attaches here.</a:t>
            </a:r>
          </a:p>
          <a:p>
            <a:endParaRPr/>
          </a:p>
          <a:p>
            <a:r>
              <a:t>Transition: the next slide shows why program order matters, followed by TCX and Netlink fallback.</a:t>
            </a:r>
          </a:p>
          <a:p>
            <a:endParaRPr/>
          </a:p>
          <a:p>
            <a:r>
              <a:t>Sources:</a:t>
            </a:r>
          </a:p>
          <a:p>
            <a:r>
              <a:t>- https://opentelemetry.io/docs/zero-code/obi/cilium-compatibility/</a:t>
            </a:r>
          </a:p>
          <a:p>
            <a:r>
              <a:t>- https://opentelemetry.io/docs/zero-code/obi/configure/metrics-traces-attributes/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A classifier can change packet state or return a terminal result. This is why order affects visibility and trace continuity, not only overhead.</a:t>
            </a:r>
          </a:p>
          <a:p>
            <a:endParaRPr/>
          </a:p>
          <a:p>
            <a:r>
              <a:t>Sources:</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Attachment order.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TCX is a newer kernel mechanism for attaching eBPF programs to a network interface. It keeps several programs in an ordered list. In our two-agent setup, OBI asks to run at the beginning and Cilium asks to run at the end. OBI therefore gets a chance to observe a packet before Cilium routes, redirects, or drops it.</a:t>
            </a:r>
          </a:p>
          <a:p>
            <a:endParaRPr/>
          </a:p>
          <a:p>
            <a:r>
              <a:t>First bullet: both programs can share the same hook, and TCX manages their relative order. You do not need to coordinate the older TC filter priority numbers for this TCX path.</a:t>
            </a:r>
          </a:p>
          <a:p>
            <a:endParaRPr/>
          </a:p>
          <a:p>
            <a:r>
              <a:t>Second bullet: check what the agents actually use. A kernel version is only a clue, because distributions can backport kernel features. Check startup logs and the actual attachments on the running node.</a:t>
            </a:r>
          </a:p>
          <a:p>
            <a:endParaRPr/>
          </a:p>
          <a:p>
            <a:r>
              <a:t>Third bullet: correct ordering is a starting point. Send a known request, confirm its result, and check the expected OBI span and Hubble flow. A program can still change a packet or end processing of the list, so attachment support alone does not prove every workload works.</a:t>
            </a:r>
          </a:p>
          <a:p>
            <a:endParaRPr/>
          </a:p>
          <a:p>
            <a:r>
              <a:t>Technical detail for questions: the pinned OBI requests link.Head(); the pinned Cilium requests link.Tail().</a:t>
            </a:r>
          </a:p>
          <a:p>
            <a:endParaRPr/>
          </a:p>
          <a:p>
            <a:r>
              <a:t>Sources:</a:t>
            </a:r>
          </a:p>
          <a:p>
            <a:r>
              <a:t>- https://opentelemetry.io/docs/zero-code/obi/cilium-compatibility/</a:t>
            </a:r>
          </a:p>
          <a:p>
            <a:r>
              <a:t>- https://github.com/open-telemetry/opentelemetry-ebpf-instrumentation/blob/v0.13.0/pkg/internal/ebpf/tcmanager/tcxmanager.go</a:t>
            </a:r>
          </a:p>
          <a:p>
            <a:r>
              <a:t>- https://github.com/cilium/cilium/blob/v1.20.2/pkg/datapath/loader/tcx.go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a:endParaRPr/>
          </a:p>
          <a:p>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a:endParaRPr/>
          </a:p>
          <a:p>
            <a:r>
              <a:t>Always pin versions, render configuration, and inspect the live attachment order on a Linux node. This experiment does not measure packet overhead or prove every application path.</a:t>
            </a:r>
          </a:p>
          <a:p>
            <a:endParaRPr/>
          </a:p>
          <a:p>
            <a:r>
              <a:t>Sources:</a:t>
            </a:r>
          </a:p>
          <a:p>
            <a:r>
              <a:t>- https://opentelemetry.io/docs/zero-code/obi/cilium-compatibility/</a:t>
            </a:r>
          </a:p>
          <a:p>
            <a:r>
              <a:t>- https://github.com/open-telemetry/opentelemetry-ebpf-instrumentation/blob/v0.13.0/pkg/obi/config.go</a:t>
            </a:r>
          </a:p>
          <a:p>
            <a:r>
              <a:t>- https://github.com/open-telemetry/opentelemetry-ebpf-instrumentation/blob/v0.13.0/pkg/ebpf/tcmanager/cilium_support.go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2 minutes. Play the video.</a:t>
            </a:r>
          </a:p>
          <a:p>
            <a:endParaRPr dirty="0"/>
          </a:p>
          <a:p>
            <a:r>
              <a:rPr dirty="0"/>
              <a:t>This compares two separate test clusters. Both use Cilium 1.20.2 and OBI v0.13.0. TCX is off, so the older TC mechanism uses priority numbers. A lower number runs earlier.</a:t>
            </a:r>
          </a:p>
          <a:p>
            <a:endParaRPr dirty="0"/>
          </a:p>
          <a:p>
            <a:r>
              <a:rPr dirty="0"/>
              <a:t>LEFT: Cilium uses priority 1. OBI detects that conflict and stops itself. That is why OBI shows 0/1 ready. The nginx request still returns HTTP 200: the application network continues to work while OBI is unavailable.</a:t>
            </a:r>
          </a:p>
          <a:p>
            <a:endParaRPr dirty="0"/>
          </a:p>
          <a:p>
            <a:r>
              <a:rPr dirty="0"/>
              <a:t>RIGHT: a fresh cluster uses Cilium priority 2. OBI can install its filter at priority 1, ahead of Cilium. OBI shows 1/1 ready and prints an HTTP span. The nginx request also returns HTTP 200.</a:t>
            </a:r>
          </a:p>
          <a:p>
            <a:endParaRPr dirty="0"/>
          </a:p>
          <a:p>
            <a:r>
              <a:rPr dirty="0"/>
              <a:t>What this teaches: check application health AND observability health. A successful request does not tell us that OBI is running or producing data.</a:t>
            </a:r>
          </a:p>
          <a:p>
            <a:endParaRPr dirty="0"/>
          </a:p>
          <a:p>
            <a:r>
              <a:rPr dirty="0"/>
              <a:t>Scope: this recording enables OBI's optional </a:t>
            </a:r>
            <a:r>
              <a:rPr dirty="0" err="1"/>
              <a:t>network.source</a:t>
            </a:r>
            <a:r>
              <a:rPr dirty="0"/>
              <a:t>: </a:t>
            </a:r>
            <a:r>
              <a:rPr dirty="0" err="1"/>
              <a:t>tc</a:t>
            </a:r>
            <a:r>
              <a:rPr dirty="0"/>
              <a:t> mode. Our application-only OBI configuration did not trigger this startup guard. The two sides are saved outputs from separate runs, replayed for the talk.</a:t>
            </a:r>
          </a:p>
          <a:p>
            <a:endParaRPr dirty="0"/>
          </a:p>
          <a:p>
            <a:r>
              <a:rPr dirty="0"/>
              <a:t>Sources:</a:t>
            </a:r>
          </a:p>
          <a:p>
            <a:r>
              <a:rPr dirty="0"/>
              <a:t>- https://</a:t>
            </a:r>
            <a:r>
              <a:rPr dirty="0" err="1"/>
              <a:t>github.com</a:t>
            </a:r>
            <a:r>
              <a:rPr dirty="0"/>
              <a:t>/ajimenez1503/cilium-obi-demo/blob/main/demo/legacy-priority-</a:t>
            </a:r>
            <a:r>
              <a:rPr dirty="0" err="1"/>
              <a:t>recording.md</a:t>
            </a:r>
            <a:endParaRPr dirty="0"/>
          </a:p>
          <a:p>
            <a:r>
              <a:rPr dirty="0"/>
              <a:t>- https://</a:t>
            </a:r>
            <a:r>
              <a:rPr dirty="0" err="1"/>
              <a:t>github.com</a:t>
            </a:r>
            <a:r>
              <a:rPr dirty="0"/>
              <a:t>/ajimenez1503/cilium-obi-demo/tree/main/evidence/legacy-priority-2026-09-27</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runnable demo repository before showing the environment. The repository contains the kind setup, pinned Cilium and OBI values, Grafana dashboards, verification scripts, recordings, benchmark evidence, and the latest presentation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3 minutes</a:t>
            </a:r>
          </a:p>
          <a:p>
            <a:endParaRPr dirty="0"/>
          </a:p>
          <a:p>
            <a:r>
              <a:rPr dirty="0"/>
              <a:t>Start with the upper diagram. These are three NGINX processes simulating application services. edge-nginx is the entry proxy. recommendations-v1 is the legacy service. recommendations-v2 represents a newer tier that still delegates some requests to v1. The version names make that migration scenario visible.</a:t>
            </a:r>
          </a:p>
          <a:p>
            <a:endParaRPr dirty="0"/>
          </a:p>
          <a:p>
            <a:r>
              <a:rPr dirty="0"/>
              <a:t>There are two routes used in the demos. A direct v1 URL sends the request from edge-nginx straight to v1. A rollout URL sends it from edge-nginx to v2 and then from v2 to v1. NGINX chooses the route from the requested URL. One request does not fan out to both versions. The configuration also has a v2-only example, where v2 returns a redirect itself.</a:t>
            </a:r>
          </a:p>
          <a:p>
            <a:endParaRPr dirty="0"/>
          </a:p>
          <a:p>
            <a:r>
              <a:rPr dirty="0"/>
              <a:t>Both versions, plus edge-nginx, are selected by the OBI discovery configuration. OBI watches their supported operations and creates spans and RED metrics. The applications do not call OBI as an application dependency.</a:t>
            </a:r>
          </a:p>
          <a:p>
            <a:endParaRPr dirty="0"/>
          </a:p>
          <a:p>
            <a:r>
              <a:rPr dirty="0"/>
              <a:t>Cilium and Hubble also cover traffic for all three services. Hubble is not connected only to v1. The diagram's lower arrows represent telemetry exports, not application calls.</a:t>
            </a:r>
          </a:p>
          <a:p>
            <a:endParaRPr dirty="0"/>
          </a:p>
          <a:p>
            <a:r>
              <a:rPr dirty="0"/>
              <a:t>OBI exports application traces and metrics to the local LGTM backend. Tempo stores traces and the metric backend provides the dashboard data. A Collector scrapes the Cilium and Hubble metric endpoints and exports those metrics to the same LGTM backend. Hubble Relay, the CLI, and Hubble UI expose individual flow records and verdicts.</a:t>
            </a:r>
          </a:p>
          <a:p>
            <a:endParaRPr dirty="0"/>
          </a:p>
          <a:p>
            <a:r>
              <a:rPr dirty="0"/>
              <a:t>For the denial demo, the policy allows v2 to call v1 on port 8081. It blocks edge-nginx from calling v1 directly. That is why the orange direct route is the one we exercise during the failure.</a:t>
            </a:r>
          </a:p>
          <a:p>
            <a:endParaRPr dirty="0"/>
          </a:p>
          <a:p>
            <a:r>
              <a:rPr dirty="0"/>
              <a:t>Sources:</a:t>
            </a:r>
          </a:p>
          <a:p>
            <a:r>
              <a:rPr dirty="0"/>
              <a:t>- https://</a:t>
            </a:r>
            <a:r>
              <a:rPr dirty="0" err="1"/>
              <a:t>github.com</a:t>
            </a:r>
            <a:r>
              <a:rPr dirty="0"/>
              <a:t>/ajimenez1503/cilium-obi-demo/blob/main/demo/obi-</a:t>
            </a:r>
            <a:r>
              <a:rPr dirty="0" err="1"/>
              <a:t>values.yaml</a:t>
            </a:r>
            <a:endParaRPr dirty="0"/>
          </a:p>
          <a:p>
            <a:r>
              <a:rPr dirty="0"/>
              <a:t>- https://</a:t>
            </a:r>
            <a:r>
              <a:rPr dirty="0" err="1"/>
              <a:t>github.com</a:t>
            </a:r>
            <a:r>
              <a:rPr dirty="0"/>
              <a:t>/ajimenez1503/cilium-obi-demo/blob/main/demo/policy-</a:t>
            </a:r>
            <a:r>
              <a:rPr dirty="0" err="1"/>
              <a:t>deny.yaml</a:t>
            </a:r>
            <a:endParaRPr dirty="0"/>
          </a:p>
          <a:p>
            <a:r>
              <a:rPr dirty="0"/>
              <a:t>- https://</a:t>
            </a:r>
            <a:r>
              <a:rPr dirty="0" err="1"/>
              <a:t>github.com</a:t>
            </a:r>
            <a:r>
              <a:rPr dirty="0"/>
              <a:t>/open-telemetry/</a:t>
            </a:r>
            <a:r>
              <a:rPr dirty="0" err="1"/>
              <a:t>opentelemetry</a:t>
            </a:r>
            <a:r>
              <a:rPr dirty="0"/>
              <a:t>-</a:t>
            </a:r>
            <a:r>
              <a:rPr dirty="0" err="1"/>
              <a:t>ebpf</a:t>
            </a:r>
            <a:r>
              <a:rPr dirty="0"/>
              <a:t>-instrumentation/tree/main/examples/nginx</a:t>
            </a:r>
          </a:p>
          <a:p>
            <a:r>
              <a:rPr dirty="0"/>
              <a:t>- https://</a:t>
            </a:r>
            <a:r>
              <a:rPr dirty="0" err="1"/>
              <a:t>docs.cilium.io</a:t>
            </a:r>
            <a:r>
              <a:rPr dirty="0"/>
              <a:t>/</a:t>
            </a:r>
            <a:r>
              <a:rPr dirty="0" err="1"/>
              <a:t>en</a:t>
            </a:r>
            <a:r>
              <a:rPr dirty="0"/>
              <a:t>/stable/observability/metrics/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2 minutes</a:t>
            </a:r>
          </a:p>
          <a:p>
            <a:endParaRPr dirty="0"/>
          </a:p>
          <a:p>
            <a:r>
              <a:rPr dirty="0"/>
              <a:t>Click the video to play. This is a fresh run of demo/</a:t>
            </a:r>
            <a:r>
              <a:rPr dirty="0" err="1"/>
              <a:t>verify.sh</a:t>
            </a:r>
            <a:r>
              <a:rPr dirty="0"/>
              <a:t> against the local kind cluster. Pause on four checks: Cilium reports TCX, the cilium-config readback says enable-</a:t>
            </a:r>
            <a:r>
              <a:rPr dirty="0" err="1"/>
              <a:t>tcx</a:t>
            </a:r>
            <a:r>
              <a:rPr dirty="0"/>
              <a:t>=true, OBI v0.13.0 is ready on both workers, and the startup logs contain no attachment, capability, </a:t>
            </a:r>
            <a:r>
              <a:rPr dirty="0" err="1"/>
              <a:t>tracefs</a:t>
            </a:r>
            <a:r>
              <a:rPr dirty="0"/>
              <a:t>, or context-propagation errors. The point is that a Running </a:t>
            </a:r>
            <a:r>
              <a:rPr dirty="0" err="1"/>
              <a:t>DaemonSet</a:t>
            </a:r>
            <a:r>
              <a:rPr dirty="0"/>
              <a:t> is not enough. Verify the actual attachment decision before trusting either telemetry stream.</a:t>
            </a:r>
          </a:p>
          <a:p>
            <a:endParaRPr dirty="0"/>
          </a:p>
          <a:p>
            <a:r>
              <a:rPr dirty="0"/>
              <a:t>Sources:</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3 minutes</a:t>
            </a:r>
          </a:p>
          <a:p>
            <a:endParaRPr dirty="0"/>
          </a:p>
          <a:p>
            <a:r>
              <a:rPr dirty="0"/>
              <a:t>Click the video to play. The recording starts in the consolidated Grafana dashboard, where OBI request metrics sit beside Cilium and Hubble Prometheus metrics. It then opens Hubble UI for the same workload and request window. In Grafana, explain application rate, errors, and latency together with network flow rate and drops. In Hubble, follow edge-nginx to recommendations-v2 and recommendations-v2 to recommendations-v1, then call out workload identity, direction, ports, and the FORWARDED verdict. These are correlated views, not identical event streams. Match them by time window, namespace, source and destination workload, direction, and port. Raw Hubble flows remain in Relay and Hubble UI; Grafana contains their aggregated metrics.</a:t>
            </a:r>
          </a:p>
          <a:p>
            <a:endParaRPr dirty="0"/>
          </a:p>
          <a:p>
            <a:r>
              <a:rPr dirty="0"/>
              <a:t>Sources:</a:t>
            </a:r>
          </a:p>
          <a:p>
            <a:r>
              <a:rPr dirty="0"/>
              <a:t>- https://</a:t>
            </a:r>
            <a:r>
              <a:rPr dirty="0" err="1"/>
              <a:t>docs.cilium.io</a:t>
            </a:r>
            <a:r>
              <a:rPr dirty="0"/>
              <a:t>/</a:t>
            </a:r>
            <a:r>
              <a:rPr dirty="0" err="1"/>
              <a:t>en</a:t>
            </a:r>
            <a:r>
              <a:rPr dirty="0"/>
              <a:t>/stable/observability/</a:t>
            </a:r>
            <a:r>
              <a:rPr dirty="0" err="1"/>
              <a:t>hubble</a:t>
            </a:r>
            <a:r>
              <a:rPr dirty="0"/>
              <a:t>/</a:t>
            </a:r>
          </a:p>
          <a:p>
            <a:r>
              <a:rPr dirty="0"/>
              <a:t>- https://</a:t>
            </a:r>
            <a:r>
              <a:rPr dirty="0" err="1"/>
              <a:t>opentelemetry.io</a:t>
            </a:r>
            <a:r>
              <a:rPr dirty="0"/>
              <a:t>/docs/zero-code/obi/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3 minutes. Play the video on the left.</a:t>
            </a:r>
          </a:p>
          <a:p>
            <a:endParaRPr dirty="0"/>
          </a:p>
          <a:p>
            <a:r>
              <a:rPr dirty="0"/>
              <a:t>The policy permits recommendations-v2 to call recommendations-v1 on TCP port 8081. It blocks direct calls from edge-nginx to v1. We send the direct v1 request, so the caller times out.</a:t>
            </a:r>
          </a:p>
          <a:p>
            <a:endParaRPr dirty="0"/>
          </a:p>
          <a:p>
            <a:r>
              <a:rPr dirty="0"/>
              <a:t>At about 00:18, point to the Hubble terminal output. It names edge-nginx and recommendations-v1:8081, then says INGRESS DENIED and Policy denied DROPPED. This is the exact evidence of the enforcement decision.</a:t>
            </a:r>
          </a:p>
          <a:p>
            <a:endParaRPr dirty="0"/>
          </a:p>
          <a:p>
            <a:r>
              <a:rPr dirty="0"/>
              <a:t>At about 00:34, the Grafana Drops by reason panel shows a yellow drop spike. The enlarged still on this slide comes from that same recording. Its yellow-series label is below the recorded viewport; the still crops out the unrelated visible legend row. Use the graph to locate the increase in dropped traffic, and use Hubble to confirm the specific policy reason.</a:t>
            </a:r>
          </a:p>
          <a:p>
            <a:endParaRPr dirty="0"/>
          </a:p>
          <a:p>
            <a:r>
              <a:rPr dirty="0"/>
              <a:t>On the combined dashboard, Flows by verdict also has a DROPPED series. It is close to zero compared with the much larger FORWARDED series. Hide FORWARDED or inspect the DROPPED legend value when presenting. The trace-derived service graph does not display a policy-denial badge; a blocked request may never create a destination server span.</a:t>
            </a:r>
          </a:p>
          <a:p>
            <a:endParaRPr dirty="0"/>
          </a:p>
          <a:p>
            <a:r>
              <a:rPr dirty="0"/>
              <a:t>OBI is where we inspect the caller's application symptom, such as a timeout or upstream error, when the relevant span is available. This recording displays the curl timeout and Hubble verdict; it does not display a failed OBI span. Do not claim that the capture proves that span. Match time, workload, direction, and port to investigate the same failure. The recording removes the policy and verifies HTTP 200 recovery.</a:t>
            </a:r>
          </a:p>
          <a:p>
            <a:endParaRPr dirty="0"/>
          </a:p>
          <a:p>
            <a:r>
              <a:rPr dirty="0"/>
              <a:t>Sources:</a:t>
            </a:r>
          </a:p>
          <a:p>
            <a:r>
              <a:rPr dirty="0"/>
              <a:t>- https://</a:t>
            </a:r>
            <a:r>
              <a:rPr dirty="0" err="1"/>
              <a:t>github.com</a:t>
            </a:r>
            <a:r>
              <a:rPr dirty="0"/>
              <a:t>/ajimenez1503/cilium-obi-demo/blob/main/demo/policy-</a:t>
            </a:r>
            <a:r>
              <a:rPr dirty="0" err="1"/>
              <a:t>deny.yaml</a:t>
            </a:r>
            <a:endParaRPr dirty="0"/>
          </a:p>
          <a:p>
            <a:r>
              <a:rPr dirty="0"/>
              <a:t>- https://</a:t>
            </a:r>
            <a:r>
              <a:rPr dirty="0" err="1"/>
              <a:t>github.com</a:t>
            </a:r>
            <a:r>
              <a:rPr dirty="0"/>
              <a:t>/ajimenez1503/cilium-obi-demo/blob/main/slides/recordings/demo-3-policy-denial.mp4</a:t>
            </a:r>
          </a:p>
          <a:p>
            <a:r>
              <a:rPr dirty="0"/>
              <a:t>- https://</a:t>
            </a:r>
            <a:r>
              <a:rPr dirty="0" err="1"/>
              <a:t>docs.cilium.io</a:t>
            </a:r>
            <a:r>
              <a:rPr dirty="0"/>
              <a:t>/</a:t>
            </a:r>
            <a:r>
              <a:rPr dirty="0" err="1"/>
              <a:t>en</a:t>
            </a:r>
            <a:r>
              <a:rPr dirty="0"/>
              <a:t>/stable/observability/metrics/#</a:t>
            </a:r>
            <a:r>
              <a:rPr dirty="0" err="1"/>
              <a:t>hubble</a:t>
            </a:r>
            <a:r>
              <a:rPr dirty="0"/>
              <a:t>-exported-metrics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 to 5 minutes, flexible. This is the optional live playground after the recorded demos. The four rows are clickable in Slide Show mode. All links use localhost on the presenting laptop.</a:t>
            </a:r>
          </a:p>
          <a:p>
            <a:endParaRPr/>
          </a:p>
          <a:p>
            <a:r>
              <a:t>Before presenting, verify the kind cluster and keep these port-forwards open in separate terminals:</a:t>
            </a:r>
          </a:p>
          <a:p>
            <a:r>
              <a:t>kubectl --context kind-obi-cilium-talk -n obi-nginx-example port-forward svc/edge-nginx 8080:8080</a:t>
            </a:r>
          </a:p>
          <a:p>
            <a:r>
              <a:t>kubectl --context kind-obi-cilium-talk -n obi-nginx-example port-forward svc/lgtm 3000:3000</a:t>
            </a:r>
          </a:p>
          <a:p>
            <a:r>
              <a:t>kubectl --context kind-obi-cilium-talk -n kube-system port-forward svc/hubble-ui 12000:80</a:t>
            </a:r>
          </a:p>
          <a:p>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a:endParaRPr/>
          </a:p>
          <a:p>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a:endParaRPr/>
          </a:p>
          <a:p>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a:endParaRPr/>
          </a:p>
          <a:p>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a:endParaRPr/>
          </a:p>
          <a:p>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a:endParaRPr/>
          </a:p>
          <a:p>
            <a:r>
              <a:t>If a live view is unavailable, use the recorded demos and the following dashboard and Tempo screenshots. Avoid delaying the talk to repair the cluster on stage.</a:t>
            </a:r>
          </a:p>
          <a:p>
            <a:endParaRPr/>
          </a:p>
          <a:p>
            <a:r>
              <a:t>Sources:</a:t>
            </a:r>
          </a:p>
          <a:p>
            <a:r>
              <a:t>- /Users/antonjim/Documents/Playground/cilium-obi-demo/README.md</a:t>
            </a:r>
          </a:p>
          <a:p>
            <a:r>
              <a:t>- /Users/antonjim/Documents/Playground/cilium-obi-demo/demo/dashboards/application-network.json</a:t>
            </a:r>
          </a:p>
          <a:p>
            <a:r>
              <a:t>- /Users/antonjim/Documents/Playground/cilium-obi-demo/demo/dashboards/platform-pipeline.json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OBI has an optional network collector as well as application instrumentation. It counts traffic between endpoints, including bytes and packets. Kubernetes metadata can add the source and destination workloads to those metrics.</a:t>
            </a:r>
          </a:p>
          <a:p>
            <a:endParaRPr/>
          </a:p>
          <a:p>
            <a:r>
              <a:t>Use it to answer questions such as which service sends the most traffic, or to send network-volume metrics through an OpenTelemetry pipeline. It can be useful when Hubble is not available or when these metrics answer an additional question.</a:t>
            </a:r>
          </a:p>
          <a:p>
            <a:endParaRPr/>
          </a:p>
          <a:p>
            <a:r>
              <a:t>In this combined demo, Hubble is the default network source because it provides flows and Cilium policy verdicts. OBI network-volume counters do not provide the Cilium record that says Policy denied. The two tools can count traffic differently because observation points, filters, and aggregation differ.</a:t>
            </a:r>
          </a:p>
          <a:p>
            <a:endParaRPr/>
          </a:p>
          <a:p>
            <a:r>
              <a:t>The main demo leaves optional OBI network metrics off. OBI still generates application spans and RED metrics. Its TCP trace-context propagation is another feature: it connects application spans across services. Keeping network-volume metrics off does not turn application tracing off.</a:t>
            </a:r>
          </a:p>
          <a:p>
            <a:endParaRPr/>
          </a:p>
          <a:p>
            <a:r>
              <a:t>If we deliberately enable OBI network collection beside Cilium, choose network.source: socket_filter. Limit labels to the dimensions you need; many address and port combinations can create many metric series and increase collection and storage costs.</a:t>
            </a:r>
          </a:p>
          <a:p>
            <a:endParaRPr/>
          </a:p>
          <a:p>
            <a:r>
              <a:t>The separate legacy-priority recording enables network.source: tc to demonstrate that compatibility guard. That controlled test is not the default deployment design.</a:t>
            </a:r>
          </a:p>
          <a:p>
            <a:endParaRPr/>
          </a:p>
          <a:p>
            <a:r>
              <a:t>Sources:</a:t>
            </a:r>
          </a:p>
          <a:p>
            <a:r>
              <a:t>- https://opentelemetry.io/docs/zero-code/obi/network/</a:t>
            </a:r>
          </a:p>
          <a:p>
            <a:r>
              <a:t>- https://opentelemetry.io/docs/zero-code/obi/network/config/</a:t>
            </a:r>
          </a:p>
          <a:p>
            <a:r>
              <a:t>- https://github.com/open-telemetry/opentelemetry-ebpf-instrumentation/blob/v0.13.0/pkg/obi/network_cfg.go</a:t>
            </a:r>
          </a:p>
          <a:p>
            <a:r>
              <a:t>- https://github.com/ajimenez1503/cilium-obi-demo/blob/main/demo/obi-values.yaml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Measure the combined system.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defines five Cilium-based scenarios and the controls they share. The next slide reports the local rehearsal results for B and D. A, C, and E have not been measured.</a:t>
            </a:r>
          </a:p>
          <a:p>
            <a:endParaRPr/>
          </a:p>
          <a:p>
            <a:r>
              <a:t>A is the Cilium networking baseline. B adds Hubble L3/L4 flow visibility with OBI off. C adds OBI application metrics without context propagation. D enables OBI traces with TCX context propagation. E adds Hubble L7 visibility, which redirects selected traffic through Envoy. The plus signs show the planned configuration sequence. Record exact versions and effective settings before interpreting any comparison.</a:t>
            </a:r>
          </a:p>
          <a:p>
            <a:endParaRPr/>
          </a:p>
          <a:p>
            <a:r>
              <a:t>Keep the Cilium cluster, application route, load, pod placement, and telemetry backend the same across scenarios. For each measured run, capture throughput, latency, failures, CPU, memory, span delivery, Hubble lost events, and actual BPF attachments. B ran before D in the current rehearsal, so time-order effects remain possible.</a:t>
            </a:r>
          </a:p>
          <a:p>
            <a:endParaRPr/>
          </a:p>
          <a:p>
            <a:r>
              <a:t>Sources:</a:t>
            </a:r>
          </a:p>
          <a:p>
            <a:r>
              <a:t>- https://docs.cilium.io/en/stable/operations/performance/benchmark/</a:t>
            </a:r>
          </a:p>
          <a:p>
            <a:r>
              <a:t>- /Users/antonjim/Documents/Playground/cilium-obi-demo/evidence/benchmark-2026-09-26/results.md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 minutes</a:t>
            </a:r>
          </a:p>
          <a:p>
            <a:endParaRPr/>
          </a:p>
          <a:p>
            <a:r>
              <a:t>These are local kind rehearsal observations for B (Cilium and Hubble, OBI off) and D (Cilium and Hubble plus OBI with TCX). They are not production capacity results. The no-eBPF reference N and conditions A, C, and E remain unmeasured.</a:t>
            </a:r>
          </a:p>
          <a:p>
            <a:endParaRPr/>
          </a:p>
          <a:p>
            <a:r>
              <a:t>Both conditions used the same three-node cluster and route. Background demo traffic was paused. Each condition had a 40-request warm-up and five samples of 200 requests at concurrency 20 through kubectl port-forward. B ran before D, so time-order effects remain possible. Throughput median: B 19.77 req/s; D 19.73 req/s. p95 median: B 1,018 ms; D 1,020 ms. There were zero failed requests across 1,000 requests in each condition. OBI used a median 0.0128 CPU cores and 253.2 MiB working set across two pods. The Collector accepted and exported 7,210 spans during D. These numbers describe this single rehearsal only.</a:t>
            </a:r>
          </a:p>
          <a:p>
            <a:endParaRPr/>
          </a:p>
          <a:p>
            <a:r>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a:endParaRPr/>
          </a:p>
          <a:p>
            <a:r>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a:endParaRPr/>
          </a:p>
          <a:p>
            <a:r>
              <a:t>Sources:</a:t>
            </a:r>
          </a:p>
          <a:p>
            <a:r>
              <a:t>- /Users/antonjim/Documents/Playground/cilium-obi-demo/evidence/benchmark-2026-09-26/results.md</a:t>
            </a:r>
          </a:p>
          <a:p>
            <a:r>
              <a:t>- https://docs.cilium.io/en/latest/observability/metrics/#lost-events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Why this slide is here: the previous slide reports one local rehearsal. Similar request throughput and latency do not yet tell us whether we can afford to enable OBI across the cluster. This slide lists the other checks needed for that rollout decision.</a:t>
            </a:r>
          </a:p>
          <a:p>
            <a:endParaRPr/>
          </a:p>
          <a:p>
            <a:r>
              <a:t>CPU: measure the extra CPU used by applications, Cilium, Hubble, OBI, and the Collector, as well as the whole node. Memory: count agent memory and the memory used by BPF programs and maps in the kernel.</a:t>
            </a:r>
          </a:p>
          <a:p>
            <a:endParaRPr/>
          </a:p>
          <a:p>
            <a:r>
              <a:t>Missing data: check for lost Hubble events, refused spans, exporter failures, and dropped telemetry. Here, loss means missing monitoring records. A packet deliberately denied by network policy is a separate traffic outcome.</a:t>
            </a:r>
          </a:p>
          <a:p>
            <a:endParaRPr/>
          </a:p>
          <a:p>
            <a:r>
              <a:t>Data volume: count spans, metric samples, flow records, and active metric series. More data creates processing and storage costs even when application latency barely changes.</a:t>
            </a:r>
          </a:p>
          <a:p>
            <a:endParaRPr/>
          </a:p>
          <a:p>
            <a:r>
              <a:t>Choose acceptable limits for your own environment before expanding. Compare the same workload with OBI off and on. In our rehearsal, the Hubble-loss comparison still needs a valid run with matching time windows.</a:t>
            </a:r>
          </a:p>
          <a:p>
            <a:endParaRPr/>
          </a:p>
          <a:p>
            <a:r>
              <a:t>Transition: the next section turns these checks into a gradual production rollout.</a:t>
            </a:r>
          </a:p>
          <a:p>
            <a:endParaRPr/>
          </a:p>
          <a:p>
            <a:r>
              <a:t>Sources:</a:t>
            </a:r>
          </a:p>
          <a:p>
            <a:r>
              <a:t>- https://opentelemetry.io/docs/collector/internal-telemetry/</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Production rollout.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The goal is to enable OBI on a small group of nodes first, learn from those nodes, and then expand.</a:t>
            </a:r>
          </a:p>
          <a:p>
            <a:endParaRPr/>
          </a:p>
          <a:p>
            <a:r>
              <a:t>1. Check nodes. Record the kernel features, OBI and Cilium versions, and Cilium datapath. Confirm that the chosen TCX or legacy attachment method is supported on the actual nodes. BTF, if mentioned in a question, is kernel type metadata used by eBPF tools.</a:t>
            </a:r>
          </a:p>
          <a:p>
            <a:endParaRPr/>
          </a:p>
          <a:p>
            <a:r>
              <a:t>2. Check config. Review the final Kubernetes YAML that Helm generates. Check the permissions, host filesystem mounts, and attachment settings. Then check startup logs and actual attachments after deployment.</a:t>
            </a:r>
          </a:p>
          <a:p>
            <a:endParaRPr/>
          </a:p>
          <a:p>
            <a:r>
              <a:t>3. Start small. Use node selection to run OBI on a few nodes. Keep a clear way to disable that new OBI configuration and return to the previous setup.</a:t>
            </a:r>
          </a:p>
          <a:p>
            <a:endParaRPr/>
          </a:p>
          <a:p>
            <a:r>
              <a:t>4. Test traffic. Exercise calls within one node, calls across nodes, and calls through a Kubernetes Service. Also test one connection that policy should allow and one it should deny. Check the application result and the expected telemetry.</a:t>
            </a:r>
          </a:p>
          <a:p>
            <a:endParaRPr/>
          </a:p>
          <a:p>
            <a:r>
              <a:t>5. Expand. Compare this group with its baseline using the CPU, memory, missing-data, and volume checks from the earlier rollout-check slide. Expand gradually when the results meet your chosen limits. If a check fails, stop expansion, restore the previous setup, and investigate.</a:t>
            </a:r>
          </a:p>
          <a:p>
            <a:endParaRPr/>
          </a:p>
          <a:p>
            <a:r>
              <a:t>This is what the old labels meant: Inventory meant check the environment; Render meant inspect Helm's generated YAML; Canary meant start on a few nodes; Exercise meant test real requests; Promote meant expand the deployment.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 minute</a:t>
            </a:r>
          </a:p>
          <a:p>
            <a:endParaRPr/>
          </a:p>
          <a:p>
            <a:r>
              <a:t>Close by restating the operational contract. Safe coexistence means verified order, preserved traffic, complete enough telemetry, and measured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 minutes</a:t>
            </a:r>
          </a:p>
          <a:p>
            <a:endParaRPr/>
          </a:p>
          <a:p>
            <a:r>
              <a:t>Keep the demo repository visible during questions so attendees can find the setup, dashboards, benchmark evidence, and latest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Optional</a:t>
            </a:r>
          </a:p>
          <a:p>
            <a:endParaRPr/>
          </a:p>
          <a:p>
            <a:r>
              <a:t>Section transition: Appendix.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These fragments match demo/obi-values.yaml and demo/cilium-values.yaml in the workspace. Render the charts before the live session.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a:endParaRPr/>
          </a:p>
          <a:p>
            <a:r>
              <a:t>Sources:</a:t>
            </a:r>
          </a:p>
          <a:p>
            <a:r>
              <a:t>- https://opentelemetry.io/docs/zero-code/obi/cilium-compatibility/</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Run these read-only checks before the talk. Save clean output for the backup recording.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this slide to handle operational questions without turning the main talk into a troubleshooting checklist. Detailed failure modes are in research.md.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End</a:t>
            </a:r>
          </a:p>
          <a:p>
            <a:endParaRPr/>
          </a:p>
          <a:p>
            <a:r>
              <a:t>Finish on the required Cisco closing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871345"/>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512820"/>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4061400"/>
            <a:ext cx="5048090" cy="457200"/>
          </a:xfrm>
        </p:spPr>
        <p:txBody>
          <a:bodyPr anchor="t"/>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676458"/>
            <a:ext cx="5047270" cy="459455"/>
          </a:xfrm>
          <a:prstGeom prst="rect">
            <a:avLst/>
          </a:prstGeom>
          <a:noFill/>
        </p:spPr>
        <p:txBody>
          <a:bodyPr anchor="t"/>
          <a:lstStyle>
            <a:lvl1pPr marL="0" indent="0">
              <a:spcAft>
                <a:spcPts val="0"/>
              </a:spcAft>
              <a:buNone/>
              <a:defRPr sz="1400"/>
            </a:lvl1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endParaRPr/>
          </a:p>
        </p:txBody>
      </p:sp>
      <p:pic>
        <p:nvPicPr>
          <p:cNvPr id="31"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Two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19"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1,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244600"/>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2886075"/>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3428789"/>
            <a:ext cx="5048090" cy="457200"/>
          </a:xfrm>
        </p:spPr>
        <p:txBody>
          <a:bodyPr anchor="b"/>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051300"/>
            <a:ext cx="5047270" cy="459455"/>
          </a:xfrm>
          <a:prstGeom prst="rect">
            <a:avLst/>
          </a:prstGeom>
          <a:noFill/>
        </p:spPr>
        <p:txBody>
          <a:bodyPr anchor="b"/>
          <a:lstStyle>
            <a:lvl1pPr marL="0" indent="0">
              <a:spcAft>
                <a:spcPts val="0"/>
              </a:spcAft>
              <a:buNone/>
              <a:defRPr sz="1400"/>
            </a:lvl1pPr>
          </a:lstStyle>
          <a:p>
            <a:pPr lvl="0">
              <a:buNone/>
            </a:pPr>
            <a:r>
              <a:t>Speaker Name</a:t>
            </a:r>
          </a:p>
          <a:p>
            <a:pPr lvl="0">
              <a:buNone/>
            </a:pPr>
            <a:r>
              <a:t>Speaker Title placeholder, @social</a:t>
            </a:r>
          </a:p>
        </p:txBody>
      </p:sp>
      <p:sp>
        <p:nvSpPr>
          <p:cNvPr id="5" name="Text Placeholder 4">
            <a:extLst>
              <a:ext uri="{FF2B5EF4-FFF2-40B4-BE49-F238E27FC236}">
                <a16:creationId xmlns:a16="http://schemas.microsoft.com/office/drawing/2014/main" id="{1C0E61D1-59EB-7A86-0D12-9388193F45D9}"/>
              </a:ext>
            </a:extLst>
          </p:cNvPr>
          <p:cNvSpPr>
            <a:spLocks noGrp="1"/>
          </p:cNvSpPr>
          <p:nvPr>
            <p:ph type="body" idx="17" hasCustomPrompt="1"/>
          </p:nvPr>
        </p:nvSpPr>
        <p:spPr>
          <a:xfrm>
            <a:off x="323849" y="4681134"/>
            <a:ext cx="5046663" cy="457200"/>
          </a:xfrm>
        </p:spPr>
        <p:txBody>
          <a:bodyPr anchor="b"/>
          <a:lstStyle>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a:pPr marL="0" lvl="0" indent="0" algn="l" defTabSz="912276">
              <a:lnSpc>
                <a:spcPct val="100000"/>
              </a:lnSpc>
              <a:spcBef>
                <a:spcPts val="0"/>
              </a:spcBef>
              <a:spcAft>
                <a:spcPts val="0"/>
              </a:spcAft>
              <a:buClr>
                <a:schemeClr val="bg1"/>
              </a:buClr>
              <a:buSzPct val="100000"/>
              <a:buFont typeface="Arial"/>
              <a:buNone/>
            </a:pPr>
            <a:r>
              <a:t>Speaker Name</a:t>
            </a:r>
          </a:p>
          <a:p>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a:ext uri="{FF2B5EF4-FFF2-40B4-BE49-F238E27FC236}">
                <a16:creationId xmlns:a16="http://schemas.microsoft.com/office/drawing/2014/main" id="{D175C0FC-DD02-0704-8A17-1B3037F861D2}"/>
              </a:ext>
            </a:extLst>
          </p:cNvPr>
          <p:cNvSpPr>
            <a:spLocks noGrp="1"/>
          </p:cNvSpPr>
          <p:nvPr>
            <p:ph type="body" idx="18" hasCustomPrompt="1"/>
          </p:nvPr>
        </p:nvSpPr>
        <p:spPr>
          <a:xfrm>
            <a:off x="323848" y="5306439"/>
            <a:ext cx="5046663" cy="457200"/>
          </a:xfrm>
        </p:spPr>
        <p:txBody>
          <a:bodyPr anchor="b"/>
          <a:lstStyle>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pPr lvl="0">
              <a:buNone/>
            </a:pPr>
            <a:endParaRPr/>
          </a:p>
        </p:txBody>
      </p:sp>
      <p:pic>
        <p:nvPicPr>
          <p:cNvPr id="33"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2, Four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21"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3, Four Speakers">
    <p:bg>
      <p:bgPr>
        <a:solidFill>
          <a:schemeClr val="tx1"/>
        </a:solidFill>
        <a:effectLst/>
      </p:bgPr>
    </p:bg>
    <p:spTree>
      <p:nvGrpSpPr>
        <p:cNvPr id="1" name=""/>
        <p:cNvGrpSpPr/>
        <p:nvPr/>
      </p:nvGrpSpPr>
      <p:grpSpPr>
        <a:xfrm>
          <a:off x="0" y="0"/>
          <a:ext cx="0" cy="0"/>
          <a:chOff x="0" y="0"/>
          <a:chExt cx="0" cy="0"/>
        </a:xfrm>
      </p:grpSpPr>
      <p:pic>
        <p:nvPicPr>
          <p:cNvPr id="15"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323850" y="320675"/>
            <a:ext cx="792163" cy="416221"/>
          </a:xfrm>
          <a:prstGeom prst="rect">
            <a:avLst/>
          </a:prstGeom>
        </p:spPr>
      </p:pic>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492374"/>
            <a:ext cx="10167938" cy="1243019"/>
          </a:xfrm>
        </p:spPr>
        <p:txBody>
          <a:bodyPr anchor="b"/>
          <a:lstStyle>
            <a:lvl1pPr>
              <a:buNone/>
              <a:defRPr sz="3600">
                <a:solidFill>
                  <a:schemeClr val="bg1"/>
                </a:solidFill>
              </a:defRPr>
            </a:lvl1pPr>
          </a:lstStyle>
          <a:p>
            <a:r>
              <a:t>Presentation Slide Title Layout 3</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49" y="3827463"/>
            <a:ext cx="1016793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7" name="Text Placeholder 6">
            <a:extLst>
              <a:ext uri="{FF2B5EF4-FFF2-40B4-BE49-F238E27FC236}">
                <a16:creationId xmlns:a16="http://schemas.microsoft.com/office/drawing/2014/main" id="{872EFECA-80DB-74BA-813F-3952A15A5022}"/>
              </a:ext>
            </a:extLst>
          </p:cNvPr>
          <p:cNvSpPr>
            <a:spLocks noGrp="1"/>
          </p:cNvSpPr>
          <p:nvPr>
            <p:ph type="body" idx="15" hasCustomPrompt="1"/>
          </p:nvPr>
        </p:nvSpPr>
        <p:spPr>
          <a:xfrm>
            <a:off x="4230688" y="4360863"/>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323850" y="4990779"/>
            <a:ext cx="3725863"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13" name="Text Placeholder 12">
            <a:extLst>
              <a:ext uri="{FF2B5EF4-FFF2-40B4-BE49-F238E27FC236}">
                <a16:creationId xmlns:a16="http://schemas.microsoft.com/office/drawing/2014/main" id="{2BBB47F0-F6D2-5FD5-1C2D-8963A9B280F8}"/>
              </a:ext>
            </a:extLst>
          </p:cNvPr>
          <p:cNvSpPr>
            <a:spLocks noGrp="1"/>
          </p:cNvSpPr>
          <p:nvPr>
            <p:ph type="body" idx="16" hasCustomPrompt="1"/>
          </p:nvPr>
        </p:nvSpPr>
        <p:spPr>
          <a:xfrm>
            <a:off x="4230688" y="4990779"/>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2,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3, Six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7" name="Text Placeholder 5">
            <a:extLst>
              <a:ext uri="{FF2B5EF4-FFF2-40B4-BE49-F238E27FC236}">
                <a16:creationId xmlns:a16="http://schemas.microsoft.com/office/drawing/2014/main" id="{B989D1F9-5949-EAFF-931D-8121D6A66AA8}"/>
              </a:ext>
            </a:extLst>
          </p:cNvPr>
          <p:cNvSpPr>
            <a:spLocks noGrp="1"/>
          </p:cNvSpPr>
          <p:nvPr>
            <p:ph type="body" idx="17" hasCustomPrompt="1"/>
          </p:nvPr>
        </p:nvSpPr>
        <p:spPr>
          <a:xfrm>
            <a:off x="323850" y="4986338"/>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8" name="Text Placeholder 9">
            <a:extLst>
              <a:ext uri="{FF2B5EF4-FFF2-40B4-BE49-F238E27FC236}">
                <a16:creationId xmlns:a16="http://schemas.microsoft.com/office/drawing/2014/main" id="{3D1ACE7D-3D09-2D50-1C06-DBAD3893A921}"/>
              </a:ext>
            </a:extLst>
          </p:cNvPr>
          <p:cNvSpPr>
            <a:spLocks noGrp="1"/>
          </p:cNvSpPr>
          <p:nvPr>
            <p:ph type="body" idx="18" hasCustomPrompt="1"/>
          </p:nvPr>
        </p:nvSpPr>
        <p:spPr>
          <a:xfrm>
            <a:off x="4230687" y="4986338"/>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637F1A5-67B6-4A78-7FA7-0860E1B6F9B0}"/>
              </a:ext>
            </a:extLst>
          </p:cNvPr>
          <p:cNvSpPr>
            <a:spLocks noGrp="1"/>
          </p:cNvSpPr>
          <p:nvPr>
            <p:ph type="ftr" idx="21"/>
          </p:nvPr>
        </p:nvSpPr>
        <p:spPr/>
        <p:txBody>
          <a:bodyPr/>
          <a:lstStyle/>
          <a:p>
            <a:pPr defTabSz="814318">
              <a:buNone/>
            </a:pPr>
            <a:r>
              <a:t>Session ID: BRKSEC-XXXX</a:t>
            </a:r>
          </a:p>
        </p:txBody>
      </p:sp>
      <p:sp>
        <p:nvSpPr>
          <p:cNvPr id="2" name="Slide Number Placeholder 1">
            <a:extLst>
              <a:ext uri="{FF2B5EF4-FFF2-40B4-BE49-F238E27FC236}">
                <a16:creationId xmlns:a16="http://schemas.microsoft.com/office/drawing/2014/main" id="{FB200302-2202-F22C-D162-871BF904F46C}"/>
              </a:ext>
            </a:extLst>
          </p:cNvPr>
          <p:cNvSpPr>
            <a:spLocks noGrp="1"/>
          </p:cNvSpPr>
          <p:nvPr>
            <p:ph type="sldNum" idx="19"/>
          </p:nvPr>
        </p:nvSpPr>
        <p:spPr/>
        <p:txBody>
          <a:bodyPr/>
          <a:lstStyle/>
          <a:p>
            <a:fld id="{C3C42FAE-7A31-41D3-A712-51D9B15D0B10}"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ubtitle Only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Slide Title, Top Subheadin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4703763"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6184900" y="320675"/>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Subheading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Only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Subtitl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8" name="Text Placeholder 7">
            <a:extLst>
              <a:ext uri="{FF2B5EF4-FFF2-40B4-BE49-F238E27FC236}">
                <a16:creationId xmlns:a16="http://schemas.microsoft.com/office/drawing/2014/main" id="{6A259C3D-581C-B8BC-32B4-EE2B22A753A2}"/>
              </a:ext>
            </a:extLst>
          </p:cNvPr>
          <p:cNvSpPr>
            <a:spLocks noGrp="1"/>
          </p:cNvSpPr>
          <p:nvPr>
            <p:ph type="body" idx="13" hasCustomPrompt="1"/>
          </p:nvPr>
        </p:nvSpPr>
        <p:spPr>
          <a:xfrm>
            <a:off x="323850" y="1114425"/>
            <a:ext cx="5772150" cy="441325"/>
          </a:xfrm>
        </p:spPr>
        <p:txBody>
          <a:bodyPr/>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2 Slide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2 Slide, Section, Title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2 Slide, Section, Title 2">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F5376922-1A18-EB35-1718-708DF44FBF1B}"/>
              </a:ext>
            </a:extLst>
          </p:cNvPr>
          <p:cNvSpPr>
            <a:spLocks noGrp="1"/>
          </p:cNvSpPr>
          <p:nvPr>
            <p:ph type="body" idx="13"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2 Slide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2 Slide Section,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8" name="Text Placeholder 7">
            <a:extLst>
              <a:ext uri="{FF2B5EF4-FFF2-40B4-BE49-F238E27FC236}">
                <a16:creationId xmlns:a16="http://schemas.microsoft.com/office/drawing/2014/main" id="{73B0377C-E9B5-910F-ED3D-37BEFE794881}"/>
              </a:ext>
            </a:extLst>
          </p:cNvPr>
          <p:cNvSpPr>
            <a:spLocks noGrp="1"/>
          </p:cNvSpPr>
          <p:nvPr>
            <p:ph type="body" idx="14"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1 Column with Bullets">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141A00D0-7712-950D-34B2-5551B85F9E7B}"/>
              </a:ext>
            </a:extLst>
          </p:cNvPr>
          <p:cNvSpPr>
            <a:spLocks noGrp="1"/>
          </p:cNvSpPr>
          <p:nvPr>
            <p:ph type="body" idx="12"/>
          </p:nvPr>
        </p:nvSpPr>
        <p:spPr>
          <a:xfrm>
            <a:off x="323850" y="952500"/>
            <a:ext cx="11544300" cy="5122863"/>
          </a:xfrm>
        </p:spPr>
        <p:txBody>
          <a:bodyPr/>
          <a:lstStyle>
            <a:lvl1pPr>
              <a:buNone/>
              <a:defRPr sz="2000"/>
            </a:lvl1pPr>
            <a:lvl2pPr>
              <a:buNone/>
              <a:defRPr sz="2000"/>
            </a:lvl2pPr>
            <a:lvl3pPr>
              <a:buNone/>
              <a:defRPr sz="2000"/>
            </a:lvl3pPr>
            <a:lvl4pPr>
              <a:buNone/>
              <a:defRPr sz="2000"/>
            </a:lvl4pPr>
            <a:lvl5pPr>
              <a:buNone/>
              <a:defRPr sz="20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2 Columns with Bulle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Subtitle, 2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ubtitle, 3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23848"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4358639"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8393430" y="2181225"/>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Subtitle, 4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351107"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72014"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939292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ubtitle, 5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271018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509016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747014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4" name="Text Placeholder 13">
            <a:extLst>
              <a:ext uri="{FF2B5EF4-FFF2-40B4-BE49-F238E27FC236}">
                <a16:creationId xmlns:a16="http://schemas.microsoft.com/office/drawing/2014/main" id="{3B7038BF-5DE9-94EF-1E39-92627DD8ACA8}"/>
              </a:ext>
            </a:extLst>
          </p:cNvPr>
          <p:cNvSpPr>
            <a:spLocks noGrp="1"/>
          </p:cNvSpPr>
          <p:nvPr>
            <p:ph type="body" idx="17"/>
          </p:nvPr>
        </p:nvSpPr>
        <p:spPr>
          <a:xfrm>
            <a:off x="9850120" y="2181225"/>
            <a:ext cx="2011680" cy="2493963"/>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 Slide, Title,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5281613"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6107430" y="320675"/>
            <a:ext cx="5760720" cy="5759451"/>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7235825" cy="94773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8140700" y="320675"/>
            <a:ext cx="3727450" cy="5759451"/>
          </a:xfrm>
          <a:prstGeom prst="roundRect">
            <a:avLst>
              <a:gd name="adj" fmla="val 1618"/>
            </a:avLst>
          </a:prstGeom>
          <a:solidFill>
            <a:schemeClr val="bg1">
              <a:alpha val="10000"/>
            </a:schemeClr>
          </a:solidFill>
        </p:spPr>
        <p:txBody>
          <a:bodyPr tIns="155448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3328987"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4049713" y="320676"/>
            <a:ext cx="7818436" cy="57546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2 Slide Title, Photo 3">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3116793"/>
            <a:ext cx="5284788" cy="1246188"/>
          </a:xfrm>
        </p:spPr>
        <p:txBody>
          <a:bodyPr wrap="square" anchor="t">
            <a:noAutofit/>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903A889C-4BCD-59AA-132B-C3FD4F8E65F1}"/>
              </a:ext>
            </a:extLst>
          </p:cNvPr>
          <p:cNvSpPr>
            <a:spLocks noGrp="1"/>
          </p:cNvSpPr>
          <p:nvPr>
            <p:ph type="pic" idx="12" hasCustomPrompt="1"/>
          </p:nvPr>
        </p:nvSpPr>
        <p:spPr>
          <a:xfrm>
            <a:off x="6184901" y="795338"/>
            <a:ext cx="5284788" cy="52847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 Slide Title, Section, Body, 2/3 Photo">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49" y="622300"/>
            <a:ext cx="3328989" cy="1558925"/>
          </a:xfrm>
        </p:spPr>
        <p:txBody>
          <a:bodyPr/>
          <a:lstStyle>
            <a:lvl1pPr>
              <a:buNone/>
              <a:defRPr/>
            </a:lvl1pPr>
          </a:lstStyle>
          <a:p>
            <a:r>
              <a:t>Click to edit Master title style</a:t>
            </a:r>
          </a:p>
        </p:txBody>
      </p:sp>
      <p:sp>
        <p:nvSpPr>
          <p:cNvPr id="7" name="Text Placeholder 6">
            <a:extLst>
              <a:ext uri="{FF2B5EF4-FFF2-40B4-BE49-F238E27FC236}">
                <a16:creationId xmlns:a16="http://schemas.microsoft.com/office/drawing/2014/main" id="{A6653D0B-638B-EB5D-F379-EF10C80DCCA3}"/>
              </a:ext>
            </a:extLst>
          </p:cNvPr>
          <p:cNvSpPr>
            <a:spLocks noGrp="1"/>
          </p:cNvSpPr>
          <p:nvPr>
            <p:ph type="body" idx="13"/>
          </p:nvPr>
        </p:nvSpPr>
        <p:spPr>
          <a:xfrm>
            <a:off x="323851" y="3429000"/>
            <a:ext cx="3328988" cy="2646363"/>
          </a:xfrm>
        </p:spPr>
        <p:txBody>
          <a:bodyPr anchor="b"/>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9" name="Picture Placeholder 5">
            <a:extLst>
              <a:ext uri="{FF2B5EF4-FFF2-40B4-BE49-F238E27FC236}">
                <a16:creationId xmlns:a16="http://schemas.microsoft.com/office/drawing/2014/main" id="{798C8AA3-6350-A299-E288-D693A8EC8932}"/>
              </a:ext>
            </a:extLst>
          </p:cNvPr>
          <p:cNvSpPr>
            <a:spLocks noGrp="1"/>
          </p:cNvSpPr>
          <p:nvPr>
            <p:ph type="pic" idx="14" hasCustomPrompt="1"/>
          </p:nvPr>
        </p:nvSpPr>
        <p:spPr>
          <a:xfrm>
            <a:off x="4049713" y="622300"/>
            <a:ext cx="7818436" cy="5453063"/>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2 Slide Section, Title 1,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2739B37-658D-FBF5-94C3-66EECB73F7D0}"/>
              </a:ext>
            </a:extLst>
          </p:cNvPr>
          <p:cNvSpPr>
            <a:spLocks noGrp="1"/>
          </p:cNvSpPr>
          <p:nvPr>
            <p:ph type="pic" idx="13" hasCustomPrompt="1"/>
          </p:nvPr>
        </p:nvSpPr>
        <p:spPr>
          <a:xfrm>
            <a:off x="6096001" y="320675"/>
            <a:ext cx="5766436" cy="5754687"/>
          </a:xfrm>
          <a:prstGeom prst="roundRect">
            <a:avLst>
              <a:gd name="adj" fmla="val 1714"/>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a:t>
            </a:r>
            <a:br/>
            <a:r>
              <a:t>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ull Margin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323850" y="952500"/>
            <a:ext cx="11544300" cy="5122863"/>
          </a:xfrm>
          <a:prstGeom prst="roundRect">
            <a:avLst>
              <a:gd name="adj" fmla="val 1503"/>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ubtitle, Full Margin Photo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1154430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2" name="Picture Placeholder 5">
            <a:extLst>
              <a:ext uri="{FF2B5EF4-FFF2-40B4-BE49-F238E27FC236}">
                <a16:creationId xmlns:a16="http://schemas.microsoft.com/office/drawing/2014/main" id="{99D23610-D323-6271-753B-C40A3678BD66}"/>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Title, Full Margin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170B322-9DD5-07FB-D258-3DA95EF8E7B1}"/>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ull-bleed Photo,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4" name="Footer Placeholder 3">
            <a:extLst>
              <a:ext uri="{FF2B5EF4-FFF2-40B4-BE49-F238E27FC236}">
                <a16:creationId xmlns:a16="http://schemas.microsoft.com/office/drawing/2014/main" id="{DB168980-BFE5-40AF-63BF-9DB031B379C4}"/>
              </a:ext>
            </a:extLst>
          </p:cNvPr>
          <p:cNvSpPr>
            <a:spLocks noGrp="1"/>
          </p:cNvSpPr>
          <p:nvPr>
            <p:ph type="ftr" idx="13"/>
          </p:nvPr>
        </p:nvSpPr>
        <p:spPr/>
        <p:txBody>
          <a:bodyPr/>
          <a:lstStyle/>
          <a:p>
            <a:pPr defTabSz="814318">
              <a:buNone/>
            </a:pPr>
            <a:r>
              <a:t>Session ID: BRKSEC-XXXX</a:t>
            </a:r>
          </a:p>
        </p:txBody>
      </p:sp>
      <p:sp>
        <p:nvSpPr>
          <p:cNvPr id="5" name="Slide Number Placeholder 4">
            <a:extLst>
              <a:ext uri="{FF2B5EF4-FFF2-40B4-BE49-F238E27FC236}">
                <a16:creationId xmlns:a16="http://schemas.microsoft.com/office/drawing/2014/main" id="{7E7B9760-CDAA-BC58-F236-F1837F40C2DB}"/>
              </a:ext>
            </a:extLst>
          </p:cNvPr>
          <p:cNvSpPr>
            <a:spLocks noGrp="1"/>
          </p:cNvSpPr>
          <p:nvPr>
            <p:ph type="sldNum" idx="14"/>
          </p:nvPr>
        </p:nvSpPr>
        <p:spPr/>
        <p:txBody>
          <a:bodyPr/>
          <a:lstStyle/>
          <a:p>
            <a:fld id="{C3C42FAE-7A31-41D3-A712-51D9B15D0B10}" type="slidenum">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ull Bleed Photo, Titl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722312" y="4540250"/>
            <a:ext cx="10747375" cy="1071563"/>
          </a:xfrm>
        </p:spPr>
        <p:txBody>
          <a:bodyPr anchor="b"/>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Full-bleed Photo, Section,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ull-bleed Photo, Section, Titl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Upper 2/3 Photo, Section, Tit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4675188"/>
          </a:xfrm>
          <a:prstGeom prst="roundRect">
            <a:avLst>
              <a:gd name="adj" fmla="val 0"/>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323850" y="-7937"/>
            <a:ext cx="8612188" cy="466344"/>
          </a:xfrm>
        </p:spPr>
        <p:txBody>
          <a:bodyPr anchor="b"/>
          <a:lstStyle>
            <a:lvl1pPr marL="0" indent="0" algn="l">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323850" y="5003800"/>
            <a:ext cx="8612188" cy="1071563"/>
          </a:xfrm>
        </p:spPr>
        <p:txBody>
          <a:bodyPr/>
          <a:lstStyle>
            <a:lvl1pPr algn="l">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1132840"/>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gradFill rotWithShape="1">
              <a:gsLst>
                <a:gs pos="0">
                  <a:schemeClr val="accent1"/>
                </a:gs>
                <a:gs pos="100000">
                  <a:schemeClr val="accent2"/>
                </a:gs>
              </a:gsLst>
              <a:lin ang="2700000" scaled="1"/>
              <a:tileRect/>
            </a:gradFill>
            <a:prstDash val="solid"/>
          </a:ln>
        </p:spPr>
        <p:txBody>
          <a:bodyPr anchor="ctr"/>
          <a:lstStyle/>
          <a:p>
            <a:endParaRPr>
              <a:gradFill>
                <a:gsLst>
                  <a:gs pos="0">
                    <a:srgbClr val="009DE2"/>
                  </a:gs>
                  <a:gs pos="100000">
                    <a:schemeClr val="accent2"/>
                  </a:gs>
                </a:gsLst>
                <a:lin ang="2700000" scaled="1"/>
              </a:gradFill>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876424"/>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360863"/>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963295"/>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solidFill>
              <a:schemeClr val="bg1"/>
            </a:solidFill>
            <a:prstDash val="solid"/>
          </a:ln>
        </p:spPr>
        <p:txBody>
          <a:bodyPr anchor="ctr"/>
          <a:lstStyle/>
          <a:p>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706879"/>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191318"/>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3">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6096000" y="1244600"/>
            <a:ext cx="5373688" cy="3167380"/>
          </a:xfrm>
        </p:spPr>
        <p:txBody>
          <a:bodyPr/>
          <a:lstStyle>
            <a:lvl1pPr algn="l">
              <a:buNone/>
              <a:defRPr sz="4000"/>
            </a:lvl1pPr>
          </a:lstStyle>
          <a:p>
            <a:r>
              <a:t>“Quote slide 1, Lorem ipsum dolor sit amet, consect adipiscing elit, sed diam no nummy nibh euismod tincidunt ut laoreet”</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6096000" y="4726305"/>
            <a:ext cx="5373688" cy="673417"/>
          </a:xfrm>
        </p:spPr>
        <p:txBody>
          <a:bodyPr/>
          <a:lstStyle>
            <a:lvl1pPr marL="0" indent="0" algn="l">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2 Slide, Title, Body Copy, Graphic">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5683250"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323850" y="1555750"/>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Body copy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C50E13-06E5-F6BB-7667-EE8E9893D04E}"/>
              </a:ext>
            </a:extLst>
          </p:cNvPr>
          <p:cNvSpPr>
            <a:spLocks noGrp="1"/>
          </p:cNvSpPr>
          <p:nvPr>
            <p:ph type="sldNum" idx="10"/>
          </p:nvPr>
        </p:nvSpPr>
        <p:spPr/>
        <p:txBody>
          <a:bodyPr/>
          <a:lstStyle/>
          <a:p>
            <a:fld id="{C3C42FAE-7A31-41D3-A712-51D9B15D0B10}" type="slidenum">
              <a:t>‹#›</a:t>
            </a:fld>
            <a:endParaRPr/>
          </a:p>
        </p:txBody>
      </p:sp>
      <p:sp>
        <p:nvSpPr>
          <p:cNvPr id="2" name="Footer Placeholder 1">
            <a:extLst>
              <a:ext uri="{FF2B5EF4-FFF2-40B4-BE49-F238E27FC236}">
                <a16:creationId xmlns:a16="http://schemas.microsoft.com/office/drawing/2014/main" id="{8005315C-F3C4-4817-6DB5-825E9E8E9690}"/>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ubtitle, Chart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9" name="Chart Placeholder 8">
            <a:extLst>
              <a:ext uri="{FF2B5EF4-FFF2-40B4-BE49-F238E27FC236}">
                <a16:creationId xmlns:a16="http://schemas.microsoft.com/office/drawing/2014/main" id="{BD67761C-12AC-06B4-1032-66C47B765FE0}"/>
              </a:ext>
            </a:extLst>
          </p:cNvPr>
          <p:cNvSpPr>
            <a:spLocks noGrp="1"/>
          </p:cNvSpPr>
          <p:nvPr>
            <p:ph type="chart" idx="13" hasCustomPrompt="1"/>
          </p:nvPr>
        </p:nvSpPr>
        <p:spPr>
          <a:xfrm>
            <a:off x="722313" y="1555750"/>
            <a:ext cx="10747375" cy="4519613"/>
          </a:xfrm>
        </p:spPr>
        <p:txBody>
          <a:bodyPr tIns="914400"/>
          <a:lstStyle>
            <a:lvl1pPr marL="0" indent="0" algn="ctr">
              <a:buNone/>
              <a:defRPr/>
            </a:lvl1pPr>
          </a:lstStyle>
          <a:p>
            <a:r>
              <a:t>Click on icon below to add a chart</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ubtitle, Table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7" name="Table Placeholder 6">
            <a:extLst>
              <a:ext uri="{FF2B5EF4-FFF2-40B4-BE49-F238E27FC236}">
                <a16:creationId xmlns:a16="http://schemas.microsoft.com/office/drawing/2014/main" id="{B0E688F9-03DF-D354-A8AF-EF5349F39C6B}"/>
              </a:ext>
            </a:extLst>
          </p:cNvPr>
          <p:cNvSpPr>
            <a:spLocks noGrp="1"/>
          </p:cNvSpPr>
          <p:nvPr>
            <p:ph type="tbl" idx="13" hasCustomPrompt="1"/>
          </p:nvPr>
        </p:nvSpPr>
        <p:spPr>
          <a:xfrm>
            <a:off x="323850" y="1555750"/>
            <a:ext cx="11544300" cy="4519613"/>
          </a:xfrm>
        </p:spPr>
        <p:txBody>
          <a:bodyPr tIns="914400"/>
          <a:lstStyle>
            <a:lvl1pPr marL="0" indent="0" algn="ctr">
              <a:buNone/>
              <a:defRPr/>
            </a:lvl1pPr>
          </a:lstStyle>
          <a:p>
            <a:r>
              <a:t>Click on icon below to add a table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2 Slide Title, Chart">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6" name="Chart Placeholder 5">
            <a:extLst>
              <a:ext uri="{FF2B5EF4-FFF2-40B4-BE49-F238E27FC236}">
                <a16:creationId xmlns:a16="http://schemas.microsoft.com/office/drawing/2014/main" id="{89EC94CF-F758-4A7C-3B39-A1EFC1EA815A}"/>
              </a:ext>
            </a:extLst>
          </p:cNvPr>
          <p:cNvSpPr>
            <a:spLocks noGrp="1"/>
          </p:cNvSpPr>
          <p:nvPr>
            <p:ph type="chart" idx="12" hasCustomPrompt="1"/>
          </p:nvPr>
        </p:nvSpPr>
        <p:spPr>
          <a:xfrm>
            <a:off x="6581775" y="952500"/>
            <a:ext cx="4887913" cy="4968875"/>
          </a:xfrm>
        </p:spPr>
        <p:txBody>
          <a:bodyPr tIns="914400"/>
          <a:lstStyle>
            <a:lvl1pPr marL="0" indent="0" algn="ctr">
              <a:buNone/>
              <a:defRPr/>
            </a:lvl1pPr>
          </a:lstStyle>
          <a:p>
            <a:r>
              <a:t>Click icon below to add chart</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1, Title, Subtitl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0C9451-8976-3C96-3C4E-F9624BB318AB}"/>
              </a:ext>
            </a:extLst>
          </p:cNvPr>
          <p:cNvSpPr>
            <a:spLocks noGrp="1"/>
          </p:cNvSpPr>
          <p:nvPr>
            <p:ph type="title"/>
          </p:nvPr>
        </p:nvSpPr>
        <p:spPr>
          <a:xfrm>
            <a:off x="2278063" y="952500"/>
            <a:ext cx="7634288" cy="2476500"/>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3738563"/>
            <a:ext cx="7634287" cy="936625"/>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Footer Placeholder 3">
            <a:extLst>
              <a:ext uri="{FF2B5EF4-FFF2-40B4-BE49-F238E27FC236}">
                <a16:creationId xmlns:a16="http://schemas.microsoft.com/office/drawing/2014/main" id="{663146B2-9533-23DF-7DA9-0EBFD969778A}"/>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8FD4EDA1-89C5-8341-7EDE-FCCAAA0607CB}"/>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hoto Statement 1, Title, Sub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BE3366F-F43E-6996-B128-0A001300FD22}"/>
              </a:ext>
            </a:extLst>
          </p:cNvPr>
          <p:cNvSpPr>
            <a:spLocks noGrp="1"/>
          </p:cNvSpPr>
          <p:nvPr>
            <p:ph type="pic" idx="13" hasCustomPrompt="1"/>
          </p:nvPr>
        </p:nvSpPr>
        <p:spPr>
          <a:xfrm>
            <a:off x="0" y="0"/>
            <a:ext cx="12192000" cy="6858000"/>
          </a:xfrm>
        </p:spPr>
        <p:txBody>
          <a:bodyPr tIns="274320"/>
          <a:lstStyle>
            <a:lvl1pPr marL="0" indent="0" algn="ctr">
              <a:buNone/>
              <a:defRPr/>
            </a:lvl1pPr>
          </a:lstStyle>
          <a:p>
            <a:r>
              <a:t>Image placeholder</a:t>
            </a:r>
          </a:p>
        </p:txBody>
      </p:sp>
      <p:sp>
        <p:nvSpPr>
          <p:cNvPr id="6" name="Title 5">
            <a:extLst>
              <a:ext uri="{FF2B5EF4-FFF2-40B4-BE49-F238E27FC236}">
                <a16:creationId xmlns:a16="http://schemas.microsoft.com/office/drawing/2014/main" id="{576B6A35-8740-9D1E-A189-71BC5C742FCC}"/>
              </a:ext>
            </a:extLst>
          </p:cNvPr>
          <p:cNvSpPr>
            <a:spLocks noGrp="1"/>
          </p:cNvSpPr>
          <p:nvPr>
            <p:ph type="title"/>
          </p:nvPr>
        </p:nvSpPr>
        <p:spPr>
          <a:xfrm>
            <a:off x="2278063" y="952500"/>
            <a:ext cx="7634288" cy="1537465"/>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2492374"/>
            <a:ext cx="7634287" cy="311152"/>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p:txBody>
      </p:sp>
      <p:sp>
        <p:nvSpPr>
          <p:cNvPr id="3" name="Footer Placeholder 2">
            <a:extLst>
              <a:ext uri="{FF2B5EF4-FFF2-40B4-BE49-F238E27FC236}">
                <a16:creationId xmlns:a16="http://schemas.microsoft.com/office/drawing/2014/main" id="{5D703969-9100-4398-1394-9B9B34222C66}"/>
              </a:ext>
            </a:extLst>
          </p:cNvPr>
          <p:cNvSpPr>
            <a:spLocks noGrp="1"/>
          </p:cNvSpPr>
          <p:nvPr>
            <p:ph type="ftr" idx="14"/>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D6CFB270-12CC-4B92-85FD-B7710644F26B}"/>
              </a:ext>
            </a:extLst>
          </p:cNvPr>
          <p:cNvSpPr>
            <a:spLocks noGrp="1"/>
          </p:cNvSpPr>
          <p:nvPr>
            <p:ph type="sldNum" idx="12"/>
          </p:nvPr>
        </p:nvSpPr>
        <p:spPr/>
        <p:txBody>
          <a:bodyPr/>
          <a:lstStyle/>
          <a:p>
            <a:fld id="{C3C42FAE-7A31-41D3-A712-51D9B15D0B10}" type="slidenum">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Segue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a:xfrm>
            <a:off x="323850" y="2492231"/>
            <a:ext cx="7634288" cy="1870075"/>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gu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DF17AB4-9E08-0A74-D302-44EB1D55BE7A}"/>
              </a:ext>
            </a:extLst>
          </p:cNvPr>
          <p:cNvSpPr>
            <a:spLocks noGrp="1"/>
          </p:cNvSpPr>
          <p:nvPr>
            <p:ph type="title"/>
          </p:nvPr>
        </p:nvSpPr>
        <p:spPr>
          <a:xfrm>
            <a:off x="323850" y="2492375"/>
            <a:ext cx="7634288" cy="1868488"/>
          </a:xfrm>
        </p:spPr>
        <p:txBody>
          <a:bodyPr wrap="square" anchor="ctr">
            <a:noAutofit/>
          </a:bodyPr>
          <a:lstStyle>
            <a:lvl1pPr>
              <a:buNone/>
              <a:defRPr sz="4000"/>
            </a:lvl1pPr>
          </a:lstStyle>
          <a:p>
            <a:r>
              <a:t>Click to edit Master title style</a:t>
            </a: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Segu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634288"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Segue 4">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235825"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5412D7-A614-E163-F131-6847698E7759}"/>
              </a:ext>
            </a:extLst>
          </p:cNvPr>
          <p:cNvSpPr>
            <a:spLocks noGrp="1"/>
          </p:cNvSpPr>
          <p:nvPr/>
        </p:nvSpPr>
        <p:spPr>
          <a:xfrm>
            <a:off x="0" y="1244601"/>
            <a:ext cx="10888663" cy="436721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pic>
        <p:nvPicPr>
          <p:cNvPr id="7"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hank you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losing 1">
    <p:spTree>
      <p:nvGrpSpPr>
        <p:cNvPr id="1" name=""/>
        <p:cNvGrpSpPr/>
        <p:nvPr/>
      </p:nvGrpSpPr>
      <p:grpSpPr>
        <a:xfrm>
          <a:off x="0" y="0"/>
          <a:ext cx="0" cy="0"/>
          <a:chOff x="0" y="0"/>
          <a:chExt cx="0" cy="0"/>
        </a:xfrm>
      </p:grpSpPr>
      <p:sp>
        <p:nvSpPr>
          <p:cNvPr id="4" name="Freeform 24">
            <a:extLst>
              <a:ext uri="{FF2B5EF4-FFF2-40B4-BE49-F238E27FC236}">
                <a16:creationId xmlns:a16="http://schemas.microsoft.com/office/drawing/2014/main" id="{0848F511-CD0C-4E21-1411-CA7D0F6E3A43}"/>
              </a:ext>
            </a:extLst>
          </p:cNvPr>
          <p:cNvSpPr>
            <a:spLocks noGrp="1"/>
          </p:cNvSpPr>
          <p:nvPr/>
        </p:nvSpPr>
        <p:spPr>
          <a:xfrm>
            <a:off x="5831690" y="3403715"/>
            <a:ext cx="53378" cy="210276"/>
          </a:xfrm>
          <a:custGeom>
            <a:avLst/>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ahLst/>
            <a:cxnLst/>
            <a:rect l="l" t="t" r="r" b="b"/>
            <a:pathLst>
              <a:path w="44467" h="175170">
                <a:moveTo>
                  <a:pt x="0" y="0"/>
                </a:moveTo>
                <a:lnTo>
                  <a:pt x="44467" y="0"/>
                </a:lnTo>
                <a:lnTo>
                  <a:pt x="44467" y="175170"/>
                </a:lnTo>
                <a:lnTo>
                  <a:pt x="0" y="175170"/>
                </a:lnTo>
                <a:close/>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a:ext uri="{FF2B5EF4-FFF2-40B4-BE49-F238E27FC236}">
                <a16:creationId xmlns:a16="http://schemas.microsoft.com/office/drawing/2014/main" id="{CE7BD058-D0FF-047D-F5E7-7A0A610E086D}"/>
              </a:ext>
            </a:extLst>
          </p:cNvPr>
          <p:cNvSpPr>
            <a:spLocks noGrp="1"/>
          </p:cNvSpPr>
          <p:nvPr/>
        </p:nvSpPr>
        <p:spPr>
          <a:xfrm>
            <a:off x="6154144" y="3400033"/>
            <a:ext cx="161334" cy="217748"/>
          </a:xfrm>
          <a:custGeom>
            <a:avLst/>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ahLst/>
            <a:cxn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a:ext uri="{FF2B5EF4-FFF2-40B4-BE49-F238E27FC236}">
                <a16:creationId xmlns:a16="http://schemas.microsoft.com/office/drawing/2014/main" id="{83623A44-0F0F-1370-66F6-0846CAF90985}"/>
              </a:ext>
            </a:extLst>
          </p:cNvPr>
          <p:cNvSpPr>
            <a:spLocks noGrp="1"/>
          </p:cNvSpPr>
          <p:nvPr/>
        </p:nvSpPr>
        <p:spPr>
          <a:xfrm>
            <a:off x="5597040" y="3400033"/>
            <a:ext cx="161553" cy="217748"/>
          </a:xfrm>
          <a:custGeom>
            <a:avLst/>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ahLst/>
            <a:cxn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a:ext uri="{FF2B5EF4-FFF2-40B4-BE49-F238E27FC236}">
                <a16:creationId xmlns:a16="http://schemas.microsoft.com/office/drawing/2014/main" id="{8ABAB402-379C-A6D8-AF39-B22717AC8652}"/>
              </a:ext>
            </a:extLst>
          </p:cNvPr>
          <p:cNvSpPr>
            <a:spLocks noGrp="1"/>
          </p:cNvSpPr>
          <p:nvPr/>
        </p:nvSpPr>
        <p:spPr>
          <a:xfrm>
            <a:off x="6375724" y="3399999"/>
            <a:ext cx="219185" cy="218412"/>
          </a:xfrm>
          <a:custGeom>
            <a:avLst/>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ahLst/>
            <a:cxn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a:ext uri="{FF2B5EF4-FFF2-40B4-BE49-F238E27FC236}">
                <a16:creationId xmlns:a16="http://schemas.microsoft.com/office/drawing/2014/main" id="{A0F49F63-D861-23D0-7A32-6898EA38AA9E}"/>
              </a:ext>
            </a:extLst>
          </p:cNvPr>
          <p:cNvSpPr>
            <a:spLocks noGrp="1"/>
          </p:cNvSpPr>
          <p:nvPr/>
        </p:nvSpPr>
        <p:spPr>
          <a:xfrm>
            <a:off x="5956314" y="3399925"/>
            <a:ext cx="145321" cy="217856"/>
          </a:xfrm>
          <a:custGeom>
            <a:avLst/>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ahLst/>
            <a:cxn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a:ext uri="{FF2B5EF4-FFF2-40B4-BE49-F238E27FC236}">
                <a16:creationId xmlns:a16="http://schemas.microsoft.com/office/drawing/2014/main" id="{62CA1BBC-594E-0B3B-ACB5-5180E647EB68}"/>
              </a:ext>
            </a:extLst>
          </p:cNvPr>
          <p:cNvSpPr>
            <a:spLocks noGrp="1"/>
          </p:cNvSpPr>
          <p:nvPr/>
        </p:nvSpPr>
        <p:spPr>
          <a:xfrm>
            <a:off x="5487122" y="3151534"/>
            <a:ext cx="53051" cy="106155"/>
          </a:xfrm>
          <a:custGeom>
            <a:avLst/>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ahLst/>
            <a:cxn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a:ext uri="{FF2B5EF4-FFF2-40B4-BE49-F238E27FC236}">
                <a16:creationId xmlns:a16="http://schemas.microsoft.com/office/drawing/2014/main" id="{51B57147-07A3-179D-3B44-669E31BA0779}"/>
              </a:ext>
            </a:extLst>
          </p:cNvPr>
          <p:cNvSpPr>
            <a:spLocks noGrp="1"/>
          </p:cNvSpPr>
          <p:nvPr/>
        </p:nvSpPr>
        <p:spPr>
          <a:xfrm>
            <a:off x="5632989" y="3079095"/>
            <a:ext cx="52943" cy="180175"/>
          </a:xfrm>
          <a:custGeom>
            <a:avLst/>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ahLst/>
            <a:cxn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a:ext uri="{FF2B5EF4-FFF2-40B4-BE49-F238E27FC236}">
                <a16:creationId xmlns:a16="http://schemas.microsoft.com/office/drawing/2014/main" id="{D2F4977B-6C3A-1749-28D3-74067758D800}"/>
              </a:ext>
            </a:extLst>
          </p:cNvPr>
          <p:cNvSpPr>
            <a:spLocks noGrp="1"/>
          </p:cNvSpPr>
          <p:nvPr/>
        </p:nvSpPr>
        <p:spPr>
          <a:xfrm>
            <a:off x="5778528" y="2980021"/>
            <a:ext cx="52943" cy="331765"/>
          </a:xfrm>
          <a:custGeom>
            <a:avLst/>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ahLst/>
            <a:cxn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a:ext uri="{FF2B5EF4-FFF2-40B4-BE49-F238E27FC236}">
                <a16:creationId xmlns:a16="http://schemas.microsoft.com/office/drawing/2014/main" id="{7539BE40-6861-0AFB-E72A-25B2630122C7}"/>
              </a:ext>
            </a:extLst>
          </p:cNvPr>
          <p:cNvSpPr>
            <a:spLocks noGrp="1"/>
          </p:cNvSpPr>
          <p:nvPr/>
        </p:nvSpPr>
        <p:spPr>
          <a:xfrm>
            <a:off x="5924177" y="3079095"/>
            <a:ext cx="52943" cy="180175"/>
          </a:xfrm>
          <a:custGeom>
            <a:avLst/>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ahLst/>
            <a:cxn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a:ext uri="{FF2B5EF4-FFF2-40B4-BE49-F238E27FC236}">
                <a16:creationId xmlns:a16="http://schemas.microsoft.com/office/drawing/2014/main" id="{8726BE87-6F3D-1887-CD70-E89DF7FE7BFC}"/>
              </a:ext>
            </a:extLst>
          </p:cNvPr>
          <p:cNvSpPr>
            <a:spLocks noGrp="1"/>
          </p:cNvSpPr>
          <p:nvPr/>
        </p:nvSpPr>
        <p:spPr>
          <a:xfrm>
            <a:off x="6069283" y="3151531"/>
            <a:ext cx="52943" cy="107738"/>
          </a:xfrm>
          <a:custGeom>
            <a:avLst/>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ahLst/>
            <a:cxn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a:ext uri="{FF2B5EF4-FFF2-40B4-BE49-F238E27FC236}">
                <a16:creationId xmlns:a16="http://schemas.microsoft.com/office/drawing/2014/main" id="{EB3564BA-B2F9-645B-AD4D-30EC3199A221}"/>
              </a:ext>
            </a:extLst>
          </p:cNvPr>
          <p:cNvSpPr>
            <a:spLocks noGrp="1"/>
          </p:cNvSpPr>
          <p:nvPr/>
        </p:nvSpPr>
        <p:spPr>
          <a:xfrm>
            <a:off x="6215310" y="3077407"/>
            <a:ext cx="52946" cy="181863"/>
          </a:xfrm>
          <a:custGeom>
            <a:avLst/>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ahLst/>
            <a:cxn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a:ext uri="{FF2B5EF4-FFF2-40B4-BE49-F238E27FC236}">
                <a16:creationId xmlns:a16="http://schemas.microsoft.com/office/drawing/2014/main" id="{0B4EEF7D-1D1F-7611-2AD6-3168E2EE165C}"/>
              </a:ext>
            </a:extLst>
          </p:cNvPr>
          <p:cNvSpPr>
            <a:spLocks noGrp="1"/>
          </p:cNvSpPr>
          <p:nvPr/>
        </p:nvSpPr>
        <p:spPr>
          <a:xfrm>
            <a:off x="6360959" y="2978332"/>
            <a:ext cx="52948" cy="335140"/>
          </a:xfrm>
          <a:custGeom>
            <a:avLst/>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ahLst/>
            <a:cxn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a:ext uri="{FF2B5EF4-FFF2-40B4-BE49-F238E27FC236}">
                <a16:creationId xmlns:a16="http://schemas.microsoft.com/office/drawing/2014/main" id="{9A55B643-50C9-ECA1-F047-7AF4A01DADB7}"/>
              </a:ext>
            </a:extLst>
          </p:cNvPr>
          <p:cNvSpPr>
            <a:spLocks noGrp="1"/>
          </p:cNvSpPr>
          <p:nvPr/>
        </p:nvSpPr>
        <p:spPr>
          <a:xfrm>
            <a:off x="6506338" y="3078987"/>
            <a:ext cx="53160" cy="180286"/>
          </a:xfrm>
          <a:custGeom>
            <a:avLst/>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ahLst/>
            <a:cxn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a:ext uri="{FF2B5EF4-FFF2-40B4-BE49-F238E27FC236}">
                <a16:creationId xmlns:a16="http://schemas.microsoft.com/office/drawing/2014/main" id="{46A6ACD1-E596-9055-243C-B9CF5CFB813D}"/>
              </a:ext>
            </a:extLst>
          </p:cNvPr>
          <p:cNvSpPr>
            <a:spLocks noGrp="1"/>
          </p:cNvSpPr>
          <p:nvPr/>
        </p:nvSpPr>
        <p:spPr>
          <a:xfrm>
            <a:off x="6651932" y="3151534"/>
            <a:ext cx="52946" cy="109425"/>
          </a:xfrm>
          <a:custGeom>
            <a:avLst/>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ahLst/>
            <a:cxn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image" Target="../media/image1.svg"/><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F21F2830-F0A3-2EAC-C709-5C928A8C49EF}"/>
              </a:ext>
            </a:extLst>
          </p:cNvPr>
          <p:cNvSpPr>
            <a:spLocks noGrp="1"/>
          </p:cNvSpPr>
          <p:nvPr>
            <p:ph type="title"/>
          </p:nvPr>
        </p:nvSpPr>
        <p:spPr>
          <a:xfrm>
            <a:off x="323850" y="298146"/>
            <a:ext cx="11544300" cy="492443"/>
          </a:xfrm>
          <a:prstGeom prst="rect">
            <a:avLst/>
          </a:prstGeom>
          <a:noFill/>
        </p:spPr>
        <p:txBody>
          <a:bodyPr vert="horz" lIns="0" tIns="0" rIns="0" bIns="0" anchor="t">
            <a:noAutofit/>
          </a:bodyPr>
          <a:lstStyle/>
          <a:p>
            <a:r>
              <a:t>Click to edit Master title style</a:t>
            </a:r>
          </a:p>
        </p:txBody>
      </p:sp>
      <p:sp>
        <p:nvSpPr>
          <p:cNvPr id="7" name="Text Placeholder 2">
            <a:extLst>
              <a:ext uri="{FF2B5EF4-FFF2-40B4-BE49-F238E27FC236}">
                <a16:creationId xmlns:a16="http://schemas.microsoft.com/office/drawing/2014/main" id="{455BE63C-8C0C-FC75-3DF2-F8F96A3C87BE}"/>
              </a:ext>
            </a:extLst>
          </p:cNvPr>
          <p:cNvSpPr>
            <a:spLocks noGrp="1"/>
          </p:cNvSpPr>
          <p:nvPr>
            <p:ph type="body" idx="1"/>
          </p:nvPr>
        </p:nvSpPr>
        <p:spPr>
          <a:xfrm>
            <a:off x="323754" y="1244599"/>
            <a:ext cx="11544396" cy="4835321"/>
          </a:xfrm>
          <a:prstGeom prst="rect">
            <a:avLst/>
          </a:prstGeom>
          <a:noFill/>
        </p:spPr>
        <p:txBody>
          <a:bodyPr vert="horz" lIns="0" tIns="0" rIns="0" bIns="0">
            <a:no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Rectangle 4">
            <a:extLst>
              <a:ext uri="{FF2B5EF4-FFF2-40B4-BE49-F238E27FC236}">
                <a16:creationId xmlns:a16="http://schemas.microsoft.com/office/drawing/2014/main" id="{239B4362-70A2-3ADC-C4AA-ADA6E4E09C94}"/>
              </a:ext>
            </a:extLst>
          </p:cNvPr>
          <p:cNvSpPr>
            <a:spLocks noGrp="1"/>
          </p:cNvSpPr>
          <p:nvPr/>
        </p:nvSpPr>
        <p:spPr>
          <a:xfrm>
            <a:off x="323850" y="6448930"/>
            <a:ext cx="3285935" cy="409069"/>
          </a:xfrm>
          <a:prstGeom prst="rect">
            <a:avLst/>
          </a:prstGeom>
          <a:noFill/>
          <a:ln w="9525">
            <a:noFill/>
          </a:ln>
        </p:spPr>
        <p:txBody>
          <a:bodyPr wrap="square" lIns="0" tIns="0" rIns="0" bIns="0" anchor="t">
            <a:noAutofit/>
          </a:bodyPr>
          <a:lstStyle/>
          <a:p>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a:ext uri="{FF2B5EF4-FFF2-40B4-BE49-F238E27FC236}">
                <a16:creationId xmlns:a16="http://schemas.microsoft.com/office/drawing/2014/main" id="{B042B348-7CFA-9BD7-7FBA-A3E160A67776}"/>
              </a:ext>
            </a:extLst>
          </p:cNvPr>
          <p:cNvSpPr>
            <a:spLocks noGrp="1"/>
          </p:cNvSpPr>
          <p:nvPr>
            <p:ph type="ftr" idx="3"/>
          </p:nvPr>
        </p:nvSpPr>
        <p:spPr>
          <a:xfrm>
            <a:off x="4230688" y="6445885"/>
            <a:ext cx="3727450" cy="411480"/>
          </a:xfrm>
          <a:prstGeom prst="rect">
            <a:avLst/>
          </a:prstGeom>
        </p:spPr>
        <p:txBody>
          <a:bodyPr vert="horz" lIns="0" tIns="0" rIns="0" bIns="0" anchor="t"/>
          <a:lstStyle>
            <a:lvl1pPr algn="ctr">
              <a:buNone/>
              <a:defRPr sz="700" b="0" i="0" u="none" kern="1200" cap="none" spc="0" baseline="0">
                <a:ln>
                  <a:noFill/>
                </a:ln>
                <a:solidFill>
                  <a:schemeClr val="bg1"/>
                </a:solidFill>
                <a:latin typeface="+mn-lt"/>
                <a:ea typeface="+mn-lt"/>
                <a:cs typeface="+mn-lt"/>
              </a:defRPr>
            </a:lvl1pPr>
          </a:lstStyle>
          <a:p>
            <a:pPr defTabSz="814318">
              <a:buNone/>
            </a:pPr>
            <a:r>
              <a:t>Session ID: BRKSEC-XXXX</a:t>
            </a:r>
          </a:p>
        </p:txBody>
      </p:sp>
      <p:sp>
        <p:nvSpPr>
          <p:cNvPr id="2" name="Slide Number Placeholder 1">
            <a:extLst>
              <a:ext uri="{FF2B5EF4-FFF2-40B4-BE49-F238E27FC236}">
                <a16:creationId xmlns:a16="http://schemas.microsoft.com/office/drawing/2014/main" id="{10ECAE8E-F596-3416-3914-B7C065191A87}"/>
              </a:ext>
            </a:extLst>
          </p:cNvPr>
          <p:cNvSpPr>
            <a:spLocks noGrp="1"/>
          </p:cNvSpPr>
          <p:nvPr>
            <p:ph type="sldNum" idx="4"/>
          </p:nvPr>
        </p:nvSpPr>
        <p:spPr>
          <a:xfrm>
            <a:off x="9115425" y="6448929"/>
            <a:ext cx="1773238" cy="411480"/>
          </a:xfrm>
          <a:prstGeom prst="rect">
            <a:avLst/>
          </a:prstGeom>
        </p:spPr>
        <p:txBody>
          <a:bodyPr vert="horz" lIns="0" tIns="0" rIns="0" bIns="0" anchor="t"/>
          <a:lstStyle>
            <a:lvl1pPr algn="r">
              <a:buNone/>
              <a:defRPr sz="700" b="0" i="0" u="none" kern="1200" cap="none" spc="0" baseline="0">
                <a:ln>
                  <a:noFill/>
                </a:ln>
                <a:solidFill>
                  <a:schemeClr val="bg1"/>
                </a:solidFill>
                <a:latin typeface="+mn-lt"/>
                <a:ea typeface="+mn-lt"/>
                <a:cs typeface="+mn-lt"/>
              </a:defRPr>
            </a:lvl1pPr>
          </a:lstStyle>
          <a:p>
            <a:fld id="{C3C42FAE-7A31-41D3-A712-51D9B15D0B10}" type="slidenum">
              <a:t>‹#›</a:t>
            </a:fld>
            <a:endParaRPr/>
          </a:p>
        </p:txBody>
      </p:sp>
      <p:pic>
        <p:nvPicPr>
          <p:cNvPr id="16" name="Picture 7"/>
          <p:cNvPicPr>
            <a:picLocks noChangeAspect="1"/>
          </p:cNvPicPr>
          <p:nvPr/>
        </p:nvPicPr>
        <p:blipFill>
          <a:blip>
            <a:extLst>
              <a:ext uri="{96DAC541-7B7A-43D3-8B79-37D633B846F1}">
                <asvg:svgBlip xmlns:asvg="http://schemas.microsoft.com/office/drawing/2016/SVG/main" r:embed="rId58"/>
              </a:ext>
            </a:extLst>
          </a:blip>
          <a:srcRect/>
          <a:stretch/>
        </p:blipFill>
        <p:spPr>
          <a:xfrm>
            <a:off x="11520088" y="6354445"/>
            <a:ext cx="348061" cy="182880"/>
          </a:xfrm>
          <a:prstGeom prst="rect">
            <a:avLst/>
          </a:prstGeom>
        </p:spPr>
      </p:pic>
      <p:sp>
        <p:nvSpPr>
          <p:cNvPr id="8" name="TextBox 7">
            <a:extLst>
              <a:ext uri="{FF2B5EF4-FFF2-40B4-BE49-F238E27FC236}">
                <a16:creationId xmlns:a16="http://schemas.microsoft.com/office/drawing/2014/main" id="{DCAE3397-B7E0-F9B7-D1AC-C859F3CFC5AF}"/>
              </a:ext>
            </a:extLst>
          </p:cNvPr>
          <p:cNvSpPr>
            <a:spLocks noGrp="1"/>
          </p:cNvSpPr>
          <p:nvPr/>
        </p:nvSpPr>
        <p:spPr>
          <a:xfrm>
            <a:off x="11385550" y="6672580"/>
            <a:ext cx="765175" cy="107722"/>
          </a:xfrm>
          <a:prstGeom prst="rect">
            <a:avLst/>
          </a:prstGeom>
        </p:spPr>
        <p:txBody>
          <a:bodyPr lIns="0" tIns="0" rIns="0" bIns="0">
            <a:spAutoFit/>
          </a:bodyPr>
          <a:lstStyle/>
          <a:p>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Lst>
  <p:hf sldNum="0" hdr="0" ftr="0" dt="0"/>
  <p:txStyles>
    <p:titleStyle>
      <a:lvl1pPr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algn="l" defTabSz="912276">
        <a:lnSpc>
          <a:spcPct val="80000"/>
        </a:lnSpc>
        <a:spcBef>
          <a:spcPct val="0"/>
        </a:spcBef>
        <a:spcAft>
          <a:spcPct val="0"/>
        </a:spcAft>
        <a:buNone/>
        <a:defRPr sz="4267">
          <a:solidFill>
            <a:srgbClr val="676767"/>
          </a:solidFill>
          <a:latin typeface="Arial"/>
          <a:ea typeface="Arial"/>
          <a:cs typeface="Arial"/>
        </a:defRPr>
      </a:lvl2pPr>
      <a:lvl3pPr algn="l" defTabSz="912276">
        <a:lnSpc>
          <a:spcPct val="80000"/>
        </a:lnSpc>
        <a:spcBef>
          <a:spcPct val="0"/>
        </a:spcBef>
        <a:spcAft>
          <a:spcPct val="0"/>
        </a:spcAft>
        <a:buNone/>
        <a:defRPr sz="4267">
          <a:solidFill>
            <a:srgbClr val="676767"/>
          </a:solidFill>
          <a:latin typeface="Arial"/>
          <a:ea typeface="Arial"/>
          <a:cs typeface="Arial"/>
        </a:defRPr>
      </a:lvl3pPr>
      <a:lvl4pPr algn="l" defTabSz="912276">
        <a:lnSpc>
          <a:spcPct val="80000"/>
        </a:lnSpc>
        <a:spcBef>
          <a:spcPct val="0"/>
        </a:spcBef>
        <a:spcAft>
          <a:spcPct val="0"/>
        </a:spcAft>
        <a:buNone/>
        <a:defRPr sz="4267">
          <a:solidFill>
            <a:srgbClr val="676767"/>
          </a:solidFill>
          <a:latin typeface="Arial"/>
          <a:ea typeface="Arial"/>
          <a:cs typeface="Arial"/>
        </a:defRPr>
      </a:lvl4pPr>
      <a:lvl5pPr algn="l" defTabSz="912276">
        <a:lnSpc>
          <a:spcPct val="80000"/>
        </a:lnSpc>
        <a:spcBef>
          <a:spcPct val="0"/>
        </a:spcBef>
        <a:spcAft>
          <a:spcPct val="0"/>
        </a:spcAft>
        <a:buNone/>
        <a:defRPr sz="4267">
          <a:solidFill>
            <a:srgbClr val="676767"/>
          </a:solidFill>
          <a:latin typeface="Arial"/>
          <a:ea typeface="Arial"/>
          <a:cs typeface="Arial"/>
        </a:defRPr>
      </a:lvl5pPr>
      <a:lvl6pPr marL="609595" algn="l" defTabSz="912276">
        <a:lnSpc>
          <a:spcPct val="80000"/>
        </a:lnSpc>
        <a:spcBef>
          <a:spcPct val="0"/>
        </a:spcBef>
        <a:spcAft>
          <a:spcPct val="0"/>
        </a:spcAft>
        <a:buNone/>
        <a:defRPr sz="4267">
          <a:solidFill>
            <a:srgbClr val="676767"/>
          </a:solidFill>
          <a:latin typeface="Arial"/>
          <a:ea typeface="Arial"/>
          <a:cs typeface="Arial"/>
        </a:defRPr>
      </a:lvl6pPr>
      <a:lvl7pPr marL="1219190" algn="l" defTabSz="912276">
        <a:lnSpc>
          <a:spcPct val="80000"/>
        </a:lnSpc>
        <a:spcBef>
          <a:spcPct val="0"/>
        </a:spcBef>
        <a:spcAft>
          <a:spcPct val="0"/>
        </a:spcAft>
        <a:buNone/>
        <a:defRPr sz="4267">
          <a:solidFill>
            <a:srgbClr val="676767"/>
          </a:solidFill>
          <a:latin typeface="Arial"/>
          <a:ea typeface="Arial"/>
          <a:cs typeface="Arial"/>
        </a:defRPr>
      </a:lvl7pPr>
      <a:lvl8pPr marL="1828785" algn="l" defTabSz="912276">
        <a:lnSpc>
          <a:spcPct val="80000"/>
        </a:lnSpc>
        <a:spcBef>
          <a:spcPct val="0"/>
        </a:spcBef>
        <a:spcAft>
          <a:spcPct val="0"/>
        </a:spcAft>
        <a:buNone/>
        <a:defRPr sz="4267">
          <a:solidFill>
            <a:srgbClr val="676767"/>
          </a:solidFill>
          <a:latin typeface="Arial"/>
          <a:ea typeface="Arial"/>
          <a:cs typeface="Arial"/>
        </a:defRPr>
      </a:lvl8pPr>
      <a:lvl9pPr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marL="1151798" indent="-228592" algn="l" defTabSz="914362">
        <a:spcBef>
          <a:spcPts val="800"/>
        </a:spcBef>
        <a:buFont typeface="Arial"/>
        <a:buChar char="•"/>
        <a:defRPr sz="1200" kern="1200" baseline="0">
          <a:solidFill>
            <a:schemeClr val="tx1"/>
          </a:solidFill>
          <a:latin typeface="+mn-lt"/>
          <a:ea typeface="+mn-lt"/>
          <a:cs typeface="+mn-lt"/>
        </a:defRPr>
      </a:lvl6pPr>
      <a:lvl7pPr marL="1247781" indent="-228561" algn="l" defTabSz="914362">
        <a:spcBef>
          <a:spcPts val="800"/>
        </a:spcBef>
        <a:buFont typeface="Arial"/>
        <a:buChar char="•"/>
        <a:defRPr sz="1067" kern="1200" baseline="0">
          <a:solidFill>
            <a:schemeClr val="tx1"/>
          </a:solidFill>
          <a:latin typeface="+mn-lt"/>
          <a:ea typeface="+mn-lt"/>
          <a:cs typeface="+mn-lt"/>
        </a:defRPr>
      </a:lvl7pPr>
      <a:lvl8pPr marL="3200267" indent="0" algn="l" defTabSz="914362">
        <a:spcBef>
          <a:spcPct val="20000"/>
        </a:spcBef>
        <a:buFont typeface="Arial"/>
        <a:buNone/>
        <a:defRPr sz="2000" kern="1200">
          <a:solidFill>
            <a:schemeClr val="tx1"/>
          </a:solidFill>
          <a:latin typeface="+mn-lt"/>
          <a:ea typeface="+mn-lt"/>
          <a:cs typeface="+mn-lt"/>
        </a:defRPr>
      </a:lvl8pPr>
      <a:lvl9pPr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marL="0" algn="l" defTabSz="914362">
        <a:buNone/>
        <a:defRPr sz="1867" kern="1200">
          <a:solidFill>
            <a:schemeClr val="tx1"/>
          </a:solidFill>
          <a:latin typeface="+mn-lt"/>
          <a:ea typeface="+mn-lt"/>
          <a:cs typeface="+mn-lt"/>
        </a:defRPr>
      </a:lvl1pPr>
      <a:lvl2pPr marL="457178" algn="l" defTabSz="914362">
        <a:buNone/>
        <a:defRPr sz="1867" kern="1200">
          <a:solidFill>
            <a:schemeClr val="tx1"/>
          </a:solidFill>
          <a:latin typeface="+mn-lt"/>
          <a:ea typeface="+mn-lt"/>
          <a:cs typeface="+mn-lt"/>
        </a:defRPr>
      </a:lvl2pPr>
      <a:lvl3pPr marL="914362" algn="l" defTabSz="914362">
        <a:buNone/>
        <a:defRPr sz="1867" kern="1200">
          <a:solidFill>
            <a:schemeClr val="tx1"/>
          </a:solidFill>
          <a:latin typeface="+mn-lt"/>
          <a:ea typeface="+mn-lt"/>
          <a:cs typeface="+mn-lt"/>
        </a:defRPr>
      </a:lvl3pPr>
      <a:lvl4pPr marL="1371542" algn="l" defTabSz="914362">
        <a:buNone/>
        <a:defRPr sz="1867" kern="1200">
          <a:solidFill>
            <a:schemeClr val="tx1"/>
          </a:solidFill>
          <a:latin typeface="+mn-lt"/>
          <a:ea typeface="+mn-lt"/>
          <a:cs typeface="+mn-lt"/>
        </a:defRPr>
      </a:lvl4pPr>
      <a:lvl5pPr marL="1828725" algn="l" defTabSz="914362">
        <a:buNone/>
        <a:defRPr sz="1867" kern="1200">
          <a:solidFill>
            <a:schemeClr val="tx1"/>
          </a:solidFill>
          <a:latin typeface="+mn-lt"/>
          <a:ea typeface="+mn-lt"/>
          <a:cs typeface="+mn-lt"/>
        </a:defRPr>
      </a:lvl5pPr>
      <a:lvl6pPr marL="2285903" algn="l" defTabSz="914362">
        <a:buNone/>
        <a:defRPr sz="1867" kern="1200">
          <a:solidFill>
            <a:schemeClr val="tx1"/>
          </a:solidFill>
          <a:latin typeface="+mn-lt"/>
          <a:ea typeface="+mn-lt"/>
          <a:cs typeface="+mn-lt"/>
        </a:defRPr>
      </a:lvl6pPr>
      <a:lvl7pPr marL="2743086" algn="l" defTabSz="914362">
        <a:buNone/>
        <a:defRPr sz="1867" kern="1200">
          <a:solidFill>
            <a:schemeClr val="tx1"/>
          </a:solidFill>
          <a:latin typeface="+mn-lt"/>
          <a:ea typeface="+mn-lt"/>
          <a:cs typeface="+mn-lt"/>
        </a:defRPr>
      </a:lvl7pPr>
      <a:lvl8pPr marL="3200267" algn="l" defTabSz="914362">
        <a:buNone/>
        <a:defRPr sz="1867" kern="1200">
          <a:solidFill>
            <a:schemeClr val="tx1"/>
          </a:solidFill>
          <a:latin typeface="+mn-lt"/>
          <a:ea typeface="+mn-lt"/>
          <a:cs typeface="+mn-lt"/>
        </a:defRPr>
      </a:lvl8pPr>
      <a:lvl9pPr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val="F26B43"/>
          </p15:clr>
        </p15:guide>
        <p15:guide id="3" pos="7476" userDrawn="1">
          <p15:clr>
            <a:srgbClr val="F26B43"/>
          </p15:clr>
        </p15:guide>
        <p15:guide id="6" pos="3840" userDrawn="1">
          <p15:clr>
            <a:srgbClr val="F26B43"/>
          </p15:clr>
        </p15:guide>
        <p15:guide id="9" orient="horz" pos="3827" userDrawn="1">
          <p15:clr>
            <a:srgbClr val="9FCC3B"/>
          </p15:clr>
        </p15:guide>
        <p15:guide id="10" orient="horz" pos="202" userDrawn="1">
          <p15:clr>
            <a:srgbClr val="F26B43"/>
          </p15:clr>
        </p15:guide>
        <p15:guide id="11" orient="horz" pos="2160">
          <p15:clr>
            <a:srgbClr val="F26B43"/>
          </p15:clr>
        </p15:guide>
        <p15:guide id="12" orient="horz" pos="392" userDrawn="1">
          <p15:clr>
            <a:srgbClr val="A4A3A4"/>
          </p15:clr>
        </p15:guide>
        <p15:guide id="13" orient="horz" pos="2552" userDrawn="1">
          <p15:clr>
            <a:srgbClr val="A4A3A4"/>
          </p15:clr>
        </p15:guide>
        <p15:guide id="14" orient="horz" pos="600" userDrawn="1">
          <p15:clr>
            <a:srgbClr val="A4A3A4"/>
          </p15:clr>
        </p15:guide>
        <p15:guide id="15" orient="horz" pos="1766" userDrawn="1">
          <p15:clr>
            <a:srgbClr val="A4A3A4"/>
          </p15:clr>
        </p15:guide>
        <p15:guide id="16" orient="horz" pos="2355" userDrawn="1">
          <p15:clr>
            <a:srgbClr val="A4A3A4"/>
          </p15:clr>
        </p15:guide>
        <p15:guide id="18" orient="horz" pos="4118" userDrawn="1">
          <p15:clr>
            <a:srgbClr val="F26B43"/>
          </p15:clr>
        </p15:guide>
        <p15:guide id="19" orient="horz" pos="1178" userDrawn="1">
          <p15:clr>
            <a:srgbClr val="A4A3A4"/>
          </p15:clr>
        </p15:guide>
        <p15:guide id="20" orient="horz" pos="1374" userDrawn="1">
          <p15:clr>
            <a:srgbClr val="A4A3A4"/>
          </p15:clr>
        </p15:guide>
        <p15:guide id="21" orient="horz" pos="1570" userDrawn="1">
          <p15:clr>
            <a:srgbClr val="A4A3A4"/>
          </p15:clr>
        </p15:guide>
        <p15:guide id="22" pos="703" userDrawn="1">
          <p15:clr>
            <a:srgbClr val="A4A3A4"/>
          </p15:clr>
        </p15:guide>
        <p15:guide id="23" pos="820" userDrawn="1">
          <p15:clr>
            <a:srgbClr val="A4A3A4"/>
          </p15:clr>
        </p15:guide>
        <p15:guide id="24" pos="1321" userDrawn="1">
          <p15:clr>
            <a:srgbClr val="A4A3A4"/>
          </p15:clr>
        </p15:guide>
        <p15:guide id="25" pos="1435" userDrawn="1">
          <p15:clr>
            <a:srgbClr val="A4A3A4"/>
          </p15:clr>
        </p15:guide>
        <p15:guide id="26" pos="1936" userDrawn="1">
          <p15:clr>
            <a:srgbClr val="A4A3A4"/>
          </p15:clr>
        </p15:guide>
        <p15:guide id="27" pos="2051" userDrawn="1">
          <p15:clr>
            <a:srgbClr val="A4A3A4"/>
          </p15:clr>
        </p15:guide>
        <p15:guide id="28" pos="2551" userDrawn="1">
          <p15:clr>
            <a:srgbClr val="A4A3A4"/>
          </p15:clr>
        </p15:guide>
        <p15:guide id="29" pos="2665" userDrawn="1">
          <p15:clr>
            <a:srgbClr val="A4A3A4"/>
          </p15:clr>
        </p15:guide>
        <p15:guide id="30" pos="3167" userDrawn="1">
          <p15:clr>
            <a:srgbClr val="A4A3A4"/>
          </p15:clr>
        </p15:guide>
        <p15:guide id="31" pos="3281" userDrawn="1">
          <p15:clr>
            <a:srgbClr val="A4A3A4"/>
          </p15:clr>
        </p15:guide>
        <p15:guide id="32" pos="3783" userDrawn="1">
          <p15:clr>
            <a:srgbClr val="A4A3A4"/>
          </p15:clr>
        </p15:guide>
        <p15:guide id="33" pos="3896" userDrawn="1">
          <p15:clr>
            <a:srgbClr val="A4A3A4"/>
          </p15:clr>
        </p15:guide>
        <p15:guide id="34" pos="4397" userDrawn="1">
          <p15:clr>
            <a:srgbClr val="A4A3A4"/>
          </p15:clr>
        </p15:guide>
        <p15:guide id="35" pos="4512" userDrawn="1">
          <p15:clr>
            <a:srgbClr val="A4A3A4"/>
          </p15:clr>
        </p15:guide>
        <p15:guide id="36" pos="5013" userDrawn="1">
          <p15:clr>
            <a:srgbClr val="A4A3A4"/>
          </p15:clr>
        </p15:guide>
        <p15:guide id="37" pos="5128" userDrawn="1">
          <p15:clr>
            <a:srgbClr val="A4A3A4"/>
          </p15:clr>
        </p15:guide>
        <p15:guide id="38" pos="5629" userDrawn="1">
          <p15:clr>
            <a:srgbClr val="A4A3A4"/>
          </p15:clr>
        </p15:guide>
        <p15:guide id="39" pos="5742" userDrawn="1">
          <p15:clr>
            <a:srgbClr val="A4A3A4"/>
          </p15:clr>
        </p15:guide>
        <p15:guide id="40" pos="6244" userDrawn="1">
          <p15:clr>
            <a:srgbClr val="A4A3A4"/>
          </p15:clr>
        </p15:guide>
        <p15:guide id="41" pos="6359" userDrawn="1">
          <p15:clr>
            <a:srgbClr val="A4A3A4"/>
          </p15:clr>
        </p15:guide>
        <p15:guide id="42" pos="6859" userDrawn="1">
          <p15:clr>
            <a:srgbClr val="A4A3A4"/>
          </p15:clr>
        </p15:guide>
        <p15:guide id="43" pos="6975" userDrawn="1">
          <p15:clr>
            <a:srgbClr val="A4A3A4"/>
          </p15:clr>
        </p15:guide>
        <p15:guide id="44" orient="horz" pos="784" userDrawn="1">
          <p15:clr>
            <a:srgbClr val="A4A3A4"/>
          </p15:clr>
        </p15:guide>
        <p15:guide id="45" orient="horz" pos="980" userDrawn="1">
          <p15:clr>
            <a:srgbClr val="A4A3A4"/>
          </p15:clr>
        </p15:guide>
        <p15:guide id="46" orient="horz" pos="1962" userDrawn="1">
          <p15:clr>
            <a:srgbClr val="A4A3A4"/>
          </p15:clr>
        </p15:guide>
        <p15:guide id="47" orient="horz" pos="2747" userDrawn="1">
          <p15:clr>
            <a:srgbClr val="A4A3A4"/>
          </p15:clr>
        </p15:guide>
        <p15:guide id="48" orient="horz" pos="2945" userDrawn="1">
          <p15:clr>
            <a:srgbClr val="A4A3A4"/>
          </p15:clr>
        </p15:guide>
        <p15:guide id="49" orient="horz" pos="3141" userDrawn="1">
          <p15:clr>
            <a:srgbClr val="A4A3A4"/>
          </p15:clr>
        </p15:guide>
        <p15:guide id="50" orient="horz" pos="3337" userDrawn="1">
          <p15:clr>
            <a:srgbClr val="A4A3A4"/>
          </p15:clr>
        </p15:guide>
        <p15:guide id="51" orient="horz" pos="3535" userDrawn="1">
          <p15:clr>
            <a:srgbClr val="A4A3A4"/>
          </p15:clr>
        </p15:guide>
        <p15:guide id="52" orient="horz" pos="3730" userDrawn="1">
          <p15:clr>
            <a:srgbClr val="A4A3A4"/>
          </p15:clr>
        </p15:guide>
        <p15:guide id="53" orient="horz" pos="3936" userDrawn="1">
          <p15:clr>
            <a:srgbClr val="A4A3A4"/>
          </p15:clr>
        </p15:guide>
        <p15:guide id="54" orient="horz" pos="187" userDrawn="1">
          <p15:clr>
            <a:srgbClr val="9FCC3B"/>
          </p15:clr>
        </p15:guide>
        <p15:guide id="55" pos="455" userDrawn="1">
          <p15:clr>
            <a:srgbClr val="9FCC3B"/>
          </p15:clr>
        </p15:guide>
        <p15:guide id="56" pos="1069" userDrawn="1">
          <p15:clr>
            <a:srgbClr val="9FCC3B"/>
          </p15:clr>
        </p15:guide>
        <p15:guide id="57" pos="1685" userDrawn="1">
          <p15:clr>
            <a:srgbClr val="9FCC3B"/>
          </p15:clr>
        </p15:guide>
        <p15:guide id="58" pos="2301" userDrawn="1">
          <p15:clr>
            <a:srgbClr val="9FCC3B"/>
          </p15:clr>
        </p15:guide>
        <p15:guide id="59" pos="2915" userDrawn="1">
          <p15:clr>
            <a:srgbClr val="9FCC3B"/>
          </p15:clr>
        </p15:guide>
        <p15:guide id="60" pos="3531" userDrawn="1">
          <p15:clr>
            <a:srgbClr val="9FCC3B"/>
          </p15:clr>
        </p15:guide>
        <p15:guide id="61" pos="4146" userDrawn="1">
          <p15:clr>
            <a:srgbClr val="9FCC3B"/>
          </p15:clr>
        </p15:guide>
        <p15:guide id="62" pos="4762" userDrawn="1">
          <p15:clr>
            <a:srgbClr val="9FCC3B"/>
          </p15:clr>
        </p15:guide>
        <p15:guide id="63" pos="5378" userDrawn="1">
          <p15:clr>
            <a:srgbClr val="9FCC3B"/>
          </p15:clr>
        </p15:guide>
        <p15:guide id="64" pos="5992" userDrawn="1">
          <p15:clr>
            <a:srgbClr val="9FCC3B"/>
          </p15:clr>
        </p15:guide>
        <p15:guide id="65" pos="6609" userDrawn="1">
          <p15:clr>
            <a:srgbClr val="9FCC3B"/>
          </p15:clr>
        </p15:guide>
        <p15:guide id="66" pos="7225"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8.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9.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0.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localhost:3000/d/cilium-obi-app-network" TargetMode="External"/><Relationship Id="rId2" Type="http://schemas.openxmlformats.org/officeDocument/2006/relationships/notesSlide" Target="../notesSlides/notesSlide21.xml"/><Relationship Id="rId1" Type="http://schemas.openxmlformats.org/officeDocument/2006/relationships/slideLayout" Target="../slideLayouts/slideLayout10.xml"/><Relationship Id="rId6" Type="http://schemas.openxmlformats.org/officeDocument/2006/relationships/hyperlink" Target="http://localhost:12000/" TargetMode="External"/><Relationship Id="rId5" Type="http://schemas.openxmlformats.org/officeDocument/2006/relationships/hyperlink" Target="http://localhost:3000/explore" TargetMode="External"/><Relationship Id="rId4" Type="http://schemas.openxmlformats.org/officeDocument/2006/relationships/hyperlink" Target="http://localhost:3000/d/cilium-obi-platform"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8E202DE-F0C4-F38B-E5D9-3EDB75497747}"/>
              </a:ext>
            </a:extLst>
          </p:cNvPr>
          <p:cNvSpPr>
            <a:spLocks noGrp="1"/>
          </p:cNvSpPr>
          <p:nvPr>
            <p:ph type="title"/>
          </p:nvPr>
        </p:nvSpPr>
        <p:spPr>
          <a:xfrm>
            <a:off x="323850" y="2181225"/>
            <a:ext cx="5204883" cy="1554163"/>
          </a:xfrm>
        </p:spPr>
        <p:txBody>
          <a:bodyPr/>
          <a:lstStyle/>
          <a:p>
            <a:r>
              <a:t>Two eBPF Systems,</a:t>
            </a:r>
          </a:p>
          <a:p>
            <a:r>
              <a:t>One Kubernetes Node</a:t>
            </a:r>
          </a:p>
        </p:txBody>
      </p:sp>
      <p:sp>
        <p:nvSpPr>
          <p:cNvPr id="11" name="Text Placeholder 10">
            <a:extLst>
              <a:ext uri="{FF2B5EF4-FFF2-40B4-BE49-F238E27FC236}">
                <a16:creationId xmlns:a16="http://schemas.microsoft.com/office/drawing/2014/main" id="{BF2F44CF-ACFF-5B47-1E65-5DC0E344BBF1}"/>
              </a:ext>
            </a:extLst>
          </p:cNvPr>
          <p:cNvSpPr>
            <a:spLocks noGrp="1"/>
          </p:cNvSpPr>
          <p:nvPr>
            <p:ph type="body" idx="13"/>
          </p:nvPr>
        </p:nvSpPr>
        <p:spPr/>
        <p:txBody>
          <a:bodyPr/>
          <a:lstStyle/>
          <a:p>
            <a:r>
              <a:t>Running OpenTelemetry OBI and Cilium together</a:t>
            </a:r>
          </a:p>
        </p:txBody>
      </p:sp>
      <p:sp>
        <p:nvSpPr>
          <p:cNvPr id="16" name="Text Placeholder 15">
            <a:extLst>
              <a:ext uri="{FF2B5EF4-FFF2-40B4-BE49-F238E27FC236}">
                <a16:creationId xmlns:a16="http://schemas.microsoft.com/office/drawing/2014/main" id="{224B78CB-A350-22C0-F50A-644022F70AA5}"/>
              </a:ext>
            </a:extLst>
          </p:cNvPr>
          <p:cNvSpPr>
            <a:spLocks noGrp="1"/>
          </p:cNvSpPr>
          <p:nvPr>
            <p:ph type="body" idx="12"/>
          </p:nvPr>
        </p:nvSpPr>
        <p:spPr>
          <a:xfrm>
            <a:off x="323850" y="6364224"/>
            <a:ext cx="3906838" cy="493776"/>
          </a:xfrm>
        </p:spPr>
        <p:txBody>
          <a:bodyPr/>
          <a:lstStyle/>
          <a:p>
            <a:r>
              <a:t>Anton Jimenez · KubeCon + CloudNativeCon NA 2026</a:t>
            </a:r>
          </a:p>
        </p:txBody>
      </p:sp>
    </p:spTree>
    <p:extLst>
      <p:ext uri="{BB962C8B-B14F-4D97-AF65-F5344CB8AC3E}">
        <p14:creationId xmlns:p14="http://schemas.microsoft.com/office/powerpoint/2010/main" val="2366237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B7D396CA-1E8D-4AC0-BB33-1CC88795277A}"/>
              </a:ext>
            </a:extLst>
          </p:cNvPr>
          <p:cNvSpPr>
            <a:spLocks noGrp="1"/>
          </p:cNvSpPr>
          <p:nvPr/>
        </p:nvSpPr>
        <p:spPr>
          <a:xfrm>
            <a:off x="533400" y="361950"/>
            <a:ext cx="10763250" cy="647700"/>
          </a:xfrm>
          <a:prstGeom prst="rect">
            <a:avLst/>
          </a:prstGeom>
          <a:noFill/>
          <a:ln w="0">
            <a:noFill/>
          </a:ln>
        </p:spPr>
        <p:txBody>
          <a:bodyPr anchor="t">
            <a:no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a:ext uri="{FF2B5EF4-FFF2-40B4-BE49-F238E27FC236}">
                <a16:creationId xmlns:a16="http://schemas.microsoft.com/office/drawing/2014/main" id="{47EA0793-C78B-4E2F-9902-7D0C563A2053}"/>
              </a:ext>
            </a:extLst>
          </p:cNvPr>
          <p:cNvSpPr>
            <a:spLocks noGrp="1"/>
          </p:cNvSpPr>
          <p:nvPr/>
        </p:nvSpPr>
        <p:spPr>
          <a:xfrm>
            <a:off x="8763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AF9071E1-2371-4EFE-8EC1-D5B8EF52240E}"/>
              </a:ext>
            </a:extLst>
          </p:cNvPr>
          <p:cNvSpPr>
            <a:spLocks noGrp="1"/>
          </p:cNvSpPr>
          <p:nvPr/>
        </p:nvSpPr>
        <p:spPr>
          <a:xfrm>
            <a:off x="18764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 vs Cilium + Hubble</a:t>
            </a:r>
          </a:p>
        </p:txBody>
      </p:sp>
      <p:sp>
        <p:nvSpPr>
          <p:cNvPr id="4" name="Rectangle 3">
            <a:extLst>
              <a:ext uri="{FF2B5EF4-FFF2-40B4-BE49-F238E27FC236}">
                <a16:creationId xmlns:a16="http://schemas.microsoft.com/office/drawing/2014/main" id="{F1C4AE24-03D8-4219-82A5-69355D3425E8}"/>
              </a:ext>
            </a:extLst>
          </p:cNvPr>
          <p:cNvSpPr>
            <a:spLocks noGrp="1"/>
          </p:cNvSpPr>
          <p:nvPr/>
        </p:nvSpPr>
        <p:spPr>
          <a:xfrm>
            <a:off x="1876425" y="2209800"/>
            <a:ext cx="39052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08D6A3A6-BCF5-41B2-A498-0B9E5CD03507}"/>
              </a:ext>
            </a:extLst>
          </p:cNvPr>
          <p:cNvSpPr>
            <a:spLocks noGrp="1"/>
          </p:cNvSpPr>
          <p:nvPr/>
        </p:nvSpPr>
        <p:spPr>
          <a:xfrm>
            <a:off x="8763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a:ext uri="{FF2B5EF4-FFF2-40B4-BE49-F238E27FC236}">
                <a16:creationId xmlns:a16="http://schemas.microsoft.com/office/drawing/2014/main" id="{5427CE96-D1A7-435E-9CFB-B4349F764F82}"/>
              </a:ext>
            </a:extLst>
          </p:cNvPr>
          <p:cNvSpPr>
            <a:spLocks noGrp="1"/>
          </p:cNvSpPr>
          <p:nvPr/>
        </p:nvSpPr>
        <p:spPr>
          <a:xfrm>
            <a:off x="18764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a:ext uri="{FF2B5EF4-FFF2-40B4-BE49-F238E27FC236}">
                <a16:creationId xmlns:a16="http://schemas.microsoft.com/office/drawing/2014/main" id="{721DF949-ECCD-4C23-BC0E-AA64404F88CB}"/>
              </a:ext>
            </a:extLst>
          </p:cNvPr>
          <p:cNvSpPr>
            <a:spLocks noGrp="1"/>
          </p:cNvSpPr>
          <p:nvPr/>
        </p:nvSpPr>
        <p:spPr>
          <a:xfrm>
            <a:off x="1876425" y="3409950"/>
            <a:ext cx="39052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CC1267DE-B7B2-4A83-86F5-D8E5B14C600C}"/>
              </a:ext>
            </a:extLst>
          </p:cNvPr>
          <p:cNvSpPr>
            <a:spLocks noGrp="1"/>
          </p:cNvSpPr>
          <p:nvPr/>
        </p:nvSpPr>
        <p:spPr>
          <a:xfrm>
            <a:off x="8763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a:ext uri="{FF2B5EF4-FFF2-40B4-BE49-F238E27FC236}">
                <a16:creationId xmlns:a16="http://schemas.microsoft.com/office/drawing/2014/main" id="{C62A8A12-A547-4E33-B2AF-B2609FA728C0}"/>
              </a:ext>
            </a:extLst>
          </p:cNvPr>
          <p:cNvSpPr>
            <a:spLocks noGrp="1"/>
          </p:cNvSpPr>
          <p:nvPr/>
        </p:nvSpPr>
        <p:spPr>
          <a:xfrm>
            <a:off x="18764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a:ext uri="{FF2B5EF4-FFF2-40B4-BE49-F238E27FC236}">
                <a16:creationId xmlns:a16="http://schemas.microsoft.com/office/drawing/2014/main" id="{E3980FFE-1F3F-4885-9E11-751F56C0BC93}"/>
              </a:ext>
            </a:extLst>
          </p:cNvPr>
          <p:cNvSpPr>
            <a:spLocks noGrp="1"/>
          </p:cNvSpPr>
          <p:nvPr/>
        </p:nvSpPr>
        <p:spPr>
          <a:xfrm>
            <a:off x="1876425" y="4610100"/>
            <a:ext cx="39052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F597A3DA-EF14-4A49-AC78-E8CA1F50DF05}"/>
              </a:ext>
            </a:extLst>
          </p:cNvPr>
          <p:cNvSpPr>
            <a:spLocks noGrp="1"/>
          </p:cNvSpPr>
          <p:nvPr/>
        </p:nvSpPr>
        <p:spPr>
          <a:xfrm>
            <a:off x="64770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a:ext uri="{FF2B5EF4-FFF2-40B4-BE49-F238E27FC236}">
                <a16:creationId xmlns:a16="http://schemas.microsoft.com/office/drawing/2014/main" id="{9B3E707B-5C31-4C26-8CE7-770843414CE5}"/>
              </a:ext>
            </a:extLst>
          </p:cNvPr>
          <p:cNvSpPr>
            <a:spLocks noGrp="1"/>
          </p:cNvSpPr>
          <p:nvPr/>
        </p:nvSpPr>
        <p:spPr>
          <a:xfrm>
            <a:off x="74771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Live demo</a:t>
            </a:r>
          </a:p>
        </p:txBody>
      </p:sp>
      <p:sp>
        <p:nvSpPr>
          <p:cNvPr id="13" name="Rectangle 12">
            <a:extLst>
              <a:ext uri="{FF2B5EF4-FFF2-40B4-BE49-F238E27FC236}">
                <a16:creationId xmlns:a16="http://schemas.microsoft.com/office/drawing/2014/main" id="{18535E0D-77D8-458C-99DB-DBBA068786D7}"/>
              </a:ext>
            </a:extLst>
          </p:cNvPr>
          <p:cNvSpPr>
            <a:spLocks noGrp="1"/>
          </p:cNvSpPr>
          <p:nvPr/>
        </p:nvSpPr>
        <p:spPr>
          <a:xfrm>
            <a:off x="7477125" y="2209800"/>
            <a:ext cx="39052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929BE267-4CA4-4BAA-B490-AB20218BE7BA}"/>
              </a:ext>
            </a:extLst>
          </p:cNvPr>
          <p:cNvSpPr>
            <a:spLocks noGrp="1"/>
          </p:cNvSpPr>
          <p:nvPr/>
        </p:nvSpPr>
        <p:spPr>
          <a:xfrm>
            <a:off x="64770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a:ext uri="{FF2B5EF4-FFF2-40B4-BE49-F238E27FC236}">
                <a16:creationId xmlns:a16="http://schemas.microsoft.com/office/drawing/2014/main" id="{B357B8D1-CA8D-49E6-98AC-5457FAF96A1A}"/>
              </a:ext>
            </a:extLst>
          </p:cNvPr>
          <p:cNvSpPr>
            <a:spLocks noGrp="1"/>
          </p:cNvSpPr>
          <p:nvPr/>
        </p:nvSpPr>
        <p:spPr>
          <a:xfrm>
            <a:off x="74771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a:ext uri="{FF2B5EF4-FFF2-40B4-BE49-F238E27FC236}">
                <a16:creationId xmlns:a16="http://schemas.microsoft.com/office/drawing/2014/main" id="{A03C16AE-F78F-4A62-82F9-113185187DD3}"/>
              </a:ext>
            </a:extLst>
          </p:cNvPr>
          <p:cNvSpPr>
            <a:spLocks noGrp="1"/>
          </p:cNvSpPr>
          <p:nvPr/>
        </p:nvSpPr>
        <p:spPr>
          <a:xfrm>
            <a:off x="7477125" y="3409950"/>
            <a:ext cx="3905250" cy="9525"/>
          </a:xfrm>
          <a:prstGeom prst="rect">
            <a:avLst/>
          </a:prstGeom>
          <a:solidFill>
            <a:srgbClr val="D6D6D6"/>
          </a:solidFill>
          <a:ln w="0">
            <a:noFill/>
          </a:ln>
        </p:spPr>
        <p:txBody>
          <a:bodyPr/>
          <a:lstStyle/>
          <a:p>
            <a:endParaRPr/>
          </a:p>
        </p:txBody>
      </p:sp>
      <p:sp>
        <p:nvSpPr>
          <p:cNvPr id="17" name="Rectangle 16">
            <a:extLst>
              <a:ext uri="{FF2B5EF4-FFF2-40B4-BE49-F238E27FC236}">
                <a16:creationId xmlns:a16="http://schemas.microsoft.com/office/drawing/2014/main" id="{CDF39F5D-82A7-43DA-B918-9373DC8A03ED}"/>
              </a:ext>
            </a:extLst>
          </p:cNvPr>
          <p:cNvSpPr>
            <a:spLocks noGrp="1"/>
          </p:cNvSpPr>
          <p:nvPr/>
        </p:nvSpPr>
        <p:spPr>
          <a:xfrm>
            <a:off x="64770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a:ext uri="{FF2B5EF4-FFF2-40B4-BE49-F238E27FC236}">
                <a16:creationId xmlns:a16="http://schemas.microsoft.com/office/drawing/2014/main" id="{82632E2D-769F-47E9-B6EA-08FF75570C4A}"/>
              </a:ext>
            </a:extLst>
          </p:cNvPr>
          <p:cNvSpPr>
            <a:spLocks noGrp="1"/>
          </p:cNvSpPr>
          <p:nvPr/>
        </p:nvSpPr>
        <p:spPr>
          <a:xfrm>
            <a:off x="74771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a:ext uri="{FF2B5EF4-FFF2-40B4-BE49-F238E27FC236}">
                <a16:creationId xmlns:a16="http://schemas.microsoft.com/office/drawing/2014/main" id="{F815B16F-747D-45B6-A0F1-C46A61EBB3DA}"/>
              </a:ext>
            </a:extLst>
          </p:cNvPr>
          <p:cNvSpPr>
            <a:spLocks noGrp="1"/>
          </p:cNvSpPr>
          <p:nvPr/>
        </p:nvSpPr>
        <p:spPr>
          <a:xfrm>
            <a:off x="7477125" y="4610100"/>
            <a:ext cx="3905250" cy="9525"/>
          </a:xfrm>
          <a:prstGeom prst="rect">
            <a:avLst/>
          </a:prstGeom>
          <a:solidFill>
            <a:srgbClr val="D6D6D6"/>
          </a:solidFill>
          <a:ln w="0">
            <a:noFill/>
          </a:ln>
        </p:spPr>
        <p:txBody>
          <a:bodyPr/>
          <a:lstStyle/>
          <a:p>
            <a:endParaRPr/>
          </a:p>
        </p:txBody>
      </p:sp>
      <p:sp>
        <p:nvSpPr>
          <p:cNvPr id="20" name="Rounded Rectangle 19">
            <a:extLst>
              <a:ext uri="{FF2B5EF4-FFF2-40B4-BE49-F238E27FC236}">
                <a16:creationId xmlns:a16="http://schemas.microsoft.com/office/drawing/2014/main" id="{FC8E9A76-0120-4DAE-BC83-519A8F5F25AA}"/>
              </a:ext>
            </a:extLst>
          </p:cNvPr>
          <p:cNvSpPr>
            <a:spLocks noGrp="1"/>
          </p:cNvSpPr>
          <p:nvPr/>
        </p:nvSpPr>
        <p:spPr>
          <a:xfrm>
            <a:off x="2724150" y="5562600"/>
            <a:ext cx="6743700" cy="381000"/>
          </a:xfrm>
          <a:prstGeom prst="roundRect">
            <a:avLst>
              <a:gd name="adj" fmla="val 20000"/>
            </a:avLst>
          </a:prstGeom>
          <a:solidFill>
            <a:srgbClr val="07182A"/>
          </a:solidFill>
          <a:ln w="0">
            <a:noFill/>
          </a:ln>
        </p:spPr>
        <p:txBody>
          <a:bodyPr anchor="ctr">
            <a:normAutofit/>
          </a:bodyPr>
          <a:lstStyle/>
          <a:p>
            <a:pPr algn="ctr">
              <a:buNone/>
              <a:defRPr sz="1275" b="1">
                <a:solidFill>
                  <a:srgbClr val="FFFFFF"/>
                </a:solidFill>
                <a:latin typeface="CiscoSansTT Medium"/>
                <a:ea typeface="CiscoSansTT Medium"/>
                <a:cs typeface="CiscoSansTT Medium"/>
              </a:defRPr>
            </a:pPr>
            <a:r>
              <a:rPr sz="1275" b="1">
                <a:solidFill>
                  <a:srgbClr val="FFFFFF"/>
                </a:solidFill>
                <a:latin typeface="CiscoSansTT Medium"/>
                <a:ea typeface="CiscoSansTT Medium"/>
                <a:cs typeface="CiscoSansTT Medium"/>
              </a:rPr>
              <a:t>ONE REQUEST · TWO TELEMETRY VIEWS · ONE OPERATOR MODEL</a:t>
            </a:r>
          </a:p>
        </p:txBody>
      </p:sp>
      <p:sp>
        <p:nvSpPr>
          <p:cNvPr id="22" name="Rectangle 21">
            <a:extLst>
              <a:ext uri="{FF2B5EF4-FFF2-40B4-BE49-F238E27FC236}">
                <a16:creationId xmlns:a16="http://schemas.microsoft.com/office/drawing/2014/main" id="{F2410DE7-62AD-405F-867D-87290CCEF6A7}"/>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23" name="Rectangle 22">
            <a:extLst>
              <a:ext uri="{FF2B5EF4-FFF2-40B4-BE49-F238E27FC236}">
                <a16:creationId xmlns:a16="http://schemas.microsoft.com/office/drawing/2014/main" id="{2A65D56C-4C1B-45E5-BEA1-03C8866212B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608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Rectangle 16">
            <a:extLst>
              <a:ext uri="{FF2B5EF4-FFF2-40B4-BE49-F238E27FC236}">
                <a16:creationId xmlns:a16="http://schemas.microsoft.com/office/drawing/2014/main" id="{A334CE78-A7CE-48FF-8708-F87B568CB332}"/>
              </a:ext>
            </a:extLst>
          </p:cNvPr>
          <p:cNvSpPr>
            <a:spLocks noGrp="1"/>
          </p:cNvSpPr>
          <p:nvPr/>
        </p:nvSpPr>
        <p:spPr>
          <a:xfrm>
            <a:off x="723900" y="1343025"/>
            <a:ext cx="10572750" cy="457200"/>
          </a:xfrm>
          <a:prstGeom prst="rect">
            <a:avLst/>
          </a:prstGeom>
          <a:noFill/>
          <a:ln w="0">
            <a:noFill/>
          </a:ln>
        </p:spPr>
        <p:txBody>
          <a:bodyPr anchor="t">
            <a:noAutofit/>
          </a:bodyPr>
          <a:lstStyle/>
          <a:p>
            <a:pPr algn="l">
              <a:defRPr sz="2100" b="0">
                <a:solidFill>
                  <a:srgbClr val="686B6B"/>
                </a:solidFill>
                <a:latin typeface="CiscoSansTT"/>
                <a:ea typeface="CiscoSansTT"/>
                <a:cs typeface="CiscoSansTT"/>
              </a:defRPr>
            </a:pPr>
            <a:r>
              <a:rPr sz="2100" b="0" dirty="0">
                <a:solidFill>
                  <a:srgbClr val="686B6B"/>
                </a:solidFill>
                <a:latin typeface="CiscoSansTT"/>
                <a:ea typeface="CiscoSansTT"/>
                <a:cs typeface="CiscoSansTT"/>
              </a:rPr>
              <a:t>One application request becomes traces and metrics</a:t>
            </a:r>
          </a:p>
        </p:txBody>
      </p:sp>
      <p:sp>
        <p:nvSpPr>
          <p:cNvPr id="18" name="Rectangle 17">
            <a:extLst>
              <a:ext uri="{FF2B5EF4-FFF2-40B4-BE49-F238E27FC236}">
                <a16:creationId xmlns:a16="http://schemas.microsoft.com/office/drawing/2014/main" id="{D9A99B0B-3915-46AB-9DF7-9A6093270C98}"/>
              </a:ext>
            </a:extLst>
          </p:cNvPr>
          <p:cNvSpPr>
            <a:spLocks noGrp="1"/>
          </p:cNvSpPr>
          <p:nvPr/>
        </p:nvSpPr>
        <p:spPr>
          <a:xfrm>
            <a:off x="742950" y="2076450"/>
            <a:ext cx="723900" cy="504825"/>
          </a:xfrm>
          <a:prstGeom prst="rect">
            <a:avLst/>
          </a:prstGeom>
          <a:noFill/>
          <a:ln w="0">
            <a:noFill/>
          </a:ln>
        </p:spPr>
        <p:txBody>
          <a:bodyPr anchor="t">
            <a:noAutofit/>
          </a:bodyPr>
          <a:lstStyle/>
          <a:p>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Rectangle 18">
            <a:extLst>
              <a:ext uri="{FF2B5EF4-FFF2-40B4-BE49-F238E27FC236}">
                <a16:creationId xmlns:a16="http://schemas.microsoft.com/office/drawing/2014/main" id="{8D9D5781-19F1-4B23-A7A1-3479877C9FE1}"/>
              </a:ext>
            </a:extLst>
          </p:cNvPr>
          <p:cNvSpPr>
            <a:spLocks noGrp="1"/>
          </p:cNvSpPr>
          <p:nvPr/>
        </p:nvSpPr>
        <p:spPr>
          <a:xfrm>
            <a:off x="1638300" y="2085975"/>
            <a:ext cx="8858250" cy="419100"/>
          </a:xfrm>
          <a:prstGeom prst="rect">
            <a:avLst/>
          </a:prstGeom>
          <a:noFill/>
          <a:ln w="0">
            <a:noFill/>
          </a:ln>
        </p:spPr>
        <p:txBody>
          <a:bodyPr anchor="t">
            <a:noAutofit/>
          </a:bodyPr>
          <a:lstStyle/>
          <a:p>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Observe</a:t>
            </a:r>
          </a:p>
        </p:txBody>
      </p:sp>
      <p:sp>
        <p:nvSpPr>
          <p:cNvPr id="20" name="Rectangle 19">
            <a:extLst>
              <a:ext uri="{FF2B5EF4-FFF2-40B4-BE49-F238E27FC236}">
                <a16:creationId xmlns:a16="http://schemas.microsoft.com/office/drawing/2014/main" id="{475C7ABE-C852-46F0-8440-29E93435EE74}"/>
              </a:ext>
            </a:extLst>
          </p:cNvPr>
          <p:cNvSpPr>
            <a:spLocks noGrp="1"/>
          </p:cNvSpPr>
          <p:nvPr/>
        </p:nvSpPr>
        <p:spPr>
          <a:xfrm>
            <a:off x="1638300" y="2524125"/>
            <a:ext cx="9601200" cy="504825"/>
          </a:xfrm>
          <a:prstGeom prst="rect">
            <a:avLst/>
          </a:prstGeom>
          <a:noFill/>
          <a:ln w="0">
            <a:noFill/>
          </a:ln>
        </p:spPr>
        <p:txBody>
          <a:bodyPr anchor="t">
            <a:noAutofit/>
          </a:bodyPr>
          <a:lstStyle/>
          <a:p>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eBPF hooks watch supported application operations on the worker node.</a:t>
            </a:r>
          </a:p>
        </p:txBody>
      </p:sp>
      <p:sp>
        <p:nvSpPr>
          <p:cNvPr id="21" name="Rectangle 20">
            <a:extLst>
              <a:ext uri="{FF2B5EF4-FFF2-40B4-BE49-F238E27FC236}">
                <a16:creationId xmlns:a16="http://schemas.microsoft.com/office/drawing/2014/main" id="{561E33F0-9556-4CAF-999D-F7D9D5066F95}"/>
              </a:ext>
            </a:extLst>
          </p:cNvPr>
          <p:cNvSpPr>
            <a:spLocks noGrp="1"/>
          </p:cNvSpPr>
          <p:nvPr/>
        </p:nvSpPr>
        <p:spPr>
          <a:xfrm>
            <a:off x="1638300" y="3143250"/>
            <a:ext cx="9810750" cy="14288"/>
          </a:xfrm>
          <a:prstGeom prst="rect">
            <a:avLst/>
          </a:prstGeom>
          <a:solidFill>
            <a:srgbClr val="D6D6D6"/>
          </a:solidFill>
          <a:ln w="0">
            <a:noFill/>
          </a:ln>
        </p:spPr>
        <p:txBody>
          <a:bodyPr/>
          <a:lstStyle/>
          <a:p>
            <a:endParaRPr lang="en-ES"/>
          </a:p>
        </p:txBody>
      </p:sp>
      <p:sp>
        <p:nvSpPr>
          <p:cNvPr id="22" name="Rectangle 21">
            <a:extLst>
              <a:ext uri="{FF2B5EF4-FFF2-40B4-BE49-F238E27FC236}">
                <a16:creationId xmlns:a16="http://schemas.microsoft.com/office/drawing/2014/main" id="{6E3E1547-0690-41B6-A094-92DD3AD34550}"/>
              </a:ext>
            </a:extLst>
          </p:cNvPr>
          <p:cNvSpPr>
            <a:spLocks noGrp="1"/>
          </p:cNvSpPr>
          <p:nvPr/>
        </p:nvSpPr>
        <p:spPr>
          <a:xfrm>
            <a:off x="742950" y="3276600"/>
            <a:ext cx="723900" cy="504825"/>
          </a:xfrm>
          <a:prstGeom prst="rect">
            <a:avLst/>
          </a:prstGeom>
          <a:noFill/>
          <a:ln w="0">
            <a:noFill/>
          </a:ln>
        </p:spPr>
        <p:txBody>
          <a:bodyPr anchor="t">
            <a:noAutofit/>
          </a:bodyPr>
          <a:lstStyle/>
          <a:p>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Rectangle 22">
            <a:extLst>
              <a:ext uri="{FF2B5EF4-FFF2-40B4-BE49-F238E27FC236}">
                <a16:creationId xmlns:a16="http://schemas.microsoft.com/office/drawing/2014/main" id="{9F06C7CD-12DC-45DF-8CF5-12E573F6F38D}"/>
              </a:ext>
            </a:extLst>
          </p:cNvPr>
          <p:cNvSpPr>
            <a:spLocks noGrp="1"/>
          </p:cNvSpPr>
          <p:nvPr/>
        </p:nvSpPr>
        <p:spPr>
          <a:xfrm>
            <a:off x="1638300" y="3286125"/>
            <a:ext cx="8858250" cy="419100"/>
          </a:xfrm>
          <a:prstGeom prst="rect">
            <a:avLst/>
          </a:prstGeom>
          <a:noFill/>
          <a:ln w="0">
            <a:noFill/>
          </a:ln>
        </p:spPr>
        <p:txBody>
          <a:bodyPr anchor="t">
            <a:noAutofit/>
          </a:bodyPr>
          <a:lstStyle/>
          <a:p>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Create telemetry</a:t>
            </a:r>
          </a:p>
        </p:txBody>
      </p:sp>
      <p:sp>
        <p:nvSpPr>
          <p:cNvPr id="24" name="Rectangle 23">
            <a:extLst>
              <a:ext uri="{FF2B5EF4-FFF2-40B4-BE49-F238E27FC236}">
                <a16:creationId xmlns:a16="http://schemas.microsoft.com/office/drawing/2014/main" id="{0AD620F7-9210-4E6C-977E-C41323C0D218}"/>
              </a:ext>
            </a:extLst>
          </p:cNvPr>
          <p:cNvSpPr>
            <a:spLocks noGrp="1"/>
          </p:cNvSpPr>
          <p:nvPr/>
        </p:nvSpPr>
        <p:spPr>
          <a:xfrm>
            <a:off x="1638300" y="3724275"/>
            <a:ext cx="9601200" cy="504825"/>
          </a:xfrm>
          <a:prstGeom prst="rect">
            <a:avLst/>
          </a:prstGeom>
          <a:noFill/>
          <a:ln w="0">
            <a:noFill/>
          </a:ln>
        </p:spPr>
        <p:txBody>
          <a:bodyPr anchor="t">
            <a:noAutofit/>
          </a:bodyPr>
          <a:lstStyle/>
          <a:p>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operations become spans. Related spans form a trace.</a:t>
            </a:r>
          </a:p>
        </p:txBody>
      </p:sp>
      <p:sp>
        <p:nvSpPr>
          <p:cNvPr id="25" name="Rectangle 24">
            <a:extLst>
              <a:ext uri="{FF2B5EF4-FFF2-40B4-BE49-F238E27FC236}">
                <a16:creationId xmlns:a16="http://schemas.microsoft.com/office/drawing/2014/main" id="{EF061137-362E-4028-8DC7-73E3458F86FF}"/>
              </a:ext>
            </a:extLst>
          </p:cNvPr>
          <p:cNvSpPr>
            <a:spLocks noGrp="1"/>
          </p:cNvSpPr>
          <p:nvPr/>
        </p:nvSpPr>
        <p:spPr>
          <a:xfrm>
            <a:off x="1638300" y="4343400"/>
            <a:ext cx="9810750" cy="14288"/>
          </a:xfrm>
          <a:prstGeom prst="rect">
            <a:avLst/>
          </a:prstGeom>
          <a:solidFill>
            <a:srgbClr val="D6D6D6"/>
          </a:solidFill>
          <a:ln w="0">
            <a:noFill/>
          </a:ln>
        </p:spPr>
        <p:txBody>
          <a:bodyPr/>
          <a:lstStyle/>
          <a:p>
            <a:endParaRPr lang="en-ES"/>
          </a:p>
        </p:txBody>
      </p:sp>
      <p:sp>
        <p:nvSpPr>
          <p:cNvPr id="26" name="Rectangle 25">
            <a:extLst>
              <a:ext uri="{FF2B5EF4-FFF2-40B4-BE49-F238E27FC236}">
                <a16:creationId xmlns:a16="http://schemas.microsoft.com/office/drawing/2014/main" id="{A253741F-4AF9-4008-A6F4-68EDD4CE0910}"/>
              </a:ext>
            </a:extLst>
          </p:cNvPr>
          <p:cNvSpPr>
            <a:spLocks noGrp="1"/>
          </p:cNvSpPr>
          <p:nvPr/>
        </p:nvSpPr>
        <p:spPr>
          <a:xfrm>
            <a:off x="742950" y="4476750"/>
            <a:ext cx="723900" cy="504825"/>
          </a:xfrm>
          <a:prstGeom prst="rect">
            <a:avLst/>
          </a:prstGeom>
          <a:noFill/>
          <a:ln w="0">
            <a:noFill/>
          </a:ln>
        </p:spPr>
        <p:txBody>
          <a:bodyPr anchor="t">
            <a:noAutofit/>
          </a:bodyPr>
          <a:lstStyle/>
          <a:p>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Rectangle 26">
            <a:extLst>
              <a:ext uri="{FF2B5EF4-FFF2-40B4-BE49-F238E27FC236}">
                <a16:creationId xmlns:a16="http://schemas.microsoft.com/office/drawing/2014/main" id="{F872886C-D0B2-4EAD-86A5-A4B9EFD37913}"/>
              </a:ext>
            </a:extLst>
          </p:cNvPr>
          <p:cNvSpPr>
            <a:spLocks noGrp="1"/>
          </p:cNvSpPr>
          <p:nvPr/>
        </p:nvSpPr>
        <p:spPr>
          <a:xfrm>
            <a:off x="1638300" y="4486275"/>
            <a:ext cx="8858250" cy="419100"/>
          </a:xfrm>
          <a:prstGeom prst="rect">
            <a:avLst/>
          </a:prstGeom>
          <a:noFill/>
          <a:ln w="0">
            <a:noFill/>
          </a:ln>
        </p:spPr>
        <p:txBody>
          <a:bodyPr anchor="t">
            <a:noAutofit/>
          </a:bodyPr>
          <a:lstStyle/>
          <a:p>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Export</a:t>
            </a:r>
          </a:p>
        </p:txBody>
      </p:sp>
      <p:sp>
        <p:nvSpPr>
          <p:cNvPr id="28" name="Rectangle 27">
            <a:extLst>
              <a:ext uri="{FF2B5EF4-FFF2-40B4-BE49-F238E27FC236}">
                <a16:creationId xmlns:a16="http://schemas.microsoft.com/office/drawing/2014/main" id="{9FE58FB9-5595-40BC-80A2-0FB84D19C295}"/>
              </a:ext>
            </a:extLst>
          </p:cNvPr>
          <p:cNvSpPr>
            <a:spLocks noGrp="1"/>
          </p:cNvSpPr>
          <p:nvPr/>
        </p:nvSpPr>
        <p:spPr>
          <a:xfrm>
            <a:off x="1638300" y="4924425"/>
            <a:ext cx="9601200" cy="504825"/>
          </a:xfrm>
          <a:prstGeom prst="rect">
            <a:avLst/>
          </a:prstGeom>
          <a:noFill/>
          <a:ln w="0">
            <a:noFill/>
          </a:ln>
        </p:spPr>
        <p:txBody>
          <a:bodyPr anchor="t">
            <a:noAutofit/>
          </a:bodyPr>
          <a:lstStyle/>
          <a:p>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traces and RED metrics to the configured OpenTelemetry backend.</a:t>
            </a:r>
          </a:p>
        </p:txBody>
      </p:sp>
      <p:sp>
        <p:nvSpPr>
          <p:cNvPr id="29" name="Rectangle 28">
            <a:extLst>
              <a:ext uri="{FF2B5EF4-FFF2-40B4-BE49-F238E27FC236}">
                <a16:creationId xmlns:a16="http://schemas.microsoft.com/office/drawing/2014/main" id="{1021DFE0-06B2-4E5F-900E-1BFCD8FC5AE7}"/>
              </a:ext>
            </a:extLst>
          </p:cNvPr>
          <p:cNvSpPr>
            <a:spLocks noGrp="1"/>
          </p:cNvSpPr>
          <p:nvPr/>
        </p:nvSpPr>
        <p:spPr>
          <a:xfrm>
            <a:off x="723900" y="5838825"/>
            <a:ext cx="10763250" cy="419100"/>
          </a:xfrm>
          <a:prstGeom prst="rect">
            <a:avLst/>
          </a:prstGeom>
          <a:noFill/>
          <a:ln w="0">
            <a:noFill/>
          </a:ln>
        </p:spPr>
        <p:txBody>
          <a:bodyPr anchor="t">
            <a:noAutofit/>
          </a:bodyPr>
          <a:lstStyle/>
          <a:p>
            <a:pPr algn="l">
              <a:defRPr sz="1725" b="0">
                <a:solidFill>
                  <a:srgbClr val="0860FE"/>
                </a:solidFill>
                <a:latin typeface="CiscoSansTT"/>
                <a:ea typeface="CiscoSansTT"/>
                <a:cs typeface="CiscoSansTT"/>
              </a:defRPr>
            </a:pPr>
            <a:r>
              <a:rPr sz="1725" b="0" dirty="0">
                <a:solidFill>
                  <a:srgbClr val="0860FE"/>
                </a:solidFill>
                <a:latin typeface="CiscoSansTT"/>
                <a:ea typeface="CiscoSansTT"/>
                <a:cs typeface="CiscoSansTT"/>
              </a:rPr>
              <a:t>No application code changes. RED</a:t>
            </a:r>
            <a:r>
              <a:rPr lang="en-US" sz="1725" b="0" dirty="0">
                <a:solidFill>
                  <a:srgbClr val="0860FE"/>
                </a:solidFill>
                <a:latin typeface="CiscoSansTT"/>
                <a:ea typeface="CiscoSansTT"/>
                <a:cs typeface="CiscoSansTT"/>
              </a:rPr>
              <a:t> metrics </a:t>
            </a:r>
            <a:r>
              <a:rPr sz="1725" b="0" dirty="0">
                <a:solidFill>
                  <a:srgbClr val="0860FE"/>
                </a:solidFill>
                <a:latin typeface="CiscoSansTT"/>
                <a:ea typeface="CiscoSansTT"/>
                <a:cs typeface="CiscoSansTT"/>
              </a:rPr>
              <a:t> = request rate, errors, duration.</a:t>
            </a:r>
          </a:p>
        </p:txBody>
      </p:sp>
    </p:spTree>
    <p:extLst>
      <p:ext uri="{BB962C8B-B14F-4D97-AF65-F5344CB8AC3E}">
        <p14:creationId xmlns:p14="http://schemas.microsoft.com/office/powerpoint/2010/main" val="6544670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DFDA3ED-95EC-4A0D-9FCE-16122C5E9912}"/>
              </a:ext>
            </a:extLst>
          </p:cNvPr>
          <p:cNvSpPr>
            <a:spLocks noGrp="1"/>
          </p:cNvSpPr>
          <p:nvPr/>
        </p:nvSpPr>
        <p:spPr>
          <a:xfrm>
            <a:off x="6096000" y="1466850"/>
            <a:ext cx="19050" cy="3695700"/>
          </a:xfrm>
          <a:prstGeom prst="rect">
            <a:avLst/>
          </a:prstGeom>
          <a:solidFill>
            <a:srgbClr val="D6D6D6"/>
          </a:solidFill>
          <a:ln w="0">
            <a:noFill/>
          </a:ln>
        </p:spPr>
        <p:txBody>
          <a:bodyPr/>
          <a:lstStyle/>
          <a:p>
            <a:endParaRPr lang="en-ES"/>
          </a:p>
        </p:txBody>
      </p:sp>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Rectangle 2">
            <a:extLst>
              <a:ext uri="{FF2B5EF4-FFF2-40B4-BE49-F238E27FC236}">
                <a16:creationId xmlns:a16="http://schemas.microsoft.com/office/drawing/2014/main" id="{5AFF7D12-6ECF-4276-80D9-6F814907A008}"/>
              </a:ext>
            </a:extLst>
          </p:cNvPr>
          <p:cNvSpPr>
            <a:spLocks noGrp="1"/>
          </p:cNvSpPr>
          <p:nvPr/>
        </p:nvSpPr>
        <p:spPr>
          <a:xfrm>
            <a:off x="723900" y="1524000"/>
            <a:ext cx="4572000" cy="51435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Rectangle 3">
            <a:extLst>
              <a:ext uri="{FF2B5EF4-FFF2-40B4-BE49-F238E27FC236}">
                <a16:creationId xmlns:a16="http://schemas.microsoft.com/office/drawing/2014/main" id="{46FB8965-F160-4E3D-8BE7-E57B69EA80D6}"/>
              </a:ext>
            </a:extLst>
          </p:cNvPr>
          <p:cNvSpPr>
            <a:spLocks noGrp="1"/>
          </p:cNvSpPr>
          <p:nvPr/>
        </p:nvSpPr>
        <p:spPr>
          <a:xfrm>
            <a:off x="723900" y="2133600"/>
            <a:ext cx="4619625"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Rectangle 4">
            <a:extLst>
              <a:ext uri="{FF2B5EF4-FFF2-40B4-BE49-F238E27FC236}">
                <a16:creationId xmlns:a16="http://schemas.microsoft.com/office/drawing/2014/main" id="{29251D8D-B9F0-4C66-BFC3-7128D479000C}"/>
              </a:ext>
            </a:extLst>
          </p:cNvPr>
          <p:cNvSpPr>
            <a:spLocks noGrp="1"/>
          </p:cNvSpPr>
          <p:nvPr/>
        </p:nvSpPr>
        <p:spPr>
          <a:xfrm>
            <a:off x="723900" y="276225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dirty="0">
                <a:solidFill>
                  <a:srgbClr val="07182A"/>
                </a:solidFill>
                <a:latin typeface="CiscoSansTT"/>
                <a:ea typeface="CiscoSansTT"/>
                <a:cs typeface="CiscoSansTT"/>
              </a:rPr>
              <a:t>Route, latency, and status</a:t>
            </a:r>
          </a:p>
        </p:txBody>
      </p:sp>
      <p:sp>
        <p:nvSpPr>
          <p:cNvPr id="6" name="Rectangle 5">
            <a:extLst>
              <a:ext uri="{FF2B5EF4-FFF2-40B4-BE49-F238E27FC236}">
                <a16:creationId xmlns:a16="http://schemas.microsoft.com/office/drawing/2014/main" id="{C56BF428-33AE-4A4D-A033-BA529044666F}"/>
              </a:ext>
            </a:extLst>
          </p:cNvPr>
          <p:cNvSpPr>
            <a:spLocks noGrp="1"/>
          </p:cNvSpPr>
          <p:nvPr/>
        </p:nvSpPr>
        <p:spPr>
          <a:xfrm>
            <a:off x="723900" y="335280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Distributed tracing</a:t>
            </a:r>
            <a:r>
              <a:rPr sz="1875" b="0" dirty="0">
                <a:solidFill>
                  <a:srgbClr val="07182A"/>
                </a:solidFill>
                <a:latin typeface="CiscoSansTT"/>
                <a:ea typeface="CiscoSansTT"/>
                <a:cs typeface="CiscoSansTT"/>
              </a:rPr>
              <a:t> and RED metrics</a:t>
            </a:r>
          </a:p>
        </p:txBody>
      </p:sp>
      <p:sp>
        <p:nvSpPr>
          <p:cNvPr id="7" name="Rectangle 6">
            <a:extLst>
              <a:ext uri="{FF2B5EF4-FFF2-40B4-BE49-F238E27FC236}">
                <a16:creationId xmlns:a16="http://schemas.microsoft.com/office/drawing/2014/main" id="{88F31A24-7B4B-4EA1-97AB-CA1F9BB93819}"/>
              </a:ext>
            </a:extLst>
          </p:cNvPr>
          <p:cNvSpPr>
            <a:spLocks noGrp="1"/>
          </p:cNvSpPr>
          <p:nvPr/>
        </p:nvSpPr>
        <p:spPr>
          <a:xfrm>
            <a:off x="723900" y="4143375"/>
            <a:ext cx="476250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request was slow?</a:t>
            </a:r>
          </a:p>
        </p:txBody>
      </p:sp>
      <p:sp>
        <p:nvSpPr>
          <p:cNvPr id="8" name="Rectangle 7">
            <a:extLst>
              <a:ext uri="{FF2B5EF4-FFF2-40B4-BE49-F238E27FC236}">
                <a16:creationId xmlns:a16="http://schemas.microsoft.com/office/drawing/2014/main" id="{738FCE8D-946B-4CE8-B707-81664E240627}"/>
              </a:ext>
            </a:extLst>
          </p:cNvPr>
          <p:cNvSpPr>
            <a:spLocks noGrp="1"/>
          </p:cNvSpPr>
          <p:nvPr/>
        </p:nvSpPr>
        <p:spPr>
          <a:xfrm>
            <a:off x="6724650" y="1524000"/>
            <a:ext cx="4762500" cy="51435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Rectangle 8">
            <a:extLst>
              <a:ext uri="{FF2B5EF4-FFF2-40B4-BE49-F238E27FC236}">
                <a16:creationId xmlns:a16="http://schemas.microsoft.com/office/drawing/2014/main" id="{3425763A-237B-4BDB-99B4-06424102A018}"/>
              </a:ext>
            </a:extLst>
          </p:cNvPr>
          <p:cNvSpPr>
            <a:spLocks noGrp="1"/>
          </p:cNvSpPr>
          <p:nvPr/>
        </p:nvSpPr>
        <p:spPr>
          <a:xfrm>
            <a:off x="6724650" y="2133600"/>
            <a:ext cx="4762500"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Rectangle 9">
            <a:extLst>
              <a:ext uri="{FF2B5EF4-FFF2-40B4-BE49-F238E27FC236}">
                <a16:creationId xmlns:a16="http://schemas.microsoft.com/office/drawing/2014/main" id="{FF114EB4-706A-4CBB-9A81-8539929A4102}"/>
              </a:ext>
            </a:extLst>
          </p:cNvPr>
          <p:cNvSpPr>
            <a:spLocks noGrp="1"/>
          </p:cNvSpPr>
          <p:nvPr/>
        </p:nvSpPr>
        <p:spPr>
          <a:xfrm>
            <a:off x="6724650" y="276225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Rectangle 10">
            <a:extLst>
              <a:ext uri="{FF2B5EF4-FFF2-40B4-BE49-F238E27FC236}">
                <a16:creationId xmlns:a16="http://schemas.microsoft.com/office/drawing/2014/main" id="{198F2D09-E983-4F35-8B9B-503CC7F6AD6A}"/>
              </a:ext>
            </a:extLst>
          </p:cNvPr>
          <p:cNvSpPr>
            <a:spLocks noGrp="1"/>
          </p:cNvSpPr>
          <p:nvPr/>
        </p:nvSpPr>
        <p:spPr>
          <a:xfrm>
            <a:off x="6724650" y="335280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Verdicts and drop reasons</a:t>
            </a:r>
          </a:p>
        </p:txBody>
      </p:sp>
      <p:sp>
        <p:nvSpPr>
          <p:cNvPr id="12" name="Rectangle 11">
            <a:extLst>
              <a:ext uri="{FF2B5EF4-FFF2-40B4-BE49-F238E27FC236}">
                <a16:creationId xmlns:a16="http://schemas.microsoft.com/office/drawing/2014/main" id="{025468DF-4C94-4BBF-AA5C-A1251E4A9E74}"/>
              </a:ext>
            </a:extLst>
          </p:cNvPr>
          <p:cNvSpPr>
            <a:spLocks noGrp="1"/>
          </p:cNvSpPr>
          <p:nvPr/>
        </p:nvSpPr>
        <p:spPr>
          <a:xfrm>
            <a:off x="6724650" y="4143375"/>
            <a:ext cx="485775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Rounded Rectangle 12">
            <a:extLst>
              <a:ext uri="{FF2B5EF4-FFF2-40B4-BE49-F238E27FC236}">
                <a16:creationId xmlns:a16="http://schemas.microsoft.com/office/drawing/2014/main" id="{E443BD63-0DF9-4B2B-8414-99B373C542BB}"/>
              </a:ext>
            </a:extLst>
          </p:cNvPr>
          <p:cNvSpPr>
            <a:spLocks noGrp="1"/>
          </p:cNvSpPr>
          <p:nvPr/>
        </p:nvSpPr>
        <p:spPr>
          <a:xfrm>
            <a:off x="1962150" y="5181600"/>
            <a:ext cx="8267700" cy="742950"/>
          </a:xfrm>
          <a:prstGeom prst="roundRect">
            <a:avLst>
              <a:gd name="adj" fmla="val 10256"/>
            </a:avLst>
          </a:prstGeom>
          <a:solidFill>
            <a:srgbClr val="07182A"/>
          </a:solidFill>
          <a:ln w="0">
            <a:noFill/>
          </a:ln>
        </p:spPr>
        <p:txBody>
          <a:bodyPr/>
          <a:lstStyle/>
          <a:p>
            <a:endParaRPr lang="en-ES"/>
          </a:p>
        </p:txBody>
      </p:sp>
      <p:sp>
        <p:nvSpPr>
          <p:cNvPr id="14" name="Rectangle 13">
            <a:extLst>
              <a:ext uri="{FF2B5EF4-FFF2-40B4-BE49-F238E27FC236}">
                <a16:creationId xmlns:a16="http://schemas.microsoft.com/office/drawing/2014/main" id="{4389C545-F081-40EF-85C4-C440B5B4FB21}"/>
              </a:ext>
            </a:extLst>
          </p:cNvPr>
          <p:cNvSpPr>
            <a:spLocks noGrp="1"/>
          </p:cNvSpPr>
          <p:nvPr/>
        </p:nvSpPr>
        <p:spPr>
          <a:xfrm>
            <a:off x="2238375" y="5324475"/>
            <a:ext cx="7715250" cy="457200"/>
          </a:xfrm>
          <a:prstGeom prst="rect">
            <a:avLst/>
          </a:prstGeom>
          <a:noFill/>
          <a:ln w="0">
            <a:noFill/>
          </a:ln>
        </p:spPr>
        <p:txBody>
          <a:bodyPr anchor="ctr">
            <a:normAutofit/>
          </a:bodyPr>
          <a:lstStyle/>
          <a:p>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608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The coexistence problem</a:t>
            </a:r>
          </a:p>
        </p:txBody>
      </p:sp>
    </p:spTree>
    <p:extLst>
      <p:ext uri="{BB962C8B-B14F-4D97-AF65-F5344CB8AC3E}">
        <p14:creationId xmlns:p14="http://schemas.microsoft.com/office/powerpoint/2010/main" val="5025132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lide-title">
            <a:extLst>
              <a:ext uri="{FF2B5EF4-FFF2-40B4-BE49-F238E27FC236}">
                <a16:creationId xmlns:a16="http://schemas.microsoft.com/office/drawing/2014/main" id="{87FACB85-A5FC-4526-9914-22C8BFC4174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Running OBI and Cilium together sounds simple</a:t>
            </a:r>
          </a:p>
        </p:txBody>
      </p:sp>
      <p:sp>
        <p:nvSpPr>
          <p:cNvPr id="2" name="Rectangle 1">
            <a:extLst>
              <a:ext uri="{FF2B5EF4-FFF2-40B4-BE49-F238E27FC236}">
                <a16:creationId xmlns:a16="http://schemas.microsoft.com/office/drawing/2014/main" id="{0D4FB395-04EA-4F05-B998-73DEAB7278C9}"/>
              </a:ext>
            </a:extLst>
          </p:cNvPr>
          <p:cNvSpPr>
            <a:spLocks noGrp="1"/>
          </p:cNvSpPr>
          <p:nvPr/>
        </p:nvSpPr>
        <p:spPr>
          <a:xfrm>
            <a:off x="857250" y="1619250"/>
            <a:ext cx="6858000" cy="1619250"/>
          </a:xfrm>
          <a:prstGeom prst="rect">
            <a:avLst/>
          </a:prstGeom>
          <a:noFill/>
          <a:ln w="0">
            <a:noFill/>
          </a:ln>
        </p:spPr>
        <p:txBody>
          <a:bodyPr anchor="t">
            <a:normAutofit/>
          </a:bodyPr>
          <a:lstStyle/>
          <a:p>
            <a:pPr algn="l">
              <a:buNone/>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“What changes when both eBPF agents share a node?”</a:t>
            </a:r>
          </a:p>
        </p:txBody>
      </p:sp>
      <p:sp>
        <p:nvSpPr>
          <p:cNvPr id="3" name="Rectangle 2">
            <a:extLst>
              <a:ext uri="{FF2B5EF4-FFF2-40B4-BE49-F238E27FC236}">
                <a16:creationId xmlns:a16="http://schemas.microsoft.com/office/drawing/2014/main" id="{4CA45C76-858D-4FB1-BC9A-88344B725C25}"/>
              </a:ext>
            </a:extLst>
          </p:cNvPr>
          <p:cNvSpPr>
            <a:spLocks noGrp="1"/>
          </p:cNvSpPr>
          <p:nvPr/>
        </p:nvSpPr>
        <p:spPr>
          <a:xfrm>
            <a:off x="857250" y="3562350"/>
            <a:ext cx="5143500" cy="66675"/>
          </a:xfrm>
          <a:prstGeom prst="rect">
            <a:avLst/>
          </a:prstGeom>
          <a:solidFill>
            <a:srgbClr val="02C8FF"/>
          </a:solidFill>
          <a:ln w="0">
            <a:noFill/>
          </a:ln>
        </p:spPr>
        <p:txBody>
          <a:bodyPr/>
          <a:lstStyle/>
          <a:p>
            <a:endParaRPr/>
          </a:p>
        </p:txBody>
      </p:sp>
      <p:sp>
        <p:nvSpPr>
          <p:cNvPr id="4" name="Rectangle 3">
            <a:extLst>
              <a:ext uri="{FF2B5EF4-FFF2-40B4-BE49-F238E27FC236}">
                <a16:creationId xmlns:a16="http://schemas.microsoft.com/office/drawing/2014/main" id="{D9331B5F-1C05-4F9F-937F-DC8971A7084D}"/>
              </a:ext>
            </a:extLst>
          </p:cNvPr>
          <p:cNvSpPr>
            <a:spLocks noGrp="1"/>
          </p:cNvSpPr>
          <p:nvPr/>
        </p:nvSpPr>
        <p:spPr>
          <a:xfrm>
            <a:off x="857250" y="3981450"/>
            <a:ext cx="4191000" cy="3619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Three things to verify in production</a:t>
            </a:r>
          </a:p>
        </p:txBody>
      </p:sp>
      <p:sp>
        <p:nvSpPr>
          <p:cNvPr id="5" name="Rectangle 4">
            <a:extLst>
              <a:ext uri="{FF2B5EF4-FFF2-40B4-BE49-F238E27FC236}">
                <a16:creationId xmlns:a16="http://schemas.microsoft.com/office/drawing/2014/main" id="{8FD0081F-2CF2-498C-9C0D-ABF15D76B43F}"/>
              </a:ext>
            </a:extLst>
          </p:cNvPr>
          <p:cNvSpPr>
            <a:spLocks noGrp="1"/>
          </p:cNvSpPr>
          <p:nvPr/>
        </p:nvSpPr>
        <p:spPr>
          <a:xfrm>
            <a:off x="857250" y="4552950"/>
            <a:ext cx="95250" cy="95250"/>
          </a:xfrm>
          <a:prstGeom prst="rect">
            <a:avLst/>
          </a:prstGeom>
          <a:solidFill>
            <a:srgbClr val="0860FE"/>
          </a:solidFill>
          <a:ln w="0">
            <a:noFill/>
          </a:ln>
        </p:spPr>
        <p:txBody>
          <a:bodyPr/>
          <a:lstStyle/>
          <a:p>
            <a:endParaRPr/>
          </a:p>
        </p:txBody>
      </p:sp>
      <p:sp>
        <p:nvSpPr>
          <p:cNvPr id="6" name="Rectangle 5">
            <a:extLst>
              <a:ext uri="{FF2B5EF4-FFF2-40B4-BE49-F238E27FC236}">
                <a16:creationId xmlns:a16="http://schemas.microsoft.com/office/drawing/2014/main" id="{193343C7-0B86-4584-8C9B-AF0CD3E3054C}"/>
              </a:ext>
            </a:extLst>
          </p:cNvPr>
          <p:cNvSpPr>
            <a:spLocks noGrp="1"/>
          </p:cNvSpPr>
          <p:nvPr/>
        </p:nvSpPr>
        <p:spPr>
          <a:xfrm>
            <a:off x="1123950" y="44577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Rectangle 6">
            <a:extLst>
              <a:ext uri="{FF2B5EF4-FFF2-40B4-BE49-F238E27FC236}">
                <a16:creationId xmlns:a16="http://schemas.microsoft.com/office/drawing/2014/main" id="{AC7E250E-BD9D-4B56-AA0C-A2590841586E}"/>
              </a:ext>
            </a:extLst>
          </p:cNvPr>
          <p:cNvSpPr>
            <a:spLocks noGrp="1"/>
          </p:cNvSpPr>
          <p:nvPr/>
        </p:nvSpPr>
        <p:spPr>
          <a:xfrm>
            <a:off x="857250" y="5086350"/>
            <a:ext cx="95250" cy="95250"/>
          </a:xfrm>
          <a:prstGeom prst="rect">
            <a:avLst/>
          </a:prstGeom>
          <a:solidFill>
            <a:srgbClr val="0860FE"/>
          </a:solidFill>
          <a:ln w="0">
            <a:noFill/>
          </a:ln>
        </p:spPr>
        <p:txBody>
          <a:bodyPr/>
          <a:lstStyle/>
          <a:p>
            <a:endParaRPr/>
          </a:p>
        </p:txBody>
      </p:sp>
      <p:sp>
        <p:nvSpPr>
          <p:cNvPr id="8" name="Rectangle 7">
            <a:extLst>
              <a:ext uri="{FF2B5EF4-FFF2-40B4-BE49-F238E27FC236}">
                <a16:creationId xmlns:a16="http://schemas.microsoft.com/office/drawing/2014/main" id="{2472821D-AB02-44A9-A09F-3F5D5F453EC1}"/>
              </a:ext>
            </a:extLst>
          </p:cNvPr>
          <p:cNvSpPr>
            <a:spLocks noGrp="1"/>
          </p:cNvSpPr>
          <p:nvPr/>
        </p:nvSpPr>
        <p:spPr>
          <a:xfrm>
            <a:off x="1123950" y="49911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Rectangle 8">
            <a:extLst>
              <a:ext uri="{FF2B5EF4-FFF2-40B4-BE49-F238E27FC236}">
                <a16:creationId xmlns:a16="http://schemas.microsoft.com/office/drawing/2014/main" id="{E47F07B9-AACE-4FE6-91DA-F972465D815D}"/>
              </a:ext>
            </a:extLst>
          </p:cNvPr>
          <p:cNvSpPr>
            <a:spLocks noGrp="1"/>
          </p:cNvSpPr>
          <p:nvPr/>
        </p:nvSpPr>
        <p:spPr>
          <a:xfrm>
            <a:off x="857250" y="5619750"/>
            <a:ext cx="95250" cy="95250"/>
          </a:xfrm>
          <a:prstGeom prst="rect">
            <a:avLst/>
          </a:prstGeom>
          <a:solidFill>
            <a:srgbClr val="0860FE"/>
          </a:solidFill>
          <a:ln w="0">
            <a:noFill/>
          </a:ln>
        </p:spPr>
        <p:txBody>
          <a:bodyPr/>
          <a:lstStyle/>
          <a:p>
            <a:endParaRPr/>
          </a:p>
        </p:txBody>
      </p:sp>
      <p:sp>
        <p:nvSpPr>
          <p:cNvPr id="10" name="Rectangle 9">
            <a:extLst>
              <a:ext uri="{FF2B5EF4-FFF2-40B4-BE49-F238E27FC236}">
                <a16:creationId xmlns:a16="http://schemas.microsoft.com/office/drawing/2014/main" id="{D4797F6A-E334-4571-BB65-222E0D11C67C}"/>
              </a:ext>
            </a:extLst>
          </p:cNvPr>
          <p:cNvSpPr>
            <a:spLocks noGrp="1"/>
          </p:cNvSpPr>
          <p:nvPr/>
        </p:nvSpPr>
        <p:spPr>
          <a:xfrm>
            <a:off x="1123950" y="55245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Rounded Rectangle 10">
            <a:extLst>
              <a:ext uri="{FF2B5EF4-FFF2-40B4-BE49-F238E27FC236}">
                <a16:creationId xmlns:a16="http://schemas.microsoft.com/office/drawing/2014/main" id="{8001E2B2-1358-47DC-8E7B-93880D0F1582}"/>
              </a:ext>
            </a:extLst>
          </p:cNvPr>
          <p:cNvSpPr>
            <a:spLocks noGrp="1"/>
          </p:cNvSpPr>
          <p:nvPr/>
        </p:nvSpPr>
        <p:spPr>
          <a:xfrm>
            <a:off x="8572500" y="1981200"/>
            <a:ext cx="2571750" cy="1095375"/>
          </a:xfrm>
          <a:prstGeom prst="roundRect">
            <a:avLst>
              <a:gd name="adj" fmla="val 6957"/>
            </a:avLst>
          </a:prstGeom>
          <a:solidFill>
            <a:srgbClr val="EAF7FC"/>
          </a:solidFill>
          <a:ln w="14288">
            <a:solidFill>
              <a:srgbClr val="02C8F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Rounded Rectangle 11">
            <a:extLst>
              <a:ext uri="{FF2B5EF4-FFF2-40B4-BE49-F238E27FC236}">
                <a16:creationId xmlns:a16="http://schemas.microsoft.com/office/drawing/2014/main" id="{86D6710D-EC8A-4D0D-B35E-2CDA393F1CE0}"/>
              </a:ext>
            </a:extLst>
          </p:cNvPr>
          <p:cNvSpPr>
            <a:spLocks noGrp="1"/>
          </p:cNvSpPr>
          <p:nvPr/>
        </p:nvSpPr>
        <p:spPr>
          <a:xfrm>
            <a:off x="8572500" y="3676650"/>
            <a:ext cx="2571750" cy="1095375"/>
          </a:xfrm>
          <a:prstGeom prst="roundRect">
            <a:avLst>
              <a:gd name="adj" fmla="val 6957"/>
            </a:avLst>
          </a:prstGeom>
          <a:solidFill>
            <a:srgbClr val="F4EAF4"/>
          </a:solidFill>
          <a:ln w="14288">
            <a:solidFill>
              <a:srgbClr val="FF007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
        <p:nvSpPr>
          <p:cNvPr id="14" name="Rectangle 13">
            <a:extLst>
              <a:ext uri="{FF2B5EF4-FFF2-40B4-BE49-F238E27FC236}">
                <a16:creationId xmlns:a16="http://schemas.microsoft.com/office/drawing/2014/main" id="{EBB07FB0-36F4-48B1-8714-832800EE3B62}"/>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5" name="Rectangle 14">
            <a:extLst>
              <a:ext uri="{FF2B5EF4-FFF2-40B4-BE49-F238E27FC236}">
                <a16:creationId xmlns:a16="http://schemas.microsoft.com/office/drawing/2014/main" id="{D612FC7A-1A2B-4638-9E69-C1CD77A5A17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1613207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and Cilium can both attach here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TC is the one shared checkpoint we will examine.</a:t>
            </a:r>
          </a:p>
        </p:txBody>
      </p:sp>
    </p:spTree>
    <p:extLst>
      <p:ext uri="{BB962C8B-B14F-4D97-AF65-F5344CB8AC3E}">
        <p14:creationId xmlns:p14="http://schemas.microsoft.com/office/powerpoint/2010/main" val="1882857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2" name="Straight Arrow Connector 361">
            <a:extLst>
              <a:ext uri="{FF2B5EF4-FFF2-40B4-BE49-F238E27FC236}">
                <a16:creationId xmlns:a16="http://schemas.microsoft.com/office/drawing/2014/main" id="{F63C1725-D5B0-4F01-BEB5-31162F4096B3}"/>
              </a:ext>
            </a:extLst>
          </p:cNvPr>
          <p:cNvCxnSpPr>
            <a:stCxn id="9" idx="3"/>
            <a:endCxn id="10" idx="1"/>
          </p:cNvCxnSpPr>
          <p:nvPr/>
        </p:nvCxnSpPr>
        <p:spPr>
          <a:xfrm>
            <a:off x="2952750" y="3219450"/>
            <a:ext cx="2000250" cy="0"/>
          </a:xfrm>
          <a:prstGeom prst="straightConnector1">
            <a:avLst/>
          </a:prstGeom>
          <a:ln w="19050">
            <a:solidFill>
              <a:srgbClr val="686B6B"/>
            </a:solidFill>
            <a:tailEnd type="arrow" w="med" len="med"/>
          </a:ln>
        </p:spPr>
      </p:cxnSp>
      <p:sp>
        <p:nvSpPr>
          <p:cNvPr id="26" name="slide-title">
            <a:extLst>
              <a:ext uri="{FF2B5EF4-FFF2-40B4-BE49-F238E27FC236}">
                <a16:creationId xmlns:a16="http://schemas.microsoft.com/office/drawing/2014/main" id="{F30FCB05-D8E9-4E9A-A589-036B48EA73AC}"/>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and Cilium meet at TC</a:t>
            </a:r>
          </a:p>
        </p:txBody>
      </p:sp>
      <p:sp>
        <p:nvSpPr>
          <p:cNvPr id="2" name="slide-subtitle">
            <a:extLst>
              <a:ext uri="{FF2B5EF4-FFF2-40B4-BE49-F238E27FC236}">
                <a16:creationId xmlns:a16="http://schemas.microsoft.com/office/drawing/2014/main" id="{9D6C336A-55D5-4177-AF1B-389608688355}"/>
              </a:ext>
            </a:extLst>
          </p:cNvPr>
          <p:cNvSpPr>
            <a:spLocks noGrp="1"/>
          </p:cNvSpPr>
          <p:nvPr/>
        </p:nvSpPr>
        <p:spPr>
          <a:xfrm>
            <a:off x="552450" y="1028700"/>
            <a:ext cx="10668000" cy="457200"/>
          </a:xfrm>
          <a:prstGeom prst="rect">
            <a:avLst/>
          </a:prstGeom>
          <a:noFill/>
          <a:ln w="0">
            <a:noFill/>
          </a:ln>
        </p:spPr>
        <p:txBody>
          <a:bodyPr anchor="t">
            <a:normAutofit fontScale="92500"/>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       OBI can add trace context here.                                                       Cilium processes pod traffic here.</a:t>
            </a:r>
          </a:p>
        </p:txBody>
      </p:sp>
      <p:sp>
        <p:nvSpPr>
          <p:cNvPr id="3" name="Rounded Rectangle 2">
            <a:extLst>
              <a:ext uri="{FF2B5EF4-FFF2-40B4-BE49-F238E27FC236}">
                <a16:creationId xmlns:a16="http://schemas.microsoft.com/office/drawing/2014/main" id="{2C6A31FC-F26E-42CD-9AE6-3C77F3A50EB6}"/>
              </a:ext>
            </a:extLst>
          </p:cNvPr>
          <p:cNvSpPr>
            <a:spLocks noGrp="1"/>
          </p:cNvSpPr>
          <p:nvPr/>
        </p:nvSpPr>
        <p:spPr>
          <a:xfrm>
            <a:off x="666750" y="1562100"/>
            <a:ext cx="4762500" cy="781050"/>
          </a:xfrm>
          <a:prstGeom prst="roundRect">
            <a:avLst>
              <a:gd name="adj" fmla="val 9756"/>
            </a:avLst>
          </a:prstGeom>
          <a:solidFill>
            <a:srgbClr val="F9F0F6"/>
          </a:solidFill>
          <a:ln w="14288">
            <a:solidFill>
              <a:srgbClr val="FF007F"/>
            </a:solidFill>
          </a:ln>
        </p:spPr>
        <p:txBody>
          <a:bodyPr/>
          <a:lstStyle/>
          <a:p>
            <a:endParaRPr/>
          </a:p>
        </p:txBody>
      </p:sp>
      <p:sp>
        <p:nvSpPr>
          <p:cNvPr id="4" name="Rectangle 3">
            <a:extLst>
              <a:ext uri="{FF2B5EF4-FFF2-40B4-BE49-F238E27FC236}">
                <a16:creationId xmlns:a16="http://schemas.microsoft.com/office/drawing/2014/main" id="{EA4F80D9-21A7-4BB0-8B6C-ADE46F071600}"/>
              </a:ext>
            </a:extLst>
          </p:cNvPr>
          <p:cNvSpPr>
            <a:spLocks noGrp="1"/>
          </p:cNvSpPr>
          <p:nvPr/>
        </p:nvSpPr>
        <p:spPr>
          <a:xfrm>
            <a:off x="895350" y="1695450"/>
            <a:ext cx="2095500" cy="285750"/>
          </a:xfrm>
          <a:prstGeom prst="rect">
            <a:avLst/>
          </a:prstGeom>
          <a:noFill/>
          <a:ln w="0">
            <a:noFill/>
          </a:ln>
        </p:spPr>
        <p:txBody>
          <a:bodyPr anchor="t">
            <a:normAutofit fontScale="89091" lnSpcReduction="20000"/>
          </a:bodyPr>
          <a:lstStyle/>
          <a:p>
            <a:pPr algn="l">
              <a:buNone/>
              <a:defRPr sz="1650" b="1">
                <a:solidFill>
                  <a:srgbClr val="FF007F"/>
                </a:solidFill>
                <a:latin typeface="CiscoSansTT Medium"/>
                <a:ea typeface="CiscoSansTT Medium"/>
                <a:cs typeface="CiscoSansTT Medium"/>
              </a:defRPr>
            </a:pPr>
            <a:r>
              <a:rPr sz="1650" b="1">
                <a:solidFill>
                  <a:srgbClr val="FF007F"/>
                </a:solidFill>
                <a:latin typeface="CiscoSansTT Medium"/>
                <a:ea typeface="CiscoSansTT Medium"/>
                <a:cs typeface="CiscoSansTT Medium"/>
              </a:rPr>
              <a:t>OBI</a:t>
            </a:r>
          </a:p>
        </p:txBody>
      </p:sp>
      <p:sp>
        <p:nvSpPr>
          <p:cNvPr id="5" name="Rectangle 4">
            <a:extLst>
              <a:ext uri="{FF2B5EF4-FFF2-40B4-BE49-F238E27FC236}">
                <a16:creationId xmlns:a16="http://schemas.microsoft.com/office/drawing/2014/main" id="{3095A0B0-00E3-4075-B666-952E0C2DC6C9}"/>
              </a:ext>
            </a:extLst>
          </p:cNvPr>
          <p:cNvSpPr>
            <a:spLocks noGrp="1"/>
          </p:cNvSpPr>
          <p:nvPr/>
        </p:nvSpPr>
        <p:spPr>
          <a:xfrm>
            <a:off x="895350" y="2000250"/>
            <a:ext cx="4000500" cy="247650"/>
          </a:xfrm>
          <a:prstGeom prst="rect">
            <a:avLst/>
          </a:prstGeom>
          <a:noFill/>
          <a:ln w="0">
            <a:noFill/>
          </a:ln>
        </p:spPr>
        <p:txBody>
          <a:bodyPr anchor="t">
            <a:normAutofit fontScale="82412" lnSpcReduction="20000"/>
          </a:bodyPr>
          <a:lstStyle/>
          <a:p>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Optional TCP trace propagation</a:t>
            </a:r>
          </a:p>
        </p:txBody>
      </p:sp>
      <p:sp>
        <p:nvSpPr>
          <p:cNvPr id="6" name="Rounded Rectangle 5">
            <a:extLst>
              <a:ext uri="{FF2B5EF4-FFF2-40B4-BE49-F238E27FC236}">
                <a16:creationId xmlns:a16="http://schemas.microsoft.com/office/drawing/2014/main" id="{8894B500-4C60-4EB7-A55D-B07E8DDA0609}"/>
              </a:ext>
            </a:extLst>
          </p:cNvPr>
          <p:cNvSpPr>
            <a:spLocks noGrp="1"/>
          </p:cNvSpPr>
          <p:nvPr/>
        </p:nvSpPr>
        <p:spPr>
          <a:xfrm>
            <a:off x="6762750" y="1562100"/>
            <a:ext cx="4762500" cy="781050"/>
          </a:xfrm>
          <a:prstGeom prst="roundRect">
            <a:avLst>
              <a:gd name="adj" fmla="val 9756"/>
            </a:avLst>
          </a:prstGeom>
          <a:solidFill>
            <a:srgbClr val="EAF7FC"/>
          </a:solidFill>
          <a:ln w="14288">
            <a:solidFill>
              <a:srgbClr val="0860FE"/>
            </a:solidFill>
          </a:ln>
        </p:spPr>
        <p:txBody>
          <a:bodyPr/>
          <a:lstStyle/>
          <a:p>
            <a:endParaRPr/>
          </a:p>
        </p:txBody>
      </p:sp>
      <p:sp>
        <p:nvSpPr>
          <p:cNvPr id="7" name="Rectangle 6">
            <a:extLst>
              <a:ext uri="{FF2B5EF4-FFF2-40B4-BE49-F238E27FC236}">
                <a16:creationId xmlns:a16="http://schemas.microsoft.com/office/drawing/2014/main" id="{20A765CC-FD83-44B5-A7D3-BA0C7F84DAAD}"/>
              </a:ext>
            </a:extLst>
          </p:cNvPr>
          <p:cNvSpPr>
            <a:spLocks noGrp="1"/>
          </p:cNvSpPr>
          <p:nvPr/>
        </p:nvSpPr>
        <p:spPr>
          <a:xfrm>
            <a:off x="6991350" y="1695450"/>
            <a:ext cx="2286000" cy="285750"/>
          </a:xfrm>
          <a:prstGeom prst="rect">
            <a:avLst/>
          </a:prstGeom>
          <a:noFill/>
          <a:ln w="0">
            <a:noFill/>
          </a:ln>
        </p:spPr>
        <p:txBody>
          <a:bodyPr anchor="t">
            <a:normAutofit fontScale="89091" lnSpcReduction="20000"/>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Cilium</a:t>
            </a:r>
          </a:p>
        </p:txBody>
      </p:sp>
      <p:sp>
        <p:nvSpPr>
          <p:cNvPr id="8" name="Rectangle 7">
            <a:extLst>
              <a:ext uri="{FF2B5EF4-FFF2-40B4-BE49-F238E27FC236}">
                <a16:creationId xmlns:a16="http://schemas.microsoft.com/office/drawing/2014/main" id="{6C28BB69-CC38-4098-95A7-E508628C9EA9}"/>
              </a:ext>
            </a:extLst>
          </p:cNvPr>
          <p:cNvSpPr>
            <a:spLocks noGrp="1"/>
          </p:cNvSpPr>
          <p:nvPr/>
        </p:nvSpPr>
        <p:spPr>
          <a:xfrm>
            <a:off x="6991350" y="2000250"/>
            <a:ext cx="3905250" cy="247650"/>
          </a:xfrm>
          <a:prstGeom prst="rect">
            <a:avLst/>
          </a:prstGeom>
          <a:noFill/>
          <a:ln w="0">
            <a:noFill/>
          </a:ln>
        </p:spPr>
        <p:txBody>
          <a:bodyPr anchor="t">
            <a:normAutofit fontScale="82412" lnSpcReduction="20000"/>
          </a:bodyPr>
          <a:lstStyle/>
          <a:p>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Pod networking and policy</a:t>
            </a:r>
          </a:p>
        </p:txBody>
      </p:sp>
      <p:sp>
        <p:nvSpPr>
          <p:cNvPr id="9" name="Rounded Rectangle 8">
            <a:extLst>
              <a:ext uri="{FF2B5EF4-FFF2-40B4-BE49-F238E27FC236}">
                <a16:creationId xmlns:a16="http://schemas.microsoft.com/office/drawing/2014/main" id="{696BD036-81BB-46F4-A7AB-4D4FBF7CFB83}"/>
              </a:ext>
            </a:extLst>
          </p:cNvPr>
          <p:cNvSpPr>
            <a:spLocks noGrp="1"/>
          </p:cNvSpPr>
          <p:nvPr/>
        </p:nvSpPr>
        <p:spPr>
          <a:xfrm>
            <a:off x="666750" y="2857500"/>
            <a:ext cx="2286000" cy="723900"/>
          </a:xfrm>
          <a:prstGeom prst="roundRect">
            <a:avLst>
              <a:gd name="adj" fmla="val 10526"/>
            </a:avLst>
          </a:prstGeom>
          <a:solidFill>
            <a:srgbClr val="F4F6F8"/>
          </a:solidFill>
          <a:ln w="14288">
            <a:solidFill>
              <a:srgbClr val="A6A6A6"/>
            </a:solidFill>
          </a:ln>
        </p:spPr>
        <p:txBody>
          <a:bodyPr anchor="ctr">
            <a:normAutofit/>
          </a:body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Application process</a:t>
            </a:r>
          </a:p>
        </p:txBody>
      </p:sp>
      <p:sp>
        <p:nvSpPr>
          <p:cNvPr id="10" name="Rounded Rectangle 9">
            <a:extLst>
              <a:ext uri="{FF2B5EF4-FFF2-40B4-BE49-F238E27FC236}">
                <a16:creationId xmlns:a16="http://schemas.microsoft.com/office/drawing/2014/main" id="{A91280D8-EB21-46FE-8E56-DC7EFF804CF9}"/>
              </a:ext>
            </a:extLst>
          </p:cNvPr>
          <p:cNvSpPr>
            <a:spLocks noGrp="1"/>
          </p:cNvSpPr>
          <p:nvPr/>
        </p:nvSpPr>
        <p:spPr>
          <a:xfrm>
            <a:off x="4953000" y="2857500"/>
            <a:ext cx="2286000" cy="723900"/>
          </a:xfrm>
          <a:prstGeom prst="roundRect">
            <a:avLst>
              <a:gd name="adj" fmla="val 10526"/>
            </a:avLst>
          </a:prstGeom>
          <a:solidFill>
            <a:srgbClr val="FFFFFF"/>
          </a:solidFill>
          <a:ln w="14288">
            <a:solidFill>
              <a:srgbClr val="0860FE"/>
            </a:solidFill>
          </a:ln>
        </p:spPr>
        <p:txBody>
          <a:bodyPr anchor="ctr">
            <a:normAutofit/>
          </a:body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Host-side veth</a:t>
            </a:r>
          </a:p>
        </p:txBody>
      </p:sp>
      <p:sp>
        <p:nvSpPr>
          <p:cNvPr id="11" name="Rounded Rectangle 10">
            <a:extLst>
              <a:ext uri="{FF2B5EF4-FFF2-40B4-BE49-F238E27FC236}">
                <a16:creationId xmlns:a16="http://schemas.microsoft.com/office/drawing/2014/main" id="{CDF2353C-694D-4CB4-9EA5-DA115205C4B4}"/>
              </a:ext>
            </a:extLst>
          </p:cNvPr>
          <p:cNvSpPr>
            <a:spLocks noGrp="1"/>
          </p:cNvSpPr>
          <p:nvPr/>
        </p:nvSpPr>
        <p:spPr>
          <a:xfrm>
            <a:off x="9239250" y="2857500"/>
            <a:ext cx="2095500" cy="723900"/>
          </a:xfrm>
          <a:prstGeom prst="roundRect">
            <a:avLst>
              <a:gd name="adj" fmla="val 10526"/>
            </a:avLst>
          </a:prstGeom>
          <a:solidFill>
            <a:srgbClr val="F4F6F8"/>
          </a:solidFill>
          <a:ln w="14288">
            <a:solidFill>
              <a:srgbClr val="A6A6A6"/>
            </a:solidFill>
          </a:ln>
        </p:spPr>
        <p:txBody>
          <a:bodyPr anchor="ctr">
            <a:normAutofit/>
          </a:body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Network</a:t>
            </a:r>
          </a:p>
        </p:txBody>
      </p:sp>
      <p:cxnSp>
        <p:nvCxnSpPr>
          <p:cNvPr id="350" name="Straight Arrow Connector 37">
            <a:extLst>
              <a:ext uri="{FF2B5EF4-FFF2-40B4-BE49-F238E27FC236}">
                <a16:creationId xmlns:a16="http://schemas.microsoft.com/office/drawing/2014/main" id="{88FAD868-6809-46F0-9E35-273A7055DB23}"/>
              </a:ext>
            </a:extLst>
          </p:cNvPr>
          <p:cNvCxnSpPr>
            <a:stCxn id="10" idx="3"/>
            <a:endCxn id="11" idx="1"/>
          </p:cNvCxnSpPr>
          <p:nvPr/>
        </p:nvCxnSpPr>
        <p:spPr>
          <a:xfrm>
            <a:off x="7239000" y="3219450"/>
            <a:ext cx="2000250" cy="0"/>
          </a:xfrm>
          <a:prstGeom prst="straightConnector1">
            <a:avLst/>
          </a:prstGeom>
          <a:ln w="23813">
            <a:solidFill>
              <a:srgbClr val="686B6B"/>
            </a:solidFill>
            <a:prstDash val="solid"/>
            <a:tailEnd type="arrow" w="med" len="med"/>
          </a:ln>
        </p:spPr>
      </p:cxnSp>
      <p:sp>
        <p:nvSpPr>
          <p:cNvPr id="14" name="Rounded Rectangle 13">
            <a:extLst>
              <a:ext uri="{FF2B5EF4-FFF2-40B4-BE49-F238E27FC236}">
                <a16:creationId xmlns:a16="http://schemas.microsoft.com/office/drawing/2014/main" id="{87530A25-FA22-4956-8BEA-4DCA6ABD07D0}"/>
              </a:ext>
            </a:extLst>
          </p:cNvPr>
          <p:cNvSpPr>
            <a:spLocks noGrp="1"/>
          </p:cNvSpPr>
          <p:nvPr/>
        </p:nvSpPr>
        <p:spPr>
          <a:xfrm>
            <a:off x="2381250" y="4000500"/>
            <a:ext cx="7429500" cy="1619250"/>
          </a:xfrm>
          <a:prstGeom prst="roundRect">
            <a:avLst>
              <a:gd name="adj" fmla="val 4706"/>
            </a:avLst>
          </a:prstGeom>
          <a:solidFill>
            <a:srgbClr val="07182A"/>
          </a:solidFill>
          <a:ln w="0">
            <a:noFill/>
          </a:ln>
        </p:spPr>
        <p:txBody>
          <a:bodyPr/>
          <a:lstStyle/>
          <a:p>
            <a:endParaRPr/>
          </a:p>
        </p:txBody>
      </p:sp>
      <p:sp>
        <p:nvSpPr>
          <p:cNvPr id="15" name="Rectangle 14">
            <a:extLst>
              <a:ext uri="{FF2B5EF4-FFF2-40B4-BE49-F238E27FC236}">
                <a16:creationId xmlns:a16="http://schemas.microsoft.com/office/drawing/2014/main" id="{6781C774-D4AF-488E-B34F-6E2E2AA5302D}"/>
              </a:ext>
            </a:extLst>
          </p:cNvPr>
          <p:cNvSpPr>
            <a:spLocks noGrp="1"/>
          </p:cNvSpPr>
          <p:nvPr/>
        </p:nvSpPr>
        <p:spPr>
          <a:xfrm>
            <a:off x="2724150" y="4171950"/>
            <a:ext cx="6743700" cy="323850"/>
          </a:xfrm>
          <a:prstGeom prst="rect">
            <a:avLst/>
          </a:prstGeom>
          <a:noFill/>
          <a:ln w="0">
            <a:noFill/>
          </a:ln>
        </p:spPr>
        <p:txBody>
          <a:bodyPr anchor="t">
            <a:normAutofit fontScale="92500" lnSpcReduction="20000"/>
          </a:bodyPr>
          <a:lstStyle/>
          <a:p>
            <a:pPr algn="ctr">
              <a:buNone/>
              <a:defRPr sz="1875" b="1">
                <a:solidFill>
                  <a:srgbClr val="FFFFFF"/>
                </a:solidFill>
                <a:latin typeface="CiscoSansTT Medium"/>
                <a:ea typeface="CiscoSansTT Medium"/>
                <a:cs typeface="CiscoSansTT Medium"/>
              </a:defRPr>
            </a:pPr>
            <a:r>
              <a:rPr sz="1875" b="1">
                <a:solidFill>
                  <a:srgbClr val="FFFFFF"/>
                </a:solidFill>
                <a:latin typeface="CiscoSansTT Medium"/>
                <a:ea typeface="CiscoSansTT Medium"/>
                <a:cs typeface="CiscoSansTT Medium"/>
              </a:rPr>
              <a:t>Shared TC hooks on the host-side veth</a:t>
            </a:r>
          </a:p>
        </p:txBody>
      </p:sp>
      <p:sp>
        <p:nvSpPr>
          <p:cNvPr id="16" name="Rounded Rectangle 15">
            <a:extLst>
              <a:ext uri="{FF2B5EF4-FFF2-40B4-BE49-F238E27FC236}">
                <a16:creationId xmlns:a16="http://schemas.microsoft.com/office/drawing/2014/main" id="{8FFC60E2-24BF-46E6-8463-DF1287D49085}"/>
              </a:ext>
            </a:extLst>
          </p:cNvPr>
          <p:cNvSpPr>
            <a:spLocks noGrp="1"/>
          </p:cNvSpPr>
          <p:nvPr/>
        </p:nvSpPr>
        <p:spPr>
          <a:xfrm>
            <a:off x="2724150" y="4629150"/>
            <a:ext cx="1428750" cy="381000"/>
          </a:xfrm>
          <a:prstGeom prst="roundRect">
            <a:avLst>
              <a:gd name="adj" fmla="val 20000"/>
            </a:avLst>
          </a:prstGeom>
          <a:solidFill>
            <a:srgbClr val="FFFFFF"/>
          </a:solidFill>
          <a:ln w="0">
            <a:noFill/>
          </a:ln>
        </p:spPr>
        <p:txBody>
          <a:bodyPr anchor="ctr">
            <a:normAutofit/>
          </a:bodyPr>
          <a:lstStyle/>
          <a:p>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ingress</a:t>
            </a:r>
          </a:p>
        </p:txBody>
      </p:sp>
      <p:sp>
        <p:nvSpPr>
          <p:cNvPr id="17" name="Rounded Rectangle 16">
            <a:extLst>
              <a:ext uri="{FF2B5EF4-FFF2-40B4-BE49-F238E27FC236}">
                <a16:creationId xmlns:a16="http://schemas.microsoft.com/office/drawing/2014/main" id="{40962869-3F21-45D8-B5A8-6F906157B194}"/>
              </a:ext>
            </a:extLst>
          </p:cNvPr>
          <p:cNvSpPr>
            <a:spLocks noGrp="1"/>
          </p:cNvSpPr>
          <p:nvPr/>
        </p:nvSpPr>
        <p:spPr>
          <a:xfrm>
            <a:off x="4400550" y="4629150"/>
            <a:ext cx="2095500" cy="381000"/>
          </a:xfrm>
          <a:prstGeom prst="roundRect">
            <a:avLst>
              <a:gd name="adj" fmla="val 20000"/>
            </a:avLst>
          </a:prstGeom>
          <a:solidFill>
            <a:srgbClr val="FF007F"/>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18" name="Rectangle 17">
            <a:extLst>
              <a:ext uri="{FF2B5EF4-FFF2-40B4-BE49-F238E27FC236}">
                <a16:creationId xmlns:a16="http://schemas.microsoft.com/office/drawing/2014/main" id="{6AD94758-A1ED-4586-AB0C-2F2F07415612}"/>
              </a:ext>
            </a:extLst>
          </p:cNvPr>
          <p:cNvSpPr>
            <a:spLocks noGrp="1"/>
          </p:cNvSpPr>
          <p:nvPr/>
        </p:nvSpPr>
        <p:spPr>
          <a:xfrm>
            <a:off x="6648450" y="4676775"/>
            <a:ext cx="323850" cy="266700"/>
          </a:xfrm>
          <a:prstGeom prst="rect">
            <a:avLst/>
          </a:prstGeom>
          <a:noFill/>
          <a:ln w="0">
            <a:noFill/>
          </a:ln>
        </p:spPr>
        <p:txBody>
          <a:bodyPr anchor="t">
            <a:normAutofit fontScale="74167"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a:ext uri="{FF2B5EF4-FFF2-40B4-BE49-F238E27FC236}">
                <a16:creationId xmlns:a16="http://schemas.microsoft.com/office/drawing/2014/main" id="{A5377F8E-C8A7-4E79-92B3-3E9549EC1889}"/>
              </a:ext>
            </a:extLst>
          </p:cNvPr>
          <p:cNvSpPr>
            <a:spLocks noGrp="1"/>
          </p:cNvSpPr>
          <p:nvPr/>
        </p:nvSpPr>
        <p:spPr>
          <a:xfrm>
            <a:off x="7124700" y="4629150"/>
            <a:ext cx="2343150" cy="381000"/>
          </a:xfrm>
          <a:prstGeom prst="roundRect">
            <a:avLst>
              <a:gd name="adj" fmla="val 20000"/>
            </a:avLst>
          </a:prstGeom>
          <a:solidFill>
            <a:srgbClr val="0860FE"/>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sp>
        <p:nvSpPr>
          <p:cNvPr id="20" name="Rounded Rectangle 19">
            <a:extLst>
              <a:ext uri="{FF2B5EF4-FFF2-40B4-BE49-F238E27FC236}">
                <a16:creationId xmlns:a16="http://schemas.microsoft.com/office/drawing/2014/main" id="{991B3726-39BE-47A6-8FF9-D40A56F03B4F}"/>
              </a:ext>
            </a:extLst>
          </p:cNvPr>
          <p:cNvSpPr>
            <a:spLocks noGrp="1"/>
          </p:cNvSpPr>
          <p:nvPr/>
        </p:nvSpPr>
        <p:spPr>
          <a:xfrm>
            <a:off x="2724150" y="5105400"/>
            <a:ext cx="1428750" cy="381000"/>
          </a:xfrm>
          <a:prstGeom prst="roundRect">
            <a:avLst>
              <a:gd name="adj" fmla="val 20000"/>
            </a:avLst>
          </a:prstGeom>
          <a:solidFill>
            <a:srgbClr val="FFFFFF"/>
          </a:solidFill>
          <a:ln w="0">
            <a:noFill/>
          </a:ln>
        </p:spPr>
        <p:txBody>
          <a:bodyPr anchor="ctr">
            <a:normAutofit/>
          </a:bodyPr>
          <a:lstStyle/>
          <a:p>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egress</a:t>
            </a:r>
          </a:p>
        </p:txBody>
      </p:sp>
      <p:sp>
        <p:nvSpPr>
          <p:cNvPr id="21" name="Rounded Rectangle 20">
            <a:extLst>
              <a:ext uri="{FF2B5EF4-FFF2-40B4-BE49-F238E27FC236}">
                <a16:creationId xmlns:a16="http://schemas.microsoft.com/office/drawing/2014/main" id="{E819752B-899A-4C7E-BF89-47C6539C8406}"/>
              </a:ext>
            </a:extLst>
          </p:cNvPr>
          <p:cNvSpPr>
            <a:spLocks noGrp="1"/>
          </p:cNvSpPr>
          <p:nvPr/>
        </p:nvSpPr>
        <p:spPr>
          <a:xfrm>
            <a:off x="4400550" y="5105400"/>
            <a:ext cx="2095500" cy="381000"/>
          </a:xfrm>
          <a:prstGeom prst="roundRect">
            <a:avLst>
              <a:gd name="adj" fmla="val 20000"/>
            </a:avLst>
          </a:prstGeom>
          <a:solidFill>
            <a:srgbClr val="FF007F"/>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22" name="Rectangle 21">
            <a:extLst>
              <a:ext uri="{FF2B5EF4-FFF2-40B4-BE49-F238E27FC236}">
                <a16:creationId xmlns:a16="http://schemas.microsoft.com/office/drawing/2014/main" id="{53F2990E-ED0E-4915-9483-1143960BA0A9}"/>
              </a:ext>
            </a:extLst>
          </p:cNvPr>
          <p:cNvSpPr>
            <a:spLocks noGrp="1"/>
          </p:cNvSpPr>
          <p:nvPr/>
        </p:nvSpPr>
        <p:spPr>
          <a:xfrm>
            <a:off x="6648450" y="5153025"/>
            <a:ext cx="323850" cy="266700"/>
          </a:xfrm>
          <a:prstGeom prst="rect">
            <a:avLst/>
          </a:prstGeom>
          <a:noFill/>
          <a:ln w="0">
            <a:noFill/>
          </a:ln>
        </p:spPr>
        <p:txBody>
          <a:bodyPr anchor="t">
            <a:normAutofit fontScale="74167"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a:ext uri="{FF2B5EF4-FFF2-40B4-BE49-F238E27FC236}">
                <a16:creationId xmlns:a16="http://schemas.microsoft.com/office/drawing/2014/main" id="{A5FFF6D5-7BCC-4B0B-9620-BB834FEE02EF}"/>
              </a:ext>
            </a:extLst>
          </p:cNvPr>
          <p:cNvSpPr>
            <a:spLocks noGrp="1"/>
          </p:cNvSpPr>
          <p:nvPr/>
        </p:nvSpPr>
        <p:spPr>
          <a:xfrm>
            <a:off x="7124700" y="5105400"/>
            <a:ext cx="2343150" cy="381000"/>
          </a:xfrm>
          <a:prstGeom prst="roundRect">
            <a:avLst>
              <a:gd name="adj" fmla="val 20000"/>
            </a:avLst>
          </a:prstGeom>
          <a:solidFill>
            <a:srgbClr val="0860FE"/>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cxnSp>
        <p:nvCxnSpPr>
          <p:cNvPr id="361" name="Straight Arrow Connector 48">
            <a:extLst>
              <a:ext uri="{FF2B5EF4-FFF2-40B4-BE49-F238E27FC236}">
                <a16:creationId xmlns:a16="http://schemas.microsoft.com/office/drawing/2014/main" id="{26DE8223-1734-4228-998C-9A84E060C69E}"/>
              </a:ext>
            </a:extLst>
          </p:cNvPr>
          <p:cNvCxnSpPr>
            <a:stCxn id="10" idx="2"/>
            <a:endCxn id="14" idx="0"/>
          </p:cNvCxnSpPr>
          <p:nvPr/>
        </p:nvCxnSpPr>
        <p:spPr>
          <a:xfrm>
            <a:off x="6096000" y="3581400"/>
            <a:ext cx="0" cy="419100"/>
          </a:xfrm>
          <a:prstGeom prst="straightConnector1">
            <a:avLst/>
          </a:prstGeom>
          <a:ln w="23813">
            <a:solidFill>
              <a:srgbClr val="07182A"/>
            </a:solidFill>
            <a:prstDash val="solid"/>
          </a:ln>
        </p:spPr>
      </p:cxnSp>
      <p:sp>
        <p:nvSpPr>
          <p:cNvPr id="25" name="Rectangle 24">
            <a:extLst>
              <a:ext uri="{FF2B5EF4-FFF2-40B4-BE49-F238E27FC236}">
                <a16:creationId xmlns:a16="http://schemas.microsoft.com/office/drawing/2014/main" id="{690A0E5E-ABFD-43B5-ACA6-CE5E7DF4A46A}"/>
              </a:ext>
            </a:extLst>
          </p:cNvPr>
          <p:cNvSpPr>
            <a:spLocks noGrp="1"/>
          </p:cNvSpPr>
          <p:nvPr/>
        </p:nvSpPr>
        <p:spPr>
          <a:xfrm>
            <a:off x="1657350" y="5867400"/>
            <a:ext cx="8877300" cy="400050"/>
          </a:xfrm>
          <a:prstGeom prst="rect">
            <a:avLst/>
          </a:prstGeom>
          <a:noFill/>
          <a:ln w="0">
            <a:noFill/>
          </a:ln>
        </p:spPr>
        <p:txBody>
          <a:bodyPr anchor="t">
            <a:normAutofit/>
          </a:bodyPr>
          <a:lstStyle/>
          <a:p>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Ingress and egress are named from the host-side veth.</a:t>
            </a:r>
          </a:p>
        </p:txBody>
      </p:sp>
    </p:spTree>
    <p:extLst>
      <p:ext uri="{BB962C8B-B14F-4D97-AF65-F5344CB8AC3E}">
        <p14:creationId xmlns:p14="http://schemas.microsoft.com/office/powerpoint/2010/main" val="7681474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title">
            <a:extLst>
              <a:ext uri="{FF2B5EF4-FFF2-40B4-BE49-F238E27FC236}">
                <a16:creationId xmlns:a16="http://schemas.microsoft.com/office/drawing/2014/main" id="{F77D8302-E9B9-45A8-8DDD-64A76D176D1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2" name="Rounded Rectangle 1">
            <a:extLst>
              <a:ext uri="{FF2B5EF4-FFF2-40B4-BE49-F238E27FC236}">
                <a16:creationId xmlns:a16="http://schemas.microsoft.com/office/drawing/2014/main" id="{89E643B8-484C-47AA-9109-FE670EBCDCA3}"/>
              </a:ext>
            </a:extLst>
          </p:cNvPr>
          <p:cNvSpPr>
            <a:spLocks noGrp="1"/>
          </p:cNvSpPr>
          <p:nvPr/>
        </p:nvSpPr>
        <p:spPr>
          <a:xfrm>
            <a:off x="857250" y="2286000"/>
            <a:ext cx="2667000" cy="1428750"/>
          </a:xfrm>
          <a:prstGeom prst="roundRect">
            <a:avLst>
              <a:gd name="adj" fmla="val 5333"/>
            </a:avLst>
          </a:prstGeom>
          <a:solidFill>
            <a:srgbClr val="F4EAF4"/>
          </a:solidFill>
          <a:ln w="14288">
            <a:solidFill>
              <a:srgbClr val="FF007F"/>
            </a:solidFill>
          </a:ln>
        </p:spPr>
        <p:txBody>
          <a:bodyPr anchor="ctr">
            <a:normAutofit/>
          </a:body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1</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observe + propagate</a:t>
            </a:r>
          </a:p>
        </p:txBody>
      </p:sp>
      <p:sp>
        <p:nvSpPr>
          <p:cNvPr id="3" name="Rounded Rectangle 2">
            <a:extLst>
              <a:ext uri="{FF2B5EF4-FFF2-40B4-BE49-F238E27FC236}">
                <a16:creationId xmlns:a16="http://schemas.microsoft.com/office/drawing/2014/main" id="{DB9EED84-A760-4E45-9239-12010D6F4F51}"/>
              </a:ext>
            </a:extLst>
          </p:cNvPr>
          <p:cNvSpPr>
            <a:spLocks noGrp="1"/>
          </p:cNvSpPr>
          <p:nvPr/>
        </p:nvSpPr>
        <p:spPr>
          <a:xfrm>
            <a:off x="4762500" y="2286000"/>
            <a:ext cx="2667000" cy="1428750"/>
          </a:xfrm>
          <a:prstGeom prst="roundRect">
            <a:avLst>
              <a:gd name="adj" fmla="val 5333"/>
            </a:avLst>
          </a:prstGeom>
          <a:solidFill>
            <a:srgbClr val="EAF7FC"/>
          </a:solidFill>
          <a:ln w="14288">
            <a:solidFill>
              <a:srgbClr val="0860FE"/>
            </a:solidFill>
          </a:ln>
        </p:spPr>
        <p:txBody>
          <a:bodyPr anchor="ctr">
            <a:normAutofit/>
          </a:body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2</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route + enforce</a:t>
            </a:r>
          </a:p>
        </p:txBody>
      </p:sp>
      <p:sp>
        <p:nvSpPr>
          <p:cNvPr id="4" name="Rounded Rectangle 3">
            <a:extLst>
              <a:ext uri="{FF2B5EF4-FFF2-40B4-BE49-F238E27FC236}">
                <a16:creationId xmlns:a16="http://schemas.microsoft.com/office/drawing/2014/main" id="{D3FFBFE2-6F79-4ED3-B669-7768049C0EA0}"/>
              </a:ext>
            </a:extLst>
          </p:cNvPr>
          <p:cNvSpPr>
            <a:spLocks noGrp="1"/>
          </p:cNvSpPr>
          <p:nvPr/>
        </p:nvSpPr>
        <p:spPr>
          <a:xfrm>
            <a:off x="8667750" y="2286000"/>
            <a:ext cx="2667000" cy="1428750"/>
          </a:xfrm>
          <a:prstGeom prst="roundRect">
            <a:avLst>
              <a:gd name="adj" fmla="val 5333"/>
            </a:avLst>
          </a:prstGeom>
          <a:solidFill>
            <a:srgbClr val="F4F6F8"/>
          </a:solidFill>
          <a:ln w="14288">
            <a:solidFill>
              <a:srgbClr val="A6A6A6"/>
            </a:solidFill>
          </a:ln>
        </p:spPr>
        <p:txBody>
          <a:bodyPr anchor="ctr">
            <a:normAutofit/>
          </a:body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3</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forward or stop</a:t>
            </a:r>
          </a:p>
        </p:txBody>
      </p:sp>
      <p:cxnSp>
        <p:nvCxnSpPr>
          <p:cNvPr id="91" name="Straight Arrow Connector 12"/>
          <p:cNvCxnSpPr>
            <a:stCxn id="2" idx="3"/>
            <a:endCxn id="3" idx="1"/>
          </p:cNvCxnSpPr>
          <p:nvPr/>
        </p:nvCxnSpPr>
        <p:spPr>
          <a:xfrm>
            <a:off x="3524250" y="3000375"/>
            <a:ext cx="1238250" cy="0"/>
          </a:xfrm>
          <a:prstGeom prst="straightConnector1">
            <a:avLst/>
          </a:prstGeom>
          <a:ln w="38100">
            <a:solidFill>
              <a:srgbClr val="FF007F"/>
            </a:solidFill>
            <a:prstDash val="solid"/>
            <a:tailEnd type="arrow" w="med" len="med"/>
          </a:ln>
        </p:spPr>
      </p:cxnSp>
      <p:cxnSp>
        <p:nvCxnSpPr>
          <p:cNvPr id="92" name="Straight Arrow Connector 13"/>
          <p:cNvCxnSpPr>
            <a:stCxn id="3" idx="3"/>
            <a:endCxn id="4" idx="1"/>
          </p:cNvCxnSpPr>
          <p:nvPr/>
        </p:nvCxnSpPr>
        <p:spPr>
          <a:xfrm>
            <a:off x="7429500" y="3000375"/>
            <a:ext cx="1238250" cy="0"/>
          </a:xfrm>
          <a:prstGeom prst="straightConnector1">
            <a:avLst/>
          </a:prstGeom>
          <a:ln w="38100">
            <a:solidFill>
              <a:srgbClr val="0860FE"/>
            </a:solidFill>
            <a:prstDash val="solid"/>
            <a:tailEnd type="arrow" w="med" len="med"/>
          </a:ln>
        </p:spPr>
      </p:cxnSp>
      <p:sp>
        <p:nvSpPr>
          <p:cNvPr id="7" name="Rectangle 6">
            <a:extLst>
              <a:ext uri="{FF2B5EF4-FFF2-40B4-BE49-F238E27FC236}">
                <a16:creationId xmlns:a16="http://schemas.microsoft.com/office/drawing/2014/main" id="{5849D950-B4D4-4CE5-85CA-9490FD1D80FC}"/>
              </a:ext>
            </a:extLst>
          </p:cNvPr>
          <p:cNvSpPr>
            <a:spLocks noGrp="1"/>
          </p:cNvSpPr>
          <p:nvPr/>
        </p:nvSpPr>
        <p:spPr>
          <a:xfrm>
            <a:off x="1428750" y="4476750"/>
            <a:ext cx="9334500" cy="571500"/>
          </a:xfrm>
          <a:prstGeom prst="rect">
            <a:avLst/>
          </a:prstGeom>
          <a:noFill/>
          <a:ln w="0">
            <a:noFill/>
          </a:ln>
        </p:spPr>
        <p:txBody>
          <a:bodyPr anchor="t">
            <a:normAutofit fontScale="90905"/>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 should see the request before Cilium can redirect, translate, or drop it.</a:t>
            </a:r>
          </a:p>
        </p:txBody>
      </p:sp>
      <p:sp>
        <p:nvSpPr>
          <p:cNvPr id="8" name="Rounded Rectangle 7">
            <a:extLst>
              <a:ext uri="{FF2B5EF4-FFF2-40B4-BE49-F238E27FC236}">
                <a16:creationId xmlns:a16="http://schemas.microsoft.com/office/drawing/2014/main" id="{E0211182-A93E-4D75-B6E0-FD340F786B7E}"/>
              </a:ext>
            </a:extLst>
          </p:cNvPr>
          <p:cNvSpPr>
            <a:spLocks noGrp="1"/>
          </p:cNvSpPr>
          <p:nvPr/>
        </p:nvSpPr>
        <p:spPr>
          <a:xfrm>
            <a:off x="4191000" y="5410200"/>
            <a:ext cx="3810000" cy="381000"/>
          </a:xfrm>
          <a:prstGeom prst="roundRect">
            <a:avLst>
              <a:gd name="adj" fmla="val 20000"/>
            </a:avLst>
          </a:prstGeom>
          <a:solidFill>
            <a:srgbClr val="07182A"/>
          </a:solidFill>
          <a:ln w="0">
            <a:noFill/>
          </a:ln>
        </p:spPr>
        <p:txBody>
          <a:bodyPr anchor="ctr">
            <a:normAutofit/>
          </a:bodyPr>
          <a:lstStyle/>
          <a:p>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Tree>
    <p:extLst>
      <p:ext uri="{BB962C8B-B14F-4D97-AF65-F5344CB8AC3E}">
        <p14:creationId xmlns:p14="http://schemas.microsoft.com/office/powerpoint/2010/main" val="10927697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Attachment order</a:t>
            </a:r>
          </a:p>
        </p:txBody>
      </p:sp>
    </p:spTree>
    <p:extLst>
      <p:ext uri="{BB962C8B-B14F-4D97-AF65-F5344CB8AC3E}">
        <p14:creationId xmlns:p14="http://schemas.microsoft.com/office/powerpoint/2010/main" val="13803968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title">
            <a:extLst>
              <a:ext uri="{FF2B5EF4-FFF2-40B4-BE49-F238E27FC236}">
                <a16:creationId xmlns:a16="http://schemas.microsoft.com/office/drawing/2014/main" id="{B8A3B1EA-297C-45CD-AE4B-023352055ED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controls the order for both agents</a:t>
            </a:r>
          </a:p>
        </p:txBody>
      </p:sp>
      <p:sp>
        <p:nvSpPr>
          <p:cNvPr id="2" name="slide-subtitle">
            <a:extLst>
              <a:ext uri="{FF2B5EF4-FFF2-40B4-BE49-F238E27FC236}">
                <a16:creationId xmlns:a16="http://schemas.microsoft.com/office/drawing/2014/main" id="{8179063A-DDEB-4CBB-997A-D5FC68A8A3FF}"/>
              </a:ext>
            </a:extLst>
          </p:cNvPr>
          <p:cNvSpPr>
            <a:spLocks noGrp="1"/>
          </p:cNvSpPr>
          <p:nvPr/>
        </p:nvSpPr>
        <p:spPr>
          <a:xfrm>
            <a:off x="552450" y="1028700"/>
            <a:ext cx="10668000" cy="45720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In this demo, OBI runs before Cilium at the shared TC hook.</a:t>
            </a:r>
          </a:p>
        </p:txBody>
      </p:sp>
      <p:sp>
        <p:nvSpPr>
          <p:cNvPr id="3" name="Rounded Rectangle 2">
            <a:extLst>
              <a:ext uri="{FF2B5EF4-FFF2-40B4-BE49-F238E27FC236}">
                <a16:creationId xmlns:a16="http://schemas.microsoft.com/office/drawing/2014/main" id="{02145BF7-101A-4CDA-A92E-4AF9A6F59DBF}"/>
              </a:ext>
            </a:extLst>
          </p:cNvPr>
          <p:cNvSpPr>
            <a:spLocks noGrp="1"/>
          </p:cNvSpPr>
          <p:nvPr/>
        </p:nvSpPr>
        <p:spPr>
          <a:xfrm>
            <a:off x="819150" y="2266950"/>
            <a:ext cx="1143000" cy="381000"/>
          </a:xfrm>
          <a:prstGeom prst="roundRect">
            <a:avLst>
              <a:gd name="adj" fmla="val 20000"/>
            </a:avLst>
          </a:prstGeom>
          <a:solidFill>
            <a:srgbClr val="FF007F"/>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FIRST</a:t>
            </a:r>
          </a:p>
        </p:txBody>
      </p:sp>
      <p:sp>
        <p:nvSpPr>
          <p:cNvPr id="4" name="Rounded Rectangle 3">
            <a:extLst>
              <a:ext uri="{FF2B5EF4-FFF2-40B4-BE49-F238E27FC236}">
                <a16:creationId xmlns:a16="http://schemas.microsoft.com/office/drawing/2014/main" id="{9607A6B3-920E-4336-8F50-FE14D1F316A7}"/>
              </a:ext>
            </a:extLst>
          </p:cNvPr>
          <p:cNvSpPr>
            <a:spLocks noGrp="1"/>
          </p:cNvSpPr>
          <p:nvPr/>
        </p:nvSpPr>
        <p:spPr>
          <a:xfrm>
            <a:off x="2381250" y="1952625"/>
            <a:ext cx="2571750" cy="1381125"/>
          </a:xfrm>
          <a:prstGeom prst="roundRect">
            <a:avLst>
              <a:gd name="adj" fmla="val 5517"/>
            </a:avLst>
          </a:prstGeom>
          <a:solidFill>
            <a:srgbClr val="F4EAF4"/>
          </a:solidFill>
          <a:ln w="14288">
            <a:solidFill>
              <a:srgbClr val="FF007F"/>
            </a:solidFill>
          </a:ln>
        </p:spPr>
        <p:txBody>
          <a:bodyPr anchor="ctr">
            <a:noAutofit/>
          </a:bodyPr>
          <a:lstStyle>
            <a:defPPr algn="ctr">
              <a:defRPr sz="2100" b="1">
                <a:solidFill>
                  <a:srgbClr val="07182A"/>
                </a:solidFill>
                <a:latin typeface="CiscoSansTT Medium"/>
                <a:ea typeface="CiscoSansTT Medium"/>
                <a:cs typeface="CiscoSansTT Medium"/>
              </a:defRPr>
            </a:defPPr>
            <a:lvl1pPr algn="ctr">
              <a:defRPr sz="2100" b="1">
                <a:solidFill>
                  <a:srgbClr val="07182A"/>
                </a:solidFill>
                <a:latin typeface="CiscoSansTT Medium"/>
                <a:ea typeface="CiscoSansTT Medium"/>
                <a:cs typeface="CiscoSansTT Medium"/>
              </a:defRPr>
            </a:lvl1pPr>
            <a:lvl2pPr algn="ctr">
              <a:defRPr sz="2100" b="1">
                <a:solidFill>
                  <a:srgbClr val="07182A"/>
                </a:solidFill>
                <a:latin typeface="CiscoSansTT Medium"/>
                <a:ea typeface="CiscoSansTT Medium"/>
                <a:cs typeface="CiscoSansTT Medium"/>
              </a:defRPr>
            </a:lvl2pPr>
            <a:lvl3pPr algn="ctr">
              <a:defRPr sz="2100" b="1">
                <a:solidFill>
                  <a:srgbClr val="07182A"/>
                </a:solidFill>
                <a:latin typeface="CiscoSansTT Medium"/>
                <a:ea typeface="CiscoSansTT Medium"/>
                <a:cs typeface="CiscoSansTT Medium"/>
              </a:defRPr>
            </a:lvl3pPr>
            <a:lvl4pPr algn="ctr">
              <a:defRPr sz="2100" b="1">
                <a:solidFill>
                  <a:srgbClr val="07182A"/>
                </a:solidFill>
                <a:latin typeface="CiscoSansTT Medium"/>
                <a:ea typeface="CiscoSansTT Medium"/>
                <a:cs typeface="CiscoSansTT Medium"/>
              </a:defRPr>
            </a:lvl4pPr>
            <a:lvl5pPr algn="ctr">
              <a:defRPr sz="2100" b="1">
                <a:solidFill>
                  <a:srgbClr val="07182A"/>
                </a:solidFill>
                <a:latin typeface="CiscoSansTT Medium"/>
                <a:ea typeface="CiscoSansTT Medium"/>
                <a:cs typeface="CiscoSansTT Medium"/>
              </a:defRPr>
            </a:lvl5pPr>
            <a:lvl6pPr algn="ctr">
              <a:defRPr sz="2100" b="1">
                <a:solidFill>
                  <a:srgbClr val="07182A"/>
                </a:solidFill>
                <a:latin typeface="CiscoSansTT Medium"/>
                <a:ea typeface="CiscoSansTT Medium"/>
                <a:cs typeface="CiscoSansTT Medium"/>
              </a:defRPr>
            </a:lvl6pPr>
            <a:lvl7pPr algn="ctr">
              <a:defRPr sz="2100" b="1">
                <a:solidFill>
                  <a:srgbClr val="07182A"/>
                </a:solidFill>
                <a:latin typeface="CiscoSansTT Medium"/>
                <a:ea typeface="CiscoSansTT Medium"/>
                <a:cs typeface="CiscoSansTT Medium"/>
              </a:defRPr>
            </a:lvl7pPr>
            <a:lvl8pPr algn="ctr">
              <a:defRPr sz="2100" b="1">
                <a:solidFill>
                  <a:srgbClr val="07182A"/>
                </a:solidFill>
                <a:latin typeface="CiscoSansTT Medium"/>
                <a:ea typeface="CiscoSansTT Medium"/>
                <a:cs typeface="CiscoSansTT Medium"/>
              </a:defRPr>
            </a:lvl8pPr>
            <a:lvl9pPr algn="ctr">
              <a:defRPr sz="2100" b="1">
                <a:solidFill>
                  <a:srgbClr val="07182A"/>
                </a:solidFill>
                <a:latin typeface="CiscoSansTT Medium"/>
                <a:ea typeface="CiscoSansTT Medium"/>
                <a:cs typeface="CiscoSansTT Medium"/>
              </a:defRPr>
            </a:lvl9pPr>
          </a:lstStyle>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 the packet</a:t>
            </a:r>
          </a:p>
        </p:txBody>
      </p:sp>
      <p:sp>
        <p:nvSpPr>
          <p:cNvPr id="5" name="Rounded Rectangle 4">
            <a:extLst>
              <a:ext uri="{FF2B5EF4-FFF2-40B4-BE49-F238E27FC236}">
                <a16:creationId xmlns:a16="http://schemas.microsoft.com/office/drawing/2014/main" id="{CD71B99A-9619-4677-B426-4010E78FE632}"/>
              </a:ext>
            </a:extLst>
          </p:cNvPr>
          <p:cNvSpPr>
            <a:spLocks noGrp="1"/>
          </p:cNvSpPr>
          <p:nvPr/>
        </p:nvSpPr>
        <p:spPr>
          <a:xfrm>
            <a:off x="7239000" y="1952625"/>
            <a:ext cx="2571750" cy="1381125"/>
          </a:xfrm>
          <a:prstGeom prst="roundRect">
            <a:avLst>
              <a:gd name="adj" fmla="val 5517"/>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Cilium</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Apply networking + policy</a:t>
            </a:r>
          </a:p>
        </p:txBody>
      </p:sp>
      <p:sp>
        <p:nvSpPr>
          <p:cNvPr id="6" name="Rounded Rectangle 5">
            <a:extLst>
              <a:ext uri="{FF2B5EF4-FFF2-40B4-BE49-F238E27FC236}">
                <a16:creationId xmlns:a16="http://schemas.microsoft.com/office/drawing/2014/main" id="{A25EFA0D-21C9-45F7-A6DB-22113BE509FF}"/>
              </a:ext>
            </a:extLst>
          </p:cNvPr>
          <p:cNvSpPr>
            <a:spLocks noGrp="1"/>
          </p:cNvSpPr>
          <p:nvPr/>
        </p:nvSpPr>
        <p:spPr>
          <a:xfrm>
            <a:off x="10239375" y="2266950"/>
            <a:ext cx="1143000" cy="381000"/>
          </a:xfrm>
          <a:prstGeom prst="roundRect">
            <a:avLst>
              <a:gd name="adj" fmla="val 20000"/>
            </a:avLst>
          </a:prstGeom>
          <a:solidFill>
            <a:srgbClr val="0860FE"/>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LAST</a:t>
            </a:r>
          </a:p>
        </p:txBody>
      </p:sp>
      <p:cxnSp>
        <p:nvCxnSpPr>
          <p:cNvPr id="112" name="Straight Arrow Connector 20">
            <a:extLst>
              <a:ext uri="{FF2B5EF4-FFF2-40B4-BE49-F238E27FC236}">
                <a16:creationId xmlns:a16="http://schemas.microsoft.com/office/drawing/2014/main" id="{26B767C4-2ACD-40AD-B092-E0FD08B75B50}"/>
              </a:ext>
            </a:extLst>
          </p:cNvPr>
          <p:cNvCxnSpPr>
            <a:stCxn id="4" idx="3"/>
            <a:endCxn id="5" idx="1"/>
          </p:cNvCxnSpPr>
          <p:nvPr/>
        </p:nvCxnSpPr>
        <p:spPr>
          <a:xfrm>
            <a:off x="4953000" y="2643188"/>
            <a:ext cx="2286000" cy="0"/>
          </a:xfrm>
          <a:prstGeom prst="straightConnector1">
            <a:avLst/>
          </a:prstGeom>
          <a:ln w="38100">
            <a:solidFill>
              <a:srgbClr val="07182A"/>
            </a:solidFill>
            <a:prstDash val="solid"/>
            <a:tailEnd type="arrow" w="med" len="med"/>
          </a:ln>
        </p:spPr>
      </p:cxnSp>
      <p:sp>
        <p:nvSpPr>
          <p:cNvPr id="8" name="Rectangle 7">
            <a:extLst>
              <a:ext uri="{FF2B5EF4-FFF2-40B4-BE49-F238E27FC236}">
                <a16:creationId xmlns:a16="http://schemas.microsoft.com/office/drawing/2014/main" id="{81723338-AEC6-46A8-A6E9-DB0E8AC17B5D}"/>
              </a:ext>
            </a:extLst>
          </p:cNvPr>
          <p:cNvSpPr>
            <a:spLocks noGrp="1"/>
          </p:cNvSpPr>
          <p:nvPr/>
        </p:nvSpPr>
        <p:spPr>
          <a:xfrm>
            <a:off x="2381250" y="3848100"/>
            <a:ext cx="7429500" cy="19050"/>
          </a:xfrm>
          <a:prstGeom prst="rect">
            <a:avLst/>
          </a:prstGeom>
          <a:solidFill>
            <a:srgbClr val="D6D6D6"/>
          </a:solidFill>
          <a:ln w="0">
            <a:noFill/>
          </a:ln>
        </p:spPr>
        <p:txBody>
          <a:bodyPr/>
          <a:lstStyle/>
          <a:p>
            <a:endParaRPr/>
          </a:p>
        </p:txBody>
      </p:sp>
      <p:sp>
        <p:nvSpPr>
          <p:cNvPr id="9" name="Rectangle 8">
            <a:extLst>
              <a:ext uri="{FF2B5EF4-FFF2-40B4-BE49-F238E27FC236}">
                <a16:creationId xmlns:a16="http://schemas.microsoft.com/office/drawing/2014/main" id="{0D7691E9-DC2A-4F17-918F-76C126E8BF88}"/>
              </a:ext>
            </a:extLst>
          </p:cNvPr>
          <p:cNvSpPr>
            <a:spLocks noGrp="1"/>
          </p:cNvSpPr>
          <p:nvPr/>
        </p:nvSpPr>
        <p:spPr>
          <a:xfrm>
            <a:off x="1905000" y="4286250"/>
            <a:ext cx="95250" cy="95250"/>
          </a:xfrm>
          <a:prstGeom prst="rect">
            <a:avLst/>
          </a:prstGeom>
          <a:solidFill>
            <a:srgbClr val="02C8FF"/>
          </a:solidFill>
          <a:ln w="0">
            <a:noFill/>
          </a:ln>
        </p:spPr>
        <p:txBody>
          <a:bodyPr/>
          <a:lstStyle/>
          <a:p>
            <a:endParaRPr/>
          </a:p>
        </p:txBody>
      </p:sp>
      <p:sp>
        <p:nvSpPr>
          <p:cNvPr id="10" name="Rectangle 9">
            <a:extLst>
              <a:ext uri="{FF2B5EF4-FFF2-40B4-BE49-F238E27FC236}">
                <a16:creationId xmlns:a16="http://schemas.microsoft.com/office/drawing/2014/main" id="{0267C6E7-9B37-4D0C-896A-F682D66023B1}"/>
              </a:ext>
            </a:extLst>
          </p:cNvPr>
          <p:cNvSpPr>
            <a:spLocks noGrp="1"/>
          </p:cNvSpPr>
          <p:nvPr/>
        </p:nvSpPr>
        <p:spPr>
          <a:xfrm>
            <a:off x="2171700" y="41910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TCX keeps both programs in one ordered list.</a:t>
            </a:r>
          </a:p>
        </p:txBody>
      </p:sp>
      <p:sp>
        <p:nvSpPr>
          <p:cNvPr id="11" name="Rectangle 10">
            <a:extLst>
              <a:ext uri="{FF2B5EF4-FFF2-40B4-BE49-F238E27FC236}">
                <a16:creationId xmlns:a16="http://schemas.microsoft.com/office/drawing/2014/main" id="{C33D4382-6522-4B0D-84F2-1F90F244A5B8}"/>
              </a:ext>
            </a:extLst>
          </p:cNvPr>
          <p:cNvSpPr>
            <a:spLocks noGrp="1"/>
          </p:cNvSpPr>
          <p:nvPr/>
        </p:nvSpPr>
        <p:spPr>
          <a:xfrm>
            <a:off x="1905000" y="4838700"/>
            <a:ext cx="95250" cy="95250"/>
          </a:xfrm>
          <a:prstGeom prst="rect">
            <a:avLst/>
          </a:prstGeom>
          <a:solidFill>
            <a:srgbClr val="02C8FF"/>
          </a:solidFill>
          <a:ln w="0">
            <a:noFill/>
          </a:ln>
        </p:spPr>
        <p:txBody>
          <a:bodyPr/>
          <a:lstStyle/>
          <a:p>
            <a:endParaRPr/>
          </a:p>
        </p:txBody>
      </p:sp>
      <p:sp>
        <p:nvSpPr>
          <p:cNvPr id="12" name="Rectangle 11">
            <a:extLst>
              <a:ext uri="{FF2B5EF4-FFF2-40B4-BE49-F238E27FC236}">
                <a16:creationId xmlns:a16="http://schemas.microsoft.com/office/drawing/2014/main" id="{34AFD7D3-DBBC-467B-AF67-D1E09884FC95}"/>
              </a:ext>
            </a:extLst>
          </p:cNvPr>
          <p:cNvSpPr>
            <a:spLocks noGrp="1"/>
          </p:cNvSpPr>
          <p:nvPr/>
        </p:nvSpPr>
        <p:spPr>
          <a:xfrm>
            <a:off x="2171700" y="474345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Confirm TCX in the agent logs on the running node.</a:t>
            </a:r>
          </a:p>
        </p:txBody>
      </p:sp>
      <p:sp>
        <p:nvSpPr>
          <p:cNvPr id="13" name="Rectangle 12">
            <a:extLst>
              <a:ext uri="{FF2B5EF4-FFF2-40B4-BE49-F238E27FC236}">
                <a16:creationId xmlns:a16="http://schemas.microsoft.com/office/drawing/2014/main" id="{ED5168D3-A4AE-4C03-BD57-4769C0F69AAF}"/>
              </a:ext>
            </a:extLst>
          </p:cNvPr>
          <p:cNvSpPr>
            <a:spLocks noGrp="1"/>
          </p:cNvSpPr>
          <p:nvPr/>
        </p:nvSpPr>
        <p:spPr>
          <a:xfrm>
            <a:off x="1905000" y="5391150"/>
            <a:ext cx="95250" cy="95250"/>
          </a:xfrm>
          <a:prstGeom prst="rect">
            <a:avLst/>
          </a:prstGeom>
          <a:solidFill>
            <a:srgbClr val="FF9000"/>
          </a:solidFill>
          <a:ln w="0">
            <a:noFill/>
          </a:ln>
        </p:spPr>
        <p:txBody>
          <a:bodyPr/>
          <a:lstStyle/>
          <a:p>
            <a:endParaRPr/>
          </a:p>
        </p:txBody>
      </p:sp>
      <p:sp>
        <p:nvSpPr>
          <p:cNvPr id="14" name="Rectangle 13">
            <a:extLst>
              <a:ext uri="{FF2B5EF4-FFF2-40B4-BE49-F238E27FC236}">
                <a16:creationId xmlns:a16="http://schemas.microsoft.com/office/drawing/2014/main" id="{418E2667-0F13-4934-813C-7529483B1954}"/>
              </a:ext>
            </a:extLst>
          </p:cNvPr>
          <p:cNvSpPr>
            <a:spLocks noGrp="1"/>
          </p:cNvSpPr>
          <p:nvPr/>
        </p:nvSpPr>
        <p:spPr>
          <a:xfrm>
            <a:off x="2171700" y="52959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Test the request and check that its telemetry arrives.</a:t>
            </a:r>
          </a:p>
        </p:txBody>
      </p:sp>
    </p:spTree>
    <p:extLst>
      <p:ext uri="{BB962C8B-B14F-4D97-AF65-F5344CB8AC3E}">
        <p14:creationId xmlns:p14="http://schemas.microsoft.com/office/powerpoint/2010/main" val="726721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7997A2C8-CA2D-4412-9BCD-C55128D0BA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Legacy TC needs a priority contract</a:t>
            </a:r>
          </a:p>
        </p:txBody>
      </p:sp>
      <p:sp>
        <p:nvSpPr>
          <p:cNvPr id="2" name="slide-subtitle">
            <a:extLst>
              <a:ext uri="{FF2B5EF4-FFF2-40B4-BE49-F238E27FC236}">
                <a16:creationId xmlns:a16="http://schemas.microsoft.com/office/drawing/2014/main" id="{12E78F13-D05E-4B31-8F53-5C07894486A3}"/>
              </a:ext>
            </a:extLst>
          </p:cNvPr>
          <p:cNvSpPr>
            <a:spLocks noGrp="1"/>
          </p:cNvSpPr>
          <p:nvPr/>
        </p:nvSpPr>
        <p:spPr>
          <a:xfrm>
            <a:off x="552450" y="1028700"/>
            <a:ext cx="10668000" cy="45720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a:ext uri="{FF2B5EF4-FFF2-40B4-BE49-F238E27FC236}">
                <a16:creationId xmlns:a16="http://schemas.microsoft.com/office/drawing/2014/main" id="{F4340365-7A62-46A0-B861-397C798F1ECA}"/>
              </a:ext>
            </a:extLst>
          </p:cNvPr>
          <p:cNvSpPr>
            <a:spLocks noGrp="1"/>
          </p:cNvSpPr>
          <p:nvPr/>
        </p:nvSpPr>
        <p:spPr>
          <a:xfrm>
            <a:off x="1714500" y="2095500"/>
            <a:ext cx="2857500" cy="1428750"/>
          </a:xfrm>
          <a:prstGeom prst="roundRect">
            <a:avLst>
              <a:gd name="adj" fmla="val 5333"/>
            </a:avLst>
          </a:prstGeom>
          <a:solidFill>
            <a:srgbClr val="F4EAF4"/>
          </a:solidFill>
          <a:ln w="14288">
            <a:solidFill>
              <a:srgbClr val="FF007F"/>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a:ext uri="{FF2B5EF4-FFF2-40B4-BE49-F238E27FC236}">
                <a16:creationId xmlns:a16="http://schemas.microsoft.com/office/drawing/2014/main" id="{C1DD56C0-7A7F-457E-A82A-D0E7175F4478}"/>
              </a:ext>
            </a:extLst>
          </p:cNvPr>
          <p:cNvSpPr>
            <a:spLocks noGrp="1"/>
          </p:cNvSpPr>
          <p:nvPr/>
        </p:nvSpPr>
        <p:spPr>
          <a:xfrm>
            <a:off x="7620000" y="2095500"/>
            <a:ext cx="2857500" cy="1428750"/>
          </a:xfrm>
          <a:prstGeom prst="roundRect">
            <a:avLst>
              <a:gd name="adj" fmla="val 5333"/>
            </a:avLst>
          </a:prstGeom>
          <a:solidFill>
            <a:srgbClr val="EAF7FC"/>
          </a:solidFill>
          <a:ln w="14288">
            <a:solidFill>
              <a:srgbClr val="0860FE"/>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p:cNvCxnSpPr>
            <a:stCxn id="3" idx="3"/>
            <a:endCxn id="4" idx="1"/>
          </p:cNvCxnSpPr>
          <p:nvPr/>
        </p:nvCxnSpPr>
        <p:spPr>
          <a:xfrm>
            <a:off x="4572000" y="2809875"/>
            <a:ext cx="3048000" cy="0"/>
          </a:xfrm>
          <a:prstGeom prst="straightConnector1">
            <a:avLst/>
          </a:prstGeom>
          <a:ln w="38100">
            <a:solidFill>
              <a:srgbClr val="07182A"/>
            </a:solidFill>
            <a:prstDash val="solid"/>
            <a:tailEnd type="arrow" w="med" len="med"/>
          </a:ln>
        </p:spPr>
      </p:cxnSp>
      <p:sp>
        <p:nvSpPr>
          <p:cNvPr id="6" name="Rectangle 5">
            <a:extLst>
              <a:ext uri="{FF2B5EF4-FFF2-40B4-BE49-F238E27FC236}">
                <a16:creationId xmlns:a16="http://schemas.microsoft.com/office/drawing/2014/main" id="{4C0547DB-5BC5-42F5-A58E-A3894A5C481C}"/>
              </a:ext>
            </a:extLst>
          </p:cNvPr>
          <p:cNvSpPr>
            <a:spLocks noGrp="1"/>
          </p:cNvSpPr>
          <p:nvPr/>
        </p:nvSpPr>
        <p:spPr>
          <a:xfrm>
            <a:off x="5191125" y="2495550"/>
            <a:ext cx="1809750" cy="323850"/>
          </a:xfrm>
          <a:prstGeom prst="rect">
            <a:avLst/>
          </a:prstGeom>
          <a:noFill/>
          <a:ln w="0">
            <a:noFill/>
          </a:ln>
        </p:spPr>
        <p:txBody>
          <a:bodyPr anchor="t">
            <a:normAutofit fontScale="99924" lnSpcReduction="10000"/>
          </a:bodyPr>
          <a:lstStyle/>
          <a:p>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a:ext uri="{FF2B5EF4-FFF2-40B4-BE49-F238E27FC236}">
                <a16:creationId xmlns:a16="http://schemas.microsoft.com/office/drawing/2014/main" id="{B2ACBA55-06AE-437C-82A4-3A7F2047B29D}"/>
              </a:ext>
            </a:extLst>
          </p:cNvPr>
          <p:cNvSpPr>
            <a:spLocks noGrp="1"/>
          </p:cNvSpPr>
          <p:nvPr/>
        </p:nvSpPr>
        <p:spPr>
          <a:xfrm>
            <a:off x="1714500" y="4191000"/>
            <a:ext cx="8763000" cy="895350"/>
          </a:xfrm>
          <a:prstGeom prst="roundRect">
            <a:avLst>
              <a:gd name="adj" fmla="val 8511"/>
            </a:avLst>
          </a:prstGeom>
          <a:solidFill>
            <a:srgbClr val="FDEDEF"/>
          </a:solidFill>
          <a:ln w="14288">
            <a:solidFill>
              <a:srgbClr val="E84551"/>
            </a:solidFill>
          </a:ln>
        </p:spPr>
        <p:txBody>
          <a:bodyPr/>
          <a:lstStyle/>
          <a:p>
            <a:endParaRPr/>
          </a:p>
        </p:txBody>
      </p:sp>
      <p:sp>
        <p:nvSpPr>
          <p:cNvPr id="8" name="Rectangle 7">
            <a:extLst>
              <a:ext uri="{FF2B5EF4-FFF2-40B4-BE49-F238E27FC236}">
                <a16:creationId xmlns:a16="http://schemas.microsoft.com/office/drawing/2014/main" id="{9822725E-E431-4615-AF0C-451355CBF45D}"/>
              </a:ext>
            </a:extLst>
          </p:cNvPr>
          <p:cNvSpPr>
            <a:spLocks noGrp="1"/>
          </p:cNvSpPr>
          <p:nvPr/>
        </p:nvSpPr>
        <p:spPr>
          <a:xfrm>
            <a:off x="2114550" y="4381500"/>
            <a:ext cx="7962900" cy="381000"/>
          </a:xfrm>
          <a:prstGeom prst="rect">
            <a:avLst/>
          </a:prstGeom>
          <a:noFill/>
          <a:ln w="0">
            <a:noFill/>
          </a:ln>
        </p:spPr>
        <p:txBody>
          <a:bodyPr anchor="t">
            <a:normAutofit fontScale="89563"/>
          </a:bodyPr>
          <a:lstStyle/>
          <a:p>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9" name="Rectangle 8">
            <a:extLst>
              <a:ext uri="{FF2B5EF4-FFF2-40B4-BE49-F238E27FC236}">
                <a16:creationId xmlns:a16="http://schemas.microsoft.com/office/drawing/2014/main" id="{B5C33083-7928-4AD1-8B86-7E12A3E3A89A}"/>
              </a:ext>
            </a:extLst>
          </p:cNvPr>
          <p:cNvSpPr>
            <a:spLocks noGrp="1"/>
          </p:cNvSpPr>
          <p:nvPr/>
        </p:nvSpPr>
        <p:spPr>
          <a:xfrm>
            <a:off x="2381250" y="5467350"/>
            <a:ext cx="7429500" cy="342900"/>
          </a:xfrm>
          <a:prstGeom prst="rect">
            <a:avLst/>
          </a:prstGeom>
          <a:noFill/>
          <a:ln w="0">
            <a:noFill/>
          </a:ln>
        </p:spPr>
        <p:txBody>
          <a:bodyPr anchor="t">
            <a:normAutofit/>
          </a:body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Pin versions, render config, verify the live order</a:t>
            </a:r>
          </a:p>
        </p:txBody>
      </p:sp>
      <p:sp>
        <p:nvSpPr>
          <p:cNvPr id="30" name="Rectangle 29">
            <a:extLst>
              <a:ext uri="{FF2B5EF4-FFF2-40B4-BE49-F238E27FC236}">
                <a16:creationId xmlns:a16="http://schemas.microsoft.com/office/drawing/2014/main" id="{5D41BDE8-8302-49E9-B1E5-5C3AC5F420C4}"/>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31" name="Rectangle 30">
            <a:extLst>
              <a:ext uri="{FF2B5EF4-FFF2-40B4-BE49-F238E27FC236}">
                <a16:creationId xmlns:a16="http://schemas.microsoft.com/office/drawing/2014/main" id="{125222E2-1BD0-45FD-A671-C4C40F2B3E00}"/>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7357745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1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Live demo: one request, two views</a:t>
            </a:r>
          </a:p>
        </p:txBody>
      </p:sp>
      <p:sp>
        <p:nvSpPr>
          <p:cNvPr id="2" name="Rectangle 1">
            <a:extLst>
              <a:ext uri="{FF2B5EF4-FFF2-40B4-BE49-F238E27FC236}">
                <a16:creationId xmlns:a16="http://schemas.microsoft.com/office/drawing/2014/main" id="{05D5A808-F0EE-4B26-867B-7A6125AF667F}"/>
              </a:ext>
            </a:extLst>
          </p:cNvPr>
          <p:cNvSpPr>
            <a:spLocks noGrp="1"/>
          </p:cNvSpPr>
          <p:nvPr/>
        </p:nvSpPr>
        <p:spPr>
          <a:xfrm>
            <a:off x="342900" y="41719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1D9519B1-DD3C-456B-88F7-9C043015AC4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traffic and telemetry paths</a:t>
            </a:r>
          </a:p>
        </p:txBody>
      </p:sp>
      <p:sp>
        <p:nvSpPr>
          <p:cNvPr id="21" name="route-explanation">
            <a:extLst>
              <a:ext uri="{FF2B5EF4-FFF2-40B4-BE49-F238E27FC236}">
                <a16:creationId xmlns:a16="http://schemas.microsoft.com/office/drawing/2014/main" id="{76B77E75-8BA3-4FFC-B046-9E567735FFE8}"/>
              </a:ext>
            </a:extLst>
          </p:cNvPr>
          <p:cNvSpPr>
            <a:spLocks noGrp="1"/>
          </p:cNvSpPr>
          <p:nvPr/>
        </p:nvSpPr>
        <p:spPr>
          <a:xfrm>
            <a:off x="619125" y="1028700"/>
            <a:ext cx="10953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The URL chooses the route. v2 is a newer tier that can call legacy v1.</a:t>
            </a:r>
          </a:p>
        </p:txBody>
      </p:sp>
      <p:sp>
        <p:nvSpPr>
          <p:cNvPr id="22" name="traffic-generator">
            <a:extLst>
              <a:ext uri="{FF2B5EF4-FFF2-40B4-BE49-F238E27FC236}">
                <a16:creationId xmlns:a16="http://schemas.microsoft.com/office/drawing/2014/main" id="{B2013DE7-A00A-46FB-9D6E-381B133F5F7D}"/>
              </a:ext>
            </a:extLst>
          </p:cNvPr>
          <p:cNvSpPr>
            <a:spLocks noGrp="1"/>
          </p:cNvSpPr>
          <p:nvPr/>
        </p:nvSpPr>
        <p:spPr>
          <a:xfrm>
            <a:off x="476250" y="1885950"/>
            <a:ext cx="1428750" cy="723900"/>
          </a:xfrm>
          <a:prstGeom prst="roundRect">
            <a:avLst>
              <a:gd name="adj" fmla="val 9211"/>
            </a:avLst>
          </a:prstGeom>
          <a:solidFill>
            <a:srgbClr val="F4F6F7"/>
          </a:solidFill>
          <a:ln w="11906">
            <a:solidFill>
              <a:srgbClr val="686B6B"/>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traffic</a:t>
            </a:r>
          </a:p>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generator</a:t>
            </a:r>
          </a:p>
        </p:txBody>
      </p:sp>
      <p:sp>
        <p:nvSpPr>
          <p:cNvPr id="23" name="edge-nginx">
            <a:extLst>
              <a:ext uri="{FF2B5EF4-FFF2-40B4-BE49-F238E27FC236}">
                <a16:creationId xmlns:a16="http://schemas.microsoft.com/office/drawing/2014/main" id="{79A1E394-24BB-4C32-B7A7-6794D977F69F}"/>
              </a:ext>
            </a:extLst>
          </p:cNvPr>
          <p:cNvSpPr>
            <a:spLocks noGrp="1"/>
          </p:cNvSpPr>
          <p:nvPr/>
        </p:nvSpPr>
        <p:spPr>
          <a:xfrm>
            <a:off x="2571750" y="1885950"/>
            <a:ext cx="1905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edge-nginx</a:t>
            </a:r>
          </a:p>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entry proxy</a:t>
            </a:r>
          </a:p>
        </p:txBody>
      </p:sp>
      <p:sp>
        <p:nvSpPr>
          <p:cNvPr id="24" name="recommendations-v2">
            <a:extLst>
              <a:ext uri="{FF2B5EF4-FFF2-40B4-BE49-F238E27FC236}">
                <a16:creationId xmlns:a16="http://schemas.microsoft.com/office/drawing/2014/main" id="{018165D8-0175-4909-947E-574496E1811A}"/>
              </a:ext>
            </a:extLst>
          </p:cNvPr>
          <p:cNvSpPr>
            <a:spLocks noGrp="1"/>
          </p:cNvSpPr>
          <p:nvPr/>
        </p:nvSpPr>
        <p:spPr>
          <a:xfrm>
            <a:off x="5524500" y="1885950"/>
            <a:ext cx="257175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recommendations-v2</a:t>
            </a:r>
          </a:p>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newer tier</a:t>
            </a:r>
          </a:p>
        </p:txBody>
      </p:sp>
      <p:sp>
        <p:nvSpPr>
          <p:cNvPr id="25" name="recommendations-v1">
            <a:extLst>
              <a:ext uri="{FF2B5EF4-FFF2-40B4-BE49-F238E27FC236}">
                <a16:creationId xmlns:a16="http://schemas.microsoft.com/office/drawing/2014/main" id="{B2DF36A6-DCA1-49DD-9757-0C200CD1CF32}"/>
              </a:ext>
            </a:extLst>
          </p:cNvPr>
          <p:cNvSpPr>
            <a:spLocks noGrp="1"/>
          </p:cNvSpPr>
          <p:nvPr/>
        </p:nvSpPr>
        <p:spPr>
          <a:xfrm>
            <a:off x="8953500" y="1885950"/>
            <a:ext cx="2667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recommendations-v1</a:t>
            </a:r>
          </a:p>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legacy backend</a:t>
            </a:r>
          </a:p>
        </p:txBody>
      </p:sp>
      <p:cxnSp>
        <p:nvCxnSpPr>
          <p:cNvPr id="26" name="generator-to-edge">
            <a:extLst>
              <a:ext uri="{FF2B5EF4-FFF2-40B4-BE49-F238E27FC236}">
                <a16:creationId xmlns:a16="http://schemas.microsoft.com/office/drawing/2014/main" id="{03DCBB50-DD35-4D77-97D6-9303A796A9A6}"/>
              </a:ext>
            </a:extLst>
          </p:cNvPr>
          <p:cNvCxnSpPr/>
          <p:nvPr/>
        </p:nvCxnSpPr>
        <p:spPr>
          <a:xfrm>
            <a:off x="1905000" y="2247900"/>
            <a:ext cx="666750" cy="0"/>
          </a:xfrm>
          <a:prstGeom prst="straightConnector1">
            <a:avLst/>
          </a:prstGeom>
          <a:ln w="19050">
            <a:solidFill>
              <a:srgbClr val="686B6B"/>
            </a:solidFill>
            <a:prstDash val="solid"/>
            <a:tailEnd type="arrow" w="med" len="med"/>
          </a:ln>
        </p:spPr>
      </p:cxnSp>
      <p:cxnSp>
        <p:nvCxnSpPr>
          <p:cNvPr id="27" name="edge-to-v2">
            <a:extLst>
              <a:ext uri="{FF2B5EF4-FFF2-40B4-BE49-F238E27FC236}">
                <a16:creationId xmlns:a16="http://schemas.microsoft.com/office/drawing/2014/main" id="{D5637263-50E3-450B-BBCF-47422A40CCF2}"/>
              </a:ext>
            </a:extLst>
          </p:cNvPr>
          <p:cNvCxnSpPr/>
          <p:nvPr/>
        </p:nvCxnSpPr>
        <p:spPr>
          <a:xfrm>
            <a:off x="4476750" y="2247900"/>
            <a:ext cx="1047750" cy="0"/>
          </a:xfrm>
          <a:prstGeom prst="straightConnector1">
            <a:avLst/>
          </a:prstGeom>
          <a:ln w="19050">
            <a:solidFill>
              <a:srgbClr val="0860FE"/>
            </a:solidFill>
            <a:prstDash val="solid"/>
            <a:tailEnd type="arrow" w="med" len="med"/>
          </a:ln>
        </p:spPr>
      </p:cxnSp>
      <p:cxnSp>
        <p:nvCxnSpPr>
          <p:cNvPr id="28" name="v2-to-v1">
            <a:extLst>
              <a:ext uri="{FF2B5EF4-FFF2-40B4-BE49-F238E27FC236}">
                <a16:creationId xmlns:a16="http://schemas.microsoft.com/office/drawing/2014/main" id="{69A98BB8-C1C1-4DCE-9981-A3AF8E5980B5}"/>
              </a:ext>
            </a:extLst>
          </p:cNvPr>
          <p:cNvCxnSpPr/>
          <p:nvPr/>
        </p:nvCxnSpPr>
        <p:spPr>
          <a:xfrm>
            <a:off x="8096250" y="2247900"/>
            <a:ext cx="857250" cy="0"/>
          </a:xfrm>
          <a:prstGeom prst="straightConnector1">
            <a:avLst/>
          </a:prstGeom>
          <a:ln w="19050">
            <a:solidFill>
              <a:srgbClr val="0860FE"/>
            </a:solidFill>
            <a:prstDash val="solid"/>
            <a:tailEnd type="arrow" w="med" len="med"/>
          </a:ln>
        </p:spPr>
      </p:cxnSp>
      <p:sp>
        <p:nvSpPr>
          <p:cNvPr id="29" name="rollout-route">
            <a:extLst>
              <a:ext uri="{FF2B5EF4-FFF2-40B4-BE49-F238E27FC236}">
                <a16:creationId xmlns:a16="http://schemas.microsoft.com/office/drawing/2014/main" id="{F8FCDE0A-2755-40AC-A278-F3EF408D2131}"/>
              </a:ext>
            </a:extLst>
          </p:cNvPr>
          <p:cNvSpPr>
            <a:spLocks noGrp="1"/>
          </p:cNvSpPr>
          <p:nvPr/>
        </p:nvSpPr>
        <p:spPr>
          <a:xfrm>
            <a:off x="5476875" y="1533525"/>
            <a:ext cx="3905250" cy="285750"/>
          </a:xfrm>
          <a:prstGeom prst="rect">
            <a:avLst/>
          </a:prstGeom>
          <a:noFill/>
          <a:ln w="0">
            <a:noFill/>
          </a:ln>
        </p:spPr>
        <p:txBody>
          <a:bodyPr anchor="ctr">
            <a:noAutofit/>
          </a:bodyPr>
          <a:lstStyle>
            <a:defPPr algn="ctr">
              <a:defRPr sz="1425" b="0">
                <a:solidFill>
                  <a:srgbClr val="0860FE"/>
                </a:solidFill>
                <a:latin typeface="CiscoSansTT"/>
                <a:ea typeface="CiscoSansTT"/>
                <a:cs typeface="CiscoSansTT"/>
              </a:defRPr>
            </a:defPPr>
            <a:lvl1pPr algn="ctr">
              <a:defRPr sz="1425" b="0">
                <a:solidFill>
                  <a:srgbClr val="0860FE"/>
                </a:solidFill>
                <a:latin typeface="CiscoSansTT"/>
                <a:ea typeface="CiscoSansTT"/>
                <a:cs typeface="CiscoSansTT"/>
              </a:defRPr>
            </a:lvl1pPr>
            <a:lvl2pPr algn="ctr">
              <a:defRPr sz="1425" b="0">
                <a:solidFill>
                  <a:srgbClr val="0860FE"/>
                </a:solidFill>
                <a:latin typeface="CiscoSansTT"/>
                <a:ea typeface="CiscoSansTT"/>
                <a:cs typeface="CiscoSansTT"/>
              </a:defRPr>
            </a:lvl2pPr>
            <a:lvl3pPr algn="ctr">
              <a:defRPr sz="1425" b="0">
                <a:solidFill>
                  <a:srgbClr val="0860FE"/>
                </a:solidFill>
                <a:latin typeface="CiscoSansTT"/>
                <a:ea typeface="CiscoSansTT"/>
                <a:cs typeface="CiscoSansTT"/>
              </a:defRPr>
            </a:lvl3pPr>
            <a:lvl4pPr algn="ctr">
              <a:defRPr sz="1425" b="0">
                <a:solidFill>
                  <a:srgbClr val="0860FE"/>
                </a:solidFill>
                <a:latin typeface="CiscoSansTT"/>
                <a:ea typeface="CiscoSansTT"/>
                <a:cs typeface="CiscoSansTT"/>
              </a:defRPr>
            </a:lvl4pPr>
            <a:lvl5pPr algn="ctr">
              <a:defRPr sz="1425" b="0">
                <a:solidFill>
                  <a:srgbClr val="0860FE"/>
                </a:solidFill>
                <a:latin typeface="CiscoSansTT"/>
                <a:ea typeface="CiscoSansTT"/>
                <a:cs typeface="CiscoSansTT"/>
              </a:defRPr>
            </a:lvl5pPr>
            <a:lvl6pPr algn="ctr">
              <a:defRPr sz="1425" b="0">
                <a:solidFill>
                  <a:srgbClr val="0860FE"/>
                </a:solidFill>
                <a:latin typeface="CiscoSansTT"/>
                <a:ea typeface="CiscoSansTT"/>
                <a:cs typeface="CiscoSansTT"/>
              </a:defRPr>
            </a:lvl6pPr>
            <a:lvl7pPr algn="ctr">
              <a:defRPr sz="1425" b="0">
                <a:solidFill>
                  <a:srgbClr val="0860FE"/>
                </a:solidFill>
                <a:latin typeface="CiscoSansTT"/>
                <a:ea typeface="CiscoSansTT"/>
                <a:cs typeface="CiscoSansTT"/>
              </a:defRPr>
            </a:lvl7pPr>
            <a:lvl8pPr algn="ctr">
              <a:defRPr sz="1425" b="0">
                <a:solidFill>
                  <a:srgbClr val="0860FE"/>
                </a:solidFill>
                <a:latin typeface="CiscoSansTT"/>
                <a:ea typeface="CiscoSansTT"/>
                <a:cs typeface="CiscoSansTT"/>
              </a:defRPr>
            </a:lvl8pPr>
            <a:lvl9pPr algn="ctr">
              <a:defRPr sz="1425" b="0">
                <a:solidFill>
                  <a:srgbClr val="0860FE"/>
                </a:solidFill>
                <a:latin typeface="CiscoSansTT"/>
                <a:ea typeface="CiscoSansTT"/>
                <a:cs typeface="CiscoSansTT"/>
              </a:defRPr>
            </a:lvl9pPr>
          </a:lstStyle>
          <a:p>
            <a:pPr algn="ctr">
              <a:defRPr sz="1425" b="0">
                <a:solidFill>
                  <a:srgbClr val="0860FE"/>
                </a:solidFill>
                <a:latin typeface="CiscoSansTT"/>
                <a:ea typeface="CiscoSansTT"/>
                <a:cs typeface="CiscoSansTT"/>
              </a:defRPr>
            </a:pPr>
            <a:r>
              <a:rPr sz="1425" b="0">
                <a:solidFill>
                  <a:srgbClr val="0860FE"/>
                </a:solidFill>
                <a:latin typeface="CiscoSansTT"/>
                <a:ea typeface="CiscoSansTT"/>
                <a:cs typeface="CiscoSansTT"/>
              </a:rPr>
              <a:t>Rollout request</a:t>
            </a:r>
          </a:p>
        </p:txBody>
      </p:sp>
      <p:cxnSp>
        <p:nvCxnSpPr>
          <p:cNvPr id="30" name="direct-v1-down">
            <a:extLst>
              <a:ext uri="{FF2B5EF4-FFF2-40B4-BE49-F238E27FC236}">
                <a16:creationId xmlns:a16="http://schemas.microsoft.com/office/drawing/2014/main" id="{5C91DAC6-A476-42E3-9525-E71D21BFE787}"/>
              </a:ext>
            </a:extLst>
          </p:cNvPr>
          <p:cNvCxnSpPr/>
          <p:nvPr/>
        </p:nvCxnSpPr>
        <p:spPr>
          <a:xfrm>
            <a:off x="3524250" y="2609850"/>
            <a:ext cx="0" cy="485775"/>
          </a:xfrm>
          <a:prstGeom prst="straightConnector1">
            <a:avLst/>
          </a:prstGeom>
          <a:ln w="19050">
            <a:solidFill>
              <a:srgbClr val="FF8A00"/>
            </a:solidFill>
            <a:prstDash val="solid"/>
          </a:ln>
        </p:spPr>
      </p:cxnSp>
      <p:cxnSp>
        <p:nvCxnSpPr>
          <p:cNvPr id="31" name="direct-v1-across">
            <a:extLst>
              <a:ext uri="{FF2B5EF4-FFF2-40B4-BE49-F238E27FC236}">
                <a16:creationId xmlns:a16="http://schemas.microsoft.com/office/drawing/2014/main" id="{26BDF892-FFF4-4C7E-809B-35AA3B4B8B46}"/>
              </a:ext>
            </a:extLst>
          </p:cNvPr>
          <p:cNvCxnSpPr/>
          <p:nvPr/>
        </p:nvCxnSpPr>
        <p:spPr>
          <a:xfrm>
            <a:off x="3524250" y="3095625"/>
            <a:ext cx="6762750" cy="0"/>
          </a:xfrm>
          <a:prstGeom prst="straightConnector1">
            <a:avLst/>
          </a:prstGeom>
          <a:ln w="19050">
            <a:solidFill>
              <a:srgbClr val="FF8A00"/>
            </a:solidFill>
            <a:prstDash val="solid"/>
          </a:ln>
        </p:spPr>
      </p:cxnSp>
      <p:cxnSp>
        <p:nvCxnSpPr>
          <p:cNvPr id="32" name="direct-v1-up">
            <a:extLst>
              <a:ext uri="{FF2B5EF4-FFF2-40B4-BE49-F238E27FC236}">
                <a16:creationId xmlns:a16="http://schemas.microsoft.com/office/drawing/2014/main" id="{13425690-81B6-4156-B450-5A973F604C9A}"/>
              </a:ext>
            </a:extLst>
          </p:cNvPr>
          <p:cNvCxnSpPr/>
          <p:nvPr/>
        </p:nvCxnSpPr>
        <p:spPr>
          <a:xfrm>
            <a:off x="10287000" y="2609850"/>
            <a:ext cx="0" cy="485775"/>
          </a:xfrm>
          <a:prstGeom prst="straightConnector1">
            <a:avLst/>
          </a:prstGeom>
          <a:ln w="19050">
            <a:solidFill>
              <a:srgbClr val="FF8A00"/>
            </a:solidFill>
            <a:prstDash val="solid"/>
            <a:headEnd type="arrow" w="med" len="med"/>
          </a:ln>
        </p:spPr>
      </p:cxnSp>
      <p:sp>
        <p:nvSpPr>
          <p:cNvPr id="33" name="direct-route-label">
            <a:extLst>
              <a:ext uri="{FF2B5EF4-FFF2-40B4-BE49-F238E27FC236}">
                <a16:creationId xmlns:a16="http://schemas.microsoft.com/office/drawing/2014/main" id="{12FE53C8-6E3A-45E4-A451-80D12AFD0E8F}"/>
              </a:ext>
            </a:extLst>
          </p:cNvPr>
          <p:cNvSpPr>
            <a:spLocks noGrp="1"/>
          </p:cNvSpPr>
          <p:nvPr/>
        </p:nvSpPr>
        <p:spPr>
          <a:xfrm>
            <a:off x="4048125" y="3190875"/>
            <a:ext cx="6096000" cy="285750"/>
          </a:xfrm>
          <a:prstGeom prst="rect">
            <a:avLst/>
          </a:prstGeom>
          <a:noFill/>
          <a:ln w="0">
            <a:noFill/>
          </a:ln>
        </p:spPr>
        <p:txBody>
          <a:bodyPr anchor="ctr">
            <a:noAutofit/>
          </a:bodyPr>
          <a:lstStyle>
            <a:defPPr algn="ctr">
              <a:defRPr sz="1500" b="0">
                <a:solidFill>
                  <a:srgbClr val="686B6B"/>
                </a:solidFill>
                <a:latin typeface="CiscoSansTT"/>
                <a:ea typeface="CiscoSansTT"/>
                <a:cs typeface="CiscoSansTT"/>
              </a:defRPr>
            </a:defPPr>
            <a:lvl1pPr algn="ctr">
              <a:defRPr sz="1500" b="0">
                <a:solidFill>
                  <a:srgbClr val="686B6B"/>
                </a:solidFill>
                <a:latin typeface="CiscoSansTT"/>
                <a:ea typeface="CiscoSansTT"/>
                <a:cs typeface="CiscoSansTT"/>
              </a:defRPr>
            </a:lvl1pPr>
            <a:lvl2pPr algn="ctr">
              <a:defRPr sz="1500" b="0">
                <a:solidFill>
                  <a:srgbClr val="686B6B"/>
                </a:solidFill>
                <a:latin typeface="CiscoSansTT"/>
                <a:ea typeface="CiscoSansTT"/>
                <a:cs typeface="CiscoSansTT"/>
              </a:defRPr>
            </a:lvl2pPr>
            <a:lvl3pPr algn="ctr">
              <a:defRPr sz="1500" b="0">
                <a:solidFill>
                  <a:srgbClr val="686B6B"/>
                </a:solidFill>
                <a:latin typeface="CiscoSansTT"/>
                <a:ea typeface="CiscoSansTT"/>
                <a:cs typeface="CiscoSansTT"/>
              </a:defRPr>
            </a:lvl3pPr>
            <a:lvl4pPr algn="ctr">
              <a:defRPr sz="1500" b="0">
                <a:solidFill>
                  <a:srgbClr val="686B6B"/>
                </a:solidFill>
                <a:latin typeface="CiscoSansTT"/>
                <a:ea typeface="CiscoSansTT"/>
                <a:cs typeface="CiscoSansTT"/>
              </a:defRPr>
            </a:lvl4pPr>
            <a:lvl5pPr algn="ctr">
              <a:defRPr sz="1500" b="0">
                <a:solidFill>
                  <a:srgbClr val="686B6B"/>
                </a:solidFill>
                <a:latin typeface="CiscoSansTT"/>
                <a:ea typeface="CiscoSansTT"/>
                <a:cs typeface="CiscoSansTT"/>
              </a:defRPr>
            </a:lvl5pPr>
            <a:lvl6pPr algn="ctr">
              <a:defRPr sz="1500" b="0">
                <a:solidFill>
                  <a:srgbClr val="686B6B"/>
                </a:solidFill>
                <a:latin typeface="CiscoSansTT"/>
                <a:ea typeface="CiscoSansTT"/>
                <a:cs typeface="CiscoSansTT"/>
              </a:defRPr>
            </a:lvl6pPr>
            <a:lvl7pPr algn="ctr">
              <a:defRPr sz="1500" b="0">
                <a:solidFill>
                  <a:srgbClr val="686B6B"/>
                </a:solidFill>
                <a:latin typeface="CiscoSansTT"/>
                <a:ea typeface="CiscoSansTT"/>
                <a:cs typeface="CiscoSansTT"/>
              </a:defRPr>
            </a:lvl7pPr>
            <a:lvl8pPr algn="ctr">
              <a:defRPr sz="1500" b="0">
                <a:solidFill>
                  <a:srgbClr val="686B6B"/>
                </a:solidFill>
                <a:latin typeface="CiscoSansTT"/>
                <a:ea typeface="CiscoSansTT"/>
                <a:cs typeface="CiscoSansTT"/>
              </a:defRPr>
            </a:lvl8pPr>
            <a:lvl9pPr algn="ctr">
              <a:defRPr sz="1500" b="0">
                <a:solidFill>
                  <a:srgbClr val="686B6B"/>
                </a:solidFill>
                <a:latin typeface="CiscoSansTT"/>
                <a:ea typeface="CiscoSansTT"/>
                <a:cs typeface="CiscoSansTT"/>
              </a:defRPr>
            </a:lvl9pPr>
          </a:lstStyle>
          <a:p>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Direct v1 request, used in the denial demo</a:t>
            </a:r>
          </a:p>
        </p:txBody>
      </p:sp>
      <p:sp>
        <p:nvSpPr>
          <p:cNvPr id="34" name="observation-scope">
            <a:extLst>
              <a:ext uri="{FF2B5EF4-FFF2-40B4-BE49-F238E27FC236}">
                <a16:creationId xmlns:a16="http://schemas.microsoft.com/office/drawing/2014/main" id="{47F7DE59-9BE9-4EF6-B38F-97B0FA0597B4}"/>
              </a:ext>
            </a:extLst>
          </p:cNvPr>
          <p:cNvSpPr>
            <a:spLocks noGrp="1"/>
          </p:cNvSpPr>
          <p:nvPr/>
        </p:nvSpPr>
        <p:spPr>
          <a:xfrm>
            <a:off x="619125" y="3571875"/>
            <a:ext cx="10953750" cy="3619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observes all three services. Hubble observes their traffic.</a:t>
            </a:r>
          </a:p>
        </p:txBody>
      </p:sp>
      <p:sp>
        <p:nvSpPr>
          <p:cNvPr id="35" name="obi-export">
            <a:extLst>
              <a:ext uri="{FF2B5EF4-FFF2-40B4-BE49-F238E27FC236}">
                <a16:creationId xmlns:a16="http://schemas.microsoft.com/office/drawing/2014/main" id="{1EAADB6A-C90D-4C28-A778-DCCA3FBA54A3}"/>
              </a:ext>
            </a:extLst>
          </p:cNvPr>
          <p:cNvSpPr>
            <a:spLocks noGrp="1"/>
          </p:cNvSpPr>
          <p:nvPr/>
        </p:nvSpPr>
        <p:spPr>
          <a:xfrm>
            <a:off x="666750" y="4095750"/>
            <a:ext cx="3238500" cy="495300"/>
          </a:xfrm>
          <a:prstGeom prst="roundRect">
            <a:avLst>
              <a:gd name="adj" fmla="val 13462"/>
            </a:avLst>
          </a:prstGeom>
          <a:solidFill>
            <a:srgbClr val="F6ECF5"/>
          </a:solidFill>
          <a:ln w="11906">
            <a:solidFill>
              <a:srgbClr val="FF007F"/>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dirty="0">
                <a:solidFill>
                  <a:srgbClr val="07182A"/>
                </a:solidFill>
                <a:latin typeface="CiscoSansTT"/>
                <a:ea typeface="CiscoSansTT"/>
                <a:cs typeface="CiscoSansTT"/>
              </a:rPr>
              <a:t>OBI: </a:t>
            </a:r>
            <a:r>
              <a:rPr lang="en-US" sz="1650" b="0" dirty="0">
                <a:solidFill>
                  <a:srgbClr val="07182A"/>
                </a:solidFill>
                <a:latin typeface="CiscoSansTT"/>
                <a:ea typeface="CiscoSansTT"/>
                <a:cs typeface="CiscoSansTT"/>
              </a:rPr>
              <a:t>traces</a:t>
            </a:r>
            <a:r>
              <a:rPr sz="1650" b="0" dirty="0">
                <a:solidFill>
                  <a:srgbClr val="07182A"/>
                </a:solidFill>
                <a:latin typeface="CiscoSansTT"/>
                <a:ea typeface="CiscoSansTT"/>
                <a:cs typeface="CiscoSansTT"/>
              </a:rPr>
              <a:t> + RED metrics</a:t>
            </a:r>
          </a:p>
        </p:txBody>
      </p:sp>
      <p:sp>
        <p:nvSpPr>
          <p:cNvPr id="36" name="hubble-metrics-export">
            <a:extLst>
              <a:ext uri="{FF2B5EF4-FFF2-40B4-BE49-F238E27FC236}">
                <a16:creationId xmlns:a16="http://schemas.microsoft.com/office/drawing/2014/main" id="{88C21540-6E3B-4709-AC82-8BAA7B5FCB66}"/>
              </a:ext>
            </a:extLst>
          </p:cNvPr>
          <p:cNvSpPr>
            <a:spLocks noGrp="1"/>
          </p:cNvSpPr>
          <p:nvPr/>
        </p:nvSpPr>
        <p:spPr>
          <a:xfrm>
            <a:off x="666750" y="4857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Cilium + Hubble metrics</a:t>
            </a:r>
          </a:p>
        </p:txBody>
      </p:sp>
      <p:sp>
        <p:nvSpPr>
          <p:cNvPr id="37" name="hubble-flow-export">
            <a:extLst>
              <a:ext uri="{FF2B5EF4-FFF2-40B4-BE49-F238E27FC236}">
                <a16:creationId xmlns:a16="http://schemas.microsoft.com/office/drawing/2014/main" id="{BD3F4742-71FC-43B3-8587-FAE799739BBD}"/>
              </a:ext>
            </a:extLst>
          </p:cNvPr>
          <p:cNvSpPr>
            <a:spLocks noGrp="1"/>
          </p:cNvSpPr>
          <p:nvPr/>
        </p:nvSpPr>
        <p:spPr>
          <a:xfrm>
            <a:off x="666750" y="5619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flow records</a:t>
            </a:r>
          </a:p>
        </p:txBody>
      </p:sp>
      <p:sp>
        <p:nvSpPr>
          <p:cNvPr id="38" name="collector">
            <a:extLst>
              <a:ext uri="{FF2B5EF4-FFF2-40B4-BE49-F238E27FC236}">
                <a16:creationId xmlns:a16="http://schemas.microsoft.com/office/drawing/2014/main" id="{F80404ED-2315-4A13-AD67-564A35FBF9AA}"/>
              </a:ext>
            </a:extLst>
          </p:cNvPr>
          <p:cNvSpPr>
            <a:spLocks noGrp="1"/>
          </p:cNvSpPr>
          <p:nvPr/>
        </p:nvSpPr>
        <p:spPr>
          <a:xfrm>
            <a:off x="5715000" y="4857750"/>
            <a:ext cx="1905000" cy="495300"/>
          </a:xfrm>
          <a:prstGeom prst="roundRect">
            <a:avLst>
              <a:gd name="adj" fmla="val 13462"/>
            </a:avLst>
          </a:prstGeom>
          <a:solidFill>
            <a:srgbClr val="FFFFFF"/>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lang="en-US" sz="1650" b="0" dirty="0" err="1">
                <a:solidFill>
                  <a:srgbClr val="07182A"/>
                </a:solidFill>
                <a:latin typeface="CiscoSansTT"/>
                <a:ea typeface="CiscoSansTT"/>
                <a:cs typeface="CiscoSansTT"/>
              </a:rPr>
              <a:t>OTel</a:t>
            </a:r>
            <a:r>
              <a:rPr lang="en-US" sz="1650" b="0" dirty="0">
                <a:solidFill>
                  <a:srgbClr val="07182A"/>
                </a:solidFill>
                <a:latin typeface="CiscoSansTT"/>
                <a:ea typeface="CiscoSansTT"/>
                <a:cs typeface="CiscoSansTT"/>
              </a:rPr>
              <a:t> </a:t>
            </a:r>
            <a:r>
              <a:rPr sz="1650" b="0" dirty="0">
                <a:solidFill>
                  <a:srgbClr val="07182A"/>
                </a:solidFill>
                <a:latin typeface="CiscoSansTT"/>
                <a:ea typeface="CiscoSansTT"/>
                <a:cs typeface="CiscoSansTT"/>
              </a:rPr>
              <a:t>Collector</a:t>
            </a:r>
          </a:p>
        </p:txBody>
      </p:sp>
      <p:sp>
        <p:nvSpPr>
          <p:cNvPr id="39" name="grafana">
            <a:extLst>
              <a:ext uri="{FF2B5EF4-FFF2-40B4-BE49-F238E27FC236}">
                <a16:creationId xmlns:a16="http://schemas.microsoft.com/office/drawing/2014/main" id="{100D82A6-2AC9-46C6-BBD3-B701D082BBE5}"/>
              </a:ext>
            </a:extLst>
          </p:cNvPr>
          <p:cNvSpPr>
            <a:spLocks noGrp="1"/>
          </p:cNvSpPr>
          <p:nvPr/>
        </p:nvSpPr>
        <p:spPr>
          <a:xfrm>
            <a:off x="9525000" y="4095750"/>
            <a:ext cx="2095500" cy="1257300"/>
          </a:xfrm>
          <a:prstGeom prst="roundRect">
            <a:avLst>
              <a:gd name="adj" fmla="val 5303"/>
            </a:avLst>
          </a:prstGeom>
          <a:solidFill>
            <a:srgbClr val="F4F6F7"/>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dirty="0">
                <a:solidFill>
                  <a:srgbClr val="07182A"/>
                </a:solidFill>
                <a:latin typeface="CiscoSansTT"/>
                <a:ea typeface="CiscoSansTT"/>
                <a:cs typeface="CiscoSansTT"/>
              </a:rPr>
              <a:t>Grafana</a:t>
            </a:r>
          </a:p>
          <a:p>
            <a:pPr algn="ctr">
              <a:defRPr sz="1725" b="0">
                <a:solidFill>
                  <a:srgbClr val="07182A"/>
                </a:solidFill>
                <a:latin typeface="CiscoSansTT"/>
                <a:ea typeface="CiscoSansTT"/>
                <a:cs typeface="CiscoSansTT"/>
              </a:defRPr>
            </a:pPr>
            <a:r>
              <a:rPr sz="1725" b="0" dirty="0">
                <a:solidFill>
                  <a:srgbClr val="07182A"/>
                </a:solidFill>
                <a:latin typeface="CiscoSansTT"/>
                <a:ea typeface="CiscoSansTT"/>
                <a:cs typeface="CiscoSansTT"/>
              </a:rPr>
              <a:t>traces + metrics</a:t>
            </a:r>
          </a:p>
        </p:txBody>
      </p:sp>
      <p:sp>
        <p:nvSpPr>
          <p:cNvPr id="40" name="hubble-cli-ui">
            <a:extLst>
              <a:ext uri="{FF2B5EF4-FFF2-40B4-BE49-F238E27FC236}">
                <a16:creationId xmlns:a16="http://schemas.microsoft.com/office/drawing/2014/main" id="{7B9348D4-B364-49AC-A11D-7C853FE2500F}"/>
              </a:ext>
            </a:extLst>
          </p:cNvPr>
          <p:cNvSpPr>
            <a:spLocks noGrp="1"/>
          </p:cNvSpPr>
          <p:nvPr/>
        </p:nvSpPr>
        <p:spPr>
          <a:xfrm>
            <a:off x="9525000" y="5619750"/>
            <a:ext cx="2095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CLI / UI</a:t>
            </a:r>
          </a:p>
        </p:txBody>
      </p:sp>
      <p:cxnSp>
        <p:nvCxnSpPr>
          <p:cNvPr id="41" name="obi-to-grafana">
            <a:extLst>
              <a:ext uri="{FF2B5EF4-FFF2-40B4-BE49-F238E27FC236}">
                <a16:creationId xmlns:a16="http://schemas.microsoft.com/office/drawing/2014/main" id="{8B474019-C3F7-43A4-A5FC-29C875C5F4F4}"/>
              </a:ext>
            </a:extLst>
          </p:cNvPr>
          <p:cNvCxnSpPr/>
          <p:nvPr/>
        </p:nvCxnSpPr>
        <p:spPr>
          <a:xfrm>
            <a:off x="3905250" y="4343400"/>
            <a:ext cx="5619750" cy="0"/>
          </a:xfrm>
          <a:prstGeom prst="straightConnector1">
            <a:avLst/>
          </a:prstGeom>
          <a:ln w="19050">
            <a:solidFill>
              <a:srgbClr val="FF007F"/>
            </a:solidFill>
            <a:prstDash val="solid"/>
            <a:tailEnd type="arrow" w="med" len="med"/>
          </a:ln>
        </p:spPr>
      </p:cxnSp>
      <p:cxnSp>
        <p:nvCxnSpPr>
          <p:cNvPr id="42" name="metrics-to-collector">
            <a:extLst>
              <a:ext uri="{FF2B5EF4-FFF2-40B4-BE49-F238E27FC236}">
                <a16:creationId xmlns:a16="http://schemas.microsoft.com/office/drawing/2014/main" id="{34D414C3-343D-432A-8C63-E4259A44C246}"/>
              </a:ext>
            </a:extLst>
          </p:cNvPr>
          <p:cNvCxnSpPr/>
          <p:nvPr/>
        </p:nvCxnSpPr>
        <p:spPr>
          <a:xfrm>
            <a:off x="3905250" y="5105400"/>
            <a:ext cx="1809750" cy="0"/>
          </a:xfrm>
          <a:prstGeom prst="straightConnector1">
            <a:avLst/>
          </a:prstGeom>
          <a:ln w="19050">
            <a:solidFill>
              <a:srgbClr val="0860FE"/>
            </a:solidFill>
            <a:prstDash val="solid"/>
            <a:tailEnd type="arrow" w="med" len="med"/>
          </a:ln>
        </p:spPr>
      </p:cxnSp>
      <p:cxnSp>
        <p:nvCxnSpPr>
          <p:cNvPr id="43" name="collector-to-grafana">
            <a:extLst>
              <a:ext uri="{FF2B5EF4-FFF2-40B4-BE49-F238E27FC236}">
                <a16:creationId xmlns:a16="http://schemas.microsoft.com/office/drawing/2014/main" id="{9DF04F7F-976C-44B3-9BB7-3F0656E2AC86}"/>
              </a:ext>
            </a:extLst>
          </p:cNvPr>
          <p:cNvCxnSpPr/>
          <p:nvPr/>
        </p:nvCxnSpPr>
        <p:spPr>
          <a:xfrm>
            <a:off x="7620000" y="5105400"/>
            <a:ext cx="1905000" cy="0"/>
          </a:xfrm>
          <a:prstGeom prst="straightConnector1">
            <a:avLst/>
          </a:prstGeom>
          <a:ln w="19050">
            <a:solidFill>
              <a:srgbClr val="0860FE"/>
            </a:solidFill>
            <a:prstDash val="solid"/>
            <a:tailEnd type="arrow" w="med" len="med"/>
          </a:ln>
        </p:spPr>
      </p:cxnSp>
      <p:cxnSp>
        <p:nvCxnSpPr>
          <p:cNvPr id="44" name="flows-to-ui">
            <a:extLst>
              <a:ext uri="{FF2B5EF4-FFF2-40B4-BE49-F238E27FC236}">
                <a16:creationId xmlns:a16="http://schemas.microsoft.com/office/drawing/2014/main" id="{8242BB3C-CD4B-49FE-8895-BAF664F2263E}"/>
              </a:ext>
            </a:extLst>
          </p:cNvPr>
          <p:cNvCxnSpPr/>
          <p:nvPr/>
        </p:nvCxnSpPr>
        <p:spPr>
          <a:xfrm>
            <a:off x="3905250" y="5867400"/>
            <a:ext cx="5619750" cy="0"/>
          </a:xfrm>
          <a:prstGeom prst="straightConnector1">
            <a:avLst/>
          </a:prstGeom>
          <a:ln w="19050">
            <a:solidFill>
              <a:srgbClr val="0860FE"/>
            </a:solidFill>
            <a:prstDash val="solid"/>
            <a:tailEnd type="arrow" w="med" len="med"/>
          </a:ln>
        </p:spPr>
      </p:cxnSp>
    </p:spTree>
    <p:extLst>
      <p:ext uri="{BB962C8B-B14F-4D97-AF65-F5344CB8AC3E}">
        <p14:creationId xmlns:p14="http://schemas.microsoft.com/office/powerpoint/2010/main" val="3009911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1: prove coexistence before showing traces</a:t>
            </a:r>
          </a:p>
        </p:txBody>
      </p:sp>
      <p:pic>
        <p:nvPicPr>
          <p:cNvPr id="6" name="cilium-obi-demo-1-coexistence.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4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1FA760BB-E05C-48FA-A99F-779C746673E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2: compare the same successful request</a:t>
            </a:r>
          </a:p>
        </p:txBody>
      </p:sp>
      <p:pic>
        <p:nvPicPr>
          <p:cNvPr id="6" name="cilium-obi-demo-2-success.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799601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708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5350C15A-FCE4-4DE8-B47E-D55C68DF89D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715839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682A6B35-0096-4A47-842C-C23DCA99A97C}"/>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5394543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ilium-obi-demo-3-policy-denial.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476250" y="1809750"/>
            <a:ext cx="6468534" cy="3638550"/>
          </a:xfrm>
          <a:prstGeom prst="roundRect">
            <a:avLst>
              <a:gd name="adj" fmla="val 1852"/>
            </a:avLst>
          </a:prstGeom>
        </p:spPr>
      </p:pic>
      <p:sp>
        <p:nvSpPr>
          <p:cNvPr id="1001" name="slide-title">
            <a:extLst>
              <a:ext uri="{FF2B5EF4-FFF2-40B4-BE49-F238E27FC236}">
                <a16:creationId xmlns:a16="http://schemas.microsoft.com/office/drawing/2014/main" id="{08AB1C87-B595-4FE4-A7EF-B320D1DB7812}"/>
              </a:ext>
            </a:extLst>
          </p:cNvPr>
          <p:cNvSpPr>
            <a:spLocks noGrp="1"/>
          </p:cNvSpPr>
          <p:nvPr/>
        </p:nvSpPr>
        <p:spPr>
          <a:xfrm>
            <a:off x="533400" y="361950"/>
            <a:ext cx="10763250" cy="6477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Policy denial: what each view shows</a:t>
            </a:r>
          </a:p>
        </p:txBody>
      </p:sp>
      <p:sp>
        <p:nvSpPr>
          <p:cNvPr id="1002" name="denial-route">
            <a:extLst>
              <a:ext uri="{FF2B5EF4-FFF2-40B4-BE49-F238E27FC236}">
                <a16:creationId xmlns:a16="http://schemas.microsoft.com/office/drawing/2014/main" id="{3795B665-5D7D-4C68-9291-CD86A7E442D5}"/>
              </a:ext>
            </a:extLst>
          </p:cNvPr>
          <p:cNvSpPr>
            <a:spLocks noGrp="1"/>
          </p:cNvSpPr>
          <p:nvPr/>
        </p:nvSpPr>
        <p:spPr>
          <a:xfrm>
            <a:off x="571500" y="1066800"/>
            <a:ext cx="11049000" cy="41910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The policy allows v2 to call v1. It blocks direct edge-nginx calls to v1.</a:t>
            </a:r>
          </a:p>
        </p:txBody>
      </p:sp>
      <p:sp>
        <p:nvSpPr>
          <p:cNvPr id="1004" name="grafana-drop-caption">
            <a:extLst>
              <a:ext uri="{FF2B5EF4-FFF2-40B4-BE49-F238E27FC236}">
                <a16:creationId xmlns:a16="http://schemas.microsoft.com/office/drawing/2014/main" id="{372632C0-3BBC-44F0-A646-621952DAA9B6}"/>
              </a:ext>
            </a:extLst>
          </p:cNvPr>
          <p:cNvSpPr>
            <a:spLocks noGrp="1"/>
          </p:cNvSpPr>
          <p:nvPr/>
        </p:nvSpPr>
        <p:spPr>
          <a:xfrm>
            <a:off x="7143750" y="3762375"/>
            <a:ext cx="4572000" cy="514350"/>
          </a:xfrm>
          <a:prstGeom prst="rect">
            <a:avLst/>
          </a:prstGeom>
          <a:noFill/>
          <a:ln w="0">
            <a:noFill/>
          </a:ln>
        </p:spPr>
        <p:txBody>
          <a:bodyPr anchor="ctr">
            <a:noAutofit/>
          </a:bodyPr>
          <a:lstStyle>
            <a:defPPr algn="l">
              <a:defRPr sz="1725" b="1">
                <a:solidFill>
                  <a:srgbClr val="07182A"/>
                </a:solidFill>
                <a:latin typeface="CiscoSansTT Medium"/>
                <a:ea typeface="CiscoSansTT Medium"/>
                <a:cs typeface="CiscoSansTT Medium"/>
              </a:defRPr>
            </a:defPPr>
            <a:lvl1pPr algn="l">
              <a:defRPr sz="1725" b="1">
                <a:solidFill>
                  <a:srgbClr val="07182A"/>
                </a:solidFill>
                <a:latin typeface="CiscoSansTT Medium"/>
                <a:ea typeface="CiscoSansTT Medium"/>
                <a:cs typeface="CiscoSansTT Medium"/>
              </a:defRPr>
            </a:lvl1pPr>
            <a:lvl2pPr algn="l">
              <a:defRPr sz="1725" b="1">
                <a:solidFill>
                  <a:srgbClr val="07182A"/>
                </a:solidFill>
                <a:latin typeface="CiscoSansTT Medium"/>
                <a:ea typeface="CiscoSansTT Medium"/>
                <a:cs typeface="CiscoSansTT Medium"/>
              </a:defRPr>
            </a:lvl2pPr>
            <a:lvl3pPr algn="l">
              <a:defRPr sz="1725" b="1">
                <a:solidFill>
                  <a:srgbClr val="07182A"/>
                </a:solidFill>
                <a:latin typeface="CiscoSansTT Medium"/>
                <a:ea typeface="CiscoSansTT Medium"/>
                <a:cs typeface="CiscoSansTT Medium"/>
              </a:defRPr>
            </a:lvl3pPr>
            <a:lvl4pPr algn="l">
              <a:defRPr sz="1725" b="1">
                <a:solidFill>
                  <a:srgbClr val="07182A"/>
                </a:solidFill>
                <a:latin typeface="CiscoSansTT Medium"/>
                <a:ea typeface="CiscoSansTT Medium"/>
                <a:cs typeface="CiscoSansTT Medium"/>
              </a:defRPr>
            </a:lvl4pPr>
            <a:lvl5pPr algn="l">
              <a:defRPr sz="1725" b="1">
                <a:solidFill>
                  <a:srgbClr val="07182A"/>
                </a:solidFill>
                <a:latin typeface="CiscoSansTT Medium"/>
                <a:ea typeface="CiscoSansTT Medium"/>
                <a:cs typeface="CiscoSansTT Medium"/>
              </a:defRPr>
            </a:lvl5pPr>
            <a:lvl6pPr algn="l">
              <a:defRPr sz="1725" b="1">
                <a:solidFill>
                  <a:srgbClr val="07182A"/>
                </a:solidFill>
                <a:latin typeface="CiscoSansTT Medium"/>
                <a:ea typeface="CiscoSansTT Medium"/>
                <a:cs typeface="CiscoSansTT Medium"/>
              </a:defRPr>
            </a:lvl6pPr>
            <a:lvl7pPr algn="l">
              <a:defRPr sz="1725" b="1">
                <a:solidFill>
                  <a:srgbClr val="07182A"/>
                </a:solidFill>
                <a:latin typeface="CiscoSansTT Medium"/>
                <a:ea typeface="CiscoSansTT Medium"/>
                <a:cs typeface="CiscoSansTT Medium"/>
              </a:defRPr>
            </a:lvl7pPr>
            <a:lvl8pPr algn="l">
              <a:defRPr sz="1725" b="1">
                <a:solidFill>
                  <a:srgbClr val="07182A"/>
                </a:solidFill>
                <a:latin typeface="CiscoSansTT Medium"/>
                <a:ea typeface="CiscoSansTT Medium"/>
                <a:cs typeface="CiscoSansTT Medium"/>
              </a:defRPr>
            </a:lvl8pPr>
            <a:lvl9pPr algn="l">
              <a:defRPr sz="1725" b="1">
                <a:solidFill>
                  <a:srgbClr val="07182A"/>
                </a:solidFill>
                <a:latin typeface="CiscoSansTT Medium"/>
                <a:ea typeface="CiscoSansTT Medium"/>
                <a:cs typeface="CiscoSansTT Medium"/>
              </a:defRPr>
            </a:lvl9pPr>
          </a:lstStyle>
          <a:p>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Grafana: aggregate drop spike</a:t>
            </a:r>
          </a:p>
        </p:txBody>
      </p:sp>
      <p:sp>
        <p:nvSpPr>
          <p:cNvPr id="1005" name="hubble-proof">
            <a:extLst>
              <a:ext uri="{FF2B5EF4-FFF2-40B4-BE49-F238E27FC236}">
                <a16:creationId xmlns:a16="http://schemas.microsoft.com/office/drawing/2014/main" id="{0724876A-175F-4E78-850C-8F380A591ABE}"/>
              </a:ext>
            </a:extLst>
          </p:cNvPr>
          <p:cNvSpPr>
            <a:spLocks noGrp="1"/>
          </p:cNvSpPr>
          <p:nvPr/>
        </p:nvSpPr>
        <p:spPr>
          <a:xfrm>
            <a:off x="7143750" y="4543425"/>
            <a:ext cx="4572000" cy="428625"/>
          </a:xfrm>
          <a:prstGeom prst="rect">
            <a:avLst/>
          </a:prstGeom>
          <a:noFill/>
          <a:ln w="0">
            <a:noFill/>
          </a:ln>
        </p:spPr>
        <p:txBody>
          <a:bodyPr anchor="ctr">
            <a:noAutofit/>
          </a:bodyPr>
          <a:lstStyle>
            <a:defPPr algn="l">
              <a:defRPr sz="1650" b="1">
                <a:solidFill>
                  <a:srgbClr val="0860FE"/>
                </a:solidFill>
                <a:latin typeface="CiscoSansTT Medium"/>
                <a:ea typeface="CiscoSansTT Medium"/>
                <a:cs typeface="CiscoSansTT Medium"/>
              </a:defRPr>
            </a:defPPr>
            <a:lvl1pPr algn="l">
              <a:defRPr sz="1650" b="1">
                <a:solidFill>
                  <a:srgbClr val="0860FE"/>
                </a:solidFill>
                <a:latin typeface="CiscoSansTT Medium"/>
                <a:ea typeface="CiscoSansTT Medium"/>
                <a:cs typeface="CiscoSansTT Medium"/>
              </a:defRPr>
            </a:lvl1pPr>
            <a:lvl2pPr algn="l">
              <a:defRPr sz="1650" b="1">
                <a:solidFill>
                  <a:srgbClr val="0860FE"/>
                </a:solidFill>
                <a:latin typeface="CiscoSansTT Medium"/>
                <a:ea typeface="CiscoSansTT Medium"/>
                <a:cs typeface="CiscoSansTT Medium"/>
              </a:defRPr>
            </a:lvl2pPr>
            <a:lvl3pPr algn="l">
              <a:defRPr sz="1650" b="1">
                <a:solidFill>
                  <a:srgbClr val="0860FE"/>
                </a:solidFill>
                <a:latin typeface="CiscoSansTT Medium"/>
                <a:ea typeface="CiscoSansTT Medium"/>
                <a:cs typeface="CiscoSansTT Medium"/>
              </a:defRPr>
            </a:lvl3pPr>
            <a:lvl4pPr algn="l">
              <a:defRPr sz="1650" b="1">
                <a:solidFill>
                  <a:srgbClr val="0860FE"/>
                </a:solidFill>
                <a:latin typeface="CiscoSansTT Medium"/>
                <a:ea typeface="CiscoSansTT Medium"/>
                <a:cs typeface="CiscoSansTT Medium"/>
              </a:defRPr>
            </a:lvl4pPr>
            <a:lvl5pPr algn="l">
              <a:defRPr sz="1650" b="1">
                <a:solidFill>
                  <a:srgbClr val="0860FE"/>
                </a:solidFill>
                <a:latin typeface="CiscoSansTT Medium"/>
                <a:ea typeface="CiscoSansTT Medium"/>
                <a:cs typeface="CiscoSansTT Medium"/>
              </a:defRPr>
            </a:lvl5pPr>
            <a:lvl6pPr algn="l">
              <a:defRPr sz="1650" b="1">
                <a:solidFill>
                  <a:srgbClr val="0860FE"/>
                </a:solidFill>
                <a:latin typeface="CiscoSansTT Medium"/>
                <a:ea typeface="CiscoSansTT Medium"/>
                <a:cs typeface="CiscoSansTT Medium"/>
              </a:defRPr>
            </a:lvl6pPr>
            <a:lvl7pPr algn="l">
              <a:defRPr sz="1650" b="1">
                <a:solidFill>
                  <a:srgbClr val="0860FE"/>
                </a:solidFill>
                <a:latin typeface="CiscoSansTT Medium"/>
                <a:ea typeface="CiscoSansTT Medium"/>
                <a:cs typeface="CiscoSansTT Medium"/>
              </a:defRPr>
            </a:lvl7pPr>
            <a:lvl8pPr algn="l">
              <a:defRPr sz="1650" b="1">
                <a:solidFill>
                  <a:srgbClr val="0860FE"/>
                </a:solidFill>
                <a:latin typeface="CiscoSansTT Medium"/>
                <a:ea typeface="CiscoSansTT Medium"/>
                <a:cs typeface="CiscoSansTT Medium"/>
              </a:defRPr>
            </a:lvl8pPr>
            <a:lvl9pPr algn="l">
              <a:defRPr sz="1650" b="1">
                <a:solidFill>
                  <a:srgbClr val="0860FE"/>
                </a:solidFill>
                <a:latin typeface="CiscoSansTT Medium"/>
                <a:ea typeface="CiscoSansTT Medium"/>
                <a:cs typeface="CiscoSansTT Medium"/>
              </a:defRPr>
            </a:lvl9pPr>
          </a:lstStyle>
          <a:p>
            <a:pPr algn="l">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Hubble: Policy denied / DROPPED</a:t>
            </a:r>
          </a:p>
        </p:txBody>
      </p:sp>
      <p:sp>
        <p:nvSpPr>
          <p:cNvPr id="1006" name="obi-symptom">
            <a:extLst>
              <a:ext uri="{FF2B5EF4-FFF2-40B4-BE49-F238E27FC236}">
                <a16:creationId xmlns:a16="http://schemas.microsoft.com/office/drawing/2014/main" id="{7BEAF65C-EF5D-467F-B67F-722D64B8E5EE}"/>
              </a:ext>
            </a:extLst>
          </p:cNvPr>
          <p:cNvSpPr>
            <a:spLocks noGrp="1"/>
          </p:cNvSpPr>
          <p:nvPr/>
        </p:nvSpPr>
        <p:spPr>
          <a:xfrm>
            <a:off x="7143750" y="5114925"/>
            <a:ext cx="4572000" cy="476250"/>
          </a:xfrm>
          <a:prstGeom prst="rect">
            <a:avLst/>
          </a:prstGeom>
          <a:noFill/>
          <a:ln w="0">
            <a:noFill/>
          </a:ln>
        </p:spPr>
        <p:txBody>
          <a:bodyPr anchor="ctr">
            <a:noAutofit/>
          </a:bodyPr>
          <a:lstStyle>
            <a:defPPr algn="l">
              <a:defRPr sz="1650" b="0">
                <a:solidFill>
                  <a:srgbClr val="07182A"/>
                </a:solidFill>
                <a:latin typeface="CiscoSansTT"/>
                <a:ea typeface="CiscoSansTT"/>
                <a:cs typeface="CiscoSansTT"/>
              </a:defRPr>
            </a:defPPr>
            <a:lvl1pPr algn="l">
              <a:defRPr sz="1650" b="0">
                <a:solidFill>
                  <a:srgbClr val="07182A"/>
                </a:solidFill>
                <a:latin typeface="CiscoSansTT"/>
                <a:ea typeface="CiscoSansTT"/>
                <a:cs typeface="CiscoSansTT"/>
              </a:defRPr>
            </a:lvl1pPr>
            <a:lvl2pPr algn="l">
              <a:defRPr sz="1650" b="0">
                <a:solidFill>
                  <a:srgbClr val="07182A"/>
                </a:solidFill>
                <a:latin typeface="CiscoSansTT"/>
                <a:ea typeface="CiscoSansTT"/>
                <a:cs typeface="CiscoSansTT"/>
              </a:defRPr>
            </a:lvl2pPr>
            <a:lvl3pPr algn="l">
              <a:defRPr sz="1650" b="0">
                <a:solidFill>
                  <a:srgbClr val="07182A"/>
                </a:solidFill>
                <a:latin typeface="CiscoSansTT"/>
                <a:ea typeface="CiscoSansTT"/>
                <a:cs typeface="CiscoSansTT"/>
              </a:defRPr>
            </a:lvl3pPr>
            <a:lvl4pPr algn="l">
              <a:defRPr sz="1650" b="0">
                <a:solidFill>
                  <a:srgbClr val="07182A"/>
                </a:solidFill>
                <a:latin typeface="CiscoSansTT"/>
                <a:ea typeface="CiscoSansTT"/>
                <a:cs typeface="CiscoSansTT"/>
              </a:defRPr>
            </a:lvl4pPr>
            <a:lvl5pPr algn="l">
              <a:defRPr sz="1650" b="0">
                <a:solidFill>
                  <a:srgbClr val="07182A"/>
                </a:solidFill>
                <a:latin typeface="CiscoSansTT"/>
                <a:ea typeface="CiscoSansTT"/>
                <a:cs typeface="CiscoSansTT"/>
              </a:defRPr>
            </a:lvl5pPr>
            <a:lvl6pPr algn="l">
              <a:defRPr sz="1650" b="0">
                <a:solidFill>
                  <a:srgbClr val="07182A"/>
                </a:solidFill>
                <a:latin typeface="CiscoSansTT"/>
                <a:ea typeface="CiscoSansTT"/>
                <a:cs typeface="CiscoSansTT"/>
              </a:defRPr>
            </a:lvl6pPr>
            <a:lvl7pPr algn="l">
              <a:defRPr sz="1650" b="0">
                <a:solidFill>
                  <a:srgbClr val="07182A"/>
                </a:solidFill>
                <a:latin typeface="CiscoSansTT"/>
                <a:ea typeface="CiscoSansTT"/>
                <a:cs typeface="CiscoSansTT"/>
              </a:defRPr>
            </a:lvl7pPr>
            <a:lvl8pPr algn="l">
              <a:defRPr sz="1650" b="0">
                <a:solidFill>
                  <a:srgbClr val="07182A"/>
                </a:solidFill>
                <a:latin typeface="CiscoSansTT"/>
                <a:ea typeface="CiscoSansTT"/>
                <a:cs typeface="CiscoSansTT"/>
              </a:defRPr>
            </a:lvl8pPr>
            <a:lvl9pPr algn="l">
              <a:defRPr sz="1650" b="0">
                <a:solidFill>
                  <a:srgbClr val="07182A"/>
                </a:solidFill>
                <a:latin typeface="CiscoSansTT"/>
                <a:ea typeface="CiscoSansTT"/>
                <a:cs typeface="CiscoSansTT"/>
              </a:defRPr>
            </a:lvl9pPr>
          </a:lstStyle>
          <a:p>
            <a:pPr algn="l">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In OBI, inspect the caller's request outcome</a:t>
            </a:r>
          </a:p>
        </p:txBody>
      </p:sp>
      <p:sp>
        <p:nvSpPr>
          <p:cNvPr id="1007" name="video-guide">
            <a:extLst>
              <a:ext uri="{FF2B5EF4-FFF2-40B4-BE49-F238E27FC236}">
                <a16:creationId xmlns:a16="http://schemas.microsoft.com/office/drawing/2014/main" id="{42248169-98A0-44BB-87E7-A99F0A2384CF}"/>
              </a:ext>
            </a:extLst>
          </p:cNvPr>
          <p:cNvSpPr>
            <a:spLocks noGrp="1"/>
          </p:cNvSpPr>
          <p:nvPr/>
        </p:nvSpPr>
        <p:spPr>
          <a:xfrm>
            <a:off x="476250" y="5448300"/>
            <a:ext cx="6191250" cy="381000"/>
          </a:xfrm>
          <a:prstGeom prst="rect">
            <a:avLst/>
          </a:prstGeom>
          <a:noFill/>
          <a:ln w="0">
            <a:noFill/>
          </a:ln>
        </p:spPr>
        <p:txBody>
          <a:bodyPr anchor="ctr">
            <a:noAutofit/>
          </a:bodyPr>
          <a:lstStyle>
            <a:defPPr algn="l">
              <a:defRPr sz="1500" b="0">
                <a:solidFill>
                  <a:srgbClr val="686B6B"/>
                </a:solidFill>
                <a:latin typeface="CiscoSansTT"/>
                <a:ea typeface="CiscoSansTT"/>
                <a:cs typeface="CiscoSansTT"/>
              </a:defRPr>
            </a:defPPr>
            <a:lvl1pPr algn="l">
              <a:defRPr sz="1500" b="0">
                <a:solidFill>
                  <a:srgbClr val="686B6B"/>
                </a:solidFill>
                <a:latin typeface="CiscoSansTT"/>
                <a:ea typeface="CiscoSansTT"/>
                <a:cs typeface="CiscoSansTT"/>
              </a:defRPr>
            </a:lvl1pPr>
            <a:lvl2pPr algn="l">
              <a:defRPr sz="1500" b="0">
                <a:solidFill>
                  <a:srgbClr val="686B6B"/>
                </a:solidFill>
                <a:latin typeface="CiscoSansTT"/>
                <a:ea typeface="CiscoSansTT"/>
                <a:cs typeface="CiscoSansTT"/>
              </a:defRPr>
            </a:lvl2pPr>
            <a:lvl3pPr algn="l">
              <a:defRPr sz="1500" b="0">
                <a:solidFill>
                  <a:srgbClr val="686B6B"/>
                </a:solidFill>
                <a:latin typeface="CiscoSansTT"/>
                <a:ea typeface="CiscoSansTT"/>
                <a:cs typeface="CiscoSansTT"/>
              </a:defRPr>
            </a:lvl3pPr>
            <a:lvl4pPr algn="l">
              <a:defRPr sz="1500" b="0">
                <a:solidFill>
                  <a:srgbClr val="686B6B"/>
                </a:solidFill>
                <a:latin typeface="CiscoSansTT"/>
                <a:ea typeface="CiscoSansTT"/>
                <a:cs typeface="CiscoSansTT"/>
              </a:defRPr>
            </a:lvl4pPr>
            <a:lvl5pPr algn="l">
              <a:defRPr sz="1500" b="0">
                <a:solidFill>
                  <a:srgbClr val="686B6B"/>
                </a:solidFill>
                <a:latin typeface="CiscoSansTT"/>
                <a:ea typeface="CiscoSansTT"/>
                <a:cs typeface="CiscoSansTT"/>
              </a:defRPr>
            </a:lvl5pPr>
            <a:lvl6pPr algn="l">
              <a:defRPr sz="1500" b="0">
                <a:solidFill>
                  <a:srgbClr val="686B6B"/>
                </a:solidFill>
                <a:latin typeface="CiscoSansTT"/>
                <a:ea typeface="CiscoSansTT"/>
                <a:cs typeface="CiscoSansTT"/>
              </a:defRPr>
            </a:lvl6pPr>
            <a:lvl7pPr algn="l">
              <a:defRPr sz="1500" b="0">
                <a:solidFill>
                  <a:srgbClr val="686B6B"/>
                </a:solidFill>
                <a:latin typeface="CiscoSansTT"/>
                <a:ea typeface="CiscoSansTT"/>
                <a:cs typeface="CiscoSansTT"/>
              </a:defRPr>
            </a:lvl7pPr>
            <a:lvl8pPr algn="l">
              <a:defRPr sz="1500" b="0">
                <a:solidFill>
                  <a:srgbClr val="686B6B"/>
                </a:solidFill>
                <a:latin typeface="CiscoSansTT"/>
                <a:ea typeface="CiscoSansTT"/>
                <a:cs typeface="CiscoSansTT"/>
              </a:defRPr>
            </a:lvl8pPr>
            <a:lvl9pPr algn="l">
              <a:defRPr sz="1500" b="0">
                <a:solidFill>
                  <a:srgbClr val="686B6B"/>
                </a:solidFill>
                <a:latin typeface="CiscoSansTT"/>
                <a:ea typeface="CiscoSansTT"/>
                <a:cs typeface="CiscoSansTT"/>
              </a:defRPr>
            </a:lvl9pPr>
          </a:lstStyle>
          <a:p>
            <a:pPr algn="l">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Replay: Hubble at 00:18, Grafana at 00:34</a:t>
            </a:r>
          </a:p>
        </p:txBody>
      </p:sp>
      <p:sp>
        <p:nvSpPr>
          <p:cNvPr id="1008" name="denial-meaning">
            <a:extLst>
              <a:ext uri="{FF2B5EF4-FFF2-40B4-BE49-F238E27FC236}">
                <a16:creationId xmlns:a16="http://schemas.microsoft.com/office/drawing/2014/main" id="{78784F3E-4EFD-4928-8195-944817FF87D7}"/>
              </a:ext>
            </a:extLst>
          </p:cNvPr>
          <p:cNvSpPr>
            <a:spLocks noGrp="1"/>
          </p:cNvSpPr>
          <p:nvPr/>
        </p:nvSpPr>
        <p:spPr>
          <a:xfrm>
            <a:off x="571500" y="5934075"/>
            <a:ext cx="11049000" cy="361950"/>
          </a:xfrm>
          <a:prstGeom prst="rect">
            <a:avLst/>
          </a:prstGeom>
          <a:noFill/>
          <a:ln w="0">
            <a:noFill/>
          </a:ln>
        </p:spPr>
        <p:txBody>
          <a:bodyPr anchor="ctr">
            <a:noAutofit/>
          </a:bodyPr>
          <a:lstStyle>
            <a:defPPr algn="l">
              <a:defRPr sz="1575" b="1">
                <a:solidFill>
                  <a:srgbClr val="07182A"/>
                </a:solidFill>
                <a:latin typeface="CiscoSansTT Medium"/>
                <a:ea typeface="CiscoSansTT Medium"/>
                <a:cs typeface="CiscoSansTT Medium"/>
              </a:defRPr>
            </a:defPPr>
            <a:lvl1pPr algn="l">
              <a:defRPr sz="1575" b="1">
                <a:solidFill>
                  <a:srgbClr val="07182A"/>
                </a:solidFill>
                <a:latin typeface="CiscoSansTT Medium"/>
                <a:ea typeface="CiscoSansTT Medium"/>
                <a:cs typeface="CiscoSansTT Medium"/>
              </a:defRPr>
            </a:lvl1pPr>
            <a:lvl2pPr algn="l">
              <a:defRPr sz="1575" b="1">
                <a:solidFill>
                  <a:srgbClr val="07182A"/>
                </a:solidFill>
                <a:latin typeface="CiscoSansTT Medium"/>
                <a:ea typeface="CiscoSansTT Medium"/>
                <a:cs typeface="CiscoSansTT Medium"/>
              </a:defRPr>
            </a:lvl2pPr>
            <a:lvl3pPr algn="l">
              <a:defRPr sz="1575" b="1">
                <a:solidFill>
                  <a:srgbClr val="07182A"/>
                </a:solidFill>
                <a:latin typeface="CiscoSansTT Medium"/>
                <a:ea typeface="CiscoSansTT Medium"/>
                <a:cs typeface="CiscoSansTT Medium"/>
              </a:defRPr>
            </a:lvl3pPr>
            <a:lvl4pPr algn="l">
              <a:defRPr sz="1575" b="1">
                <a:solidFill>
                  <a:srgbClr val="07182A"/>
                </a:solidFill>
                <a:latin typeface="CiscoSansTT Medium"/>
                <a:ea typeface="CiscoSansTT Medium"/>
                <a:cs typeface="CiscoSansTT Medium"/>
              </a:defRPr>
            </a:lvl4pPr>
            <a:lvl5pPr algn="l">
              <a:defRPr sz="1575" b="1">
                <a:solidFill>
                  <a:srgbClr val="07182A"/>
                </a:solidFill>
                <a:latin typeface="CiscoSansTT Medium"/>
                <a:ea typeface="CiscoSansTT Medium"/>
                <a:cs typeface="CiscoSansTT Medium"/>
              </a:defRPr>
            </a:lvl5pPr>
            <a:lvl6pPr algn="l">
              <a:defRPr sz="1575" b="1">
                <a:solidFill>
                  <a:srgbClr val="07182A"/>
                </a:solidFill>
                <a:latin typeface="CiscoSansTT Medium"/>
                <a:ea typeface="CiscoSansTT Medium"/>
                <a:cs typeface="CiscoSansTT Medium"/>
              </a:defRPr>
            </a:lvl6pPr>
            <a:lvl7pPr algn="l">
              <a:defRPr sz="1575" b="1">
                <a:solidFill>
                  <a:srgbClr val="07182A"/>
                </a:solidFill>
                <a:latin typeface="CiscoSansTT Medium"/>
                <a:ea typeface="CiscoSansTT Medium"/>
                <a:cs typeface="CiscoSansTT Medium"/>
              </a:defRPr>
            </a:lvl7pPr>
            <a:lvl8pPr algn="l">
              <a:defRPr sz="1575" b="1">
                <a:solidFill>
                  <a:srgbClr val="07182A"/>
                </a:solidFill>
                <a:latin typeface="CiscoSansTT Medium"/>
                <a:ea typeface="CiscoSansTT Medium"/>
                <a:cs typeface="CiscoSansTT Medium"/>
              </a:defRPr>
            </a:lvl8pPr>
            <a:lvl9pPr algn="l">
              <a:defRPr sz="1575" b="1">
                <a:solidFill>
                  <a:srgbClr val="07182A"/>
                </a:solidFill>
                <a:latin typeface="CiscoSansTT Medium"/>
                <a:ea typeface="CiscoSansTT Medium"/>
                <a:cs typeface="CiscoSansTT Medium"/>
              </a:defRPr>
            </a:lvl9pPr>
          </a:lstStyle>
          <a:p>
            <a:pPr algn="l">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The graph counts drops. The Hubble record identifies the denied connection.</a:t>
            </a:r>
          </a:p>
        </p:txBody>
      </p:sp>
      <p:pic>
        <p:nvPicPr>
          <p:cNvPr id="2" name="Picture 1">
            <a:extLst>
              <a:ext uri="{FF2B5EF4-FFF2-40B4-BE49-F238E27FC236}">
                <a16:creationId xmlns:a16="http://schemas.microsoft.com/office/drawing/2014/main" id="{B0652DC0-27FC-2737-BB52-E712ADDAF3DC}"/>
              </a:ext>
            </a:extLst>
          </p:cNvPr>
          <p:cNvPicPr>
            <a:picLocks noChangeAspect="1"/>
          </p:cNvPicPr>
          <p:nvPr/>
        </p:nvPicPr>
        <p:blipFill>
          <a:blip r:embed="rId6"/>
          <a:stretch>
            <a:fillRect/>
          </a:stretch>
        </p:blipFill>
        <p:spPr>
          <a:xfrm>
            <a:off x="7198414" y="1828800"/>
            <a:ext cx="4517336" cy="1948101"/>
          </a:xfrm>
          <a:prstGeom prst="rect">
            <a:avLst/>
          </a:prstGeom>
        </p:spPr>
      </p:pic>
    </p:spTree>
    <p:extLst>
      <p:ext uri="{BB962C8B-B14F-4D97-AF65-F5344CB8AC3E}">
        <p14:creationId xmlns:p14="http://schemas.microsoft.com/office/powerpoint/2010/main" val="1923459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86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3"/>
              </a:rPr>
              <a:t>App metrics</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3"/>
              </a:rPr>
              <a:t>Grafana: request rate, p95, flows and drops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4"/>
              </a:rPr>
              <a:t>Pipeline health</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4"/>
              </a:rPr>
              <a:t>Grafana: Cilium, Hubble and Collector health</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5"/>
              </a:rPr>
              <a:t>Tempo traces</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5"/>
              </a:rPr>
              <a:t>Grafana Explore: inspect a three-service trace</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6"/>
              </a:rPr>
              <a:t>Hubble flows</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6"/>
              </a:rPr>
              <a:t>Hubble UI: workloads, ports and verdicts</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5BE4714C-E09A-4E15-A6FA-743BF91C0637}"/>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network metrics: when to enable them</a:t>
            </a:r>
          </a:p>
        </p:txBody>
      </p:sp>
      <p:sp>
        <p:nvSpPr>
          <p:cNvPr id="11" name="network-definition">
            <a:extLst>
              <a:ext uri="{FF2B5EF4-FFF2-40B4-BE49-F238E27FC236}">
                <a16:creationId xmlns:a16="http://schemas.microsoft.com/office/drawing/2014/main" id="{FDC60109-7549-450B-BEE5-B1C467860AA3}"/>
              </a:ext>
            </a:extLst>
          </p:cNvPr>
          <p:cNvSpPr>
            <a:spLocks noGrp="1"/>
          </p:cNvSpPr>
          <p:nvPr/>
        </p:nvSpPr>
        <p:spPr>
          <a:xfrm>
            <a:off x="666750" y="1047750"/>
            <a:ext cx="10858500" cy="4381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Optional traffic-volume metrics, separate from application traces.</a:t>
            </a:r>
          </a:p>
        </p:txBody>
      </p:sp>
      <p:sp>
        <p:nvSpPr>
          <p:cNvPr id="12" name="network-heading-0">
            <a:extLst>
              <a:ext uri="{FF2B5EF4-FFF2-40B4-BE49-F238E27FC236}">
                <a16:creationId xmlns:a16="http://schemas.microsoft.com/office/drawing/2014/main" id="{22DA0A7B-1FB9-4472-B613-7463E2E65088}"/>
              </a:ext>
            </a:extLst>
          </p:cNvPr>
          <p:cNvSpPr>
            <a:spLocks noGrp="1"/>
          </p:cNvSpPr>
          <p:nvPr/>
        </p:nvSpPr>
        <p:spPr>
          <a:xfrm>
            <a:off x="762000" y="1790700"/>
            <a:ext cx="2857500" cy="704850"/>
          </a:xfrm>
          <a:prstGeom prst="rect">
            <a:avLst/>
          </a:prstGeom>
          <a:noFill/>
          <a:ln w="0">
            <a:noFill/>
          </a:ln>
        </p:spPr>
        <p:txBody>
          <a:bodyPr anchor="ctr">
            <a:noAutofit/>
          </a:bodyPr>
          <a:lstStyle>
            <a:defPPr algn="l">
              <a:defRPr sz="2175" b="1">
                <a:solidFill>
                  <a:srgbClr val="FF007F"/>
                </a:solidFill>
                <a:latin typeface="CiscoSansTT Medium"/>
                <a:ea typeface="CiscoSansTT Medium"/>
                <a:cs typeface="CiscoSansTT Medium"/>
              </a:defRPr>
            </a:defPPr>
            <a:lvl1pPr algn="l">
              <a:defRPr sz="2175" b="1">
                <a:solidFill>
                  <a:srgbClr val="FF007F"/>
                </a:solidFill>
                <a:latin typeface="CiscoSansTT Medium"/>
                <a:ea typeface="CiscoSansTT Medium"/>
                <a:cs typeface="CiscoSansTT Medium"/>
              </a:defRPr>
            </a:lvl1pPr>
            <a:lvl2pPr algn="l">
              <a:defRPr sz="2175" b="1">
                <a:solidFill>
                  <a:srgbClr val="FF007F"/>
                </a:solidFill>
                <a:latin typeface="CiscoSansTT Medium"/>
                <a:ea typeface="CiscoSansTT Medium"/>
                <a:cs typeface="CiscoSansTT Medium"/>
              </a:defRPr>
            </a:lvl2pPr>
            <a:lvl3pPr algn="l">
              <a:defRPr sz="2175" b="1">
                <a:solidFill>
                  <a:srgbClr val="FF007F"/>
                </a:solidFill>
                <a:latin typeface="CiscoSansTT Medium"/>
                <a:ea typeface="CiscoSansTT Medium"/>
                <a:cs typeface="CiscoSansTT Medium"/>
              </a:defRPr>
            </a:lvl3pPr>
            <a:lvl4pPr algn="l">
              <a:defRPr sz="2175" b="1">
                <a:solidFill>
                  <a:srgbClr val="FF007F"/>
                </a:solidFill>
                <a:latin typeface="CiscoSansTT Medium"/>
                <a:ea typeface="CiscoSansTT Medium"/>
                <a:cs typeface="CiscoSansTT Medium"/>
              </a:defRPr>
            </a:lvl4pPr>
            <a:lvl5pPr algn="l">
              <a:defRPr sz="2175" b="1">
                <a:solidFill>
                  <a:srgbClr val="FF007F"/>
                </a:solidFill>
                <a:latin typeface="CiscoSansTT Medium"/>
                <a:ea typeface="CiscoSansTT Medium"/>
                <a:cs typeface="CiscoSansTT Medium"/>
              </a:defRPr>
            </a:lvl5pPr>
            <a:lvl6pPr algn="l">
              <a:defRPr sz="2175" b="1">
                <a:solidFill>
                  <a:srgbClr val="FF007F"/>
                </a:solidFill>
                <a:latin typeface="CiscoSansTT Medium"/>
                <a:ea typeface="CiscoSansTT Medium"/>
                <a:cs typeface="CiscoSansTT Medium"/>
              </a:defRPr>
            </a:lvl6pPr>
            <a:lvl7pPr algn="l">
              <a:defRPr sz="2175" b="1">
                <a:solidFill>
                  <a:srgbClr val="FF007F"/>
                </a:solidFill>
                <a:latin typeface="CiscoSansTT Medium"/>
                <a:ea typeface="CiscoSansTT Medium"/>
                <a:cs typeface="CiscoSansTT Medium"/>
              </a:defRPr>
            </a:lvl7pPr>
            <a:lvl8pPr algn="l">
              <a:defRPr sz="2175" b="1">
                <a:solidFill>
                  <a:srgbClr val="FF007F"/>
                </a:solidFill>
                <a:latin typeface="CiscoSansTT Medium"/>
                <a:ea typeface="CiscoSansTT Medium"/>
                <a:cs typeface="CiscoSansTT Medium"/>
              </a:defRPr>
            </a:lvl8pPr>
            <a:lvl9pPr algn="l">
              <a:defRPr sz="2175" b="1">
                <a:solidFill>
                  <a:srgbClr val="FF007F"/>
                </a:solidFill>
                <a:latin typeface="CiscoSansTT Medium"/>
                <a:ea typeface="CiscoSansTT Medium"/>
                <a:cs typeface="CiscoSansTT Medium"/>
              </a:defRPr>
            </a:lvl9pPr>
          </a:lstStyle>
          <a:p>
            <a:pPr algn="l">
              <a:defRPr sz="2175" b="1">
                <a:solidFill>
                  <a:srgbClr val="FF007F"/>
                </a:solidFill>
                <a:latin typeface="CiscoSansTT Medium"/>
                <a:ea typeface="CiscoSansTT Medium"/>
                <a:cs typeface="CiscoSansTT Medium"/>
              </a:defRPr>
            </a:pPr>
            <a:r>
              <a:rPr sz="2175" b="1">
                <a:solidFill>
                  <a:srgbClr val="FF007F"/>
                </a:solidFill>
                <a:latin typeface="CiscoSansTT Medium"/>
                <a:ea typeface="CiscoSansTT Medium"/>
                <a:cs typeface="CiscoSansTT Medium"/>
              </a:rPr>
              <a:t>What they add</a:t>
            </a:r>
          </a:p>
        </p:txBody>
      </p:sp>
      <p:sp>
        <p:nvSpPr>
          <p:cNvPr id="13" name="network-body-0">
            <a:extLst>
              <a:ext uri="{FF2B5EF4-FFF2-40B4-BE49-F238E27FC236}">
                <a16:creationId xmlns:a16="http://schemas.microsoft.com/office/drawing/2014/main" id="{AF8FEED1-7E86-42F8-AAC2-EF5AF031F7F8}"/>
              </a:ext>
            </a:extLst>
          </p:cNvPr>
          <p:cNvSpPr>
            <a:spLocks noGrp="1"/>
          </p:cNvSpPr>
          <p:nvPr/>
        </p:nvSpPr>
        <p:spPr>
          <a:xfrm>
            <a:off x="3905250" y="17907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Bytes and packets between endpoints,</a:t>
            </a:r>
          </a:p>
          <a:p>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with Kubernetes workload labels.</a:t>
            </a:r>
          </a:p>
        </p:txBody>
      </p:sp>
      <p:sp>
        <p:nvSpPr>
          <p:cNvPr id="14" name="network-rule-0">
            <a:extLst>
              <a:ext uri="{FF2B5EF4-FFF2-40B4-BE49-F238E27FC236}">
                <a16:creationId xmlns:a16="http://schemas.microsoft.com/office/drawing/2014/main" id="{1B0A576A-E211-40EE-B765-E1849A442BA5}"/>
              </a:ext>
            </a:extLst>
          </p:cNvPr>
          <p:cNvSpPr>
            <a:spLocks noGrp="1"/>
          </p:cNvSpPr>
          <p:nvPr/>
        </p:nvSpPr>
        <p:spPr>
          <a:xfrm>
            <a:off x="762000" y="2686050"/>
            <a:ext cx="10668000" cy="9525"/>
          </a:xfrm>
          <a:prstGeom prst="rect">
            <a:avLst/>
          </a:prstGeom>
          <a:solidFill>
            <a:srgbClr val="D6DDE3"/>
          </a:solidFill>
          <a:ln w="0">
            <a:noFill/>
          </a:ln>
        </p:spPr>
        <p:txBody>
          <a:bodyPr/>
          <a:lstStyle/>
          <a:p>
            <a:endParaRPr lang="en-ES"/>
          </a:p>
        </p:txBody>
      </p:sp>
      <p:sp>
        <p:nvSpPr>
          <p:cNvPr id="15" name="network-heading-1">
            <a:extLst>
              <a:ext uri="{FF2B5EF4-FFF2-40B4-BE49-F238E27FC236}">
                <a16:creationId xmlns:a16="http://schemas.microsoft.com/office/drawing/2014/main" id="{FA873DA4-F84F-453B-8B71-9AA7BB3DF16C}"/>
              </a:ext>
            </a:extLst>
          </p:cNvPr>
          <p:cNvSpPr>
            <a:spLocks noGrp="1"/>
          </p:cNvSpPr>
          <p:nvPr/>
        </p:nvSpPr>
        <p:spPr>
          <a:xfrm>
            <a:off x="762000" y="2895600"/>
            <a:ext cx="2857500" cy="704850"/>
          </a:xfrm>
          <a:prstGeom prst="rect">
            <a:avLst/>
          </a:prstGeom>
          <a:noFill/>
          <a:ln w="0">
            <a:noFill/>
          </a:ln>
        </p:spPr>
        <p:txBody>
          <a:bodyPr anchor="ctr">
            <a:noAutofit/>
          </a:bodyPr>
          <a:lstStyle>
            <a:defPPr algn="l">
              <a:defRPr sz="2175" b="1">
                <a:solidFill>
                  <a:srgbClr val="0860FE"/>
                </a:solidFill>
                <a:latin typeface="CiscoSansTT Medium"/>
                <a:ea typeface="CiscoSansTT Medium"/>
                <a:cs typeface="CiscoSansTT Medium"/>
              </a:defRPr>
            </a:defPPr>
            <a:lvl1pPr algn="l">
              <a:defRPr sz="2175" b="1">
                <a:solidFill>
                  <a:srgbClr val="0860FE"/>
                </a:solidFill>
                <a:latin typeface="CiscoSansTT Medium"/>
                <a:ea typeface="CiscoSansTT Medium"/>
                <a:cs typeface="CiscoSansTT Medium"/>
              </a:defRPr>
            </a:lvl1pPr>
            <a:lvl2pPr algn="l">
              <a:defRPr sz="2175" b="1">
                <a:solidFill>
                  <a:srgbClr val="0860FE"/>
                </a:solidFill>
                <a:latin typeface="CiscoSansTT Medium"/>
                <a:ea typeface="CiscoSansTT Medium"/>
                <a:cs typeface="CiscoSansTT Medium"/>
              </a:defRPr>
            </a:lvl2pPr>
            <a:lvl3pPr algn="l">
              <a:defRPr sz="2175" b="1">
                <a:solidFill>
                  <a:srgbClr val="0860FE"/>
                </a:solidFill>
                <a:latin typeface="CiscoSansTT Medium"/>
                <a:ea typeface="CiscoSansTT Medium"/>
                <a:cs typeface="CiscoSansTT Medium"/>
              </a:defRPr>
            </a:lvl3pPr>
            <a:lvl4pPr algn="l">
              <a:defRPr sz="2175" b="1">
                <a:solidFill>
                  <a:srgbClr val="0860FE"/>
                </a:solidFill>
                <a:latin typeface="CiscoSansTT Medium"/>
                <a:ea typeface="CiscoSansTT Medium"/>
                <a:cs typeface="CiscoSansTT Medium"/>
              </a:defRPr>
            </a:lvl4pPr>
            <a:lvl5pPr algn="l">
              <a:defRPr sz="2175" b="1">
                <a:solidFill>
                  <a:srgbClr val="0860FE"/>
                </a:solidFill>
                <a:latin typeface="CiscoSansTT Medium"/>
                <a:ea typeface="CiscoSansTT Medium"/>
                <a:cs typeface="CiscoSansTT Medium"/>
              </a:defRPr>
            </a:lvl5pPr>
            <a:lvl6pPr algn="l">
              <a:defRPr sz="2175" b="1">
                <a:solidFill>
                  <a:srgbClr val="0860FE"/>
                </a:solidFill>
                <a:latin typeface="CiscoSansTT Medium"/>
                <a:ea typeface="CiscoSansTT Medium"/>
                <a:cs typeface="CiscoSansTT Medium"/>
              </a:defRPr>
            </a:lvl6pPr>
            <a:lvl7pPr algn="l">
              <a:defRPr sz="2175" b="1">
                <a:solidFill>
                  <a:srgbClr val="0860FE"/>
                </a:solidFill>
                <a:latin typeface="CiscoSansTT Medium"/>
                <a:ea typeface="CiscoSansTT Medium"/>
                <a:cs typeface="CiscoSansTT Medium"/>
              </a:defRPr>
            </a:lvl7pPr>
            <a:lvl8pPr algn="l">
              <a:defRPr sz="2175" b="1">
                <a:solidFill>
                  <a:srgbClr val="0860FE"/>
                </a:solidFill>
                <a:latin typeface="CiscoSansTT Medium"/>
                <a:ea typeface="CiscoSansTT Medium"/>
                <a:cs typeface="CiscoSansTT Medium"/>
              </a:defRPr>
            </a:lvl8pPr>
            <a:lvl9pPr algn="l">
              <a:defRPr sz="2175" b="1">
                <a:solidFill>
                  <a:srgbClr val="0860FE"/>
                </a:solidFill>
                <a:latin typeface="CiscoSansTT Medium"/>
                <a:ea typeface="CiscoSansTT Medium"/>
                <a:cs typeface="CiscoSansTT Medium"/>
              </a:defRPr>
            </a:lvl9pPr>
          </a:lstStyle>
          <a:p>
            <a:pPr algn="l">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Useful for</a:t>
            </a:r>
          </a:p>
        </p:txBody>
      </p:sp>
      <p:sp>
        <p:nvSpPr>
          <p:cNvPr id="16" name="network-body-1">
            <a:extLst>
              <a:ext uri="{FF2B5EF4-FFF2-40B4-BE49-F238E27FC236}">
                <a16:creationId xmlns:a16="http://schemas.microsoft.com/office/drawing/2014/main" id="{C1638B0B-F23C-49DC-9192-79237A3EA7D7}"/>
              </a:ext>
            </a:extLst>
          </p:cNvPr>
          <p:cNvSpPr>
            <a:spLocks noGrp="1"/>
          </p:cNvSpPr>
          <p:nvPr/>
        </p:nvSpPr>
        <p:spPr>
          <a:xfrm>
            <a:off x="3905250" y="28956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Finding traffic-heavy services or exporting</a:t>
            </a:r>
          </a:p>
          <a:p>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network volume through OpenTelemetry.</a:t>
            </a:r>
          </a:p>
        </p:txBody>
      </p:sp>
      <p:sp>
        <p:nvSpPr>
          <p:cNvPr id="17" name="network-rule-1">
            <a:extLst>
              <a:ext uri="{FF2B5EF4-FFF2-40B4-BE49-F238E27FC236}">
                <a16:creationId xmlns:a16="http://schemas.microsoft.com/office/drawing/2014/main" id="{46E47913-8214-447C-AD61-E270EE73256B}"/>
              </a:ext>
            </a:extLst>
          </p:cNvPr>
          <p:cNvSpPr>
            <a:spLocks noGrp="1"/>
          </p:cNvSpPr>
          <p:nvPr/>
        </p:nvSpPr>
        <p:spPr>
          <a:xfrm>
            <a:off x="762000" y="3790950"/>
            <a:ext cx="10668000" cy="9525"/>
          </a:xfrm>
          <a:prstGeom prst="rect">
            <a:avLst/>
          </a:prstGeom>
          <a:solidFill>
            <a:srgbClr val="D6DDE3"/>
          </a:solidFill>
          <a:ln w="0">
            <a:noFill/>
          </a:ln>
        </p:spPr>
        <p:txBody>
          <a:bodyPr/>
          <a:lstStyle/>
          <a:p>
            <a:endParaRPr lang="en-ES"/>
          </a:p>
        </p:txBody>
      </p:sp>
      <p:sp>
        <p:nvSpPr>
          <p:cNvPr id="18" name="network-heading-2">
            <a:extLst>
              <a:ext uri="{FF2B5EF4-FFF2-40B4-BE49-F238E27FC236}">
                <a16:creationId xmlns:a16="http://schemas.microsoft.com/office/drawing/2014/main" id="{DFC010D3-E6C7-49D8-87D5-0F5F89D1FC03}"/>
              </a:ext>
            </a:extLst>
          </p:cNvPr>
          <p:cNvSpPr>
            <a:spLocks noGrp="1"/>
          </p:cNvSpPr>
          <p:nvPr/>
        </p:nvSpPr>
        <p:spPr>
          <a:xfrm>
            <a:off x="762000" y="4000500"/>
            <a:ext cx="2857500" cy="704850"/>
          </a:xfrm>
          <a:prstGeom prst="rect">
            <a:avLst/>
          </a:prstGeom>
          <a:noFill/>
          <a:ln w="0">
            <a:noFill/>
          </a:ln>
        </p:spPr>
        <p:txBody>
          <a:bodyPr anchor="ctr">
            <a:noAutofit/>
          </a:bodyPr>
          <a:lstStyle>
            <a:defPPr algn="l">
              <a:defRPr sz="2175" b="1">
                <a:solidFill>
                  <a:srgbClr val="0860FE"/>
                </a:solidFill>
                <a:latin typeface="CiscoSansTT Medium"/>
                <a:ea typeface="CiscoSansTT Medium"/>
                <a:cs typeface="CiscoSansTT Medium"/>
              </a:defRPr>
            </a:defPPr>
            <a:lvl1pPr algn="l">
              <a:defRPr sz="2175" b="1">
                <a:solidFill>
                  <a:srgbClr val="0860FE"/>
                </a:solidFill>
                <a:latin typeface="CiscoSansTT Medium"/>
                <a:ea typeface="CiscoSansTT Medium"/>
                <a:cs typeface="CiscoSansTT Medium"/>
              </a:defRPr>
            </a:lvl1pPr>
            <a:lvl2pPr algn="l">
              <a:defRPr sz="2175" b="1">
                <a:solidFill>
                  <a:srgbClr val="0860FE"/>
                </a:solidFill>
                <a:latin typeface="CiscoSansTT Medium"/>
                <a:ea typeface="CiscoSansTT Medium"/>
                <a:cs typeface="CiscoSansTT Medium"/>
              </a:defRPr>
            </a:lvl2pPr>
            <a:lvl3pPr algn="l">
              <a:defRPr sz="2175" b="1">
                <a:solidFill>
                  <a:srgbClr val="0860FE"/>
                </a:solidFill>
                <a:latin typeface="CiscoSansTT Medium"/>
                <a:ea typeface="CiscoSansTT Medium"/>
                <a:cs typeface="CiscoSansTT Medium"/>
              </a:defRPr>
            </a:lvl3pPr>
            <a:lvl4pPr algn="l">
              <a:defRPr sz="2175" b="1">
                <a:solidFill>
                  <a:srgbClr val="0860FE"/>
                </a:solidFill>
                <a:latin typeface="CiscoSansTT Medium"/>
                <a:ea typeface="CiscoSansTT Medium"/>
                <a:cs typeface="CiscoSansTT Medium"/>
              </a:defRPr>
            </a:lvl4pPr>
            <a:lvl5pPr algn="l">
              <a:defRPr sz="2175" b="1">
                <a:solidFill>
                  <a:srgbClr val="0860FE"/>
                </a:solidFill>
                <a:latin typeface="CiscoSansTT Medium"/>
                <a:ea typeface="CiscoSansTT Medium"/>
                <a:cs typeface="CiscoSansTT Medium"/>
              </a:defRPr>
            </a:lvl5pPr>
            <a:lvl6pPr algn="l">
              <a:defRPr sz="2175" b="1">
                <a:solidFill>
                  <a:srgbClr val="0860FE"/>
                </a:solidFill>
                <a:latin typeface="CiscoSansTT Medium"/>
                <a:ea typeface="CiscoSansTT Medium"/>
                <a:cs typeface="CiscoSansTT Medium"/>
              </a:defRPr>
            </a:lvl6pPr>
            <a:lvl7pPr algn="l">
              <a:defRPr sz="2175" b="1">
                <a:solidFill>
                  <a:srgbClr val="0860FE"/>
                </a:solidFill>
                <a:latin typeface="CiscoSansTT Medium"/>
                <a:ea typeface="CiscoSansTT Medium"/>
                <a:cs typeface="CiscoSansTT Medium"/>
              </a:defRPr>
            </a:lvl7pPr>
            <a:lvl8pPr algn="l">
              <a:defRPr sz="2175" b="1">
                <a:solidFill>
                  <a:srgbClr val="0860FE"/>
                </a:solidFill>
                <a:latin typeface="CiscoSansTT Medium"/>
                <a:ea typeface="CiscoSansTT Medium"/>
                <a:cs typeface="CiscoSansTT Medium"/>
              </a:defRPr>
            </a:lvl8pPr>
            <a:lvl9pPr algn="l">
              <a:defRPr sz="2175" b="1">
                <a:solidFill>
                  <a:srgbClr val="0860FE"/>
                </a:solidFill>
                <a:latin typeface="CiscoSansTT Medium"/>
                <a:ea typeface="CiscoSansTT Medium"/>
                <a:cs typeface="CiscoSansTT Medium"/>
              </a:defRPr>
            </a:lvl9pPr>
          </a:lstStyle>
          <a:p>
            <a:pPr algn="l">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Our demo</a:t>
            </a:r>
          </a:p>
        </p:txBody>
      </p:sp>
      <p:sp>
        <p:nvSpPr>
          <p:cNvPr id="19" name="network-body-2">
            <a:extLst>
              <a:ext uri="{FF2B5EF4-FFF2-40B4-BE49-F238E27FC236}">
                <a16:creationId xmlns:a16="http://schemas.microsoft.com/office/drawing/2014/main" id="{44EA833B-9F22-4103-A8A7-0A9BEC5B5E26}"/>
              </a:ext>
            </a:extLst>
          </p:cNvPr>
          <p:cNvSpPr>
            <a:spLocks noGrp="1"/>
          </p:cNvSpPr>
          <p:nvPr/>
        </p:nvSpPr>
        <p:spPr>
          <a:xfrm>
            <a:off x="3905250" y="40005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Hubble: network + policy. OBI: app traces + RED.</a:t>
            </a:r>
          </a:p>
          <a:p>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Optional OBI network metrics stay off in this demo.</a:t>
            </a:r>
          </a:p>
        </p:txBody>
      </p:sp>
      <p:sp>
        <p:nvSpPr>
          <p:cNvPr id="20" name="network-rule-2">
            <a:extLst>
              <a:ext uri="{FF2B5EF4-FFF2-40B4-BE49-F238E27FC236}">
                <a16:creationId xmlns:a16="http://schemas.microsoft.com/office/drawing/2014/main" id="{B2657F30-EBB0-4E74-9337-3A75779C05EA}"/>
              </a:ext>
            </a:extLst>
          </p:cNvPr>
          <p:cNvSpPr>
            <a:spLocks noGrp="1"/>
          </p:cNvSpPr>
          <p:nvPr/>
        </p:nvSpPr>
        <p:spPr>
          <a:xfrm>
            <a:off x="762000" y="4895850"/>
            <a:ext cx="10668000" cy="9525"/>
          </a:xfrm>
          <a:prstGeom prst="rect">
            <a:avLst/>
          </a:prstGeom>
          <a:solidFill>
            <a:srgbClr val="D6DDE3"/>
          </a:solidFill>
          <a:ln w="0">
            <a:noFill/>
          </a:ln>
        </p:spPr>
        <p:txBody>
          <a:bodyPr/>
          <a:lstStyle/>
          <a:p>
            <a:endParaRPr lang="en-ES"/>
          </a:p>
        </p:txBody>
      </p:sp>
      <p:sp>
        <p:nvSpPr>
          <p:cNvPr id="21" name="network-selection">
            <a:extLst>
              <a:ext uri="{FF2B5EF4-FFF2-40B4-BE49-F238E27FC236}">
                <a16:creationId xmlns:a16="http://schemas.microsoft.com/office/drawing/2014/main" id="{84BA9390-28BA-4730-9B9D-34A39C50AF17}"/>
              </a:ext>
            </a:extLst>
          </p:cNvPr>
          <p:cNvSpPr>
            <a:spLocks noGrp="1"/>
          </p:cNvSpPr>
          <p:nvPr/>
        </p:nvSpPr>
        <p:spPr>
          <a:xfrm>
            <a:off x="762000" y="5276850"/>
            <a:ext cx="10668000" cy="381000"/>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defRPr sz="1875" b="1">
                <a:solidFill>
                  <a:srgbClr val="07182A"/>
                </a:solidFill>
                <a:latin typeface="CiscoSansTT Medium"/>
                <a:ea typeface="CiscoSansTT Medium"/>
                <a:cs typeface="CiscoSansTT Medium"/>
              </a:defRPr>
            </a:lvl1pPr>
            <a:lvl2pPr algn="l">
              <a:defRPr sz="1875" b="1">
                <a:solidFill>
                  <a:srgbClr val="07182A"/>
                </a:solidFill>
                <a:latin typeface="CiscoSansTT Medium"/>
                <a:ea typeface="CiscoSansTT Medium"/>
                <a:cs typeface="CiscoSansTT Medium"/>
              </a:defRPr>
            </a:lvl2pPr>
            <a:lvl3pPr algn="l">
              <a:defRPr sz="1875" b="1">
                <a:solidFill>
                  <a:srgbClr val="07182A"/>
                </a:solidFill>
                <a:latin typeface="CiscoSansTT Medium"/>
                <a:ea typeface="CiscoSansTT Medium"/>
                <a:cs typeface="CiscoSansTT Medium"/>
              </a:defRPr>
            </a:lvl3pPr>
            <a:lvl4pPr algn="l">
              <a:defRPr sz="1875" b="1">
                <a:solidFill>
                  <a:srgbClr val="07182A"/>
                </a:solidFill>
                <a:latin typeface="CiscoSansTT Medium"/>
                <a:ea typeface="CiscoSansTT Medium"/>
                <a:cs typeface="CiscoSansTT Medium"/>
              </a:defRPr>
            </a:lvl4pPr>
            <a:lvl5pPr algn="l">
              <a:defRPr sz="1875" b="1">
                <a:solidFill>
                  <a:srgbClr val="07182A"/>
                </a:solidFill>
                <a:latin typeface="CiscoSansTT Medium"/>
                <a:ea typeface="CiscoSansTT Medium"/>
                <a:cs typeface="CiscoSansTT Medium"/>
              </a:defRPr>
            </a:lvl5pPr>
            <a:lvl6pPr algn="l">
              <a:defRPr sz="1875" b="1">
                <a:solidFill>
                  <a:srgbClr val="07182A"/>
                </a:solidFill>
                <a:latin typeface="CiscoSansTT Medium"/>
                <a:ea typeface="CiscoSansTT Medium"/>
                <a:cs typeface="CiscoSansTT Medium"/>
              </a:defRPr>
            </a:lvl6pPr>
            <a:lvl7pPr algn="l">
              <a:defRPr sz="1875" b="1">
                <a:solidFill>
                  <a:srgbClr val="07182A"/>
                </a:solidFill>
                <a:latin typeface="CiscoSansTT Medium"/>
                <a:ea typeface="CiscoSansTT Medium"/>
                <a:cs typeface="CiscoSansTT Medium"/>
              </a:defRPr>
            </a:lvl7pPr>
            <a:lvl8pPr algn="l">
              <a:defRPr sz="1875" b="1">
                <a:solidFill>
                  <a:srgbClr val="07182A"/>
                </a:solidFill>
                <a:latin typeface="CiscoSansTT Medium"/>
                <a:ea typeface="CiscoSansTT Medium"/>
                <a:cs typeface="CiscoSansTT Medium"/>
              </a:defRPr>
            </a:lvl8pPr>
            <a:lvl9pPr algn="l">
              <a:defRPr sz="1875" b="1">
                <a:solidFill>
                  <a:srgbClr val="07182A"/>
                </a:solidFill>
                <a:latin typeface="CiscoSansTT Medium"/>
                <a:ea typeface="CiscoSansTT Medium"/>
                <a:cs typeface="CiscoSansTT Medium"/>
              </a:defRPr>
            </a:lvl9pPr>
          </a:lstStyle>
          <a:p>
            <a:pPr algn="l">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Enable them when you need an additional network-volume view.</a:t>
            </a:r>
          </a:p>
        </p:txBody>
      </p:sp>
      <p:sp>
        <p:nvSpPr>
          <p:cNvPr id="22" name="network-cilium-config">
            <a:extLst>
              <a:ext uri="{FF2B5EF4-FFF2-40B4-BE49-F238E27FC236}">
                <a16:creationId xmlns:a16="http://schemas.microsoft.com/office/drawing/2014/main" id="{8BFA5B85-D8D2-4152-8D31-979037069024}"/>
              </a:ext>
            </a:extLst>
          </p:cNvPr>
          <p:cNvSpPr>
            <a:spLocks noGrp="1"/>
          </p:cNvSpPr>
          <p:nvPr/>
        </p:nvSpPr>
        <p:spPr>
          <a:xfrm>
            <a:off x="762000" y="5800725"/>
            <a:ext cx="10668000" cy="381000"/>
          </a:xfrm>
          <a:prstGeom prst="rect">
            <a:avLst/>
          </a:prstGeom>
          <a:noFill/>
          <a:ln w="0">
            <a:noFill/>
          </a:ln>
        </p:spPr>
        <p:txBody>
          <a:bodyPr anchor="ctr">
            <a:noAutofit/>
          </a:bodyPr>
          <a:lstStyle>
            <a:defPPr algn="l">
              <a:defRPr sz="1650" b="0">
                <a:solidFill>
                  <a:srgbClr val="686B6B"/>
                </a:solidFill>
                <a:latin typeface="CiscoSansTT"/>
                <a:ea typeface="CiscoSansTT"/>
                <a:cs typeface="CiscoSansTT"/>
              </a:defRPr>
            </a:defPPr>
            <a:lvl1pPr algn="l">
              <a:defRPr sz="1650" b="0">
                <a:solidFill>
                  <a:srgbClr val="686B6B"/>
                </a:solidFill>
                <a:latin typeface="CiscoSansTT"/>
                <a:ea typeface="CiscoSansTT"/>
                <a:cs typeface="CiscoSansTT"/>
              </a:defRPr>
            </a:lvl1pPr>
            <a:lvl2pPr algn="l">
              <a:defRPr sz="1650" b="0">
                <a:solidFill>
                  <a:srgbClr val="686B6B"/>
                </a:solidFill>
                <a:latin typeface="CiscoSansTT"/>
                <a:ea typeface="CiscoSansTT"/>
                <a:cs typeface="CiscoSansTT"/>
              </a:defRPr>
            </a:lvl2pPr>
            <a:lvl3pPr algn="l">
              <a:defRPr sz="1650" b="0">
                <a:solidFill>
                  <a:srgbClr val="686B6B"/>
                </a:solidFill>
                <a:latin typeface="CiscoSansTT"/>
                <a:ea typeface="CiscoSansTT"/>
                <a:cs typeface="CiscoSansTT"/>
              </a:defRPr>
            </a:lvl3pPr>
            <a:lvl4pPr algn="l">
              <a:defRPr sz="1650" b="0">
                <a:solidFill>
                  <a:srgbClr val="686B6B"/>
                </a:solidFill>
                <a:latin typeface="CiscoSansTT"/>
                <a:ea typeface="CiscoSansTT"/>
                <a:cs typeface="CiscoSansTT"/>
              </a:defRPr>
            </a:lvl4pPr>
            <a:lvl5pPr algn="l">
              <a:defRPr sz="1650" b="0">
                <a:solidFill>
                  <a:srgbClr val="686B6B"/>
                </a:solidFill>
                <a:latin typeface="CiscoSansTT"/>
                <a:ea typeface="CiscoSansTT"/>
                <a:cs typeface="CiscoSansTT"/>
              </a:defRPr>
            </a:lvl5pPr>
            <a:lvl6pPr algn="l">
              <a:defRPr sz="1650" b="0">
                <a:solidFill>
                  <a:srgbClr val="686B6B"/>
                </a:solidFill>
                <a:latin typeface="CiscoSansTT"/>
                <a:ea typeface="CiscoSansTT"/>
                <a:cs typeface="CiscoSansTT"/>
              </a:defRPr>
            </a:lvl6pPr>
            <a:lvl7pPr algn="l">
              <a:defRPr sz="1650" b="0">
                <a:solidFill>
                  <a:srgbClr val="686B6B"/>
                </a:solidFill>
                <a:latin typeface="CiscoSansTT"/>
                <a:ea typeface="CiscoSansTT"/>
                <a:cs typeface="CiscoSansTT"/>
              </a:defRPr>
            </a:lvl7pPr>
            <a:lvl8pPr algn="l">
              <a:defRPr sz="1650" b="0">
                <a:solidFill>
                  <a:srgbClr val="686B6B"/>
                </a:solidFill>
                <a:latin typeface="CiscoSansTT"/>
                <a:ea typeface="CiscoSansTT"/>
                <a:cs typeface="CiscoSansTT"/>
              </a:defRPr>
            </a:lvl8pPr>
            <a:lvl9pPr algn="l">
              <a:defRPr sz="1650" b="0">
                <a:solidFill>
                  <a:srgbClr val="686B6B"/>
                </a:solidFill>
                <a:latin typeface="CiscoSansTT"/>
                <a:ea typeface="CiscoSansTT"/>
                <a:cs typeface="CiscoSansTT"/>
              </a:defRPr>
            </a:lvl9pPr>
          </a:lstStyle>
          <a:p>
            <a:pPr algn="l">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With Cilium: network.source: socket_filter. Keep exported labels limited.</a:t>
            </a:r>
          </a:p>
        </p:txBody>
      </p:sp>
    </p:spTree>
    <p:extLst>
      <p:ext uri="{BB962C8B-B14F-4D97-AF65-F5344CB8AC3E}">
        <p14:creationId xmlns:p14="http://schemas.microsoft.com/office/powerpoint/2010/main" val="17851905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Measure the combined system</a:t>
            </a:r>
          </a:p>
        </p:txBody>
      </p:sp>
    </p:spTree>
    <p:extLst>
      <p:ext uri="{BB962C8B-B14F-4D97-AF65-F5344CB8AC3E}">
        <p14:creationId xmlns:p14="http://schemas.microsoft.com/office/powerpoint/2010/main" val="1425544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sp>
        <p:nvSpPr>
          <p:cNvPr id="2" name="Rounded Rectangle 1">
            <a:extLst>
              <a:ext uri="{FF2B5EF4-FFF2-40B4-BE49-F238E27FC236}">
                <a16:creationId xmlns:a16="http://schemas.microsoft.com/office/drawing/2014/main" id="{C57F3861-4686-4855-A5F6-163934D70F39}"/>
              </a:ext>
            </a:extLst>
          </p:cNvPr>
          <p:cNvSpPr>
            <a:spLocks noGrp="1"/>
          </p:cNvSpPr>
          <p:nvPr/>
        </p:nvSpPr>
        <p:spPr>
          <a:xfrm>
            <a:off x="1209675" y="2000250"/>
            <a:ext cx="704850" cy="381000"/>
          </a:xfrm>
          <a:prstGeom prst="roundRect">
            <a:avLst>
              <a:gd name="adj" fmla="val 20000"/>
            </a:avLst>
          </a:prstGeom>
          <a:solidFill>
            <a:srgbClr val="686B6B"/>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A</a:t>
            </a:r>
          </a:p>
        </p:txBody>
      </p:sp>
      <p:sp>
        <p:nvSpPr>
          <p:cNvPr id="3" name="Rounded Rectangle 2">
            <a:extLst>
              <a:ext uri="{FF2B5EF4-FFF2-40B4-BE49-F238E27FC236}">
                <a16:creationId xmlns:a16="http://schemas.microsoft.com/office/drawing/2014/main" id="{43DA1D42-5150-46B7-A997-2EA04A6FE5E7}"/>
              </a:ext>
            </a:extLst>
          </p:cNvPr>
          <p:cNvSpPr>
            <a:spLocks noGrp="1"/>
          </p:cNvSpPr>
          <p:nvPr/>
        </p:nvSpPr>
        <p:spPr>
          <a:xfrm>
            <a:off x="666750" y="2571750"/>
            <a:ext cx="1790700" cy="1352550"/>
          </a:xfrm>
          <a:prstGeom prst="roundRect">
            <a:avLst>
              <a:gd name="adj" fmla="val 5634"/>
            </a:avLst>
          </a:prstGeom>
          <a:solidFill>
            <a:srgbClr val="F4F6F8"/>
          </a:solidFill>
          <a:ln w="14288">
            <a:solidFill>
              <a:srgbClr val="686B6B"/>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baseline</a:t>
            </a:r>
          </a:p>
        </p:txBody>
      </p:sp>
      <p:sp>
        <p:nvSpPr>
          <p:cNvPr id="4" name="Rounded Rectangle 3">
            <a:extLst>
              <a:ext uri="{FF2B5EF4-FFF2-40B4-BE49-F238E27FC236}">
                <a16:creationId xmlns:a16="http://schemas.microsoft.com/office/drawing/2014/main" id="{A0DAE3A5-7A9B-486F-A790-57C2532D53BF}"/>
              </a:ext>
            </a:extLst>
          </p:cNvPr>
          <p:cNvSpPr>
            <a:spLocks noGrp="1"/>
          </p:cNvSpPr>
          <p:nvPr/>
        </p:nvSpPr>
        <p:spPr>
          <a:xfrm>
            <a:off x="3476625" y="2000250"/>
            <a:ext cx="7048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B</a:t>
            </a:r>
          </a:p>
        </p:txBody>
      </p:sp>
      <p:sp>
        <p:nvSpPr>
          <p:cNvPr id="5" name="Rounded Rectangle 4">
            <a:extLst>
              <a:ext uri="{FF2B5EF4-FFF2-40B4-BE49-F238E27FC236}">
                <a16:creationId xmlns:a16="http://schemas.microsoft.com/office/drawing/2014/main" id="{A2D31BC7-2580-481F-BFF6-E5D5FE1EF90C}"/>
              </a:ext>
            </a:extLst>
          </p:cNvPr>
          <p:cNvSpPr>
            <a:spLocks noGrp="1"/>
          </p:cNvSpPr>
          <p:nvPr/>
        </p:nvSpPr>
        <p:spPr>
          <a:xfrm>
            <a:off x="2933700" y="2571750"/>
            <a:ext cx="1790700" cy="1352550"/>
          </a:xfrm>
          <a:prstGeom prst="roundRect">
            <a:avLst>
              <a:gd name="adj" fmla="val 5634"/>
            </a:avLst>
          </a:prstGeom>
          <a:solidFill>
            <a:srgbClr val="EAF7FC"/>
          </a:solidFill>
          <a:ln w="14288">
            <a:solidFill>
              <a:srgbClr val="0860FE"/>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L3/L4</a:t>
            </a:r>
          </a:p>
        </p:txBody>
      </p:sp>
      <p:sp>
        <p:nvSpPr>
          <p:cNvPr id="6" name="Rounded Rectangle 5">
            <a:extLst>
              <a:ext uri="{FF2B5EF4-FFF2-40B4-BE49-F238E27FC236}">
                <a16:creationId xmlns:a16="http://schemas.microsoft.com/office/drawing/2014/main" id="{B5CC0480-58B6-481F-A0E6-4B4442B486FA}"/>
              </a:ext>
            </a:extLst>
          </p:cNvPr>
          <p:cNvSpPr>
            <a:spLocks noGrp="1"/>
          </p:cNvSpPr>
          <p:nvPr/>
        </p:nvSpPr>
        <p:spPr>
          <a:xfrm>
            <a:off x="5743575" y="2000250"/>
            <a:ext cx="704850" cy="381000"/>
          </a:xfrm>
          <a:prstGeom prst="roundRect">
            <a:avLst>
              <a:gd name="adj" fmla="val 20000"/>
            </a:avLst>
          </a:prstGeom>
          <a:solidFill>
            <a:srgbClr val="FF007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a:t>
            </a:r>
          </a:p>
        </p:txBody>
      </p:sp>
      <p:sp>
        <p:nvSpPr>
          <p:cNvPr id="7" name="Rounded Rectangle 6">
            <a:extLst>
              <a:ext uri="{FF2B5EF4-FFF2-40B4-BE49-F238E27FC236}">
                <a16:creationId xmlns:a16="http://schemas.microsoft.com/office/drawing/2014/main" id="{249A79A0-91CC-421C-BF6B-235A6CEA09E1}"/>
              </a:ext>
            </a:extLst>
          </p:cNvPr>
          <p:cNvSpPr>
            <a:spLocks noGrp="1"/>
          </p:cNvSpPr>
          <p:nvPr/>
        </p:nvSpPr>
        <p:spPr>
          <a:xfrm>
            <a:off x="5200650" y="2571750"/>
            <a:ext cx="1790700" cy="1352550"/>
          </a:xfrm>
          <a:prstGeom prst="roundRect">
            <a:avLst>
              <a:gd name="adj" fmla="val 5634"/>
            </a:avLst>
          </a:prstGeom>
          <a:solidFill>
            <a:srgbClr val="F4EAF4"/>
          </a:solidFill>
          <a:ln w="14288">
            <a:solidFill>
              <a:srgbClr val="FF007F"/>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metrics</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propagation</a:t>
            </a:r>
          </a:p>
        </p:txBody>
      </p:sp>
      <p:sp>
        <p:nvSpPr>
          <p:cNvPr id="8" name="Rounded Rectangle 7">
            <a:extLst>
              <a:ext uri="{FF2B5EF4-FFF2-40B4-BE49-F238E27FC236}">
                <a16:creationId xmlns:a16="http://schemas.microsoft.com/office/drawing/2014/main" id="{6079DEF9-F700-4121-AB14-6C19F5737C35}"/>
              </a:ext>
            </a:extLst>
          </p:cNvPr>
          <p:cNvSpPr>
            <a:spLocks noGrp="1"/>
          </p:cNvSpPr>
          <p:nvPr/>
        </p:nvSpPr>
        <p:spPr>
          <a:xfrm>
            <a:off x="8010525" y="2000250"/>
            <a:ext cx="704850" cy="381000"/>
          </a:xfrm>
          <a:prstGeom prst="roundRect">
            <a:avLst>
              <a:gd name="adj" fmla="val 20000"/>
            </a:avLst>
          </a:prstGeom>
          <a:solidFill>
            <a:srgbClr val="FF007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D</a:t>
            </a:r>
          </a:p>
        </p:txBody>
      </p:sp>
      <p:sp>
        <p:nvSpPr>
          <p:cNvPr id="9" name="Rounded Rectangle 8">
            <a:extLst>
              <a:ext uri="{FF2B5EF4-FFF2-40B4-BE49-F238E27FC236}">
                <a16:creationId xmlns:a16="http://schemas.microsoft.com/office/drawing/2014/main" id="{AC5F954D-00D8-4D33-A7F6-923DE12E6AD9}"/>
              </a:ext>
            </a:extLst>
          </p:cNvPr>
          <p:cNvSpPr>
            <a:spLocks noGrp="1"/>
          </p:cNvSpPr>
          <p:nvPr/>
        </p:nvSpPr>
        <p:spPr>
          <a:xfrm>
            <a:off x="7467600" y="2571750"/>
            <a:ext cx="1790700" cy="1352550"/>
          </a:xfrm>
          <a:prstGeom prst="roundRect">
            <a:avLst>
              <a:gd name="adj" fmla="val 5634"/>
            </a:avLst>
          </a:prstGeom>
          <a:solidFill>
            <a:srgbClr val="F4EAF4"/>
          </a:solidFill>
          <a:ln w="14288">
            <a:solidFill>
              <a:srgbClr val="FF007F"/>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traces</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TCX propagation</a:t>
            </a:r>
          </a:p>
        </p:txBody>
      </p:sp>
      <p:sp>
        <p:nvSpPr>
          <p:cNvPr id="10" name="Rounded Rectangle 9">
            <a:extLst>
              <a:ext uri="{FF2B5EF4-FFF2-40B4-BE49-F238E27FC236}">
                <a16:creationId xmlns:a16="http://schemas.microsoft.com/office/drawing/2014/main" id="{4FEFADD7-1B50-4BB3-8599-47FACAE44ED4}"/>
              </a:ext>
            </a:extLst>
          </p:cNvPr>
          <p:cNvSpPr>
            <a:spLocks noGrp="1"/>
          </p:cNvSpPr>
          <p:nvPr/>
        </p:nvSpPr>
        <p:spPr>
          <a:xfrm>
            <a:off x="10277475" y="2000250"/>
            <a:ext cx="7048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E</a:t>
            </a:r>
          </a:p>
        </p:txBody>
      </p:sp>
      <p:sp>
        <p:nvSpPr>
          <p:cNvPr id="11" name="Rounded Rectangle 10">
            <a:extLst>
              <a:ext uri="{FF2B5EF4-FFF2-40B4-BE49-F238E27FC236}">
                <a16:creationId xmlns:a16="http://schemas.microsoft.com/office/drawing/2014/main" id="{82E7F45A-14F9-47B8-94BC-1FD3A9870B5A}"/>
              </a:ext>
            </a:extLst>
          </p:cNvPr>
          <p:cNvSpPr>
            <a:spLocks noGrp="1"/>
          </p:cNvSpPr>
          <p:nvPr/>
        </p:nvSpPr>
        <p:spPr>
          <a:xfrm>
            <a:off x="9734550" y="2571750"/>
            <a:ext cx="1790700" cy="1352550"/>
          </a:xfrm>
          <a:prstGeom prst="roundRect">
            <a:avLst>
              <a:gd name="adj" fmla="val 5634"/>
            </a:avLst>
          </a:prstGeom>
          <a:solidFill>
            <a:srgbClr val="EAF7FC"/>
          </a:solidFill>
          <a:ln w="14288">
            <a:solidFill>
              <a:srgbClr val="0860FE"/>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 L7</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Envoy redirect</a:t>
            </a:r>
          </a:p>
        </p:txBody>
      </p:sp>
      <p:sp>
        <p:nvSpPr>
          <p:cNvPr id="14" name="Rectangle 13">
            <a:extLst>
              <a:ext uri="{FF2B5EF4-FFF2-40B4-BE49-F238E27FC236}">
                <a16:creationId xmlns:a16="http://schemas.microsoft.com/office/drawing/2014/main" id="{D75E356C-92AC-4938-8ABE-810420048C00}"/>
              </a:ext>
            </a:extLst>
          </p:cNvPr>
          <p:cNvSpPr>
            <a:spLocks noGrp="1"/>
          </p:cNvSpPr>
          <p:nvPr/>
        </p:nvSpPr>
        <p:spPr>
          <a:xfrm>
            <a:off x="762000" y="4476750"/>
            <a:ext cx="10668000" cy="457200"/>
          </a:xfrm>
          <a:prstGeom prst="rect">
            <a:avLst/>
          </a:prstGeom>
          <a:noFill/>
          <a:ln w="0">
            <a:noFill/>
          </a:ln>
        </p:spPr>
        <p:txBody>
          <a:bodyPr anchor="t">
            <a:normAutofit/>
          </a:bodyPr>
          <a:lstStyle/>
          <a:p>
            <a:pPr algn="ctr">
              <a:buNone/>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Same Cilium cluster, route, load, placement and backend</a:t>
            </a:r>
          </a:p>
        </p:txBody>
      </p:sp>
    </p:spTree>
    <p:extLst>
      <p:ext uri="{BB962C8B-B14F-4D97-AF65-F5344CB8AC3E}">
        <p14:creationId xmlns:p14="http://schemas.microsoft.com/office/powerpoint/2010/main" val="6173712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20" name="Rectangle 19">
            <a:extLst>
              <a:ext uri="{FF2B5EF4-FFF2-40B4-BE49-F238E27FC236}">
                <a16:creationId xmlns:a16="http://schemas.microsoft.com/office/drawing/2014/main" id="{6E890BCB-BEDF-4A21-BC9C-E03C004765D8}"/>
              </a:ext>
            </a:extLst>
          </p:cNvPr>
          <p:cNvSpPr>
            <a:spLocks noGrp="1"/>
          </p:cNvSpPr>
          <p:nvPr/>
        </p:nvSpPr>
        <p:spPr>
          <a:xfrm>
            <a:off x="762000" y="1219200"/>
            <a:ext cx="10668000" cy="400050"/>
          </a:xfrm>
          <a:prstGeom prst="rect">
            <a:avLst/>
          </a:prstGeom>
          <a:noFill/>
          <a:ln w="0">
            <a:noFill/>
          </a:ln>
        </p:spPr>
        <p:txBody>
          <a:bodyPr anchor="ctr">
            <a:noAutofit/>
          </a:bodyPr>
          <a:lstStyle/>
          <a:p>
            <a:pPr algn="l">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Same cluster, route and load. B ran before D.</a:t>
            </a:r>
          </a:p>
        </p:txBody>
      </p:sp>
      <p:graphicFrame>
        <p:nvGraphicFramePr>
          <p:cNvPr id="26" name="Table 25"/>
          <p:cNvGraphicFramePr/>
          <p:nvPr>
            <p:extLst>
              <p:ext uri="{D42A27DB-BD31-4B8C-83A1-F6EECF244321}">
                <p14:modId xmlns:p14="http://schemas.microsoft.com/office/powerpoint/2010/main" val="2353555426"/>
              </p:ext>
            </p:extLst>
          </p:nvPr>
        </p:nvGraphicFramePr>
        <p:xfrm>
          <a:off x="762000" y="1847850"/>
          <a:ext cx="10668000" cy="3200400"/>
        </p:xfrm>
        <a:graphic>
          <a:graphicData uri="http://schemas.openxmlformats.org/drawingml/2006/table">
            <a:tbl>
              <a:tblPr/>
              <a:tblGrid>
                <a:gridCol w="34290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24765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33400">
                <a:tc>
                  <a:txBody>
                    <a:bodyPr/>
                    <a:lstStyle/>
                    <a:p>
                      <a:r>
                        <a:rPr sz="1575" b="1">
                          <a:solidFill>
                            <a:srgbClr val="07182A"/>
                          </a:solidFill>
                          <a:latin typeface="CiscoSansTT Medium"/>
                          <a:ea typeface="CiscoSansTT Medium"/>
                          <a:cs typeface="CiscoSansTT Medium"/>
                        </a:rPr>
                        <a:t>Metric</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dirty="0">
                          <a:solidFill>
                            <a:srgbClr val="0860FE"/>
                          </a:solidFill>
                          <a:latin typeface="CiscoSansTT Medium"/>
                          <a:ea typeface="CiscoSansTT Medium"/>
                          <a:cs typeface="CiscoSansTT Medium"/>
                        </a:rPr>
                        <a:t>B: OBI </a:t>
                      </a:r>
                      <a:r>
                        <a:rPr lang="en-US" sz="1575" b="1" dirty="0">
                          <a:solidFill>
                            <a:srgbClr val="0860FE"/>
                          </a:solidFill>
                          <a:latin typeface="CiscoSansTT Medium"/>
                          <a:ea typeface="CiscoSansTT Medium"/>
                          <a:cs typeface="CiscoSansTT Medium"/>
                        </a:rPr>
                        <a:t>(TCX </a:t>
                      </a:r>
                      <a:r>
                        <a:rPr sz="1575" b="1" dirty="0">
                          <a:solidFill>
                            <a:srgbClr val="0860FE"/>
                          </a:solidFill>
                          <a:latin typeface="CiscoSansTT Medium"/>
                          <a:ea typeface="CiscoSansTT Medium"/>
                          <a:cs typeface="CiscoSansTT Medium"/>
                        </a:rPr>
                        <a:t>off</a:t>
                      </a:r>
                      <a:r>
                        <a:rPr lang="en-US" sz="1575" b="1" dirty="0">
                          <a:solidFill>
                            <a:srgbClr val="0860FE"/>
                          </a:solidFill>
                          <a:latin typeface="CiscoSansTT Medium"/>
                          <a:ea typeface="CiscoSansTT Medium"/>
                          <a:cs typeface="CiscoSansTT Medium"/>
                        </a:rPr>
                        <a:t>)</a:t>
                      </a:r>
                      <a:endParaRPr sz="1575" b="1" dirty="0">
                        <a:solidFill>
                          <a:srgbClr val="0860FE"/>
                        </a:solidFill>
                        <a:latin typeface="CiscoSansTT Medium"/>
                        <a:ea typeface="CiscoSansTT Medium"/>
                        <a:cs typeface="CiscoSansTT Medium"/>
                      </a:endParaRPr>
                    </a:p>
                  </a:txBody>
                  <a:tcPr>
                    <a:lnL w="0">
                      <a:noFill/>
                    </a:lnL>
                    <a:lnR w="0">
                      <a:noFill/>
                    </a:lnR>
                    <a:lnT w="6350">
                      <a:solidFill>
                        <a:srgbClr val="D6DDE3"/>
                      </a:solidFill>
                    </a:lnT>
                    <a:lnB w="6350">
                      <a:solidFill>
                        <a:srgbClr val="D6DDE3"/>
                      </a:solidFill>
                    </a:lnB>
                    <a:solidFill>
                      <a:srgbClr val="FFFFFF"/>
                    </a:solidFill>
                  </a:tcPr>
                </a:tc>
                <a:tc>
                  <a:txBody>
                    <a:bodyPr/>
                    <a:lstStyle/>
                    <a:p>
                      <a:r>
                        <a:rPr sz="1575" b="1" dirty="0">
                          <a:solidFill>
                            <a:srgbClr val="FF007F"/>
                          </a:solidFill>
                          <a:latin typeface="CiscoSansTT Medium"/>
                          <a:ea typeface="CiscoSansTT Medium"/>
                          <a:cs typeface="CiscoSansTT Medium"/>
                        </a:rPr>
                        <a:t>D: OBI </a:t>
                      </a:r>
                      <a:r>
                        <a:rPr lang="en-US" sz="1575" b="1" dirty="0">
                          <a:solidFill>
                            <a:srgbClr val="FF007F"/>
                          </a:solidFill>
                          <a:latin typeface="CiscoSansTT Medium"/>
                          <a:ea typeface="CiscoSansTT Medium"/>
                          <a:cs typeface="CiscoSansTT Medium"/>
                        </a:rPr>
                        <a:t>(</a:t>
                      </a:r>
                      <a:r>
                        <a:rPr sz="1575" b="1" dirty="0">
                          <a:solidFill>
                            <a:srgbClr val="FF007F"/>
                          </a:solidFill>
                          <a:latin typeface="CiscoSansTT Medium"/>
                          <a:ea typeface="CiscoSansTT Medium"/>
                          <a:cs typeface="CiscoSansTT Medium"/>
                        </a:rPr>
                        <a:t>TCX</a:t>
                      </a:r>
                      <a:r>
                        <a:rPr lang="en-US" sz="1575" b="1" dirty="0">
                          <a:solidFill>
                            <a:srgbClr val="FF007F"/>
                          </a:solidFill>
                          <a:latin typeface="CiscoSansTT Medium"/>
                          <a:ea typeface="CiscoSansTT Medium"/>
                          <a:cs typeface="CiscoSansTT Medium"/>
                        </a:rPr>
                        <a:t> </a:t>
                      </a:r>
                      <a:r>
                        <a:rPr lang="en-GB" sz="1575" b="1" dirty="0">
                          <a:solidFill>
                            <a:srgbClr val="FF007F"/>
                          </a:solidFill>
                          <a:latin typeface="CiscoSansTT Medium"/>
                          <a:ea typeface="CiscoSansTT Medium"/>
                          <a:cs typeface="CiscoSansTT Medium"/>
                        </a:rPr>
                        <a:t>on)</a:t>
                      </a:r>
                      <a:endParaRPr sz="1575" b="1" dirty="0">
                        <a:solidFill>
                          <a:srgbClr val="FF007F"/>
                        </a:solidFill>
                        <a:latin typeface="CiscoSansTT Medium"/>
                        <a:ea typeface="CiscoSansTT Medium"/>
                        <a:cs typeface="CiscoSansTT Medium"/>
                      </a:endParaRP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7182A"/>
                          </a:solidFill>
                          <a:latin typeface="CiscoSansTT Medium"/>
                          <a:ea typeface="CiscoSansTT Medium"/>
                          <a:cs typeface="CiscoSansTT Medium"/>
                        </a:rPr>
                        <a:t>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0"/>
                  </a:ext>
                </a:extLst>
              </a:tr>
              <a:tr h="533400">
                <a:tc>
                  <a:txBody>
                    <a:bodyPr/>
                    <a:lstStyle/>
                    <a:p>
                      <a:r>
                        <a:rPr sz="1650" b="0">
                          <a:solidFill>
                            <a:srgbClr val="07182A"/>
                          </a:solidFill>
                          <a:latin typeface="CiscoSansTT"/>
                          <a:ea typeface="CiscoSansTT"/>
                          <a:cs typeface="CiscoSansTT"/>
                        </a:rPr>
                        <a:t>Throughput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19.77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19.73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−0.2%</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1"/>
                  </a:ext>
                </a:extLst>
              </a:tr>
              <a:tr h="533400">
                <a:tc>
                  <a:txBody>
                    <a:bodyPr/>
                    <a:lstStyle/>
                    <a:p>
                      <a:r>
                        <a:rPr sz="1650" b="0">
                          <a:solidFill>
                            <a:srgbClr val="07182A"/>
                          </a:solidFill>
                          <a:latin typeface="CiscoSansTT"/>
                          <a:ea typeface="CiscoSansTT"/>
                          <a:cs typeface="CiscoSansTT"/>
                        </a:rPr>
                        <a:t>p95 latency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1,018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1,020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 ms</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2"/>
                  </a:ext>
                </a:extLst>
              </a:tr>
              <a:tr h="533400">
                <a:tc>
                  <a:txBody>
                    <a:bodyPr/>
                    <a:lstStyle/>
                    <a:p>
                      <a:r>
                        <a:rPr sz="1650" b="0">
                          <a:solidFill>
                            <a:srgbClr val="07182A"/>
                          </a:solidFill>
                          <a:latin typeface="CiscoSansTT"/>
                          <a:ea typeface="CiscoSansTT"/>
                          <a:cs typeface="CiscoSansTT"/>
                        </a:rPr>
                        <a:t>Failed requests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No 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3"/>
                  </a:ext>
                </a:extLst>
              </a:tr>
              <a:tr h="533400">
                <a:tc>
                  <a:txBody>
                    <a:bodyPr/>
                    <a:lstStyle/>
                    <a:p>
                      <a:r>
                        <a:rPr sz="1650" b="0">
                          <a:solidFill>
                            <a:srgbClr val="07182A"/>
                          </a:solidFill>
                          <a:latin typeface="CiscoSansTT"/>
                          <a:ea typeface="CiscoSansTT"/>
                          <a:cs typeface="CiscoSansTT"/>
                        </a:rPr>
                        <a:t>OBI CPU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0.013 cores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4"/>
                  </a:ext>
                </a:extLst>
              </a:tr>
              <a:tr h="533400">
                <a:tc>
                  <a:txBody>
                    <a:bodyPr/>
                    <a:lstStyle/>
                    <a:p>
                      <a:r>
                        <a:rPr sz="1650" b="0">
                          <a:solidFill>
                            <a:srgbClr val="07182A"/>
                          </a:solidFill>
                          <a:latin typeface="CiscoSansTT"/>
                          <a:ea typeface="CiscoSansTT"/>
                          <a:cs typeface="CiscoSansTT"/>
                        </a:rPr>
                        <a:t>OBI working set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253 MiB</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dirty="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5"/>
                  </a:ext>
                </a:extLst>
              </a:tr>
            </a:tbl>
          </a:graphicData>
        </a:graphic>
      </p:graphicFrame>
      <p:sp>
        <p:nvSpPr>
          <p:cNvPr id="22" name="Rectangle 21">
            <a:extLst>
              <a:ext uri="{FF2B5EF4-FFF2-40B4-BE49-F238E27FC236}">
                <a16:creationId xmlns:a16="http://schemas.microsoft.com/office/drawing/2014/main" id="{7E4A5844-4C7E-4BBD-A8D9-FF29BB2E0634}"/>
              </a:ext>
            </a:extLst>
          </p:cNvPr>
          <p:cNvSpPr>
            <a:spLocks noGrp="1"/>
          </p:cNvSpPr>
          <p:nvPr/>
        </p:nvSpPr>
        <p:spPr>
          <a:xfrm>
            <a:off x="762000" y="5238750"/>
            <a:ext cx="10668000" cy="400050"/>
          </a:xfrm>
          <a:prstGeom prst="rect">
            <a:avLst/>
          </a:prstGeom>
          <a:noFill/>
          <a:ln w="0">
            <a:noFill/>
          </a:ln>
        </p:spPr>
        <p:txBody>
          <a:bodyPr anchor="ctr">
            <a:noAutofit/>
          </a:bodyPr>
          <a:lstStyle/>
          <a:p>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D exported 7,210 spans. Hubble loss remains unverified until a matched-window rerun.</a:t>
            </a:r>
          </a:p>
        </p:txBody>
      </p:sp>
      <p:sp>
        <p:nvSpPr>
          <p:cNvPr id="23" name="Rectangle 22">
            <a:extLst>
              <a:ext uri="{FF2B5EF4-FFF2-40B4-BE49-F238E27FC236}">
                <a16:creationId xmlns:a16="http://schemas.microsoft.com/office/drawing/2014/main" id="{ACEAF919-558E-452B-89A0-A05DEBBE4D1E}"/>
              </a:ext>
            </a:extLst>
          </p:cNvPr>
          <p:cNvSpPr>
            <a:spLocks noGrp="1"/>
          </p:cNvSpPr>
          <p:nvPr/>
        </p:nvSpPr>
        <p:spPr>
          <a:xfrm>
            <a:off x="762000" y="5772150"/>
            <a:ext cx="10668000" cy="419100"/>
          </a:xfrm>
          <a:prstGeom prst="rect">
            <a:avLst/>
          </a:prstGeom>
          <a:noFill/>
          <a:ln w="0">
            <a:noFill/>
          </a:ln>
        </p:spPr>
        <p:txBody>
          <a:bodyPr anchor="ctr">
            <a:noAutofit/>
          </a:bodyPr>
          <a:lstStyle/>
          <a:p>
            <a:pPr algn="l">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Local kind rehearsal: five 200-request samples per condition at concurrency 20. OBI resource totals cover two pods.</a:t>
            </a:r>
          </a:p>
        </p:txBody>
      </p:sp>
    </p:spTree>
    <p:extLst>
      <p:ext uri="{BB962C8B-B14F-4D97-AF65-F5344CB8AC3E}">
        <p14:creationId xmlns:p14="http://schemas.microsoft.com/office/powerpoint/2010/main" val="6173712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Beyond latency: checks before a wider rollout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extra CPU do apps and agents use?</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How much memory do agents and kernel BPF data use?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Missing data</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Are Hubble events or exported signals being lost?</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Data volume</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telemetry do you send and store?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Set acceptable limits, then compare OBI off with OBI on.</a:t>
            </a:r>
          </a:p>
        </p:txBody>
      </p:sp>
    </p:spTree>
    <p:extLst>
      <p:ext uri="{BB962C8B-B14F-4D97-AF65-F5344CB8AC3E}">
        <p14:creationId xmlns:p14="http://schemas.microsoft.com/office/powerpoint/2010/main" val="18828579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Production rollout</a:t>
            </a:r>
          </a:p>
        </p:txBody>
      </p:sp>
    </p:spTree>
    <p:extLst>
      <p:ext uri="{BB962C8B-B14F-4D97-AF65-F5344CB8AC3E}">
        <p14:creationId xmlns:p14="http://schemas.microsoft.com/office/powerpoint/2010/main" val="15902523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lide-title">
            <a:extLst>
              <a:ext uri="{FF2B5EF4-FFF2-40B4-BE49-F238E27FC236}">
                <a16:creationId xmlns:a16="http://schemas.microsoft.com/office/drawing/2014/main" id="{0804FCC2-7680-4AC0-BBC5-FBB9F3E982E3}"/>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How to roll out OBI gradually</a:t>
            </a:r>
          </a:p>
        </p:txBody>
      </p:sp>
      <p:sp>
        <p:nvSpPr>
          <p:cNvPr id="2" name="Rounded Rectangle 1">
            <a:extLst>
              <a:ext uri="{FF2B5EF4-FFF2-40B4-BE49-F238E27FC236}">
                <a16:creationId xmlns:a16="http://schemas.microsoft.com/office/drawing/2014/main" id="{698BD03A-070E-4088-91CA-DC458B098F6D}"/>
              </a:ext>
            </a:extLst>
          </p:cNvPr>
          <p:cNvSpPr>
            <a:spLocks noGrp="1"/>
          </p:cNvSpPr>
          <p:nvPr/>
        </p:nvSpPr>
        <p:spPr>
          <a:xfrm>
            <a:off x="1181100"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1</a:t>
            </a:r>
          </a:p>
        </p:txBody>
      </p:sp>
      <p:sp>
        <p:nvSpPr>
          <p:cNvPr id="3" name="Rounded Rectangle 2">
            <a:extLst>
              <a:ext uri="{FF2B5EF4-FFF2-40B4-BE49-F238E27FC236}">
                <a16:creationId xmlns:a16="http://schemas.microsoft.com/office/drawing/2014/main" id="{FB3120F1-0ED1-469F-BDF9-CC7EF00E3199}"/>
              </a:ext>
            </a:extLst>
          </p:cNvPr>
          <p:cNvSpPr>
            <a:spLocks noGrp="1"/>
          </p:cNvSpPr>
          <p:nvPr/>
        </p:nvSpPr>
        <p:spPr>
          <a:xfrm>
            <a:off x="495300"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Check nodes</a:t>
            </a:r>
          </a:p>
        </p:txBody>
      </p:sp>
      <p:sp>
        <p:nvSpPr>
          <p:cNvPr id="4" name="Rectangle 3">
            <a:extLst>
              <a:ext uri="{FF2B5EF4-FFF2-40B4-BE49-F238E27FC236}">
                <a16:creationId xmlns:a16="http://schemas.microsoft.com/office/drawing/2014/main" id="{9F1B11C9-9418-4A97-BB8C-E47A9A7B6BFF}"/>
              </a:ext>
            </a:extLst>
          </p:cNvPr>
          <p:cNvSpPr>
            <a:spLocks noGrp="1"/>
          </p:cNvSpPr>
          <p:nvPr/>
        </p:nvSpPr>
        <p:spPr>
          <a:xfrm>
            <a:off x="495300"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Kernel support,</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agent versions,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Cilium datapath</a:t>
            </a:r>
          </a:p>
        </p:txBody>
      </p:sp>
      <p:sp>
        <p:nvSpPr>
          <p:cNvPr id="5" name="Rounded Rectangle 4">
            <a:extLst>
              <a:ext uri="{FF2B5EF4-FFF2-40B4-BE49-F238E27FC236}">
                <a16:creationId xmlns:a16="http://schemas.microsoft.com/office/drawing/2014/main" id="{77283EF9-0DA7-4352-AC2C-4A111427C91E}"/>
              </a:ext>
            </a:extLst>
          </p:cNvPr>
          <p:cNvSpPr>
            <a:spLocks noGrp="1"/>
          </p:cNvSpPr>
          <p:nvPr/>
        </p:nvSpPr>
        <p:spPr>
          <a:xfrm>
            <a:off x="3514725"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2</a:t>
            </a:r>
          </a:p>
        </p:txBody>
      </p:sp>
      <p:sp>
        <p:nvSpPr>
          <p:cNvPr id="6" name="Rounded Rectangle 5">
            <a:extLst>
              <a:ext uri="{FF2B5EF4-FFF2-40B4-BE49-F238E27FC236}">
                <a16:creationId xmlns:a16="http://schemas.microsoft.com/office/drawing/2014/main" id="{31AE3182-7279-498E-A7D7-EB92A540F69D}"/>
              </a:ext>
            </a:extLst>
          </p:cNvPr>
          <p:cNvSpPr>
            <a:spLocks noGrp="1"/>
          </p:cNvSpPr>
          <p:nvPr/>
        </p:nvSpPr>
        <p:spPr>
          <a:xfrm>
            <a:off x="2828925"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Check config</a:t>
            </a:r>
          </a:p>
        </p:txBody>
      </p:sp>
      <p:sp>
        <p:nvSpPr>
          <p:cNvPr id="7" name="Rectangle 6">
            <a:extLst>
              <a:ext uri="{FF2B5EF4-FFF2-40B4-BE49-F238E27FC236}">
                <a16:creationId xmlns:a16="http://schemas.microsoft.com/office/drawing/2014/main" id="{35476832-7A0A-4A45-8FA2-5A422CB7CAA0}"/>
              </a:ext>
            </a:extLst>
          </p:cNvPr>
          <p:cNvSpPr>
            <a:spLocks noGrp="1"/>
          </p:cNvSpPr>
          <p:nvPr/>
        </p:nvSpPr>
        <p:spPr>
          <a:xfrm>
            <a:off x="2828925"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Permissions,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mounts,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attachment order</a:t>
            </a:r>
          </a:p>
        </p:txBody>
      </p:sp>
      <p:sp>
        <p:nvSpPr>
          <p:cNvPr id="8" name="Rounded Rectangle 7">
            <a:extLst>
              <a:ext uri="{FF2B5EF4-FFF2-40B4-BE49-F238E27FC236}">
                <a16:creationId xmlns:a16="http://schemas.microsoft.com/office/drawing/2014/main" id="{8D81A81D-A030-4FCD-806D-F92FD6797A24}"/>
              </a:ext>
            </a:extLst>
          </p:cNvPr>
          <p:cNvSpPr>
            <a:spLocks noGrp="1"/>
          </p:cNvSpPr>
          <p:nvPr/>
        </p:nvSpPr>
        <p:spPr>
          <a:xfrm>
            <a:off x="5848350"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3</a:t>
            </a:r>
          </a:p>
        </p:txBody>
      </p:sp>
      <p:sp>
        <p:nvSpPr>
          <p:cNvPr id="9" name="Rounded Rectangle 8">
            <a:extLst>
              <a:ext uri="{FF2B5EF4-FFF2-40B4-BE49-F238E27FC236}">
                <a16:creationId xmlns:a16="http://schemas.microsoft.com/office/drawing/2014/main" id="{B4BF8A64-F1F8-496B-AD30-EFFA1E22F3C1}"/>
              </a:ext>
            </a:extLst>
          </p:cNvPr>
          <p:cNvSpPr>
            <a:spLocks noGrp="1"/>
          </p:cNvSpPr>
          <p:nvPr/>
        </p:nvSpPr>
        <p:spPr>
          <a:xfrm>
            <a:off x="5162550"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Start small</a:t>
            </a:r>
          </a:p>
        </p:txBody>
      </p:sp>
      <p:sp>
        <p:nvSpPr>
          <p:cNvPr id="10" name="Rectangle 9">
            <a:extLst>
              <a:ext uri="{FF2B5EF4-FFF2-40B4-BE49-F238E27FC236}">
                <a16:creationId xmlns:a16="http://schemas.microsoft.com/office/drawing/2014/main" id="{B7354191-4C68-4286-B0CB-A2CBCAE7A6DE}"/>
              </a:ext>
            </a:extLst>
          </p:cNvPr>
          <p:cNvSpPr>
            <a:spLocks noGrp="1"/>
          </p:cNvSpPr>
          <p:nvPr/>
        </p:nvSpPr>
        <p:spPr>
          <a:xfrm>
            <a:off x="5162550"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 few selected nodes.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Keep rollback</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ready.</a:t>
            </a:r>
          </a:p>
        </p:txBody>
      </p:sp>
      <p:sp>
        <p:nvSpPr>
          <p:cNvPr id="11" name="Rounded Rectangle 10">
            <a:extLst>
              <a:ext uri="{FF2B5EF4-FFF2-40B4-BE49-F238E27FC236}">
                <a16:creationId xmlns:a16="http://schemas.microsoft.com/office/drawing/2014/main" id="{A718CAF2-5121-49EA-A878-4287C411D3DF}"/>
              </a:ext>
            </a:extLst>
          </p:cNvPr>
          <p:cNvSpPr>
            <a:spLocks noGrp="1"/>
          </p:cNvSpPr>
          <p:nvPr/>
        </p:nvSpPr>
        <p:spPr>
          <a:xfrm>
            <a:off x="8181975"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4</a:t>
            </a:r>
          </a:p>
        </p:txBody>
      </p:sp>
      <p:sp>
        <p:nvSpPr>
          <p:cNvPr id="12" name="Rounded Rectangle 11">
            <a:extLst>
              <a:ext uri="{FF2B5EF4-FFF2-40B4-BE49-F238E27FC236}">
                <a16:creationId xmlns:a16="http://schemas.microsoft.com/office/drawing/2014/main" id="{89DAFA5E-F22D-49BF-BDA0-446E1721FD8C}"/>
              </a:ext>
            </a:extLst>
          </p:cNvPr>
          <p:cNvSpPr>
            <a:spLocks noGrp="1"/>
          </p:cNvSpPr>
          <p:nvPr/>
        </p:nvSpPr>
        <p:spPr>
          <a:xfrm>
            <a:off x="7496175"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Test traffic</a:t>
            </a:r>
          </a:p>
        </p:txBody>
      </p:sp>
      <p:sp>
        <p:nvSpPr>
          <p:cNvPr id="13" name="Rectangle 12">
            <a:extLst>
              <a:ext uri="{FF2B5EF4-FFF2-40B4-BE49-F238E27FC236}">
                <a16:creationId xmlns:a16="http://schemas.microsoft.com/office/drawing/2014/main" id="{D82F6F63-443B-4774-81BA-BBEF0877C882}"/>
              </a:ext>
            </a:extLst>
          </p:cNvPr>
          <p:cNvSpPr>
            <a:spLocks noGrp="1"/>
          </p:cNvSpPr>
          <p:nvPr/>
        </p:nvSpPr>
        <p:spPr>
          <a:xfrm>
            <a:off x="7496175"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Same-node and</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cross-node calls,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allowed and denied</a:t>
            </a:r>
          </a:p>
        </p:txBody>
      </p:sp>
      <p:sp>
        <p:nvSpPr>
          <p:cNvPr id="14" name="Rounded Rectangle 13">
            <a:extLst>
              <a:ext uri="{FF2B5EF4-FFF2-40B4-BE49-F238E27FC236}">
                <a16:creationId xmlns:a16="http://schemas.microsoft.com/office/drawing/2014/main" id="{D2175F4C-7525-4FBF-BE5C-D89327EC2625}"/>
              </a:ext>
            </a:extLst>
          </p:cNvPr>
          <p:cNvSpPr>
            <a:spLocks noGrp="1"/>
          </p:cNvSpPr>
          <p:nvPr/>
        </p:nvSpPr>
        <p:spPr>
          <a:xfrm>
            <a:off x="10515600" y="1571625"/>
            <a:ext cx="590550" cy="381000"/>
          </a:xfrm>
          <a:prstGeom prst="roundRect">
            <a:avLst>
              <a:gd name="adj" fmla="val 20000"/>
            </a:avLst>
          </a:prstGeom>
          <a:solidFill>
            <a:srgbClr val="2DAA5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5</a:t>
            </a:r>
          </a:p>
        </p:txBody>
      </p:sp>
      <p:sp>
        <p:nvSpPr>
          <p:cNvPr id="15" name="Rounded Rectangle 14">
            <a:extLst>
              <a:ext uri="{FF2B5EF4-FFF2-40B4-BE49-F238E27FC236}">
                <a16:creationId xmlns:a16="http://schemas.microsoft.com/office/drawing/2014/main" id="{6CE53DC2-CA77-4D57-BF19-1957B258B104}"/>
              </a:ext>
            </a:extLst>
          </p:cNvPr>
          <p:cNvSpPr>
            <a:spLocks noGrp="1"/>
          </p:cNvSpPr>
          <p:nvPr/>
        </p:nvSpPr>
        <p:spPr>
          <a:xfrm>
            <a:off x="9829800" y="2238375"/>
            <a:ext cx="2000250" cy="838200"/>
          </a:xfrm>
          <a:prstGeom prst="roundRect">
            <a:avLst>
              <a:gd name="adj" fmla="val 9091"/>
            </a:avLst>
          </a:prstGeom>
          <a:solidFill>
            <a:srgbClr val="EAF7EF"/>
          </a:solidFill>
          <a:ln w="14288">
            <a:solidFill>
              <a:srgbClr val="2DAA5F"/>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Expand</a:t>
            </a:r>
          </a:p>
        </p:txBody>
      </p:sp>
      <p:sp>
        <p:nvSpPr>
          <p:cNvPr id="16" name="Rectangle 15">
            <a:extLst>
              <a:ext uri="{FF2B5EF4-FFF2-40B4-BE49-F238E27FC236}">
                <a16:creationId xmlns:a16="http://schemas.microsoft.com/office/drawing/2014/main" id="{2490163B-5B41-454E-B471-3248BDB5BC0B}"/>
              </a:ext>
            </a:extLst>
          </p:cNvPr>
          <p:cNvSpPr>
            <a:spLocks noGrp="1"/>
          </p:cNvSpPr>
          <p:nvPr/>
        </p:nvSpPr>
        <p:spPr>
          <a:xfrm>
            <a:off x="9829800"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Compare requests,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resources, and</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telemetry quality</a:t>
            </a:r>
          </a:p>
        </p:txBody>
      </p:sp>
      <p:cxnSp>
        <p:nvCxnSpPr>
          <p:cNvPr id="299" name="Straight Arrow Connector 38">
            <a:extLst>
              <a:ext uri="{FF2B5EF4-FFF2-40B4-BE49-F238E27FC236}">
                <a16:creationId xmlns:a16="http://schemas.microsoft.com/office/drawing/2014/main" id="{7B3B69E5-442B-4BA3-BEE9-E4D0B7DB7B99}"/>
              </a:ext>
            </a:extLst>
          </p:cNvPr>
          <p:cNvCxnSpPr>
            <a:stCxn id="3" idx="3"/>
            <a:endCxn id="6" idx="1"/>
          </p:cNvCxnSpPr>
          <p:nvPr/>
        </p:nvCxnSpPr>
        <p:spPr>
          <a:xfrm>
            <a:off x="2495550" y="2657475"/>
            <a:ext cx="333375" cy="0"/>
          </a:xfrm>
          <a:prstGeom prst="straightConnector1">
            <a:avLst/>
          </a:prstGeom>
          <a:ln w="19050">
            <a:solidFill>
              <a:srgbClr val="07182A"/>
            </a:solidFill>
            <a:prstDash val="solid"/>
            <a:tailEnd type="arrow" w="med" len="med"/>
          </a:ln>
        </p:spPr>
      </p:cxnSp>
      <p:cxnSp>
        <p:nvCxnSpPr>
          <p:cNvPr id="300" name="Straight Arrow Connector 39">
            <a:extLst>
              <a:ext uri="{FF2B5EF4-FFF2-40B4-BE49-F238E27FC236}">
                <a16:creationId xmlns:a16="http://schemas.microsoft.com/office/drawing/2014/main" id="{74D0A627-ABD3-4683-81CB-A3B63367B664}"/>
              </a:ext>
            </a:extLst>
          </p:cNvPr>
          <p:cNvCxnSpPr>
            <a:stCxn id="6" idx="3"/>
            <a:endCxn id="9" idx="1"/>
          </p:cNvCxnSpPr>
          <p:nvPr/>
        </p:nvCxnSpPr>
        <p:spPr>
          <a:xfrm>
            <a:off x="4829175" y="2657475"/>
            <a:ext cx="333375" cy="0"/>
          </a:xfrm>
          <a:prstGeom prst="straightConnector1">
            <a:avLst/>
          </a:prstGeom>
          <a:ln w="19050">
            <a:solidFill>
              <a:srgbClr val="07182A"/>
            </a:solidFill>
            <a:prstDash val="solid"/>
            <a:tailEnd type="arrow" w="med" len="med"/>
          </a:ln>
        </p:spPr>
      </p:cxnSp>
      <p:cxnSp>
        <p:nvCxnSpPr>
          <p:cNvPr id="301" name="Straight Arrow Connector 40">
            <a:extLst>
              <a:ext uri="{FF2B5EF4-FFF2-40B4-BE49-F238E27FC236}">
                <a16:creationId xmlns:a16="http://schemas.microsoft.com/office/drawing/2014/main" id="{51C97834-FDF8-45DD-91AD-89E6EC92F5C7}"/>
              </a:ext>
            </a:extLst>
          </p:cNvPr>
          <p:cNvCxnSpPr>
            <a:stCxn id="9" idx="3"/>
            <a:endCxn id="12" idx="1"/>
          </p:cNvCxnSpPr>
          <p:nvPr/>
        </p:nvCxnSpPr>
        <p:spPr>
          <a:xfrm>
            <a:off x="7162800" y="2657475"/>
            <a:ext cx="333375" cy="0"/>
          </a:xfrm>
          <a:prstGeom prst="straightConnector1">
            <a:avLst/>
          </a:prstGeom>
          <a:ln w="19050">
            <a:solidFill>
              <a:srgbClr val="07182A"/>
            </a:solidFill>
            <a:prstDash val="solid"/>
            <a:tailEnd type="arrow" w="med" len="med"/>
          </a:ln>
        </p:spPr>
      </p:cxnSp>
      <p:cxnSp>
        <p:nvCxnSpPr>
          <p:cNvPr id="302" name="Straight Arrow Connector 41">
            <a:extLst>
              <a:ext uri="{FF2B5EF4-FFF2-40B4-BE49-F238E27FC236}">
                <a16:creationId xmlns:a16="http://schemas.microsoft.com/office/drawing/2014/main" id="{B42F02B1-EA9D-4BB4-943C-B83A31595EA2}"/>
              </a:ext>
            </a:extLst>
          </p:cNvPr>
          <p:cNvCxnSpPr>
            <a:stCxn id="12" idx="3"/>
            <a:endCxn id="15" idx="1"/>
          </p:cNvCxnSpPr>
          <p:nvPr/>
        </p:nvCxnSpPr>
        <p:spPr>
          <a:xfrm>
            <a:off x="9496425" y="2657475"/>
            <a:ext cx="333375" cy="0"/>
          </a:xfrm>
          <a:prstGeom prst="straightConnector1">
            <a:avLst/>
          </a:prstGeom>
          <a:ln w="19050">
            <a:solidFill>
              <a:srgbClr val="07182A"/>
            </a:solidFill>
            <a:prstDash val="solid"/>
            <a:tailEnd type="arrow" w="med" len="med"/>
          </a:ln>
        </p:spPr>
      </p:cxnSp>
      <p:sp>
        <p:nvSpPr>
          <p:cNvPr id="21" name="Rounded Rectangle 20">
            <a:extLst>
              <a:ext uri="{FF2B5EF4-FFF2-40B4-BE49-F238E27FC236}">
                <a16:creationId xmlns:a16="http://schemas.microsoft.com/office/drawing/2014/main" id="{A8E5CA0D-8A5D-4BD3-A93D-56E4A51883CE}"/>
              </a:ext>
            </a:extLst>
          </p:cNvPr>
          <p:cNvSpPr>
            <a:spLocks noGrp="1"/>
          </p:cNvSpPr>
          <p:nvPr/>
        </p:nvSpPr>
        <p:spPr>
          <a:xfrm>
            <a:off x="1219200" y="4838700"/>
            <a:ext cx="9753600" cy="857250"/>
          </a:xfrm>
          <a:prstGeom prst="roundRect">
            <a:avLst>
              <a:gd name="adj" fmla="val 8889"/>
            </a:avLst>
          </a:prstGeom>
          <a:solidFill>
            <a:srgbClr val="F4F6F8"/>
          </a:solidFill>
          <a:ln w="14288">
            <a:solidFill>
              <a:srgbClr val="D6D6D6"/>
            </a:solidFill>
          </a:ln>
        </p:spPr>
        <p:txBody>
          <a:bodyPr/>
          <a:lstStyle/>
          <a:p>
            <a:endParaRPr/>
          </a:p>
        </p:txBody>
      </p:sp>
      <p:sp>
        <p:nvSpPr>
          <p:cNvPr id="22" name="Rectangle 21">
            <a:extLst>
              <a:ext uri="{FF2B5EF4-FFF2-40B4-BE49-F238E27FC236}">
                <a16:creationId xmlns:a16="http://schemas.microsoft.com/office/drawing/2014/main" id="{BFD370B6-619A-467A-BD71-9857194631E6}"/>
              </a:ext>
            </a:extLst>
          </p:cNvPr>
          <p:cNvSpPr>
            <a:spLocks noGrp="1"/>
          </p:cNvSpPr>
          <p:nvPr/>
        </p:nvSpPr>
        <p:spPr>
          <a:xfrm>
            <a:off x="1619250" y="5048250"/>
            <a:ext cx="8953500" cy="4762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Expand when the checks pass. If they fail, pause and restore the previous setup.</a:t>
            </a:r>
          </a:p>
        </p:txBody>
      </p:sp>
    </p:spTree>
    <p:extLst>
      <p:ext uri="{BB962C8B-B14F-4D97-AF65-F5344CB8AC3E}">
        <p14:creationId xmlns:p14="http://schemas.microsoft.com/office/powerpoint/2010/main" val="3158849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title">
            <a:extLst>
              <a:ext uri="{FF2B5EF4-FFF2-40B4-BE49-F238E27FC236}">
                <a16:creationId xmlns:a16="http://schemas.microsoft.com/office/drawing/2014/main" id="{99C880A8-3582-4338-BB63-C79554C56E94}"/>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a:ext uri="{FF2B5EF4-FFF2-40B4-BE49-F238E27FC236}">
                <a16:creationId xmlns:a16="http://schemas.microsoft.com/office/drawing/2014/main" id="{CEC07943-9C3B-4328-9CA2-532BB469DBA6}"/>
              </a:ext>
            </a:extLst>
          </p:cNvPr>
          <p:cNvSpPr>
            <a:spLocks noGrp="1"/>
          </p:cNvSpPr>
          <p:nvPr/>
        </p:nvSpPr>
        <p:spPr>
          <a:xfrm>
            <a:off x="781050" y="1524000"/>
            <a:ext cx="857250" cy="552450"/>
          </a:xfrm>
          <a:prstGeom prst="rect">
            <a:avLst/>
          </a:prstGeom>
          <a:noFill/>
          <a:ln w="0">
            <a:noFill/>
          </a:ln>
        </p:spPr>
        <p:txBody>
          <a:bodyPr anchor="t">
            <a:normAutofit/>
          </a:bodyPr>
          <a:lstStyle/>
          <a:p>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909DFF60-89E5-4A12-A77D-719A2348DAA4}"/>
              </a:ext>
            </a:extLst>
          </p:cNvPr>
          <p:cNvSpPr>
            <a:spLocks noGrp="1"/>
          </p:cNvSpPr>
          <p:nvPr/>
        </p:nvSpPr>
        <p:spPr>
          <a:xfrm>
            <a:off x="1905000" y="1524000"/>
            <a:ext cx="3905250" cy="438150"/>
          </a:xfrm>
          <a:prstGeom prst="rect">
            <a:avLst/>
          </a:prstGeom>
          <a:noFill/>
          <a:ln w="0">
            <a:noFill/>
          </a:ln>
        </p:spPr>
        <p:txBody>
          <a:bodyPr anchor="t">
            <a:normAutofit fontScale="94792" lnSpcReduction="10000"/>
          </a:bodyPr>
          <a:lstStyle/>
          <a:p>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Prefer TCX</a:t>
            </a:r>
          </a:p>
        </p:txBody>
      </p:sp>
      <p:sp>
        <p:nvSpPr>
          <p:cNvPr id="4" name="Rectangle 3">
            <a:extLst>
              <a:ext uri="{FF2B5EF4-FFF2-40B4-BE49-F238E27FC236}">
                <a16:creationId xmlns:a16="http://schemas.microsoft.com/office/drawing/2014/main" id="{1DED608B-AA10-4F56-83D1-A47EE6CD188F}"/>
              </a:ext>
            </a:extLst>
          </p:cNvPr>
          <p:cNvSpPr>
            <a:spLocks noGrp="1"/>
          </p:cNvSpPr>
          <p:nvPr/>
        </p:nvSpPr>
        <p:spPr>
          <a:xfrm>
            <a:off x="5953125" y="1543050"/>
            <a:ext cx="5429250" cy="6667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the live attach mode on every node pool.</a:t>
            </a:r>
          </a:p>
        </p:txBody>
      </p:sp>
      <p:sp>
        <p:nvSpPr>
          <p:cNvPr id="5" name="Rectangle 4">
            <a:extLst>
              <a:ext uri="{FF2B5EF4-FFF2-40B4-BE49-F238E27FC236}">
                <a16:creationId xmlns:a16="http://schemas.microsoft.com/office/drawing/2014/main" id="{B063BBC9-28E7-4543-A22D-F34BBD91DF39}"/>
              </a:ext>
            </a:extLst>
          </p:cNvPr>
          <p:cNvSpPr>
            <a:spLocks noGrp="1"/>
          </p:cNvSpPr>
          <p:nvPr/>
        </p:nvSpPr>
        <p:spPr>
          <a:xfrm>
            <a:off x="1905000" y="2333625"/>
            <a:ext cx="9477375"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7744041E-5BE1-4917-AB80-60DE28645E6A}"/>
              </a:ext>
            </a:extLst>
          </p:cNvPr>
          <p:cNvSpPr>
            <a:spLocks noGrp="1"/>
          </p:cNvSpPr>
          <p:nvPr/>
        </p:nvSpPr>
        <p:spPr>
          <a:xfrm>
            <a:off x="781050" y="2905125"/>
            <a:ext cx="857250" cy="552450"/>
          </a:xfrm>
          <a:prstGeom prst="rect">
            <a:avLst/>
          </a:prstGeom>
          <a:noFill/>
          <a:ln w="0">
            <a:noFill/>
          </a:ln>
        </p:spPr>
        <p:txBody>
          <a:bodyPr anchor="t">
            <a:normAutofit/>
          </a:bodyPr>
          <a:lstStyle/>
          <a:p>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FE853C3F-C124-4539-A207-DDBFF83B7A34}"/>
              </a:ext>
            </a:extLst>
          </p:cNvPr>
          <p:cNvSpPr>
            <a:spLocks noGrp="1"/>
          </p:cNvSpPr>
          <p:nvPr/>
        </p:nvSpPr>
        <p:spPr>
          <a:xfrm>
            <a:off x="1905000" y="2905125"/>
            <a:ext cx="3905250" cy="438150"/>
          </a:xfrm>
          <a:prstGeom prst="rect">
            <a:avLst/>
          </a:prstGeom>
          <a:noFill/>
          <a:ln w="0">
            <a:noFill/>
          </a:ln>
        </p:spPr>
        <p:txBody>
          <a:bodyPr anchor="t">
            <a:normAutofit fontScale="94792" lnSpcReduction="10000"/>
          </a:bodyPr>
          <a:lstStyle/>
          <a:p>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Make legacy order explicit</a:t>
            </a:r>
          </a:p>
        </p:txBody>
      </p:sp>
      <p:sp>
        <p:nvSpPr>
          <p:cNvPr id="8" name="Rectangle 7">
            <a:extLst>
              <a:ext uri="{FF2B5EF4-FFF2-40B4-BE49-F238E27FC236}">
                <a16:creationId xmlns:a16="http://schemas.microsoft.com/office/drawing/2014/main" id="{FC46DB99-40F6-4A65-86C7-09E7DE84F08A}"/>
              </a:ext>
            </a:extLst>
          </p:cNvPr>
          <p:cNvSpPr>
            <a:spLocks noGrp="1"/>
          </p:cNvSpPr>
          <p:nvPr/>
        </p:nvSpPr>
        <p:spPr>
          <a:xfrm>
            <a:off x="5953125" y="2924175"/>
            <a:ext cx="5429250" cy="6667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priority 1, Cilium above 1, fresh cluster for tests.</a:t>
            </a:r>
          </a:p>
        </p:txBody>
      </p:sp>
      <p:sp>
        <p:nvSpPr>
          <p:cNvPr id="9" name="Rectangle 8">
            <a:extLst>
              <a:ext uri="{FF2B5EF4-FFF2-40B4-BE49-F238E27FC236}">
                <a16:creationId xmlns:a16="http://schemas.microsoft.com/office/drawing/2014/main" id="{06E77A3C-525A-4F41-9208-7530006142A6}"/>
              </a:ext>
            </a:extLst>
          </p:cNvPr>
          <p:cNvSpPr>
            <a:spLocks noGrp="1"/>
          </p:cNvSpPr>
          <p:nvPr/>
        </p:nvSpPr>
        <p:spPr>
          <a:xfrm>
            <a:off x="1905000" y="3714750"/>
            <a:ext cx="9477375"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0733A2E0-4853-430E-B861-8F608C46153F}"/>
              </a:ext>
            </a:extLst>
          </p:cNvPr>
          <p:cNvSpPr>
            <a:spLocks noGrp="1"/>
          </p:cNvSpPr>
          <p:nvPr/>
        </p:nvSpPr>
        <p:spPr>
          <a:xfrm>
            <a:off x="781050" y="4286250"/>
            <a:ext cx="857250" cy="552450"/>
          </a:xfrm>
          <a:prstGeom prst="rect">
            <a:avLst/>
          </a:prstGeom>
          <a:noFill/>
          <a:ln w="0">
            <a:noFill/>
          </a:ln>
        </p:spPr>
        <p:txBody>
          <a:bodyPr anchor="t">
            <a:normAutofit/>
          </a:bodyPr>
          <a:lstStyle/>
          <a:p>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5C6F9620-6253-4E71-BDCC-B3879164F272}"/>
              </a:ext>
            </a:extLst>
          </p:cNvPr>
          <p:cNvSpPr>
            <a:spLocks noGrp="1"/>
          </p:cNvSpPr>
          <p:nvPr/>
        </p:nvSpPr>
        <p:spPr>
          <a:xfrm>
            <a:off x="1905000" y="4286250"/>
            <a:ext cx="3905250" cy="438150"/>
          </a:xfrm>
          <a:prstGeom prst="rect">
            <a:avLst/>
          </a:prstGeom>
          <a:noFill/>
          <a:ln w="0">
            <a:noFill/>
          </a:ln>
        </p:spPr>
        <p:txBody>
          <a:bodyPr anchor="t">
            <a:normAutofit fontScale="70461" lnSpcReduction="20000"/>
          </a:bodyPr>
          <a:lstStyle/>
          <a:p>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Correlate complementary signals</a:t>
            </a:r>
          </a:p>
        </p:txBody>
      </p:sp>
      <p:sp>
        <p:nvSpPr>
          <p:cNvPr id="12" name="Rectangle 11">
            <a:extLst>
              <a:ext uri="{FF2B5EF4-FFF2-40B4-BE49-F238E27FC236}">
                <a16:creationId xmlns:a16="http://schemas.microsoft.com/office/drawing/2014/main" id="{042175F6-EADD-46D7-BB92-94092EF9F2DD}"/>
              </a:ext>
            </a:extLst>
          </p:cNvPr>
          <p:cNvSpPr>
            <a:spLocks noGrp="1"/>
          </p:cNvSpPr>
          <p:nvPr/>
        </p:nvSpPr>
        <p:spPr>
          <a:xfrm>
            <a:off x="5953125" y="4305300"/>
            <a:ext cx="5429250" cy="6667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owns application evidence. Hubble owns network and policy evidence.</a:t>
            </a:r>
          </a:p>
        </p:txBody>
      </p:sp>
      <p:sp>
        <p:nvSpPr>
          <p:cNvPr id="13" name="Rectangle 12">
            <a:extLst>
              <a:ext uri="{FF2B5EF4-FFF2-40B4-BE49-F238E27FC236}">
                <a16:creationId xmlns:a16="http://schemas.microsoft.com/office/drawing/2014/main" id="{6DB2593E-1A84-4909-8DB4-F01E41F71A0B}"/>
              </a:ext>
            </a:extLst>
          </p:cNvPr>
          <p:cNvSpPr>
            <a:spLocks noGrp="1"/>
          </p:cNvSpPr>
          <p:nvPr/>
        </p:nvSpPr>
        <p:spPr>
          <a:xfrm>
            <a:off x="1905000" y="5095875"/>
            <a:ext cx="9477375"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910555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Questions?</a:t>
            </a:r>
          </a:p>
        </p:txBody>
      </p:sp>
      <p:sp>
        <p:nvSpPr>
          <p:cNvPr id="2" name="Rectangle 1">
            <a:extLst>
              <a:ext uri="{FF2B5EF4-FFF2-40B4-BE49-F238E27FC236}">
                <a16:creationId xmlns:a16="http://schemas.microsoft.com/office/drawing/2014/main" id="{BC8C757A-EBAE-41DF-8024-5D93DDCB99F8}"/>
              </a:ext>
            </a:extLst>
          </p:cNvPr>
          <p:cNvSpPr>
            <a:spLocks noGrp="1"/>
          </p:cNvSpPr>
          <p:nvPr/>
        </p:nvSpPr>
        <p:spPr>
          <a:xfrm>
            <a:off x="342900" y="4171950"/>
            <a:ext cx="6191250" cy="323850"/>
          </a:xfrm>
          <a:prstGeom prst="rect">
            <a:avLst/>
          </a:prstGeom>
          <a:noFill/>
          <a:ln w="0">
            <a:noFill/>
          </a:ln>
        </p:spPr>
        <p:txBody>
          <a:bodyPr anchor="t">
            <a:normAutofit/>
          </a:bodyPr>
          <a:lstStyle/>
          <a:p>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a:ext uri="{FF2B5EF4-FFF2-40B4-BE49-F238E27FC236}">
                <a16:creationId xmlns:a16="http://schemas.microsoft.com/office/drawing/2014/main" id="{5951CB9B-0C39-48E6-A009-6394EAA31EF3}"/>
              </a:ext>
            </a:extLst>
          </p:cNvPr>
          <p:cNvSpPr>
            <a:spLocks noGrp="1"/>
          </p:cNvSpPr>
          <p:nvPr/>
        </p:nvSpPr>
        <p:spPr>
          <a:xfrm>
            <a:off x="342900" y="45910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Appendix</a:t>
            </a:r>
          </a:p>
        </p:txBody>
      </p:sp>
    </p:spTree>
    <p:extLst>
      <p:ext uri="{BB962C8B-B14F-4D97-AF65-F5344CB8AC3E}">
        <p14:creationId xmlns:p14="http://schemas.microsoft.com/office/powerpoint/2010/main" val="12725986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55F6433C-CB26-4D0A-AE41-4FF35BCEE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a:ext uri="{FF2B5EF4-FFF2-40B4-BE49-F238E27FC236}">
                <a16:creationId xmlns:a16="http://schemas.microsoft.com/office/drawing/2014/main" id="{2BBB1705-8A86-4DED-B223-99D39B18DAC1}"/>
              </a:ext>
            </a:extLst>
          </p:cNvPr>
          <p:cNvSpPr>
            <a:spLocks noGrp="1"/>
          </p:cNvSpPr>
          <p:nvPr/>
        </p:nvSpPr>
        <p:spPr>
          <a:xfrm>
            <a:off x="762000" y="1476375"/>
            <a:ext cx="4381500" cy="361950"/>
          </a:xfrm>
          <a:prstGeom prst="rect">
            <a:avLst/>
          </a:prstGeom>
          <a:noFill/>
          <a:ln w="0">
            <a:noFill/>
          </a:ln>
        </p:spPr>
        <p:txBody>
          <a:bodyPr anchor="t">
            <a:normAutofit fontScale="94667" lnSpcReduction="10000"/>
          </a:bodyPr>
          <a:lstStyle/>
          <a:p>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a:ext uri="{FF2B5EF4-FFF2-40B4-BE49-F238E27FC236}">
                <a16:creationId xmlns:a16="http://schemas.microsoft.com/office/drawing/2014/main" id="{36A08832-E9C7-47D2-A011-593E535AAA7B}"/>
              </a:ext>
            </a:extLst>
          </p:cNvPr>
          <p:cNvSpPr>
            <a:spLocks noGrp="1"/>
          </p:cNvSpPr>
          <p:nvPr/>
        </p:nvSpPr>
        <p:spPr>
          <a:xfrm>
            <a:off x="666750" y="1952625"/>
            <a:ext cx="4953000" cy="3238500"/>
          </a:xfrm>
          <a:prstGeom prst="roundRect">
            <a:avLst>
              <a:gd name="adj" fmla="val 2353"/>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6B685953-4679-4CFB-B385-330DB1330E0D}"/>
              </a:ext>
            </a:extLst>
          </p:cNvPr>
          <p:cNvSpPr>
            <a:spLocks noGrp="1"/>
          </p:cNvSpPr>
          <p:nvPr/>
        </p:nvSpPr>
        <p:spPr>
          <a:xfrm>
            <a:off x="9525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a:ext uri="{FF2B5EF4-FFF2-40B4-BE49-F238E27FC236}">
                <a16:creationId xmlns:a16="http://schemas.microsoft.com/office/drawing/2014/main" id="{E9D345F3-1A50-410B-9B68-B7CF81838A24}"/>
              </a:ext>
            </a:extLst>
          </p:cNvPr>
          <p:cNvSpPr>
            <a:spLocks noGrp="1"/>
          </p:cNvSpPr>
          <p:nvPr/>
        </p:nvSpPr>
        <p:spPr>
          <a:xfrm>
            <a:off x="6667500" y="1476375"/>
            <a:ext cx="4381500" cy="361950"/>
          </a:xfrm>
          <a:prstGeom prst="rect">
            <a:avLst/>
          </a:prstGeom>
          <a:noFill/>
          <a:ln w="0">
            <a:noFill/>
          </a:ln>
        </p:spPr>
        <p:txBody>
          <a:bodyPr anchor="t">
            <a:normAutofit fontScale="94667" lnSpcReduction="10000"/>
          </a:bodyPr>
          <a:lstStyle/>
          <a:p>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a:ext uri="{FF2B5EF4-FFF2-40B4-BE49-F238E27FC236}">
                <a16:creationId xmlns:a16="http://schemas.microsoft.com/office/drawing/2014/main" id="{D44BA46C-BFED-4D9B-A5F4-F9CD194CBD79}"/>
              </a:ext>
            </a:extLst>
          </p:cNvPr>
          <p:cNvSpPr>
            <a:spLocks noGrp="1"/>
          </p:cNvSpPr>
          <p:nvPr/>
        </p:nvSpPr>
        <p:spPr>
          <a:xfrm>
            <a:off x="6572250" y="1952625"/>
            <a:ext cx="4953000" cy="3238500"/>
          </a:xfrm>
          <a:prstGeom prst="roundRect">
            <a:avLst>
              <a:gd name="adj" fmla="val 2353"/>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0A0F2876-B73E-4290-B890-24B0769B6DB0}"/>
              </a:ext>
            </a:extLst>
          </p:cNvPr>
          <p:cNvSpPr>
            <a:spLocks noGrp="1"/>
          </p:cNvSpPr>
          <p:nvPr/>
        </p:nvSpPr>
        <p:spPr>
          <a:xfrm>
            <a:off x="68580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1E704E87-FA42-4867-BF91-1B0EF834CA18}"/>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a:ext uri="{FF2B5EF4-FFF2-40B4-BE49-F238E27FC236}">
                <a16:creationId xmlns:a16="http://schemas.microsoft.com/office/drawing/2014/main" id="{2CCF09E8-8C11-4F59-A93A-5A3A86356FF3}"/>
              </a:ext>
            </a:extLst>
          </p:cNvPr>
          <p:cNvSpPr>
            <a:spLocks noGrp="1"/>
          </p:cNvSpPr>
          <p:nvPr/>
        </p:nvSpPr>
        <p:spPr>
          <a:xfrm>
            <a:off x="762000" y="1524000"/>
            <a:ext cx="2286000" cy="381000"/>
          </a:xfrm>
          <a:prstGeom prst="rect">
            <a:avLst/>
          </a:prstGeom>
          <a:noFill/>
          <a:ln w="0">
            <a:noFill/>
          </a:ln>
        </p:spPr>
        <p:txBody>
          <a:bodyPr anchor="t">
            <a:normAutofit fontScale="90476"/>
          </a:bodyPr>
          <a:lstStyle/>
          <a:p>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a:ext uri="{FF2B5EF4-FFF2-40B4-BE49-F238E27FC236}">
                <a16:creationId xmlns:a16="http://schemas.microsoft.com/office/drawing/2014/main" id="{5907EAE3-6165-4F87-AA66-85E26ACC31D0}"/>
              </a:ext>
            </a:extLst>
          </p:cNvPr>
          <p:cNvSpPr>
            <a:spLocks noGrp="1"/>
          </p:cNvSpPr>
          <p:nvPr/>
        </p:nvSpPr>
        <p:spPr>
          <a:xfrm>
            <a:off x="666750" y="2047875"/>
            <a:ext cx="4953000" cy="2381250"/>
          </a:xfrm>
          <a:prstGeom prst="roundRect">
            <a:avLst>
              <a:gd name="adj" fmla="val 3200"/>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13B743AC-83DB-4A26-B67E-90D382AF8A36}"/>
              </a:ext>
            </a:extLst>
          </p:cNvPr>
          <p:cNvSpPr>
            <a:spLocks noGrp="1"/>
          </p:cNvSpPr>
          <p:nvPr/>
        </p:nvSpPr>
        <p:spPr>
          <a:xfrm>
            <a:off x="1000125" y="2381250"/>
            <a:ext cx="4286250" cy="1809750"/>
          </a:xfrm>
          <a:prstGeom prst="rect">
            <a:avLst/>
          </a:prstGeom>
          <a:noFill/>
          <a:ln w="0">
            <a:noFill/>
          </a:ln>
        </p:spPr>
        <p:txBody>
          <a:bodyPr anchor="t">
            <a:normAutofit fontScale="93375"/>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a:ext uri="{FF2B5EF4-FFF2-40B4-BE49-F238E27FC236}">
                <a16:creationId xmlns:a16="http://schemas.microsoft.com/office/drawing/2014/main" id="{8C3868CB-8EE0-4796-A81A-5A11795DB81E}"/>
              </a:ext>
            </a:extLst>
          </p:cNvPr>
          <p:cNvSpPr>
            <a:spLocks noGrp="1"/>
          </p:cNvSpPr>
          <p:nvPr/>
        </p:nvSpPr>
        <p:spPr>
          <a:xfrm>
            <a:off x="6667500" y="1524000"/>
            <a:ext cx="2286000" cy="381000"/>
          </a:xfrm>
          <a:prstGeom prst="rect">
            <a:avLst/>
          </a:prstGeom>
          <a:noFill/>
          <a:ln w="0">
            <a:noFill/>
          </a:ln>
        </p:spPr>
        <p:txBody>
          <a:bodyPr anchor="t">
            <a:normAutofit fontScale="90476"/>
          </a:bodyPr>
          <a:lstStyle/>
          <a:p>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a:ext uri="{FF2B5EF4-FFF2-40B4-BE49-F238E27FC236}">
                <a16:creationId xmlns:a16="http://schemas.microsoft.com/office/drawing/2014/main" id="{C8DE72C8-AAE3-4CFB-9DD1-D44B49841286}"/>
              </a:ext>
            </a:extLst>
          </p:cNvPr>
          <p:cNvSpPr>
            <a:spLocks noGrp="1"/>
          </p:cNvSpPr>
          <p:nvPr/>
        </p:nvSpPr>
        <p:spPr>
          <a:xfrm>
            <a:off x="6572250" y="2047875"/>
            <a:ext cx="4953000" cy="2381250"/>
          </a:xfrm>
          <a:prstGeom prst="roundRect">
            <a:avLst>
              <a:gd name="adj" fmla="val 3200"/>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6BC613BF-CFBF-4DFA-B6CF-E61E44E183AE}"/>
              </a:ext>
            </a:extLst>
          </p:cNvPr>
          <p:cNvSpPr>
            <a:spLocks noGrp="1"/>
          </p:cNvSpPr>
          <p:nvPr/>
        </p:nvSpPr>
        <p:spPr>
          <a:xfrm>
            <a:off x="6905625" y="2381250"/>
            <a:ext cx="4286250" cy="1809750"/>
          </a:xfrm>
          <a:prstGeom prst="rect">
            <a:avLst/>
          </a:prstGeom>
          <a:noFill/>
          <a:ln w="0">
            <a:noFill/>
          </a:ln>
        </p:spPr>
        <p:txBody>
          <a:bodyPr anchor="t">
            <a:normAutofit/>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a:ext uri="{FF2B5EF4-FFF2-40B4-BE49-F238E27FC236}">
                <a16:creationId xmlns:a16="http://schemas.microsoft.com/office/drawing/2014/main" id="{18C77665-A3C8-480B-8369-CF2DE41C64A9}"/>
              </a:ext>
            </a:extLst>
          </p:cNvPr>
          <p:cNvSpPr>
            <a:spLocks noGrp="1"/>
          </p:cNvSpPr>
          <p:nvPr/>
        </p:nvSpPr>
        <p:spPr>
          <a:xfrm>
            <a:off x="1381125" y="5000625"/>
            <a:ext cx="9429750" cy="685800"/>
          </a:xfrm>
          <a:prstGeom prst="roundRect">
            <a:avLst>
              <a:gd name="adj" fmla="val 11111"/>
            </a:avLst>
          </a:prstGeom>
          <a:solidFill>
            <a:srgbClr val="FDEDEF"/>
          </a:solidFill>
          <a:ln w="14288">
            <a:solidFill>
              <a:srgbClr val="E84551"/>
            </a:solidFill>
          </a:ln>
        </p:spPr>
        <p:txBody>
          <a:bodyPr/>
          <a:lstStyle/>
          <a:p>
            <a:endParaRPr/>
          </a:p>
        </p:txBody>
      </p:sp>
      <p:sp>
        <p:nvSpPr>
          <p:cNvPr id="9" name="Rectangle 8">
            <a:extLst>
              <a:ext uri="{FF2B5EF4-FFF2-40B4-BE49-F238E27FC236}">
                <a16:creationId xmlns:a16="http://schemas.microsoft.com/office/drawing/2014/main" id="{610201BF-2231-4218-9B64-CF8BA5B9CCE8}"/>
              </a:ext>
            </a:extLst>
          </p:cNvPr>
          <p:cNvSpPr>
            <a:spLocks noGrp="1"/>
          </p:cNvSpPr>
          <p:nvPr/>
        </p:nvSpPr>
        <p:spPr>
          <a:xfrm>
            <a:off x="1714500" y="5172075"/>
            <a:ext cx="8763000" cy="342900"/>
          </a:xfrm>
          <a:prstGeom prst="rect">
            <a:avLst/>
          </a:prstGeom>
          <a:noFill/>
          <a:ln w="0">
            <a:noFill/>
          </a:ln>
        </p:spPr>
        <p:txBody>
          <a:bodyPr anchor="t">
            <a:normAutofit fontScale="91667" lnSpcReduction="10000"/>
          </a:bodyPr>
          <a:lstStyle/>
          <a:p>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title">
            <a:extLst>
              <a:ext uri="{FF2B5EF4-FFF2-40B4-BE49-F238E27FC236}">
                <a16:creationId xmlns:a16="http://schemas.microsoft.com/office/drawing/2014/main" id="{BC8DF3A4-C2E0-4887-91E4-22E4D522A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a:ext uri="{FF2B5EF4-FFF2-40B4-BE49-F238E27FC236}">
                <a16:creationId xmlns:a16="http://schemas.microsoft.com/office/drawing/2014/main" id="{891FC69C-2698-4739-9917-0845E190AC3B}"/>
              </a:ext>
            </a:extLst>
          </p:cNvPr>
          <p:cNvSpPr>
            <a:spLocks noGrp="1"/>
          </p:cNvSpPr>
          <p:nvPr/>
        </p:nvSpPr>
        <p:spPr>
          <a:xfrm>
            <a:off x="619125" y="1428750"/>
            <a:ext cx="10953750" cy="4191000"/>
          </a:xfrm>
          <a:prstGeom prst="roundRect">
            <a:avLst>
              <a:gd name="adj" fmla="val 1818"/>
            </a:avLst>
          </a:prstGeom>
          <a:solidFill>
            <a:srgbClr val="07182A"/>
          </a:solidFill>
          <a:ln w="0">
            <a:noFill/>
          </a:ln>
        </p:spPr>
        <p:txBody>
          <a:bodyPr/>
          <a:lstStyle/>
          <a:p>
            <a:endParaRPr/>
          </a:p>
        </p:txBody>
      </p:sp>
      <p:sp>
        <p:nvSpPr>
          <p:cNvPr id="3" name="Rectangle 2">
            <a:extLst>
              <a:ext uri="{FF2B5EF4-FFF2-40B4-BE49-F238E27FC236}">
                <a16:creationId xmlns:a16="http://schemas.microsoft.com/office/drawing/2014/main" id="{83E4496E-97B3-4383-8BB0-D04A4EB4590D}"/>
              </a:ext>
            </a:extLst>
          </p:cNvPr>
          <p:cNvSpPr>
            <a:spLocks noGrp="1"/>
          </p:cNvSpPr>
          <p:nvPr/>
        </p:nvSpPr>
        <p:spPr>
          <a:xfrm>
            <a:off x="904875" y="1695450"/>
            <a:ext cx="10382250" cy="3619500"/>
          </a:xfrm>
          <a:prstGeom prst="rect">
            <a:avLst/>
          </a:prstGeom>
          <a:noFill/>
          <a:ln w="0">
            <a:noFill/>
          </a:ln>
        </p:spPr>
        <p:txBody>
          <a:bodyPr anchor="t">
            <a:normAutofit/>
          </a:bodyPr>
          <a:lstStyle/>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3A267A90-7E0F-431B-B01D-79795EFA10F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a:ext uri="{FF2B5EF4-FFF2-40B4-BE49-F238E27FC236}">
                <a16:creationId xmlns:a16="http://schemas.microsoft.com/office/drawing/2014/main" id="{7BC9D01D-F271-48CA-82B5-FD5FEA43234D}"/>
              </a:ext>
            </a:extLst>
          </p:cNvPr>
          <p:cNvSpPr>
            <a:spLocks noGrp="1"/>
          </p:cNvSpPr>
          <p:nvPr/>
        </p:nvSpPr>
        <p:spPr>
          <a:xfrm>
            <a:off x="704850" y="14287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a:ext uri="{FF2B5EF4-FFF2-40B4-BE49-F238E27FC236}">
                <a16:creationId xmlns:a16="http://schemas.microsoft.com/office/drawing/2014/main" id="{88C0225C-BB8E-4315-B094-C26C786C1505}"/>
              </a:ext>
            </a:extLst>
          </p:cNvPr>
          <p:cNvSpPr>
            <a:spLocks noGrp="1"/>
          </p:cNvSpPr>
          <p:nvPr/>
        </p:nvSpPr>
        <p:spPr>
          <a:xfrm>
            <a:off x="4762500" y="14287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a:ext uri="{FF2B5EF4-FFF2-40B4-BE49-F238E27FC236}">
                <a16:creationId xmlns:a16="http://schemas.microsoft.com/office/drawing/2014/main" id="{46F86A9B-7518-477D-8371-09C0FF9DA4C6}"/>
              </a:ext>
            </a:extLst>
          </p:cNvPr>
          <p:cNvSpPr>
            <a:spLocks noGrp="1"/>
          </p:cNvSpPr>
          <p:nvPr/>
        </p:nvSpPr>
        <p:spPr>
          <a:xfrm>
            <a:off x="704850" y="2057400"/>
            <a:ext cx="107251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9CBE9238-6250-458A-B61C-C3B71FCFAB6D}"/>
              </a:ext>
            </a:extLst>
          </p:cNvPr>
          <p:cNvSpPr>
            <a:spLocks noGrp="1"/>
          </p:cNvSpPr>
          <p:nvPr/>
        </p:nvSpPr>
        <p:spPr>
          <a:xfrm>
            <a:off x="704850" y="23431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a:ext uri="{FF2B5EF4-FFF2-40B4-BE49-F238E27FC236}">
                <a16:creationId xmlns:a16="http://schemas.microsoft.com/office/drawing/2014/main" id="{391A7F44-41D9-4C2C-88FD-E46616DB2DE7}"/>
              </a:ext>
            </a:extLst>
          </p:cNvPr>
          <p:cNvSpPr>
            <a:spLocks noGrp="1"/>
          </p:cNvSpPr>
          <p:nvPr/>
        </p:nvSpPr>
        <p:spPr>
          <a:xfrm>
            <a:off x="4762500" y="23431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a:ext uri="{FF2B5EF4-FFF2-40B4-BE49-F238E27FC236}">
                <a16:creationId xmlns:a16="http://schemas.microsoft.com/office/drawing/2014/main" id="{61F7E82D-BB4C-4152-9B59-DE43B3E5835F}"/>
              </a:ext>
            </a:extLst>
          </p:cNvPr>
          <p:cNvSpPr>
            <a:spLocks noGrp="1"/>
          </p:cNvSpPr>
          <p:nvPr/>
        </p:nvSpPr>
        <p:spPr>
          <a:xfrm>
            <a:off x="704850" y="2971800"/>
            <a:ext cx="107251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1A022AE0-D7F1-4657-B87C-172F6A75F1CD}"/>
              </a:ext>
            </a:extLst>
          </p:cNvPr>
          <p:cNvSpPr>
            <a:spLocks noGrp="1"/>
          </p:cNvSpPr>
          <p:nvPr/>
        </p:nvSpPr>
        <p:spPr>
          <a:xfrm>
            <a:off x="704850" y="32575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a:ext uri="{FF2B5EF4-FFF2-40B4-BE49-F238E27FC236}">
                <a16:creationId xmlns:a16="http://schemas.microsoft.com/office/drawing/2014/main" id="{029BA163-5567-49D7-B1E2-E102CFE84D6C}"/>
              </a:ext>
            </a:extLst>
          </p:cNvPr>
          <p:cNvSpPr>
            <a:spLocks noGrp="1"/>
          </p:cNvSpPr>
          <p:nvPr/>
        </p:nvSpPr>
        <p:spPr>
          <a:xfrm>
            <a:off x="4762500" y="32575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a:ext uri="{FF2B5EF4-FFF2-40B4-BE49-F238E27FC236}">
                <a16:creationId xmlns:a16="http://schemas.microsoft.com/office/drawing/2014/main" id="{36432816-7270-4F8D-A86B-96323A4C3C64}"/>
              </a:ext>
            </a:extLst>
          </p:cNvPr>
          <p:cNvSpPr>
            <a:spLocks noGrp="1"/>
          </p:cNvSpPr>
          <p:nvPr/>
        </p:nvSpPr>
        <p:spPr>
          <a:xfrm>
            <a:off x="704850" y="3886200"/>
            <a:ext cx="107251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07DEE192-030E-4C63-A9F0-16A01CCC2594}"/>
              </a:ext>
            </a:extLst>
          </p:cNvPr>
          <p:cNvSpPr>
            <a:spLocks noGrp="1"/>
          </p:cNvSpPr>
          <p:nvPr/>
        </p:nvSpPr>
        <p:spPr>
          <a:xfrm>
            <a:off x="704850" y="41719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a:ext uri="{FF2B5EF4-FFF2-40B4-BE49-F238E27FC236}">
                <a16:creationId xmlns:a16="http://schemas.microsoft.com/office/drawing/2014/main" id="{7370FFF2-3ED6-4C3A-86B4-746523C00575}"/>
              </a:ext>
            </a:extLst>
          </p:cNvPr>
          <p:cNvSpPr>
            <a:spLocks noGrp="1"/>
          </p:cNvSpPr>
          <p:nvPr/>
        </p:nvSpPr>
        <p:spPr>
          <a:xfrm>
            <a:off x="4762500" y="41719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a:ext uri="{FF2B5EF4-FFF2-40B4-BE49-F238E27FC236}">
                <a16:creationId xmlns:a16="http://schemas.microsoft.com/office/drawing/2014/main" id="{DE124862-6752-4B9A-A585-671E22DE93DE}"/>
              </a:ext>
            </a:extLst>
          </p:cNvPr>
          <p:cNvSpPr>
            <a:spLocks noGrp="1"/>
          </p:cNvSpPr>
          <p:nvPr/>
        </p:nvSpPr>
        <p:spPr>
          <a:xfrm>
            <a:off x="704850" y="4800600"/>
            <a:ext cx="107251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1BC665E-786D-450B-8DA1-41FADD2FE3D9}"/>
              </a:ext>
            </a:extLst>
          </p:cNvPr>
          <p:cNvSpPr>
            <a:spLocks noGrp="1"/>
          </p:cNvSpPr>
          <p:nvPr/>
        </p:nvSpPr>
        <p:spPr>
          <a:xfrm>
            <a:off x="704850" y="50863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a:ext uri="{FF2B5EF4-FFF2-40B4-BE49-F238E27FC236}">
                <a16:creationId xmlns:a16="http://schemas.microsoft.com/office/drawing/2014/main" id="{4AABD6C3-BC2A-444C-A465-1CA0388CD24D}"/>
              </a:ext>
            </a:extLst>
          </p:cNvPr>
          <p:cNvSpPr>
            <a:spLocks noGrp="1"/>
          </p:cNvSpPr>
          <p:nvPr/>
        </p:nvSpPr>
        <p:spPr>
          <a:xfrm>
            <a:off x="4762500" y="50863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a:ext uri="{FF2B5EF4-FFF2-40B4-BE49-F238E27FC236}">
                <a16:creationId xmlns:a16="http://schemas.microsoft.com/office/drawing/2014/main" id="{0E0A2586-884B-46E8-A1F6-A5FA243B5CDC}"/>
              </a:ext>
            </a:extLst>
          </p:cNvPr>
          <p:cNvSpPr>
            <a:spLocks noGrp="1"/>
          </p:cNvSpPr>
          <p:nvPr/>
        </p:nvSpPr>
        <p:spPr>
          <a:xfrm>
            <a:off x="704850" y="5715000"/>
            <a:ext cx="10725150"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1440942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A138CB-AF2D-4EA0-BDDD-BF610034F744}"/>
              </a:ext>
            </a:extLst>
          </p:cNvPr>
          <p:cNvSpPr>
            <a:spLocks noGrp="1"/>
          </p:cNvSpPr>
          <p:nvPr/>
        </p:nvSpPr>
        <p:spPr>
          <a:xfrm>
            <a:off x="0" y="0"/>
            <a:ext cx="9525" cy="95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900850316"/>
      </p:ext>
    </p:extLst>
  </p:cSld>
  <p:clrMapOvr>
    <a:masterClrMapping/>
  </p:clrMapOvr>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otalTime>34</TotalTime>
  <Words>7042</Words>
  <Application>Microsoft Macintosh PowerPoint</Application>
  <DocSecurity>0</DocSecurity>
  <PresentationFormat>Widescreen</PresentationFormat>
  <Paragraphs>656</Paragraphs>
  <Slides>36</Slides>
  <Notes>36</Notes>
  <HiddenSlides>1</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Calibri</vt:lpstr>
      <vt:lpstr>CiscoSansTT Medium</vt:lpstr>
      <vt:lpstr>Arial</vt:lpstr>
      <vt:lpstr>CiscoSansTT</vt:lpstr>
      <vt:lpstr>Cisco Light 05-21-2025</vt:lpstr>
      <vt:lpstr>Two eBPF Systems, One Kubernetes Node</vt:lpstr>
      <vt:lpstr>PowerPoint Presentation</vt:lpstr>
      <vt:lpstr>PowerPoint Presentation</vt:lpstr>
      <vt:lpstr>PowerPoint Presentation</vt:lpstr>
      <vt:lpstr>The coexistence problem</vt:lpstr>
      <vt:lpstr>PowerPoint Presentation</vt:lpstr>
      <vt:lpstr>PowerPoint Presentation</vt:lpstr>
      <vt:lpstr>PowerPoint Presentation</vt:lpstr>
      <vt:lpstr>PowerPoint Presentation</vt:lpstr>
      <vt:lpstr>Attachment order</vt:lpstr>
      <vt:lpstr>PowerPoint Presentation</vt:lpstr>
      <vt:lpstr>PowerPoint Presentation</vt:lpstr>
      <vt:lpstr>PowerPoint Presentation</vt:lpstr>
      <vt:lpstr>Live demo: one request, two views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Measure the combined system</vt:lpstr>
      <vt:lpstr>PowerPoint Presentation</vt:lpstr>
      <vt:lpstr>PowerPoint Presentation</vt:lpstr>
      <vt:lpstr>PowerPoint Presentation</vt:lpstr>
      <vt:lpstr>Production rollout</vt:lpstr>
      <vt:lpstr>PowerPoint Presentation</vt:lpstr>
      <vt:lpstr>PowerPoint Presentation</vt:lpstr>
      <vt:lpstr>Questions?</vt:lpstr>
      <vt:lpstr>Appendix</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Antonio Jimenez Martinez (antonjim)</cp:lastModifiedBy>
  <cp:revision>3</cp:revision>
  <dcterms:created xsi:type="dcterms:W3CDTF">2026-09-27T17:17:35Z</dcterms:created>
  <dcterms:modified xsi:type="dcterms:W3CDTF">2026-10-29T08:10:06Z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Cisco Light 05-21-2025:9</vt:lpwstr>
  </property>
  <property fmtid="{D5CDD505-2E9C-101B-9397-08002B2CF9AE}" pid="3" name="ClassificationContentMarkingFooterText">
    <vt:lpwstr>Cisco Confidential</vt:lpwstr>
  </property>
</Properties>
</file>