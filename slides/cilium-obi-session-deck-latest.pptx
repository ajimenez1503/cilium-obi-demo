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0"/>
  </p:notesMasterIdLst>
  <p:sldIdLst>
    <p:sldId id="256" r:id="rId2"/>
    <p:sldId id="257" r:id="rId3"/>
    <p:sldId id="258" r:id="rId4"/>
    <p:sldId id="293" r:id="rId5"/>
    <p:sldId id="263" r:id="rId6"/>
    <p:sldId id="259" r:id="rId7"/>
    <p:sldId id="277" r:id="rId8"/>
    <p:sldId id="260" r:id="rId9"/>
    <p:sldId id="261" r:id="rId10"/>
    <p:sldId id="262" r:id="rId11"/>
    <p:sldId id="292"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8" r:id="rId26"/>
    <p:sldId id="279" r:id="rId27"/>
    <p:sldId id="280" r:id="rId28"/>
    <p:sldId id="281" r:id="rId29"/>
    <p:sldId id="282" r:id="rId30"/>
    <p:sldId id="283" r:id="rId31"/>
    <p:sldId id="284" r:id="rId32"/>
    <p:sldId id="285" r:id="rId33"/>
    <p:sldId id="291" r:id="rId34"/>
    <p:sldId id="286" r:id="rId35"/>
    <p:sldId id="287" r:id="rId36"/>
    <p:sldId id="288" r:id="rId37"/>
    <p:sldId id="289" r:id="rId38"/>
    <p:sldId id="290" r:id="rId39"/>
  </p:sldIdLst>
  <p:sldSz cx="12192000" cy="6858000"/>
  <p:notesSz cx="6858000" cy="9144000"/>
  <p:embeddedFontLst>
    <p:embeddedFont>
      <p:font typeface="CiscoSansTT" panose="020B0503020201020303" pitchFamily="34" charset="0"/>
      <p:regular r:id="rId41"/>
      <p:bold r:id="rId42"/>
      <p:italic r:id="rId43"/>
      <p:boldItalic r:id="rId44"/>
    </p:embeddedFont>
    <p:embeddedFont>
      <p:font typeface="CiscoSansTT Medium" panose="020B0903020201090303" pitchFamily="34" charset="0"/>
      <p:regular r:id="rId45"/>
      <p:italic r:id="rId46"/>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loop="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06"/>
    <p:restoredTop sz="79177"/>
  </p:normalViewPr>
  <p:slideViewPr>
    <p:cSldViewPr snapToGrid="0">
      <p:cViewPr varScale="1">
        <p:scale>
          <a:sx n="177" d="100"/>
          <a:sy n="177" d="100"/>
        </p:scale>
        <p:origin x="245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viewProps" Target="viewProps.xml"/><Relationship Id="rId8" Type="http://schemas.openxmlformats.org/officeDocument/2006/relationships/slide" Target="slides/slide7.xml"/><Relationship Id="rId51" Type="http://schemas.microsoft.com/office/2018/10/relationships/authors" Targe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OBI has now reached v1.0. The next slide explains what that milestone means for operating and upgrading the agent.</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does the 1.0 milestone mean? OBI now makes documented compatibility commitments for declared stable parts of the product. Explain the three areas on this slide.</a:t>
            </a:r>
          </a:p>
          <a:p>
            <a:endParaRPr/>
          </a:p>
          <a:p>
            <a:r>
              <a:t>Configuration and deployment: Config v2, its generated schema, documented deployment interfaces, and supported environments form a compatibility contract. Compatible additions can arrive within the v1 major release. Incompatible changes to declared stable surfaces follow the documented major-version and deprecation rules. The contract covers documented public behavior. Internal implementation details and the root Go API have different guarantees.</a:t>
            </a:r>
          </a:p>
          <a:p>
            <a:endParaRPr/>
          </a:p>
          <a:p>
            <a:r>
              <a:t>Stable telemetry: a signal is a metric or span. Attributes describe it. Signals and attributes have their own maturity levels. For entries marked stable, the contract covers documented names, types, units, and meaning when emitted through supported exporters. Bug fixes can correct output that fails to follow its documented convention. Avoid promising that every emitted field will remain identical forever.</a:t>
            </a:r>
          </a:p>
          <a:p>
            <a:endParaRPr/>
          </a:p>
          <a:p>
            <a:r>
              <a:t>Support and feature maturity: the support matrix describes the available runtimes, protocols, and environments. Emission also depends on enabled features and available metadata. A stable definition can coexist with a documented coverage limitation or known emission bug.</a:t>
            </a:r>
          </a:p>
          <a:p>
            <a:endParaRPr/>
          </a:p>
          <a:p>
            <a:r>
              <a:t>Runtime metrics remain experimental. Network-flow attribute names are outside the stable telemetry contract while their semantic conventions develop. The OBI Collector receiver also has a separate v0 release line. The v1 milestone applies to the declared stable core surfaces.</a:t>
            </a:r>
          </a:p>
          <a:p>
            <a:endParaRPr/>
          </a:p>
          <a:p>
            <a:r>
              <a:t>Sources:</a:t>
            </a:r>
          </a:p>
          <a:p>
            <a:r>
              <a:t>- https://opentelemetry.io/blog/2026/obi-v1-release/</a:t>
            </a:r>
          </a:p>
          <a:p>
            <a:r>
              <a:t>- https://github.com/open-telemetry/opentelemetry-ebpf-instrumentation/releases/tag/v1.0.0</a:t>
            </a:r>
          </a:p>
          <a:p>
            <a:r>
              <a:t>- https://github.com/open-telemetry/opentelemetry-ebpf-instrumentation/blob/v1.0.0/VERSIONING.md</a:t>
            </a:r>
          </a:p>
          <a:p>
            <a:r>
              <a:t>- https://github.com/open-telemetry/opentelemetry-ebpf-instrumentation/blob/v1.0.0/TELEMETRY.md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service box represents one operation, or span. A trace groups related operations across services.</a:t>
            </a:r>
          </a:p>
          <a:p>
            <a:endParaRPr/>
          </a:p>
          <a:p>
            <a:r>
              <a:t>At the top, each operation sits in its own trace frame. Trace A, B, and C are example IDs. The backend has no shared context that connects these separate records into the intended request journey.</a:t>
            </a:r>
          </a:p>
          <a:p>
            <a:endParaRPr/>
          </a:p>
          <a:p>
            <a:r>
              <a:t>At the bottom, the three operations sit inside one Trace A frame. Propagation carries the trace ID and parent information to downstream services. The arrows show the service-call sequence.</a:t>
            </a:r>
          </a:p>
          <a:p>
            <a:endParaRPr/>
          </a:p>
          <a:p>
            <a:r>
              <a:t>This is a conceptual example with one operation per service. The boxes and spacing do not represent measured durations. Real traces can contain more client and server spans.</a:t>
            </a:r>
          </a:p>
          <a:p>
            <a:endParaRPr/>
          </a:p>
          <a:p>
            <a:r>
              <a:t>The default application demo propagates context through socket hooks. The next kernel diagrams explain a separate feature: optional OBI network-flow collection through TC, which can share Cilium hooks.</a:t>
            </a:r>
          </a:p>
          <a:p>
            <a:endParaRPr/>
          </a:p>
          <a:p>
            <a:r>
              <a:t>Sources:</a:t>
            </a:r>
          </a:p>
          <a:p>
            <a:r>
              <a:t>- https://opentelemetry.io/docs/concepts/context-propagation/</a:t>
            </a:r>
          </a:p>
          <a:p>
            <a:r>
              <a:t>- https://opentelemetry.io/docs/zero-code/obi/distributed-traces/</a:t>
            </a:r>
          </a:p>
          <a:p>
            <a:endParaRPr/>
          </a:p>
          <a:p>
            <a:r>
              <a:t>Sources:</a:t>
            </a:r>
          </a:p>
          <a:p>
            <a:r>
              <a:t>- https://github.com/open-telemetry/opentelemetry-ebpf-instrumentation/blob/v1.0.0/pkg/appolly/discover/finder.go</a:t>
            </a:r>
          </a:p>
          <a:p>
            <a:r>
              <a:t>- https://github.com/open-telemetry/opentelemetry-ebpf-instrumentation/blob/v1.0.0/pkg/internal/ebpf/tpinjector/tpinjector.go</a:t>
            </a:r>
          </a:p>
          <a:p>
            <a:r>
              <a:t>- https://github.com/open-telemetry/opentelemetry-ebpf-instrumentation/blob/v1.0.0/pkg/internal/netolly/ebpf/tracer.go</a:t>
            </a:r>
          </a:p>
          <a:p>
            <a:r>
              <a:t>- https://github.com/open-telemetry/opentelemetry-ebpf-instrumentation/blob/v1.0.0/pkg/obi/config.go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a:t>
            </a:r>
          </a:p>
          <a:p>
            <a:endParaRPr dirty="0"/>
          </a:p>
          <a:p>
            <a:r>
              <a:rPr dirty="0"/>
              <a:t>OBI has an optional network collector as well as application instrumentation. It counts bytes and packets between endpoints. Kubernetes metadata can identify the source and destination workloads.</a:t>
            </a:r>
          </a:p>
          <a:p>
            <a:endParaRPr dirty="0"/>
          </a:p>
          <a:p>
            <a:r>
              <a:rPr dirty="0"/>
              <a:t>Use these metrics to find services that send the most traffic, or to export traffic volume through an </a:t>
            </a:r>
            <a:r>
              <a:rPr dirty="0" err="1"/>
              <a:t>OpenTelemetry</a:t>
            </a:r>
            <a:r>
              <a:rPr dirty="0"/>
              <a:t> pipeline.</a:t>
            </a:r>
          </a:p>
          <a:p>
            <a:endParaRPr dirty="0"/>
          </a:p>
          <a:p>
            <a:r>
              <a:rPr dirty="0"/>
              <a:t>These network-volume counters do not provide the Cilium policy record that says Policy denied. Hubble and OBI may also count traffic differently because they observe and aggregate it at different points.</a:t>
            </a:r>
          </a:p>
          <a:p>
            <a:endParaRPr dirty="0"/>
          </a:p>
          <a:p>
            <a:r>
              <a:rPr dirty="0"/>
              <a:t>When enabling OBI network collection alongside Cilium, choose </a:t>
            </a:r>
            <a:r>
              <a:rPr dirty="0" err="1"/>
              <a:t>network.source</a:t>
            </a:r>
            <a:r>
              <a:rPr dirty="0"/>
              <a:t>: </a:t>
            </a:r>
            <a:r>
              <a:rPr dirty="0" err="1"/>
              <a:t>socket_filter</a:t>
            </a:r>
            <a:r>
              <a:rPr dirty="0"/>
              <a:t>. Limit labels to the dimensions you need, because many endpoint and port combinations can create many metric series.</a:t>
            </a:r>
          </a:p>
          <a:p>
            <a:endParaRPr dirty="0"/>
          </a:p>
          <a:p>
            <a:r>
              <a:rPr dirty="0"/>
              <a:t>Optional network-volume collection is separate from application tracing and TCP trace-context propagation. Disabling the network-volume collector does not disable those application features.</a:t>
            </a:r>
          </a:p>
          <a:p>
            <a:endParaRPr dirty="0"/>
          </a:p>
          <a:p>
            <a:r>
              <a:rPr dirty="0"/>
              <a:t>Transition: the next section explains the shared kernel hooks and why attachment order matters.</a:t>
            </a:r>
          </a:p>
          <a:p>
            <a:endParaRPr dirty="0"/>
          </a:p>
          <a:p>
            <a:r>
              <a:rPr dirty="0"/>
              <a:t>Sources:</a:t>
            </a:r>
          </a:p>
          <a:p>
            <a:r>
              <a:rPr dirty="0"/>
              <a:t>- https://</a:t>
            </a:r>
            <a:r>
              <a:rPr dirty="0" err="1"/>
              <a:t>opentelemetry.io</a:t>
            </a:r>
            <a:r>
              <a:rPr dirty="0"/>
              <a:t>/docs/zero-code/obi/network/</a:t>
            </a:r>
          </a:p>
          <a:p>
            <a:r>
              <a:rPr dirty="0"/>
              <a:t>- https://</a:t>
            </a:r>
            <a:r>
              <a:rPr dirty="0" err="1"/>
              <a:t>opentelemetry.io</a:t>
            </a:r>
            <a:r>
              <a:rPr dirty="0"/>
              <a:t>/docs/zero-code/obi/network/config/</a:t>
            </a:r>
          </a:p>
          <a:p>
            <a:endParaRPr dirty="0"/>
          </a:p>
          <a:p>
            <a:r>
              <a:rPr dirty="0"/>
              <a:t>OBI v1.0 scope: optional network measurements are separate from application telemetry. Network-flow attribute names remain outside the stable telemetry contract. The default demo keeps optional OBI network collection disabled.</a:t>
            </a:r>
          </a:p>
          <a:p>
            <a:r>
              <a:rPr dirty="0"/>
              <a:t>Source: https://</a:t>
            </a:r>
            <a:r>
              <a:rPr dirty="0" err="1"/>
              <a:t>github.com</a:t>
            </a:r>
            <a:r>
              <a:rPr dirty="0"/>
              <a:t>/open-telemetry/</a:t>
            </a:r>
            <a:r>
              <a:rPr dirty="0" err="1"/>
              <a:t>opentelemetry</a:t>
            </a:r>
            <a:r>
              <a:rPr dirty="0"/>
              <a:t>-</a:t>
            </a:r>
            <a:r>
              <a:rPr dirty="0" err="1"/>
              <a:t>ebpf</a:t>
            </a:r>
            <a:r>
              <a:rPr dirty="0"/>
              <a:t>-instrumentation/blob/v1.0.0/</a:t>
            </a:r>
            <a:r>
              <a:rPr dirty="0" err="1"/>
              <a:t>TELEMETRY.md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Both agents run on the same Kubernetes worker node. OBI observes supported application requests and produces traces and metrics. Cilium provides networking and policy. Hubble adds visibility into network flows.</a:t>
            </a:r>
          </a:p>
          <a:p>
            <a:endParaRPr dirty="0"/>
          </a:p>
          <a:p>
            <a:r>
              <a:rPr dirty="0"/>
              <a:t>The first check is traffic behavior. Can applications still reach the services they should reach? Are connections that policy should deny still denied? We require correct behavior, rather than an identical internal packet path in every configuration.</a:t>
            </a:r>
          </a:p>
          <a:p>
            <a:endParaRPr dirty="0"/>
          </a:p>
          <a:p>
            <a:r>
              <a:rPr dirty="0"/>
              <a:t>The second check is visibility. OBI and Hubble should each capture the evidence we need. An agent that starts successfully can still have a visibility gap.</a:t>
            </a:r>
          </a:p>
          <a:p>
            <a:endParaRPr dirty="0"/>
          </a:p>
          <a:p>
            <a:r>
              <a:rPr dirty="0"/>
              <a:t>The third check is added cost. Measure CPU, memory, and the amount of telemetry generated. Include the collection and storage pipeline when assessing the full cost.</a:t>
            </a:r>
          </a:p>
          <a:p>
            <a:endParaRPr dirty="0"/>
          </a:p>
          <a:p>
            <a:r>
              <a:rPr dirty="0"/>
              <a:t>The next slides follow one request through the application and kernel, then explain why attachment order can affect 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 spans, pod interfaces, Cilium networking, and optional OBI network collection are different observation points. A hook is a checkpoint where Linux runs an eBPF program.</a:t>
            </a:r>
          </a:p>
          <a:p>
            <a:endParaRPr/>
          </a:p>
          <a:p>
            <a:r>
              <a:t>OBI application telemetry and context propagation use application, kernel, and socket hooks. In these pinned versions, HTTP-header propagation uses SK_MSG and TCP-option propagation uses BPF_SOCK_OPS. Do not describe those propagation programs as TC classifiers.</a:t>
            </a:r>
          </a:p>
          <a:p>
            <a:endParaRPr/>
          </a:p>
          <a:p>
            <a:r>
              <a:t>The shared TC case appears when optional OBI network collection is enabled with source tc. That collector can share host-interface ingress and egress hooks with Cilium. The default application demo leaves this network collector disabled.</a:t>
            </a:r>
          </a:p>
          <a:p>
            <a:endParaRPr/>
          </a:p>
          <a:p>
            <a:r>
              <a:t>The next diagram zooms into this optional shared TC case.</a:t>
            </a:r>
          </a:p>
          <a:p>
            <a:endParaRPr/>
          </a:p>
          <a:p>
            <a:r>
              <a:t>Sources:</a:t>
            </a:r>
          </a:p>
          <a:p>
            <a:r>
              <a:t>- https://github.com/open-telemetry/opentelemetry-ebpf-instrumentation/blob/v1.0.0/pkg/appolly/discover/finder.go</a:t>
            </a:r>
          </a:p>
          <a:p>
            <a:r>
              <a:t>- https://github.com/open-telemetry/opentelemetry-ebpf-instrumentation/blob/v1.0.0/pkg/internal/ebpf/tpinjector/tpinjector.go</a:t>
            </a:r>
          </a:p>
          <a:p>
            <a:r>
              <a:t>- https://github.com/open-telemetry/opentelemetry-ebpf-instrumentation/blob/v1.0.0/pkg/internal/netolly/ebpf/tracer.go</a:t>
            </a:r>
          </a:p>
          <a:p>
            <a:r>
              <a:t>- https://github.com/open-telemetry/opentelemetry-ebpf-instrumentation/blob/v1.0.0/pkg/obi/config.go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application sends traffic through a veth pair between the pod and node. TC ingress and egress are relative to the host-side interface shown here.</a:t>
            </a:r>
          </a:p>
          <a:p>
            <a:endParaRPr/>
          </a:p>
          <a:p>
            <a:r>
              <a:t>This diagram applies to optional OBI network-flow capture using source tc. Its flow-parser programs can share these TC hooks with Cilium. Their purpose here is collecting network-flow metrics, rather than injecting trace context.</a:t>
            </a:r>
          </a:p>
          <a:p>
            <a:endParaRPr/>
          </a:p>
          <a:p>
            <a:r>
              <a:t>The default demo uses application telemetry and socket-based propagation. Its optional OBI network collector is off, so the v1 smoke test does not exercise an OBI/Cilium shared TC chain. The later historical priority experiment explicitly enables TC network collection.</a:t>
            </a:r>
          </a:p>
          <a:p>
            <a:endParaRPr/>
          </a:p>
          <a:p>
            <a:r>
              <a:t>Next, we examine order within that optional shared chain.</a:t>
            </a:r>
          </a:p>
          <a:p>
            <a:endParaRPr/>
          </a:p>
          <a:p>
            <a:r>
              <a:t>Sources:</a:t>
            </a:r>
          </a:p>
          <a:p>
            <a:r>
              <a:t>- https://github.com/open-telemetry/opentelemetry-ebpf-instrumentation/blob/v1.0.0/pkg/appolly/discover/finder.go</a:t>
            </a:r>
          </a:p>
          <a:p>
            <a:r>
              <a:t>- https://github.com/open-telemetry/opentelemetry-ebpf-instrumentation/blob/v1.0.0/pkg/internal/ebpf/tpinjector/tpinjector.go</a:t>
            </a:r>
          </a:p>
          <a:p>
            <a:r>
              <a:t>- https://github.com/open-telemetry/opentelemetry-ebpf-instrumentation/blob/v1.0.0/pkg/internal/netolly/ebpf/tracer.go</a:t>
            </a:r>
          </a:p>
          <a:p>
            <a:r>
              <a:t>- https://github.com/open-telemetry/opentelemetry-ebpf-instrumentation/blob/v1.0.0/pkg/obi/config.go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sequence applies when optional OBI TC network-flow collection is enabled. OBI observes the packet for flow metrics before Cilium applies networking and policy. Application trace propagation uses separate socket hooks in v0.13.0 and v1.0.0.</a:t>
            </a:r>
          </a:p>
          <a:p>
            <a:endParaRPr/>
          </a:p>
          <a:p>
            <a:r>
              <a:t>Cilium can forward, redirect, or drop a packet. Those outcomes belong to Cilium logic. If a TC action ends processing before the OBI collector runs, OBI can miss the flow observation at this hook. That is the reason to order this optional collector before Cilium.</a:t>
            </a:r>
          </a:p>
          <a:p>
            <a:endParaRPr/>
          </a:p>
          <a:p>
            <a:r>
              <a:t>TCX manages relative order using first and last positions. Traditional Netlink TC uses numeric filter priorities. The next slides explain those mechanisms for the same optional network-collection case.</a:t>
            </a:r>
          </a:p>
          <a:p>
            <a:endParaRPr/>
          </a:p>
          <a:p>
            <a:r>
              <a:t>Sources:</a:t>
            </a:r>
          </a:p>
          <a:p>
            <a:r>
              <a:t>- https://github.com/open-telemetry/opentelemetry-ebpf-instrumentation/blob/v1.0.0/pkg/appolly/discover/finder.go</a:t>
            </a:r>
          </a:p>
          <a:p>
            <a:r>
              <a:t>- https://github.com/open-telemetry/opentelemetry-ebpf-instrumentation/blob/v1.0.0/pkg/internal/ebpf/tpinjector/tpinjector.go</a:t>
            </a:r>
          </a:p>
          <a:p>
            <a:r>
              <a:t>- https://github.com/open-telemetry/opentelemetry-ebpf-instrumentation/blob/v1.0.0/pkg/internal/netolly/ebpf/tracer.go</a:t>
            </a:r>
          </a:p>
          <a:p>
            <a:r>
              <a:t>- https://github.com/open-telemetry/opentelemetry-ebpf-instrumentation/blob/v1.0.0/pkg/obi/config.go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TC is the traffic-control subsystem. TCX is an API for attaching eBPF programs at TC ingress and egress checkpoints.</a:t>
            </a:r>
          </a:p>
          <a:p>
            <a:endParaRPr/>
          </a:p>
          <a:p>
            <a:r>
              <a:t>When optional OBI network capture uses source tc, its TCX manager requests link.Head(). Cilium requests link.Tail(). This gives the OBI flow collector an observation before Cilium may redirect or drop the packet. This is not the mechanism used by OBI application trace-context propagation in these pinned versions.</a:t>
            </a:r>
          </a:p>
          <a:p>
            <a:endParaRPr/>
          </a:p>
          <a:p>
            <a:r>
              <a:t>Check actual attachments on the running node. A configured backend and a Cilium TCX status line do not prove that OBI attached a TC program. In our v1 application-only smoke test, the node showed Cilium TCX programs and OBI socket hooks. The optional OBI TC flow collector was disabled.</a:t>
            </a:r>
          </a:p>
          <a:p>
            <a:endParaRPr/>
          </a:p>
          <a:p>
            <a:r>
              <a:t>Send a known request and confirm its behavior and telemetry. For a shared-chain test, enable the optional TC network collector in a separate experiment and inspect both programs and their order.</a:t>
            </a:r>
          </a:p>
          <a:p>
            <a:endParaRPr/>
          </a:p>
          <a:p>
            <a:r>
              <a:t>Sources:</a:t>
            </a:r>
          </a:p>
          <a:p>
            <a:r>
              <a:t>- https://github.com/open-telemetry/opentelemetry-ebpf-instrumentation/blob/v1.0.0/pkg/internal/ebpf/tcmanager/tcxmanager.go</a:t>
            </a:r>
          </a:p>
          <a:p>
            <a:r>
              <a:t>- https://github.com/cilium/cilium/blob/v1.20.2/pkg/datapath/loader/tcx.go</a:t>
            </a:r>
          </a:p>
          <a:p>
            <a:endParaRPr/>
          </a:p>
          <a:p>
            <a:r>
              <a:t>Sources:</a:t>
            </a:r>
          </a:p>
          <a:p>
            <a:r>
              <a:t>- https://github.com/open-telemetry/opentelemetry-ebpf-instrumentation/blob/v1.0.0/pkg/appolly/discover/finder.go</a:t>
            </a:r>
          </a:p>
          <a:p>
            <a:r>
              <a:t>- https://github.com/open-telemetry/opentelemetry-ebpf-instrumentation/blob/v1.0.0/pkg/internal/ebpf/tpinjector/tpinjector.go</a:t>
            </a:r>
          </a:p>
          <a:p>
            <a:r>
              <a:t>- https://github.com/open-telemetry/opentelemetry-ebpf-instrumentation/blob/v1.0.0/pkg/internal/netolly/ebpf/tracer.go</a:t>
            </a:r>
          </a:p>
          <a:p>
            <a:r>
              <a:t>- https://github.com/open-telemetry/opentelemetry-ebpf-instrumentation/blob/v1.0.0/pkg/obi/config.go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Legacy TC here means the older attachment method through Netlink. The packet checkpoint is still TC. Order comes from numeric priorities: priority 1 runs before priority 2. TCX achieves relative ordering through first and last positions instead.</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Play the video.</a:t>
            </a:r>
          </a:p>
          <a:p>
            <a:endParaRPr/>
          </a:p>
          <a:p>
            <a:r>
              <a:t>This compares two separate test clusters. Both use Cilium 1.20.2 and OBI v0.13.0. TCX is off, so the older TC mechanism uses priority numbers. A lower number runs earlier.</a:t>
            </a:r>
          </a:p>
          <a:p>
            <a:endParaRPr/>
          </a:p>
          <a:p>
            <a:r>
              <a:t>LEFT: Cilium uses priority 1. OBI detects that conflict and stops itself. That is why OBI shows 0/1 ready. The nginx request still returns HTTP 200: the application network continues to work while OBI is unavailable.</a:t>
            </a:r>
          </a:p>
          <a:p>
            <a:endParaRPr/>
          </a:p>
          <a:p>
            <a:r>
              <a:t>RIGHT: a fresh cluster uses Cilium priority 2. OBI can install its filter at priority 1, ahead of Cilium. OBI shows 1/1 ready and prints an HTTP span. The nginx request also returns HTTP 200.</a:t>
            </a:r>
          </a:p>
          <a:p>
            <a:endParaRPr/>
          </a:p>
          <a:p>
            <a:r>
              <a:t>What this teaches: check application health AND observability health. A successful request does not tell us that OBI is running or producing data.</a:t>
            </a:r>
          </a:p>
          <a:p>
            <a:endParaRPr/>
          </a:p>
          <a:p>
            <a:r>
              <a:t>Scope: this recording enables OBI's optional network.source: tc mode. Our application-only OBI configuration did not trigger this startup guard. The two sides are saved outputs from separate runs, replayed for the talk.</a:t>
            </a:r>
          </a:p>
          <a:p>
            <a:endParaRPr/>
          </a:p>
          <a:p>
            <a:r>
              <a:t>Sources:</a:t>
            </a:r>
          </a:p>
          <a:p>
            <a:r>
              <a:t>- https://github.com/ajimenez1503/cilium-obi-demo/blob/main/demo/legacy-priority-recording.md</a:t>
            </a:r>
          </a:p>
          <a:p>
            <a:r>
              <a:t>- https://github.com/ajimenez1503/cilium-obi-demo/tree/main/evidence/legacy-priority-2026-09-27</a:t>
            </a:r>
          </a:p>
          <a:p>
            <a:r>
              <a:t>- https://opentelemetry.io/docs/zero-code/obi/cilium-compatibility/</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a:p>
            <a:endParaRPr/>
          </a:p>
          <a:p>
            <a:r>
              <a:t>The default live demo now targets OBI v1.0.0 with Config v2. The embedded recordings retain their v0.13.0 telemetry and are labelled with that version.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a:t>
            </a:r>
          </a:p>
          <a:p>
            <a:endParaRPr/>
          </a:p>
          <a:p>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a:p>
          <a:p>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a:p>
          <a:p>
            <a:r>
              <a:t>Both versions, plus edge-nginx, are selected by the OBI discovery configuration. OBI watches their supported operations and creates spans and RED metrics. The applications do not call OBI as an application dependency.</a:t>
            </a:r>
          </a:p>
          <a:p>
            <a:endParaRPr/>
          </a:p>
          <a:p>
            <a:r>
              <a:t>Cilium and Hubble also cover traffic for all three services. Hubble is not connected only to v1. The diagram's lower arrows represent telemetry exports, not application calls.</a:t>
            </a:r>
          </a:p>
          <a:p>
            <a:endParaRPr/>
          </a:p>
          <a:p>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a:p>
          <a:p>
            <a:r>
              <a:t>For the denial demo, the policy allows v2 to call v1 on port 8081. It blocks edge-nginx from calling v1 directly. That is why the orange direct route is the one we exercise during the failure.</a:t>
            </a:r>
          </a:p>
          <a:p>
            <a:endParaRPr/>
          </a:p>
          <a:p>
            <a:r>
              <a:t>Sources:</a:t>
            </a:r>
          </a:p>
          <a:p>
            <a:r>
              <a:t>- https://github.com/ajimenez1503/cilium-obi-demo/blob/main/demo/obi-values.yaml</a:t>
            </a:r>
          </a:p>
          <a:p>
            <a:r>
              <a:t>- https://github.com/ajimenez1503/cilium-obi-demo/blob/main/demo/policy-deny.yaml</a:t>
            </a:r>
          </a:p>
          <a:p>
            <a:r>
              <a:t>- https://github.com/open-telemetry/opentelemetry-ebpf-instrumentation/tree/main/examples/nginx</a:t>
            </a:r>
          </a:p>
          <a:p>
            <a:r>
              <a:t>- https://docs.cilium.io/en/stable/observability/metrics/</a:t>
            </a:r>
          </a:p>
          <a:p>
            <a:endParaRPr/>
          </a:p>
          <a:p>
            <a:r>
              <a:t>Current repository pins: OBI v1.0.0, Helm chart 0.15.2, Config v2, Cilium 1.20.2. The architecture is the same, while recorded evidence was collected with OBI v0.13.0.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Historical evidence: this capture used OBI v0.13.0. The default repository demo now uses v1.0.0 with Config v2. Use the upgrade guide for the current validation result.</a:t>
            </a:r>
          </a:p>
          <a:p>
            <a:endParaRPr dirty="0"/>
          </a:p>
          <a:p>
            <a:r>
              <a:rPr dirty="0"/>
              <a:t>Timing: 2 minutes</a:t>
            </a:r>
          </a:p>
          <a:p>
            <a:endParaRPr dirty="0"/>
          </a:p>
          <a:p>
            <a:r>
              <a:rPr dirty="0"/>
              <a:t>Click the video to play. This is a recorded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Historical evidence: this capture used OBI v0.13.0. The default repository demo now uses v1.0.0 with Config v2. Use the upgrade guide for the current validation result.</a:t>
            </a:r>
          </a:p>
          <a:p>
            <a:endParaRPr/>
          </a:p>
          <a:p>
            <a:r>
              <a:t>Timing: about 2 minutes. Click the video to play. The clip plays at 1.5 times the previous speed and lasts about 20 seconds.</a:t>
            </a:r>
          </a:p>
          <a:p>
            <a:endParaRPr/>
          </a:p>
          <a:p>
            <a:r>
              <a:t>Start in Grafana: application and network metrics share one dashboard and time window. The final Hubble view adds individual flow records to the investigation.</a:t>
            </a:r>
          </a:p>
          <a:p>
            <a:endParaRPr/>
          </a:p>
          <a:p>
            <a:r>
              <a:t>00:00 to about 00:05.3: upper Grafana view. Point to OBI request rate, errors, and latency beside the network flow and verdict panels. These totals cover the selected workloads and time window.</a:t>
            </a:r>
          </a:p>
          <a:p>
            <a:endParaRPr/>
          </a:p>
          <a:p>
            <a:r>
              <a:t>About 00:05.3 to 00:13.3: lower Grafana view. Point to the service edges and the network metrics. The existing reading holds are shorter at this playback speed.</a:t>
            </a:r>
          </a:p>
          <a:p>
            <a:endParaRPr/>
          </a:p>
          <a:p>
            <a:r>
              <a:t>About 00:13.3 to 00:19.8: Hubble UI. Follow edge-nginx to recommendations-v2 and recommendations-v2 to recommendations-v1. Point to workload identity, direction, port, and the FORWARDED verdict.</a:t>
            </a:r>
          </a:p>
          <a:p>
            <a:endParaRPr/>
          </a:p>
          <a:p>
            <a:r>
              <a:t>Correlate the views by time window, namespace, source and destination workload, direction, and port. Grafana shows aggregated metrics. Hubble UI shows flow records. These fields provide investigative context and do not establish a unique flow-to-trace-ID join.</a:t>
            </a:r>
          </a:p>
          <a:p>
            <a:endParaRPr/>
          </a:p>
          <a:p>
            <a:r>
              <a:t>The acceleration changes presentation timing only. It preserves the recorded sequence and telemetry values.</a:t>
            </a:r>
          </a:p>
          <a:p>
            <a:endParaRPr/>
          </a:p>
          <a:p>
            <a:r>
              <a:t>Sources:</a:t>
            </a:r>
          </a:p>
          <a:p>
            <a:r>
              <a:t>- https://docs.cilium.io/en/stable/observability/hubble/</a:t>
            </a:r>
          </a:p>
          <a:p>
            <a:r>
              <a:t>- https://opentelemetry.io/docs/zero-code/obi/</a:t>
            </a:r>
          </a:p>
          <a:p>
            <a:r>
              <a:t>- https://github.com/ajimenez1503/cilium-obi-demo/blob/main/slides/recordings/presentation-edits.json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Historical evidence: this capture used OBI v0.13.0. The default repository demo now uses v1.0.0 with Config v2. Use the upgrade guide for the current validation result.</a:t>
            </a:r>
          </a:p>
          <a:p>
            <a:endParaRPr/>
          </a:p>
          <a:p>
            <a:r>
              <a:t>Timing: 2 minutes</a:t>
            </a:r>
          </a:p>
          <a:p>
            <a:endParaRPr/>
          </a:p>
          <a:p>
            <a:r>
              <a:t>Historical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Historical evidence: this capture used OBI v0.13.0. The default repository demo now uses v1.0.0 with Config v2. Use the upgrade guide for the current validation result.</a:t>
            </a:r>
          </a:p>
          <a:p>
            <a:endParaRPr/>
          </a:p>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Version scope: B and D were measured with OBI v0.13.0 in September 2026. These are historical scenarios. A, C, and E remain planned. The default demo now uses v1.0.0, which requires a new matched benchmark before claiming v1 performance.</a:t>
            </a:r>
          </a:p>
          <a:p>
            <a:endParaRPr dirty="0"/>
          </a:p>
          <a:p>
            <a:r>
              <a:rPr dirty="0"/>
              <a:t>Read each row as a complete setup. The first column names the scenario and whether we have measured it. The other columns show what Hubble and OBI collect. Cilium networking runs in all five scenarios.</a:t>
            </a:r>
          </a:p>
          <a:p>
            <a:endParaRPr dirty="0"/>
          </a:p>
          <a:p>
            <a:r>
              <a:rPr dirty="0"/>
              <a:t>A is the planned Cilium baseline. Hubble and OBI are off. B adds Hubble L3/L4 flows and keeps OBI off. C keeps Hubble flows and adds OBI application RED metrics, with traces and TCP propagation off.</a:t>
            </a:r>
          </a:p>
          <a:p>
            <a:endParaRPr dirty="0"/>
          </a:p>
          <a:p>
            <a:r>
              <a:rPr dirty="0"/>
              <a:t>D keeps Hubble flows and enables OBI RED metrics, traces, and TCP context propagation. E keeps these OBI features and adds selected Hubble L7 visibility through Envoy.</a:t>
            </a:r>
          </a:p>
          <a:p>
            <a:endParaRPr dirty="0"/>
          </a:p>
          <a:p>
            <a:r>
              <a:rPr dirty="0"/>
              <a:t>Only B and D have recorded measurements. A, C, and E remain planned. The planned E setup has no compatibility or overhead result in this deck.</a:t>
            </a:r>
          </a:p>
          <a:p>
            <a:endParaRPr dirty="0"/>
          </a:p>
          <a:p>
            <a:r>
              <a:rPr dirty="0"/>
              <a:t>RED means request rate, errors, and duration. These are application metrics. Optional OBI network-volume collection is a separate feature. The TCX backend was selected in configuration, while optional OBI TC network collection was off. Application context propagation uses socket hooks in these pinned versions.</a:t>
            </a:r>
          </a:p>
          <a:p>
            <a:endParaRPr dirty="0"/>
          </a:p>
          <a:p>
            <a:r>
              <a:rPr dirty="0"/>
              <a:t>Keep the cluster, request route, load, pod placement, and backend constant. Comparing B and D measures the addition of the configured OBI features together. It does not isolate the cost of TCX itself.</a:t>
            </a:r>
          </a:p>
          <a:p>
            <a:endParaRPr dirty="0"/>
          </a:p>
          <a:p>
            <a:r>
              <a:rPr dirty="0"/>
              <a:t>The next slide shows the local rehearsal results for B and D.</a:t>
            </a:r>
          </a:p>
          <a:p>
            <a:endParaRPr dirty="0"/>
          </a:p>
          <a:p>
            <a:r>
              <a:rPr dirty="0"/>
              <a:t>Sources:</a:t>
            </a:r>
          </a:p>
          <a:p>
            <a:r>
              <a:rPr dirty="0"/>
              <a:t>- https://</a:t>
            </a:r>
            <a:r>
              <a:rPr dirty="0" err="1"/>
              <a:t>github.com</a:t>
            </a:r>
            <a:r>
              <a:rPr dirty="0"/>
              <a:t>/ajimenez1503/cilium-obi-demo/blob/main/demo/obi-</a:t>
            </a:r>
            <a:r>
              <a:rPr dirty="0" err="1"/>
              <a:t>values.yaml</a:t>
            </a:r>
            <a:endParaRPr dirty="0"/>
          </a:p>
          <a:p>
            <a:r>
              <a:rPr dirty="0"/>
              <a:t>- https://</a:t>
            </a:r>
            <a:r>
              <a:rPr dirty="0" err="1"/>
              <a:t>github.com</a:t>
            </a:r>
            <a:r>
              <a:rPr dirty="0"/>
              <a:t>/ajimenez1503/cilium-obi-demo/blob/main/evidence/benchmark-2026-09-26/</a:t>
            </a:r>
            <a:r>
              <a:rPr dirty="0" err="1"/>
              <a:t>results.md</a:t>
            </a:r>
            <a:endParaRPr dirty="0"/>
          </a:p>
          <a:p>
            <a:r>
              <a:rPr dirty="0"/>
              <a:t>- https://</a:t>
            </a:r>
            <a:r>
              <a:rPr dirty="0" err="1"/>
              <a:t>docs.cilium.io</a:t>
            </a:r>
            <a:r>
              <a:rPr dirty="0"/>
              <a:t>/</a:t>
            </a:r>
            <a:r>
              <a:rPr dirty="0" err="1"/>
              <a:t>en</a:t>
            </a:r>
            <a:r>
              <a:rPr dirty="0"/>
              <a:t>/stable/operations/performance/benchmark/</a:t>
            </a:r>
          </a:p>
          <a:p>
            <a:endParaRPr dirty="0"/>
          </a:p>
          <a:p>
            <a:r>
              <a:rPr dirty="0"/>
              <a:t>Sources:</a:t>
            </a:r>
          </a:p>
          <a:p>
            <a:r>
              <a:rPr dirty="0"/>
              <a:t>- https://</a:t>
            </a:r>
            <a:r>
              <a:rPr dirty="0" err="1"/>
              <a:t>github.com</a:t>
            </a:r>
            <a:r>
              <a:rPr dirty="0"/>
              <a:t>/open-telemetry/</a:t>
            </a:r>
            <a:r>
              <a:rPr dirty="0" err="1"/>
              <a:t>opentelemetry</a:t>
            </a:r>
            <a:r>
              <a:rPr dirty="0"/>
              <a:t>-</a:t>
            </a:r>
            <a:r>
              <a:rPr dirty="0" err="1"/>
              <a:t>ebpf</a:t>
            </a:r>
            <a:r>
              <a:rPr dirty="0"/>
              <a:t>-instrumentation/blob/v1.0.0/pkg/</a:t>
            </a:r>
            <a:r>
              <a:rPr dirty="0" err="1"/>
              <a:t>appolly</a:t>
            </a:r>
            <a:r>
              <a:rPr dirty="0"/>
              <a:t>/discover/</a:t>
            </a:r>
            <a:r>
              <a:rPr dirty="0" err="1"/>
              <a:t>finder.go</a:t>
            </a:r>
            <a:endParaRPr dirty="0"/>
          </a:p>
          <a:p>
            <a:r>
              <a:rPr dirty="0"/>
              <a:t>- https://</a:t>
            </a:r>
            <a:r>
              <a:rPr dirty="0" err="1"/>
              <a:t>github.com</a:t>
            </a:r>
            <a:r>
              <a:rPr dirty="0"/>
              <a:t>/open-telemetry/</a:t>
            </a:r>
            <a:r>
              <a:rPr dirty="0" err="1"/>
              <a:t>opentelemetry</a:t>
            </a:r>
            <a:r>
              <a:rPr dirty="0"/>
              <a:t>-</a:t>
            </a:r>
            <a:r>
              <a:rPr dirty="0" err="1"/>
              <a:t>ebpf</a:t>
            </a:r>
            <a:r>
              <a:rPr dirty="0"/>
              <a:t>-instrumentation/blob/v1.0.0/pkg/internal/</a:t>
            </a:r>
            <a:r>
              <a:rPr dirty="0" err="1"/>
              <a:t>ebpf</a:t>
            </a:r>
            <a:r>
              <a:rPr dirty="0"/>
              <a:t>/</a:t>
            </a:r>
            <a:r>
              <a:rPr dirty="0" err="1"/>
              <a:t>tpinjector</a:t>
            </a:r>
            <a:r>
              <a:rPr dirty="0"/>
              <a:t>/</a:t>
            </a:r>
            <a:r>
              <a:rPr dirty="0" err="1"/>
              <a:t>tpinjector.go</a:t>
            </a:r>
            <a:endParaRPr dirty="0"/>
          </a:p>
          <a:p>
            <a:r>
              <a:rPr dirty="0"/>
              <a:t>- https://</a:t>
            </a:r>
            <a:r>
              <a:rPr dirty="0" err="1"/>
              <a:t>github.com</a:t>
            </a:r>
            <a:r>
              <a:rPr dirty="0"/>
              <a:t>/open-telemetry/</a:t>
            </a:r>
            <a:r>
              <a:rPr dirty="0" err="1"/>
              <a:t>opentelemetry</a:t>
            </a:r>
            <a:r>
              <a:rPr dirty="0"/>
              <a:t>-</a:t>
            </a:r>
            <a:r>
              <a:rPr dirty="0" err="1"/>
              <a:t>ebpf</a:t>
            </a:r>
            <a:r>
              <a:rPr dirty="0"/>
              <a:t>-instrumentation/blob/v1.0.0/pkg/internal/</a:t>
            </a:r>
            <a:r>
              <a:rPr dirty="0" err="1"/>
              <a:t>netolly</a:t>
            </a:r>
            <a:r>
              <a:rPr dirty="0"/>
              <a:t>/</a:t>
            </a:r>
            <a:r>
              <a:rPr dirty="0" err="1"/>
              <a:t>ebpf</a:t>
            </a:r>
            <a:r>
              <a:rPr dirty="0"/>
              <a:t>/</a:t>
            </a:r>
            <a:r>
              <a:rPr dirty="0" err="1"/>
              <a:t>tracer.go</a:t>
            </a:r>
            <a:endParaRPr dirty="0"/>
          </a:p>
          <a:p>
            <a:r>
              <a:rPr dirty="0"/>
              <a:t>- https://</a:t>
            </a:r>
            <a:r>
              <a:rPr dirty="0" err="1"/>
              <a:t>github.com</a:t>
            </a:r>
            <a:r>
              <a:rPr dirty="0"/>
              <a:t>/open-telemetry/</a:t>
            </a:r>
            <a:r>
              <a:rPr dirty="0" err="1"/>
              <a:t>opentelemetry</a:t>
            </a:r>
            <a:r>
              <a:rPr dirty="0"/>
              <a:t>-</a:t>
            </a:r>
            <a:r>
              <a:rPr dirty="0" err="1"/>
              <a:t>ebpf</a:t>
            </a:r>
            <a:r>
              <a:rPr dirty="0"/>
              <a:t>-instrumentation/blob/v1.0.0/pkg/obi/</a:t>
            </a:r>
            <a:r>
              <a:rPr dirty="0" err="1"/>
              <a:t>config.go</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Version scope: these measurements used OBI v0.13.0. Numerical results are retained unchanged and are not OBI v1.0.0 measurements. D enabled OBI application telemetry and context propagation. A configured TCX backend does not establish an OBI TCX attachment; optional TC network collection was disabled.</a:t>
            </a:r>
          </a:p>
          <a:p>
            <a:endParaRPr/>
          </a:p>
          <a:p>
            <a:r>
              <a:t>Timing: 3 minutes</a:t>
            </a:r>
          </a:p>
          <a:p>
            <a:endParaRPr/>
          </a:p>
          <a:p>
            <a:r>
              <a:t>Click once after introducing B and D. A magenta outline and caption appear together around the +2 ms p95 change. The increase from 1,018 ms to 1,020 ms is about 0.2%. Describe it as minimal in this local rehearsal. This observation does not prove that OBI caused the difference, that it is statistically significant, or that the same result will hold in production. CPU and memory were added separately, as shown in the table.</a:t>
            </a:r>
          </a:p>
          <a:p>
            <a:endParaRPr/>
          </a:p>
          <a:p>
            <a:r>
              <a:t>These are local kind rehearsal observations for B (Cilium and Hubble, OBI off) and D (Cilium and Hubble plus OBI application telemetry). They are not production capacity results. Conditions A, C, and E remain unmeasured.</a:t>
            </a:r>
          </a:p>
          <a:p>
            <a:endParaRPr/>
          </a:p>
          <a:p>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a:endParaRPr/>
          </a:p>
          <a:p>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a:p>
          <a:p>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a:p>
          <a:p>
            <a:r>
              <a:t>Sources:</a:t>
            </a:r>
          </a:p>
          <a:p>
            <a:r>
              <a:t>- /Users/antonjim/Documents/Playground/cilium-obi-demo/evidence/benchmark-2026-09-26/results.md</a:t>
            </a:r>
          </a:p>
          <a:p>
            <a:r>
              <a:t>- https://docs.cilium.io/en/latest/observability/metrics/#lost-events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idea is to try OBI on a few nodes, check the result, and then expand.</a:t>
            </a:r>
          </a:p>
          <a:p>
            <a:endParaRPr/>
          </a:p>
          <a:p>
            <a:r>
              <a:t>1. Start small. Enable OBI on a few selected nodes first. Before starting, confirm the node requirements, permissions, and attachment settings covered earlier.</a:t>
            </a:r>
          </a:p>
          <a:p>
            <a:endParaRPr/>
          </a:p>
          <a:p>
            <a:r>
              <a:t>2. Check the results. Confirm that normal requests still work and policy still blocks the requests it should block. Check that OBI and Hubble provide the expected telemetry. Compare CPU, memory, missing telemetry, and data volume with the baseline.</a:t>
            </a:r>
          </a:p>
          <a:p>
            <a:endParaRPr/>
          </a:p>
          <a:p>
            <a:r>
              <a:t>3. Expand gradually. If the checks pass, add more nodes and repeat them. If a check fails, stop expanding and restore the previous setup.</a:t>
            </a:r>
          </a:p>
          <a:p>
            <a:endParaRPr/>
          </a:p>
          <a:p>
            <a:r>
              <a:t>Transition: the next slide summarizes the three rules for running both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fragments match the default demo/obi-values.yaml and demo/cilium-values.yaml. The chart is 0.15.2, and its image is explicitly overridden to v1.0.0. In Config v2, the engine fragment is under config.data.extensions.obi.capture. The full file has file_format: "1.0" for the declarative SDK envelope and extensions.obi.version: "2.0" for the OBI configuration.</a:t>
            </a:r>
          </a:p>
          <a:p>
            <a:endParaRPr/>
          </a:p>
          <a:p>
            <a:r>
              <a:t>The chart-level contextPropagation.enabled setting supplies the deployment privileges. It does not replace the Config v2 propagation and traffic backend settings shown here. The demo exports both signals using OTLP/gRPC to lgtm:4317. Optional OBI network collection remains disabled.</a:t>
            </a:r>
          </a:p>
          <a:p>
            <a:endParaRPr/>
          </a:p>
          <a:p>
            <a:r>
              <a:t>Keep the recorded legacy experiment on its separate v0.13.0 image and chart 0.14.0. It demonstrates the behavior of that pinned historical configuration.</a:t>
            </a:r>
          </a:p>
          <a:p>
            <a:endParaRPr/>
          </a:p>
          <a:p>
            <a:r>
              <a:t>Sources:</a:t>
            </a:r>
          </a:p>
          <a:p>
            <a:r>
              <a:t>- https://github.com/ajimenez1503/cilium-obi-demo/blob/main/demo/obi-values.yaml</a:t>
            </a:r>
          </a:p>
          <a:p>
            <a:r>
              <a:t>- https://github.com/ajimenez1503/cilium-obi-demo/blob/main/docs/obi-v1-upgrade.md</a:t>
            </a:r>
          </a:p>
          <a:p>
            <a:r>
              <a:t>- https://github.com/open-telemetry/opentelemetry-ebpf-instrumentation/blob/v1.0.0/devdocs/config/version-2.0/config-v2.md</a:t>
            </a:r>
          </a:p>
          <a:p>
            <a:endParaRPr/>
          </a:p>
          <a:p>
            <a:r>
              <a:t>In this application-only smoke test, Cilium used TCX and OBI used socket hooks. The control_backend setting applies if an OBI TC collector is activated. It does not activate that collector. This socket-based propagation behavior also existed in v0.13.0.</a:t>
            </a:r>
          </a:p>
          <a:p>
            <a:endParaRPr/>
          </a:p>
          <a:p>
            <a:r>
              <a:t>Sources:</a:t>
            </a:r>
          </a:p>
          <a:p>
            <a:r>
              <a:t>- https://github.com/open-telemetry/opentelemetry-ebpf-instrumentation/blob/v1.0.0/pkg/appolly/discover/finder.go</a:t>
            </a:r>
          </a:p>
          <a:p>
            <a:r>
              <a:t>- https://github.com/open-telemetry/opentelemetry-ebpf-instrumentation/blob/v1.0.0/pkg/internal/ebpf/tpinjector/tpinjector.go</a:t>
            </a:r>
          </a:p>
          <a:p>
            <a:r>
              <a:t>- https://github.com/open-telemetry/opentelemetry-ebpf-instrumentation/blob/v1.0.0/pkg/internal/netolly/ebpf/tracer.go</a:t>
            </a:r>
          </a:p>
          <a:p>
            <a:r>
              <a:t>- https://github.com/open-telemetry/opentelemetry-ebpf-instrumentation/blob/v1.0.0/pkg/obi/config.go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4.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6" name="cover-title">
            <a:extLst xmlns:a="http://schemas.openxmlformats.org/drawingml/2006/main">
              <a:ext uri="{FF2B5EF4-FFF2-40B4-BE49-F238E27FC236}">
                <a16:creationId xmlns:a16="http://schemas.microsoft.com/office/drawing/2014/main" id="{33543FE7-E9FB-4041-AFEF-535E97064C76}"/>
              </a:ext>
            </a:extLst>
          </p:cNvPr>
          <p:cNvSpPr>
            <a:spLocks xmlns:a="http://schemas.openxmlformats.org/drawingml/2006/main" noGrp="1"/>
          </p:cNvSpPr>
          <p:nvPr/>
        </p:nvSpPr>
        <p:spPr>
          <a:xfrm xmlns:a="http://schemas.openxmlformats.org/drawingml/2006/main">
            <a:off x="228600" y="2667000"/>
            <a:ext cx="8286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600" b="0">
                <a:solidFill>
                  <a:srgbClr val="07182A"/>
                </a:solidFill>
                <a:latin typeface="CiscoSansTT"/>
                <a:ea typeface="CiscoSansTT"/>
                <a:cs typeface="CiscoSansTT"/>
              </a:defRPr>
            </a:defPPr>
            <a:lvl1pPr algn="l">
              <a:defRPr sz="3600" b="0">
                <a:solidFill>
                  <a:srgbClr val="07182A"/>
                </a:solidFill>
                <a:latin typeface="CiscoSansTT"/>
                <a:ea typeface="CiscoSansTT"/>
                <a:cs typeface="CiscoSansTT"/>
              </a:defRPr>
            </a:lvl1pPr>
            <a:lvl2pPr algn="l">
              <a:defRPr sz="3600" b="0">
                <a:solidFill>
                  <a:srgbClr val="07182A"/>
                </a:solidFill>
                <a:latin typeface="CiscoSansTT"/>
                <a:ea typeface="CiscoSansTT"/>
                <a:cs typeface="CiscoSansTT"/>
              </a:defRPr>
            </a:lvl2pPr>
            <a:lvl3pPr algn="l">
              <a:defRPr sz="3600" b="0">
                <a:solidFill>
                  <a:srgbClr val="07182A"/>
                </a:solidFill>
                <a:latin typeface="CiscoSansTT"/>
                <a:ea typeface="CiscoSansTT"/>
                <a:cs typeface="CiscoSansTT"/>
              </a:defRPr>
            </a:lvl3pPr>
            <a:lvl4pPr algn="l">
              <a:defRPr sz="3600" b="0">
                <a:solidFill>
                  <a:srgbClr val="07182A"/>
                </a:solidFill>
                <a:latin typeface="CiscoSansTT"/>
                <a:ea typeface="CiscoSansTT"/>
                <a:cs typeface="CiscoSansTT"/>
              </a:defRPr>
            </a:lvl4pPr>
            <a:lvl5pPr algn="l">
              <a:defRPr sz="3600" b="0">
                <a:solidFill>
                  <a:srgbClr val="07182A"/>
                </a:solidFill>
                <a:latin typeface="CiscoSansTT"/>
                <a:ea typeface="CiscoSansTT"/>
                <a:cs typeface="CiscoSansTT"/>
              </a:defRPr>
            </a:lvl5pPr>
            <a:lvl6pPr algn="l">
              <a:defRPr sz="3600" b="0">
                <a:solidFill>
                  <a:srgbClr val="07182A"/>
                </a:solidFill>
                <a:latin typeface="CiscoSansTT"/>
                <a:ea typeface="CiscoSansTT"/>
                <a:cs typeface="CiscoSansTT"/>
              </a:defRPr>
            </a:lvl6pPr>
            <a:lvl7pPr algn="l">
              <a:defRPr sz="3600" b="0">
                <a:solidFill>
                  <a:srgbClr val="07182A"/>
                </a:solidFill>
                <a:latin typeface="CiscoSansTT"/>
                <a:ea typeface="CiscoSansTT"/>
                <a:cs typeface="CiscoSansTT"/>
              </a:defRPr>
            </a:lvl7pPr>
            <a:lvl8pPr algn="l">
              <a:defRPr sz="3600" b="0">
                <a:solidFill>
                  <a:srgbClr val="07182A"/>
                </a:solidFill>
                <a:latin typeface="CiscoSansTT"/>
                <a:ea typeface="CiscoSansTT"/>
                <a:cs typeface="CiscoSansTT"/>
              </a:defRPr>
            </a:lvl8pPr>
            <a:lvl9pPr algn="l">
              <a:defRPr sz="3600" b="0">
                <a:solidFill>
                  <a:srgbClr val="07182A"/>
                </a:solidFill>
                <a:latin typeface="CiscoSansTT"/>
                <a:ea typeface="CiscoSansTT"/>
                <a:cs typeface="CiscoSansTT"/>
              </a:defRPr>
            </a:lvl9pPr>
          </a:lstStyle>
          <a:p xmlns:a="http://schemas.openxmlformats.org/drawingml/2006/main">
            <a:pPr algn="l">
              <a:defRPr sz="3600" b="0">
                <a:solidFill>
                  <a:srgbClr val="07182A"/>
                </a:solidFill>
                <a:latin typeface="CiscoSansTT"/>
                <a:ea typeface="CiscoSansTT"/>
                <a:cs typeface="CiscoSansTT"/>
              </a:defRPr>
            </a:pPr>
            <a:r>
              <a:rPr sz="3600" b="0">
                <a:solidFill>
                  <a:srgbClr val="07182A"/>
                </a:solidFill>
                <a:latin typeface="CiscoSansTT"/>
                <a:ea typeface="CiscoSansTT"/>
                <a:cs typeface="CiscoSansTT"/>
              </a:rPr>
              <a:t>Two eBPF Systems,</a:t>
            </a:r>
          </a:p>
          <a:p xmlns:a="http://schemas.openxmlformats.org/drawingml/2006/main">
            <a:pPr algn="l">
              <a:defRPr sz="3600" b="0">
                <a:solidFill>
                  <a:srgbClr val="07182A"/>
                </a:solidFill>
                <a:latin typeface="CiscoSansTT"/>
                <a:ea typeface="CiscoSansTT"/>
                <a:cs typeface="CiscoSansTT"/>
              </a:defRPr>
            </a:pPr>
            <a:r>
              <a:rPr sz="3600" b="0">
                <a:solidFill>
                  <a:srgbClr val="07182A"/>
                </a:solidFill>
                <a:latin typeface="CiscoSansTT"/>
                <a:ea typeface="CiscoSansTT"/>
                <a:cs typeface="CiscoSansTT"/>
              </a:rPr>
              <a:t>One Kubernetes Node</a:t>
            </a:r>
          </a:p>
        </p:txBody>
      </p:sp>
      <p:sp>
        <p:nvSpPr>
          <p:cNvPr id="2" name="cover-subtitle">
            <a:extLst xmlns:a="http://schemas.openxmlformats.org/drawingml/2006/main">
              <a:ext uri="{FF2B5EF4-FFF2-40B4-BE49-F238E27FC236}">
                <a16:creationId xmlns:a16="http://schemas.microsoft.com/office/drawing/2014/main" id="{E21EED0E-8DA4-421C-BAEA-D94DC9DD798D}"/>
              </a:ext>
            </a:extLst>
          </p:cNvPr>
          <p:cNvSpPr>
            <a:spLocks xmlns:a="http://schemas.openxmlformats.org/drawingml/2006/main" noGrp="1"/>
          </p:cNvSpPr>
          <p:nvPr/>
        </p:nvSpPr>
        <p:spPr>
          <a:xfrm xmlns:a="http://schemas.openxmlformats.org/drawingml/2006/main">
            <a:off x="228600" y="3962400"/>
            <a:ext cx="8667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250" b="0">
                <a:solidFill>
                  <a:srgbClr val="536171"/>
                </a:solidFill>
                <a:latin typeface="CiscoSansTT"/>
                <a:ea typeface="CiscoSansTT"/>
                <a:cs typeface="CiscoSansTT"/>
              </a:defRPr>
            </a:defPPr>
            <a:lvl1pPr algn="l">
              <a:defRPr sz="2250" b="0">
                <a:solidFill>
                  <a:srgbClr val="536171"/>
                </a:solidFill>
                <a:latin typeface="CiscoSansTT"/>
                <a:ea typeface="CiscoSansTT"/>
                <a:cs typeface="CiscoSansTT"/>
              </a:defRPr>
            </a:lvl1pPr>
            <a:lvl2pPr algn="l">
              <a:defRPr sz="2250" b="0">
                <a:solidFill>
                  <a:srgbClr val="536171"/>
                </a:solidFill>
                <a:latin typeface="CiscoSansTT"/>
                <a:ea typeface="CiscoSansTT"/>
                <a:cs typeface="CiscoSansTT"/>
              </a:defRPr>
            </a:lvl2pPr>
            <a:lvl3pPr algn="l">
              <a:defRPr sz="2250" b="0">
                <a:solidFill>
                  <a:srgbClr val="536171"/>
                </a:solidFill>
                <a:latin typeface="CiscoSansTT"/>
                <a:ea typeface="CiscoSansTT"/>
                <a:cs typeface="CiscoSansTT"/>
              </a:defRPr>
            </a:lvl3pPr>
            <a:lvl4pPr algn="l">
              <a:defRPr sz="2250" b="0">
                <a:solidFill>
                  <a:srgbClr val="536171"/>
                </a:solidFill>
                <a:latin typeface="CiscoSansTT"/>
                <a:ea typeface="CiscoSansTT"/>
                <a:cs typeface="CiscoSansTT"/>
              </a:defRPr>
            </a:lvl4pPr>
            <a:lvl5pPr algn="l">
              <a:defRPr sz="2250" b="0">
                <a:solidFill>
                  <a:srgbClr val="536171"/>
                </a:solidFill>
                <a:latin typeface="CiscoSansTT"/>
                <a:ea typeface="CiscoSansTT"/>
                <a:cs typeface="CiscoSansTT"/>
              </a:defRPr>
            </a:lvl5pPr>
            <a:lvl6pPr algn="l">
              <a:defRPr sz="2250" b="0">
                <a:solidFill>
                  <a:srgbClr val="536171"/>
                </a:solidFill>
                <a:latin typeface="CiscoSansTT"/>
                <a:ea typeface="CiscoSansTT"/>
                <a:cs typeface="CiscoSansTT"/>
              </a:defRPr>
            </a:lvl6pPr>
            <a:lvl7pPr algn="l">
              <a:defRPr sz="2250" b="0">
                <a:solidFill>
                  <a:srgbClr val="536171"/>
                </a:solidFill>
                <a:latin typeface="CiscoSansTT"/>
                <a:ea typeface="CiscoSansTT"/>
                <a:cs typeface="CiscoSansTT"/>
              </a:defRPr>
            </a:lvl7pPr>
            <a:lvl8pPr algn="l">
              <a:defRPr sz="2250" b="0">
                <a:solidFill>
                  <a:srgbClr val="536171"/>
                </a:solidFill>
                <a:latin typeface="CiscoSansTT"/>
                <a:ea typeface="CiscoSansTT"/>
                <a:cs typeface="CiscoSansTT"/>
              </a:defRPr>
            </a:lvl8pPr>
            <a:lvl9pPr algn="l">
              <a:defRPr sz="2250" b="0">
                <a:solidFill>
                  <a:srgbClr val="536171"/>
                </a:solidFill>
                <a:latin typeface="CiscoSansTT"/>
                <a:ea typeface="CiscoSansTT"/>
                <a:cs typeface="CiscoSansTT"/>
              </a:defRPr>
            </a:lvl9pPr>
          </a:lstStyle>
          <a:p xmlns:a="http://schemas.openxmlformats.org/drawingml/2006/main">
            <a:pPr algn="l">
              <a:defRPr sz="2250" b="0">
                <a:solidFill>
                  <a:srgbClr val="536171"/>
                </a:solidFill>
                <a:latin typeface="CiscoSansTT"/>
                <a:ea typeface="CiscoSansTT"/>
                <a:cs typeface="CiscoSansTT"/>
              </a:defRPr>
            </a:pPr>
            <a:r>
              <a:rPr sz="2250" b="0">
                <a:solidFill>
                  <a:srgbClr val="536171"/>
                </a:solidFill>
                <a:latin typeface="CiscoSansTT"/>
                <a:ea typeface="CiscoSansTT"/>
                <a:cs typeface="CiscoSansTT"/>
              </a:rPr>
              <a:t>Running OpenTelemetry OBI and Cilium together</a:t>
            </a:r>
          </a:p>
        </p:txBody>
      </p:sp>
      <p:sp>
        <p:nvSpPr>
          <p:cNvPr id="3" name="cover-speaker">
            <a:extLst xmlns:a="http://schemas.openxmlformats.org/drawingml/2006/main">
              <a:ext uri="{FF2B5EF4-FFF2-40B4-BE49-F238E27FC236}">
                <a16:creationId xmlns:a16="http://schemas.microsoft.com/office/drawing/2014/main" id="{DE459E17-7968-4573-9CD4-8287D26EADAD}"/>
              </a:ext>
            </a:extLst>
          </p:cNvPr>
          <p:cNvSpPr>
            <a:spLocks xmlns:a="http://schemas.openxmlformats.org/drawingml/2006/main" noGrp="1"/>
          </p:cNvSpPr>
          <p:nvPr/>
        </p:nvSpPr>
        <p:spPr>
          <a:xfrm xmlns:a="http://schemas.openxmlformats.org/drawingml/2006/main">
            <a:off x="228600" y="4552950"/>
            <a:ext cx="876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Antonio Jimenez Martinez</a:t>
            </a:r>
          </a:p>
        </p:txBody>
      </p:sp>
      <p:sp>
        <p:nvSpPr>
          <p:cNvPr id="4" name="cover-role">
            <a:extLst xmlns:a="http://schemas.openxmlformats.org/drawingml/2006/main">
              <a:ext uri="{FF2B5EF4-FFF2-40B4-BE49-F238E27FC236}">
                <a16:creationId xmlns:a16="http://schemas.microsoft.com/office/drawing/2014/main" id="{5A611097-C439-42EE-A1F2-19822C43CD14}"/>
              </a:ext>
            </a:extLst>
          </p:cNvPr>
          <p:cNvSpPr>
            <a:spLocks xmlns:a="http://schemas.openxmlformats.org/drawingml/2006/main" noGrp="1"/>
          </p:cNvSpPr>
          <p:nvPr/>
        </p:nvSpPr>
        <p:spPr>
          <a:xfrm xmlns:a="http://schemas.openxmlformats.org/drawingml/2006/main">
            <a:off x="228600" y="4981575"/>
            <a:ext cx="1000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0">
                <a:solidFill>
                  <a:srgbClr val="536171"/>
                </a:solidFill>
                <a:latin typeface="CiscoSansTT"/>
                <a:ea typeface="CiscoSansTT"/>
                <a:cs typeface="CiscoSansTT"/>
              </a:defRPr>
            </a:defPPr>
            <a:lvl1pPr algn="l">
              <a:defRPr sz="1650" b="0">
                <a:solidFill>
                  <a:srgbClr val="536171"/>
                </a:solidFill>
                <a:latin typeface="CiscoSansTT"/>
                <a:ea typeface="CiscoSansTT"/>
                <a:cs typeface="CiscoSansTT"/>
              </a:defRPr>
            </a:lvl1pPr>
            <a:lvl2pPr algn="l">
              <a:defRPr sz="1650" b="0">
                <a:solidFill>
                  <a:srgbClr val="536171"/>
                </a:solidFill>
                <a:latin typeface="CiscoSansTT"/>
                <a:ea typeface="CiscoSansTT"/>
                <a:cs typeface="CiscoSansTT"/>
              </a:defRPr>
            </a:lvl2pPr>
            <a:lvl3pPr algn="l">
              <a:defRPr sz="1650" b="0">
                <a:solidFill>
                  <a:srgbClr val="536171"/>
                </a:solidFill>
                <a:latin typeface="CiscoSansTT"/>
                <a:ea typeface="CiscoSansTT"/>
                <a:cs typeface="CiscoSansTT"/>
              </a:defRPr>
            </a:lvl3pPr>
            <a:lvl4pPr algn="l">
              <a:defRPr sz="1650" b="0">
                <a:solidFill>
                  <a:srgbClr val="536171"/>
                </a:solidFill>
                <a:latin typeface="CiscoSansTT"/>
                <a:ea typeface="CiscoSansTT"/>
                <a:cs typeface="CiscoSansTT"/>
              </a:defRPr>
            </a:lvl4pPr>
            <a:lvl5pPr algn="l">
              <a:defRPr sz="1650" b="0">
                <a:solidFill>
                  <a:srgbClr val="536171"/>
                </a:solidFill>
                <a:latin typeface="CiscoSansTT"/>
                <a:ea typeface="CiscoSansTT"/>
                <a:cs typeface="CiscoSansTT"/>
              </a:defRPr>
            </a:lvl5pPr>
            <a:lvl6pPr algn="l">
              <a:defRPr sz="1650" b="0">
                <a:solidFill>
                  <a:srgbClr val="536171"/>
                </a:solidFill>
                <a:latin typeface="CiscoSansTT"/>
                <a:ea typeface="CiscoSansTT"/>
                <a:cs typeface="CiscoSansTT"/>
              </a:defRPr>
            </a:lvl6pPr>
            <a:lvl7pPr algn="l">
              <a:defRPr sz="1650" b="0">
                <a:solidFill>
                  <a:srgbClr val="536171"/>
                </a:solidFill>
                <a:latin typeface="CiscoSansTT"/>
                <a:ea typeface="CiscoSansTT"/>
                <a:cs typeface="CiscoSansTT"/>
              </a:defRPr>
            </a:lvl7pPr>
            <a:lvl8pPr algn="l">
              <a:defRPr sz="1650" b="0">
                <a:solidFill>
                  <a:srgbClr val="536171"/>
                </a:solidFill>
                <a:latin typeface="CiscoSansTT"/>
                <a:ea typeface="CiscoSansTT"/>
                <a:cs typeface="CiscoSansTT"/>
              </a:defRPr>
            </a:lvl8pPr>
            <a:lvl9pPr algn="l">
              <a:defRPr sz="1650" b="0">
                <a:solidFill>
                  <a:srgbClr val="536171"/>
                </a:solidFill>
                <a:latin typeface="CiscoSansTT"/>
                <a:ea typeface="CiscoSansTT"/>
                <a:cs typeface="CiscoSansTT"/>
              </a:defRPr>
            </a:lvl9pPr>
          </a:lstStyle>
          <a:p xmlns:a="http://schemas.openxmlformats.org/drawingml/2006/main">
            <a:pPr algn="l">
              <a:defRPr sz="1650" b="0">
                <a:solidFill>
                  <a:srgbClr val="536171"/>
                </a:solidFill>
                <a:latin typeface="CiscoSansTT"/>
                <a:ea typeface="CiscoSansTT"/>
                <a:cs typeface="CiscoSansTT"/>
              </a:defRPr>
            </a:pPr>
            <a:r>
              <a:rPr sz="1650" b="0">
                <a:solidFill>
                  <a:srgbClr val="536171"/>
                </a:solidFill>
                <a:latin typeface="CiscoSansTT"/>
                <a:ea typeface="CiscoSansTT"/>
                <a:cs typeface="CiscoSansTT"/>
              </a:rPr>
              <a:t>Tech Lead Software Engineer, Cisco ThousandEyes</a:t>
            </a:r>
          </a:p>
        </p:txBody>
      </p:sp>
      <p:sp>
        <p:nvSpPr>
          <p:cNvPr id="5" name="cover-event">
            <a:extLst xmlns:a="http://schemas.openxmlformats.org/drawingml/2006/main">
              <a:ext uri="{FF2B5EF4-FFF2-40B4-BE49-F238E27FC236}">
                <a16:creationId xmlns:a16="http://schemas.microsoft.com/office/drawing/2014/main" id="{9EC1B48A-13E1-4093-A4E2-30A8A735E03E}"/>
              </a:ext>
            </a:extLst>
          </p:cNvPr>
          <p:cNvSpPr>
            <a:spLocks xmlns:a="http://schemas.openxmlformats.org/drawingml/2006/main" noGrp="1"/>
          </p:cNvSpPr>
          <p:nvPr/>
        </p:nvSpPr>
        <p:spPr>
          <a:xfrm xmlns:a="http://schemas.openxmlformats.org/drawingml/2006/main">
            <a:off x="228600" y="60960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425" b="0">
                <a:solidFill>
                  <a:srgbClr val="536171"/>
                </a:solidFill>
                <a:latin typeface="CiscoSansTT"/>
                <a:ea typeface="CiscoSansTT"/>
                <a:cs typeface="CiscoSansTT"/>
              </a:defRPr>
            </a:defPPr>
            <a:lvl1pPr algn="l">
              <a:defRPr sz="1425" b="0">
                <a:solidFill>
                  <a:srgbClr val="536171"/>
                </a:solidFill>
                <a:latin typeface="CiscoSansTT"/>
                <a:ea typeface="CiscoSansTT"/>
                <a:cs typeface="CiscoSansTT"/>
              </a:defRPr>
            </a:lvl1pPr>
            <a:lvl2pPr algn="l">
              <a:defRPr sz="1425" b="0">
                <a:solidFill>
                  <a:srgbClr val="536171"/>
                </a:solidFill>
                <a:latin typeface="CiscoSansTT"/>
                <a:ea typeface="CiscoSansTT"/>
                <a:cs typeface="CiscoSansTT"/>
              </a:defRPr>
            </a:lvl2pPr>
            <a:lvl3pPr algn="l">
              <a:defRPr sz="1425" b="0">
                <a:solidFill>
                  <a:srgbClr val="536171"/>
                </a:solidFill>
                <a:latin typeface="CiscoSansTT"/>
                <a:ea typeface="CiscoSansTT"/>
                <a:cs typeface="CiscoSansTT"/>
              </a:defRPr>
            </a:lvl3pPr>
            <a:lvl4pPr algn="l">
              <a:defRPr sz="1425" b="0">
                <a:solidFill>
                  <a:srgbClr val="536171"/>
                </a:solidFill>
                <a:latin typeface="CiscoSansTT"/>
                <a:ea typeface="CiscoSansTT"/>
                <a:cs typeface="CiscoSansTT"/>
              </a:defRPr>
            </a:lvl4pPr>
            <a:lvl5pPr algn="l">
              <a:defRPr sz="1425" b="0">
                <a:solidFill>
                  <a:srgbClr val="536171"/>
                </a:solidFill>
                <a:latin typeface="CiscoSansTT"/>
                <a:ea typeface="CiscoSansTT"/>
                <a:cs typeface="CiscoSansTT"/>
              </a:defRPr>
            </a:lvl5pPr>
            <a:lvl6pPr algn="l">
              <a:defRPr sz="1425" b="0">
                <a:solidFill>
                  <a:srgbClr val="536171"/>
                </a:solidFill>
                <a:latin typeface="CiscoSansTT"/>
                <a:ea typeface="CiscoSansTT"/>
                <a:cs typeface="CiscoSansTT"/>
              </a:defRPr>
            </a:lvl6pPr>
            <a:lvl7pPr algn="l">
              <a:defRPr sz="1425" b="0">
                <a:solidFill>
                  <a:srgbClr val="536171"/>
                </a:solidFill>
                <a:latin typeface="CiscoSansTT"/>
                <a:ea typeface="CiscoSansTT"/>
                <a:cs typeface="CiscoSansTT"/>
              </a:defRPr>
            </a:lvl7pPr>
            <a:lvl8pPr algn="l">
              <a:defRPr sz="1425" b="0">
                <a:solidFill>
                  <a:srgbClr val="536171"/>
                </a:solidFill>
                <a:latin typeface="CiscoSansTT"/>
                <a:ea typeface="CiscoSansTT"/>
                <a:cs typeface="CiscoSansTT"/>
              </a:defRPr>
            </a:lvl8pPr>
            <a:lvl9pPr algn="l">
              <a:defRPr sz="1425" b="0">
                <a:solidFill>
                  <a:srgbClr val="536171"/>
                </a:solidFill>
                <a:latin typeface="CiscoSansTT"/>
                <a:ea typeface="CiscoSansTT"/>
                <a:cs typeface="CiscoSansTT"/>
              </a:defRPr>
            </a:lvl9pPr>
          </a:lstStyle>
          <a:p xmlns:a="http://schemas.openxmlformats.org/drawingml/2006/main">
            <a:pPr algn="l">
              <a:defRPr sz="1425" b="0">
                <a:solidFill>
                  <a:srgbClr val="536171"/>
                </a:solidFill>
                <a:latin typeface="CiscoSansTT"/>
                <a:ea typeface="CiscoSansTT"/>
                <a:cs typeface="CiscoSansTT"/>
              </a:defRPr>
            </a:pPr>
            <a:r>
              <a:rPr sz="1425" b="0">
                <a:solidFill>
                  <a:srgbClr val="536171"/>
                </a:solidFill>
                <a:latin typeface="CiscoSansTT"/>
                <a:ea typeface="CiscoSansTT"/>
                <a:cs typeface="CiscoSansTT"/>
              </a:rPr>
              <a:t>KubeCon + CloudNativeCon North America 2026</a:t>
            </a:r>
          </a:p>
        </p:txBody>
      </p:sp>
    </p:spTree>
    <p:extLst>
      <p:ext uri="{BB962C8B-B14F-4D97-AF65-F5344CB8AC3E}">
        <p14:creationId xmlns:p14="http://schemas.microsoft.com/office/powerpoint/2010/main" val="2366237103"/>
      </p:ext>
    </p:extLst>
  </p:cSld>
  <p:clrMapOvr>
    <a:masterClrMapping/>
  </p:clrMapOvr>
  <p:transition advClick="1"/>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323850" y="228600"/>
            <a:ext cx="333375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defRPr sz="3150" b="0">
                <a:solidFill>
                  <a:srgbClr val="07182A"/>
                </a:solidFill>
                <a:latin typeface="CiscoSansTT"/>
                <a:ea typeface="CiscoSansTT"/>
                <a:cs typeface="CiscoSansTT"/>
              </a:defRPr>
            </a:lvl1pPr>
            <a:lvl2pPr algn="l">
              <a:defRPr sz="3150" b="0">
                <a:solidFill>
                  <a:srgbClr val="07182A"/>
                </a:solidFill>
                <a:latin typeface="CiscoSansTT"/>
                <a:ea typeface="CiscoSansTT"/>
                <a:cs typeface="CiscoSansTT"/>
              </a:defRPr>
            </a:lvl2pPr>
            <a:lvl3pPr algn="l">
              <a:defRPr sz="3150" b="0">
                <a:solidFill>
                  <a:srgbClr val="07182A"/>
                </a:solidFill>
                <a:latin typeface="CiscoSansTT"/>
                <a:ea typeface="CiscoSansTT"/>
                <a:cs typeface="CiscoSansTT"/>
              </a:defRPr>
            </a:lvl3pPr>
            <a:lvl4pPr algn="l">
              <a:defRPr sz="3150" b="0">
                <a:solidFill>
                  <a:srgbClr val="07182A"/>
                </a:solidFill>
                <a:latin typeface="CiscoSansTT"/>
                <a:ea typeface="CiscoSansTT"/>
                <a:cs typeface="CiscoSansTT"/>
              </a:defRPr>
            </a:lvl4pPr>
            <a:lvl5pPr algn="l">
              <a:defRPr sz="3150" b="0">
                <a:solidFill>
                  <a:srgbClr val="07182A"/>
                </a:solidFill>
                <a:latin typeface="CiscoSansTT"/>
                <a:ea typeface="CiscoSansTT"/>
                <a:cs typeface="CiscoSansTT"/>
              </a:defRPr>
            </a:lvl5pPr>
            <a:lvl6pPr algn="l">
              <a:defRPr sz="3150" b="0">
                <a:solidFill>
                  <a:srgbClr val="07182A"/>
                </a:solidFill>
                <a:latin typeface="CiscoSansTT"/>
                <a:ea typeface="CiscoSansTT"/>
                <a:cs typeface="CiscoSansTT"/>
              </a:defRPr>
            </a:lvl6pPr>
            <a:lvl7pPr algn="l">
              <a:defRPr sz="3150" b="0">
                <a:solidFill>
                  <a:srgbClr val="07182A"/>
                </a:solidFill>
                <a:latin typeface="CiscoSansTT"/>
                <a:ea typeface="CiscoSansTT"/>
                <a:cs typeface="CiscoSansTT"/>
              </a:defRPr>
            </a:lvl7pPr>
            <a:lvl8pPr algn="l">
              <a:defRPr sz="3150" b="0">
                <a:solidFill>
                  <a:srgbClr val="07182A"/>
                </a:solidFill>
                <a:latin typeface="CiscoSansTT"/>
                <a:ea typeface="CiscoSansTT"/>
                <a:cs typeface="CiscoSansTT"/>
              </a:defRPr>
            </a:lvl8pPr>
            <a:lvl9pPr algn="l">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Agenda</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24" name="agenda-number-1">
            <a:extLst>
              <a:ext uri="{FF2B5EF4-FFF2-40B4-BE49-F238E27FC236}">
                <a16:creationId xmlns:a16="http://schemas.microsoft.com/office/drawing/2014/main" id="{3E6C33D2-BC2A-4DB6-8A9C-E248044FAE61}"/>
              </a:ext>
            </a:extLst>
          </p:cNvPr>
          <p:cNvSpPr>
            <a:spLocks noGrp="1"/>
          </p:cNvSpPr>
          <p:nvPr/>
        </p:nvSpPr>
        <p:spPr>
          <a:xfrm>
            <a:off x="5334000" y="323850"/>
            <a:ext cx="619125" cy="533400"/>
          </a:xfrm>
          <a:prstGeom prst="rect">
            <a:avLst/>
          </a:prstGeom>
          <a:noFill/>
          <a:ln w="0">
            <a:noFill/>
          </a:ln>
        </p:spPr>
        <p:txBody>
          <a:bodyPr anchor="ctr">
            <a:noAutofit/>
          </a:bodyPr>
          <a:lstStyle>
            <a:defPPr algn="l">
              <a:defRPr sz="2325">
                <a:solidFill>
                  <a:srgbClr val="0860FE"/>
                </a:solidFill>
                <a:latin typeface="CiscoSansTT"/>
                <a:ea typeface="CiscoSansTT"/>
                <a:cs typeface="CiscoSansTT"/>
              </a:defRPr>
            </a:defPPr>
            <a:lvl1pPr algn="l">
              <a:defRPr sz="2325">
                <a:solidFill>
                  <a:srgbClr val="0860FE"/>
                </a:solidFill>
                <a:latin typeface="CiscoSansTT"/>
                <a:ea typeface="CiscoSansTT"/>
                <a:cs typeface="CiscoSansTT"/>
              </a:defRPr>
            </a:lvl1pPr>
            <a:lvl2pPr algn="l">
              <a:defRPr sz="2325">
                <a:solidFill>
                  <a:srgbClr val="0860FE"/>
                </a:solidFill>
                <a:latin typeface="CiscoSansTT"/>
                <a:ea typeface="CiscoSansTT"/>
                <a:cs typeface="CiscoSansTT"/>
              </a:defRPr>
            </a:lvl2pPr>
            <a:lvl3pPr algn="l">
              <a:defRPr sz="2325">
                <a:solidFill>
                  <a:srgbClr val="0860FE"/>
                </a:solidFill>
                <a:latin typeface="CiscoSansTT"/>
                <a:ea typeface="CiscoSansTT"/>
                <a:cs typeface="CiscoSansTT"/>
              </a:defRPr>
            </a:lvl3pPr>
            <a:lvl4pPr algn="l">
              <a:defRPr sz="2325">
                <a:solidFill>
                  <a:srgbClr val="0860FE"/>
                </a:solidFill>
                <a:latin typeface="CiscoSansTT"/>
                <a:ea typeface="CiscoSansTT"/>
                <a:cs typeface="CiscoSansTT"/>
              </a:defRPr>
            </a:lvl4pPr>
            <a:lvl5pPr algn="l">
              <a:defRPr sz="2325">
                <a:solidFill>
                  <a:srgbClr val="0860FE"/>
                </a:solidFill>
                <a:latin typeface="CiscoSansTT"/>
                <a:ea typeface="CiscoSansTT"/>
                <a:cs typeface="CiscoSansTT"/>
              </a:defRPr>
            </a:lvl5pPr>
            <a:lvl6pPr algn="l">
              <a:defRPr sz="2325">
                <a:solidFill>
                  <a:srgbClr val="0860FE"/>
                </a:solidFill>
                <a:latin typeface="CiscoSansTT"/>
                <a:ea typeface="CiscoSansTT"/>
                <a:cs typeface="CiscoSansTT"/>
              </a:defRPr>
            </a:lvl6pPr>
            <a:lvl7pPr algn="l">
              <a:defRPr sz="2325">
                <a:solidFill>
                  <a:srgbClr val="0860FE"/>
                </a:solidFill>
                <a:latin typeface="CiscoSansTT"/>
                <a:ea typeface="CiscoSansTT"/>
                <a:cs typeface="CiscoSansTT"/>
              </a:defRPr>
            </a:lvl7pPr>
            <a:lvl8pPr algn="l">
              <a:defRPr sz="2325">
                <a:solidFill>
                  <a:srgbClr val="0860FE"/>
                </a:solidFill>
                <a:latin typeface="CiscoSansTT"/>
                <a:ea typeface="CiscoSansTT"/>
                <a:cs typeface="CiscoSansTT"/>
              </a:defRPr>
            </a:lvl8pPr>
            <a:lvl9pPr algn="l">
              <a:defRPr sz="2325">
                <a:solidFill>
                  <a:srgbClr val="0860FE"/>
                </a:solidFill>
                <a:latin typeface="CiscoSansTT"/>
                <a:ea typeface="CiscoSansTT"/>
                <a:cs typeface="CiscoSansTT"/>
              </a:defRPr>
            </a:lvl9pPr>
          </a:lstStyle>
          <a:p>
            <a:pPr algn="l">
              <a:defRPr sz="2325">
                <a:solidFill>
                  <a:srgbClr val="0860FE"/>
                </a:solidFill>
                <a:latin typeface="CiscoSansTT"/>
                <a:ea typeface="CiscoSansTT"/>
                <a:cs typeface="CiscoSansTT"/>
              </a:defRPr>
            </a:pPr>
            <a:r>
              <a:rPr sz="2325">
                <a:solidFill>
                  <a:srgbClr val="0860FE"/>
                </a:solidFill>
                <a:latin typeface="CiscoSansTT"/>
                <a:ea typeface="CiscoSansTT"/>
                <a:cs typeface="CiscoSansTT"/>
              </a:rPr>
              <a:t>01</a:t>
            </a:r>
          </a:p>
        </p:txBody>
      </p:sp>
      <p:sp>
        <p:nvSpPr>
          <p:cNvPr id="25" name="agenda-topic-1">
            <a:extLst>
              <a:ext uri="{FF2B5EF4-FFF2-40B4-BE49-F238E27FC236}">
                <a16:creationId xmlns:a16="http://schemas.microsoft.com/office/drawing/2014/main" id="{C475854E-9652-45BB-BA83-A7EF3A0CDE41}"/>
              </a:ext>
            </a:extLst>
          </p:cNvPr>
          <p:cNvSpPr>
            <a:spLocks noGrp="1"/>
          </p:cNvSpPr>
          <p:nvPr/>
        </p:nvSpPr>
        <p:spPr>
          <a:xfrm>
            <a:off x="6334125" y="323850"/>
            <a:ext cx="5238750" cy="533400"/>
          </a:xfrm>
          <a:prstGeom prst="rect">
            <a:avLst/>
          </a:prstGeom>
          <a:noFill/>
          <a:ln w="0">
            <a:noFill/>
          </a:ln>
        </p:spPr>
        <p:txBody>
          <a:bodyPr anchor="ctr">
            <a:noAutofit/>
          </a:bodyPr>
          <a:lstStyle>
            <a:defPPr algn="l">
              <a:defRPr sz="2400">
                <a:solidFill>
                  <a:srgbClr val="07182A"/>
                </a:solidFill>
                <a:latin typeface="CiscoSansTT"/>
                <a:ea typeface="CiscoSansTT"/>
                <a:cs typeface="CiscoSansTT"/>
              </a:defRPr>
            </a:defPPr>
            <a:lvl1pPr algn="l">
              <a:defRPr sz="2400">
                <a:solidFill>
                  <a:srgbClr val="07182A"/>
                </a:solidFill>
                <a:latin typeface="CiscoSansTT"/>
                <a:ea typeface="CiscoSansTT"/>
                <a:cs typeface="CiscoSansTT"/>
              </a:defRPr>
            </a:lvl1pPr>
            <a:lvl2pPr algn="l">
              <a:defRPr sz="2400">
                <a:solidFill>
                  <a:srgbClr val="07182A"/>
                </a:solidFill>
                <a:latin typeface="CiscoSansTT"/>
                <a:ea typeface="CiscoSansTT"/>
                <a:cs typeface="CiscoSansTT"/>
              </a:defRPr>
            </a:lvl2pPr>
            <a:lvl3pPr algn="l">
              <a:defRPr sz="2400">
                <a:solidFill>
                  <a:srgbClr val="07182A"/>
                </a:solidFill>
                <a:latin typeface="CiscoSansTT"/>
                <a:ea typeface="CiscoSansTT"/>
                <a:cs typeface="CiscoSansTT"/>
              </a:defRPr>
            </a:lvl3pPr>
            <a:lvl4pPr algn="l">
              <a:defRPr sz="2400">
                <a:solidFill>
                  <a:srgbClr val="07182A"/>
                </a:solidFill>
                <a:latin typeface="CiscoSansTT"/>
                <a:ea typeface="CiscoSansTT"/>
                <a:cs typeface="CiscoSansTT"/>
              </a:defRPr>
            </a:lvl4pPr>
            <a:lvl5pPr algn="l">
              <a:defRPr sz="2400">
                <a:solidFill>
                  <a:srgbClr val="07182A"/>
                </a:solidFill>
                <a:latin typeface="CiscoSansTT"/>
                <a:ea typeface="CiscoSansTT"/>
                <a:cs typeface="CiscoSansTT"/>
              </a:defRPr>
            </a:lvl5pPr>
            <a:lvl6pPr algn="l">
              <a:defRPr sz="2400">
                <a:solidFill>
                  <a:srgbClr val="07182A"/>
                </a:solidFill>
                <a:latin typeface="CiscoSansTT"/>
                <a:ea typeface="CiscoSansTT"/>
                <a:cs typeface="CiscoSansTT"/>
              </a:defRPr>
            </a:lvl6pPr>
            <a:lvl7pPr algn="l">
              <a:defRPr sz="2400">
                <a:solidFill>
                  <a:srgbClr val="07182A"/>
                </a:solidFill>
                <a:latin typeface="CiscoSansTT"/>
                <a:ea typeface="CiscoSansTT"/>
                <a:cs typeface="CiscoSansTT"/>
              </a:defRPr>
            </a:lvl7pPr>
            <a:lvl8pPr algn="l">
              <a:defRPr sz="2400">
                <a:solidFill>
                  <a:srgbClr val="07182A"/>
                </a:solidFill>
                <a:latin typeface="CiscoSansTT"/>
                <a:ea typeface="CiscoSansTT"/>
                <a:cs typeface="CiscoSansTT"/>
              </a:defRPr>
            </a:lvl8pPr>
            <a:lvl9pPr algn="l">
              <a:defRPr sz="2400">
                <a:solidFill>
                  <a:srgbClr val="07182A"/>
                </a:solidFill>
                <a:latin typeface="CiscoSansTT"/>
                <a:ea typeface="CiscoSansTT"/>
                <a:cs typeface="CiscoSansTT"/>
              </a:defRPr>
            </a:lvl9pPr>
          </a:lstStyle>
          <a:p>
            <a:pPr algn="l">
              <a:defRPr sz="2400">
                <a:solidFill>
                  <a:srgbClr val="07182A"/>
                </a:solidFill>
                <a:latin typeface="CiscoSansTT"/>
                <a:ea typeface="CiscoSansTT"/>
                <a:cs typeface="CiscoSansTT"/>
              </a:defRPr>
            </a:pPr>
            <a:r>
              <a:rPr sz="2400">
                <a:solidFill>
                  <a:srgbClr val="07182A"/>
                </a:solidFill>
                <a:latin typeface="CiscoSansTT"/>
                <a:ea typeface="CiscoSansTT"/>
                <a:cs typeface="CiscoSansTT"/>
              </a:rPr>
              <a:t>OBI vs Cilium + Hubble</a:t>
            </a:r>
          </a:p>
        </p:txBody>
      </p:sp>
      <p:sp>
        <p:nvSpPr>
          <p:cNvPr id="26" name="agenda-number-2">
            <a:extLst>
              <a:ext uri="{FF2B5EF4-FFF2-40B4-BE49-F238E27FC236}">
                <a16:creationId xmlns:a16="http://schemas.microsoft.com/office/drawing/2014/main" id="{A91151FB-E001-4E25-9158-F9877349CD23}"/>
              </a:ext>
            </a:extLst>
          </p:cNvPr>
          <p:cNvSpPr>
            <a:spLocks noGrp="1"/>
          </p:cNvSpPr>
          <p:nvPr/>
        </p:nvSpPr>
        <p:spPr>
          <a:xfrm>
            <a:off x="5334000" y="1171575"/>
            <a:ext cx="619125" cy="533400"/>
          </a:xfrm>
          <a:prstGeom prst="rect">
            <a:avLst/>
          </a:prstGeom>
          <a:noFill/>
          <a:ln w="0">
            <a:noFill/>
          </a:ln>
        </p:spPr>
        <p:txBody>
          <a:bodyPr anchor="ctr">
            <a:noAutofit/>
          </a:bodyPr>
          <a:lstStyle>
            <a:defPPr algn="l">
              <a:defRPr sz="2325">
                <a:solidFill>
                  <a:srgbClr val="0860FE"/>
                </a:solidFill>
                <a:latin typeface="CiscoSansTT"/>
                <a:ea typeface="CiscoSansTT"/>
                <a:cs typeface="CiscoSansTT"/>
              </a:defRPr>
            </a:defPPr>
            <a:lvl1pPr algn="l">
              <a:defRPr sz="2325">
                <a:solidFill>
                  <a:srgbClr val="0860FE"/>
                </a:solidFill>
                <a:latin typeface="CiscoSansTT"/>
                <a:ea typeface="CiscoSansTT"/>
                <a:cs typeface="CiscoSansTT"/>
              </a:defRPr>
            </a:lvl1pPr>
            <a:lvl2pPr algn="l">
              <a:defRPr sz="2325">
                <a:solidFill>
                  <a:srgbClr val="0860FE"/>
                </a:solidFill>
                <a:latin typeface="CiscoSansTT"/>
                <a:ea typeface="CiscoSansTT"/>
                <a:cs typeface="CiscoSansTT"/>
              </a:defRPr>
            </a:lvl2pPr>
            <a:lvl3pPr algn="l">
              <a:defRPr sz="2325">
                <a:solidFill>
                  <a:srgbClr val="0860FE"/>
                </a:solidFill>
                <a:latin typeface="CiscoSansTT"/>
                <a:ea typeface="CiscoSansTT"/>
                <a:cs typeface="CiscoSansTT"/>
              </a:defRPr>
            </a:lvl3pPr>
            <a:lvl4pPr algn="l">
              <a:defRPr sz="2325">
                <a:solidFill>
                  <a:srgbClr val="0860FE"/>
                </a:solidFill>
                <a:latin typeface="CiscoSansTT"/>
                <a:ea typeface="CiscoSansTT"/>
                <a:cs typeface="CiscoSansTT"/>
              </a:defRPr>
            </a:lvl4pPr>
            <a:lvl5pPr algn="l">
              <a:defRPr sz="2325">
                <a:solidFill>
                  <a:srgbClr val="0860FE"/>
                </a:solidFill>
                <a:latin typeface="CiscoSansTT"/>
                <a:ea typeface="CiscoSansTT"/>
                <a:cs typeface="CiscoSansTT"/>
              </a:defRPr>
            </a:lvl5pPr>
            <a:lvl6pPr algn="l">
              <a:defRPr sz="2325">
                <a:solidFill>
                  <a:srgbClr val="0860FE"/>
                </a:solidFill>
                <a:latin typeface="CiscoSansTT"/>
                <a:ea typeface="CiscoSansTT"/>
                <a:cs typeface="CiscoSansTT"/>
              </a:defRPr>
            </a:lvl6pPr>
            <a:lvl7pPr algn="l">
              <a:defRPr sz="2325">
                <a:solidFill>
                  <a:srgbClr val="0860FE"/>
                </a:solidFill>
                <a:latin typeface="CiscoSansTT"/>
                <a:ea typeface="CiscoSansTT"/>
                <a:cs typeface="CiscoSansTT"/>
              </a:defRPr>
            </a:lvl7pPr>
            <a:lvl8pPr algn="l">
              <a:defRPr sz="2325">
                <a:solidFill>
                  <a:srgbClr val="0860FE"/>
                </a:solidFill>
                <a:latin typeface="CiscoSansTT"/>
                <a:ea typeface="CiscoSansTT"/>
                <a:cs typeface="CiscoSansTT"/>
              </a:defRPr>
            </a:lvl8pPr>
            <a:lvl9pPr algn="l">
              <a:defRPr sz="2325">
                <a:solidFill>
                  <a:srgbClr val="0860FE"/>
                </a:solidFill>
                <a:latin typeface="CiscoSansTT"/>
                <a:ea typeface="CiscoSansTT"/>
                <a:cs typeface="CiscoSansTT"/>
              </a:defRPr>
            </a:lvl9pPr>
          </a:lstStyle>
          <a:p>
            <a:pPr algn="l">
              <a:defRPr sz="2325">
                <a:solidFill>
                  <a:srgbClr val="0860FE"/>
                </a:solidFill>
                <a:latin typeface="CiscoSansTT"/>
                <a:ea typeface="CiscoSansTT"/>
                <a:cs typeface="CiscoSansTT"/>
              </a:defRPr>
            </a:pPr>
            <a:r>
              <a:rPr sz="2325">
                <a:solidFill>
                  <a:srgbClr val="0860FE"/>
                </a:solidFill>
                <a:latin typeface="CiscoSansTT"/>
                <a:ea typeface="CiscoSansTT"/>
                <a:cs typeface="CiscoSansTT"/>
              </a:rPr>
              <a:t>02</a:t>
            </a:r>
          </a:p>
        </p:txBody>
      </p:sp>
      <p:sp>
        <p:nvSpPr>
          <p:cNvPr id="27" name="agenda-topic-2">
            <a:extLst>
              <a:ext uri="{FF2B5EF4-FFF2-40B4-BE49-F238E27FC236}">
                <a16:creationId xmlns:a16="http://schemas.microsoft.com/office/drawing/2014/main" id="{7AC5632C-345D-4706-B0FF-B0E1D7A0DC7E}"/>
              </a:ext>
            </a:extLst>
          </p:cNvPr>
          <p:cNvSpPr>
            <a:spLocks noGrp="1"/>
          </p:cNvSpPr>
          <p:nvPr/>
        </p:nvSpPr>
        <p:spPr>
          <a:xfrm>
            <a:off x="6334125" y="1171575"/>
            <a:ext cx="5238750" cy="533400"/>
          </a:xfrm>
          <a:prstGeom prst="rect">
            <a:avLst/>
          </a:prstGeom>
          <a:noFill/>
          <a:ln w="0">
            <a:noFill/>
          </a:ln>
        </p:spPr>
        <p:txBody>
          <a:bodyPr anchor="ctr">
            <a:noAutofit/>
          </a:bodyPr>
          <a:lstStyle>
            <a:defPPr algn="l">
              <a:defRPr sz="2400">
                <a:solidFill>
                  <a:srgbClr val="07182A"/>
                </a:solidFill>
                <a:latin typeface="CiscoSansTT"/>
                <a:ea typeface="CiscoSansTT"/>
                <a:cs typeface="CiscoSansTT"/>
              </a:defRPr>
            </a:defPPr>
            <a:lvl1pPr algn="l">
              <a:defRPr sz="2400">
                <a:solidFill>
                  <a:srgbClr val="07182A"/>
                </a:solidFill>
                <a:latin typeface="CiscoSansTT"/>
                <a:ea typeface="CiscoSansTT"/>
                <a:cs typeface="CiscoSansTT"/>
              </a:defRPr>
            </a:lvl1pPr>
            <a:lvl2pPr algn="l">
              <a:defRPr sz="2400">
                <a:solidFill>
                  <a:srgbClr val="07182A"/>
                </a:solidFill>
                <a:latin typeface="CiscoSansTT"/>
                <a:ea typeface="CiscoSansTT"/>
                <a:cs typeface="CiscoSansTT"/>
              </a:defRPr>
            </a:lvl2pPr>
            <a:lvl3pPr algn="l">
              <a:defRPr sz="2400">
                <a:solidFill>
                  <a:srgbClr val="07182A"/>
                </a:solidFill>
                <a:latin typeface="CiscoSansTT"/>
                <a:ea typeface="CiscoSansTT"/>
                <a:cs typeface="CiscoSansTT"/>
              </a:defRPr>
            </a:lvl3pPr>
            <a:lvl4pPr algn="l">
              <a:defRPr sz="2400">
                <a:solidFill>
                  <a:srgbClr val="07182A"/>
                </a:solidFill>
                <a:latin typeface="CiscoSansTT"/>
                <a:ea typeface="CiscoSansTT"/>
                <a:cs typeface="CiscoSansTT"/>
              </a:defRPr>
            </a:lvl4pPr>
            <a:lvl5pPr algn="l">
              <a:defRPr sz="2400">
                <a:solidFill>
                  <a:srgbClr val="07182A"/>
                </a:solidFill>
                <a:latin typeface="CiscoSansTT"/>
                <a:ea typeface="CiscoSansTT"/>
                <a:cs typeface="CiscoSansTT"/>
              </a:defRPr>
            </a:lvl5pPr>
            <a:lvl6pPr algn="l">
              <a:defRPr sz="2400">
                <a:solidFill>
                  <a:srgbClr val="07182A"/>
                </a:solidFill>
                <a:latin typeface="CiscoSansTT"/>
                <a:ea typeface="CiscoSansTT"/>
                <a:cs typeface="CiscoSansTT"/>
              </a:defRPr>
            </a:lvl6pPr>
            <a:lvl7pPr algn="l">
              <a:defRPr sz="2400">
                <a:solidFill>
                  <a:srgbClr val="07182A"/>
                </a:solidFill>
                <a:latin typeface="CiscoSansTT"/>
                <a:ea typeface="CiscoSansTT"/>
                <a:cs typeface="CiscoSansTT"/>
              </a:defRPr>
            </a:lvl7pPr>
            <a:lvl8pPr algn="l">
              <a:defRPr sz="2400">
                <a:solidFill>
                  <a:srgbClr val="07182A"/>
                </a:solidFill>
                <a:latin typeface="CiscoSansTT"/>
                <a:ea typeface="CiscoSansTT"/>
                <a:cs typeface="CiscoSansTT"/>
              </a:defRPr>
            </a:lvl8pPr>
            <a:lvl9pPr algn="l">
              <a:defRPr sz="2400">
                <a:solidFill>
                  <a:srgbClr val="07182A"/>
                </a:solidFill>
                <a:latin typeface="CiscoSansTT"/>
                <a:ea typeface="CiscoSansTT"/>
                <a:cs typeface="CiscoSansTT"/>
              </a:defRPr>
            </a:lvl9pPr>
          </a:lstStyle>
          <a:p>
            <a:pPr algn="l">
              <a:defRPr sz="2400">
                <a:solidFill>
                  <a:srgbClr val="07182A"/>
                </a:solidFill>
                <a:latin typeface="CiscoSansTT"/>
                <a:ea typeface="CiscoSansTT"/>
                <a:cs typeface="CiscoSansTT"/>
              </a:defRPr>
            </a:pPr>
            <a:r>
              <a:rPr sz="2400">
                <a:solidFill>
                  <a:srgbClr val="07182A"/>
                </a:solidFill>
                <a:latin typeface="CiscoSansTT"/>
                <a:ea typeface="CiscoSansTT"/>
                <a:cs typeface="CiscoSansTT"/>
              </a:rPr>
              <a:t>Coexistence problem</a:t>
            </a:r>
          </a:p>
        </p:txBody>
      </p:sp>
      <p:sp>
        <p:nvSpPr>
          <p:cNvPr id="28" name="agenda-number-3">
            <a:extLst>
              <a:ext uri="{FF2B5EF4-FFF2-40B4-BE49-F238E27FC236}">
                <a16:creationId xmlns:a16="http://schemas.microsoft.com/office/drawing/2014/main" id="{54EC1303-6A66-4C2C-8298-0004A4D943CC}"/>
              </a:ext>
            </a:extLst>
          </p:cNvPr>
          <p:cNvSpPr>
            <a:spLocks noGrp="1"/>
          </p:cNvSpPr>
          <p:nvPr/>
        </p:nvSpPr>
        <p:spPr>
          <a:xfrm>
            <a:off x="5334000" y="2019300"/>
            <a:ext cx="619125" cy="533400"/>
          </a:xfrm>
          <a:prstGeom prst="rect">
            <a:avLst/>
          </a:prstGeom>
          <a:noFill/>
          <a:ln w="0">
            <a:noFill/>
          </a:ln>
        </p:spPr>
        <p:txBody>
          <a:bodyPr anchor="ctr">
            <a:noAutofit/>
          </a:bodyPr>
          <a:lstStyle>
            <a:defPPr algn="l">
              <a:defRPr sz="2325">
                <a:solidFill>
                  <a:srgbClr val="0860FE"/>
                </a:solidFill>
                <a:latin typeface="CiscoSansTT"/>
                <a:ea typeface="CiscoSansTT"/>
                <a:cs typeface="CiscoSansTT"/>
              </a:defRPr>
            </a:defPPr>
            <a:lvl1pPr algn="l">
              <a:defRPr sz="2325">
                <a:solidFill>
                  <a:srgbClr val="0860FE"/>
                </a:solidFill>
                <a:latin typeface="CiscoSansTT"/>
                <a:ea typeface="CiscoSansTT"/>
                <a:cs typeface="CiscoSansTT"/>
              </a:defRPr>
            </a:lvl1pPr>
            <a:lvl2pPr algn="l">
              <a:defRPr sz="2325">
                <a:solidFill>
                  <a:srgbClr val="0860FE"/>
                </a:solidFill>
                <a:latin typeface="CiscoSansTT"/>
                <a:ea typeface="CiscoSansTT"/>
                <a:cs typeface="CiscoSansTT"/>
              </a:defRPr>
            </a:lvl2pPr>
            <a:lvl3pPr algn="l">
              <a:defRPr sz="2325">
                <a:solidFill>
                  <a:srgbClr val="0860FE"/>
                </a:solidFill>
                <a:latin typeface="CiscoSansTT"/>
                <a:ea typeface="CiscoSansTT"/>
                <a:cs typeface="CiscoSansTT"/>
              </a:defRPr>
            </a:lvl3pPr>
            <a:lvl4pPr algn="l">
              <a:defRPr sz="2325">
                <a:solidFill>
                  <a:srgbClr val="0860FE"/>
                </a:solidFill>
                <a:latin typeface="CiscoSansTT"/>
                <a:ea typeface="CiscoSansTT"/>
                <a:cs typeface="CiscoSansTT"/>
              </a:defRPr>
            </a:lvl4pPr>
            <a:lvl5pPr algn="l">
              <a:defRPr sz="2325">
                <a:solidFill>
                  <a:srgbClr val="0860FE"/>
                </a:solidFill>
                <a:latin typeface="CiscoSansTT"/>
                <a:ea typeface="CiscoSansTT"/>
                <a:cs typeface="CiscoSansTT"/>
              </a:defRPr>
            </a:lvl5pPr>
            <a:lvl6pPr algn="l">
              <a:defRPr sz="2325">
                <a:solidFill>
                  <a:srgbClr val="0860FE"/>
                </a:solidFill>
                <a:latin typeface="CiscoSansTT"/>
                <a:ea typeface="CiscoSansTT"/>
                <a:cs typeface="CiscoSansTT"/>
              </a:defRPr>
            </a:lvl6pPr>
            <a:lvl7pPr algn="l">
              <a:defRPr sz="2325">
                <a:solidFill>
                  <a:srgbClr val="0860FE"/>
                </a:solidFill>
                <a:latin typeface="CiscoSansTT"/>
                <a:ea typeface="CiscoSansTT"/>
                <a:cs typeface="CiscoSansTT"/>
              </a:defRPr>
            </a:lvl7pPr>
            <a:lvl8pPr algn="l">
              <a:defRPr sz="2325">
                <a:solidFill>
                  <a:srgbClr val="0860FE"/>
                </a:solidFill>
                <a:latin typeface="CiscoSansTT"/>
                <a:ea typeface="CiscoSansTT"/>
                <a:cs typeface="CiscoSansTT"/>
              </a:defRPr>
            </a:lvl8pPr>
            <a:lvl9pPr algn="l">
              <a:defRPr sz="2325">
                <a:solidFill>
                  <a:srgbClr val="0860FE"/>
                </a:solidFill>
                <a:latin typeface="CiscoSansTT"/>
                <a:ea typeface="CiscoSansTT"/>
                <a:cs typeface="CiscoSansTT"/>
              </a:defRPr>
            </a:lvl9pPr>
          </a:lstStyle>
          <a:p>
            <a:pPr algn="l">
              <a:defRPr sz="2325">
                <a:solidFill>
                  <a:srgbClr val="0860FE"/>
                </a:solidFill>
                <a:latin typeface="CiscoSansTT"/>
                <a:ea typeface="CiscoSansTT"/>
                <a:cs typeface="CiscoSansTT"/>
              </a:defRPr>
            </a:pPr>
            <a:r>
              <a:rPr sz="2325">
                <a:solidFill>
                  <a:srgbClr val="0860FE"/>
                </a:solidFill>
                <a:latin typeface="CiscoSansTT"/>
                <a:ea typeface="CiscoSansTT"/>
                <a:cs typeface="CiscoSansTT"/>
              </a:rPr>
              <a:t>03</a:t>
            </a:r>
          </a:p>
        </p:txBody>
      </p:sp>
      <p:sp>
        <p:nvSpPr>
          <p:cNvPr id="29" name="agenda-topic-3">
            <a:extLst>
              <a:ext uri="{FF2B5EF4-FFF2-40B4-BE49-F238E27FC236}">
                <a16:creationId xmlns:a16="http://schemas.microsoft.com/office/drawing/2014/main" id="{5F146CD2-202A-4795-A55E-48E8EA629ADE}"/>
              </a:ext>
            </a:extLst>
          </p:cNvPr>
          <p:cNvSpPr>
            <a:spLocks noGrp="1"/>
          </p:cNvSpPr>
          <p:nvPr/>
        </p:nvSpPr>
        <p:spPr>
          <a:xfrm>
            <a:off x="6334125" y="2019300"/>
            <a:ext cx="5238750" cy="533400"/>
          </a:xfrm>
          <a:prstGeom prst="rect">
            <a:avLst/>
          </a:prstGeom>
          <a:noFill/>
          <a:ln w="0">
            <a:noFill/>
          </a:ln>
        </p:spPr>
        <p:txBody>
          <a:bodyPr anchor="ctr">
            <a:noAutofit/>
          </a:bodyPr>
          <a:lstStyle>
            <a:defPPr algn="l">
              <a:defRPr sz="2400">
                <a:solidFill>
                  <a:srgbClr val="07182A"/>
                </a:solidFill>
                <a:latin typeface="CiscoSansTT"/>
                <a:ea typeface="CiscoSansTT"/>
                <a:cs typeface="CiscoSansTT"/>
              </a:defRPr>
            </a:defPPr>
            <a:lvl1pPr algn="l">
              <a:defRPr sz="2400">
                <a:solidFill>
                  <a:srgbClr val="07182A"/>
                </a:solidFill>
                <a:latin typeface="CiscoSansTT"/>
                <a:ea typeface="CiscoSansTT"/>
                <a:cs typeface="CiscoSansTT"/>
              </a:defRPr>
            </a:lvl1pPr>
            <a:lvl2pPr algn="l">
              <a:defRPr sz="2400">
                <a:solidFill>
                  <a:srgbClr val="07182A"/>
                </a:solidFill>
                <a:latin typeface="CiscoSansTT"/>
                <a:ea typeface="CiscoSansTT"/>
                <a:cs typeface="CiscoSansTT"/>
              </a:defRPr>
            </a:lvl2pPr>
            <a:lvl3pPr algn="l">
              <a:defRPr sz="2400">
                <a:solidFill>
                  <a:srgbClr val="07182A"/>
                </a:solidFill>
                <a:latin typeface="CiscoSansTT"/>
                <a:ea typeface="CiscoSansTT"/>
                <a:cs typeface="CiscoSansTT"/>
              </a:defRPr>
            </a:lvl3pPr>
            <a:lvl4pPr algn="l">
              <a:defRPr sz="2400">
                <a:solidFill>
                  <a:srgbClr val="07182A"/>
                </a:solidFill>
                <a:latin typeface="CiscoSansTT"/>
                <a:ea typeface="CiscoSansTT"/>
                <a:cs typeface="CiscoSansTT"/>
              </a:defRPr>
            </a:lvl4pPr>
            <a:lvl5pPr algn="l">
              <a:defRPr sz="2400">
                <a:solidFill>
                  <a:srgbClr val="07182A"/>
                </a:solidFill>
                <a:latin typeface="CiscoSansTT"/>
                <a:ea typeface="CiscoSansTT"/>
                <a:cs typeface="CiscoSansTT"/>
              </a:defRPr>
            </a:lvl5pPr>
            <a:lvl6pPr algn="l">
              <a:defRPr sz="2400">
                <a:solidFill>
                  <a:srgbClr val="07182A"/>
                </a:solidFill>
                <a:latin typeface="CiscoSansTT"/>
                <a:ea typeface="CiscoSansTT"/>
                <a:cs typeface="CiscoSansTT"/>
              </a:defRPr>
            </a:lvl6pPr>
            <a:lvl7pPr algn="l">
              <a:defRPr sz="2400">
                <a:solidFill>
                  <a:srgbClr val="07182A"/>
                </a:solidFill>
                <a:latin typeface="CiscoSansTT"/>
                <a:ea typeface="CiscoSansTT"/>
                <a:cs typeface="CiscoSansTT"/>
              </a:defRPr>
            </a:lvl7pPr>
            <a:lvl8pPr algn="l">
              <a:defRPr sz="2400">
                <a:solidFill>
                  <a:srgbClr val="07182A"/>
                </a:solidFill>
                <a:latin typeface="CiscoSansTT"/>
                <a:ea typeface="CiscoSansTT"/>
                <a:cs typeface="CiscoSansTT"/>
              </a:defRPr>
            </a:lvl8pPr>
            <a:lvl9pPr algn="l">
              <a:defRPr sz="2400">
                <a:solidFill>
                  <a:srgbClr val="07182A"/>
                </a:solidFill>
                <a:latin typeface="CiscoSansTT"/>
                <a:ea typeface="CiscoSansTT"/>
                <a:cs typeface="CiscoSansTT"/>
              </a:defRPr>
            </a:lvl9pPr>
          </a:lstStyle>
          <a:p>
            <a:pPr algn="l">
              <a:defRPr sz="2400">
                <a:solidFill>
                  <a:srgbClr val="07182A"/>
                </a:solidFill>
                <a:latin typeface="CiscoSansTT"/>
                <a:ea typeface="CiscoSansTT"/>
                <a:cs typeface="CiscoSansTT"/>
              </a:defRPr>
            </a:pPr>
            <a:r>
              <a:rPr sz="2400">
                <a:solidFill>
                  <a:srgbClr val="07182A"/>
                </a:solidFill>
                <a:latin typeface="CiscoSansTT"/>
                <a:ea typeface="CiscoSansTT"/>
                <a:cs typeface="CiscoSansTT"/>
              </a:rPr>
              <a:t>Attachment order</a:t>
            </a:r>
          </a:p>
        </p:txBody>
      </p:sp>
      <p:sp>
        <p:nvSpPr>
          <p:cNvPr id="30" name="agenda-number-4">
            <a:extLst>
              <a:ext uri="{FF2B5EF4-FFF2-40B4-BE49-F238E27FC236}">
                <a16:creationId xmlns:a16="http://schemas.microsoft.com/office/drawing/2014/main" id="{35DB472C-1A24-47F8-817A-459B22ACA0D9}"/>
              </a:ext>
            </a:extLst>
          </p:cNvPr>
          <p:cNvSpPr>
            <a:spLocks noGrp="1"/>
          </p:cNvSpPr>
          <p:nvPr/>
        </p:nvSpPr>
        <p:spPr>
          <a:xfrm>
            <a:off x="5334000" y="2867025"/>
            <a:ext cx="619125" cy="533400"/>
          </a:xfrm>
          <a:prstGeom prst="rect">
            <a:avLst/>
          </a:prstGeom>
          <a:noFill/>
          <a:ln w="0">
            <a:noFill/>
          </a:ln>
        </p:spPr>
        <p:txBody>
          <a:bodyPr anchor="ctr">
            <a:noAutofit/>
          </a:bodyPr>
          <a:lstStyle>
            <a:defPPr algn="l">
              <a:defRPr sz="2325">
                <a:solidFill>
                  <a:srgbClr val="0860FE"/>
                </a:solidFill>
                <a:latin typeface="CiscoSansTT"/>
                <a:ea typeface="CiscoSansTT"/>
                <a:cs typeface="CiscoSansTT"/>
              </a:defRPr>
            </a:defPPr>
            <a:lvl1pPr algn="l">
              <a:defRPr sz="2325">
                <a:solidFill>
                  <a:srgbClr val="0860FE"/>
                </a:solidFill>
                <a:latin typeface="CiscoSansTT"/>
                <a:ea typeface="CiscoSansTT"/>
                <a:cs typeface="CiscoSansTT"/>
              </a:defRPr>
            </a:lvl1pPr>
            <a:lvl2pPr algn="l">
              <a:defRPr sz="2325">
                <a:solidFill>
                  <a:srgbClr val="0860FE"/>
                </a:solidFill>
                <a:latin typeface="CiscoSansTT"/>
                <a:ea typeface="CiscoSansTT"/>
                <a:cs typeface="CiscoSansTT"/>
              </a:defRPr>
            </a:lvl2pPr>
            <a:lvl3pPr algn="l">
              <a:defRPr sz="2325">
                <a:solidFill>
                  <a:srgbClr val="0860FE"/>
                </a:solidFill>
                <a:latin typeface="CiscoSansTT"/>
                <a:ea typeface="CiscoSansTT"/>
                <a:cs typeface="CiscoSansTT"/>
              </a:defRPr>
            </a:lvl3pPr>
            <a:lvl4pPr algn="l">
              <a:defRPr sz="2325">
                <a:solidFill>
                  <a:srgbClr val="0860FE"/>
                </a:solidFill>
                <a:latin typeface="CiscoSansTT"/>
                <a:ea typeface="CiscoSansTT"/>
                <a:cs typeface="CiscoSansTT"/>
              </a:defRPr>
            </a:lvl4pPr>
            <a:lvl5pPr algn="l">
              <a:defRPr sz="2325">
                <a:solidFill>
                  <a:srgbClr val="0860FE"/>
                </a:solidFill>
                <a:latin typeface="CiscoSansTT"/>
                <a:ea typeface="CiscoSansTT"/>
                <a:cs typeface="CiscoSansTT"/>
              </a:defRPr>
            </a:lvl5pPr>
            <a:lvl6pPr algn="l">
              <a:defRPr sz="2325">
                <a:solidFill>
                  <a:srgbClr val="0860FE"/>
                </a:solidFill>
                <a:latin typeface="CiscoSansTT"/>
                <a:ea typeface="CiscoSansTT"/>
                <a:cs typeface="CiscoSansTT"/>
              </a:defRPr>
            </a:lvl6pPr>
            <a:lvl7pPr algn="l">
              <a:defRPr sz="2325">
                <a:solidFill>
                  <a:srgbClr val="0860FE"/>
                </a:solidFill>
                <a:latin typeface="CiscoSansTT"/>
                <a:ea typeface="CiscoSansTT"/>
                <a:cs typeface="CiscoSansTT"/>
              </a:defRPr>
            </a:lvl7pPr>
            <a:lvl8pPr algn="l">
              <a:defRPr sz="2325">
                <a:solidFill>
                  <a:srgbClr val="0860FE"/>
                </a:solidFill>
                <a:latin typeface="CiscoSansTT"/>
                <a:ea typeface="CiscoSansTT"/>
                <a:cs typeface="CiscoSansTT"/>
              </a:defRPr>
            </a:lvl8pPr>
            <a:lvl9pPr algn="l">
              <a:defRPr sz="2325">
                <a:solidFill>
                  <a:srgbClr val="0860FE"/>
                </a:solidFill>
                <a:latin typeface="CiscoSansTT"/>
                <a:ea typeface="CiscoSansTT"/>
                <a:cs typeface="CiscoSansTT"/>
              </a:defRPr>
            </a:lvl9pPr>
          </a:lstStyle>
          <a:p>
            <a:pPr algn="l">
              <a:defRPr sz="2325">
                <a:solidFill>
                  <a:srgbClr val="0860FE"/>
                </a:solidFill>
                <a:latin typeface="CiscoSansTT"/>
                <a:ea typeface="CiscoSansTT"/>
                <a:cs typeface="CiscoSansTT"/>
              </a:defRPr>
            </a:pPr>
            <a:r>
              <a:rPr sz="2325">
                <a:solidFill>
                  <a:srgbClr val="0860FE"/>
                </a:solidFill>
                <a:latin typeface="CiscoSansTT"/>
                <a:ea typeface="CiscoSansTT"/>
                <a:cs typeface="CiscoSansTT"/>
              </a:rPr>
              <a:t>04</a:t>
            </a:r>
          </a:p>
        </p:txBody>
      </p:sp>
      <p:sp>
        <p:nvSpPr>
          <p:cNvPr id="31" name="agenda-topic-4">
            <a:extLst>
              <a:ext uri="{FF2B5EF4-FFF2-40B4-BE49-F238E27FC236}">
                <a16:creationId xmlns:a16="http://schemas.microsoft.com/office/drawing/2014/main" id="{A669B35E-B874-469E-AD03-2554211067DF}"/>
              </a:ext>
            </a:extLst>
          </p:cNvPr>
          <p:cNvSpPr>
            <a:spLocks noGrp="1"/>
          </p:cNvSpPr>
          <p:nvPr/>
        </p:nvSpPr>
        <p:spPr>
          <a:xfrm>
            <a:off x="6334125" y="2867025"/>
            <a:ext cx="5238750" cy="533400"/>
          </a:xfrm>
          <a:prstGeom prst="rect">
            <a:avLst/>
          </a:prstGeom>
          <a:noFill/>
          <a:ln w="0">
            <a:noFill/>
          </a:ln>
        </p:spPr>
        <p:txBody>
          <a:bodyPr anchor="ctr">
            <a:noAutofit/>
          </a:bodyPr>
          <a:lstStyle>
            <a:defPPr algn="l">
              <a:defRPr sz="2400">
                <a:solidFill>
                  <a:srgbClr val="07182A"/>
                </a:solidFill>
                <a:latin typeface="CiscoSansTT"/>
                <a:ea typeface="CiscoSansTT"/>
                <a:cs typeface="CiscoSansTT"/>
              </a:defRPr>
            </a:defPPr>
            <a:lvl1pPr algn="l">
              <a:defRPr sz="2400">
                <a:solidFill>
                  <a:srgbClr val="07182A"/>
                </a:solidFill>
                <a:latin typeface="CiscoSansTT"/>
                <a:ea typeface="CiscoSansTT"/>
                <a:cs typeface="CiscoSansTT"/>
              </a:defRPr>
            </a:lvl1pPr>
            <a:lvl2pPr algn="l">
              <a:defRPr sz="2400">
                <a:solidFill>
                  <a:srgbClr val="07182A"/>
                </a:solidFill>
                <a:latin typeface="CiscoSansTT"/>
                <a:ea typeface="CiscoSansTT"/>
                <a:cs typeface="CiscoSansTT"/>
              </a:defRPr>
            </a:lvl2pPr>
            <a:lvl3pPr algn="l">
              <a:defRPr sz="2400">
                <a:solidFill>
                  <a:srgbClr val="07182A"/>
                </a:solidFill>
                <a:latin typeface="CiscoSansTT"/>
                <a:ea typeface="CiscoSansTT"/>
                <a:cs typeface="CiscoSansTT"/>
              </a:defRPr>
            </a:lvl3pPr>
            <a:lvl4pPr algn="l">
              <a:defRPr sz="2400">
                <a:solidFill>
                  <a:srgbClr val="07182A"/>
                </a:solidFill>
                <a:latin typeface="CiscoSansTT"/>
                <a:ea typeface="CiscoSansTT"/>
                <a:cs typeface="CiscoSansTT"/>
              </a:defRPr>
            </a:lvl4pPr>
            <a:lvl5pPr algn="l">
              <a:defRPr sz="2400">
                <a:solidFill>
                  <a:srgbClr val="07182A"/>
                </a:solidFill>
                <a:latin typeface="CiscoSansTT"/>
                <a:ea typeface="CiscoSansTT"/>
                <a:cs typeface="CiscoSansTT"/>
              </a:defRPr>
            </a:lvl5pPr>
            <a:lvl6pPr algn="l">
              <a:defRPr sz="2400">
                <a:solidFill>
                  <a:srgbClr val="07182A"/>
                </a:solidFill>
                <a:latin typeface="CiscoSansTT"/>
                <a:ea typeface="CiscoSansTT"/>
                <a:cs typeface="CiscoSansTT"/>
              </a:defRPr>
            </a:lvl6pPr>
            <a:lvl7pPr algn="l">
              <a:defRPr sz="2400">
                <a:solidFill>
                  <a:srgbClr val="07182A"/>
                </a:solidFill>
                <a:latin typeface="CiscoSansTT"/>
                <a:ea typeface="CiscoSansTT"/>
                <a:cs typeface="CiscoSansTT"/>
              </a:defRPr>
            </a:lvl7pPr>
            <a:lvl8pPr algn="l">
              <a:defRPr sz="2400">
                <a:solidFill>
                  <a:srgbClr val="07182A"/>
                </a:solidFill>
                <a:latin typeface="CiscoSansTT"/>
                <a:ea typeface="CiscoSansTT"/>
                <a:cs typeface="CiscoSansTT"/>
              </a:defRPr>
            </a:lvl8pPr>
            <a:lvl9pPr algn="l">
              <a:defRPr sz="2400">
                <a:solidFill>
                  <a:srgbClr val="07182A"/>
                </a:solidFill>
                <a:latin typeface="CiscoSansTT"/>
                <a:ea typeface="CiscoSansTT"/>
                <a:cs typeface="CiscoSansTT"/>
              </a:defRPr>
            </a:lvl9pPr>
          </a:lstStyle>
          <a:p>
            <a:pPr algn="l">
              <a:defRPr sz="2400">
                <a:solidFill>
                  <a:srgbClr val="07182A"/>
                </a:solidFill>
                <a:latin typeface="CiscoSansTT"/>
                <a:ea typeface="CiscoSansTT"/>
                <a:cs typeface="CiscoSansTT"/>
              </a:defRPr>
            </a:pPr>
            <a:r>
              <a:rPr sz="2400">
                <a:solidFill>
                  <a:srgbClr val="07182A"/>
                </a:solidFill>
                <a:latin typeface="CiscoSansTT"/>
                <a:ea typeface="CiscoSansTT"/>
                <a:cs typeface="CiscoSansTT"/>
              </a:rPr>
              <a:t>Demo</a:t>
            </a:r>
          </a:p>
        </p:txBody>
      </p:sp>
      <p:sp>
        <p:nvSpPr>
          <p:cNvPr id="32" name="agenda-number-5">
            <a:extLst>
              <a:ext uri="{FF2B5EF4-FFF2-40B4-BE49-F238E27FC236}">
                <a16:creationId xmlns:a16="http://schemas.microsoft.com/office/drawing/2014/main" id="{1298CB08-0CBF-49DC-8A7C-58C41909D35D}"/>
              </a:ext>
            </a:extLst>
          </p:cNvPr>
          <p:cNvSpPr>
            <a:spLocks noGrp="1"/>
          </p:cNvSpPr>
          <p:nvPr/>
        </p:nvSpPr>
        <p:spPr>
          <a:xfrm>
            <a:off x="5334000" y="3714750"/>
            <a:ext cx="619125" cy="533400"/>
          </a:xfrm>
          <a:prstGeom prst="rect">
            <a:avLst/>
          </a:prstGeom>
          <a:noFill/>
          <a:ln w="0">
            <a:noFill/>
          </a:ln>
        </p:spPr>
        <p:txBody>
          <a:bodyPr anchor="ctr">
            <a:noAutofit/>
          </a:bodyPr>
          <a:lstStyle>
            <a:defPPr algn="l">
              <a:defRPr sz="2325">
                <a:solidFill>
                  <a:srgbClr val="0860FE"/>
                </a:solidFill>
                <a:latin typeface="CiscoSansTT"/>
                <a:ea typeface="CiscoSansTT"/>
                <a:cs typeface="CiscoSansTT"/>
              </a:defRPr>
            </a:defPPr>
            <a:lvl1pPr algn="l">
              <a:defRPr sz="2325">
                <a:solidFill>
                  <a:srgbClr val="0860FE"/>
                </a:solidFill>
                <a:latin typeface="CiscoSansTT"/>
                <a:ea typeface="CiscoSansTT"/>
                <a:cs typeface="CiscoSansTT"/>
              </a:defRPr>
            </a:lvl1pPr>
            <a:lvl2pPr algn="l">
              <a:defRPr sz="2325">
                <a:solidFill>
                  <a:srgbClr val="0860FE"/>
                </a:solidFill>
                <a:latin typeface="CiscoSansTT"/>
                <a:ea typeface="CiscoSansTT"/>
                <a:cs typeface="CiscoSansTT"/>
              </a:defRPr>
            </a:lvl2pPr>
            <a:lvl3pPr algn="l">
              <a:defRPr sz="2325">
                <a:solidFill>
                  <a:srgbClr val="0860FE"/>
                </a:solidFill>
                <a:latin typeface="CiscoSansTT"/>
                <a:ea typeface="CiscoSansTT"/>
                <a:cs typeface="CiscoSansTT"/>
              </a:defRPr>
            </a:lvl3pPr>
            <a:lvl4pPr algn="l">
              <a:defRPr sz="2325">
                <a:solidFill>
                  <a:srgbClr val="0860FE"/>
                </a:solidFill>
                <a:latin typeface="CiscoSansTT"/>
                <a:ea typeface="CiscoSansTT"/>
                <a:cs typeface="CiscoSansTT"/>
              </a:defRPr>
            </a:lvl4pPr>
            <a:lvl5pPr algn="l">
              <a:defRPr sz="2325">
                <a:solidFill>
                  <a:srgbClr val="0860FE"/>
                </a:solidFill>
                <a:latin typeface="CiscoSansTT"/>
                <a:ea typeface="CiscoSansTT"/>
                <a:cs typeface="CiscoSansTT"/>
              </a:defRPr>
            </a:lvl5pPr>
            <a:lvl6pPr algn="l">
              <a:defRPr sz="2325">
                <a:solidFill>
                  <a:srgbClr val="0860FE"/>
                </a:solidFill>
                <a:latin typeface="CiscoSansTT"/>
                <a:ea typeface="CiscoSansTT"/>
                <a:cs typeface="CiscoSansTT"/>
              </a:defRPr>
            </a:lvl6pPr>
            <a:lvl7pPr algn="l">
              <a:defRPr sz="2325">
                <a:solidFill>
                  <a:srgbClr val="0860FE"/>
                </a:solidFill>
                <a:latin typeface="CiscoSansTT"/>
                <a:ea typeface="CiscoSansTT"/>
                <a:cs typeface="CiscoSansTT"/>
              </a:defRPr>
            </a:lvl7pPr>
            <a:lvl8pPr algn="l">
              <a:defRPr sz="2325">
                <a:solidFill>
                  <a:srgbClr val="0860FE"/>
                </a:solidFill>
                <a:latin typeface="CiscoSansTT"/>
                <a:ea typeface="CiscoSansTT"/>
                <a:cs typeface="CiscoSansTT"/>
              </a:defRPr>
            </a:lvl8pPr>
            <a:lvl9pPr algn="l">
              <a:defRPr sz="2325">
                <a:solidFill>
                  <a:srgbClr val="0860FE"/>
                </a:solidFill>
                <a:latin typeface="CiscoSansTT"/>
                <a:ea typeface="CiscoSansTT"/>
                <a:cs typeface="CiscoSansTT"/>
              </a:defRPr>
            </a:lvl9pPr>
          </a:lstStyle>
          <a:p>
            <a:pPr algn="l">
              <a:defRPr sz="2325">
                <a:solidFill>
                  <a:srgbClr val="0860FE"/>
                </a:solidFill>
                <a:latin typeface="CiscoSansTT"/>
                <a:ea typeface="CiscoSansTT"/>
                <a:cs typeface="CiscoSansTT"/>
              </a:defRPr>
            </a:pPr>
            <a:r>
              <a:rPr sz="2325">
                <a:solidFill>
                  <a:srgbClr val="0860FE"/>
                </a:solidFill>
                <a:latin typeface="CiscoSansTT"/>
                <a:ea typeface="CiscoSansTT"/>
                <a:cs typeface="CiscoSansTT"/>
              </a:rPr>
              <a:t>05</a:t>
            </a:r>
          </a:p>
        </p:txBody>
      </p:sp>
      <p:sp>
        <p:nvSpPr>
          <p:cNvPr id="33" name="agenda-topic-5">
            <a:extLst>
              <a:ext uri="{FF2B5EF4-FFF2-40B4-BE49-F238E27FC236}">
                <a16:creationId xmlns:a16="http://schemas.microsoft.com/office/drawing/2014/main" id="{BE7763BF-8AEE-468C-9472-17E4A857F24E}"/>
              </a:ext>
            </a:extLst>
          </p:cNvPr>
          <p:cNvSpPr>
            <a:spLocks noGrp="1"/>
          </p:cNvSpPr>
          <p:nvPr/>
        </p:nvSpPr>
        <p:spPr>
          <a:xfrm>
            <a:off x="6334125" y="3714750"/>
            <a:ext cx="5238750" cy="533400"/>
          </a:xfrm>
          <a:prstGeom prst="rect">
            <a:avLst/>
          </a:prstGeom>
          <a:noFill/>
          <a:ln w="0">
            <a:noFill/>
          </a:ln>
        </p:spPr>
        <p:txBody>
          <a:bodyPr anchor="ctr">
            <a:noAutofit/>
          </a:bodyPr>
          <a:lstStyle>
            <a:defPPr algn="l">
              <a:defRPr sz="2400">
                <a:solidFill>
                  <a:srgbClr val="07182A"/>
                </a:solidFill>
                <a:latin typeface="CiscoSansTT"/>
                <a:ea typeface="CiscoSansTT"/>
                <a:cs typeface="CiscoSansTT"/>
              </a:defRPr>
            </a:defPPr>
            <a:lvl1pPr algn="l">
              <a:defRPr sz="2400">
                <a:solidFill>
                  <a:srgbClr val="07182A"/>
                </a:solidFill>
                <a:latin typeface="CiscoSansTT"/>
                <a:ea typeface="CiscoSansTT"/>
                <a:cs typeface="CiscoSansTT"/>
              </a:defRPr>
            </a:lvl1pPr>
            <a:lvl2pPr algn="l">
              <a:defRPr sz="2400">
                <a:solidFill>
                  <a:srgbClr val="07182A"/>
                </a:solidFill>
                <a:latin typeface="CiscoSansTT"/>
                <a:ea typeface="CiscoSansTT"/>
                <a:cs typeface="CiscoSansTT"/>
              </a:defRPr>
            </a:lvl2pPr>
            <a:lvl3pPr algn="l">
              <a:defRPr sz="2400">
                <a:solidFill>
                  <a:srgbClr val="07182A"/>
                </a:solidFill>
                <a:latin typeface="CiscoSansTT"/>
                <a:ea typeface="CiscoSansTT"/>
                <a:cs typeface="CiscoSansTT"/>
              </a:defRPr>
            </a:lvl3pPr>
            <a:lvl4pPr algn="l">
              <a:defRPr sz="2400">
                <a:solidFill>
                  <a:srgbClr val="07182A"/>
                </a:solidFill>
                <a:latin typeface="CiscoSansTT"/>
                <a:ea typeface="CiscoSansTT"/>
                <a:cs typeface="CiscoSansTT"/>
              </a:defRPr>
            </a:lvl4pPr>
            <a:lvl5pPr algn="l">
              <a:defRPr sz="2400">
                <a:solidFill>
                  <a:srgbClr val="07182A"/>
                </a:solidFill>
                <a:latin typeface="CiscoSansTT"/>
                <a:ea typeface="CiscoSansTT"/>
                <a:cs typeface="CiscoSansTT"/>
              </a:defRPr>
            </a:lvl5pPr>
            <a:lvl6pPr algn="l">
              <a:defRPr sz="2400">
                <a:solidFill>
                  <a:srgbClr val="07182A"/>
                </a:solidFill>
                <a:latin typeface="CiscoSansTT"/>
                <a:ea typeface="CiscoSansTT"/>
                <a:cs typeface="CiscoSansTT"/>
              </a:defRPr>
            </a:lvl6pPr>
            <a:lvl7pPr algn="l">
              <a:defRPr sz="2400">
                <a:solidFill>
                  <a:srgbClr val="07182A"/>
                </a:solidFill>
                <a:latin typeface="CiscoSansTT"/>
                <a:ea typeface="CiscoSansTT"/>
                <a:cs typeface="CiscoSansTT"/>
              </a:defRPr>
            </a:lvl7pPr>
            <a:lvl8pPr algn="l">
              <a:defRPr sz="2400">
                <a:solidFill>
                  <a:srgbClr val="07182A"/>
                </a:solidFill>
                <a:latin typeface="CiscoSansTT"/>
                <a:ea typeface="CiscoSansTT"/>
                <a:cs typeface="CiscoSansTT"/>
              </a:defRPr>
            </a:lvl8pPr>
            <a:lvl9pPr algn="l">
              <a:defRPr sz="2400">
                <a:solidFill>
                  <a:srgbClr val="07182A"/>
                </a:solidFill>
                <a:latin typeface="CiscoSansTT"/>
                <a:ea typeface="CiscoSansTT"/>
                <a:cs typeface="CiscoSansTT"/>
              </a:defRPr>
            </a:lvl9pPr>
          </a:lstStyle>
          <a:p>
            <a:pPr algn="l">
              <a:defRPr sz="2400">
                <a:solidFill>
                  <a:srgbClr val="07182A"/>
                </a:solidFill>
                <a:latin typeface="CiscoSansTT"/>
                <a:ea typeface="CiscoSansTT"/>
                <a:cs typeface="CiscoSansTT"/>
              </a:defRPr>
            </a:pPr>
            <a:r>
              <a:rPr sz="2400">
                <a:solidFill>
                  <a:srgbClr val="07182A"/>
                </a:solidFill>
                <a:latin typeface="CiscoSansTT"/>
                <a:ea typeface="CiscoSansTT"/>
                <a:cs typeface="CiscoSansTT"/>
              </a:rPr>
              <a:t>Benchmark</a:t>
            </a:r>
          </a:p>
        </p:txBody>
      </p:sp>
      <p:sp>
        <p:nvSpPr>
          <p:cNvPr id="34" name="agenda-number-6">
            <a:extLst>
              <a:ext uri="{FF2B5EF4-FFF2-40B4-BE49-F238E27FC236}">
                <a16:creationId xmlns:a16="http://schemas.microsoft.com/office/drawing/2014/main" id="{00503365-0CC5-4A87-837A-02AA90C4DE01}"/>
              </a:ext>
            </a:extLst>
          </p:cNvPr>
          <p:cNvSpPr>
            <a:spLocks noGrp="1"/>
          </p:cNvSpPr>
          <p:nvPr/>
        </p:nvSpPr>
        <p:spPr>
          <a:xfrm>
            <a:off x="5334000" y="4562475"/>
            <a:ext cx="619125" cy="533400"/>
          </a:xfrm>
          <a:prstGeom prst="rect">
            <a:avLst/>
          </a:prstGeom>
          <a:noFill/>
          <a:ln w="0">
            <a:noFill/>
          </a:ln>
        </p:spPr>
        <p:txBody>
          <a:bodyPr anchor="ctr">
            <a:noAutofit/>
          </a:bodyPr>
          <a:lstStyle>
            <a:defPPr algn="l">
              <a:defRPr sz="2325">
                <a:solidFill>
                  <a:srgbClr val="0860FE"/>
                </a:solidFill>
                <a:latin typeface="CiscoSansTT"/>
                <a:ea typeface="CiscoSansTT"/>
                <a:cs typeface="CiscoSansTT"/>
              </a:defRPr>
            </a:defPPr>
            <a:lvl1pPr algn="l">
              <a:defRPr sz="2325">
                <a:solidFill>
                  <a:srgbClr val="0860FE"/>
                </a:solidFill>
                <a:latin typeface="CiscoSansTT"/>
                <a:ea typeface="CiscoSansTT"/>
                <a:cs typeface="CiscoSansTT"/>
              </a:defRPr>
            </a:lvl1pPr>
            <a:lvl2pPr algn="l">
              <a:defRPr sz="2325">
                <a:solidFill>
                  <a:srgbClr val="0860FE"/>
                </a:solidFill>
                <a:latin typeface="CiscoSansTT"/>
                <a:ea typeface="CiscoSansTT"/>
                <a:cs typeface="CiscoSansTT"/>
              </a:defRPr>
            </a:lvl2pPr>
            <a:lvl3pPr algn="l">
              <a:defRPr sz="2325">
                <a:solidFill>
                  <a:srgbClr val="0860FE"/>
                </a:solidFill>
                <a:latin typeface="CiscoSansTT"/>
                <a:ea typeface="CiscoSansTT"/>
                <a:cs typeface="CiscoSansTT"/>
              </a:defRPr>
            </a:lvl3pPr>
            <a:lvl4pPr algn="l">
              <a:defRPr sz="2325">
                <a:solidFill>
                  <a:srgbClr val="0860FE"/>
                </a:solidFill>
                <a:latin typeface="CiscoSansTT"/>
                <a:ea typeface="CiscoSansTT"/>
                <a:cs typeface="CiscoSansTT"/>
              </a:defRPr>
            </a:lvl4pPr>
            <a:lvl5pPr algn="l">
              <a:defRPr sz="2325">
                <a:solidFill>
                  <a:srgbClr val="0860FE"/>
                </a:solidFill>
                <a:latin typeface="CiscoSansTT"/>
                <a:ea typeface="CiscoSansTT"/>
                <a:cs typeface="CiscoSansTT"/>
              </a:defRPr>
            </a:lvl5pPr>
            <a:lvl6pPr algn="l">
              <a:defRPr sz="2325">
                <a:solidFill>
                  <a:srgbClr val="0860FE"/>
                </a:solidFill>
                <a:latin typeface="CiscoSansTT"/>
                <a:ea typeface="CiscoSansTT"/>
                <a:cs typeface="CiscoSansTT"/>
              </a:defRPr>
            </a:lvl6pPr>
            <a:lvl7pPr algn="l">
              <a:defRPr sz="2325">
                <a:solidFill>
                  <a:srgbClr val="0860FE"/>
                </a:solidFill>
                <a:latin typeface="CiscoSansTT"/>
                <a:ea typeface="CiscoSansTT"/>
                <a:cs typeface="CiscoSansTT"/>
              </a:defRPr>
            </a:lvl7pPr>
            <a:lvl8pPr algn="l">
              <a:defRPr sz="2325">
                <a:solidFill>
                  <a:srgbClr val="0860FE"/>
                </a:solidFill>
                <a:latin typeface="CiscoSansTT"/>
                <a:ea typeface="CiscoSansTT"/>
                <a:cs typeface="CiscoSansTT"/>
              </a:defRPr>
            </a:lvl8pPr>
            <a:lvl9pPr algn="l">
              <a:defRPr sz="2325">
                <a:solidFill>
                  <a:srgbClr val="0860FE"/>
                </a:solidFill>
                <a:latin typeface="CiscoSansTT"/>
                <a:ea typeface="CiscoSansTT"/>
                <a:cs typeface="CiscoSansTT"/>
              </a:defRPr>
            </a:lvl9pPr>
          </a:lstStyle>
          <a:p>
            <a:pPr algn="l">
              <a:defRPr sz="2325">
                <a:solidFill>
                  <a:srgbClr val="0860FE"/>
                </a:solidFill>
                <a:latin typeface="CiscoSansTT"/>
                <a:ea typeface="CiscoSansTT"/>
                <a:cs typeface="CiscoSansTT"/>
              </a:defRPr>
            </a:pPr>
            <a:r>
              <a:rPr sz="2325">
                <a:solidFill>
                  <a:srgbClr val="0860FE"/>
                </a:solidFill>
                <a:latin typeface="CiscoSansTT"/>
                <a:ea typeface="CiscoSansTT"/>
                <a:cs typeface="CiscoSansTT"/>
              </a:rPr>
              <a:t>06</a:t>
            </a:r>
          </a:p>
        </p:txBody>
      </p:sp>
      <p:sp>
        <p:nvSpPr>
          <p:cNvPr id="35" name="agenda-topic-6">
            <a:extLst>
              <a:ext uri="{FF2B5EF4-FFF2-40B4-BE49-F238E27FC236}">
                <a16:creationId xmlns:a16="http://schemas.microsoft.com/office/drawing/2014/main" id="{53E929CA-C6EC-41A2-B4D4-05CED04A9E0D}"/>
              </a:ext>
            </a:extLst>
          </p:cNvPr>
          <p:cNvSpPr>
            <a:spLocks noGrp="1"/>
          </p:cNvSpPr>
          <p:nvPr/>
        </p:nvSpPr>
        <p:spPr>
          <a:xfrm>
            <a:off x="6334125" y="4562475"/>
            <a:ext cx="5238750" cy="533400"/>
          </a:xfrm>
          <a:prstGeom prst="rect">
            <a:avLst/>
          </a:prstGeom>
          <a:noFill/>
          <a:ln w="0">
            <a:noFill/>
          </a:ln>
        </p:spPr>
        <p:txBody>
          <a:bodyPr anchor="ctr">
            <a:noAutofit/>
          </a:bodyPr>
          <a:lstStyle>
            <a:defPPr algn="l">
              <a:defRPr sz="2400">
                <a:solidFill>
                  <a:srgbClr val="07182A"/>
                </a:solidFill>
                <a:latin typeface="CiscoSansTT"/>
                <a:ea typeface="CiscoSansTT"/>
                <a:cs typeface="CiscoSansTT"/>
              </a:defRPr>
            </a:defPPr>
            <a:lvl1pPr algn="l">
              <a:defRPr sz="2400">
                <a:solidFill>
                  <a:srgbClr val="07182A"/>
                </a:solidFill>
                <a:latin typeface="CiscoSansTT"/>
                <a:ea typeface="CiscoSansTT"/>
                <a:cs typeface="CiscoSansTT"/>
              </a:defRPr>
            </a:lvl1pPr>
            <a:lvl2pPr algn="l">
              <a:defRPr sz="2400">
                <a:solidFill>
                  <a:srgbClr val="07182A"/>
                </a:solidFill>
                <a:latin typeface="CiscoSansTT"/>
                <a:ea typeface="CiscoSansTT"/>
                <a:cs typeface="CiscoSansTT"/>
              </a:defRPr>
            </a:lvl2pPr>
            <a:lvl3pPr algn="l">
              <a:defRPr sz="2400">
                <a:solidFill>
                  <a:srgbClr val="07182A"/>
                </a:solidFill>
                <a:latin typeface="CiscoSansTT"/>
                <a:ea typeface="CiscoSansTT"/>
                <a:cs typeface="CiscoSansTT"/>
              </a:defRPr>
            </a:lvl3pPr>
            <a:lvl4pPr algn="l">
              <a:defRPr sz="2400">
                <a:solidFill>
                  <a:srgbClr val="07182A"/>
                </a:solidFill>
                <a:latin typeface="CiscoSansTT"/>
                <a:ea typeface="CiscoSansTT"/>
                <a:cs typeface="CiscoSansTT"/>
              </a:defRPr>
            </a:lvl4pPr>
            <a:lvl5pPr algn="l">
              <a:defRPr sz="2400">
                <a:solidFill>
                  <a:srgbClr val="07182A"/>
                </a:solidFill>
                <a:latin typeface="CiscoSansTT"/>
                <a:ea typeface="CiscoSansTT"/>
                <a:cs typeface="CiscoSansTT"/>
              </a:defRPr>
            </a:lvl5pPr>
            <a:lvl6pPr algn="l">
              <a:defRPr sz="2400">
                <a:solidFill>
                  <a:srgbClr val="07182A"/>
                </a:solidFill>
                <a:latin typeface="CiscoSansTT"/>
                <a:ea typeface="CiscoSansTT"/>
                <a:cs typeface="CiscoSansTT"/>
              </a:defRPr>
            </a:lvl6pPr>
            <a:lvl7pPr algn="l">
              <a:defRPr sz="2400">
                <a:solidFill>
                  <a:srgbClr val="07182A"/>
                </a:solidFill>
                <a:latin typeface="CiscoSansTT"/>
                <a:ea typeface="CiscoSansTT"/>
                <a:cs typeface="CiscoSansTT"/>
              </a:defRPr>
            </a:lvl7pPr>
            <a:lvl8pPr algn="l">
              <a:defRPr sz="2400">
                <a:solidFill>
                  <a:srgbClr val="07182A"/>
                </a:solidFill>
                <a:latin typeface="CiscoSansTT"/>
                <a:ea typeface="CiscoSansTT"/>
                <a:cs typeface="CiscoSansTT"/>
              </a:defRPr>
            </a:lvl8pPr>
            <a:lvl9pPr algn="l">
              <a:defRPr sz="2400">
                <a:solidFill>
                  <a:srgbClr val="07182A"/>
                </a:solidFill>
                <a:latin typeface="CiscoSansTT"/>
                <a:ea typeface="CiscoSansTT"/>
                <a:cs typeface="CiscoSansTT"/>
              </a:defRPr>
            </a:lvl9pPr>
          </a:lstStyle>
          <a:p>
            <a:pPr algn="l">
              <a:defRPr sz="2400">
                <a:solidFill>
                  <a:srgbClr val="07182A"/>
                </a:solidFill>
                <a:latin typeface="CiscoSansTT"/>
                <a:ea typeface="CiscoSansTT"/>
                <a:cs typeface="CiscoSansTT"/>
              </a:defRPr>
            </a:pPr>
            <a:r>
              <a:rPr sz="2400">
                <a:solidFill>
                  <a:srgbClr val="07182A"/>
                </a:solidFill>
                <a:latin typeface="CiscoSansTT"/>
                <a:ea typeface="CiscoSansTT"/>
                <a:cs typeface="CiscoSansTT"/>
              </a:rPr>
              <a:t>Production rollout</a:t>
            </a:r>
          </a:p>
        </p:txBody>
      </p:sp>
    </p:spTree>
    <p:extLst>
      <p:ext uri="{BB962C8B-B14F-4D97-AF65-F5344CB8AC3E}">
        <p14:creationId xmlns:p14="http://schemas.microsoft.com/office/powerpoint/2010/main" val="1438193867"/>
      </p:ext>
    </p:extLst>
  </p:cSld>
  <p:clrMapOvr>
    <a:masterClrMapping/>
  </p:clrMapOvr>
  <p:transition advClick="1"/>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OBI uses </a:t>
            </a:r>
            <a:r>
              <a:rPr sz="1725" b="0" dirty="0" err="1">
                <a:solidFill>
                  <a:srgbClr val="686B6B"/>
                </a:solidFill>
                <a:latin typeface="CiscoSansTT"/>
                <a:ea typeface="CiscoSansTT"/>
                <a:cs typeface="CiscoSansTT"/>
              </a:rPr>
              <a:t>eBPF</a:t>
            </a:r>
            <a:r>
              <a:rPr sz="1725" b="0" dirty="0">
                <a:solidFill>
                  <a:srgbClr val="686B6B"/>
                </a:solidFill>
                <a:latin typeface="CiscoSansTT"/>
                <a:ea typeface="CiscoSansTT"/>
                <a:cs typeface="CiscoSansTT"/>
              </a:rPr>
              <a:t> to observe requests sent or</a:t>
            </a:r>
          </a:p>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received by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advClick="1"/>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1.0: what stability means</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16" name="v1-version">
            <a:extLst>
              <a:ext uri="{FF2B5EF4-FFF2-40B4-BE49-F238E27FC236}">
                <a16:creationId xmlns:a16="http://schemas.microsoft.com/office/drawing/2014/main" id="{149AE208-14D3-4A64-AD9E-177668CC8A98}"/>
              </a:ext>
            </a:extLst>
          </p:cNvPr>
          <p:cNvSpPr>
            <a:spLocks noGrp="1"/>
          </p:cNvSpPr>
          <p:nvPr/>
        </p:nvSpPr>
        <p:spPr>
          <a:xfrm>
            <a:off x="666750" y="1714500"/>
            <a:ext cx="3048000" cy="1190625"/>
          </a:xfrm>
          <a:prstGeom prst="rect">
            <a:avLst/>
          </a:prstGeom>
          <a:noFill/>
          <a:ln w="0">
            <a:noFill/>
          </a:ln>
        </p:spPr>
        <p:txBody>
          <a:bodyPr anchor="ctr">
            <a:noAutofit/>
          </a:bodyPr>
          <a:lstStyle>
            <a:defPPr algn="l">
              <a:defRPr sz="6225" b="1">
                <a:solidFill>
                  <a:srgbClr val="FF007F"/>
                </a:solidFill>
                <a:latin typeface="CiscoSansTT Medium"/>
                <a:ea typeface="CiscoSansTT Medium"/>
                <a:cs typeface="CiscoSansTT Medium"/>
              </a:defRPr>
            </a:defPPr>
            <a:lvl1pPr algn="l">
              <a:buNone/>
              <a:defRPr sz="6225" b="1">
                <a:solidFill>
                  <a:srgbClr val="FF007F"/>
                </a:solidFill>
                <a:latin typeface="CiscoSansTT Medium"/>
                <a:ea typeface="CiscoSansTT Medium"/>
                <a:cs typeface="CiscoSansTT Medium"/>
              </a:defRPr>
            </a:lvl1pPr>
            <a:lvl2pPr algn="l">
              <a:buNone/>
              <a:defRPr sz="6225" b="1">
                <a:solidFill>
                  <a:srgbClr val="FF007F"/>
                </a:solidFill>
                <a:latin typeface="CiscoSansTT Medium"/>
                <a:ea typeface="CiscoSansTT Medium"/>
                <a:cs typeface="CiscoSansTT Medium"/>
              </a:defRPr>
            </a:lvl2pPr>
            <a:lvl3pPr algn="l">
              <a:buNone/>
              <a:defRPr sz="6225" b="1">
                <a:solidFill>
                  <a:srgbClr val="FF007F"/>
                </a:solidFill>
                <a:latin typeface="CiscoSansTT Medium"/>
                <a:ea typeface="CiscoSansTT Medium"/>
                <a:cs typeface="CiscoSansTT Medium"/>
              </a:defRPr>
            </a:lvl3pPr>
            <a:lvl4pPr algn="l">
              <a:buNone/>
              <a:defRPr sz="6225" b="1">
                <a:solidFill>
                  <a:srgbClr val="FF007F"/>
                </a:solidFill>
                <a:latin typeface="CiscoSansTT Medium"/>
                <a:ea typeface="CiscoSansTT Medium"/>
                <a:cs typeface="CiscoSansTT Medium"/>
              </a:defRPr>
            </a:lvl4pPr>
            <a:lvl5pPr algn="l">
              <a:buNone/>
              <a:defRPr sz="6225" b="1">
                <a:solidFill>
                  <a:srgbClr val="FF007F"/>
                </a:solidFill>
                <a:latin typeface="CiscoSansTT Medium"/>
                <a:ea typeface="CiscoSansTT Medium"/>
                <a:cs typeface="CiscoSansTT Medium"/>
              </a:defRPr>
            </a:lvl5pPr>
            <a:lvl6pPr algn="l">
              <a:buNone/>
              <a:defRPr sz="6225" b="1">
                <a:solidFill>
                  <a:srgbClr val="FF007F"/>
                </a:solidFill>
                <a:latin typeface="CiscoSansTT Medium"/>
                <a:ea typeface="CiscoSansTT Medium"/>
                <a:cs typeface="CiscoSansTT Medium"/>
              </a:defRPr>
            </a:lvl6pPr>
            <a:lvl7pPr algn="l">
              <a:buNone/>
              <a:defRPr sz="6225" b="1">
                <a:solidFill>
                  <a:srgbClr val="FF007F"/>
                </a:solidFill>
                <a:latin typeface="CiscoSansTT Medium"/>
                <a:ea typeface="CiscoSansTT Medium"/>
                <a:cs typeface="CiscoSansTT Medium"/>
              </a:defRPr>
            </a:lvl7pPr>
            <a:lvl8pPr algn="l">
              <a:buNone/>
              <a:defRPr sz="6225" b="1">
                <a:solidFill>
                  <a:srgbClr val="FF007F"/>
                </a:solidFill>
                <a:latin typeface="CiscoSansTT Medium"/>
                <a:ea typeface="CiscoSansTT Medium"/>
                <a:cs typeface="CiscoSansTT Medium"/>
              </a:defRPr>
            </a:lvl8pPr>
            <a:lvl9pPr algn="l">
              <a:buNone/>
              <a:defRPr sz="6225" b="1">
                <a:solidFill>
                  <a:srgbClr val="FF007F"/>
                </a:solidFill>
                <a:latin typeface="CiscoSansTT Medium"/>
                <a:ea typeface="CiscoSansTT Medium"/>
                <a:cs typeface="CiscoSansTT Medium"/>
              </a:defRPr>
            </a:lvl9pPr>
          </a:lstStyle>
          <a:p>
            <a:pPr algn="l">
              <a:buNone/>
              <a:defRPr sz="6225" b="1">
                <a:solidFill>
                  <a:srgbClr val="FF007F"/>
                </a:solidFill>
                <a:latin typeface="CiscoSansTT Medium"/>
                <a:ea typeface="CiscoSansTT Medium"/>
                <a:cs typeface="CiscoSansTT Medium"/>
              </a:defRPr>
            </a:pPr>
            <a:r>
              <a:rPr sz="6225" b="1">
                <a:solidFill>
                  <a:srgbClr val="FF007F"/>
                </a:solidFill>
                <a:latin typeface="CiscoSansTT Medium"/>
                <a:ea typeface="CiscoSansTT Medium"/>
                <a:cs typeface="CiscoSansTT Medium"/>
              </a:rPr>
              <a:t>v1.0.0</a:t>
            </a:r>
          </a:p>
        </p:txBody>
      </p:sp>
      <p:sp>
        <p:nvSpPr>
          <p:cNvPr id="17" name="v1-release-date">
            <a:extLst>
              <a:ext uri="{FF2B5EF4-FFF2-40B4-BE49-F238E27FC236}">
                <a16:creationId xmlns:a16="http://schemas.microsoft.com/office/drawing/2014/main" id="{9AD02DA1-884E-446D-904D-902D0918DC0E}"/>
              </a:ext>
            </a:extLst>
          </p:cNvPr>
          <p:cNvSpPr>
            <a:spLocks noGrp="1"/>
          </p:cNvSpPr>
          <p:nvPr/>
        </p:nvSpPr>
        <p:spPr>
          <a:xfrm>
            <a:off x="666750" y="2971800"/>
            <a:ext cx="3143250" cy="619125"/>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Released 30 October 2026</a:t>
            </a:r>
          </a:p>
        </p:txBody>
      </p:sp>
      <p:sp>
        <p:nvSpPr>
          <p:cNvPr id="19" name="v1-heading-0">
            <a:extLst>
              <a:ext uri="{FF2B5EF4-FFF2-40B4-BE49-F238E27FC236}">
                <a16:creationId xmlns:a16="http://schemas.microsoft.com/office/drawing/2014/main" id="{F33B7C4D-006C-434A-A8A1-3F9FBA654F75}"/>
              </a:ext>
            </a:extLst>
          </p:cNvPr>
          <p:cNvSpPr>
            <a:spLocks noGrp="1"/>
          </p:cNvSpPr>
          <p:nvPr/>
        </p:nvSpPr>
        <p:spPr>
          <a:xfrm>
            <a:off x="4476750" y="1571625"/>
            <a:ext cx="6953250" cy="41910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Configuration and deployment</a:t>
            </a:r>
          </a:p>
        </p:txBody>
      </p:sp>
      <p:sp>
        <p:nvSpPr>
          <p:cNvPr id="20" name="v1-body-0">
            <a:extLst>
              <a:ext uri="{FF2B5EF4-FFF2-40B4-BE49-F238E27FC236}">
                <a16:creationId xmlns:a16="http://schemas.microsoft.com/office/drawing/2014/main" id="{00AD366D-89FF-4361-B211-8713C1C396DD}"/>
              </a:ext>
            </a:extLst>
          </p:cNvPr>
          <p:cNvSpPr>
            <a:spLocks noGrp="1"/>
          </p:cNvSpPr>
          <p:nvPr/>
        </p:nvSpPr>
        <p:spPr>
          <a:xfrm>
            <a:off x="4476750" y="2028825"/>
            <a:ext cx="6953250" cy="742950"/>
          </a:xfrm>
          <a:prstGeom prst="rect">
            <a:avLst/>
          </a:prstGeom>
          <a:noFill/>
          <a:ln w="0">
            <a:noFill/>
          </a:ln>
        </p:spPr>
        <p:txBody>
          <a:bodyPr anchor="ctr">
            <a:noAutofit/>
          </a:bodyPr>
          <a:lstStyle>
            <a:defPPr algn="l">
              <a:defRPr sz="2025" b="0">
                <a:solidFill>
                  <a:srgbClr val="07182A"/>
                </a:solidFill>
                <a:latin typeface="CiscoSansTT"/>
                <a:ea typeface="CiscoSansTT"/>
                <a:cs typeface="CiscoSansTT"/>
              </a:defRPr>
            </a:defPPr>
            <a:lvl1pPr algn="l">
              <a:buNone/>
              <a:defRPr sz="2025" b="0">
                <a:solidFill>
                  <a:srgbClr val="07182A"/>
                </a:solidFill>
                <a:latin typeface="CiscoSansTT"/>
                <a:ea typeface="CiscoSansTT"/>
                <a:cs typeface="CiscoSansTT"/>
              </a:defRPr>
            </a:lvl1pPr>
            <a:lvl2pPr algn="l">
              <a:buNone/>
              <a:defRPr sz="2025" b="0">
                <a:solidFill>
                  <a:srgbClr val="07182A"/>
                </a:solidFill>
                <a:latin typeface="CiscoSansTT"/>
                <a:ea typeface="CiscoSansTT"/>
                <a:cs typeface="CiscoSansTT"/>
              </a:defRPr>
            </a:lvl2pPr>
            <a:lvl3pPr algn="l">
              <a:buNone/>
              <a:defRPr sz="2025" b="0">
                <a:solidFill>
                  <a:srgbClr val="07182A"/>
                </a:solidFill>
                <a:latin typeface="CiscoSansTT"/>
                <a:ea typeface="CiscoSansTT"/>
                <a:cs typeface="CiscoSansTT"/>
              </a:defRPr>
            </a:lvl3pPr>
            <a:lvl4pPr algn="l">
              <a:buNone/>
              <a:defRPr sz="2025" b="0">
                <a:solidFill>
                  <a:srgbClr val="07182A"/>
                </a:solidFill>
                <a:latin typeface="CiscoSansTT"/>
                <a:ea typeface="CiscoSansTT"/>
                <a:cs typeface="CiscoSansTT"/>
              </a:defRPr>
            </a:lvl4pPr>
            <a:lvl5pPr algn="l">
              <a:buNone/>
              <a:defRPr sz="2025" b="0">
                <a:solidFill>
                  <a:srgbClr val="07182A"/>
                </a:solidFill>
                <a:latin typeface="CiscoSansTT"/>
                <a:ea typeface="CiscoSansTT"/>
                <a:cs typeface="CiscoSansTT"/>
              </a:defRPr>
            </a:lvl5pPr>
            <a:lvl6pPr algn="l">
              <a:buNone/>
              <a:defRPr sz="2025" b="0">
                <a:solidFill>
                  <a:srgbClr val="07182A"/>
                </a:solidFill>
                <a:latin typeface="CiscoSansTT"/>
                <a:ea typeface="CiscoSansTT"/>
                <a:cs typeface="CiscoSansTT"/>
              </a:defRPr>
            </a:lvl6pPr>
            <a:lvl7pPr algn="l">
              <a:buNone/>
              <a:defRPr sz="2025" b="0">
                <a:solidFill>
                  <a:srgbClr val="07182A"/>
                </a:solidFill>
                <a:latin typeface="CiscoSansTT"/>
                <a:ea typeface="CiscoSansTT"/>
                <a:cs typeface="CiscoSansTT"/>
              </a:defRPr>
            </a:lvl7pPr>
            <a:lvl8pPr algn="l">
              <a:buNone/>
              <a:defRPr sz="2025" b="0">
                <a:solidFill>
                  <a:srgbClr val="07182A"/>
                </a:solidFill>
                <a:latin typeface="CiscoSansTT"/>
                <a:ea typeface="CiscoSansTT"/>
                <a:cs typeface="CiscoSansTT"/>
              </a:defRPr>
            </a:lvl8pPr>
            <a:lvl9pPr algn="l">
              <a:buNone/>
              <a:defRPr sz="2025" b="0">
                <a:solidFill>
                  <a:srgbClr val="07182A"/>
                </a:solidFill>
                <a:latin typeface="CiscoSansTT"/>
                <a:ea typeface="CiscoSansTT"/>
                <a:cs typeface="CiscoSansTT"/>
              </a:defRPr>
            </a:lvl9pPr>
          </a:lstStyle>
          <a:p>
            <a:pPr algn="l">
              <a:buNone/>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Config v2 and documented deployment interfaces have compatibility guarantees.</a:t>
            </a:r>
          </a:p>
        </p:txBody>
      </p:sp>
      <p:sp>
        <p:nvSpPr>
          <p:cNvPr id="21" name="v1-heading-1">
            <a:extLst>
              <a:ext uri="{FF2B5EF4-FFF2-40B4-BE49-F238E27FC236}">
                <a16:creationId xmlns:a16="http://schemas.microsoft.com/office/drawing/2014/main" id="{76DBADD8-D274-4F75-A297-F92E64BEB288}"/>
              </a:ext>
            </a:extLst>
          </p:cNvPr>
          <p:cNvSpPr>
            <a:spLocks noGrp="1"/>
          </p:cNvSpPr>
          <p:nvPr/>
        </p:nvSpPr>
        <p:spPr>
          <a:xfrm>
            <a:off x="4476750" y="2952750"/>
            <a:ext cx="6953250" cy="41910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buNone/>
              <a:defRPr sz="2175" b="1">
                <a:solidFill>
                  <a:srgbClr val="07182A"/>
                </a:solidFill>
                <a:latin typeface="CiscoSansTT Medium"/>
                <a:ea typeface="CiscoSansTT Medium"/>
                <a:cs typeface="CiscoSansTT Medium"/>
              </a:defRPr>
            </a:lvl1pPr>
            <a:lvl2pPr algn="l">
              <a:buNone/>
              <a:defRPr sz="2175" b="1">
                <a:solidFill>
                  <a:srgbClr val="07182A"/>
                </a:solidFill>
                <a:latin typeface="CiscoSansTT Medium"/>
                <a:ea typeface="CiscoSansTT Medium"/>
                <a:cs typeface="CiscoSansTT Medium"/>
              </a:defRPr>
            </a:lvl2pPr>
            <a:lvl3pPr algn="l">
              <a:buNone/>
              <a:defRPr sz="2175" b="1">
                <a:solidFill>
                  <a:srgbClr val="07182A"/>
                </a:solidFill>
                <a:latin typeface="CiscoSansTT Medium"/>
                <a:ea typeface="CiscoSansTT Medium"/>
                <a:cs typeface="CiscoSansTT Medium"/>
              </a:defRPr>
            </a:lvl3pPr>
            <a:lvl4pPr algn="l">
              <a:buNone/>
              <a:defRPr sz="2175" b="1">
                <a:solidFill>
                  <a:srgbClr val="07182A"/>
                </a:solidFill>
                <a:latin typeface="CiscoSansTT Medium"/>
                <a:ea typeface="CiscoSansTT Medium"/>
                <a:cs typeface="CiscoSansTT Medium"/>
              </a:defRPr>
            </a:lvl4pPr>
            <a:lvl5pPr algn="l">
              <a:buNone/>
              <a:defRPr sz="2175" b="1">
                <a:solidFill>
                  <a:srgbClr val="07182A"/>
                </a:solidFill>
                <a:latin typeface="CiscoSansTT Medium"/>
                <a:ea typeface="CiscoSansTT Medium"/>
                <a:cs typeface="CiscoSansTT Medium"/>
              </a:defRPr>
            </a:lvl5pPr>
            <a:lvl6pPr algn="l">
              <a:buNone/>
              <a:defRPr sz="2175" b="1">
                <a:solidFill>
                  <a:srgbClr val="07182A"/>
                </a:solidFill>
                <a:latin typeface="CiscoSansTT Medium"/>
                <a:ea typeface="CiscoSansTT Medium"/>
                <a:cs typeface="CiscoSansTT Medium"/>
              </a:defRPr>
            </a:lvl6pPr>
            <a:lvl7pPr algn="l">
              <a:buNone/>
              <a:defRPr sz="2175" b="1">
                <a:solidFill>
                  <a:srgbClr val="07182A"/>
                </a:solidFill>
                <a:latin typeface="CiscoSansTT Medium"/>
                <a:ea typeface="CiscoSansTT Medium"/>
                <a:cs typeface="CiscoSansTT Medium"/>
              </a:defRPr>
            </a:lvl7pPr>
            <a:lvl8pPr algn="l">
              <a:buNone/>
              <a:defRPr sz="2175" b="1">
                <a:solidFill>
                  <a:srgbClr val="07182A"/>
                </a:solidFill>
                <a:latin typeface="CiscoSansTT Medium"/>
                <a:ea typeface="CiscoSansTT Medium"/>
                <a:cs typeface="CiscoSansTT Medium"/>
              </a:defRPr>
            </a:lvl8pPr>
            <a:lvl9pPr algn="l">
              <a:buNone/>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Stable telemetry</a:t>
            </a:r>
          </a:p>
        </p:txBody>
      </p:sp>
      <p:sp>
        <p:nvSpPr>
          <p:cNvPr id="22" name="v1-body-1">
            <a:extLst>
              <a:ext uri="{FF2B5EF4-FFF2-40B4-BE49-F238E27FC236}">
                <a16:creationId xmlns:a16="http://schemas.microsoft.com/office/drawing/2014/main" id="{C40E1A3F-72A5-456E-A23C-CA8AA184DFA3}"/>
              </a:ext>
            </a:extLst>
          </p:cNvPr>
          <p:cNvSpPr>
            <a:spLocks noGrp="1"/>
          </p:cNvSpPr>
          <p:nvPr/>
        </p:nvSpPr>
        <p:spPr>
          <a:xfrm>
            <a:off x="4476750" y="3409950"/>
            <a:ext cx="6953250" cy="742950"/>
          </a:xfrm>
          <a:prstGeom prst="rect">
            <a:avLst/>
          </a:prstGeom>
          <a:noFill/>
          <a:ln w="0">
            <a:noFill/>
          </a:ln>
        </p:spPr>
        <p:txBody>
          <a:bodyPr anchor="ctr">
            <a:noAutofit/>
          </a:bodyPr>
          <a:lstStyle>
            <a:defPPr algn="l">
              <a:defRPr sz="2025" b="0">
                <a:solidFill>
                  <a:srgbClr val="07182A"/>
                </a:solidFill>
                <a:latin typeface="CiscoSansTT"/>
                <a:ea typeface="CiscoSansTT"/>
                <a:cs typeface="CiscoSansTT"/>
              </a:defRPr>
            </a:defPPr>
            <a:lvl1pPr algn="l">
              <a:buNone/>
              <a:defRPr sz="2025" b="0">
                <a:solidFill>
                  <a:srgbClr val="07182A"/>
                </a:solidFill>
                <a:latin typeface="CiscoSansTT"/>
                <a:ea typeface="CiscoSansTT"/>
                <a:cs typeface="CiscoSansTT"/>
              </a:defRPr>
            </a:lvl1pPr>
            <a:lvl2pPr algn="l">
              <a:buNone/>
              <a:defRPr sz="2025" b="0">
                <a:solidFill>
                  <a:srgbClr val="07182A"/>
                </a:solidFill>
                <a:latin typeface="CiscoSansTT"/>
                <a:ea typeface="CiscoSansTT"/>
                <a:cs typeface="CiscoSansTT"/>
              </a:defRPr>
            </a:lvl2pPr>
            <a:lvl3pPr algn="l">
              <a:buNone/>
              <a:defRPr sz="2025" b="0">
                <a:solidFill>
                  <a:srgbClr val="07182A"/>
                </a:solidFill>
                <a:latin typeface="CiscoSansTT"/>
                <a:ea typeface="CiscoSansTT"/>
                <a:cs typeface="CiscoSansTT"/>
              </a:defRPr>
            </a:lvl3pPr>
            <a:lvl4pPr algn="l">
              <a:buNone/>
              <a:defRPr sz="2025" b="0">
                <a:solidFill>
                  <a:srgbClr val="07182A"/>
                </a:solidFill>
                <a:latin typeface="CiscoSansTT"/>
                <a:ea typeface="CiscoSansTT"/>
                <a:cs typeface="CiscoSansTT"/>
              </a:defRPr>
            </a:lvl4pPr>
            <a:lvl5pPr algn="l">
              <a:buNone/>
              <a:defRPr sz="2025" b="0">
                <a:solidFill>
                  <a:srgbClr val="07182A"/>
                </a:solidFill>
                <a:latin typeface="CiscoSansTT"/>
                <a:ea typeface="CiscoSansTT"/>
                <a:cs typeface="CiscoSansTT"/>
              </a:defRPr>
            </a:lvl5pPr>
            <a:lvl6pPr algn="l">
              <a:buNone/>
              <a:defRPr sz="2025" b="0">
                <a:solidFill>
                  <a:srgbClr val="07182A"/>
                </a:solidFill>
                <a:latin typeface="CiscoSansTT"/>
                <a:ea typeface="CiscoSansTT"/>
                <a:cs typeface="CiscoSansTT"/>
              </a:defRPr>
            </a:lvl6pPr>
            <a:lvl7pPr algn="l">
              <a:buNone/>
              <a:defRPr sz="2025" b="0">
                <a:solidFill>
                  <a:srgbClr val="07182A"/>
                </a:solidFill>
                <a:latin typeface="CiscoSansTT"/>
                <a:ea typeface="CiscoSansTT"/>
                <a:cs typeface="CiscoSansTT"/>
              </a:defRPr>
            </a:lvl7pPr>
            <a:lvl8pPr algn="l">
              <a:buNone/>
              <a:defRPr sz="2025" b="0">
                <a:solidFill>
                  <a:srgbClr val="07182A"/>
                </a:solidFill>
                <a:latin typeface="CiscoSansTT"/>
                <a:ea typeface="CiscoSansTT"/>
                <a:cs typeface="CiscoSansTT"/>
              </a:defRPr>
            </a:lvl8pPr>
            <a:lvl9pPr algn="l">
              <a:buNone/>
              <a:defRPr sz="2025" b="0">
                <a:solidFill>
                  <a:srgbClr val="07182A"/>
                </a:solidFill>
                <a:latin typeface="CiscoSansTT"/>
                <a:ea typeface="CiscoSansTT"/>
                <a:cs typeface="CiscoSansTT"/>
              </a:defRPr>
            </a:lvl9pPr>
          </a:lstStyle>
          <a:p>
            <a:pPr algn="l">
              <a:buNone/>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Stable signals and attributes have compatibility guarantees for their names and meaning.</a:t>
            </a:r>
          </a:p>
        </p:txBody>
      </p:sp>
      <p:sp>
        <p:nvSpPr>
          <p:cNvPr id="23" name="v1-heading-2">
            <a:extLst>
              <a:ext uri="{FF2B5EF4-FFF2-40B4-BE49-F238E27FC236}">
                <a16:creationId xmlns:a16="http://schemas.microsoft.com/office/drawing/2014/main" id="{149CC5FE-3A54-4B7C-975A-5088CA54CF24}"/>
              </a:ext>
            </a:extLst>
          </p:cNvPr>
          <p:cNvSpPr>
            <a:spLocks noGrp="1"/>
          </p:cNvSpPr>
          <p:nvPr/>
        </p:nvSpPr>
        <p:spPr>
          <a:xfrm>
            <a:off x="4476750" y="4333875"/>
            <a:ext cx="6953250" cy="41910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buNone/>
              <a:defRPr sz="2175" b="1">
                <a:solidFill>
                  <a:srgbClr val="07182A"/>
                </a:solidFill>
                <a:latin typeface="CiscoSansTT Medium"/>
                <a:ea typeface="CiscoSansTT Medium"/>
                <a:cs typeface="CiscoSansTT Medium"/>
              </a:defRPr>
            </a:lvl1pPr>
            <a:lvl2pPr algn="l">
              <a:buNone/>
              <a:defRPr sz="2175" b="1">
                <a:solidFill>
                  <a:srgbClr val="07182A"/>
                </a:solidFill>
                <a:latin typeface="CiscoSansTT Medium"/>
                <a:ea typeface="CiscoSansTT Medium"/>
                <a:cs typeface="CiscoSansTT Medium"/>
              </a:defRPr>
            </a:lvl2pPr>
            <a:lvl3pPr algn="l">
              <a:buNone/>
              <a:defRPr sz="2175" b="1">
                <a:solidFill>
                  <a:srgbClr val="07182A"/>
                </a:solidFill>
                <a:latin typeface="CiscoSansTT Medium"/>
                <a:ea typeface="CiscoSansTT Medium"/>
                <a:cs typeface="CiscoSansTT Medium"/>
              </a:defRPr>
            </a:lvl3pPr>
            <a:lvl4pPr algn="l">
              <a:buNone/>
              <a:defRPr sz="2175" b="1">
                <a:solidFill>
                  <a:srgbClr val="07182A"/>
                </a:solidFill>
                <a:latin typeface="CiscoSansTT Medium"/>
                <a:ea typeface="CiscoSansTT Medium"/>
                <a:cs typeface="CiscoSansTT Medium"/>
              </a:defRPr>
            </a:lvl4pPr>
            <a:lvl5pPr algn="l">
              <a:buNone/>
              <a:defRPr sz="2175" b="1">
                <a:solidFill>
                  <a:srgbClr val="07182A"/>
                </a:solidFill>
                <a:latin typeface="CiscoSansTT Medium"/>
                <a:ea typeface="CiscoSansTT Medium"/>
                <a:cs typeface="CiscoSansTT Medium"/>
              </a:defRPr>
            </a:lvl5pPr>
            <a:lvl6pPr algn="l">
              <a:buNone/>
              <a:defRPr sz="2175" b="1">
                <a:solidFill>
                  <a:srgbClr val="07182A"/>
                </a:solidFill>
                <a:latin typeface="CiscoSansTT Medium"/>
                <a:ea typeface="CiscoSansTT Medium"/>
                <a:cs typeface="CiscoSansTT Medium"/>
              </a:defRPr>
            </a:lvl6pPr>
            <a:lvl7pPr algn="l">
              <a:buNone/>
              <a:defRPr sz="2175" b="1">
                <a:solidFill>
                  <a:srgbClr val="07182A"/>
                </a:solidFill>
                <a:latin typeface="CiscoSansTT Medium"/>
                <a:ea typeface="CiscoSansTT Medium"/>
                <a:cs typeface="CiscoSansTT Medium"/>
              </a:defRPr>
            </a:lvl7pPr>
            <a:lvl8pPr algn="l">
              <a:buNone/>
              <a:defRPr sz="2175" b="1">
                <a:solidFill>
                  <a:srgbClr val="07182A"/>
                </a:solidFill>
                <a:latin typeface="CiscoSansTT Medium"/>
                <a:ea typeface="CiscoSansTT Medium"/>
                <a:cs typeface="CiscoSansTT Medium"/>
              </a:defRPr>
            </a:lvl8pPr>
            <a:lvl9pPr algn="l">
              <a:buNone/>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Support and feature maturity</a:t>
            </a:r>
          </a:p>
        </p:txBody>
      </p:sp>
      <p:sp>
        <p:nvSpPr>
          <p:cNvPr id="24" name="v1-body-2">
            <a:extLst>
              <a:ext uri="{FF2B5EF4-FFF2-40B4-BE49-F238E27FC236}">
                <a16:creationId xmlns:a16="http://schemas.microsoft.com/office/drawing/2014/main" id="{3D22343E-BB92-4B3D-BA67-68FDF0840A33}"/>
              </a:ext>
            </a:extLst>
          </p:cNvPr>
          <p:cNvSpPr>
            <a:spLocks noGrp="1"/>
          </p:cNvSpPr>
          <p:nvPr/>
        </p:nvSpPr>
        <p:spPr>
          <a:xfrm>
            <a:off x="4476750" y="4791075"/>
            <a:ext cx="6953250" cy="742950"/>
          </a:xfrm>
          <a:prstGeom prst="rect">
            <a:avLst/>
          </a:prstGeom>
          <a:noFill/>
          <a:ln w="0">
            <a:noFill/>
          </a:ln>
        </p:spPr>
        <p:txBody>
          <a:bodyPr anchor="ctr">
            <a:noAutofit/>
          </a:bodyPr>
          <a:lstStyle>
            <a:defPPr algn="l">
              <a:defRPr sz="2025" b="0">
                <a:solidFill>
                  <a:srgbClr val="07182A"/>
                </a:solidFill>
                <a:latin typeface="CiscoSansTT"/>
                <a:ea typeface="CiscoSansTT"/>
                <a:cs typeface="CiscoSansTT"/>
              </a:defRPr>
            </a:defPPr>
            <a:lvl1pPr algn="l">
              <a:buNone/>
              <a:defRPr sz="2025" b="0">
                <a:solidFill>
                  <a:srgbClr val="07182A"/>
                </a:solidFill>
                <a:latin typeface="CiscoSansTT"/>
                <a:ea typeface="CiscoSansTT"/>
                <a:cs typeface="CiscoSansTT"/>
              </a:defRPr>
            </a:lvl1pPr>
            <a:lvl2pPr algn="l">
              <a:buNone/>
              <a:defRPr sz="2025" b="0">
                <a:solidFill>
                  <a:srgbClr val="07182A"/>
                </a:solidFill>
                <a:latin typeface="CiscoSansTT"/>
                <a:ea typeface="CiscoSansTT"/>
                <a:cs typeface="CiscoSansTT"/>
              </a:defRPr>
            </a:lvl2pPr>
            <a:lvl3pPr algn="l">
              <a:buNone/>
              <a:defRPr sz="2025" b="0">
                <a:solidFill>
                  <a:srgbClr val="07182A"/>
                </a:solidFill>
                <a:latin typeface="CiscoSansTT"/>
                <a:ea typeface="CiscoSansTT"/>
                <a:cs typeface="CiscoSansTT"/>
              </a:defRPr>
            </a:lvl3pPr>
            <a:lvl4pPr algn="l">
              <a:buNone/>
              <a:defRPr sz="2025" b="0">
                <a:solidFill>
                  <a:srgbClr val="07182A"/>
                </a:solidFill>
                <a:latin typeface="CiscoSansTT"/>
                <a:ea typeface="CiscoSansTT"/>
                <a:cs typeface="CiscoSansTT"/>
              </a:defRPr>
            </a:lvl4pPr>
            <a:lvl5pPr algn="l">
              <a:buNone/>
              <a:defRPr sz="2025" b="0">
                <a:solidFill>
                  <a:srgbClr val="07182A"/>
                </a:solidFill>
                <a:latin typeface="CiscoSansTT"/>
                <a:ea typeface="CiscoSansTT"/>
                <a:cs typeface="CiscoSansTT"/>
              </a:defRPr>
            </a:lvl5pPr>
            <a:lvl6pPr algn="l">
              <a:buNone/>
              <a:defRPr sz="2025" b="0">
                <a:solidFill>
                  <a:srgbClr val="07182A"/>
                </a:solidFill>
                <a:latin typeface="CiscoSansTT"/>
                <a:ea typeface="CiscoSansTT"/>
                <a:cs typeface="CiscoSansTT"/>
              </a:defRPr>
            </a:lvl6pPr>
            <a:lvl7pPr algn="l">
              <a:buNone/>
              <a:defRPr sz="2025" b="0">
                <a:solidFill>
                  <a:srgbClr val="07182A"/>
                </a:solidFill>
                <a:latin typeface="CiscoSansTT"/>
                <a:ea typeface="CiscoSansTT"/>
                <a:cs typeface="CiscoSansTT"/>
              </a:defRPr>
            </a:lvl7pPr>
            <a:lvl8pPr algn="l">
              <a:buNone/>
              <a:defRPr sz="2025" b="0">
                <a:solidFill>
                  <a:srgbClr val="07182A"/>
                </a:solidFill>
                <a:latin typeface="CiscoSansTT"/>
                <a:ea typeface="CiscoSansTT"/>
                <a:cs typeface="CiscoSansTT"/>
              </a:defRPr>
            </a:lvl8pPr>
            <a:lvl9pPr algn="l">
              <a:buNone/>
              <a:defRPr sz="2025" b="0">
                <a:solidFill>
                  <a:srgbClr val="07182A"/>
                </a:solidFill>
                <a:latin typeface="CiscoSansTT"/>
                <a:ea typeface="CiscoSansTT"/>
                <a:cs typeface="CiscoSansTT"/>
              </a:defRPr>
            </a:lvl9pPr>
          </a:lstStyle>
          <a:p>
            <a:pPr algn="l">
              <a:buNone/>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Coverage depends on the runtime and protocol.</a:t>
            </a:r>
          </a:p>
          <a:p>
            <a:pPr algn="l">
              <a:buNone/>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Runtime metrics remain experimental.</a:t>
            </a:r>
          </a:p>
        </p:txBody>
      </p:sp>
    </p:spTree>
    <p:extLst>
      <p:ext uri="{BB962C8B-B14F-4D97-AF65-F5344CB8AC3E}">
        <p14:creationId xmlns:p14="http://schemas.microsoft.com/office/powerpoint/2010/main" val="1161320730"/>
      </p:ext>
    </p:extLst>
  </p:cSld>
  <p:clrMapOvr>
    <a:masterClrMapping/>
  </p:clrMapOvr>
  <p:transition advClick="1"/>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Trace context connects service spans</a:t>
            </a:r>
          </a:p>
        </p:txBody>
      </p:sp>
      <p:sp>
        <p:nvSpPr>
          <p:cNvPr id="27" name="unlinked-heading">
            <a:extLst>
              <a:ext uri="{FF2B5EF4-FFF2-40B4-BE49-F238E27FC236}">
                <a16:creationId xmlns:a16="http://schemas.microsoft.com/office/drawing/2014/main" id="{BE0074D4-3EF6-4F92-8C5D-F977FE480364}"/>
              </a:ext>
            </a:extLst>
          </p:cNvPr>
          <p:cNvSpPr>
            <a:spLocks noGrp="1"/>
          </p:cNvSpPr>
          <p:nvPr/>
        </p:nvSpPr>
        <p:spPr>
          <a:xfrm>
            <a:off x="666750" y="1171575"/>
            <a:ext cx="10858500" cy="428625"/>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Without shared context</a:t>
            </a:r>
          </a:p>
        </p:txBody>
      </p:sp>
      <p:sp>
        <p:nvSpPr>
          <p:cNvPr id="28" name="separate-trace-frame-0">
            <a:extLst>
              <a:ext uri="{FF2B5EF4-FFF2-40B4-BE49-F238E27FC236}">
                <a16:creationId xmlns:a16="http://schemas.microsoft.com/office/drawing/2014/main" id="{14814128-16E5-4BA3-979D-6CBA73DA5546}"/>
              </a:ext>
            </a:extLst>
          </p:cNvPr>
          <p:cNvSpPr>
            <a:spLocks noGrp="1"/>
          </p:cNvSpPr>
          <p:nvPr/>
        </p:nvSpPr>
        <p:spPr>
          <a:xfrm>
            <a:off x="666750"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29" name="separate-trace-id-0">
            <a:extLst>
              <a:ext uri="{FF2B5EF4-FFF2-40B4-BE49-F238E27FC236}">
                <a16:creationId xmlns:a16="http://schemas.microsoft.com/office/drawing/2014/main" id="{78F09825-D99C-45BD-9697-BE159D460FA5}"/>
              </a:ext>
            </a:extLst>
          </p:cNvPr>
          <p:cNvSpPr>
            <a:spLocks noGrp="1"/>
          </p:cNvSpPr>
          <p:nvPr/>
        </p:nvSpPr>
        <p:spPr>
          <a:xfrm>
            <a:off x="819150"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A</a:t>
            </a:r>
          </a:p>
        </p:txBody>
      </p:sp>
      <p:sp>
        <p:nvSpPr>
          <p:cNvPr id="30" name="separate-span-0">
            <a:extLst>
              <a:ext uri="{FF2B5EF4-FFF2-40B4-BE49-F238E27FC236}">
                <a16:creationId xmlns:a16="http://schemas.microsoft.com/office/drawing/2014/main" id="{37F8CAC3-664A-40A8-BD70-08D886049721}"/>
              </a:ext>
            </a:extLst>
          </p:cNvPr>
          <p:cNvSpPr>
            <a:spLocks noGrp="1"/>
          </p:cNvSpPr>
          <p:nvPr/>
        </p:nvSpPr>
        <p:spPr>
          <a:xfrm>
            <a:off x="809625"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1" name="separate-service-0">
            <a:extLst>
              <a:ext uri="{FF2B5EF4-FFF2-40B4-BE49-F238E27FC236}">
                <a16:creationId xmlns:a16="http://schemas.microsoft.com/office/drawing/2014/main" id="{59477838-3DE2-4AFD-8EEC-CD550A967917}"/>
              </a:ext>
            </a:extLst>
          </p:cNvPr>
          <p:cNvSpPr>
            <a:spLocks noGrp="1"/>
          </p:cNvSpPr>
          <p:nvPr/>
        </p:nvSpPr>
        <p:spPr>
          <a:xfrm>
            <a:off x="809625"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sp>
        <p:nvSpPr>
          <p:cNvPr id="32" name="separate-trace-frame-1">
            <a:extLst>
              <a:ext uri="{FF2B5EF4-FFF2-40B4-BE49-F238E27FC236}">
                <a16:creationId xmlns:a16="http://schemas.microsoft.com/office/drawing/2014/main" id="{34750BEB-A3EC-4FB8-9EF8-8FFBB0A3BCD0}"/>
              </a:ext>
            </a:extLst>
          </p:cNvPr>
          <p:cNvSpPr>
            <a:spLocks noGrp="1"/>
          </p:cNvSpPr>
          <p:nvPr/>
        </p:nvSpPr>
        <p:spPr>
          <a:xfrm>
            <a:off x="4524375"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33" name="separate-trace-id-1">
            <a:extLst>
              <a:ext uri="{FF2B5EF4-FFF2-40B4-BE49-F238E27FC236}">
                <a16:creationId xmlns:a16="http://schemas.microsoft.com/office/drawing/2014/main" id="{60F1AB02-7EA8-44C2-B4D1-8222F9B22AF2}"/>
              </a:ext>
            </a:extLst>
          </p:cNvPr>
          <p:cNvSpPr>
            <a:spLocks noGrp="1"/>
          </p:cNvSpPr>
          <p:nvPr/>
        </p:nvSpPr>
        <p:spPr>
          <a:xfrm>
            <a:off x="4676775"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B</a:t>
            </a:r>
          </a:p>
        </p:txBody>
      </p:sp>
      <p:sp>
        <p:nvSpPr>
          <p:cNvPr id="34" name="separate-span-1">
            <a:extLst>
              <a:ext uri="{FF2B5EF4-FFF2-40B4-BE49-F238E27FC236}">
                <a16:creationId xmlns:a16="http://schemas.microsoft.com/office/drawing/2014/main" id="{706B10C1-863D-48C5-A266-A4442E275E24}"/>
              </a:ext>
            </a:extLst>
          </p:cNvPr>
          <p:cNvSpPr>
            <a:spLocks noGrp="1"/>
          </p:cNvSpPr>
          <p:nvPr/>
        </p:nvSpPr>
        <p:spPr>
          <a:xfrm>
            <a:off x="4667250"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5" name="separate-service-1">
            <a:extLst>
              <a:ext uri="{FF2B5EF4-FFF2-40B4-BE49-F238E27FC236}">
                <a16:creationId xmlns:a16="http://schemas.microsoft.com/office/drawing/2014/main" id="{4E732843-75DB-4053-B4C6-2F55B8F80B0F}"/>
              </a:ext>
            </a:extLst>
          </p:cNvPr>
          <p:cNvSpPr>
            <a:spLocks noGrp="1"/>
          </p:cNvSpPr>
          <p:nvPr/>
        </p:nvSpPr>
        <p:spPr>
          <a:xfrm>
            <a:off x="4667250"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sp>
        <p:nvSpPr>
          <p:cNvPr id="36" name="separate-trace-frame-2">
            <a:extLst>
              <a:ext uri="{FF2B5EF4-FFF2-40B4-BE49-F238E27FC236}">
                <a16:creationId xmlns:a16="http://schemas.microsoft.com/office/drawing/2014/main" id="{A568798A-4EF3-4FBC-9BA4-56EABCE841C7}"/>
              </a:ext>
            </a:extLst>
          </p:cNvPr>
          <p:cNvSpPr>
            <a:spLocks noGrp="1"/>
          </p:cNvSpPr>
          <p:nvPr/>
        </p:nvSpPr>
        <p:spPr>
          <a:xfrm>
            <a:off x="8382000"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37" name="separate-trace-id-2">
            <a:extLst>
              <a:ext uri="{FF2B5EF4-FFF2-40B4-BE49-F238E27FC236}">
                <a16:creationId xmlns:a16="http://schemas.microsoft.com/office/drawing/2014/main" id="{E1770F39-922D-4F2E-8A65-39FFF6579412}"/>
              </a:ext>
            </a:extLst>
          </p:cNvPr>
          <p:cNvSpPr>
            <a:spLocks noGrp="1"/>
          </p:cNvSpPr>
          <p:nvPr/>
        </p:nvSpPr>
        <p:spPr>
          <a:xfrm>
            <a:off x="8534400"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C</a:t>
            </a:r>
          </a:p>
        </p:txBody>
      </p:sp>
      <p:sp>
        <p:nvSpPr>
          <p:cNvPr id="38" name="separate-span-2">
            <a:extLst>
              <a:ext uri="{FF2B5EF4-FFF2-40B4-BE49-F238E27FC236}">
                <a16:creationId xmlns:a16="http://schemas.microsoft.com/office/drawing/2014/main" id="{2EBE708F-606B-4F43-B99A-AF12B1FF631A}"/>
              </a:ext>
            </a:extLst>
          </p:cNvPr>
          <p:cNvSpPr>
            <a:spLocks noGrp="1"/>
          </p:cNvSpPr>
          <p:nvPr/>
        </p:nvSpPr>
        <p:spPr>
          <a:xfrm>
            <a:off x="8524875"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9" name="separate-service-2">
            <a:extLst>
              <a:ext uri="{FF2B5EF4-FFF2-40B4-BE49-F238E27FC236}">
                <a16:creationId xmlns:a16="http://schemas.microsoft.com/office/drawing/2014/main" id="{EA1B71A6-9C8B-4BA5-9E33-F978B2A4CB8B}"/>
              </a:ext>
            </a:extLst>
          </p:cNvPr>
          <p:cNvSpPr>
            <a:spLocks noGrp="1"/>
          </p:cNvSpPr>
          <p:nvPr/>
        </p:nvSpPr>
        <p:spPr>
          <a:xfrm>
            <a:off x="8524875"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40" name="linked-heading">
            <a:extLst>
              <a:ext uri="{FF2B5EF4-FFF2-40B4-BE49-F238E27FC236}">
                <a16:creationId xmlns:a16="http://schemas.microsoft.com/office/drawing/2014/main" id="{7F65EF36-D6E5-4F14-AC6C-2CCD6A06C14D}"/>
              </a:ext>
            </a:extLst>
          </p:cNvPr>
          <p:cNvSpPr>
            <a:spLocks noGrp="1"/>
          </p:cNvSpPr>
          <p:nvPr/>
        </p:nvSpPr>
        <p:spPr>
          <a:xfrm>
            <a:off x="666750" y="3381375"/>
            <a:ext cx="10858500" cy="428625"/>
          </a:xfrm>
          <a:prstGeom prst="rect">
            <a:avLst/>
          </a:prstGeom>
          <a:noFill/>
          <a:ln w="0">
            <a:noFill/>
          </a:ln>
        </p:spPr>
        <p:txBody>
          <a:bodyPr anchor="ctr">
            <a:noAutofit/>
          </a:bodyPr>
          <a:lstStyle>
            <a:defPPr algn="l">
              <a:defRPr sz="2100" b="1">
                <a:solidFill>
                  <a:srgbClr val="FF007F"/>
                </a:solidFill>
                <a:latin typeface="CiscoSansTT Medium"/>
                <a:ea typeface="CiscoSansTT Medium"/>
                <a:cs typeface="CiscoSansTT Medium"/>
              </a:defRPr>
            </a:defPPr>
            <a:lvl1pPr algn="l">
              <a:defRPr sz="2100" b="1">
                <a:solidFill>
                  <a:srgbClr val="FF007F"/>
                </a:solidFill>
                <a:latin typeface="CiscoSansTT Medium"/>
                <a:ea typeface="CiscoSansTT Medium"/>
                <a:cs typeface="CiscoSansTT Medium"/>
              </a:defRPr>
            </a:lvl1pPr>
            <a:lvl2pPr algn="l">
              <a:defRPr sz="2100" b="1">
                <a:solidFill>
                  <a:srgbClr val="FF007F"/>
                </a:solidFill>
                <a:latin typeface="CiscoSansTT Medium"/>
                <a:ea typeface="CiscoSansTT Medium"/>
                <a:cs typeface="CiscoSansTT Medium"/>
              </a:defRPr>
            </a:lvl2pPr>
            <a:lvl3pPr algn="l">
              <a:defRPr sz="2100" b="1">
                <a:solidFill>
                  <a:srgbClr val="FF007F"/>
                </a:solidFill>
                <a:latin typeface="CiscoSansTT Medium"/>
                <a:ea typeface="CiscoSansTT Medium"/>
                <a:cs typeface="CiscoSansTT Medium"/>
              </a:defRPr>
            </a:lvl3pPr>
            <a:lvl4pPr algn="l">
              <a:defRPr sz="2100" b="1">
                <a:solidFill>
                  <a:srgbClr val="FF007F"/>
                </a:solidFill>
                <a:latin typeface="CiscoSansTT Medium"/>
                <a:ea typeface="CiscoSansTT Medium"/>
                <a:cs typeface="CiscoSansTT Medium"/>
              </a:defRPr>
            </a:lvl4pPr>
            <a:lvl5pPr algn="l">
              <a:defRPr sz="2100" b="1">
                <a:solidFill>
                  <a:srgbClr val="FF007F"/>
                </a:solidFill>
                <a:latin typeface="CiscoSansTT Medium"/>
                <a:ea typeface="CiscoSansTT Medium"/>
                <a:cs typeface="CiscoSansTT Medium"/>
              </a:defRPr>
            </a:lvl5pPr>
            <a:lvl6pPr algn="l">
              <a:defRPr sz="2100" b="1">
                <a:solidFill>
                  <a:srgbClr val="FF007F"/>
                </a:solidFill>
                <a:latin typeface="CiscoSansTT Medium"/>
                <a:ea typeface="CiscoSansTT Medium"/>
                <a:cs typeface="CiscoSansTT Medium"/>
              </a:defRPr>
            </a:lvl6pPr>
            <a:lvl7pPr algn="l">
              <a:defRPr sz="2100" b="1">
                <a:solidFill>
                  <a:srgbClr val="FF007F"/>
                </a:solidFill>
                <a:latin typeface="CiscoSansTT Medium"/>
                <a:ea typeface="CiscoSansTT Medium"/>
                <a:cs typeface="CiscoSansTT Medium"/>
              </a:defRPr>
            </a:lvl7pPr>
            <a:lvl8pPr algn="l">
              <a:defRPr sz="2100" b="1">
                <a:solidFill>
                  <a:srgbClr val="FF007F"/>
                </a:solidFill>
                <a:latin typeface="CiscoSansTT Medium"/>
                <a:ea typeface="CiscoSansTT Medium"/>
                <a:cs typeface="CiscoSansTT Medium"/>
              </a:defRPr>
            </a:lvl8pPr>
            <a:lvl9pPr algn="l">
              <a:defRPr sz="2100" b="1">
                <a:solidFill>
                  <a:srgbClr val="FF007F"/>
                </a:solidFill>
                <a:latin typeface="CiscoSansTT Medium"/>
                <a:ea typeface="CiscoSansTT Medium"/>
                <a:cs typeface="CiscoSansTT Medium"/>
              </a:defRPr>
            </a:lvl9pPr>
          </a:lstStyle>
          <a:p>
            <a:pPr algn="l">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With propagated context</a:t>
            </a:r>
          </a:p>
        </p:txBody>
      </p:sp>
      <p:sp>
        <p:nvSpPr>
          <p:cNvPr id="41" name="connected-trace-frame">
            <a:extLst>
              <a:ext uri="{FF2B5EF4-FFF2-40B4-BE49-F238E27FC236}">
                <a16:creationId xmlns:a16="http://schemas.microsoft.com/office/drawing/2014/main" id="{0992DFDC-3791-40FA-84D5-2480858394D4}"/>
              </a:ext>
            </a:extLst>
          </p:cNvPr>
          <p:cNvSpPr>
            <a:spLocks noGrp="1"/>
          </p:cNvSpPr>
          <p:nvPr/>
        </p:nvSpPr>
        <p:spPr>
          <a:xfrm>
            <a:off x="666750" y="3981450"/>
            <a:ext cx="10858500" cy="1619250"/>
          </a:xfrm>
          <a:prstGeom prst="roundRect">
            <a:avLst>
              <a:gd name="adj" fmla="val 3529"/>
            </a:avLst>
          </a:prstGeom>
          <a:solidFill>
            <a:srgbClr val="FFFFFF"/>
          </a:solidFill>
          <a:ln w="16193">
            <a:solidFill>
              <a:srgbClr val="FF007F"/>
            </a:solidFill>
          </a:ln>
        </p:spPr>
        <p:txBody>
          <a:bodyPr/>
          <a:lstStyle/>
          <a:p>
            <a:endParaRPr lang="en-ES"/>
          </a:p>
        </p:txBody>
      </p:sp>
      <p:sp>
        <p:nvSpPr>
          <p:cNvPr id="42" name="connected-trace-id">
            <a:extLst>
              <a:ext uri="{FF2B5EF4-FFF2-40B4-BE49-F238E27FC236}">
                <a16:creationId xmlns:a16="http://schemas.microsoft.com/office/drawing/2014/main" id="{2BFDC140-42F8-4843-973F-37B21FC8BB69}"/>
              </a:ext>
            </a:extLst>
          </p:cNvPr>
          <p:cNvSpPr>
            <a:spLocks noGrp="1"/>
          </p:cNvSpPr>
          <p:nvPr/>
        </p:nvSpPr>
        <p:spPr>
          <a:xfrm>
            <a:off x="876300" y="4114800"/>
            <a:ext cx="10439400" cy="361950"/>
          </a:xfrm>
          <a:prstGeom prst="rect">
            <a:avLst/>
          </a:prstGeom>
          <a:noFill/>
          <a:ln w="0">
            <a:noFill/>
          </a:ln>
        </p:spPr>
        <p:txBody>
          <a:bodyPr anchor="ctr">
            <a:noAutofit/>
          </a:bodyPr>
          <a:lstStyle>
            <a:defPPr algn="l">
              <a:defRPr sz="1875" b="1">
                <a:solidFill>
                  <a:srgbClr val="FF007F"/>
                </a:solidFill>
                <a:latin typeface="CiscoSansTT Medium"/>
                <a:ea typeface="CiscoSansTT Medium"/>
                <a:cs typeface="CiscoSansTT Medium"/>
              </a:defRPr>
            </a:defPPr>
            <a:lvl1pPr algn="l">
              <a:defRPr sz="1875" b="1">
                <a:solidFill>
                  <a:srgbClr val="FF007F"/>
                </a:solidFill>
                <a:latin typeface="CiscoSansTT Medium"/>
                <a:ea typeface="CiscoSansTT Medium"/>
                <a:cs typeface="CiscoSansTT Medium"/>
              </a:defRPr>
            </a:lvl1pPr>
            <a:lvl2pPr algn="l">
              <a:defRPr sz="1875" b="1">
                <a:solidFill>
                  <a:srgbClr val="FF007F"/>
                </a:solidFill>
                <a:latin typeface="CiscoSansTT Medium"/>
                <a:ea typeface="CiscoSansTT Medium"/>
                <a:cs typeface="CiscoSansTT Medium"/>
              </a:defRPr>
            </a:lvl2pPr>
            <a:lvl3pPr algn="l">
              <a:defRPr sz="1875" b="1">
                <a:solidFill>
                  <a:srgbClr val="FF007F"/>
                </a:solidFill>
                <a:latin typeface="CiscoSansTT Medium"/>
                <a:ea typeface="CiscoSansTT Medium"/>
                <a:cs typeface="CiscoSansTT Medium"/>
              </a:defRPr>
            </a:lvl3pPr>
            <a:lvl4pPr algn="l">
              <a:defRPr sz="1875" b="1">
                <a:solidFill>
                  <a:srgbClr val="FF007F"/>
                </a:solidFill>
                <a:latin typeface="CiscoSansTT Medium"/>
                <a:ea typeface="CiscoSansTT Medium"/>
                <a:cs typeface="CiscoSansTT Medium"/>
              </a:defRPr>
            </a:lvl4pPr>
            <a:lvl5pPr algn="l">
              <a:defRPr sz="1875" b="1">
                <a:solidFill>
                  <a:srgbClr val="FF007F"/>
                </a:solidFill>
                <a:latin typeface="CiscoSansTT Medium"/>
                <a:ea typeface="CiscoSansTT Medium"/>
                <a:cs typeface="CiscoSansTT Medium"/>
              </a:defRPr>
            </a:lvl5pPr>
            <a:lvl6pPr algn="l">
              <a:defRPr sz="1875" b="1">
                <a:solidFill>
                  <a:srgbClr val="FF007F"/>
                </a:solidFill>
                <a:latin typeface="CiscoSansTT Medium"/>
                <a:ea typeface="CiscoSansTT Medium"/>
                <a:cs typeface="CiscoSansTT Medium"/>
              </a:defRPr>
            </a:lvl6pPr>
            <a:lvl7pPr algn="l">
              <a:defRPr sz="1875" b="1">
                <a:solidFill>
                  <a:srgbClr val="FF007F"/>
                </a:solidFill>
                <a:latin typeface="CiscoSansTT Medium"/>
                <a:ea typeface="CiscoSansTT Medium"/>
                <a:cs typeface="CiscoSansTT Medium"/>
              </a:defRPr>
            </a:lvl7pPr>
            <a:lvl8pPr algn="l">
              <a:defRPr sz="1875" b="1">
                <a:solidFill>
                  <a:srgbClr val="FF007F"/>
                </a:solidFill>
                <a:latin typeface="CiscoSansTT Medium"/>
                <a:ea typeface="CiscoSansTT Medium"/>
                <a:cs typeface="CiscoSansTT Medium"/>
              </a:defRPr>
            </a:lvl8pPr>
            <a:lvl9pPr algn="l">
              <a:defRPr sz="1875" b="1">
                <a:solidFill>
                  <a:srgbClr val="FF007F"/>
                </a:solidFill>
                <a:latin typeface="CiscoSansTT Medium"/>
                <a:ea typeface="CiscoSansTT Medium"/>
                <a:cs typeface="CiscoSansTT Medium"/>
              </a:defRPr>
            </a:lvl9pPr>
          </a:lstStyle>
          <a:p>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Trace A</a:t>
            </a:r>
          </a:p>
        </p:txBody>
      </p:sp>
      <p:sp>
        <p:nvSpPr>
          <p:cNvPr id="43" name="connected-span-0">
            <a:extLst>
              <a:ext uri="{FF2B5EF4-FFF2-40B4-BE49-F238E27FC236}">
                <a16:creationId xmlns:a16="http://schemas.microsoft.com/office/drawing/2014/main" id="{3ED0AE42-321B-42A9-85C0-938094FE2766}"/>
              </a:ext>
            </a:extLst>
          </p:cNvPr>
          <p:cNvSpPr>
            <a:spLocks noGrp="1"/>
          </p:cNvSpPr>
          <p:nvPr/>
        </p:nvSpPr>
        <p:spPr>
          <a:xfrm>
            <a:off x="809625"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44" name="connected-service-0">
            <a:extLst>
              <a:ext uri="{FF2B5EF4-FFF2-40B4-BE49-F238E27FC236}">
                <a16:creationId xmlns:a16="http://schemas.microsoft.com/office/drawing/2014/main" id="{3631A881-AAB9-408E-B055-23887B43F1B3}"/>
              </a:ext>
            </a:extLst>
          </p:cNvPr>
          <p:cNvSpPr>
            <a:spLocks noGrp="1"/>
          </p:cNvSpPr>
          <p:nvPr/>
        </p:nvSpPr>
        <p:spPr>
          <a:xfrm>
            <a:off x="809625"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cxnSp>
        <p:nvCxnSpPr>
          <p:cNvPr id="45" name="connected-call-0">
            <a:extLst>
              <a:ext uri="{FF2B5EF4-FFF2-40B4-BE49-F238E27FC236}">
                <a16:creationId xmlns:a16="http://schemas.microsoft.com/office/drawing/2014/main" id="{1CEA6D18-6822-4704-8889-6193F61EE3BD}"/>
              </a:ext>
            </a:extLst>
          </p:cNvPr>
          <p:cNvCxnSpPr/>
          <p:nvPr/>
        </p:nvCxnSpPr>
        <p:spPr>
          <a:xfrm>
            <a:off x="3667125" y="4976813"/>
            <a:ext cx="1000125" cy="0"/>
          </a:xfrm>
          <a:prstGeom prst="straightConnector1">
            <a:avLst/>
          </a:prstGeom>
          <a:ln w="21908">
            <a:solidFill>
              <a:srgbClr val="FF007F"/>
            </a:solidFill>
            <a:tailEnd type="arrow" w="med" len="med"/>
          </a:ln>
        </p:spPr>
      </p:cxnSp>
      <p:sp>
        <p:nvSpPr>
          <p:cNvPr id="46" name="connected-span-1">
            <a:extLst>
              <a:ext uri="{FF2B5EF4-FFF2-40B4-BE49-F238E27FC236}">
                <a16:creationId xmlns:a16="http://schemas.microsoft.com/office/drawing/2014/main" id="{E94F0DCD-3993-4401-A189-78395AFDDC8E}"/>
              </a:ext>
            </a:extLst>
          </p:cNvPr>
          <p:cNvSpPr>
            <a:spLocks noGrp="1"/>
          </p:cNvSpPr>
          <p:nvPr/>
        </p:nvSpPr>
        <p:spPr>
          <a:xfrm>
            <a:off x="4667250"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47" name="connected-service-1">
            <a:extLst>
              <a:ext uri="{FF2B5EF4-FFF2-40B4-BE49-F238E27FC236}">
                <a16:creationId xmlns:a16="http://schemas.microsoft.com/office/drawing/2014/main" id="{521B59B2-5E34-4272-A475-06DDF926610E}"/>
              </a:ext>
            </a:extLst>
          </p:cNvPr>
          <p:cNvSpPr>
            <a:spLocks noGrp="1"/>
          </p:cNvSpPr>
          <p:nvPr/>
        </p:nvSpPr>
        <p:spPr>
          <a:xfrm>
            <a:off x="4667250"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cxnSp>
        <p:nvCxnSpPr>
          <p:cNvPr id="48" name="connected-call-1">
            <a:extLst>
              <a:ext uri="{FF2B5EF4-FFF2-40B4-BE49-F238E27FC236}">
                <a16:creationId xmlns:a16="http://schemas.microsoft.com/office/drawing/2014/main" id="{318BEE17-753B-4840-BB8F-2C3747AF3A88}"/>
              </a:ext>
            </a:extLst>
          </p:cNvPr>
          <p:cNvCxnSpPr/>
          <p:nvPr/>
        </p:nvCxnSpPr>
        <p:spPr>
          <a:xfrm>
            <a:off x="7524750" y="4976813"/>
            <a:ext cx="1000125" cy="0"/>
          </a:xfrm>
          <a:prstGeom prst="straightConnector1">
            <a:avLst/>
          </a:prstGeom>
          <a:ln w="21908">
            <a:solidFill>
              <a:srgbClr val="FF007F"/>
            </a:solidFill>
            <a:tailEnd type="arrow" w="med" len="med"/>
          </a:ln>
        </p:spPr>
      </p:cxnSp>
      <p:sp>
        <p:nvSpPr>
          <p:cNvPr id="49" name="connected-span-2">
            <a:extLst>
              <a:ext uri="{FF2B5EF4-FFF2-40B4-BE49-F238E27FC236}">
                <a16:creationId xmlns:a16="http://schemas.microsoft.com/office/drawing/2014/main" id="{437FEDA6-15E2-4C70-B857-AA9C445EF009}"/>
              </a:ext>
            </a:extLst>
          </p:cNvPr>
          <p:cNvSpPr>
            <a:spLocks noGrp="1"/>
          </p:cNvSpPr>
          <p:nvPr/>
        </p:nvSpPr>
        <p:spPr>
          <a:xfrm>
            <a:off x="8524875"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50" name="connected-service-2">
            <a:extLst>
              <a:ext uri="{FF2B5EF4-FFF2-40B4-BE49-F238E27FC236}">
                <a16:creationId xmlns:a16="http://schemas.microsoft.com/office/drawing/2014/main" id="{0DE5CD28-5D01-479B-B3A9-D3D00BB64879}"/>
              </a:ext>
            </a:extLst>
          </p:cNvPr>
          <p:cNvSpPr>
            <a:spLocks noGrp="1"/>
          </p:cNvSpPr>
          <p:nvPr/>
        </p:nvSpPr>
        <p:spPr>
          <a:xfrm>
            <a:off x="8524875"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51" name="trace-takeaway">
            <a:extLst>
              <a:ext uri="{FF2B5EF4-FFF2-40B4-BE49-F238E27FC236}">
                <a16:creationId xmlns:a16="http://schemas.microsoft.com/office/drawing/2014/main" id="{E55C148F-3014-441A-A226-24A26882EE69}"/>
              </a:ext>
            </a:extLst>
          </p:cNvPr>
          <p:cNvSpPr>
            <a:spLocks noGrp="1"/>
          </p:cNvSpPr>
          <p:nvPr/>
        </p:nvSpPr>
        <p:spPr>
          <a:xfrm>
            <a:off x="666750" y="5791200"/>
            <a:ext cx="10858500" cy="419100"/>
          </a:xfrm>
          <a:prstGeom prst="rect">
            <a:avLst/>
          </a:prstGeom>
          <a:noFill/>
          <a:ln w="0">
            <a:noFill/>
          </a:ln>
        </p:spPr>
        <p:txBody>
          <a:bodyPr anchor="ctr">
            <a:noAutofit/>
          </a:bodyPr>
          <a:lstStyle>
            <a:defPPr algn="ctr">
              <a:defRPr sz="1950" b="1">
                <a:solidFill>
                  <a:srgbClr val="07182A"/>
                </a:solidFill>
                <a:latin typeface="CiscoSansTT Medium"/>
                <a:ea typeface="CiscoSansTT Medium"/>
                <a:cs typeface="CiscoSansTT Medium"/>
              </a:defRPr>
            </a:defPPr>
            <a:lvl1pPr algn="ctr">
              <a:defRPr sz="1950" b="1">
                <a:solidFill>
                  <a:srgbClr val="07182A"/>
                </a:solidFill>
                <a:latin typeface="CiscoSansTT Medium"/>
                <a:ea typeface="CiscoSansTT Medium"/>
                <a:cs typeface="CiscoSansTT Medium"/>
              </a:defRPr>
            </a:lvl1pPr>
            <a:lvl2pPr algn="ctr">
              <a:defRPr sz="1950" b="1">
                <a:solidFill>
                  <a:srgbClr val="07182A"/>
                </a:solidFill>
                <a:latin typeface="CiscoSansTT Medium"/>
                <a:ea typeface="CiscoSansTT Medium"/>
                <a:cs typeface="CiscoSansTT Medium"/>
              </a:defRPr>
            </a:lvl2pPr>
            <a:lvl3pPr algn="ctr">
              <a:defRPr sz="1950" b="1">
                <a:solidFill>
                  <a:srgbClr val="07182A"/>
                </a:solidFill>
                <a:latin typeface="CiscoSansTT Medium"/>
                <a:ea typeface="CiscoSansTT Medium"/>
                <a:cs typeface="CiscoSansTT Medium"/>
              </a:defRPr>
            </a:lvl3pPr>
            <a:lvl4pPr algn="ctr">
              <a:defRPr sz="1950" b="1">
                <a:solidFill>
                  <a:srgbClr val="07182A"/>
                </a:solidFill>
                <a:latin typeface="CiscoSansTT Medium"/>
                <a:ea typeface="CiscoSansTT Medium"/>
                <a:cs typeface="CiscoSansTT Medium"/>
              </a:defRPr>
            </a:lvl4pPr>
            <a:lvl5pPr algn="ctr">
              <a:defRPr sz="1950" b="1">
                <a:solidFill>
                  <a:srgbClr val="07182A"/>
                </a:solidFill>
                <a:latin typeface="CiscoSansTT Medium"/>
                <a:ea typeface="CiscoSansTT Medium"/>
                <a:cs typeface="CiscoSansTT Medium"/>
              </a:defRPr>
            </a:lvl5pPr>
            <a:lvl6pPr algn="ctr">
              <a:defRPr sz="1950" b="1">
                <a:solidFill>
                  <a:srgbClr val="07182A"/>
                </a:solidFill>
                <a:latin typeface="CiscoSansTT Medium"/>
                <a:ea typeface="CiscoSansTT Medium"/>
                <a:cs typeface="CiscoSansTT Medium"/>
              </a:defRPr>
            </a:lvl6pPr>
            <a:lvl7pPr algn="ctr">
              <a:defRPr sz="1950" b="1">
                <a:solidFill>
                  <a:srgbClr val="07182A"/>
                </a:solidFill>
                <a:latin typeface="CiscoSansTT Medium"/>
                <a:ea typeface="CiscoSansTT Medium"/>
                <a:cs typeface="CiscoSansTT Medium"/>
              </a:defRPr>
            </a:lvl7pPr>
            <a:lvl8pPr algn="ctr">
              <a:defRPr sz="1950" b="1">
                <a:solidFill>
                  <a:srgbClr val="07182A"/>
                </a:solidFill>
                <a:latin typeface="CiscoSansTT Medium"/>
                <a:ea typeface="CiscoSansTT Medium"/>
                <a:cs typeface="CiscoSansTT Medium"/>
              </a:defRPr>
            </a:lvl8pPr>
            <a:lvl9pPr algn="ctr">
              <a:defRPr sz="1950" b="1">
                <a:solidFill>
                  <a:srgbClr val="07182A"/>
                </a:solidFill>
                <a:latin typeface="CiscoSansTT Medium"/>
                <a:ea typeface="CiscoSansTT Medium"/>
                <a:cs typeface="CiscoSansTT Medium"/>
              </a:defRPr>
            </a:lvl9pPr>
          </a:lstStyle>
          <a:p>
            <a:pPr algn="ctr">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One trace connects the operations across all three services.</a:t>
            </a:r>
          </a:p>
        </p:txBody>
      </p:sp>
    </p:spTree>
    <p:extLst>
      <p:ext uri="{BB962C8B-B14F-4D97-AF65-F5344CB8AC3E}">
        <p14:creationId xmlns:p14="http://schemas.microsoft.com/office/powerpoint/2010/main" val="768147433"/>
      </p:ext>
    </p:extLst>
  </p:cSld>
  <p:clrMapOvr>
    <a:masterClrMapping/>
  </p:clrMapOvr>
  <p:transition advClick="1"/>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HTTP </a:t>
            </a: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advClick="1"/>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Tree>
    <p:extLst>
      <p:ext uri="{BB962C8B-B14F-4D97-AF65-F5344CB8AC3E}">
        <p14:creationId xmlns:p14="http://schemas.microsoft.com/office/powerpoint/2010/main" val="1785190512"/>
      </p:ext>
    </p:extLst>
  </p:cSld>
  <p:clrMapOvr>
    <a:masterClrMapping/>
  </p:clrMapOvr>
  <p:transition advClick="1"/>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advClick="1"/>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defRPr sz="3150" b="0">
                <a:solidFill>
                  <a:srgbClr val="07182A"/>
                </a:solidFill>
                <a:latin typeface="CiscoSansTT"/>
                <a:ea typeface="CiscoSansTT"/>
                <a:cs typeface="CiscoSansTT"/>
              </a:defRPr>
            </a:lvl1pPr>
            <a:lvl2pPr algn="l">
              <a:defRPr sz="3150" b="0">
                <a:solidFill>
                  <a:srgbClr val="07182A"/>
                </a:solidFill>
                <a:latin typeface="CiscoSansTT"/>
                <a:ea typeface="CiscoSansTT"/>
                <a:cs typeface="CiscoSansTT"/>
              </a:defRPr>
            </a:lvl2pPr>
            <a:lvl3pPr algn="l">
              <a:defRPr sz="3150" b="0">
                <a:solidFill>
                  <a:srgbClr val="07182A"/>
                </a:solidFill>
                <a:latin typeface="CiscoSansTT"/>
                <a:ea typeface="CiscoSansTT"/>
                <a:cs typeface="CiscoSansTT"/>
              </a:defRPr>
            </a:lvl3pPr>
            <a:lvl4pPr algn="l">
              <a:defRPr sz="3150" b="0">
                <a:solidFill>
                  <a:srgbClr val="07182A"/>
                </a:solidFill>
                <a:latin typeface="CiscoSansTT"/>
                <a:ea typeface="CiscoSansTT"/>
                <a:cs typeface="CiscoSansTT"/>
              </a:defRPr>
            </a:lvl4pPr>
            <a:lvl5pPr algn="l">
              <a:defRPr sz="3150" b="0">
                <a:solidFill>
                  <a:srgbClr val="07182A"/>
                </a:solidFill>
                <a:latin typeface="CiscoSansTT"/>
                <a:ea typeface="CiscoSansTT"/>
                <a:cs typeface="CiscoSansTT"/>
              </a:defRPr>
            </a:lvl5pPr>
            <a:lvl6pPr algn="l">
              <a:defRPr sz="3150" b="0">
                <a:solidFill>
                  <a:srgbClr val="07182A"/>
                </a:solidFill>
                <a:latin typeface="CiscoSansTT"/>
                <a:ea typeface="CiscoSansTT"/>
                <a:cs typeface="CiscoSansTT"/>
              </a:defRPr>
            </a:lvl6pPr>
            <a:lvl7pPr algn="l">
              <a:defRPr sz="3150" b="0">
                <a:solidFill>
                  <a:srgbClr val="07182A"/>
                </a:solidFill>
                <a:latin typeface="CiscoSansTT"/>
                <a:ea typeface="CiscoSansTT"/>
                <a:cs typeface="CiscoSansTT"/>
              </a:defRPr>
            </a:lvl7pPr>
            <a:lvl8pPr algn="l">
              <a:defRPr sz="3150" b="0">
                <a:solidFill>
                  <a:srgbClr val="07182A"/>
                </a:solidFill>
                <a:latin typeface="CiscoSansTT"/>
                <a:ea typeface="CiscoSansTT"/>
                <a:cs typeface="CiscoSansTT"/>
              </a:defRPr>
            </a:lvl8pPr>
            <a:lvl9pPr algn="l">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and Cilium on the same node</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16" name="shared-worker-node">
            <a:extLst>
              <a:ext uri="{FF2B5EF4-FFF2-40B4-BE49-F238E27FC236}">
                <a16:creationId xmlns:a16="http://schemas.microsoft.com/office/drawing/2014/main" id="{D417A7EB-45BF-42DF-9A70-2005426E61ED}"/>
              </a:ext>
            </a:extLst>
          </p:cNvPr>
          <p:cNvSpPr>
            <a:spLocks noGrp="1"/>
          </p:cNvSpPr>
          <p:nvPr/>
        </p:nvSpPr>
        <p:spPr>
          <a:xfrm>
            <a:off x="762000" y="1647825"/>
            <a:ext cx="3190875" cy="3819525"/>
          </a:xfrm>
          <a:prstGeom prst="rect">
            <a:avLst/>
          </a:prstGeom>
          <a:noFill/>
          <a:ln w="15240">
            <a:solidFill>
              <a:srgbClr val="CFD5DD"/>
            </a:solidFill>
          </a:ln>
        </p:spPr>
        <p:txBody>
          <a:bodyPr/>
          <a:lstStyle/>
          <a:p>
            <a:endParaRPr lang="en-ES"/>
          </a:p>
        </p:txBody>
      </p:sp>
      <p:sp>
        <p:nvSpPr>
          <p:cNvPr id="17" name="worker-node-heading">
            <a:extLst>
              <a:ext uri="{FF2B5EF4-FFF2-40B4-BE49-F238E27FC236}">
                <a16:creationId xmlns:a16="http://schemas.microsoft.com/office/drawing/2014/main" id="{A9B4F930-A7F0-43AB-AAC0-29BA71CD3811}"/>
              </a:ext>
            </a:extLst>
          </p:cNvPr>
          <p:cNvSpPr>
            <a:spLocks noGrp="1"/>
          </p:cNvSpPr>
          <p:nvPr/>
        </p:nvSpPr>
        <p:spPr>
          <a:xfrm>
            <a:off x="952500" y="1809750"/>
            <a:ext cx="2809875" cy="49530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One worker node</a:t>
            </a:r>
          </a:p>
        </p:txBody>
      </p:sp>
      <p:sp>
        <p:nvSpPr>
          <p:cNvPr id="18" name="obi-agent">
            <a:extLst>
              <a:ext uri="{FF2B5EF4-FFF2-40B4-BE49-F238E27FC236}">
                <a16:creationId xmlns:a16="http://schemas.microsoft.com/office/drawing/2014/main" id="{DC8297CE-16F8-4192-B40F-21431D171D46}"/>
              </a:ext>
            </a:extLst>
          </p:cNvPr>
          <p:cNvSpPr>
            <a:spLocks noGrp="1"/>
          </p:cNvSpPr>
          <p:nvPr/>
        </p:nvSpPr>
        <p:spPr>
          <a:xfrm>
            <a:off x="1000125" y="2533650"/>
            <a:ext cx="2714625" cy="1028700"/>
          </a:xfrm>
          <a:prstGeom prst="rect">
            <a:avLst/>
          </a:prstGeom>
          <a:solidFill>
            <a:srgbClr val="F6ECF5"/>
          </a:solidFill>
          <a:ln w="14288">
            <a:solidFill>
              <a:srgbClr val="FF007F"/>
            </a:solidFill>
          </a:ln>
        </p:spPr>
        <p:txBody>
          <a:bodyPr/>
          <a:lstStyle/>
          <a:p>
            <a:endParaRPr lang="en-ES"/>
          </a:p>
        </p:txBody>
      </p:sp>
      <p:sp>
        <p:nvSpPr>
          <p:cNvPr id="19" name="obi-agent-label">
            <a:extLst>
              <a:ext uri="{FF2B5EF4-FFF2-40B4-BE49-F238E27FC236}">
                <a16:creationId xmlns:a16="http://schemas.microsoft.com/office/drawing/2014/main" id="{C7034A89-C90E-4178-B858-FA0F84CF6882}"/>
              </a:ext>
            </a:extLst>
          </p:cNvPr>
          <p:cNvSpPr>
            <a:spLocks noGrp="1"/>
          </p:cNvSpPr>
          <p:nvPr/>
        </p:nvSpPr>
        <p:spPr>
          <a:xfrm>
            <a:off x="1095375" y="2600325"/>
            <a:ext cx="2524125" cy="361950"/>
          </a:xfrm>
          <a:prstGeom prst="rect">
            <a:avLst/>
          </a:prstGeom>
          <a:noFill/>
          <a:ln w="0">
            <a:noFill/>
          </a:ln>
        </p:spPr>
        <p:txBody>
          <a:bodyPr anchor="ctr">
            <a:noAutofit/>
          </a:bodyPr>
          <a:lstStyle>
            <a:defPPr algn="ctr">
              <a:defRPr sz="2025" b="1">
                <a:solidFill>
                  <a:srgbClr val="FF007F"/>
                </a:solidFill>
                <a:latin typeface="CiscoSansTT Medium"/>
                <a:ea typeface="CiscoSansTT Medium"/>
                <a:cs typeface="CiscoSansTT Medium"/>
              </a:defRPr>
            </a:defPPr>
            <a:lvl1pPr algn="ctr">
              <a:defRPr sz="2025" b="1">
                <a:solidFill>
                  <a:srgbClr val="FF007F"/>
                </a:solidFill>
                <a:latin typeface="CiscoSansTT Medium"/>
                <a:ea typeface="CiscoSansTT Medium"/>
                <a:cs typeface="CiscoSansTT Medium"/>
              </a:defRPr>
            </a:lvl1pPr>
            <a:lvl2pPr algn="ctr">
              <a:defRPr sz="2025" b="1">
                <a:solidFill>
                  <a:srgbClr val="FF007F"/>
                </a:solidFill>
                <a:latin typeface="CiscoSansTT Medium"/>
                <a:ea typeface="CiscoSansTT Medium"/>
                <a:cs typeface="CiscoSansTT Medium"/>
              </a:defRPr>
            </a:lvl2pPr>
            <a:lvl3pPr algn="ctr">
              <a:defRPr sz="2025" b="1">
                <a:solidFill>
                  <a:srgbClr val="FF007F"/>
                </a:solidFill>
                <a:latin typeface="CiscoSansTT Medium"/>
                <a:ea typeface="CiscoSansTT Medium"/>
                <a:cs typeface="CiscoSansTT Medium"/>
              </a:defRPr>
            </a:lvl3pPr>
            <a:lvl4pPr algn="ctr">
              <a:defRPr sz="2025" b="1">
                <a:solidFill>
                  <a:srgbClr val="FF007F"/>
                </a:solidFill>
                <a:latin typeface="CiscoSansTT Medium"/>
                <a:ea typeface="CiscoSansTT Medium"/>
                <a:cs typeface="CiscoSansTT Medium"/>
              </a:defRPr>
            </a:lvl4pPr>
            <a:lvl5pPr algn="ctr">
              <a:defRPr sz="2025" b="1">
                <a:solidFill>
                  <a:srgbClr val="FF007F"/>
                </a:solidFill>
                <a:latin typeface="CiscoSansTT Medium"/>
                <a:ea typeface="CiscoSansTT Medium"/>
                <a:cs typeface="CiscoSansTT Medium"/>
              </a:defRPr>
            </a:lvl5pPr>
            <a:lvl6pPr algn="ctr">
              <a:defRPr sz="2025" b="1">
                <a:solidFill>
                  <a:srgbClr val="FF007F"/>
                </a:solidFill>
                <a:latin typeface="CiscoSansTT Medium"/>
                <a:ea typeface="CiscoSansTT Medium"/>
                <a:cs typeface="CiscoSansTT Medium"/>
              </a:defRPr>
            </a:lvl6pPr>
            <a:lvl7pPr algn="ctr">
              <a:defRPr sz="2025" b="1">
                <a:solidFill>
                  <a:srgbClr val="FF007F"/>
                </a:solidFill>
                <a:latin typeface="CiscoSansTT Medium"/>
                <a:ea typeface="CiscoSansTT Medium"/>
                <a:cs typeface="CiscoSansTT Medium"/>
              </a:defRPr>
            </a:lvl7pPr>
            <a:lvl8pPr algn="ctr">
              <a:defRPr sz="2025" b="1">
                <a:solidFill>
                  <a:srgbClr val="FF007F"/>
                </a:solidFill>
                <a:latin typeface="CiscoSansTT Medium"/>
                <a:ea typeface="CiscoSansTT Medium"/>
                <a:cs typeface="CiscoSansTT Medium"/>
              </a:defRPr>
            </a:lvl8pPr>
            <a:lvl9pPr algn="ctr">
              <a:defRPr sz="2025" b="1">
                <a:solidFill>
                  <a:srgbClr val="FF007F"/>
                </a:solidFill>
                <a:latin typeface="CiscoSansTT Medium"/>
                <a:ea typeface="CiscoSansTT Medium"/>
                <a:cs typeface="CiscoSansTT Medium"/>
              </a:defRPr>
            </a:lvl9pPr>
          </a:lstStyle>
          <a:p>
            <a:pPr algn="ctr">
              <a:defRPr sz="2025" b="1">
                <a:solidFill>
                  <a:srgbClr val="FF007F"/>
                </a:solidFill>
                <a:latin typeface="CiscoSansTT Medium"/>
                <a:ea typeface="CiscoSansTT Medium"/>
                <a:cs typeface="CiscoSansTT Medium"/>
              </a:defRPr>
            </a:pPr>
            <a:r>
              <a:rPr sz="2025" b="1">
                <a:solidFill>
                  <a:srgbClr val="FF007F"/>
                </a:solidFill>
                <a:latin typeface="CiscoSansTT Medium"/>
                <a:ea typeface="CiscoSansTT Medium"/>
                <a:cs typeface="CiscoSansTT Medium"/>
              </a:rPr>
              <a:t>OBI</a:t>
            </a:r>
          </a:p>
        </p:txBody>
      </p:sp>
      <p:sp>
        <p:nvSpPr>
          <p:cNvPr id="20" name="obi-agent-role">
            <a:extLst>
              <a:ext uri="{FF2B5EF4-FFF2-40B4-BE49-F238E27FC236}">
                <a16:creationId xmlns:a16="http://schemas.microsoft.com/office/drawing/2014/main" id="{2CCEF436-66A2-4D77-A8B5-C4D8AC90DD05}"/>
              </a:ext>
            </a:extLst>
          </p:cNvPr>
          <p:cNvSpPr>
            <a:spLocks noGrp="1"/>
          </p:cNvSpPr>
          <p:nvPr/>
        </p:nvSpPr>
        <p:spPr>
          <a:xfrm>
            <a:off x="1095375" y="3000375"/>
            <a:ext cx="2524125" cy="485775"/>
          </a:xfrm>
          <a:prstGeom prst="rect">
            <a:avLst/>
          </a:prstGeom>
          <a:noFill/>
          <a:ln w="0">
            <a:no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 traces</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and metrics</a:t>
            </a:r>
          </a:p>
        </p:txBody>
      </p:sp>
      <p:sp>
        <p:nvSpPr>
          <p:cNvPr id="21" name="cilium-agent">
            <a:extLst>
              <a:ext uri="{FF2B5EF4-FFF2-40B4-BE49-F238E27FC236}">
                <a16:creationId xmlns:a16="http://schemas.microsoft.com/office/drawing/2014/main" id="{20D479C0-19C1-4669-A063-EE5696A5F403}"/>
              </a:ext>
            </a:extLst>
          </p:cNvPr>
          <p:cNvSpPr>
            <a:spLocks noGrp="1"/>
          </p:cNvSpPr>
          <p:nvPr/>
        </p:nvSpPr>
        <p:spPr>
          <a:xfrm>
            <a:off x="1000125" y="3990975"/>
            <a:ext cx="2714625" cy="1028700"/>
          </a:xfrm>
          <a:prstGeom prst="rect">
            <a:avLst/>
          </a:prstGeom>
          <a:solidFill>
            <a:srgbClr val="EAF8FC"/>
          </a:solidFill>
          <a:ln w="14288">
            <a:solidFill>
              <a:srgbClr val="0860FE"/>
            </a:solidFill>
          </a:ln>
        </p:spPr>
        <p:txBody>
          <a:bodyPr/>
          <a:lstStyle/>
          <a:p>
            <a:endParaRPr lang="en-ES"/>
          </a:p>
        </p:txBody>
      </p:sp>
      <p:sp>
        <p:nvSpPr>
          <p:cNvPr id="22" name="cilium-agent-label">
            <a:extLst>
              <a:ext uri="{FF2B5EF4-FFF2-40B4-BE49-F238E27FC236}">
                <a16:creationId xmlns:a16="http://schemas.microsoft.com/office/drawing/2014/main" id="{B9934AD5-3A3C-412B-A9A1-CDBC6533F846}"/>
              </a:ext>
            </a:extLst>
          </p:cNvPr>
          <p:cNvSpPr>
            <a:spLocks noGrp="1"/>
          </p:cNvSpPr>
          <p:nvPr/>
        </p:nvSpPr>
        <p:spPr>
          <a:xfrm>
            <a:off x="1095375" y="4057650"/>
            <a:ext cx="2524125" cy="361950"/>
          </a:xfrm>
          <a:prstGeom prst="rect">
            <a:avLst/>
          </a:prstGeom>
          <a:noFill/>
          <a:ln w="0">
            <a:noFill/>
          </a:ln>
        </p:spPr>
        <p:txBody>
          <a:bodyPr anchor="ctr">
            <a:noAutofit/>
          </a:bodyPr>
          <a:lstStyle>
            <a:defPPr algn="ctr">
              <a:defRPr sz="2025" b="1">
                <a:solidFill>
                  <a:srgbClr val="0860FE"/>
                </a:solidFill>
                <a:latin typeface="CiscoSansTT Medium"/>
                <a:ea typeface="CiscoSansTT Medium"/>
                <a:cs typeface="CiscoSansTT Medium"/>
              </a:defRPr>
            </a:defPPr>
            <a:lvl1pPr algn="ctr">
              <a:defRPr sz="2025" b="1">
                <a:solidFill>
                  <a:srgbClr val="0860FE"/>
                </a:solidFill>
                <a:latin typeface="CiscoSansTT Medium"/>
                <a:ea typeface="CiscoSansTT Medium"/>
                <a:cs typeface="CiscoSansTT Medium"/>
              </a:defRPr>
            </a:lvl1pPr>
            <a:lvl2pPr algn="ctr">
              <a:defRPr sz="2025" b="1">
                <a:solidFill>
                  <a:srgbClr val="0860FE"/>
                </a:solidFill>
                <a:latin typeface="CiscoSansTT Medium"/>
                <a:ea typeface="CiscoSansTT Medium"/>
                <a:cs typeface="CiscoSansTT Medium"/>
              </a:defRPr>
            </a:lvl2pPr>
            <a:lvl3pPr algn="ctr">
              <a:defRPr sz="2025" b="1">
                <a:solidFill>
                  <a:srgbClr val="0860FE"/>
                </a:solidFill>
                <a:latin typeface="CiscoSansTT Medium"/>
                <a:ea typeface="CiscoSansTT Medium"/>
                <a:cs typeface="CiscoSansTT Medium"/>
              </a:defRPr>
            </a:lvl3pPr>
            <a:lvl4pPr algn="ctr">
              <a:defRPr sz="2025" b="1">
                <a:solidFill>
                  <a:srgbClr val="0860FE"/>
                </a:solidFill>
                <a:latin typeface="CiscoSansTT Medium"/>
                <a:ea typeface="CiscoSansTT Medium"/>
                <a:cs typeface="CiscoSansTT Medium"/>
              </a:defRPr>
            </a:lvl4pPr>
            <a:lvl5pPr algn="ctr">
              <a:defRPr sz="2025" b="1">
                <a:solidFill>
                  <a:srgbClr val="0860FE"/>
                </a:solidFill>
                <a:latin typeface="CiscoSansTT Medium"/>
                <a:ea typeface="CiscoSansTT Medium"/>
                <a:cs typeface="CiscoSansTT Medium"/>
              </a:defRPr>
            </a:lvl5pPr>
            <a:lvl6pPr algn="ctr">
              <a:defRPr sz="2025" b="1">
                <a:solidFill>
                  <a:srgbClr val="0860FE"/>
                </a:solidFill>
                <a:latin typeface="CiscoSansTT Medium"/>
                <a:ea typeface="CiscoSansTT Medium"/>
                <a:cs typeface="CiscoSansTT Medium"/>
              </a:defRPr>
            </a:lvl6pPr>
            <a:lvl7pPr algn="ctr">
              <a:defRPr sz="2025" b="1">
                <a:solidFill>
                  <a:srgbClr val="0860FE"/>
                </a:solidFill>
                <a:latin typeface="CiscoSansTT Medium"/>
                <a:ea typeface="CiscoSansTT Medium"/>
                <a:cs typeface="CiscoSansTT Medium"/>
              </a:defRPr>
            </a:lvl7pPr>
            <a:lvl8pPr algn="ctr">
              <a:defRPr sz="2025" b="1">
                <a:solidFill>
                  <a:srgbClr val="0860FE"/>
                </a:solidFill>
                <a:latin typeface="CiscoSansTT Medium"/>
                <a:ea typeface="CiscoSansTT Medium"/>
                <a:cs typeface="CiscoSansTT Medium"/>
              </a:defRPr>
            </a:lvl8pPr>
            <a:lvl9pPr algn="ctr">
              <a:defRPr sz="2025" b="1">
                <a:solidFill>
                  <a:srgbClr val="0860FE"/>
                </a:solidFill>
                <a:latin typeface="CiscoSansTT Medium"/>
                <a:ea typeface="CiscoSansTT Medium"/>
                <a:cs typeface="CiscoSansTT Medium"/>
              </a:defRPr>
            </a:lvl9pPr>
          </a:lstStyle>
          <a:p>
            <a:pPr algn="ctr">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Cilium + Hubble</a:t>
            </a:r>
          </a:p>
        </p:txBody>
      </p:sp>
      <p:sp>
        <p:nvSpPr>
          <p:cNvPr id="23" name="cilium-agent-role">
            <a:extLst>
              <a:ext uri="{FF2B5EF4-FFF2-40B4-BE49-F238E27FC236}">
                <a16:creationId xmlns:a16="http://schemas.microsoft.com/office/drawing/2014/main" id="{58449F0B-6B69-4160-BD18-CA3CDA49F7D5}"/>
              </a:ext>
            </a:extLst>
          </p:cNvPr>
          <p:cNvSpPr>
            <a:spLocks noGrp="1"/>
          </p:cNvSpPr>
          <p:nvPr/>
        </p:nvSpPr>
        <p:spPr>
          <a:xfrm>
            <a:off x="1095375" y="4457700"/>
            <a:ext cx="2524125" cy="485775"/>
          </a:xfrm>
          <a:prstGeom prst="rect">
            <a:avLst/>
          </a:prstGeom>
          <a:noFill/>
          <a:ln w="0">
            <a:no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Networking, policy,</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and flows</a:t>
            </a:r>
          </a:p>
        </p:txBody>
      </p:sp>
      <p:sp>
        <p:nvSpPr>
          <p:cNvPr id="24" name="check-number-01">
            <a:extLst>
              <a:ext uri="{FF2B5EF4-FFF2-40B4-BE49-F238E27FC236}">
                <a16:creationId xmlns:a16="http://schemas.microsoft.com/office/drawing/2014/main" id="{C1DE81FB-9EF5-48A4-B316-8BF80D027043}"/>
              </a:ext>
            </a:extLst>
          </p:cNvPr>
          <p:cNvSpPr>
            <a:spLocks noGrp="1"/>
          </p:cNvSpPr>
          <p:nvPr/>
        </p:nvSpPr>
        <p:spPr>
          <a:xfrm>
            <a:off x="4429125" y="1714500"/>
            <a:ext cx="523875" cy="419100"/>
          </a:xfrm>
          <a:prstGeom prst="rect">
            <a:avLst/>
          </a:prstGeom>
          <a:noFill/>
          <a:ln w="0">
            <a:noFill/>
          </a:ln>
        </p:spPr>
        <p:txBody>
          <a:bodyPr anchor="ctr">
            <a:noAutofit/>
          </a:bodyPr>
          <a:lstStyle>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01</a:t>
            </a:r>
          </a:p>
        </p:txBody>
      </p:sp>
      <p:sp>
        <p:nvSpPr>
          <p:cNvPr id="25" name="check-label-01">
            <a:extLst>
              <a:ext uri="{FF2B5EF4-FFF2-40B4-BE49-F238E27FC236}">
                <a16:creationId xmlns:a16="http://schemas.microsoft.com/office/drawing/2014/main" id="{60142FA9-3915-4409-9632-8CB4B6ADCDFA}"/>
              </a:ext>
            </a:extLst>
          </p:cNvPr>
          <p:cNvSpPr>
            <a:spLocks noGrp="1"/>
          </p:cNvSpPr>
          <p:nvPr/>
        </p:nvSpPr>
        <p:spPr>
          <a:xfrm>
            <a:off x="5076825" y="1714500"/>
            <a:ext cx="6286500" cy="41910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Traffic behavior</a:t>
            </a:r>
          </a:p>
        </p:txBody>
      </p:sp>
      <p:sp>
        <p:nvSpPr>
          <p:cNvPr id="26" name="check-question-01">
            <a:extLst>
              <a:ext uri="{FF2B5EF4-FFF2-40B4-BE49-F238E27FC236}">
                <a16:creationId xmlns:a16="http://schemas.microsoft.com/office/drawing/2014/main" id="{33BFD717-47EC-4EB4-B430-95DCBEB575B7}"/>
              </a:ext>
            </a:extLst>
          </p:cNvPr>
          <p:cNvSpPr>
            <a:spLocks noGrp="1"/>
          </p:cNvSpPr>
          <p:nvPr/>
        </p:nvSpPr>
        <p:spPr>
          <a:xfrm>
            <a:off x="5076825" y="2171700"/>
            <a:ext cx="6286500" cy="619125"/>
          </a:xfrm>
          <a:prstGeom prst="rect">
            <a:avLst/>
          </a:prstGeom>
          <a:noFill/>
          <a:ln w="0">
            <a:noFill/>
          </a:ln>
        </p:spPr>
        <p:txBody>
          <a:bodyPr anchor="ctr">
            <a:noAutofit/>
          </a:bodyPr>
          <a:lstStyle>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a:pPr algn="l">
              <a:defRPr sz="2025" b="0">
                <a:solidFill>
                  <a:srgbClr val="07182A"/>
                </a:solidFill>
                <a:latin typeface="CiscoSansTT"/>
                <a:ea typeface="CiscoSansTT"/>
                <a:cs typeface="CiscoSansTT"/>
              </a:defRPr>
            </a:pPr>
            <a:r>
              <a:rPr sz="2025" b="0" dirty="0">
                <a:solidFill>
                  <a:srgbClr val="07182A"/>
                </a:solidFill>
                <a:latin typeface="CiscoSansTT"/>
                <a:ea typeface="CiscoSansTT"/>
                <a:cs typeface="CiscoSansTT"/>
              </a:rPr>
              <a:t>Do networking and policy still work?</a:t>
            </a:r>
          </a:p>
        </p:txBody>
      </p:sp>
      <p:sp>
        <p:nvSpPr>
          <p:cNvPr id="27" name="check-number-02">
            <a:extLst>
              <a:ext uri="{FF2B5EF4-FFF2-40B4-BE49-F238E27FC236}">
                <a16:creationId xmlns:a16="http://schemas.microsoft.com/office/drawing/2014/main" id="{45A53098-78C3-420B-B7FE-8CDE432B5A9F}"/>
              </a:ext>
            </a:extLst>
          </p:cNvPr>
          <p:cNvSpPr>
            <a:spLocks noGrp="1"/>
          </p:cNvSpPr>
          <p:nvPr/>
        </p:nvSpPr>
        <p:spPr>
          <a:xfrm>
            <a:off x="4429125" y="3086100"/>
            <a:ext cx="523875" cy="419100"/>
          </a:xfrm>
          <a:prstGeom prst="rect">
            <a:avLst/>
          </a:prstGeom>
          <a:noFill/>
          <a:ln w="0">
            <a:noFill/>
          </a:ln>
        </p:spPr>
        <p:txBody>
          <a:bodyPr anchor="ctr">
            <a:noAutofit/>
          </a:bodyPr>
          <a:lstStyle>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02</a:t>
            </a:r>
          </a:p>
        </p:txBody>
      </p:sp>
      <p:sp>
        <p:nvSpPr>
          <p:cNvPr id="28" name="check-label-02">
            <a:extLst>
              <a:ext uri="{FF2B5EF4-FFF2-40B4-BE49-F238E27FC236}">
                <a16:creationId xmlns:a16="http://schemas.microsoft.com/office/drawing/2014/main" id="{5F71C06B-4CFA-4771-9EE6-18E29F345289}"/>
              </a:ext>
            </a:extLst>
          </p:cNvPr>
          <p:cNvSpPr>
            <a:spLocks noGrp="1"/>
          </p:cNvSpPr>
          <p:nvPr/>
        </p:nvSpPr>
        <p:spPr>
          <a:xfrm>
            <a:off x="5076825" y="3086100"/>
            <a:ext cx="6286500" cy="41910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Visibility</a:t>
            </a:r>
          </a:p>
        </p:txBody>
      </p:sp>
      <p:sp>
        <p:nvSpPr>
          <p:cNvPr id="29" name="check-question-02">
            <a:extLst>
              <a:ext uri="{FF2B5EF4-FFF2-40B4-BE49-F238E27FC236}">
                <a16:creationId xmlns:a16="http://schemas.microsoft.com/office/drawing/2014/main" id="{F2621847-F2F3-487E-B4AC-884CFBD13199}"/>
              </a:ext>
            </a:extLst>
          </p:cNvPr>
          <p:cNvSpPr>
            <a:spLocks noGrp="1"/>
          </p:cNvSpPr>
          <p:nvPr/>
        </p:nvSpPr>
        <p:spPr>
          <a:xfrm>
            <a:off x="5076825" y="3543300"/>
            <a:ext cx="6286500" cy="619125"/>
          </a:xfrm>
          <a:prstGeom prst="rect">
            <a:avLst/>
          </a:prstGeom>
          <a:noFill/>
          <a:ln w="0">
            <a:noFill/>
          </a:ln>
        </p:spPr>
        <p:txBody>
          <a:bodyPr anchor="ctr">
            <a:noAutofit/>
          </a:bodyPr>
          <a:lstStyle>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Do OBI and Hubble capture useful evidence?</a:t>
            </a:r>
          </a:p>
        </p:txBody>
      </p:sp>
      <p:sp>
        <p:nvSpPr>
          <p:cNvPr id="30" name="check-number-03">
            <a:extLst>
              <a:ext uri="{FF2B5EF4-FFF2-40B4-BE49-F238E27FC236}">
                <a16:creationId xmlns:a16="http://schemas.microsoft.com/office/drawing/2014/main" id="{76AA4093-F6A3-474D-B73F-5FB189EC5B61}"/>
              </a:ext>
            </a:extLst>
          </p:cNvPr>
          <p:cNvSpPr>
            <a:spLocks noGrp="1"/>
          </p:cNvSpPr>
          <p:nvPr/>
        </p:nvSpPr>
        <p:spPr>
          <a:xfrm>
            <a:off x="4429125" y="4457700"/>
            <a:ext cx="523875" cy="419100"/>
          </a:xfrm>
          <a:prstGeom prst="rect">
            <a:avLst/>
          </a:prstGeom>
          <a:noFill/>
          <a:ln w="0">
            <a:noFill/>
          </a:ln>
        </p:spPr>
        <p:txBody>
          <a:bodyPr anchor="ctr">
            <a:noAutofit/>
          </a:bodyPr>
          <a:lstStyle>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03</a:t>
            </a:r>
          </a:p>
        </p:txBody>
      </p:sp>
      <p:sp>
        <p:nvSpPr>
          <p:cNvPr id="31" name="check-label-03">
            <a:extLst>
              <a:ext uri="{FF2B5EF4-FFF2-40B4-BE49-F238E27FC236}">
                <a16:creationId xmlns:a16="http://schemas.microsoft.com/office/drawing/2014/main" id="{2829DC8F-5AA9-4F3C-B2DF-70A7C32522D9}"/>
              </a:ext>
            </a:extLst>
          </p:cNvPr>
          <p:cNvSpPr>
            <a:spLocks noGrp="1"/>
          </p:cNvSpPr>
          <p:nvPr/>
        </p:nvSpPr>
        <p:spPr>
          <a:xfrm>
            <a:off x="5076825" y="4457700"/>
            <a:ext cx="6286500" cy="41910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Added cost</a:t>
            </a:r>
          </a:p>
        </p:txBody>
      </p:sp>
      <p:sp>
        <p:nvSpPr>
          <p:cNvPr id="32" name="check-question-03">
            <a:extLst>
              <a:ext uri="{FF2B5EF4-FFF2-40B4-BE49-F238E27FC236}">
                <a16:creationId xmlns:a16="http://schemas.microsoft.com/office/drawing/2014/main" id="{CDF8AE4B-D015-4977-9377-C37D52CC828E}"/>
              </a:ext>
            </a:extLst>
          </p:cNvPr>
          <p:cNvSpPr>
            <a:spLocks noGrp="1"/>
          </p:cNvSpPr>
          <p:nvPr/>
        </p:nvSpPr>
        <p:spPr>
          <a:xfrm>
            <a:off x="5076825" y="4914900"/>
            <a:ext cx="6286500" cy="619125"/>
          </a:xfrm>
          <a:prstGeom prst="rect">
            <a:avLst/>
          </a:prstGeom>
          <a:noFill/>
          <a:ln w="0">
            <a:noFill/>
          </a:ln>
        </p:spPr>
        <p:txBody>
          <a:bodyPr anchor="ctr">
            <a:noAutofit/>
          </a:bodyPr>
          <a:lstStyle>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How much CPU, memory, and telemetry is added?</a:t>
            </a:r>
          </a:p>
        </p:txBody>
      </p:sp>
      <p:sp>
        <p:nvSpPr>
          <p:cNvPr id="33" name="coexistence-takeaway">
            <a:extLst>
              <a:ext uri="{FF2B5EF4-FFF2-40B4-BE49-F238E27FC236}">
                <a16:creationId xmlns:a16="http://schemas.microsoft.com/office/drawing/2014/main" id="{AD40CA54-1114-4921-A5B6-0D2F835F14A0}"/>
              </a:ext>
            </a:extLst>
          </p:cNvPr>
          <p:cNvSpPr>
            <a:spLocks noGrp="1"/>
          </p:cNvSpPr>
          <p:nvPr/>
        </p:nvSpPr>
        <p:spPr>
          <a:xfrm>
            <a:off x="762000" y="5886450"/>
            <a:ext cx="10668000" cy="419100"/>
          </a:xfrm>
          <a:prstGeom prst="rect">
            <a:avLst/>
          </a:prstGeom>
          <a:noFill/>
          <a:ln w="0">
            <a:no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Both agents running is only the first check.</a:t>
            </a:r>
          </a:p>
        </p:txBody>
      </p:sp>
    </p:spTree>
    <p:extLst>
      <p:ext uri="{BB962C8B-B14F-4D97-AF65-F5344CB8AC3E}">
        <p14:creationId xmlns:p14="http://schemas.microsoft.com/office/powerpoint/2010/main" val="1161320730"/>
      </p:ext>
    </p:extLst>
  </p:cSld>
  <p:clrMapOvr>
    <a:masterClrMapping/>
  </p:clrMapOvr>
  <p:transition advClick="1"/>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Optional OBI TC flow collection can share this hook</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4848"/>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Shared TC applies to optional OBI network-flow collection</a:t>
            </a:r>
          </a:p>
        </p:txBody>
      </p:sp>
    </p:spTree>
    <p:extLst>
      <p:ext uri="{BB962C8B-B14F-4D97-AF65-F5344CB8AC3E}">
        <p14:creationId xmlns:p14="http://schemas.microsoft.com/office/powerpoint/2010/main" val="1882857912"/>
      </p:ext>
    </p:extLst>
  </p:cSld>
  <p:clrMapOvr>
    <a:masterClrMapping/>
  </p:clrMapOvr>
  <p:transition advClick="1"/>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268E87F2-7F1B-4AD8-AD5D-5C8813C32B3E}"/>
              </a:ext>
            </a:extLst>
          </p:cNvPr>
          <p:cNvCxnSpPr>
            <a:stCxn id="9" idx="3"/>
            <a:endCxn id="10" idx="1"/>
          </p:cNvCxnSpPr>
          <p:nvPr/>
        </p:nvCxnSpPr>
        <p:spPr>
          <a:xfrm>
            <a:off x="2952750" y="26479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Optional OBI network collection shares TC</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238375"/>
            <a:ext cx="22860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238375"/>
            <a:ext cx="2286000" cy="819150"/>
          </a:xfrm>
          <a:prstGeom prst="roundRect">
            <a:avLst>
              <a:gd name="adj" fmla="val 10526"/>
            </a:avLst>
          </a:prstGeom>
          <a:solidFill>
            <a:srgbClr val="FFFFFF"/>
          </a:solidFill>
          <a:ln w="14288">
            <a:solidFill>
              <a:srgbClr val="0860FE"/>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238375"/>
            <a:ext cx="20955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Network</a:t>
            </a:r>
          </a:p>
        </p:txBody>
      </p:sp>
      <p:cxnSp>
        <p:nvCxnSpPr>
          <p:cNvPr id="350" name="Straight Arrow Connector 37">
            <a:extLst>
              <a:ext uri="{FF2B5EF4-FFF2-40B4-BE49-F238E27FC236}">
                <a16:creationId xmlns:a16="http://schemas.microsoft.com/office/drawing/2014/main" id="{34ED727E-A515-419C-943E-EF26C720AB6F}"/>
              </a:ext>
            </a:extLst>
          </p:cNvPr>
          <p:cNvCxnSpPr>
            <a:stCxn id="10" idx="3"/>
            <a:endCxn id="11" idx="1"/>
          </p:cNvCxnSpPr>
          <p:nvPr/>
        </p:nvCxnSpPr>
        <p:spPr>
          <a:xfrm>
            <a:off x="7239000" y="26479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3667125"/>
            <a:ext cx="7429500" cy="18097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3829050"/>
            <a:ext cx="6743700" cy="361950"/>
          </a:xfrm>
          <a:prstGeom prst="rect">
            <a:avLst/>
          </a:prstGeom>
          <a:noFill/>
          <a:ln w="0">
            <a:noFill/>
          </a:ln>
        </p:spPr>
        <p:txBody>
          <a:bodyPr anchor="ctr">
            <a:noAutofit/>
          </a:bodyPr>
          <a:lstStyle>
            <a:defPPr algn="ctr">
              <a:defRPr sz="1950" b="1">
                <a:solidFill>
                  <a:srgbClr val="FFFFFF"/>
                </a:solidFill>
                <a:latin typeface="CiscoSansTT Medium"/>
                <a:ea typeface="CiscoSansTT Medium"/>
                <a:cs typeface="CiscoSansTT Medium"/>
              </a:defRPr>
            </a:defPPr>
            <a:lvl1pPr algn="ctr">
              <a:buNone/>
              <a:defRPr sz="1800" b="1">
                <a:solidFill>
                  <a:srgbClr val="FFFFFF"/>
                </a:solidFill>
                <a:latin typeface="CiscoSansTT Medium"/>
                <a:ea typeface="CiscoSansTT Medium"/>
                <a:cs typeface="CiscoSansTT Medium"/>
              </a:defRPr>
            </a:lvl1pPr>
            <a:lvl2pPr algn="ctr">
              <a:buNone/>
              <a:defRPr sz="1800" b="1">
                <a:solidFill>
                  <a:srgbClr val="FFFFFF"/>
                </a:solidFill>
                <a:latin typeface="CiscoSansTT Medium"/>
                <a:ea typeface="CiscoSansTT Medium"/>
                <a:cs typeface="CiscoSansTT Medium"/>
              </a:defRPr>
            </a:lvl2pPr>
            <a:lvl3pPr algn="ctr">
              <a:buNone/>
              <a:defRPr sz="1800" b="1">
                <a:solidFill>
                  <a:srgbClr val="FFFFFF"/>
                </a:solidFill>
                <a:latin typeface="CiscoSansTT Medium"/>
                <a:ea typeface="CiscoSansTT Medium"/>
                <a:cs typeface="CiscoSansTT Medium"/>
              </a:defRPr>
            </a:lvl3pPr>
            <a:lvl4pPr algn="ctr">
              <a:buNone/>
              <a:defRPr sz="1800" b="1">
                <a:solidFill>
                  <a:srgbClr val="FFFFFF"/>
                </a:solidFill>
                <a:latin typeface="CiscoSansTT Medium"/>
                <a:ea typeface="CiscoSansTT Medium"/>
                <a:cs typeface="CiscoSansTT Medium"/>
              </a:defRPr>
            </a:lvl4pPr>
            <a:lvl5pPr algn="ctr">
              <a:buNone/>
              <a:defRPr sz="1800" b="1">
                <a:solidFill>
                  <a:srgbClr val="FFFFFF"/>
                </a:solidFill>
                <a:latin typeface="CiscoSansTT Medium"/>
                <a:ea typeface="CiscoSansTT Medium"/>
                <a:cs typeface="CiscoSansTT Medium"/>
              </a:defRPr>
            </a:lvl5pPr>
            <a:lvl6pPr algn="ctr">
              <a:buNone/>
              <a:defRPr sz="1800" b="1">
                <a:solidFill>
                  <a:srgbClr val="FFFFFF"/>
                </a:solidFill>
                <a:latin typeface="CiscoSansTT Medium"/>
                <a:ea typeface="CiscoSansTT Medium"/>
                <a:cs typeface="CiscoSansTT Medium"/>
              </a:defRPr>
            </a:lvl6pPr>
            <a:lvl7pPr algn="ctr">
              <a:buNone/>
              <a:defRPr sz="1800" b="1">
                <a:solidFill>
                  <a:srgbClr val="FFFFFF"/>
                </a:solidFill>
                <a:latin typeface="CiscoSansTT Medium"/>
                <a:ea typeface="CiscoSansTT Medium"/>
                <a:cs typeface="CiscoSansTT Medium"/>
              </a:defRPr>
            </a:lvl7pPr>
            <a:lvl8pPr algn="ctr">
              <a:buNone/>
              <a:defRPr sz="1800" b="1">
                <a:solidFill>
                  <a:srgbClr val="FFFFFF"/>
                </a:solidFill>
                <a:latin typeface="CiscoSansTT Medium"/>
                <a:ea typeface="CiscoSansTT Medium"/>
                <a:cs typeface="CiscoSansTT Medium"/>
              </a:defRPr>
            </a:lvl8pPr>
            <a:lvl9pPr algn="ctr">
              <a:buNone/>
              <a:defRPr sz="1800" b="1">
                <a:solidFill>
                  <a:srgbClr val="FFFFFF"/>
                </a:solidFill>
                <a:latin typeface="CiscoSansTT Medium"/>
                <a:ea typeface="CiscoSansTT Medium"/>
                <a:cs typeface="CiscoSansTT Medium"/>
              </a:defRPr>
            </a:lvl9pPr>
          </a:lstStyle>
          <a:p>
            <a:pPr algn="ctr">
              <a:buNone/>
              <a:defRPr sz="1950" b="1">
                <a:solidFill>
                  <a:srgbClr val="FFFFFF"/>
                </a:solidFill>
                <a:latin typeface="CiscoSansTT Medium"/>
                <a:ea typeface="CiscoSansTT Medium"/>
                <a:cs typeface="CiscoSansTT Medium"/>
              </a:defRPr>
            </a:pPr>
            <a:r>
              <a:rPr sz="1950"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333875"/>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333875"/>
            <a:ext cx="2095500" cy="419100"/>
          </a:xfrm>
          <a:prstGeom prst="roundRect">
            <a:avLst>
              <a:gd name="adj" fmla="val 20000"/>
            </a:avLst>
          </a:prstGeom>
          <a:solidFill>
            <a:srgbClr val="FF007F"/>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buNone/>
              <a:defRPr sz="1650" b="1">
                <a:solidFill>
                  <a:srgbClr val="FFFFFF"/>
                </a:solidFill>
                <a:latin typeface="CiscoSansTT Medium"/>
                <a:ea typeface="CiscoSansTT Medium"/>
                <a:cs typeface="CiscoSansTT Medium"/>
              </a:defRPr>
            </a:lvl1pPr>
            <a:lvl2pPr algn="ctr">
              <a:buNone/>
              <a:defRPr sz="1650" b="1">
                <a:solidFill>
                  <a:srgbClr val="FFFFFF"/>
                </a:solidFill>
                <a:latin typeface="CiscoSansTT Medium"/>
                <a:ea typeface="CiscoSansTT Medium"/>
                <a:cs typeface="CiscoSansTT Medium"/>
              </a:defRPr>
            </a:lvl2pPr>
            <a:lvl3pPr algn="ctr">
              <a:buNone/>
              <a:defRPr sz="1650" b="1">
                <a:solidFill>
                  <a:srgbClr val="FFFFFF"/>
                </a:solidFill>
                <a:latin typeface="CiscoSansTT Medium"/>
                <a:ea typeface="CiscoSansTT Medium"/>
                <a:cs typeface="CiscoSansTT Medium"/>
              </a:defRPr>
            </a:lvl3pPr>
            <a:lvl4pPr algn="ctr">
              <a:buNone/>
              <a:defRPr sz="1650" b="1">
                <a:solidFill>
                  <a:srgbClr val="FFFFFF"/>
                </a:solidFill>
                <a:latin typeface="CiscoSansTT Medium"/>
                <a:ea typeface="CiscoSansTT Medium"/>
                <a:cs typeface="CiscoSansTT Medium"/>
              </a:defRPr>
            </a:lvl4pPr>
            <a:lvl5pPr algn="ctr">
              <a:buNone/>
              <a:defRPr sz="1650" b="1">
                <a:solidFill>
                  <a:srgbClr val="FFFFFF"/>
                </a:solidFill>
                <a:latin typeface="CiscoSansTT Medium"/>
                <a:ea typeface="CiscoSansTT Medium"/>
                <a:cs typeface="CiscoSansTT Medium"/>
              </a:defRPr>
            </a:lvl5pPr>
            <a:lvl6pPr algn="ctr">
              <a:buNone/>
              <a:defRPr sz="1650" b="1">
                <a:solidFill>
                  <a:srgbClr val="FFFFFF"/>
                </a:solidFill>
                <a:latin typeface="CiscoSansTT Medium"/>
                <a:ea typeface="CiscoSansTT Medium"/>
                <a:cs typeface="CiscoSansTT Medium"/>
              </a:defRPr>
            </a:lvl6pPr>
            <a:lvl7pPr algn="ctr">
              <a:buNone/>
              <a:defRPr sz="1650" b="1">
                <a:solidFill>
                  <a:srgbClr val="FFFFFF"/>
                </a:solidFill>
                <a:latin typeface="CiscoSansTT Medium"/>
                <a:ea typeface="CiscoSansTT Medium"/>
                <a:cs typeface="CiscoSansTT Medium"/>
              </a:defRPr>
            </a:lvl7pPr>
            <a:lvl8pPr algn="ctr">
              <a:buNone/>
              <a:defRPr sz="1650" b="1">
                <a:solidFill>
                  <a:srgbClr val="FFFFFF"/>
                </a:solidFill>
                <a:latin typeface="CiscoSansTT Medium"/>
                <a:ea typeface="CiscoSansTT Medium"/>
                <a:cs typeface="CiscoSansTT Medium"/>
              </a:defRPr>
            </a:lvl8pPr>
            <a:lvl9pPr algn="ctr">
              <a:buNone/>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flow metrics</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410075"/>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333875"/>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4914900"/>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4914900"/>
            <a:ext cx="2095500" cy="419100"/>
          </a:xfrm>
          <a:prstGeom prst="roundRect">
            <a:avLst>
              <a:gd name="adj" fmla="val 20000"/>
            </a:avLst>
          </a:prstGeom>
          <a:solidFill>
            <a:srgbClr val="FF007F"/>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buNone/>
              <a:defRPr sz="1650" b="1">
                <a:solidFill>
                  <a:srgbClr val="FFFFFF"/>
                </a:solidFill>
                <a:latin typeface="CiscoSansTT Medium"/>
                <a:ea typeface="CiscoSansTT Medium"/>
                <a:cs typeface="CiscoSansTT Medium"/>
              </a:defRPr>
            </a:lvl1pPr>
            <a:lvl2pPr algn="ctr">
              <a:buNone/>
              <a:defRPr sz="1650" b="1">
                <a:solidFill>
                  <a:srgbClr val="FFFFFF"/>
                </a:solidFill>
                <a:latin typeface="CiscoSansTT Medium"/>
                <a:ea typeface="CiscoSansTT Medium"/>
                <a:cs typeface="CiscoSansTT Medium"/>
              </a:defRPr>
            </a:lvl2pPr>
            <a:lvl3pPr algn="ctr">
              <a:buNone/>
              <a:defRPr sz="1650" b="1">
                <a:solidFill>
                  <a:srgbClr val="FFFFFF"/>
                </a:solidFill>
                <a:latin typeface="CiscoSansTT Medium"/>
                <a:ea typeface="CiscoSansTT Medium"/>
                <a:cs typeface="CiscoSansTT Medium"/>
              </a:defRPr>
            </a:lvl3pPr>
            <a:lvl4pPr algn="ctr">
              <a:buNone/>
              <a:defRPr sz="1650" b="1">
                <a:solidFill>
                  <a:srgbClr val="FFFFFF"/>
                </a:solidFill>
                <a:latin typeface="CiscoSansTT Medium"/>
                <a:ea typeface="CiscoSansTT Medium"/>
                <a:cs typeface="CiscoSansTT Medium"/>
              </a:defRPr>
            </a:lvl4pPr>
            <a:lvl5pPr algn="ctr">
              <a:buNone/>
              <a:defRPr sz="1650" b="1">
                <a:solidFill>
                  <a:srgbClr val="FFFFFF"/>
                </a:solidFill>
                <a:latin typeface="CiscoSansTT Medium"/>
                <a:ea typeface="CiscoSansTT Medium"/>
                <a:cs typeface="CiscoSansTT Medium"/>
              </a:defRPr>
            </a:lvl5pPr>
            <a:lvl6pPr algn="ctr">
              <a:buNone/>
              <a:defRPr sz="1650" b="1">
                <a:solidFill>
                  <a:srgbClr val="FFFFFF"/>
                </a:solidFill>
                <a:latin typeface="CiscoSansTT Medium"/>
                <a:ea typeface="CiscoSansTT Medium"/>
                <a:cs typeface="CiscoSansTT Medium"/>
              </a:defRPr>
            </a:lvl6pPr>
            <a:lvl7pPr algn="ctr">
              <a:buNone/>
              <a:defRPr sz="1650" b="1">
                <a:solidFill>
                  <a:srgbClr val="FFFFFF"/>
                </a:solidFill>
                <a:latin typeface="CiscoSansTT Medium"/>
                <a:ea typeface="CiscoSansTT Medium"/>
                <a:cs typeface="CiscoSansTT Medium"/>
              </a:defRPr>
            </a:lvl7pPr>
            <a:lvl8pPr algn="ctr">
              <a:buNone/>
              <a:defRPr sz="1650" b="1">
                <a:solidFill>
                  <a:srgbClr val="FFFFFF"/>
                </a:solidFill>
                <a:latin typeface="CiscoSansTT Medium"/>
                <a:ea typeface="CiscoSansTT Medium"/>
                <a:cs typeface="CiscoSansTT Medium"/>
              </a:defRPr>
            </a:lvl8pPr>
            <a:lvl9pPr algn="ctr">
              <a:buNone/>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flow metrics</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4991100"/>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4914900"/>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1F7AD18C-6BE3-4C33-A621-A47780B3BC62}"/>
              </a:ext>
            </a:extLst>
          </p:cNvPr>
          <p:cNvCxnSpPr>
            <a:stCxn id="10" idx="2"/>
            <a:endCxn id="14" idx="0"/>
          </p:cNvCxnSpPr>
          <p:nvPr/>
        </p:nvCxnSpPr>
        <p:spPr>
          <a:xfrm>
            <a:off x="6096000" y="3057525"/>
            <a:ext cx="0" cy="609600"/>
          </a:xfrm>
          <a:prstGeom prst="straightConnector1">
            <a:avLst/>
          </a:prstGeom>
          <a:ln w="23813">
            <a:solidFill>
              <a:srgbClr val="07182A"/>
            </a:solidFill>
            <a:prstDash val="solid"/>
          </a:ln>
        </p:spPr>
      </p:cxnSp>
      <p:sp>
        <p:nvSpPr>
          <p:cNvPr id="363" name="tc-feature-scope">
            <a:extLst>
              <a:ext uri="{FF2B5EF4-FFF2-40B4-BE49-F238E27FC236}">
                <a16:creationId xmlns:a16="http://schemas.microsoft.com/office/drawing/2014/main" id="{33E18D36-F8B6-4805-9305-83192A381F48}"/>
              </a:ext>
            </a:extLst>
          </p:cNvPr>
          <p:cNvSpPr>
            <a:spLocks noGrp="1"/>
          </p:cNvSpPr>
          <p:nvPr/>
        </p:nvSpPr>
        <p:spPr>
          <a:xfrm>
            <a:off x="666750" y="1143000"/>
            <a:ext cx="10858500" cy="495300"/>
          </a:xfrm>
          <a:prstGeom prst="rect">
            <a:avLst/>
          </a:prstGeom>
          <a:noFill/>
          <a:ln w="0">
            <a:noFill/>
          </a:ln>
        </p:spPr>
        <p:txBody>
          <a:bodyPr anchor="ctr">
            <a:noAutofit/>
          </a:bodyPr>
          <a:lstStyle>
            <a:defPPr algn="l">
              <a:defRPr sz="2025" b="0">
                <a:solidFill>
                  <a:srgbClr val="686B6B"/>
                </a:solidFill>
                <a:latin typeface="CiscoSansTT"/>
                <a:ea typeface="CiscoSansTT"/>
                <a:cs typeface="CiscoSansTT"/>
              </a:defRPr>
            </a:defPPr>
            <a:lvl1pPr algn="l">
              <a:buNone/>
              <a:defRPr sz="2025" b="0">
                <a:solidFill>
                  <a:srgbClr val="686B6B"/>
                </a:solidFill>
                <a:latin typeface="CiscoSansTT"/>
                <a:ea typeface="CiscoSansTT"/>
                <a:cs typeface="CiscoSansTT"/>
              </a:defRPr>
            </a:lvl1pPr>
            <a:lvl2pPr algn="l">
              <a:buNone/>
              <a:defRPr sz="2025" b="0">
                <a:solidFill>
                  <a:srgbClr val="686B6B"/>
                </a:solidFill>
                <a:latin typeface="CiscoSansTT"/>
                <a:ea typeface="CiscoSansTT"/>
                <a:cs typeface="CiscoSansTT"/>
              </a:defRPr>
            </a:lvl2pPr>
            <a:lvl3pPr algn="l">
              <a:buNone/>
              <a:defRPr sz="2025" b="0">
                <a:solidFill>
                  <a:srgbClr val="686B6B"/>
                </a:solidFill>
                <a:latin typeface="CiscoSansTT"/>
                <a:ea typeface="CiscoSansTT"/>
                <a:cs typeface="CiscoSansTT"/>
              </a:defRPr>
            </a:lvl3pPr>
            <a:lvl4pPr algn="l">
              <a:buNone/>
              <a:defRPr sz="2025" b="0">
                <a:solidFill>
                  <a:srgbClr val="686B6B"/>
                </a:solidFill>
                <a:latin typeface="CiscoSansTT"/>
                <a:ea typeface="CiscoSansTT"/>
                <a:cs typeface="CiscoSansTT"/>
              </a:defRPr>
            </a:lvl4pPr>
            <a:lvl5pPr algn="l">
              <a:buNone/>
              <a:defRPr sz="2025" b="0">
                <a:solidFill>
                  <a:srgbClr val="686B6B"/>
                </a:solidFill>
                <a:latin typeface="CiscoSansTT"/>
                <a:ea typeface="CiscoSansTT"/>
                <a:cs typeface="CiscoSansTT"/>
              </a:defRPr>
            </a:lvl5pPr>
            <a:lvl6pPr algn="l">
              <a:buNone/>
              <a:defRPr sz="2025" b="0">
                <a:solidFill>
                  <a:srgbClr val="686B6B"/>
                </a:solidFill>
                <a:latin typeface="CiscoSansTT"/>
                <a:ea typeface="CiscoSansTT"/>
                <a:cs typeface="CiscoSansTT"/>
              </a:defRPr>
            </a:lvl6pPr>
            <a:lvl7pPr algn="l">
              <a:buNone/>
              <a:defRPr sz="2025" b="0">
                <a:solidFill>
                  <a:srgbClr val="686B6B"/>
                </a:solidFill>
                <a:latin typeface="CiscoSansTT"/>
                <a:ea typeface="CiscoSansTT"/>
                <a:cs typeface="CiscoSansTT"/>
              </a:defRPr>
            </a:lvl7pPr>
            <a:lvl8pPr algn="l">
              <a:buNone/>
              <a:defRPr sz="2025" b="0">
                <a:solidFill>
                  <a:srgbClr val="686B6B"/>
                </a:solidFill>
                <a:latin typeface="CiscoSansTT"/>
                <a:ea typeface="CiscoSansTT"/>
                <a:cs typeface="CiscoSansTT"/>
              </a:defRPr>
            </a:lvl8pPr>
            <a:lvl9pPr algn="l">
              <a:buNone/>
              <a:defRPr sz="2025" b="0">
                <a:solidFill>
                  <a:srgbClr val="686B6B"/>
                </a:solidFill>
                <a:latin typeface="CiscoSansTT"/>
                <a:ea typeface="CiscoSansTT"/>
                <a:cs typeface="CiscoSansTT"/>
              </a:defRPr>
            </a:lvl9pPr>
          </a:lstStyle>
          <a:p>
            <a:pPr algn="l">
              <a:buNone/>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When OBI network capture uses TC, both agents can attach here.</a:t>
            </a:r>
          </a:p>
        </p:txBody>
      </p:sp>
      <p:sp>
        <p:nvSpPr>
          <p:cNvPr id="364" name="direction-reference">
            <a:extLst>
              <a:ext uri="{FF2B5EF4-FFF2-40B4-BE49-F238E27FC236}">
                <a16:creationId xmlns:a16="http://schemas.microsoft.com/office/drawing/2014/main" id="{A6AC3E28-F5D6-49FC-8023-804E31296162}"/>
              </a:ext>
            </a:extLst>
          </p:cNvPr>
          <p:cNvSpPr>
            <a:spLocks noGrp="1"/>
          </p:cNvSpPr>
          <p:nvPr/>
        </p:nvSpPr>
        <p:spPr>
          <a:xfrm>
            <a:off x="666750" y="5724525"/>
            <a:ext cx="10858500" cy="409575"/>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Ingress and egress refer to the host-side interface.</a:t>
            </a:r>
          </a:p>
        </p:txBody>
      </p:sp>
    </p:spTree>
    <p:extLst>
      <p:ext uri="{BB962C8B-B14F-4D97-AF65-F5344CB8AC3E}">
        <p14:creationId xmlns:p14="http://schemas.microsoft.com/office/powerpoint/2010/main" val="768147433"/>
      </p:ext>
    </p:extLst>
  </p:cSld>
  <p:clrMapOvr>
    <a:masterClrMapping/>
  </p:clrMapOvr>
  <p:transition advClick="1"/>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ordering protects flow visibility</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buNone/>
              <a:defRPr sz="2175" b="0">
                <a:solidFill>
                  <a:srgbClr val="07182A"/>
                </a:solidFill>
                <a:latin typeface="CiscoSansTT"/>
                <a:ea typeface="CiscoSansTT"/>
                <a:cs typeface="CiscoSansTT"/>
              </a:defRPr>
            </a:lvl1pPr>
            <a:lvl2pPr algn="ctr">
              <a:buNone/>
              <a:defRPr sz="2175" b="0">
                <a:solidFill>
                  <a:srgbClr val="07182A"/>
                </a:solidFill>
                <a:latin typeface="CiscoSansTT"/>
                <a:ea typeface="CiscoSansTT"/>
                <a:cs typeface="CiscoSansTT"/>
              </a:defRPr>
            </a:lvl2pPr>
            <a:lvl3pPr algn="ctr">
              <a:buNone/>
              <a:defRPr sz="2175" b="0">
                <a:solidFill>
                  <a:srgbClr val="07182A"/>
                </a:solidFill>
                <a:latin typeface="CiscoSansTT"/>
                <a:ea typeface="CiscoSansTT"/>
                <a:cs typeface="CiscoSansTT"/>
              </a:defRPr>
            </a:lvl3pPr>
            <a:lvl4pPr algn="ctr">
              <a:buNone/>
              <a:defRPr sz="2175" b="0">
                <a:solidFill>
                  <a:srgbClr val="07182A"/>
                </a:solidFill>
                <a:latin typeface="CiscoSansTT"/>
                <a:ea typeface="CiscoSansTT"/>
                <a:cs typeface="CiscoSansTT"/>
              </a:defRPr>
            </a:lvl4pPr>
            <a:lvl5pPr algn="ctr">
              <a:buNone/>
              <a:defRPr sz="2175" b="0">
                <a:solidFill>
                  <a:srgbClr val="07182A"/>
                </a:solidFill>
                <a:latin typeface="CiscoSansTT"/>
                <a:ea typeface="CiscoSansTT"/>
                <a:cs typeface="CiscoSansTT"/>
              </a:defRPr>
            </a:lvl5pPr>
            <a:lvl6pPr algn="ctr">
              <a:buNone/>
              <a:defRPr sz="2175" b="0">
                <a:solidFill>
                  <a:srgbClr val="07182A"/>
                </a:solidFill>
                <a:latin typeface="CiscoSansTT"/>
                <a:ea typeface="CiscoSansTT"/>
                <a:cs typeface="CiscoSansTT"/>
              </a:defRPr>
            </a:lvl6pPr>
            <a:lvl7pPr algn="ctr">
              <a:buNone/>
              <a:defRPr sz="2175" b="0">
                <a:solidFill>
                  <a:srgbClr val="07182A"/>
                </a:solidFill>
                <a:latin typeface="CiscoSansTT"/>
                <a:ea typeface="CiscoSansTT"/>
                <a:cs typeface="CiscoSansTT"/>
              </a:defRPr>
            </a:lvl7pPr>
            <a:lvl8pPr algn="ctr">
              <a:buNone/>
              <a:defRPr sz="2175" b="0">
                <a:solidFill>
                  <a:srgbClr val="07182A"/>
                </a:solidFill>
                <a:latin typeface="CiscoSansTT"/>
                <a:ea typeface="CiscoSansTT"/>
                <a:cs typeface="CiscoSansTT"/>
              </a:defRPr>
            </a:lvl8pPr>
            <a:lvl9pPr algn="ctr">
              <a:buNone/>
              <a:defRPr sz="2175" b="0">
                <a:solidFill>
                  <a:srgbClr val="07182A"/>
                </a:solidFill>
                <a:latin typeface="CiscoSansTT"/>
                <a:ea typeface="CiscoSansTT"/>
                <a:cs typeface="CiscoSansTT"/>
              </a:defRPr>
            </a:lvl9pPr>
          </a:lstStyle>
          <a:p>
            <a:pPr algn="ctr">
              <a:buNone/>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buNone/>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Collect network flows</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buNone/>
              <a:defRPr sz="1950" b="0">
                <a:solidFill>
                  <a:srgbClr val="686B6B"/>
                </a:solidFill>
                <a:latin typeface="CiscoSansTT"/>
                <a:ea typeface="CiscoSansTT"/>
                <a:cs typeface="CiscoSansTT"/>
              </a:defRPr>
            </a:lvl1pPr>
            <a:lvl2pPr algn="l">
              <a:buNone/>
              <a:defRPr sz="1950" b="0">
                <a:solidFill>
                  <a:srgbClr val="686B6B"/>
                </a:solidFill>
                <a:latin typeface="CiscoSansTT"/>
                <a:ea typeface="CiscoSansTT"/>
                <a:cs typeface="CiscoSansTT"/>
              </a:defRPr>
            </a:lvl2pPr>
            <a:lvl3pPr algn="l">
              <a:buNone/>
              <a:defRPr sz="1950" b="0">
                <a:solidFill>
                  <a:srgbClr val="686B6B"/>
                </a:solidFill>
                <a:latin typeface="CiscoSansTT"/>
                <a:ea typeface="CiscoSansTT"/>
                <a:cs typeface="CiscoSansTT"/>
              </a:defRPr>
            </a:lvl3pPr>
            <a:lvl4pPr algn="l">
              <a:buNone/>
              <a:defRPr sz="1950" b="0">
                <a:solidFill>
                  <a:srgbClr val="686B6B"/>
                </a:solidFill>
                <a:latin typeface="CiscoSansTT"/>
                <a:ea typeface="CiscoSansTT"/>
                <a:cs typeface="CiscoSansTT"/>
              </a:defRPr>
            </a:lvl4pPr>
            <a:lvl5pPr algn="l">
              <a:buNone/>
              <a:defRPr sz="1950" b="0">
                <a:solidFill>
                  <a:srgbClr val="686B6B"/>
                </a:solidFill>
                <a:latin typeface="CiscoSansTT"/>
                <a:ea typeface="CiscoSansTT"/>
                <a:cs typeface="CiscoSansTT"/>
              </a:defRPr>
            </a:lvl5pPr>
            <a:lvl6pPr algn="l">
              <a:buNone/>
              <a:defRPr sz="1950" b="0">
                <a:solidFill>
                  <a:srgbClr val="686B6B"/>
                </a:solidFill>
                <a:latin typeface="CiscoSansTT"/>
                <a:ea typeface="CiscoSansTT"/>
                <a:cs typeface="CiscoSansTT"/>
              </a:defRPr>
            </a:lvl6pPr>
            <a:lvl7pPr algn="l">
              <a:buNone/>
              <a:defRPr sz="1950" b="0">
                <a:solidFill>
                  <a:srgbClr val="686B6B"/>
                </a:solidFill>
                <a:latin typeface="CiscoSansTT"/>
                <a:ea typeface="CiscoSansTT"/>
                <a:cs typeface="CiscoSansTT"/>
              </a:defRPr>
            </a:lvl7pPr>
            <a:lvl8pPr algn="l">
              <a:buNone/>
              <a:defRPr sz="1950" b="0">
                <a:solidFill>
                  <a:srgbClr val="686B6B"/>
                </a:solidFill>
                <a:latin typeface="CiscoSansTT"/>
                <a:ea typeface="CiscoSansTT"/>
                <a:cs typeface="CiscoSansTT"/>
              </a:defRPr>
            </a:lvl8pPr>
            <a:lvl9pPr algn="l">
              <a:buNone/>
              <a:defRPr sz="1950" b="0">
                <a:solidFill>
                  <a:srgbClr val="686B6B"/>
                </a:solidFill>
                <a:latin typeface="CiscoSansTT"/>
                <a:ea typeface="CiscoSansTT"/>
                <a:cs typeface="CiscoSansTT"/>
              </a:defRPr>
            </a:lvl9pPr>
          </a:lstStyle>
          <a:p>
            <a:pPr algn="l">
              <a:buNone/>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With optional OBI network capture using TC</a:t>
            </a:r>
          </a:p>
        </p:txBody>
      </p:sp>
    </p:spTree>
    <p:extLst>
      <p:ext uri="{BB962C8B-B14F-4D97-AF65-F5344CB8AC3E}">
        <p14:creationId xmlns:p14="http://schemas.microsoft.com/office/powerpoint/2010/main" val="1092769775"/>
      </p:ext>
    </p:extLst>
  </p:cSld>
  <p:clrMapOvr>
    <a:masterClrMapping/>
  </p:clrMapOvr>
  <p:transition advClick="1"/>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advClick="1"/>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orders the optional shared chain</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
        <p:nvSpPr>
          <p:cNvPr id="113" name="optional-tc-flow-scope">
            <a:extLst>
              <a:ext uri="{FF2B5EF4-FFF2-40B4-BE49-F238E27FC236}">
                <a16:creationId xmlns:a16="http://schemas.microsoft.com/office/drawing/2014/main" id="{8494E141-E4CE-4EE6-B55F-1AE6A219D40E}"/>
              </a:ext>
            </a:extLst>
          </p:cNvPr>
          <p:cNvSpPr>
            <a:spLocks noGrp="1"/>
          </p:cNvSpPr>
          <p:nvPr/>
        </p:nvSpPr>
        <p:spPr>
          <a:xfrm>
            <a:off x="666750" y="1162050"/>
            <a:ext cx="1085850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With optional OBI network capture using TC</a:t>
            </a:r>
          </a:p>
        </p:txBody>
      </p:sp>
    </p:spTree>
    <p:extLst>
      <p:ext uri="{BB962C8B-B14F-4D97-AF65-F5344CB8AC3E}">
        <p14:creationId xmlns:p14="http://schemas.microsoft.com/office/powerpoint/2010/main" val="726721648"/>
      </p:ext>
    </p:extLst>
  </p:cSld>
  <p:clrMapOvr>
    <a:masterClrMapping/>
  </p:clrMapOvr>
  <p:transition advClick="1"/>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defRPr sz="3000" b="1">
                <a:solidFill>
                  <a:srgbClr val="07182A"/>
                </a:solidFill>
                <a:latin typeface="CiscoSansTT Medium"/>
                <a:ea typeface="CiscoSansTT Medium"/>
                <a:cs typeface="CiscoSansTT Medium"/>
              </a:defRPr>
            </a:pPr>
            <a:r>
              <a:rPr lang="en-ES" sz="3000" b="1" dirty="0">
                <a:solidFill>
                  <a:srgbClr val="07182A"/>
                </a:solidFill>
                <a:latin typeface="CiscoSansTT Medium"/>
              </a:rPr>
              <a:t>Traditional</a:t>
            </a:r>
            <a:r>
              <a:rPr sz="3000" b="1" dirty="0">
                <a:solidFill>
                  <a:srgbClr val="07182A"/>
                </a:solidFill>
                <a:latin typeface="CiscoSansTT Medium"/>
                <a:ea typeface="CiscoSansTT Medium"/>
                <a:cs typeface="CiscoSansTT Medium"/>
              </a:rPr>
              <a:t> TC</a:t>
            </a:r>
            <a:r>
              <a:rPr lang="en-US" sz="3000" b="1" dirty="0">
                <a:solidFill>
                  <a:srgbClr val="07182A"/>
                </a:solidFill>
                <a:latin typeface="CiscoSansTT Medium"/>
                <a:ea typeface="CiscoSansTT Medium"/>
                <a:cs typeface="CiscoSansTT Medium"/>
              </a:rPr>
              <a:t> attachment</a:t>
            </a:r>
            <a:r>
              <a:rPr sz="3000" b="1" dirty="0">
                <a:solidFill>
                  <a:srgbClr val="07182A"/>
                </a:solidFill>
                <a:latin typeface="CiscoSansTT Medium"/>
                <a:ea typeface="CiscoSansTT Medium"/>
                <a:cs typeface="CiscoSansTT Medium"/>
              </a:rPr>
              <a:t>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a:extLst>
              <a:ext uri="{FF2B5EF4-FFF2-40B4-BE49-F238E27FC236}">
                <a16:creationId xmlns:a16="http://schemas.microsoft.com/office/drawing/2014/main" id="{797D88E8-3667-4134-9800-450B462DB550}"/>
              </a:ext>
            </a:extLst>
          </p:cNvPr>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97063" lnSpcReduction="10000"/>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transition advClick="1"/>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lang="en-US" dirty="0"/>
              <a:t>Demo</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advClick="1"/>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advClick="1"/>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95250"/>
            <a:ext cx="11049000" cy="552450"/>
          </a:xfrm>
          <a:prstGeom prst="rect">
            <a:avLst/>
          </a:prstGeom>
          <a:noFill/>
          <a:ln w="0">
            <a:noFill/>
          </a:ln>
        </p:spPr>
        <p:txBody>
          <a:bodyPr anchor="ctr">
            <a:noAutofit/>
          </a:bodyPr>
          <a:lstStyle>
            <a:defPPr algn="l">
              <a:defRPr sz="2700" b="0">
                <a:solidFill>
                  <a:srgbClr val="07182A"/>
                </a:solidFill>
                <a:latin typeface="CiscoSansTT"/>
                <a:ea typeface="CiscoSansTT"/>
                <a:cs typeface="CiscoSansTT"/>
              </a:defRPr>
            </a:defPPr>
            <a:lvl1pPr algn="l">
              <a:defRPr sz="2700" b="0">
                <a:solidFill>
                  <a:srgbClr val="07182A"/>
                </a:solidFill>
                <a:latin typeface="CiscoSansTT"/>
                <a:ea typeface="CiscoSansTT"/>
                <a:cs typeface="CiscoSansTT"/>
              </a:defRPr>
            </a:lvl1pPr>
            <a:lvl2pPr algn="l">
              <a:defRPr sz="2700" b="0">
                <a:solidFill>
                  <a:srgbClr val="07182A"/>
                </a:solidFill>
                <a:latin typeface="CiscoSansTT"/>
                <a:ea typeface="CiscoSansTT"/>
                <a:cs typeface="CiscoSansTT"/>
              </a:defRPr>
            </a:lvl2pPr>
            <a:lvl3pPr algn="l">
              <a:defRPr sz="2700" b="0">
                <a:solidFill>
                  <a:srgbClr val="07182A"/>
                </a:solidFill>
                <a:latin typeface="CiscoSansTT"/>
                <a:ea typeface="CiscoSansTT"/>
                <a:cs typeface="CiscoSansTT"/>
              </a:defRPr>
            </a:lvl3pPr>
            <a:lvl4pPr algn="l">
              <a:defRPr sz="2700" b="0">
                <a:solidFill>
                  <a:srgbClr val="07182A"/>
                </a:solidFill>
                <a:latin typeface="CiscoSansTT"/>
                <a:ea typeface="CiscoSansTT"/>
                <a:cs typeface="CiscoSansTT"/>
              </a:defRPr>
            </a:lvl4pPr>
            <a:lvl5pPr algn="l">
              <a:defRPr sz="2700" b="0">
                <a:solidFill>
                  <a:srgbClr val="07182A"/>
                </a:solidFill>
                <a:latin typeface="CiscoSansTT"/>
                <a:ea typeface="CiscoSansTT"/>
                <a:cs typeface="CiscoSansTT"/>
              </a:defRPr>
            </a:lvl5pPr>
            <a:lvl6pPr algn="l">
              <a:defRPr sz="2700" b="0">
                <a:solidFill>
                  <a:srgbClr val="07182A"/>
                </a:solidFill>
                <a:latin typeface="CiscoSansTT"/>
                <a:ea typeface="CiscoSansTT"/>
                <a:cs typeface="CiscoSansTT"/>
              </a:defRPr>
            </a:lvl6pPr>
            <a:lvl7pPr algn="l">
              <a:defRPr sz="2700" b="0">
                <a:solidFill>
                  <a:srgbClr val="07182A"/>
                </a:solidFill>
                <a:latin typeface="CiscoSansTT"/>
                <a:ea typeface="CiscoSansTT"/>
                <a:cs typeface="CiscoSansTT"/>
              </a:defRPr>
            </a:lvl7pPr>
            <a:lvl8pPr algn="l">
              <a:defRPr sz="2700" b="0">
                <a:solidFill>
                  <a:srgbClr val="07182A"/>
                </a:solidFill>
                <a:latin typeface="CiscoSansTT"/>
                <a:ea typeface="CiscoSansTT"/>
                <a:cs typeface="CiscoSansTT"/>
              </a:defRPr>
            </a:lvl8pPr>
            <a:lvl9pPr algn="l">
              <a:defRPr sz="2700" b="0">
                <a:solidFill>
                  <a:srgbClr val="07182A"/>
                </a:solidFill>
                <a:latin typeface="CiscoSansTT"/>
                <a:ea typeface="CiscoSansTT"/>
                <a:cs typeface="CiscoSansTT"/>
              </a:defRPr>
            </a:lvl9pPr>
          </a:lstStyle>
          <a:p>
            <a:pPr algn="l">
              <a:buNone/>
              <a:defRPr sz="2700" b="0">
                <a:solidFill>
                  <a:srgbClr val="07182A"/>
                </a:solidFill>
                <a:latin typeface="CiscoSansTT"/>
                <a:ea typeface="CiscoSansTT"/>
                <a:cs typeface="CiscoSansTT"/>
              </a:defRPr>
            </a:pPr>
            <a:r>
              <a:rPr sz="2700" b="0" dirty="0">
                <a:solidFill>
                  <a:srgbClr val="07182A"/>
                </a:solidFill>
                <a:latin typeface="CiscoSansTT"/>
                <a:ea typeface="CiscoSansTT"/>
                <a:cs typeface="CiscoSansTT"/>
              </a:rPr>
              <a:t>Coexistence proof</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95250"/>
            <a:ext cx="11049000" cy="552450"/>
          </a:xfrm>
          <a:prstGeom prst="rect">
            <a:avLst/>
          </a:prstGeom>
          <a:noFill/>
          <a:ln w="0">
            <a:noFill/>
          </a:ln>
        </p:spPr>
        <p:txBody>
          <a:bodyPr anchor="ctr">
            <a:noAutofit/>
          </a:bodyPr>
          <a:lstStyle>
            <a:defPPr algn="l">
              <a:defRPr sz="2700" b="0">
                <a:solidFill>
                  <a:srgbClr val="07182A"/>
                </a:solidFill>
                <a:latin typeface="CiscoSansTT"/>
                <a:ea typeface="CiscoSansTT"/>
                <a:cs typeface="CiscoSansTT"/>
              </a:defRPr>
            </a:defPPr>
            <a:lvl1pPr algn="l">
              <a:buNone/>
              <a:defRPr sz="3000" b="0">
                <a:solidFill>
                  <a:srgbClr val="07182A"/>
                </a:solidFill>
                <a:latin typeface="CiscoSansTT"/>
                <a:ea typeface="CiscoSansTT"/>
                <a:cs typeface="CiscoSansTT"/>
              </a:defRPr>
            </a:lvl1pPr>
            <a:lvl2pPr algn="l">
              <a:buNone/>
              <a:defRPr sz="3000" b="0">
                <a:solidFill>
                  <a:srgbClr val="07182A"/>
                </a:solidFill>
                <a:latin typeface="CiscoSansTT"/>
                <a:ea typeface="CiscoSansTT"/>
                <a:cs typeface="CiscoSansTT"/>
              </a:defRPr>
            </a:lvl2pPr>
            <a:lvl3pPr algn="l">
              <a:buNone/>
              <a:defRPr sz="3000" b="0">
                <a:solidFill>
                  <a:srgbClr val="07182A"/>
                </a:solidFill>
                <a:latin typeface="CiscoSansTT"/>
                <a:ea typeface="CiscoSansTT"/>
                <a:cs typeface="CiscoSansTT"/>
              </a:defRPr>
            </a:lvl3pPr>
            <a:lvl4pPr algn="l">
              <a:buNone/>
              <a:defRPr sz="3000" b="0">
                <a:solidFill>
                  <a:srgbClr val="07182A"/>
                </a:solidFill>
                <a:latin typeface="CiscoSansTT"/>
                <a:ea typeface="CiscoSansTT"/>
                <a:cs typeface="CiscoSansTT"/>
              </a:defRPr>
            </a:lvl4pPr>
            <a:lvl5pPr algn="l">
              <a:buNone/>
              <a:defRPr sz="3000" b="0">
                <a:solidFill>
                  <a:srgbClr val="07182A"/>
                </a:solidFill>
                <a:latin typeface="CiscoSansTT"/>
                <a:ea typeface="CiscoSansTT"/>
                <a:cs typeface="CiscoSansTT"/>
              </a:defRPr>
            </a:lvl5pPr>
            <a:lvl6pPr algn="l">
              <a:buNone/>
              <a:defRPr sz="3000" b="0">
                <a:solidFill>
                  <a:srgbClr val="07182A"/>
                </a:solidFill>
                <a:latin typeface="CiscoSansTT"/>
                <a:ea typeface="CiscoSansTT"/>
                <a:cs typeface="CiscoSansTT"/>
              </a:defRPr>
            </a:lvl6pPr>
            <a:lvl7pPr algn="l">
              <a:buNone/>
              <a:defRPr sz="3000" b="0">
                <a:solidFill>
                  <a:srgbClr val="07182A"/>
                </a:solidFill>
                <a:latin typeface="CiscoSansTT"/>
                <a:ea typeface="CiscoSansTT"/>
                <a:cs typeface="CiscoSansTT"/>
              </a:defRPr>
            </a:lvl7pPr>
            <a:lvl8pPr algn="l">
              <a:buNone/>
              <a:defRPr sz="3000" b="0">
                <a:solidFill>
                  <a:srgbClr val="07182A"/>
                </a:solidFill>
                <a:latin typeface="CiscoSansTT"/>
                <a:ea typeface="CiscoSansTT"/>
                <a:cs typeface="CiscoSansTT"/>
              </a:defRPr>
            </a:lvl8pPr>
            <a:lvl9pPr algn="l">
              <a:buNone/>
              <a:defRPr sz="3000" b="0">
                <a:solidFill>
                  <a:srgbClr val="07182A"/>
                </a:solidFill>
                <a:latin typeface="CiscoSansTT"/>
                <a:ea typeface="CiscoSansTT"/>
                <a:cs typeface="CiscoSansTT"/>
              </a:defRPr>
            </a:lvl9pPr>
          </a:lstStyle>
          <a:p>
            <a:pPr algn="l">
              <a:buNone/>
              <a:defRPr sz="2700" b="0">
                <a:solidFill>
                  <a:srgbClr val="07182A"/>
                </a:solidFill>
                <a:latin typeface="CiscoSansTT"/>
                <a:ea typeface="CiscoSansTT"/>
                <a:cs typeface="CiscoSansTT"/>
              </a:defRPr>
            </a:pPr>
            <a:r>
              <a:rPr sz="2700" b="0" dirty="0">
                <a:solidFill>
                  <a:srgbClr val="07182A"/>
                </a:solidFill>
                <a:latin typeface="CiscoSansTT"/>
                <a:ea typeface="CiscoSansTT"/>
                <a:cs typeface="CiscoSansTT"/>
              </a:rPr>
              <a:t>Signal correlatio</a:t>
            </a:r>
            <a:r>
              <a:rPr lang="en-US" sz="2700" b="0" dirty="0">
                <a:solidFill>
                  <a:srgbClr val="07182A"/>
                </a:solidFill>
                <a:latin typeface="CiscoSansTT"/>
                <a:ea typeface="CiscoSansTT"/>
                <a:cs typeface="CiscoSansTT"/>
              </a:rPr>
              <a:t>n</a:t>
            </a:r>
            <a:endParaRPr sz="2700" b="0" dirty="0">
              <a:solidFill>
                <a:srgbClr val="07182A"/>
              </a:solidFill>
              <a:latin typeface="CiscoSansTT"/>
              <a:ea typeface="CiscoSansTT"/>
              <a:cs typeface="CiscoSansTT"/>
            </a:endParaRP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advClick="1"/>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95250"/>
            <a:ext cx="11049000" cy="552450"/>
          </a:xfrm>
          <a:prstGeom prst="rect">
            <a:avLst/>
          </a:prstGeom>
          <a:noFill/>
          <a:ln w="0">
            <a:noFill/>
          </a:ln>
        </p:spPr>
        <p:txBody>
          <a:bodyPr anchor="ctr">
            <a:noAutofit/>
          </a:bodyPr>
          <a:lstStyle>
            <a:defPPr algn="l">
              <a:defRPr sz="2700" b="0">
                <a:solidFill>
                  <a:srgbClr val="07182A"/>
                </a:solidFill>
                <a:latin typeface="CiscoSansTT"/>
                <a:ea typeface="CiscoSansTT"/>
                <a:cs typeface="CiscoSansTT"/>
              </a:defRPr>
            </a:defPPr>
            <a:lvl1pPr algn="l">
              <a:defRPr sz="2700" b="0">
                <a:solidFill>
                  <a:srgbClr val="07182A"/>
                </a:solidFill>
                <a:latin typeface="CiscoSansTT"/>
                <a:ea typeface="CiscoSansTT"/>
                <a:cs typeface="CiscoSansTT"/>
              </a:defRPr>
            </a:lvl1pPr>
            <a:lvl2pPr algn="l">
              <a:defRPr sz="2700" b="0">
                <a:solidFill>
                  <a:srgbClr val="07182A"/>
                </a:solidFill>
                <a:latin typeface="CiscoSansTT"/>
                <a:ea typeface="CiscoSansTT"/>
                <a:cs typeface="CiscoSansTT"/>
              </a:defRPr>
            </a:lvl2pPr>
            <a:lvl3pPr algn="l">
              <a:defRPr sz="2700" b="0">
                <a:solidFill>
                  <a:srgbClr val="07182A"/>
                </a:solidFill>
                <a:latin typeface="CiscoSansTT"/>
                <a:ea typeface="CiscoSansTT"/>
                <a:cs typeface="CiscoSansTT"/>
              </a:defRPr>
            </a:lvl3pPr>
            <a:lvl4pPr algn="l">
              <a:defRPr sz="2700" b="0">
                <a:solidFill>
                  <a:srgbClr val="07182A"/>
                </a:solidFill>
                <a:latin typeface="CiscoSansTT"/>
                <a:ea typeface="CiscoSansTT"/>
                <a:cs typeface="CiscoSansTT"/>
              </a:defRPr>
            </a:lvl4pPr>
            <a:lvl5pPr algn="l">
              <a:defRPr sz="2700" b="0">
                <a:solidFill>
                  <a:srgbClr val="07182A"/>
                </a:solidFill>
                <a:latin typeface="CiscoSansTT"/>
                <a:ea typeface="CiscoSansTT"/>
                <a:cs typeface="CiscoSansTT"/>
              </a:defRPr>
            </a:lvl5pPr>
            <a:lvl6pPr algn="l">
              <a:defRPr sz="2700" b="0">
                <a:solidFill>
                  <a:srgbClr val="07182A"/>
                </a:solidFill>
                <a:latin typeface="CiscoSansTT"/>
                <a:ea typeface="CiscoSansTT"/>
                <a:cs typeface="CiscoSansTT"/>
              </a:defRPr>
            </a:lvl6pPr>
            <a:lvl7pPr algn="l">
              <a:defRPr sz="2700" b="0">
                <a:solidFill>
                  <a:srgbClr val="07182A"/>
                </a:solidFill>
                <a:latin typeface="CiscoSansTT"/>
                <a:ea typeface="CiscoSansTT"/>
                <a:cs typeface="CiscoSansTT"/>
              </a:defRPr>
            </a:lvl7pPr>
            <a:lvl8pPr algn="l">
              <a:defRPr sz="2700" b="0">
                <a:solidFill>
                  <a:srgbClr val="07182A"/>
                </a:solidFill>
                <a:latin typeface="CiscoSansTT"/>
                <a:ea typeface="CiscoSansTT"/>
                <a:cs typeface="CiscoSansTT"/>
              </a:defRPr>
            </a:lvl8pPr>
            <a:lvl9pPr algn="l">
              <a:defRPr sz="2700" b="0">
                <a:solidFill>
                  <a:srgbClr val="07182A"/>
                </a:solidFill>
                <a:latin typeface="CiscoSansTT"/>
                <a:ea typeface="CiscoSansTT"/>
                <a:cs typeface="CiscoSansTT"/>
              </a:defRPr>
            </a:lvl9pPr>
          </a:lstStyle>
          <a:p>
            <a:pPr algn="l">
              <a:buNone/>
              <a:defRPr sz="2700" b="0">
                <a:solidFill>
                  <a:srgbClr val="07182A"/>
                </a:solidFill>
                <a:latin typeface="CiscoSansTT"/>
                <a:ea typeface="CiscoSansTT"/>
                <a:cs typeface="CiscoSansTT"/>
              </a:defRPr>
            </a:pPr>
            <a:r>
              <a:rPr lang="en-US" sz="2700" b="0" dirty="0">
                <a:solidFill>
                  <a:srgbClr val="07182A"/>
                </a:solidFill>
                <a:latin typeface="CiscoSansTT"/>
                <a:ea typeface="CiscoSansTT"/>
                <a:cs typeface="CiscoSansTT"/>
              </a:rPr>
              <a:t>OBI Distributed </a:t>
            </a:r>
            <a:r>
              <a:rPr lang="en-US" dirty="0"/>
              <a:t>T</a:t>
            </a:r>
            <a:r>
              <a:rPr sz="2700" b="0" dirty="0">
                <a:solidFill>
                  <a:srgbClr val="07182A"/>
                </a:solidFill>
                <a:latin typeface="CiscoSansTT"/>
                <a:ea typeface="CiscoSansTT"/>
                <a:cs typeface="CiscoSansTT"/>
              </a:rPr>
              <a:t>rac</a:t>
            </a:r>
            <a:r>
              <a:rPr lang="en-US" sz="2700" b="0" dirty="0">
                <a:solidFill>
                  <a:srgbClr val="07182A"/>
                </a:solidFill>
                <a:latin typeface="CiscoSansTT"/>
                <a:ea typeface="CiscoSansTT"/>
                <a:cs typeface="CiscoSansTT"/>
              </a:rPr>
              <a:t>ing</a:t>
            </a:r>
            <a:endParaRPr sz="2700" b="0" dirty="0">
              <a:solidFill>
                <a:srgbClr val="07182A"/>
              </a:solidFill>
              <a:latin typeface="CiscoSansTT"/>
              <a:ea typeface="CiscoSansTT"/>
              <a:cs typeface="CiscoSansTT"/>
            </a:endParaRP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advClick="1"/>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2850" b="0">
                <a:solidFill>
                  <a:srgbClr val="07182A"/>
                </a:solidFill>
                <a:latin typeface="CiscoSansTT"/>
                <a:ea typeface="CiscoSansTT"/>
                <a:cs typeface="CiscoSansTT"/>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2850" b="0">
                <a:solidFill>
                  <a:srgbClr val="07182A"/>
                </a:solidFill>
                <a:latin typeface="CiscoSansTT"/>
                <a:ea typeface="CiscoSansTT"/>
                <a:cs typeface="CiscoSansTT"/>
              </a:defRPr>
            </a:pPr>
            <a:r>
              <a:rPr lang="en-US" sz="2850" b="0" dirty="0">
                <a:solidFill>
                  <a:srgbClr val="07182A"/>
                </a:solidFill>
                <a:latin typeface="CiscoSansTT"/>
                <a:ea typeface="CiscoSansTT"/>
                <a:cs typeface="CiscoSansTT"/>
              </a:rPr>
              <a:t>Cilium </a:t>
            </a:r>
            <a:r>
              <a:rPr sz="2850" b="0" dirty="0">
                <a:solidFill>
                  <a:srgbClr val="07182A"/>
                </a:solidFill>
                <a:latin typeface="CiscoSansTT"/>
                <a:ea typeface="CiscoSansTT"/>
                <a:cs typeface="CiscoSansTT"/>
              </a:rPr>
              <a:t>Policy denial</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advClick="1"/>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advClick="1"/>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graphicFrame>
        <p:nvGraphicFramePr>
          <p:cNvPr id="21" name="Table 20">
            <a:extLst>
              <a:ext uri="{FF2B5EF4-FFF2-40B4-BE49-F238E27FC236}">
                <a16:creationId xmlns:a16="http://schemas.microsoft.com/office/drawing/2014/main" id="{CA56689E-14B9-4ACB-984E-F1E4C6574764}"/>
              </a:ext>
            </a:extLst>
          </p:cNvPr>
          <p:cNvGraphicFramePr/>
          <p:nvPr>
            <p:extLst>
              <p:ext uri="{D42A27DB-BD31-4B8C-83A1-F6EECF244321}">
                <p14:modId xmlns:p14="http://schemas.microsoft.com/office/powerpoint/2010/main" val="710346894"/>
              </p:ext>
            </p:extLst>
          </p:nvPr>
        </p:nvGraphicFramePr>
        <p:xfrm>
          <a:off x="762000" y="1638300"/>
          <a:ext cx="10668000" cy="4114800"/>
        </p:xfrm>
        <a:graphic>
          <a:graphicData uri="http://schemas.openxmlformats.org/drawingml/2006/table">
            <a:tbl>
              <a:tblPr/>
              <a:tblGrid>
                <a:gridCol w="200025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5619750">
                  <a:extLst>
                    <a:ext uri="{9D8B030D-6E8A-4147-A177-3AD203B41FA5}">
                      <a16:colId xmlns:a16="http://schemas.microsoft.com/office/drawing/2014/main" val="20002"/>
                    </a:ext>
                  </a:extLst>
                </a:gridCol>
              </a:tblGrid>
              <a:tr h="495300">
                <a:tc>
                  <a:txBody>
                    <a:bodyPr/>
                    <a:lstStyle/>
                    <a:p>
                      <a:pPr algn="ctr"/>
                      <a:r>
                        <a:rPr sz="1875" b="1">
                          <a:solidFill>
                            <a:srgbClr val="07182A"/>
                          </a:solidFill>
                          <a:latin typeface="CiscoSansTT Medium"/>
                          <a:ea typeface="CiscoSansTT Medium"/>
                          <a:cs typeface="CiscoSansTT Medium"/>
                        </a:rPr>
                        <a:t>Scenario</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lang="en-GB" sz="2000" b="1" dirty="0">
                          <a:solidFill>
                            <a:srgbClr val="07182A"/>
                          </a:solidFill>
                          <a:latin typeface="CiscoSansTT Medium"/>
                          <a:ea typeface="CiscoSansTT Medium"/>
                          <a:cs typeface="CiscoSansTT Medium"/>
                        </a:rPr>
                        <a:t>Cilium &amp; </a:t>
                      </a:r>
                      <a:r>
                        <a:rPr sz="1875" b="1" dirty="0">
                          <a:solidFill>
                            <a:srgbClr val="07182A"/>
                          </a:solidFill>
                          <a:latin typeface="CiscoSansTT Medium"/>
                          <a:ea typeface="CiscoSansTT Medium"/>
                          <a:cs typeface="CiscoSansTT Medium"/>
                        </a:rPr>
                        <a:t>Hubble</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875" b="1">
                          <a:solidFill>
                            <a:srgbClr val="07182A"/>
                          </a:solidFill>
                          <a:latin typeface="CiscoSansTT Medium"/>
                          <a:ea typeface="CiscoSansTT Medium"/>
                          <a:cs typeface="CiscoSansTT Medium"/>
                        </a:rPr>
                        <a:t>OBI</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0"/>
                  </a:ext>
                </a:extLst>
              </a:tr>
              <a:tr h="723900">
                <a:tc>
                  <a:txBody>
                    <a:bodyPr/>
                    <a:lstStyle/>
                    <a:p>
                      <a:pPr algn="ctr"/>
                      <a:r>
                        <a:rPr sz="1725" b="1">
                          <a:solidFill>
                            <a:srgbClr val="07182A"/>
                          </a:solidFill>
                          <a:latin typeface="CiscoSansTT Medium"/>
                          <a:ea typeface="CiscoSansTT Medium"/>
                          <a:cs typeface="CiscoSansTT Medium"/>
                        </a:rPr>
                        <a:t>A</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1"/>
                  </a:ext>
                </a:extLst>
              </a:tr>
              <a:tr h="723900">
                <a:tc>
                  <a:txBody>
                    <a:bodyPr/>
                    <a:lstStyle/>
                    <a:p>
                      <a:pPr algn="ctr"/>
                      <a:r>
                        <a:rPr sz="1725" b="1">
                          <a:solidFill>
                            <a:srgbClr val="0860FE"/>
                          </a:solidFill>
                          <a:latin typeface="CiscoSansTT Medium"/>
                          <a:ea typeface="CiscoSansTT Medium"/>
                          <a:cs typeface="CiscoSansTT Medium"/>
                        </a:rPr>
                        <a:t>B</a:t>
                      </a:r>
                    </a:p>
                    <a:p>
                      <a:pPr algn="ctr"/>
                      <a:r>
                        <a:rPr sz="1725" b="1">
                          <a:solidFill>
                            <a:srgbClr val="0860FE"/>
                          </a:solidFill>
                          <a:latin typeface="CiscoSansTT Medium"/>
                          <a:ea typeface="CiscoSansTT Medium"/>
                          <a:cs typeface="CiscoSansTT Medium"/>
                        </a:rPr>
                        <a:t>Measured</a:t>
                      </a:r>
                    </a:p>
                  </a:txBody>
                  <a:tcPr anchor="ctr">
                    <a:lnL w="0">
                      <a:noFill/>
                    </a:lnL>
                    <a:lnR w="0">
                      <a:noFill/>
                    </a:lnR>
                    <a:lnT w="6350">
                      <a:solidFill>
                        <a:srgbClr val="CFD5DD"/>
                      </a:solidFill>
                    </a:lnT>
                    <a:lnB w="6350">
                      <a:solidFill>
                        <a:srgbClr val="CFD5DD"/>
                      </a:solidFill>
                    </a:lnB>
                    <a:solidFill>
                      <a:srgbClr val="EAF8FC"/>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EAF8FC"/>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EAF8FC"/>
                    </a:solidFill>
                  </a:tcPr>
                </a:tc>
                <a:extLst>
                  <a:ext uri="{0D108BD9-81ED-4DB2-BD59-A6C34878D82A}">
                    <a16:rowId xmlns:a16="http://schemas.microsoft.com/office/drawing/2014/main" val="10002"/>
                  </a:ext>
                </a:extLst>
              </a:tr>
              <a:tr h="723900">
                <a:tc>
                  <a:txBody>
                    <a:bodyPr/>
                    <a:lstStyle/>
                    <a:p>
                      <a:pPr algn="ctr"/>
                      <a:r>
                        <a:rPr sz="1725" b="1">
                          <a:solidFill>
                            <a:srgbClr val="07182A"/>
                          </a:solidFill>
                          <a:latin typeface="CiscoSansTT Medium"/>
                          <a:ea typeface="CiscoSansTT Medium"/>
                          <a:cs typeface="CiscoSansTT Medium"/>
                        </a:rPr>
                        <a:t>C</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RED metrics only</a:t>
                      </a:r>
                    </a:p>
                    <a:p>
                      <a:pPr algn="l"/>
                      <a:r>
                        <a:rPr sz="1725" b="0">
                          <a:solidFill>
                            <a:srgbClr val="07182A"/>
                          </a:solidFill>
                          <a:latin typeface="CiscoSansTT"/>
                          <a:ea typeface="CiscoSansTT"/>
                          <a:cs typeface="CiscoSansTT"/>
                        </a:rPr>
                        <a:t>No traces or TCP propagation</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3"/>
                  </a:ext>
                </a:extLst>
              </a:tr>
              <a:tr h="723900">
                <a:tc>
                  <a:txBody>
                    <a:bodyPr/>
                    <a:lstStyle/>
                    <a:p>
                      <a:pPr algn="ctr"/>
                      <a:r>
                        <a:rPr sz="1725" b="1">
                          <a:solidFill>
                            <a:srgbClr val="FF007F"/>
                          </a:solidFill>
                          <a:latin typeface="CiscoSansTT Medium"/>
                          <a:ea typeface="CiscoSansTT Medium"/>
                          <a:cs typeface="CiscoSansTT Medium"/>
                        </a:rPr>
                        <a:t>D</a:t>
                      </a:r>
                    </a:p>
                    <a:p>
                      <a:pPr algn="ctr"/>
                      <a:r>
                        <a:rPr sz="1725" b="1">
                          <a:solidFill>
                            <a:srgbClr val="FF007F"/>
                          </a:solidFill>
                          <a:latin typeface="CiscoSansTT Medium"/>
                          <a:ea typeface="CiscoSansTT Medium"/>
                          <a:cs typeface="CiscoSansTT Medium"/>
                        </a:rPr>
                        <a:t>Measured</a:t>
                      </a:r>
                    </a:p>
                  </a:txBody>
                  <a:tcPr anchor="ctr">
                    <a:lnL w="0">
                      <a:noFill/>
                    </a:lnL>
                    <a:lnR w="0">
                      <a:noFill/>
                    </a:lnR>
                    <a:lnT w="6350">
                      <a:solidFill>
                        <a:srgbClr val="CFD5DD"/>
                      </a:solidFill>
                    </a:lnT>
                    <a:lnB w="6350">
                      <a:solidFill>
                        <a:srgbClr val="CFD5DD"/>
                      </a:solidFill>
                    </a:lnB>
                    <a:solidFill>
                      <a:srgbClr val="F6ECF5"/>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F6ECF5"/>
                    </a:solidFill>
                  </a:tcPr>
                </a:tc>
                <a:tc>
                  <a:txBody>
                    <a:bodyPr/>
                    <a:lstStyle/>
                    <a:p>
                      <a:pPr algn="l"/>
                      <a:r>
                        <a:rPr sz="1725" b="0">
                          <a:solidFill>
                            <a:srgbClr val="07182A"/>
                          </a:solidFill>
                          <a:latin typeface="CiscoSansTT"/>
                          <a:ea typeface="CiscoSansTT"/>
                          <a:cs typeface="CiscoSansTT"/>
                        </a:rPr>
                        <a:t>RED metrics + traces</a:t>
                      </a:r>
                    </a:p>
                    <a:p>
                      <a:pPr algn="l"/>
                      <a:r>
                        <a:rPr sz="1725" b="0">
                          <a:solidFill>
                            <a:srgbClr val="07182A"/>
                          </a:solidFill>
                          <a:latin typeface="CiscoSansTT"/>
                          <a:ea typeface="CiscoSansTT"/>
                          <a:cs typeface="CiscoSansTT"/>
                        </a:rPr>
                        <a:t>TCP context propagation</a:t>
                      </a:r>
                    </a:p>
                  </a:txBody>
                  <a:tcPr anchor="ctr">
                    <a:lnL w="0">
                      <a:noFill/>
                    </a:lnL>
                    <a:lnR w="0">
                      <a:noFill/>
                    </a:lnR>
                    <a:lnT w="6350">
                      <a:solidFill>
                        <a:srgbClr val="CFD5DD"/>
                      </a:solidFill>
                    </a:lnT>
                    <a:lnB w="6350">
                      <a:solidFill>
                        <a:srgbClr val="CFD5DD"/>
                      </a:solidFill>
                    </a:lnB>
                    <a:solidFill>
                      <a:srgbClr val="F6ECF5"/>
                    </a:solidFill>
                  </a:tcPr>
                </a:tc>
                <a:extLst>
                  <a:ext uri="{0D108BD9-81ED-4DB2-BD59-A6C34878D82A}">
                    <a16:rowId xmlns:a16="http://schemas.microsoft.com/office/drawing/2014/main" val="10004"/>
                  </a:ext>
                </a:extLst>
              </a:tr>
              <a:tr h="723900">
                <a:tc>
                  <a:txBody>
                    <a:bodyPr/>
                    <a:lstStyle/>
                    <a:p>
                      <a:pPr algn="ctr"/>
                      <a:r>
                        <a:rPr sz="1725" b="1">
                          <a:solidFill>
                            <a:srgbClr val="07182A"/>
                          </a:solidFill>
                          <a:latin typeface="CiscoSansTT Medium"/>
                          <a:ea typeface="CiscoSansTT Medium"/>
                          <a:cs typeface="CiscoSansTT Medium"/>
                        </a:rPr>
                        <a:t>E</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Flows (L3/L4)</a:t>
                      </a:r>
                    </a:p>
                    <a:p>
                      <a:pPr algn="l"/>
                      <a:r>
                        <a:rPr sz="1725" b="0">
                          <a:solidFill>
                            <a:srgbClr val="07182A"/>
                          </a:solidFill>
                          <a:latin typeface="CiscoSansTT"/>
                          <a:ea typeface="CiscoSansTT"/>
                          <a:cs typeface="CiscoSansTT"/>
                        </a:rPr>
                        <a:t>+ L7 via Envoy</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dirty="0">
                          <a:solidFill>
                            <a:srgbClr val="07182A"/>
                          </a:solidFill>
                          <a:latin typeface="CiscoSansTT"/>
                          <a:ea typeface="CiscoSansTT"/>
                          <a:cs typeface="CiscoSansTT"/>
                        </a:rPr>
                        <a:t>RED metrics + traces</a:t>
                      </a:r>
                    </a:p>
                    <a:p>
                      <a:pPr algn="l"/>
                      <a:r>
                        <a:rPr sz="1725" b="0" dirty="0">
                          <a:solidFill>
                            <a:srgbClr val="07182A"/>
                          </a:solidFill>
                          <a:latin typeface="CiscoSansTT"/>
                          <a:ea typeface="CiscoSansTT"/>
                          <a:cs typeface="CiscoSansTT"/>
                        </a:rPr>
                        <a:t>TCP context propagation</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5"/>
                  </a:ext>
                </a:extLst>
              </a:tr>
            </a:tbl>
          </a:graphicData>
        </a:graphic>
      </p:graphicFrame>
      <p:sp>
        <p:nvSpPr>
          <p:cNvPr id="22" name="scenario-controls">
            <a:extLst>
              <a:ext uri="{FF2B5EF4-FFF2-40B4-BE49-F238E27FC236}">
                <a16:creationId xmlns:a16="http://schemas.microsoft.com/office/drawing/2014/main" id="{213A8E4D-17B5-49BB-BEBF-5F432814CCC0}"/>
              </a:ext>
            </a:extLst>
          </p:cNvPr>
          <p:cNvSpPr>
            <a:spLocks noGrp="1"/>
          </p:cNvSpPr>
          <p:nvPr/>
        </p:nvSpPr>
        <p:spPr>
          <a:xfrm>
            <a:off x="762000" y="5934075"/>
            <a:ext cx="10668000" cy="4000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advClick="1"/>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dirty="0">
                <a:solidFill>
                  <a:srgbClr val="686B6B"/>
                </a:solidFill>
                <a:latin typeface="CiscoSansTT"/>
                <a:ea typeface="CiscoSansTT"/>
                <a:cs typeface="CiscoSansTT"/>
              </a:rPr>
              <a:t>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dirty="0">
                <a:solidFill>
                  <a:srgbClr val="07182A"/>
                </a:solidFill>
                <a:latin typeface="CiscoSansTT Medium"/>
                <a:ea typeface="CiscoSansTT Medium"/>
                <a:cs typeface="CiscoSansTT Medium"/>
              </a:rPr>
              <a:t>D exported 7,210 spans.</a:t>
            </a:r>
          </a:p>
        </p:txBody>
      </p:sp>
      <p:grpSp>
        <p:nvGrpSpPr>
          <p:cNvPr id="29" name="Minimal p95 increase"/>
          <p:cNvGrpSpPr/>
          <p:nvPr/>
        </p:nvGrpSpPr>
        <p:grpSpPr>
          <a:xfrm>
            <a:off x="0" y="0"/>
            <a:ext cx="12192000" cy="6858000"/>
            <a:chOff x="0" y="0"/>
            <a:chExt cx="12192000" cy="6858000"/>
          </a:xfrm>
        </p:grpSpPr>
        <p:sp>
          <p:nvSpPr>
            <p:cNvPr id="27" name="p95-increase-highlight">
              <a:extLst>
                <a:ext uri="{FF2B5EF4-FFF2-40B4-BE49-F238E27FC236}">
                  <a16:creationId xmlns:a16="http://schemas.microsoft.com/office/drawing/2014/main" id="{06C80578-2799-413E-87E0-18889254E406}"/>
                </a:ext>
              </a:extLst>
            </p:cNvPr>
            <p:cNvSpPr>
              <a:spLocks noGrp="1"/>
            </p:cNvSpPr>
            <p:nvPr/>
          </p:nvSpPr>
          <p:spPr>
            <a:xfrm>
              <a:off x="9096375" y="2952750"/>
              <a:ext cx="2190750" cy="438150"/>
            </a:xfrm>
            <a:prstGeom prst="rect">
              <a:avLst/>
            </a:prstGeom>
            <a:noFill/>
            <a:ln w="25718">
              <a:solidFill>
                <a:srgbClr val="FF007F"/>
              </a:solidFill>
            </a:ln>
          </p:spPr>
          <p:txBody>
            <a:bodyPr/>
            <a:lstStyle/>
            <a:p>
              <a:endParaRPr lang="en-ES"/>
            </a:p>
          </p:txBody>
        </p:sp>
        <p:sp>
          <p:nvSpPr>
            <p:cNvPr id="28" name="minimal-increase-caption">
              <a:extLst>
                <a:ext uri="{FF2B5EF4-FFF2-40B4-BE49-F238E27FC236}">
                  <a16:creationId xmlns:a16="http://schemas.microsoft.com/office/drawing/2014/main" id="{5BF6F799-7CEC-42B6-9C9D-C69CC308E901}"/>
                </a:ext>
              </a:extLst>
            </p:cNvPr>
            <p:cNvSpPr>
              <a:spLocks noGrp="1"/>
            </p:cNvSpPr>
            <p:nvPr/>
          </p:nvSpPr>
          <p:spPr>
            <a:xfrm>
              <a:off x="762000" y="5762625"/>
              <a:ext cx="10668000" cy="428625"/>
            </a:xfrm>
            <a:prstGeom prst="rect">
              <a:avLst/>
            </a:prstGeom>
            <a:noFill/>
            <a:ln w="0">
              <a:noFill/>
            </a:ln>
          </p:spPr>
          <p:txBody>
            <a:bodyPr anchor="ctr">
              <a:noAutofit/>
            </a:bodyPr>
            <a:lstStyle>
              <a:defPPr algn="ctr">
                <a:defRPr sz="1950" b="1">
                  <a:solidFill>
                    <a:srgbClr val="FF007F"/>
                  </a:solidFill>
                  <a:latin typeface="CiscoSansTT Medium"/>
                  <a:ea typeface="CiscoSansTT Medium"/>
                  <a:cs typeface="CiscoSansTT Medium"/>
                </a:defRPr>
              </a:defPPr>
              <a:lvl1pPr algn="ctr">
                <a:defRPr sz="1950" b="1">
                  <a:solidFill>
                    <a:srgbClr val="FF007F"/>
                  </a:solidFill>
                  <a:latin typeface="CiscoSansTT Medium"/>
                  <a:ea typeface="CiscoSansTT Medium"/>
                  <a:cs typeface="CiscoSansTT Medium"/>
                </a:defRPr>
              </a:lvl1pPr>
              <a:lvl2pPr algn="ctr">
                <a:defRPr sz="1950" b="1">
                  <a:solidFill>
                    <a:srgbClr val="FF007F"/>
                  </a:solidFill>
                  <a:latin typeface="CiscoSansTT Medium"/>
                  <a:ea typeface="CiscoSansTT Medium"/>
                  <a:cs typeface="CiscoSansTT Medium"/>
                </a:defRPr>
              </a:lvl2pPr>
              <a:lvl3pPr algn="ctr">
                <a:defRPr sz="1950" b="1">
                  <a:solidFill>
                    <a:srgbClr val="FF007F"/>
                  </a:solidFill>
                  <a:latin typeface="CiscoSansTT Medium"/>
                  <a:ea typeface="CiscoSansTT Medium"/>
                  <a:cs typeface="CiscoSansTT Medium"/>
                </a:defRPr>
              </a:lvl3pPr>
              <a:lvl4pPr algn="ctr">
                <a:defRPr sz="1950" b="1">
                  <a:solidFill>
                    <a:srgbClr val="FF007F"/>
                  </a:solidFill>
                  <a:latin typeface="CiscoSansTT Medium"/>
                  <a:ea typeface="CiscoSansTT Medium"/>
                  <a:cs typeface="CiscoSansTT Medium"/>
                </a:defRPr>
              </a:lvl4pPr>
              <a:lvl5pPr algn="ctr">
                <a:defRPr sz="1950" b="1">
                  <a:solidFill>
                    <a:srgbClr val="FF007F"/>
                  </a:solidFill>
                  <a:latin typeface="CiscoSansTT Medium"/>
                  <a:ea typeface="CiscoSansTT Medium"/>
                  <a:cs typeface="CiscoSansTT Medium"/>
                </a:defRPr>
              </a:lvl5pPr>
              <a:lvl6pPr algn="ctr">
                <a:defRPr sz="1950" b="1">
                  <a:solidFill>
                    <a:srgbClr val="FF007F"/>
                  </a:solidFill>
                  <a:latin typeface="CiscoSansTT Medium"/>
                  <a:ea typeface="CiscoSansTT Medium"/>
                  <a:cs typeface="CiscoSansTT Medium"/>
                </a:defRPr>
              </a:lvl6pPr>
              <a:lvl7pPr algn="ctr">
                <a:defRPr sz="1950" b="1">
                  <a:solidFill>
                    <a:srgbClr val="FF007F"/>
                  </a:solidFill>
                  <a:latin typeface="CiscoSansTT Medium"/>
                  <a:ea typeface="CiscoSansTT Medium"/>
                  <a:cs typeface="CiscoSansTT Medium"/>
                </a:defRPr>
              </a:lvl7pPr>
              <a:lvl8pPr algn="ctr">
                <a:defRPr sz="1950" b="1">
                  <a:solidFill>
                    <a:srgbClr val="FF007F"/>
                  </a:solidFill>
                  <a:latin typeface="CiscoSansTT Medium"/>
                  <a:ea typeface="CiscoSansTT Medium"/>
                  <a:cs typeface="CiscoSansTT Medium"/>
                </a:defRPr>
              </a:lvl8pPr>
              <a:lvl9pPr algn="ctr">
                <a:defRPr sz="1950" b="1">
                  <a:solidFill>
                    <a:srgbClr val="FF007F"/>
                  </a:solidFill>
                  <a:latin typeface="CiscoSansTT Medium"/>
                  <a:ea typeface="CiscoSansTT Medium"/>
                  <a:cs typeface="CiscoSansTT Medium"/>
                </a:defRPr>
              </a:lvl9pPr>
            </a:lstStyle>
            <a:p>
              <a:pPr algn="ctr">
                <a:defRPr sz="1950" b="1">
                  <a:solidFill>
                    <a:srgbClr val="FF007F"/>
                  </a:solidFill>
                  <a:latin typeface="CiscoSansTT Medium"/>
                  <a:ea typeface="CiscoSansTT Medium"/>
                  <a:cs typeface="CiscoSansTT Medium"/>
                </a:defRPr>
              </a:pPr>
              <a:r>
                <a:rPr sz="1950" b="1">
                  <a:solidFill>
                    <a:srgbClr val="FF007F"/>
                  </a:solidFill>
                  <a:latin typeface="CiscoSansTT Medium"/>
                  <a:ea typeface="CiscoSansTT Medium"/>
                  <a:cs typeface="CiscoSansTT Medium"/>
                </a:rPr>
                <a:t>Minimal p95 increase in this rehearsal: +2 ms (about +0.2%)</a:t>
              </a:r>
            </a:p>
          </p:txBody>
        </p:sp>
      </p:grpSp>
    </p:spTree>
    <p:extLst>
      <p:ext uri="{BB962C8B-B14F-4D97-AF65-F5344CB8AC3E}">
        <p14:creationId xmlns:p14="http://schemas.microsoft.com/office/powerpoint/2010/main" val="617371277"/>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advClick="1"/>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advClick="1"/>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a:ext uri="{FF2B5EF4-FFF2-40B4-BE49-F238E27FC236}">
                <a16:creationId xmlns:a16="http://schemas.microsoft.com/office/drawing/2014/main" id="{9308E42D-368D-42DF-BAAF-1095889907AF}"/>
              </a:ext>
            </a:extLst>
          </p:cNvPr>
          <p:cNvSpPr>
            <a:spLocks noGrp="1"/>
          </p:cNvSpPr>
          <p:nvPr/>
        </p:nvSpPr>
        <p:spPr>
          <a:xfrm>
            <a:off x="199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25" name="rollout-number-text-1">
            <a:extLst>
              <a:ext uri="{FF2B5EF4-FFF2-40B4-BE49-F238E27FC236}">
                <a16:creationId xmlns:a16="http://schemas.microsoft.com/office/drawing/2014/main" id="{619226F0-2C55-4B95-86FA-7FF888CBDC86}"/>
              </a:ext>
            </a:extLst>
          </p:cNvPr>
          <p:cNvSpPr>
            <a:spLocks noGrp="1"/>
          </p:cNvSpPr>
          <p:nvPr/>
        </p:nvSpPr>
        <p:spPr>
          <a:xfrm>
            <a:off x="199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a:ext uri="{FF2B5EF4-FFF2-40B4-BE49-F238E27FC236}">
                <a16:creationId xmlns:a16="http://schemas.microsoft.com/office/drawing/2014/main" id="{0D9F601A-DCFA-40AE-9459-F28334FCE873}"/>
              </a:ext>
            </a:extLst>
          </p:cNvPr>
          <p:cNvSpPr>
            <a:spLocks noGrp="1"/>
          </p:cNvSpPr>
          <p:nvPr/>
        </p:nvSpPr>
        <p:spPr>
          <a:xfrm>
            <a:off x="85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27" name="rollout-heading-1">
            <a:extLst>
              <a:ext uri="{FF2B5EF4-FFF2-40B4-BE49-F238E27FC236}">
                <a16:creationId xmlns:a16="http://schemas.microsoft.com/office/drawing/2014/main" id="{4DADEB56-54C0-4C4E-97F2-0BFC936E3F54}"/>
              </a:ext>
            </a:extLst>
          </p:cNvPr>
          <p:cNvSpPr>
            <a:spLocks noGrp="1"/>
          </p:cNvSpPr>
          <p:nvPr/>
        </p:nvSpPr>
        <p:spPr>
          <a:xfrm>
            <a:off x="95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a:ext uri="{FF2B5EF4-FFF2-40B4-BE49-F238E27FC236}">
                <a16:creationId xmlns:a16="http://schemas.microsoft.com/office/drawing/2014/main" id="{A6BA2584-1CA0-4DCB-9D32-CE2A9205A391}"/>
              </a:ext>
            </a:extLst>
          </p:cNvPr>
          <p:cNvSpPr>
            <a:spLocks noGrp="1"/>
          </p:cNvSpPr>
          <p:nvPr/>
        </p:nvSpPr>
        <p:spPr>
          <a:xfrm>
            <a:off x="76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a:ext uri="{FF2B5EF4-FFF2-40B4-BE49-F238E27FC236}">
                <a16:creationId xmlns:a16="http://schemas.microsoft.com/office/drawing/2014/main" id="{0179766C-AD8A-4FD1-A004-F5D775C68530}"/>
              </a:ext>
            </a:extLst>
          </p:cNvPr>
          <p:cNvCxnSpPr/>
          <p:nvPr/>
        </p:nvCxnSpPr>
        <p:spPr>
          <a:xfrm>
            <a:off x="3714750" y="2667000"/>
            <a:ext cx="952500" cy="0"/>
          </a:xfrm>
          <a:prstGeom prst="straightConnector1">
            <a:avLst/>
          </a:prstGeom>
          <a:ln w="19050">
            <a:solidFill>
              <a:srgbClr val="07182A"/>
            </a:solidFill>
            <a:tailEnd type="arrow" w="med" len="med"/>
          </a:ln>
        </p:spPr>
      </p:cxnSp>
      <p:sp>
        <p:nvSpPr>
          <p:cNvPr id="30" name="rollout-number-2">
            <a:extLst>
              <a:ext uri="{FF2B5EF4-FFF2-40B4-BE49-F238E27FC236}">
                <a16:creationId xmlns:a16="http://schemas.microsoft.com/office/drawing/2014/main" id="{A100CE3B-3491-4B9A-857A-EEB73D75781E}"/>
              </a:ext>
            </a:extLst>
          </p:cNvPr>
          <p:cNvSpPr>
            <a:spLocks noGrp="1"/>
          </p:cNvSpPr>
          <p:nvPr/>
        </p:nvSpPr>
        <p:spPr>
          <a:xfrm>
            <a:off x="580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31" name="rollout-number-text-2">
            <a:extLst>
              <a:ext uri="{FF2B5EF4-FFF2-40B4-BE49-F238E27FC236}">
                <a16:creationId xmlns:a16="http://schemas.microsoft.com/office/drawing/2014/main" id="{40545FEE-4643-46CC-A839-77140AB8174D}"/>
              </a:ext>
            </a:extLst>
          </p:cNvPr>
          <p:cNvSpPr>
            <a:spLocks noGrp="1"/>
          </p:cNvSpPr>
          <p:nvPr/>
        </p:nvSpPr>
        <p:spPr>
          <a:xfrm>
            <a:off x="580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a:ext uri="{FF2B5EF4-FFF2-40B4-BE49-F238E27FC236}">
                <a16:creationId xmlns:a16="http://schemas.microsoft.com/office/drawing/2014/main" id="{45EF45FE-6984-4B14-9E82-02158503DC49}"/>
              </a:ext>
            </a:extLst>
          </p:cNvPr>
          <p:cNvSpPr>
            <a:spLocks noGrp="1"/>
          </p:cNvSpPr>
          <p:nvPr/>
        </p:nvSpPr>
        <p:spPr>
          <a:xfrm>
            <a:off x="466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33" name="rollout-heading-2">
            <a:extLst>
              <a:ext uri="{FF2B5EF4-FFF2-40B4-BE49-F238E27FC236}">
                <a16:creationId xmlns:a16="http://schemas.microsoft.com/office/drawing/2014/main" id="{B0EE6170-72EB-46BB-9763-23A6455523C9}"/>
              </a:ext>
            </a:extLst>
          </p:cNvPr>
          <p:cNvSpPr>
            <a:spLocks noGrp="1"/>
          </p:cNvSpPr>
          <p:nvPr/>
        </p:nvSpPr>
        <p:spPr>
          <a:xfrm>
            <a:off x="476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a:ext uri="{FF2B5EF4-FFF2-40B4-BE49-F238E27FC236}">
                <a16:creationId xmlns:a16="http://schemas.microsoft.com/office/drawing/2014/main" id="{C18F365B-6D88-4255-A1FD-1CB128985C00}"/>
              </a:ext>
            </a:extLst>
          </p:cNvPr>
          <p:cNvSpPr>
            <a:spLocks noGrp="1"/>
          </p:cNvSpPr>
          <p:nvPr/>
        </p:nvSpPr>
        <p:spPr>
          <a:xfrm>
            <a:off x="457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a:ext uri="{FF2B5EF4-FFF2-40B4-BE49-F238E27FC236}">
                <a16:creationId xmlns:a16="http://schemas.microsoft.com/office/drawing/2014/main" id="{1B1C721C-EF54-428C-938D-43530224DDCF}"/>
              </a:ext>
            </a:extLst>
          </p:cNvPr>
          <p:cNvCxnSpPr/>
          <p:nvPr/>
        </p:nvCxnSpPr>
        <p:spPr>
          <a:xfrm>
            <a:off x="7524750" y="2667000"/>
            <a:ext cx="952500" cy="0"/>
          </a:xfrm>
          <a:prstGeom prst="straightConnector1">
            <a:avLst/>
          </a:prstGeom>
          <a:ln w="19050">
            <a:solidFill>
              <a:srgbClr val="07182A"/>
            </a:solidFill>
            <a:tailEnd type="arrow" w="med" len="med"/>
          </a:ln>
        </p:spPr>
      </p:cxnSp>
      <p:sp>
        <p:nvSpPr>
          <p:cNvPr id="36" name="rollout-number-3">
            <a:extLst>
              <a:ext uri="{FF2B5EF4-FFF2-40B4-BE49-F238E27FC236}">
                <a16:creationId xmlns:a16="http://schemas.microsoft.com/office/drawing/2014/main" id="{92BA6C3E-B0C9-40CC-9894-53985EFBE5D2}"/>
              </a:ext>
            </a:extLst>
          </p:cNvPr>
          <p:cNvSpPr>
            <a:spLocks noGrp="1"/>
          </p:cNvSpPr>
          <p:nvPr/>
        </p:nvSpPr>
        <p:spPr>
          <a:xfrm>
            <a:off x="9610725" y="1562100"/>
            <a:ext cx="590550" cy="400050"/>
          </a:xfrm>
          <a:prstGeom prst="roundRect">
            <a:avLst>
              <a:gd name="adj" fmla="val 16667"/>
            </a:avLst>
          </a:prstGeom>
          <a:solidFill>
            <a:srgbClr val="29AA61"/>
          </a:solidFill>
          <a:ln w="11906">
            <a:solidFill>
              <a:srgbClr val="29AA61"/>
            </a:solidFill>
          </a:ln>
        </p:spPr>
        <p:txBody>
          <a:bodyPr/>
          <a:lstStyle/>
          <a:p>
            <a:endParaRPr lang="en-ES"/>
          </a:p>
        </p:txBody>
      </p:sp>
      <p:sp>
        <p:nvSpPr>
          <p:cNvPr id="37" name="rollout-number-text-3">
            <a:extLst>
              <a:ext uri="{FF2B5EF4-FFF2-40B4-BE49-F238E27FC236}">
                <a16:creationId xmlns:a16="http://schemas.microsoft.com/office/drawing/2014/main" id="{C1B684A9-18CB-41D7-8F1C-54E4212478EB}"/>
              </a:ext>
            </a:extLst>
          </p:cNvPr>
          <p:cNvSpPr>
            <a:spLocks noGrp="1"/>
          </p:cNvSpPr>
          <p:nvPr/>
        </p:nvSpPr>
        <p:spPr>
          <a:xfrm>
            <a:off x="961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a:ext uri="{FF2B5EF4-FFF2-40B4-BE49-F238E27FC236}">
                <a16:creationId xmlns:a16="http://schemas.microsoft.com/office/drawing/2014/main" id="{AA730FC7-5D39-4996-9C02-44A69411EE92}"/>
              </a:ext>
            </a:extLst>
          </p:cNvPr>
          <p:cNvSpPr>
            <a:spLocks noGrp="1"/>
          </p:cNvSpPr>
          <p:nvPr/>
        </p:nvSpPr>
        <p:spPr>
          <a:xfrm>
            <a:off x="8477250" y="2238375"/>
            <a:ext cx="2857500" cy="857250"/>
          </a:xfrm>
          <a:prstGeom prst="roundRect">
            <a:avLst>
              <a:gd name="adj" fmla="val 7778"/>
            </a:avLst>
          </a:prstGeom>
          <a:solidFill>
            <a:srgbClr val="EDF7F0"/>
          </a:solidFill>
          <a:ln w="11906">
            <a:solidFill>
              <a:srgbClr val="29AA61"/>
            </a:solidFill>
          </a:ln>
        </p:spPr>
        <p:txBody>
          <a:bodyPr/>
          <a:lstStyle/>
          <a:p>
            <a:endParaRPr lang="en-ES"/>
          </a:p>
        </p:txBody>
      </p:sp>
      <p:sp>
        <p:nvSpPr>
          <p:cNvPr id="39" name="rollout-heading-3">
            <a:extLst>
              <a:ext uri="{FF2B5EF4-FFF2-40B4-BE49-F238E27FC236}">
                <a16:creationId xmlns:a16="http://schemas.microsoft.com/office/drawing/2014/main" id="{CAC2F09C-EE61-4C50-92EF-A2C57C3D5311}"/>
              </a:ext>
            </a:extLst>
          </p:cNvPr>
          <p:cNvSpPr>
            <a:spLocks noGrp="1"/>
          </p:cNvSpPr>
          <p:nvPr/>
        </p:nvSpPr>
        <p:spPr>
          <a:xfrm>
            <a:off x="857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a:ext uri="{FF2B5EF4-FFF2-40B4-BE49-F238E27FC236}">
                <a16:creationId xmlns:a16="http://schemas.microsoft.com/office/drawing/2014/main" id="{D57A334E-42B1-4AFE-8D9C-3D300F40F752}"/>
              </a:ext>
            </a:extLst>
          </p:cNvPr>
          <p:cNvSpPr>
            <a:spLocks noGrp="1"/>
          </p:cNvSpPr>
          <p:nvPr/>
        </p:nvSpPr>
        <p:spPr>
          <a:xfrm>
            <a:off x="838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a:ext uri="{FF2B5EF4-FFF2-40B4-BE49-F238E27FC236}">
                <a16:creationId xmlns:a16="http://schemas.microsoft.com/office/drawing/2014/main" id="{6420A510-A7D3-4C46-9EC4-A9B23720F370}"/>
              </a:ext>
            </a:extLst>
          </p:cNvPr>
          <p:cNvSpPr>
            <a:spLocks noGrp="1"/>
          </p:cNvSpPr>
          <p:nvPr/>
        </p:nvSpPr>
        <p:spPr>
          <a:xfrm>
            <a:off x="1219200" y="4838700"/>
            <a:ext cx="9753600" cy="857250"/>
          </a:xfrm>
          <a:prstGeom prst="roundRect">
            <a:avLst>
              <a:gd name="adj" fmla="val 7778"/>
            </a:avLst>
          </a:prstGeom>
          <a:solidFill>
            <a:srgbClr val="F4F6F7"/>
          </a:solidFill>
          <a:ln w="11906">
            <a:solidFill>
              <a:srgbClr val="D6DDE3"/>
            </a:solidFill>
          </a:ln>
        </p:spPr>
        <p:txBody>
          <a:bodyPr/>
          <a:lstStyle/>
          <a:p>
            <a:endParaRPr lang="en-ES"/>
          </a:p>
        </p:txBody>
      </p:sp>
      <p:sp>
        <p:nvSpPr>
          <p:cNvPr id="42" name="rollout-rollback">
            <a:extLst>
              <a:ext uri="{FF2B5EF4-FFF2-40B4-BE49-F238E27FC236}">
                <a16:creationId xmlns:a16="http://schemas.microsoft.com/office/drawing/2014/main" id="{DB47BD46-21DC-47C2-87C2-9413DBB62336}"/>
              </a:ext>
            </a:extLst>
          </p:cNvPr>
          <p:cNvSpPr>
            <a:spLocks noGrp="1"/>
          </p:cNvSpPr>
          <p:nvPr/>
        </p:nvSpPr>
        <p:spPr>
          <a:xfrm>
            <a:off x="1619250" y="5019675"/>
            <a:ext cx="8953500" cy="4953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advClick="1"/>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advClick="1"/>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advClick="1"/>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advClick="1"/>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advClick="1"/>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ctr">
            <a:noAutofit/>
          </a:bodyPr>
          <a:lstStyle>
            <a:defPPr algn="l">
              <a:defRPr sz="2100" b="1">
                <a:solidFill>
                  <a:srgbClr val="FF007F"/>
                </a:solidFill>
                <a:latin typeface="CiscoSansTT Medium"/>
                <a:ea typeface="CiscoSansTT Medium"/>
                <a:cs typeface="CiscoSansTT Medium"/>
              </a:defRPr>
            </a:defPPr>
            <a:lvl1pPr algn="l">
              <a:defRPr sz="2100" b="1">
                <a:solidFill>
                  <a:srgbClr val="FF007F"/>
                </a:solidFill>
                <a:latin typeface="CiscoSansTT Medium"/>
                <a:ea typeface="CiscoSansTT Medium"/>
                <a:cs typeface="CiscoSansTT Medium"/>
              </a:defRPr>
            </a:lvl1pPr>
            <a:lvl2pPr algn="l">
              <a:defRPr sz="2100" b="1">
                <a:solidFill>
                  <a:srgbClr val="FF007F"/>
                </a:solidFill>
                <a:latin typeface="CiscoSansTT Medium"/>
                <a:ea typeface="CiscoSansTT Medium"/>
                <a:cs typeface="CiscoSansTT Medium"/>
              </a:defRPr>
            </a:lvl2pPr>
            <a:lvl3pPr algn="l">
              <a:defRPr sz="2100" b="1">
                <a:solidFill>
                  <a:srgbClr val="FF007F"/>
                </a:solidFill>
                <a:latin typeface="CiscoSansTT Medium"/>
                <a:ea typeface="CiscoSansTT Medium"/>
                <a:cs typeface="CiscoSansTT Medium"/>
              </a:defRPr>
            </a:lvl3pPr>
            <a:lvl4pPr algn="l">
              <a:defRPr sz="2100" b="1">
                <a:solidFill>
                  <a:srgbClr val="FF007F"/>
                </a:solidFill>
                <a:latin typeface="CiscoSansTT Medium"/>
                <a:ea typeface="CiscoSansTT Medium"/>
                <a:cs typeface="CiscoSansTT Medium"/>
              </a:defRPr>
            </a:lvl4pPr>
            <a:lvl5pPr algn="l">
              <a:defRPr sz="2100" b="1">
                <a:solidFill>
                  <a:srgbClr val="FF007F"/>
                </a:solidFill>
                <a:latin typeface="CiscoSansTT Medium"/>
                <a:ea typeface="CiscoSansTT Medium"/>
                <a:cs typeface="CiscoSansTT Medium"/>
              </a:defRPr>
            </a:lvl5pPr>
            <a:lvl6pPr algn="l">
              <a:defRPr sz="2100" b="1">
                <a:solidFill>
                  <a:srgbClr val="FF007F"/>
                </a:solidFill>
                <a:latin typeface="CiscoSansTT Medium"/>
                <a:ea typeface="CiscoSansTT Medium"/>
                <a:cs typeface="CiscoSansTT Medium"/>
              </a:defRPr>
            </a:lvl6pPr>
            <a:lvl7pPr algn="l">
              <a:defRPr sz="2100" b="1">
                <a:solidFill>
                  <a:srgbClr val="FF007F"/>
                </a:solidFill>
                <a:latin typeface="CiscoSansTT Medium"/>
                <a:ea typeface="CiscoSansTT Medium"/>
                <a:cs typeface="CiscoSansTT Medium"/>
              </a:defRPr>
            </a:lvl7pPr>
            <a:lvl8pPr algn="l">
              <a:defRPr sz="2100" b="1">
                <a:solidFill>
                  <a:srgbClr val="FF007F"/>
                </a:solidFill>
                <a:latin typeface="CiscoSansTT Medium"/>
                <a:ea typeface="CiscoSansTT Medium"/>
                <a:cs typeface="CiscoSansTT Medium"/>
              </a:defRPr>
            </a:lvl8pPr>
            <a:lvl9pPr algn="l">
              <a:defRPr sz="2100" b="1">
                <a:solidFill>
                  <a:srgbClr val="FF007F"/>
                </a:solidFill>
                <a:latin typeface="CiscoSansTT Medium"/>
                <a:ea typeface="CiscoSansTT Medium"/>
                <a:cs typeface="CiscoSansTT Medium"/>
              </a:defRPr>
            </a:lvl9pPr>
          </a:lstStyle>
          <a:p>
            <a:pPr algn="l">
              <a:buNone/>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OBI v1.0.0 · Config v2</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ctr">
            <a:noAutofit/>
          </a:bodyPr>
          <a:lstStyle>
            <a:defPPr algn="l">
              <a:defRPr sz="1725" b="0">
                <a:solidFill>
                  <a:srgbClr val="FFFFFF"/>
                </a:solidFill>
                <a:latin typeface="CiscoSansTT"/>
                <a:ea typeface="CiscoSansTT"/>
                <a:cs typeface="CiscoSansTT"/>
              </a:defRPr>
            </a:defPPr>
            <a:lvl1pPr algn="l">
              <a:defRPr sz="1725" b="0">
                <a:solidFill>
                  <a:srgbClr val="FFFFFF"/>
                </a:solidFill>
                <a:latin typeface="CiscoSansTT"/>
                <a:ea typeface="CiscoSansTT"/>
                <a:cs typeface="CiscoSansTT"/>
              </a:defRPr>
            </a:lvl1pPr>
            <a:lvl2pPr algn="l">
              <a:defRPr sz="1725" b="0">
                <a:solidFill>
                  <a:srgbClr val="FFFFFF"/>
                </a:solidFill>
                <a:latin typeface="CiscoSansTT"/>
                <a:ea typeface="CiscoSansTT"/>
                <a:cs typeface="CiscoSansTT"/>
              </a:defRPr>
            </a:lvl2pPr>
            <a:lvl3pPr algn="l">
              <a:defRPr sz="1725" b="0">
                <a:solidFill>
                  <a:srgbClr val="FFFFFF"/>
                </a:solidFill>
                <a:latin typeface="CiscoSansTT"/>
                <a:ea typeface="CiscoSansTT"/>
                <a:cs typeface="CiscoSansTT"/>
              </a:defRPr>
            </a:lvl3pPr>
            <a:lvl4pPr algn="l">
              <a:defRPr sz="1725" b="0">
                <a:solidFill>
                  <a:srgbClr val="FFFFFF"/>
                </a:solidFill>
                <a:latin typeface="CiscoSansTT"/>
                <a:ea typeface="CiscoSansTT"/>
                <a:cs typeface="CiscoSansTT"/>
              </a:defRPr>
            </a:lvl4pPr>
            <a:lvl5pPr algn="l">
              <a:defRPr sz="1725" b="0">
                <a:solidFill>
                  <a:srgbClr val="FFFFFF"/>
                </a:solidFill>
                <a:latin typeface="CiscoSansTT"/>
                <a:ea typeface="CiscoSansTT"/>
                <a:cs typeface="CiscoSansTT"/>
              </a:defRPr>
            </a:lvl5pPr>
            <a:lvl6pPr algn="l">
              <a:defRPr sz="1725" b="0">
                <a:solidFill>
                  <a:srgbClr val="FFFFFF"/>
                </a:solidFill>
                <a:latin typeface="CiscoSansTT"/>
                <a:ea typeface="CiscoSansTT"/>
                <a:cs typeface="CiscoSansTT"/>
              </a:defRPr>
            </a:lvl6pPr>
            <a:lvl7pPr algn="l">
              <a:defRPr sz="1725" b="0">
                <a:solidFill>
                  <a:srgbClr val="FFFFFF"/>
                </a:solidFill>
                <a:latin typeface="CiscoSansTT"/>
                <a:ea typeface="CiscoSansTT"/>
                <a:cs typeface="CiscoSansTT"/>
              </a:defRPr>
            </a:lvl7pPr>
            <a:lvl8pPr algn="l">
              <a:defRPr sz="1725" b="0">
                <a:solidFill>
                  <a:srgbClr val="FFFFFF"/>
                </a:solidFill>
                <a:latin typeface="CiscoSansTT"/>
                <a:ea typeface="CiscoSansTT"/>
                <a:cs typeface="CiscoSansTT"/>
              </a:defRPr>
            </a:lvl8pPr>
            <a:lvl9pPr algn="l">
              <a:defRPr sz="1725" b="0">
                <a:solidFill>
                  <a:srgbClr val="FFFFFF"/>
                </a:solidFill>
                <a:latin typeface="CiscoSansTT"/>
                <a:ea typeface="CiscoSansTT"/>
                <a:cs typeface="CiscoSansTT"/>
              </a:defRPr>
            </a:lvl9p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Helm values</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contextPropagation:</a:t>
            </a:r>
          </a:p>
          <a:p>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enabled: true</a:t>
            </a:r>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endParaRPr sz="1650"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config.data.extensions.obi.capture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engine: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propagation:</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context_propagation: all</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
        <p:nvSpPr>
          <p:cNvPr id="9" name="configured-backend-scope">
            <a:extLst>
              <a:ext uri="{FF2B5EF4-FFF2-40B4-BE49-F238E27FC236}">
                <a16:creationId xmlns:a16="http://schemas.microsoft.com/office/drawing/2014/main" id="{538F91A9-C95A-4352-91B5-5186067D0630}"/>
              </a:ext>
            </a:extLst>
          </p:cNvPr>
          <p:cNvSpPr>
            <a:spLocks noGrp="1"/>
          </p:cNvSpPr>
          <p:nvPr/>
        </p:nvSpPr>
        <p:spPr>
          <a:xfrm>
            <a:off x="666750" y="5619750"/>
            <a:ext cx="10858500" cy="4381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Backend selection does not prove an attachment. Inspect the running node.</a:t>
            </a:r>
          </a:p>
        </p:txBody>
      </p:sp>
    </p:spTree>
    <p:extLst>
      <p:ext uri="{BB962C8B-B14F-4D97-AF65-F5344CB8AC3E}">
        <p14:creationId xmlns:p14="http://schemas.microsoft.com/office/powerpoint/2010/main" val="1720076919"/>
      </p:ext>
    </p:extLst>
  </p:cSld>
  <p:clrMapOvr>
    <a:masterClrMapping/>
  </p:clrMapOvr>
  <p:transition advClick="1"/>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7976" lnSpcReduction="10000"/>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7976" lnSpcReduction="10000"/>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advClick="1"/>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advClick="1"/>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advClick="1"/>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481</TotalTime>
  <Words>9123</Words>
  <Application>Microsoft Macintosh PowerPoint</Application>
  <DocSecurity>0</DocSecurity>
  <PresentationFormat>Widescreen</PresentationFormat>
  <Paragraphs>817</Paragraphs>
  <Slides>38</Slides>
  <Notes>38</Notes>
  <HiddenSlides>3</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CiscoSansTT</vt:lpstr>
      <vt:lpstr>CiscoSansTT Medium</vt:lpstr>
      <vt:lpstr>Calibri</vt:lpstr>
      <vt:lpstr>Arial</vt:lpstr>
      <vt:lpstr>Cisco Light 05-21-2025</vt:lpstr>
      <vt:lpstr>Two eBPF Systems, One Kubernetes Node</vt:lpstr>
      <vt:lpstr>PowerPoint Presentation</vt:lpstr>
      <vt:lpstr>PowerPoint Presentation</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PowerPoint Presentation</vt:lpstr>
      <vt:lpstr>Appendix</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14</cp:revision>
  <dcterms:created xsi:type="dcterms:W3CDTF">2026-09-27T17:17:35Z</dcterms:created>
  <dcterms:modified xsi:type="dcterms:W3CDTF">2026-10-31T10:36:34Z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