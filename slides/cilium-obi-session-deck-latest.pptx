
<file path=[Content_Types].xml><?xml version="1.0" encoding="utf-8"?>
<Types xmlns="http://schemas.openxmlformats.org/package/2006/content-types">
  <Default Extension="fntdata" ContentType="application/x-fontdata"/>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8"/>
  </p:notesMasterIdLst>
  <p:sldIdLst>
    <p:sldId id="256" r:id="rId2"/>
    <p:sldId id="257" r:id="rId3"/>
    <p:sldId id="258" r:id="rId4"/>
    <p:sldId id="259" r:id="rId5"/>
    <p:sldId id="277"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9144000"/>
  <p:embeddedFontLst>
    <p:embeddedFont>
      <p:font typeface="CiscoSansTT" panose="020B0503020201020303" pitchFamily="34" charset="0"/>
      <p:regular r:id="rId39"/>
      <p:bold r:id="rId40"/>
      <p:italic r:id="rId41"/>
      <p:boldItalic r:id="rId42"/>
    </p:embeddedFont>
    <p:embeddedFont>
      <p:font typeface="CiscoSansTT Medium" panose="020B0503020201020303" pitchFamily="34" charset="0"/>
      <p:regular r:id="rId43"/>
      <p:italic r:id="rId44"/>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useTimings="0" loop="0" showNarration="1">
    <p:present/>
    <p:sldAll/>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6"/>
    <p:restoredTop sz="79177"/>
  </p:normalViewPr>
  <p:slideViewPr>
    <p:cSldViewPr snapToGrid="0">
      <p:cViewPr varScale="1">
        <p:scale>
          <a:sx n="177" d="100"/>
          <a:sy n="177" d="100"/>
        </p:scale>
        <p:origin x="185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dk1" tx1="lt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1 minute</a:t>
            </a:r>
          </a:p>
          <a:p>
            <a:endParaRPr dirty="0"/>
          </a:p>
          <a:p>
            <a:r>
              <a:rPr dirty="0"/>
              <a:t>Open with the operator question: We already run Cilium. Can we add zero-code application telemetry without changing network behavior? Set the promise: attachment order, signal boundaries, and measured operational cost.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45 seconds</a:t>
            </a:r>
          </a:p>
          <a:p>
            <a:endParaRPr dirty="0"/>
          </a:p>
          <a:p>
            <a:r>
              <a:rPr dirty="0"/>
              <a:t>First introduce OBI for attendees who have not used it. Then assign application evidence to OBI and network and policy evidence to Cilium and Hubble. The following sections cover coexistence, attachment order, the live demo, measured overhead, and rollout gates. The appendix holds version-specific configuration and troubleshooting details.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OBI stands for OpenTelemetry eBPF Instrumentation. It is a zero-code way to observe supported application requests. In this demo, an OBI DaemonSet runs on the Kubernetes worker nodes. It uses eBPF to observe application behavior from outside the application process, so the demo services do not need an SDK or source-code edits. Zero-code does not mean zero setup: OBI still needs the right node privileges, kernel support, and export configuration.</a:t>
            </a:r>
          </a:p>
          <a:p>
            <a:endParaRPr/>
          </a:p>
          <a:p>
            <a:r>
              <a:t>Explain the output terms. A span records one operation, such as an HTTP server request or a client call to another service. A trace groups related spans into a request path. OBI also emits RED metrics: request rate, errors, and duration. Those signals answer application questions such as which route is slow, which service returned an error, and where the request spent time. Coverage depends on the language, library, and protocol OBI supports. Do not imply that it sees every operation in every application.</a:t>
            </a:r>
          </a:p>
          <a:p>
            <a:endParaRPr/>
          </a:p>
          <a:p>
            <a:r>
              <a:t>Explain the diagram: the application still sends requests to other applications. The arrow to OBI represents observation, not an application call to the agent. OBI creates telemetry and exports it. The OpenTelemetry icon identifies the parent project, and the OBI label identifies this agent.</a:t>
            </a:r>
          </a:p>
          <a:p>
            <a:endParaRPr/>
          </a:p>
          <a:p>
            <a:r>
              <a:t>Transition: now compare these application signals with the networking and policy evidence from Cilium and Hubble.</a:t>
            </a:r>
          </a:p>
          <a:p>
            <a:endParaRPr/>
          </a:p>
          <a:p>
            <a:r>
              <a:t>Sources:</a:t>
            </a:r>
          </a:p>
          <a:p>
            <a:r>
              <a:t>- https://opentelemetry.io/docs/zero-code/obi/</a:t>
            </a:r>
          </a:p>
          <a:p>
            <a:r>
              <a:t>- https://opentelemetry.io/docs/zero-code/obi/getting-started/</a:t>
            </a:r>
          </a:p>
          <a:p>
            <a:endParaRPr/>
          </a:p>
          <a:p>
            <a:r>
              <a:t>Documentation and source code:</a:t>
            </a:r>
          </a:p>
          <a:p>
            <a:r>
              <a:t>- https://opentelemetry.io/docs/zero-code/obi/</a:t>
            </a:r>
          </a:p>
          <a:p>
            <a:r>
              <a:t>- https://github.com/open-telemetry/opentelemetry-ebpf-instrumentation</a:t>
            </a:r>
          </a:p>
          <a:p>
            <a:endParaRPr/>
          </a:p>
          <a:p>
            <a:r>
              <a:t>OpenTelemetry icon source:</a:t>
            </a:r>
          </a:p>
          <a:p>
            <a:r>
              <a:t>- https://github.com/cncf/artwork/blob/main/projects/opentelemetry/icon/color/opentelemetry-icon-color.svg</a:t>
            </a:r>
          </a:p>
          <a:p>
            <a:r>
              <a:t>- https://github.com/cncf/artwork/blob/main/LICENSE.md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This slide divides the operational questions. OBI owns application-request evidence in this demo: route, status, latency, spans, and RED metrics. Cilium connects workloads and enforces network policy. Hubble, Cilium's observability layer, shows flows between workload identities, direction, ports, verdicts, and drop reasons. A Hubble flow and an OBI span are different records. Do not imply a one-to-one event match or a shared trace ID by default.</a:t>
            </a:r>
          </a:p>
          <a:p>
            <a:endParaRPr/>
          </a:p>
          <a:p>
            <a:r>
              <a:t>For a practical correlation, choose a bounded time window and compare source and destination workloads, direction, and port. Use OBI to locate the slow or failed request, then use Hubble to check the corresponding network path and policy decision. Hubble can expose optional HTTP information when the relevant L7 visibility is enabled. OBI also offers optional network metrics. The ownership split here is a deliberate choice for the demo, not a claim that either project has only one type of telemetry.</a:t>
            </a:r>
          </a:p>
          <a:p>
            <a:endParaRPr/>
          </a:p>
          <a:p>
            <a:r>
              <a:t>Transition: both products use eBPF, so the next section examines what happens when they attach on the same node.</a:t>
            </a:r>
          </a:p>
          <a:p>
            <a:endParaRPr/>
          </a:p>
          <a:p>
            <a:r>
              <a:t>Sources:</a:t>
            </a:r>
          </a:p>
          <a:p>
            <a:r>
              <a:t>- https://opentelemetry.io/docs/zero-code/obi/</a:t>
            </a:r>
          </a:p>
          <a:p>
            <a:r>
              <a:t>- https://docs.cilium.io/en/stable/overview/intro/</a:t>
            </a:r>
          </a:p>
          <a:p>
            <a:r>
              <a:t>- https://docs.cilium.io/en/stable/observability/hubble/</a:t>
            </a:r>
          </a:p>
          <a:p>
            <a:r>
              <a:t>- https://docs.cilium.io/en/stable/observability/visibility/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OBI has an optional network collector as well as application instrumentation. It counts bytes and packets between endpoints. Kubernetes metadata can identify the source and destination workloads.</a:t>
            </a:r>
          </a:p>
          <a:p xmlns:a="http://schemas.openxmlformats.org/drawingml/2006/main">
            <a:r>
              <a:t/>
            </a:r>
            <a:endParaRPr/>
          </a:p>
          <a:p xmlns:a="http://schemas.openxmlformats.org/drawingml/2006/main">
            <a:r>
              <a:t>Use these metrics to find services that send the most traffic, or to export traffic volume through an OpenTelemetry pipeline.</a:t>
            </a:r>
          </a:p>
          <a:p xmlns:a="http://schemas.openxmlformats.org/drawingml/2006/main">
            <a:r>
              <a:t/>
            </a:r>
            <a:endParaRPr/>
          </a:p>
          <a:p xmlns:a="http://schemas.openxmlformats.org/drawingml/2006/main">
            <a:r>
              <a:t>These network-volume counters do not provide the Cilium policy record that says Policy denied. Hubble and OBI may also count traffic differently because they observe and aggregate it at different points.</a:t>
            </a:r>
          </a:p>
          <a:p xmlns:a="http://schemas.openxmlformats.org/drawingml/2006/main">
            <a:r>
              <a:t/>
            </a:r>
            <a:endParaRPr/>
          </a:p>
          <a:p xmlns:a="http://schemas.openxmlformats.org/drawingml/2006/main">
            <a:r>
              <a:t>When enabling OBI network collection alongside Cilium, choose network.source: socket_filter. Limit labels to the dimensions you need, because many endpoint and port combinations can create many metric series.</a:t>
            </a:r>
          </a:p>
          <a:p xmlns:a="http://schemas.openxmlformats.org/drawingml/2006/main">
            <a:r>
              <a:t/>
            </a:r>
            <a:endParaRPr/>
          </a:p>
          <a:p xmlns:a="http://schemas.openxmlformats.org/drawingml/2006/main">
            <a:r>
              <a:t>Optional network-volume collection is separate from application tracing and TCP trace-context propagation. Disabling the network-volume collector does not disable those application features.</a:t>
            </a:r>
          </a:p>
          <a:p xmlns:a="http://schemas.openxmlformats.org/drawingml/2006/main">
            <a:r>
              <a:t/>
            </a:r>
            <a:endParaRPr/>
          </a:p>
          <a:p xmlns:a="http://schemas.openxmlformats.org/drawingml/2006/main">
            <a:r>
              <a:t>Transition: the next section explains the shared kernel hooks and why attachment order matters.</a:t>
            </a:r>
          </a:p>
          <a:p xmlns:a="http://schemas.openxmlformats.org/drawingml/2006/main">
            <a:r>
              <a:t/>
            </a:r>
            <a:endParaRPr/>
          </a:p>
          <a:p xmlns:a="http://schemas.openxmlformats.org/drawingml/2006/main">
            <a:r>
              <a:t>Sources:</a:t>
            </a:r>
          </a:p>
          <a:p xmlns:a="http://schemas.openxmlformats.org/drawingml/2006/main">
            <a:r>
              <a:t>- https://opentelemetry.io/docs/zero-code/obi/network/</a:t>
            </a:r>
          </a:p>
          <a:p xmlns:a="http://schemas.openxmlformats.org/drawingml/2006/main">
            <a:r>
              <a:t>- https://opentelemetry.io/docs/zero-code/obi/network/config/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The coexistence problem.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Ask the audience: What changes when both eBPF agents share a Kubernetes node? Cilium already handles networking and network policy. OBI adds zero-code application telemetry. Both may be healthy DaemonSets while their attachments change packet processing order or leave gaps in the evidence.</a:t>
            </a:r>
          </a:p>
          <a:p>
            <a:endParaRPr/>
          </a:p>
          <a:p>
            <a:r>
              <a:t>Walk through the three checks on the slide. First, confirm packets still take the intended path. Second, verify that OBI produces application traces and metrics while Hubble reports the corresponding flows and policy verdicts. Third, measure incremental CPU, memory, and telemetry volume. The point is to verify coexistence, not merely that both agents started. Transition: let us look at the hooks they share.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1 minute</a:t>
            </a:r>
          </a:p>
          <a:p>
            <a:endParaRPr/>
          </a:p>
          <a:p>
            <a:r>
              <a:t>Give the audience a map before naming kernel program types. An eBPF program is a small program that Linux runs at a particular checkpoint, often called a hook. We only need one shared checkpoint for this talk.</a:t>
            </a:r>
          </a:p>
          <a:p>
            <a:endParaRPr/>
          </a:p>
          <a:p>
            <a:r>
              <a:t>Walk down the four rows. OBI observes supported application requests and creates OpenTelemetry spans. A veth pair is a virtual link between the pod network namespace and the node. Cilium handles pod networking and policy in the kernel path. Traffic control, abbreviated TC, is a kernel attachment point on that network path. When OBI uses TCP trace-context propagation, OBI and Cilium can both attach TC programs on the host-side veth.</a:t>
            </a:r>
          </a:p>
          <a:p>
            <a:endParaRPr/>
          </a:p>
          <a:p>
            <a:r>
              <a:t>The fourth row is a checkpoint within kernel networking, not a separate network layer. Do not explain uprobes, kprobes, XDP, cgroup hooks, or BPF_PROG_TYPE_SCHED_CLS here. The next slide zooms into the host-side TC hooks and defines ingress and egress. Then we examine attachment order.</a:t>
            </a:r>
          </a:p>
          <a:p>
            <a:endParaRPr/>
          </a:p>
          <a:p>
            <a:r>
              <a:t>Sources:</a:t>
            </a:r>
          </a:p>
          <a:p>
            <a:r>
              <a:t>- https://opentelemetry.io/docs/zero-code/obi/</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about 2 minutes</a:t>
            </a:r>
          </a:p>
          <a:p>
            <a:endParaRPr dirty="0"/>
          </a:p>
          <a:p>
            <a:r>
              <a:rPr dirty="0"/>
              <a:t>Start with the packet path from the application process to the host-side </a:t>
            </a:r>
            <a:r>
              <a:rPr dirty="0" err="1"/>
              <a:t>veth</a:t>
            </a:r>
            <a:r>
              <a:rPr dirty="0"/>
              <a:t> and network. A </a:t>
            </a:r>
            <a:r>
              <a:rPr dirty="0" err="1"/>
              <a:t>veth</a:t>
            </a:r>
            <a:r>
              <a:rPr dirty="0"/>
              <a:t> pair is the virtual link between pod and node. Focus on the dark panel: the host-side interface has TC ingress and TC egress hooks. Ingress means a packet arrives at that interface; egress means it leaves.</a:t>
            </a:r>
          </a:p>
          <a:p>
            <a:endParaRPr dirty="0"/>
          </a:p>
          <a:p>
            <a:r>
              <a:rPr dirty="0"/>
              <a:t>With OBI TCP context propagation enabled, OBI can attach a traffic-control classifier program to those hooks to carry trace context. Cilium also uses traffic-control classifier programs for the </a:t>
            </a:r>
            <a:r>
              <a:rPr dirty="0" err="1"/>
              <a:t>datapath</a:t>
            </a:r>
            <a:r>
              <a:rPr dirty="0"/>
              <a:t>. The exact kernel program type is BPF_PROG_TYPE_SCHED_CLS, but keep that name in the notes unless someone asks. The important idea is that both programs can share an ordered chain at the same hook. Neither agent owns TC exclusively.</a:t>
            </a:r>
          </a:p>
          <a:p>
            <a:endParaRPr dirty="0"/>
          </a:p>
          <a:p>
            <a:r>
              <a:rPr dirty="0"/>
              <a:t>This overlap is conditional. OBI application telemetry can exist without its TCP propagation programs. Header-only propagation avoids the shared TCP TC attachment, but it does not provide the same TCP-based zero-code trace continuity. Do not imply that every OBI deployment attaches here.</a:t>
            </a:r>
          </a:p>
          <a:p>
            <a:endParaRPr dirty="0"/>
          </a:p>
          <a:p>
            <a:r>
              <a:rPr dirty="0"/>
              <a:t>Transition: the next slide shows why program order matters, followed by TCX and </a:t>
            </a:r>
            <a:r>
              <a:rPr dirty="0" err="1"/>
              <a:t>Netlink</a:t>
            </a:r>
            <a:r>
              <a:rPr dirty="0"/>
              <a:t> fallback.</a:t>
            </a:r>
          </a:p>
          <a:p>
            <a:endParaRPr dirty="0"/>
          </a:p>
          <a:p>
            <a:r>
              <a:rPr dirty="0"/>
              <a:t>Sources:</a:t>
            </a:r>
          </a:p>
          <a:p>
            <a:r>
              <a:rPr dirty="0"/>
              <a:t>- https://</a:t>
            </a:r>
            <a:r>
              <a:rPr dirty="0" err="1"/>
              <a:t>opentelemetry.io</a:t>
            </a:r>
            <a:r>
              <a:rPr dirty="0"/>
              <a:t>/docs/zero-code/obi/cilium-compatibility/</a:t>
            </a:r>
          </a:p>
          <a:p>
            <a:r>
              <a:rPr dirty="0"/>
              <a:t>- https://</a:t>
            </a:r>
            <a:r>
              <a:rPr dirty="0" err="1"/>
              <a:t>opentelemetry.io</a:t>
            </a:r>
            <a:r>
              <a:rPr dirty="0"/>
              <a:t>/docs/zero-code/obi/configure/metrics-traces-attributes/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Read this as two agents in sequence. OBI observes the packet and, when enabled, carries trace context. Cilium then handles networking and policy.</a:t>
            </a:r>
          </a:p>
          <a:p>
            <a:endParaRPr/>
          </a:p>
          <a:p>
            <a:r>
              <a:t>The old diagram separated route + enforce from forward or stop. That made the result look like a third independent program. Both are part of Cilium: it applies routing and policy, then forwards, redirects, or drops the packet according to that logic.</a:t>
            </a:r>
          </a:p>
          <a:p>
            <a:endParaRPr/>
          </a:p>
          <a:p>
            <a:r>
              <a:t>Why order matters: a TC program can change the packet or return an action that ends processing of this chain. If Cilium redirects or drops it before OBI runs, OBI may miss the observation needed at this hook. This is why the compatibility configuration puts OBI before Cilium.</a:t>
            </a:r>
          </a:p>
          <a:p>
            <a:endParaRPr/>
          </a:p>
          <a:p>
            <a:r>
              <a:t>This is an illustrative view of the shared hook. Each product can attach other programs elsewhere. The next slides explain how TCX or legacy TC priority establishes the required order.</a:t>
            </a:r>
          </a:p>
          <a:p>
            <a:endParaRPr/>
          </a:p>
          <a:p>
            <a:r>
              <a:t>Sources:</a:t>
            </a:r>
          </a:p>
          <a:p>
            <a:r>
              <a:t>- https://opentelemetry.io/docs/zero-code/obi/cilium-compatibility/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Attachment order.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TC is the Linux traffic-control subsystem that provides the packet checkpoints. TCX is the newer API for attaching eBPF programs at those checkpoints. Here, agents request first or last positions instead of coordinating legacy filter-priority numbers.</a:t>
            </a:r>
          </a:p>
          <a:p xmlns:a="http://schemas.openxmlformats.org/drawingml/2006/main">
            <a:r>
              <a:t/>
            </a:r>
            <a:endParaRPr/>
          </a:p>
          <a:p xmlns:a="http://schemas.openxmlformats.org/drawingml/2006/main">
            <a:r>
              <a:t>TCX is a newer kernel mechanism for attaching eBPF programs to a network interface. It keeps several programs in an ordered list. In our two-agent setup, OBI asks to run at the beginning and Cilium asks to run at the end. OBI therefore gets a chance to observe a packet before Cilium routes, redirects, or drops it.</a:t>
            </a:r>
          </a:p>
          <a:p xmlns:a="http://schemas.openxmlformats.org/drawingml/2006/main">
            <a:r>
              <a:t/>
            </a:r>
            <a:endParaRPr/>
          </a:p>
          <a:p xmlns:a="http://schemas.openxmlformats.org/drawingml/2006/main">
            <a:r>
              <a:t>First bullet: both programs can share the same hook, and TCX manages their relative order. You do not need to coordinate the older TC filter priority numbers for this TCX path.</a:t>
            </a:r>
          </a:p>
          <a:p xmlns:a="http://schemas.openxmlformats.org/drawingml/2006/main">
            <a:r>
              <a:t/>
            </a:r>
            <a:endParaRPr/>
          </a:p>
          <a:p xmlns:a="http://schemas.openxmlformats.org/drawingml/2006/main">
            <a:r>
              <a:t>Second bullet: check what the agents actually use. A kernel version is only a clue, because distributions can backport kernel features. Check startup logs and the actual attachments on the running node.</a:t>
            </a:r>
          </a:p>
          <a:p xmlns:a="http://schemas.openxmlformats.org/drawingml/2006/main">
            <a:r>
              <a:t/>
            </a:r>
            <a:endParaRPr/>
          </a:p>
          <a:p xmlns:a="http://schemas.openxmlformats.org/drawingml/2006/main">
            <a:r>
              <a:t>Third bullet: correct ordering is a starting point. Send a known request, confirm its result, and check the expected OBI span and Hubble flow. A program can still change a packet or end processing of the list, so attachment support alone does not prove every workload works.</a:t>
            </a:r>
          </a:p>
          <a:p xmlns:a="http://schemas.openxmlformats.org/drawingml/2006/main">
            <a:r>
              <a:t/>
            </a:r>
            <a:endParaRPr/>
          </a:p>
          <a:p xmlns:a="http://schemas.openxmlformats.org/drawingml/2006/main">
            <a:r>
              <a:t>Technical detail for questions: the pinned OBI requests link.Head(); the pinned Cilium requests link.Tail().</a:t>
            </a:r>
          </a:p>
          <a:p xmlns:a="http://schemas.openxmlformats.org/drawingml/2006/main">
            <a:r>
              <a:t/>
            </a:r>
          </a:p>
          <a:p xmlns:a="http://schemas.openxmlformats.org/drawingml/2006/main">
            <a:r>
              <a:t>Sources:</a:t>
            </a:r>
          </a:p>
          <a:p xmlns:a="http://schemas.openxmlformats.org/drawingml/2006/main">
            <a:r>
              <a:t>- https://opentelemetry.io/docs/zero-code/obi/cilium-compatibility/</a:t>
            </a:r>
          </a:p>
          <a:p xmlns:a="http://schemas.openxmlformats.org/drawingml/2006/main">
            <a:r>
              <a:t>- https://github.com/open-telemetry/opentelemetry-ebpf-instrumentation/blob/v0.13.0/pkg/internal/ebpf/tcmanager/tcxmanager.go</a:t>
            </a:r>
          </a:p>
          <a:p xmlns:a="http://schemas.openxmlformats.org/drawingml/2006/main">
            <a:r>
              <a:t>- https://github.com/cilium/cilium/blob/v1.20.2/pkg/datapath/loader/tcx.go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Legacy TC here means the older attachment method through Netlink. The packet checkpoint is still TC. Order comes from numeric priorities: priority 1 runs before priority 2. TCX achieves relative ordering through first and last positions instead.</a:t>
            </a:r>
          </a:p>
          <a:p xmlns:a="http://schemas.openxmlformats.org/drawingml/2006/main">
            <a:r>
              <a:t/>
            </a:r>
            <a:endParaRPr/>
          </a:p>
          <a:p xmlns:a="http://schemas.openxmlformats.org/drawingml/2006/main">
            <a:r>
              <a:t>On legacy Netlink TC, lower numeric priority runs first. In the recorded run, OBI v0.13.0 had optional network-flow collection enabled with network.source: tc. When Cilium also used priority 1, OBI's compatibility guard stopped OBI startup and logged that Cilium may clobber OBI. Do not generalize that result to app-only OBI: in this pinned version, the app-only run remained ready at Cilium priority 1. The guard is called when the optional TC network-flow feature is enabled.</a:t>
            </a:r>
          </a:p>
          <a:p xmlns:a="http://schemas.openxmlformats.org/drawingml/2006/main">
            <a:r>
              <a:t/>
            </a:r>
            <a:endParaRPr/>
          </a:p>
          <a:p xmlns:a="http://schemas.openxmlformats.org/drawingml/2006/main">
            <a:r>
              <a:t>In a fresh safe cluster, Cilium used bpf-filter-priority 2 and OBI used priority 1. The node's tc filter output showed OBI's ingress flow parser at pref 1 and Cilium's cil_from_container program at pref 2. OBI was ready and emitted an HTTP span for the nginx request. The next slide replays these actual outputs.</a:t>
            </a:r>
          </a:p>
          <a:p xmlns:a="http://schemas.openxmlformats.org/drawingml/2006/main">
            <a:r>
              <a:t/>
            </a:r>
            <a:endParaRPr/>
          </a:p>
          <a:p xmlns:a="http://schemas.openxmlformats.org/drawingml/2006/main">
            <a:r>
              <a:t>Always pin versions, render configuration, and inspect the live attachment order on a Linux node. This experiment does not measure packet overhead or prove every application path.</a:t>
            </a:r>
          </a:p>
          <a:p xmlns:a="http://schemas.openxmlformats.org/drawingml/2006/main">
            <a:r>
              <a:t/>
            </a:r>
          </a:p>
          <a:p xmlns:a="http://schemas.openxmlformats.org/drawingml/2006/main">
            <a:r>
              <a:t>Sources:</a:t>
            </a:r>
          </a:p>
          <a:p xmlns:a="http://schemas.openxmlformats.org/drawingml/2006/main">
            <a:r>
              <a:t>- https://opentelemetry.io/docs/zero-code/obi/cilium-compatibility/</a:t>
            </a:r>
          </a:p>
          <a:p xmlns:a="http://schemas.openxmlformats.org/drawingml/2006/main">
            <a:r>
              <a:t>- https://github.com/open-telemetry/opentelemetry-ebpf-instrumentation/blob/v0.13.0/pkg/obi/config.go</a:t>
            </a:r>
          </a:p>
          <a:p xmlns:a="http://schemas.openxmlformats.org/drawingml/2006/main">
            <a:r>
              <a:t>- https://github.com/open-telemetry/opentelemetry-ebpf-instrumentation/blob/v0.13.0/pkg/ebpf/tcmanager/cilium_support.go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about 2 minutes. Play the video.</a:t>
            </a:r>
          </a:p>
          <a:p>
            <a:endParaRPr dirty="0"/>
          </a:p>
          <a:p>
            <a:r>
              <a:rPr dirty="0"/>
              <a:t>This compares two separate test clusters. Both use Cilium 1.20.2 and OBI v0.13.0. TCX is off, so the older TC mechanism uses priority numbers. A lower number runs earlier.</a:t>
            </a:r>
          </a:p>
          <a:p>
            <a:endParaRPr dirty="0"/>
          </a:p>
          <a:p>
            <a:r>
              <a:rPr dirty="0"/>
              <a:t>LEFT: Cilium uses priority 1. OBI detects that conflict and stops itself. That is why OBI shows 0/1 ready. The nginx request still returns HTTP 200: the application network continues to work while OBI is unavailable.</a:t>
            </a:r>
          </a:p>
          <a:p>
            <a:endParaRPr dirty="0"/>
          </a:p>
          <a:p>
            <a:r>
              <a:rPr dirty="0"/>
              <a:t>RIGHT: a fresh cluster uses Cilium priority 2. OBI can install its filter at priority 1, ahead of Cilium. OBI shows 1/1 ready and prints an HTTP span. The nginx request also returns HTTP 200.</a:t>
            </a:r>
          </a:p>
          <a:p>
            <a:endParaRPr dirty="0"/>
          </a:p>
          <a:p>
            <a:r>
              <a:rPr dirty="0"/>
              <a:t>What this teaches: check application health AND observability health. A successful request does not tell us that OBI is running or producing data.</a:t>
            </a:r>
          </a:p>
          <a:p>
            <a:endParaRPr dirty="0"/>
          </a:p>
          <a:p>
            <a:r>
              <a:rPr dirty="0"/>
              <a:t>Scope: this recording enables OBI's optional </a:t>
            </a:r>
            <a:r>
              <a:rPr dirty="0" err="1"/>
              <a:t>network.source</a:t>
            </a:r>
            <a:r>
              <a:rPr dirty="0"/>
              <a:t>: </a:t>
            </a:r>
            <a:r>
              <a:rPr dirty="0" err="1"/>
              <a:t>tc</a:t>
            </a:r>
            <a:r>
              <a:rPr dirty="0"/>
              <a:t> mode. Our application-only OBI configuration did not trigger this startup guard. The two sides are saved outputs from separate runs, replayed for the talk.</a:t>
            </a:r>
          </a:p>
          <a:p>
            <a:endParaRPr dirty="0"/>
          </a:p>
          <a:p>
            <a:r>
              <a:rPr dirty="0"/>
              <a:t>Sources:</a:t>
            </a:r>
          </a:p>
          <a:p>
            <a:r>
              <a:rPr dirty="0"/>
              <a:t>- https://</a:t>
            </a:r>
            <a:r>
              <a:rPr dirty="0" err="1"/>
              <a:t>github.com</a:t>
            </a:r>
            <a:r>
              <a:rPr dirty="0"/>
              <a:t>/ajimenez1503/cilium-obi-demo/blob/main/demo/legacy-priority-</a:t>
            </a:r>
            <a:r>
              <a:rPr dirty="0" err="1"/>
              <a:t>recording.md</a:t>
            </a:r>
            <a:endParaRPr dirty="0"/>
          </a:p>
          <a:p>
            <a:r>
              <a:rPr dirty="0"/>
              <a:t>- https://</a:t>
            </a:r>
            <a:r>
              <a:rPr dirty="0" err="1"/>
              <a:t>github.com</a:t>
            </a:r>
            <a:r>
              <a:rPr dirty="0"/>
              <a:t>/ajimenez1503/cilium-obi-demo/tree/main/evidence/legacy-priority-2026-09-27</a:t>
            </a:r>
          </a:p>
          <a:p>
            <a:r>
              <a:rPr dirty="0"/>
              <a:t>- https://</a:t>
            </a:r>
            <a:r>
              <a:rPr dirty="0" err="1"/>
              <a:t>opentelemetry.io</a:t>
            </a:r>
            <a:r>
              <a:rPr dirty="0"/>
              <a:t>/docs/zero-code/obi/cilium-compatibility/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runnable demo repository before showing the environment. The repository contains the kind setup, pinned Cilium and OBI values, Grafana dashboards, verification scripts, recordings, benchmark evidence, and the latest presentation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3 minutes</a:t>
            </a:r>
          </a:p>
          <a:p xmlns:a="http://schemas.openxmlformats.org/drawingml/2006/main">
            <a:r>
              <a:t/>
            </a:r>
            <a:endParaRPr/>
          </a:p>
          <a:p xmlns:a="http://schemas.openxmlformats.org/drawingml/2006/main">
            <a:r>
              <a:t>Start with the upper diagram. Follow the blue rollout route: edge-nginx calls v2, then v2 calls v1. The orange route is an alternative direct call from edge-nginx to v1. Only the orange direct route is exercised in the denial demo. These are three NGINX processes simulating application services. edge-nginx is the entry proxy. recommendations-v1 is the legacy service. recommendations-v2 represents a newer tier that still delegates some requests to v1. The version names make that migration scenario visible.</a:t>
            </a:r>
          </a:p>
          <a:p xmlns:a="http://schemas.openxmlformats.org/drawingml/2006/main">
            <a:r>
              <a:t/>
            </a:r>
            <a:endParaRPr/>
          </a:p>
          <a:p xmlns:a="http://schemas.openxmlformats.org/drawingml/2006/main">
            <a:r>
              <a:t>There are two routes used in the demos. A direct v1 URL sends the request from edge-nginx straight to v1. A rollout URL sends it from edge-nginx to v2 and then from v2 to v1. NGINX chooses the route from the requested URL. One request does not fan out to both versions. The configuration also has a v2-only example, where v2 returns a redirect itself.</a:t>
            </a:r>
          </a:p>
          <a:p xmlns:a="http://schemas.openxmlformats.org/drawingml/2006/main">
            <a:r>
              <a:t/>
            </a:r>
            <a:endParaRPr/>
          </a:p>
          <a:p xmlns:a="http://schemas.openxmlformats.org/drawingml/2006/main">
            <a:r>
              <a:t>Both versions, plus edge-nginx, are selected by the OBI discovery configuration. OBI watches their supported operations and creates spans and RED metrics. The applications do not call OBI as an application dependency.</a:t>
            </a:r>
          </a:p>
          <a:p xmlns:a="http://schemas.openxmlformats.org/drawingml/2006/main">
            <a:r>
              <a:t/>
            </a:r>
            <a:endParaRPr/>
          </a:p>
          <a:p xmlns:a="http://schemas.openxmlformats.org/drawingml/2006/main">
            <a:r>
              <a:t>Cilium and Hubble also cover traffic for all three services. Hubble is not connected only to v1. The diagram's lower arrows represent telemetry exports, not application calls.</a:t>
            </a:r>
          </a:p>
          <a:p xmlns:a="http://schemas.openxmlformats.org/drawingml/2006/main">
            <a:r>
              <a:t/>
            </a:r>
            <a:endParaRPr/>
          </a:p>
          <a:p xmlns:a="http://schemas.openxmlformats.org/drawingml/2006/main">
            <a:r>
              <a:t>OBI exports application traces and metrics to the local LGTM backend. Tempo stores traces and the metric backend provides the dashboard data. A Collector scrapes the Cilium and Hubble metric endpoints and exports those metrics to the same LGTM backend. Hubble Relay, the CLI, and Hubble UI expose individual flow records and verdicts.</a:t>
            </a:r>
          </a:p>
          <a:p xmlns:a="http://schemas.openxmlformats.org/drawingml/2006/main">
            <a:r>
              <a:t/>
            </a:r>
            <a:endParaRPr/>
          </a:p>
          <a:p xmlns:a="http://schemas.openxmlformats.org/drawingml/2006/main">
            <a:r>
              <a:t>For the denial demo, the policy allows v2 to call v1 on port 8081. It blocks edge-nginx from calling v1 directly. That is why the orange direct route is the one we exercise during the failure.</a:t>
            </a:r>
          </a:p>
          <a:p xmlns:a="http://schemas.openxmlformats.org/drawingml/2006/main">
            <a:r>
              <a:t/>
            </a:r>
            <a:endParaRPr/>
          </a:p>
          <a:p xmlns:a="http://schemas.openxmlformats.org/drawingml/2006/main">
            <a:r>
              <a:t>Sources:</a:t>
            </a:r>
          </a:p>
          <a:p xmlns:a="http://schemas.openxmlformats.org/drawingml/2006/main">
            <a:r>
              <a:t>- https://github.com/ajimenez1503/cilium-obi-demo/blob/main/demo/obi-values.yaml</a:t>
            </a:r>
            <a:endParaRPr/>
          </a:p>
          <a:p xmlns:a="http://schemas.openxmlformats.org/drawingml/2006/main">
            <a:r>
              <a:t>- https://github.com/ajimenez1503/cilium-obi-demo/blob/main/demo/policy-deny.yaml</a:t>
            </a:r>
            <a:endParaRPr/>
          </a:p>
          <a:p xmlns:a="http://schemas.openxmlformats.org/drawingml/2006/main">
            <a:r>
              <a:t>- https://github.com/open-telemetry/opentelemetry-ebpf-instrumentation/tree/main/examples/nginx</a:t>
            </a:r>
          </a:p>
          <a:p xmlns:a="http://schemas.openxmlformats.org/drawingml/2006/main">
            <a:r>
              <a:t>- https://docs.cilium.io/en/stable/observability/metrics/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2 minutes</a:t>
            </a:r>
          </a:p>
          <a:p>
            <a:endParaRPr dirty="0"/>
          </a:p>
          <a:p>
            <a:r>
              <a:rPr dirty="0"/>
              <a:t>Click the video to play. This is a fresh run of demo/</a:t>
            </a:r>
            <a:r>
              <a:rPr dirty="0" err="1"/>
              <a:t>verify.sh</a:t>
            </a:r>
            <a:r>
              <a:rPr dirty="0"/>
              <a:t> against the local kind cluster. Pause on four checks: Cilium reports TCX, the cilium-config readback says enable-</a:t>
            </a:r>
            <a:r>
              <a:rPr dirty="0" err="1"/>
              <a:t>tcx</a:t>
            </a:r>
            <a:r>
              <a:rPr dirty="0"/>
              <a:t>=true, OBI v0.13.0 is ready on both workers, and the startup logs contain no attachment, capability, </a:t>
            </a:r>
            <a:r>
              <a:rPr dirty="0" err="1"/>
              <a:t>tracefs</a:t>
            </a:r>
            <a:r>
              <a:rPr dirty="0"/>
              <a:t>, or context-propagation errors. The point is that a Running </a:t>
            </a:r>
            <a:r>
              <a:rPr dirty="0" err="1"/>
              <a:t>DaemonSet</a:t>
            </a:r>
            <a:r>
              <a:rPr dirty="0"/>
              <a:t> is not enough. Verify the actual attachment decision before trusting either telemetry stream.</a:t>
            </a:r>
          </a:p>
          <a:p>
            <a:endParaRPr dirty="0"/>
          </a:p>
          <a:p>
            <a:r>
              <a:rPr dirty="0"/>
              <a:t>Sources:</a:t>
            </a:r>
          </a:p>
          <a:p>
            <a:r>
              <a:rPr dirty="0"/>
              <a:t>- https://</a:t>
            </a:r>
            <a:r>
              <a:rPr dirty="0" err="1"/>
              <a:t>opentelemetry.io</a:t>
            </a:r>
            <a:r>
              <a:rPr dirty="0"/>
              <a:t>/docs/zero-code/obi/cilium-compatibility/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3 minutes. Click the video to play. The edited clip lasts about 30 seconds.</a:t>
            </a:r>
          </a:p>
          <a:p>
            <a:endParaRPr/>
          </a:p>
          <a:p>
            <a:r>
              <a:t>00:00 to 00:08: upper Grafana view. Point to OBI request rate, errors, and latency, then to the network flow and verdict panels. These dashboard totals cover the selected workload and time window, not one isolated request.</a:t>
            </a:r>
          </a:p>
          <a:p>
            <a:endParaRPr/>
          </a:p>
          <a:p>
            <a:r>
              <a:t>00:08 to 00:20: lower Grafana view. There is extra reading time here. Explain the service edges and the network metrics below them. Some frames hold so you can explain the panels.</a:t>
            </a:r>
          </a:p>
          <a:p>
            <a:endParaRPr/>
          </a:p>
          <a:p>
            <a:r>
              <a:t>00:20 to the end: Hubble UI, at its original speed. Follow edge-nginx to recommendations-v2 and recommendations-v2 to recommendations-v1. Point to workload identity, direction, ports, and FORWARDED.</a:t>
            </a:r>
          </a:p>
          <a:p>
            <a:endParaRPr/>
          </a:p>
          <a:p>
            <a:r>
              <a:t>Connect the views by the same time window, namespace, source and destination workload, direction, and port. Grafana contains aggregated Cilium/Hubble metrics. Individual Hubble flow records remain in Relay and Hubble UI. A matching window and workload give investigative context; they do not prove a unique flow-to-trace-ID join.</a:t>
            </a:r>
          </a:p>
          <a:p>
            <a:endParaRPr/>
          </a:p>
          <a:p>
            <a:r>
              <a:t>Sources:</a:t>
            </a:r>
          </a:p>
          <a:p>
            <a:r>
              <a:t>- https://docs.cilium.io/en/stable/observability/hubble/</a:t>
            </a:r>
          </a:p>
          <a:p>
            <a:r>
              <a:t>- https://opentelemetry.io/docs/zero-code/obi/</a:t>
            </a:r>
          </a:p>
          <a:p>
            <a:r>
              <a:t>- https://github.com/ajimenez1503/cilium-obi-demo/blob/main/slides/recordings/presentation-edits.json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capture from the running local kind cluster on 26 September 2026. Start at the top: OBI reports request rate, 5xx rate, and server p95. Then move to the lower panels: the same time window contains OBI server requests, Hubble flows, Cilium forwarded packets, and flow verdicts. The dashboard aligns the signals by time and workload. It does not claim a one-to-one event match. Treat these values as live demo evidence, not benchmark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Fresh Tempo capture from the running local kind cluster on 26 September 2026. The trace begins at edge-nginx, continues to recommendations-v2, and reaches recommendations-v1. Point out the normalized route, HTTP 200 result, three participating services, and the nested client and server spans. OBI generated this request path without application code changes. Compare it with Demo 2's Hubble view: Tempo explains request semantics and latency, while Hubble explains workload identity, direction, ports, and verdicts.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3 minutes. The video on the left is terminal-only and lasts about 20 seconds.</a:t>
            </a:r>
          </a:p>
          <a:p>
            <a:endParaRPr/>
          </a:p>
          <a:p>
            <a:r>
              <a:t>The policy permits recommendations-v2 to call recommendations-v1 on TCP port 8081. It blocks direct calls from edge-nginx to v1. We send that direct request, and curl times out with HTTP 000.</a:t>
            </a:r>
          </a:p>
          <a:p>
            <a:endParaRPr/>
          </a:p>
          <a:p>
            <a:r>
              <a:t>At about 00:18, point to the Hubble output in the terminal. It names edge-nginx and recommendations-v1:8081, then says INGRESS DENIED and Policy denied DROPPED. That is the exact evidence of the policy decision. The clip ends on this terminal evidence and does not switch to Grafana.</a:t>
            </a:r>
          </a:p>
          <a:p>
            <a:endParaRPr/>
          </a:p>
          <a:p>
            <a:r>
              <a:t>The separate Grafana still on the right shows an aggregate drop spike from the original recording. Its Policy denied / DROPPED label was added for explanation and is marked Illustrative label. It is not a label captured from Grafana. Use the graph to show an increase in drops and the Hubble record to confirm the policy reason.</a:t>
            </a:r>
          </a:p>
          <a:p>
            <a:endParaRPr/>
          </a:p>
          <a:p>
            <a:r>
              <a:t>OBI is where we would inspect a caller timeout or upstream error, if the relevant span is available. This clip shows curl and Hubble, not a failed OBI span. A blocked request can fail before the destination creates a server span. The recording does not show policy removal or HTTP 200 recovery.</a:t>
            </a:r>
          </a:p>
          <a:p>
            <a:endParaRPr/>
          </a:p>
          <a:p>
            <a:r>
              <a:t>Sources:</a:t>
            </a:r>
          </a:p>
          <a:p>
            <a:r>
              <a:t>- https://github.com/ajimenez1503/cilium-obi-demo/blob/main/demo/policy-deny.yaml</a:t>
            </a:r>
          </a:p>
          <a:p>
            <a:r>
              <a:t>- https://github.com/ajimenez1503/cilium-obi-demo/blob/main/slides/recordings/demo-3-policy-denial.mp4</a:t>
            </a:r>
          </a:p>
          <a:p>
            <a:r>
              <a:t>- https://docs.cilium.io/en/stable/observability/metrics/#hubble-exported-metrics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 to 5 minutes, flexible. This is the optional live playground after the recorded demos. The four rows are clickable in Slide Show mode. All links use localhost on the presenting laptop.</a:t>
            </a:r>
          </a:p>
          <a:p>
            <a:endParaRPr/>
          </a:p>
          <a:p>
            <a:r>
              <a:t>Before presenting, verify the kind cluster and keep these port-forwards open in separate terminals:</a:t>
            </a:r>
          </a:p>
          <a:p>
            <a:r>
              <a:t>kubectl --context kind-obi-cilium-talk -n obi-nginx-example port-forward svc/edge-nginx 8080:8080</a:t>
            </a:r>
          </a:p>
          <a:p>
            <a:r>
              <a:t>kubectl --context kind-obi-cilium-talk -n obi-nginx-example port-forward svc/lgtm 3000:3000</a:t>
            </a:r>
          </a:p>
          <a:p>
            <a:r>
              <a:t>kubectl --context kind-obi-cilium-talk -n kube-system port-forward svc/hubble-ui 12000:80</a:t>
            </a:r>
          </a:p>
          <a:p>
            <a:r>
              <a:t>Import dashboards with ./demo/import-dashboards.sh after Grafana is reachable. Grafana credentials in the demo are admin / admin. Keep the traffic generator running, or run the one-shot nginx traffic generator from README.md against http://127.0.0.1:8080. Use the same recent time window across views.</a:t>
            </a:r>
          </a:p>
          <a:p>
            <a:endParaRPr/>
          </a:p>
          <a:p>
            <a:r>
              <a:t>Click Request metrics: http://localhost:3000/d/cilium-obi-app-network. Show OBI request rate, 5xx rate, and p95 latency beside Hubble flows, verdicts, and Cilium drops. Explain that these are aggregated Prometheus metrics, so the two panels share a time window and workload but do not represent one-to-one events.</a:t>
            </a:r>
          </a:p>
          <a:p>
            <a:endParaRPr/>
          </a:p>
          <a:p>
            <a:r>
              <a:t>Click Pipeline health: http://localhost:3000/d/cilium-obi-platform. Show Cilium forwarding and drops, CPU and memory, Hubble lost events by source, and Collector accepted, exported, refused, or failed telemetry. This view helps distinguish a healthy request path from a healthy telemetry pipeline. Do not use the old 36-versus-1,083 rehearsal counters as a comparison.</a:t>
            </a:r>
          </a:p>
          <a:p>
            <a:endParaRPr/>
          </a:p>
          <a:p>
            <a:r>
              <a:t>Click Tempo traces: http://localhost:3000/explore. Select the Tempo data source, search a recent trace for edge-nginx, and open one that reaches recommendations-v2 and recommendations-v1. Point out the route, status, nested client/server spans, and where latency accumulates. OBI supplies this application request view.</a:t>
            </a:r>
          </a:p>
          <a:p>
            <a:endParaRPr/>
          </a:p>
          <a:p>
            <a:r>
              <a:t>Click Hubble flows: http://localhost:12000/. Filter to namespace obi-nginx-example and the same time window. Follow edge-nginx to recommendations-v2 and recommendations-v2 to recommendations-v1. Inspect source and destination workload, port, and FORWARDED verdict. For a policy denial, show DROPPED and the policy reason. Hubble UI holds per-flow records; Grafana holds aggregated Hubble metrics. Correlate by time, workload, direction, and port rather than claiming a shared trace ID.</a:t>
            </a:r>
          </a:p>
          <a:p>
            <a:endParaRPr/>
          </a:p>
          <a:p>
            <a:r>
              <a:t>If a live view is unavailable, use the recorded demos and the following dashboard and Tempo screenshots. Avoid delaying the talk to repair the cluster on stage.</a:t>
            </a:r>
          </a:p>
          <a:p>
            <a:endParaRPr/>
          </a:p>
          <a:p>
            <a:r>
              <a:t>Sources:</a:t>
            </a:r>
          </a:p>
          <a:p>
            <a:r>
              <a:t>- /Users/antonjim/Documents/Playground/cilium-obi-demo/README.md</a:t>
            </a:r>
          </a:p>
          <a:p>
            <a:r>
              <a:t>- /Users/antonjim/Documents/Playground/cilium-obi-demo/demo/dashboards/application-network.json</a:t>
            </a:r>
          </a:p>
          <a:p>
            <a:r>
              <a:t>- /Users/antonjim/Documents/Playground/cilium-obi-demo/demo/dashboards/platform-pipeline.json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Measure the combined system.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 minutes</a:t>
            </a:r>
          </a:p>
          <a:p>
            <a:endParaRPr/>
          </a:p>
          <a:p>
            <a:r>
              <a:t>This slide defines five Cilium-based scenarios and the controls they share. The next slide reports the local rehearsal results for B and D. A, C, and E have not been measured.</a:t>
            </a:r>
          </a:p>
          <a:p>
            <a:endParaRPr/>
          </a:p>
          <a:p>
            <a:r>
              <a:t>A is the Cilium networking baseline. B adds Hubble L3/L4 flow visibility with OBI off. C adds OBI application metrics without context propagation. D enables OBI traces with TCX context propagation. E adds Hubble L7 visibility, which redirects selected traffic through Envoy. The plus signs show the planned configuration sequence. Record exact versions and effective settings before interpreting any comparison.</a:t>
            </a:r>
          </a:p>
          <a:p>
            <a:endParaRPr/>
          </a:p>
          <a:p>
            <a:r>
              <a:t>Keep the Cilium cluster, application route, load, pod placement, and telemetry backend the same across scenarios. For each measured run, capture throughput, latency, failures, CPU, memory, span delivery, Hubble lost events, and actual BPF attachments. B ran before D in the current rehearsal, so time-order effects remain possible.</a:t>
            </a:r>
          </a:p>
          <a:p>
            <a:endParaRPr/>
          </a:p>
          <a:p>
            <a:r>
              <a:t>Sources:</a:t>
            </a:r>
          </a:p>
          <a:p>
            <a:r>
              <a:t>- https://docs.cilium.io/en/stable/operations/performance/benchmark/</a:t>
            </a:r>
          </a:p>
          <a:p>
            <a:r>
              <a:t>- /Users/antonjim/Documents/Playground/cilium-obi-demo/evidence/benchmark-2026-09-26/results.md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3 minutes</a:t>
            </a:r>
          </a:p>
          <a:p>
            <a:endParaRPr dirty="0"/>
          </a:p>
          <a:p>
            <a:r>
              <a:rPr dirty="0"/>
              <a:t>These are local kind rehearsal observations for B (Cilium and Hubble, OBI off) and D (Cilium and Hubble plus OBI with TCX). They are not production capacity results. The no-</a:t>
            </a:r>
            <a:r>
              <a:rPr dirty="0" err="1"/>
              <a:t>eBPF</a:t>
            </a:r>
            <a:r>
              <a:rPr dirty="0"/>
              <a:t> reference N and conditions A, C, and E remain unmeasured.</a:t>
            </a:r>
          </a:p>
          <a:p>
            <a:endParaRPr dirty="0"/>
          </a:p>
          <a:p>
            <a:r>
              <a:rPr dirty="0"/>
              <a:t>Both conditions used the same three-node cluster and route. Background demo traffic was paused. Each condition had a 40-request warm-up and five samples of 200 requests at concurrency 20 through </a:t>
            </a:r>
            <a:r>
              <a:rPr dirty="0" err="1"/>
              <a:t>kubectl</a:t>
            </a:r>
            <a:r>
              <a:rPr dirty="0"/>
              <a:t> port-forward. B ran before D, so time-order effects remain possible. Throughput median: B 19.77 req/s; D 19.73 req/s. p95 median: B 1,018 </a:t>
            </a:r>
            <a:r>
              <a:rPr dirty="0" err="1"/>
              <a:t>ms</a:t>
            </a:r>
            <a:r>
              <a:rPr dirty="0"/>
              <a:t>; D 1,020 </a:t>
            </a:r>
            <a:r>
              <a:rPr dirty="0" err="1"/>
              <a:t>ms.</a:t>
            </a:r>
            <a:r>
              <a:rPr dirty="0"/>
              <a:t> There were zero failed requests across 1,000 requests in each condition. OBI used a median 0.0128 CPU cores and 253.2 MiB working set across two pods. The Collector accepted and exported 7,210 spans during D. These numbers describe this single rehearsal only.</a:t>
            </a:r>
          </a:p>
          <a:p>
            <a:endParaRPr dirty="0"/>
          </a:p>
          <a:p>
            <a:r>
              <a:rPr dirty="0"/>
              <a:t>Important correction: do not compare or quote the old Hubble loss counters of 36 and 1,083 as a B-versus-D result. D's final Hubble counter was read after an additional 65-second wait. B's was read immediately. The windows are unequal. The old script also summed across nodes and loss sources, which hides whether the perf-event ring buffer, observer queue, or Hubble ring buffer dropped events. The old counters cannot establish that OBI caused an increase or that a loss gate failed.</a:t>
            </a:r>
          </a:p>
          <a:p>
            <a:endParaRPr dirty="0"/>
          </a:p>
          <a:p>
            <a:r>
              <a:rPr dirty="0"/>
              <a:t>The updated benchmark reads Hubble counters immediately after the final request in each run, waits separately for Collector and Prometheus span counters, records the workload-window duration, and retains node and source labels. It reports losses per second and per processed flow and alternates B, D, B, D. Those corrected results are not yet available. Until the rerun, describe Hubble loss as unverified.</a:t>
            </a:r>
          </a:p>
          <a:p>
            <a:endParaRPr dirty="0"/>
          </a:p>
          <a:p>
            <a:r>
              <a:rPr dirty="0"/>
              <a:t>Sources:</a:t>
            </a:r>
          </a:p>
          <a:p>
            <a:r>
              <a:rPr dirty="0"/>
              <a:t>- /Users/antonjim/Documents/Playground/cilium-obi-demo/evidence/benchmark-2026-09-26/</a:t>
            </a:r>
            <a:r>
              <a:rPr dirty="0" err="1"/>
              <a:t>results.md</a:t>
            </a:r>
            <a:endParaRPr dirty="0"/>
          </a:p>
          <a:p>
            <a:r>
              <a:rPr dirty="0"/>
              <a:t>- https://</a:t>
            </a:r>
            <a:r>
              <a:rPr dirty="0" err="1"/>
              <a:t>docs.cilium.io</a:t>
            </a:r>
            <a:r>
              <a:rPr dirty="0"/>
              <a:t>/</a:t>
            </a:r>
            <a:r>
              <a:rPr dirty="0" err="1"/>
              <a:t>en</a:t>
            </a:r>
            <a:r>
              <a:rPr dirty="0"/>
              <a:t>/latest/observability/metrics/#lost-events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Why this slide is here: the previous slide reports one local rehearsal. Similar request throughput and latency do not yet tell us whether we can afford to enable OBI across the cluster. This slide lists the other checks needed for that rollout decision.</a:t>
            </a:r>
          </a:p>
          <a:p>
            <a:endParaRPr/>
          </a:p>
          <a:p>
            <a:r>
              <a:t>CPU: measure the extra CPU used by applications, Cilium, Hubble, OBI, and the Collector, as well as the whole node. Memory: count agent memory and the memory used by BPF programs and maps in the kernel.</a:t>
            </a:r>
          </a:p>
          <a:p>
            <a:endParaRPr/>
          </a:p>
          <a:p>
            <a:r>
              <a:t>Missing data: check for lost Hubble events, refused spans, exporter failures, and dropped telemetry. Here, loss means missing monitoring records. A packet deliberately denied by network policy is a separate traffic outcome.</a:t>
            </a:r>
          </a:p>
          <a:p>
            <a:endParaRPr/>
          </a:p>
          <a:p>
            <a:r>
              <a:t>Data volume: count spans, metric samples, flow records, and active metric series. More data creates processing and storage costs even when application latency barely changes.</a:t>
            </a:r>
          </a:p>
          <a:p>
            <a:endParaRPr/>
          </a:p>
          <a:p>
            <a:r>
              <a:t>Choose acceptable limits for your own environment before expanding. Compare the same workload with OBI off and on. In our rehearsal, the Hubble-loss comparison still needs a valid run with matching time windows.</a:t>
            </a:r>
          </a:p>
          <a:p>
            <a:endParaRPr/>
          </a:p>
          <a:p>
            <a:r>
              <a:t>Transition: the next section turns these checks into a gradual production rollout.</a:t>
            </a:r>
          </a:p>
          <a:p>
            <a:endParaRPr/>
          </a:p>
          <a:p>
            <a:r>
              <a:t>Sources:</a:t>
            </a:r>
          </a:p>
          <a:p>
            <a:r>
              <a:t>- https://opentelemetry.io/docs/collector/internal-telemetry/</a:t>
            </a:r>
          </a:p>
          <a:p>
            <a:r>
              <a:t>- https://docs.cilium.io/en/stable/observability/metrics/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Section transition: Production rollout.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about 2 minutes</a:t>
            </a:r>
          </a:p>
          <a:p>
            <a:endParaRPr/>
          </a:p>
          <a:p>
            <a:r>
              <a:t>The goal is to enable OBI on a small group of nodes first, learn from those nodes, and then expand.</a:t>
            </a:r>
          </a:p>
          <a:p>
            <a:endParaRPr/>
          </a:p>
          <a:p>
            <a:r>
              <a:t>1. Check nodes. Record the kernel features, OBI and Cilium versions, and Cilium datapath. Confirm that the chosen TCX or legacy attachment method is supported on the actual nodes. BTF, if mentioned in a question, is kernel type metadata used by eBPF tools.</a:t>
            </a:r>
          </a:p>
          <a:p>
            <a:endParaRPr/>
          </a:p>
          <a:p>
            <a:r>
              <a:t>2. Check config. Review the final Kubernetes YAML that Helm generates. Check the permissions, host filesystem mounts, and attachment settings. Then check startup logs and actual attachments after deployment.</a:t>
            </a:r>
          </a:p>
          <a:p>
            <a:endParaRPr/>
          </a:p>
          <a:p>
            <a:r>
              <a:t>3. Start small. Use node selection to run OBI on a few nodes. Keep a clear way to disable that new OBI configuration and return to the previous setup.</a:t>
            </a:r>
          </a:p>
          <a:p>
            <a:endParaRPr/>
          </a:p>
          <a:p>
            <a:r>
              <a:t>4. Test traffic. Exercise calls within one node, calls across nodes, and calls through a Kubernetes Service. Also test one connection that policy should allow and one it should deny. Check the application result and the expected telemetry.</a:t>
            </a:r>
          </a:p>
          <a:p>
            <a:endParaRPr/>
          </a:p>
          <a:p>
            <a:r>
              <a:t>5. Expand. Compare this group with its baseline using the CPU, memory, missing-data, and volume checks from the earlier rollout-check slide. Expand gradually when the results meet your chosen limits. If a check fails, stop expansion, restore the previous setup, and investigate.</a:t>
            </a:r>
          </a:p>
          <a:p>
            <a:endParaRPr/>
          </a:p>
          <a:p>
            <a:r>
              <a:t>This is what the old labels meant: Inventory meant check the environment; Render meant inspect Helm's generated YAML; Canary meant start on a few nodes; Exercise meant test real requests; Promote meant expand the deployment.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r>
              <a:t/>
            </a:r>
            <a:endParaRPr/>
          </a:p>
          <a:p xmlns:a="http://schemas.openxmlformats.org/drawingml/2006/main">
            <a:r>
              <a:t>Close by answering the three questions from the opening: does traffic still behave correctly, do we have the evidence we need, and what does the extra telemetry cost?</a:t>
            </a:r>
          </a:p>
          <a:p xmlns:a="http://schemas.openxmlformats.org/drawingml/2006/main">
            <a:r>
              <a:t/>
            </a:r>
          </a:p>
          <a:p xmlns:a="http://schemas.openxmlformats.org/drawingml/2006/main">
            <a:r>
              <a:t>1. Verify traffic and order. Send an allowed request and a request that policy should deny. Check that both outcomes are correct. Inspect the actual attachments on the node. Use TCX when the node and both agents support it; otherwise configure and verify the legacy priorities.</a:t>
            </a:r>
          </a:p>
          <a:p xmlns:a="http://schemas.openxmlformats.org/drawingml/2006/main">
            <a:r>
              <a:t/>
            </a:r>
          </a:p>
          <a:p xmlns:a="http://schemas.openxmlformats.org/drawingml/2006/main">
            <a:r>
              <a:t>The former heading Prefer TCX meant use the newer attachment API where supported. TC provides the ingress and egress packet checkpoints. TCX lets agents ask for a position in an ordered list at those same checkpoints. In this setup, OBI asks for the head and Cilium for the tail. Legacy TC uses numeric priorities instead: lower numbers run earlier.</a:t>
            </a:r>
          </a:p>
          <a:p xmlns:a="http://schemas.openxmlformats.org/drawingml/2006/main">
            <a:r>
              <a:t/>
            </a:r>
          </a:p>
          <a:p xmlns:a="http://schemas.openxmlformats.org/drawingml/2006/main">
            <a:r>
              <a:t>2. Correlate the signals. Use OBI for the application request and Hubble for network and policy evidence. Match a bounded time window, source and destination workloads, direction, and port. These fields provide investigative context; they do not create a unique trace-ID join by themselves.</a:t>
            </a:r>
          </a:p>
          <a:p xmlns:a="http://schemas.openxmlformats.org/drawingml/2006/main">
            <a:r>
              <a:t/>
            </a:r>
          </a:p>
          <a:p xmlns:a="http://schemas.openxmlformats.org/drawingml/2006/main">
            <a:r>
              <a:t>3. Measure before rollout. Compare CPU, memory, missing telemetry, and exported data volume with the baseline. Expand when those checks meet the limits chosen for the environment.</a:t>
            </a:r>
          </a:p>
          <a:p xmlns:a="http://schemas.openxmlformats.org/drawingml/2006/main">
            <a:r>
              <a:t/>
            </a:r>
          </a:p>
          <a:p xmlns:a="http://schemas.openxmlformats.org/drawingml/2006/main">
            <a:r>
              <a:t>Source:</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 minutes</a:t>
            </a:r>
          </a:p>
          <a:p>
            <a:endParaRPr/>
          </a:p>
          <a:p>
            <a:r>
              <a:t>Keep the demo repository visible during questions so attendees can find the setup, dashboards, benchmark evidence, and latest deck.</a:t>
            </a:r>
          </a:p>
          <a:p>
            <a:endParaRPr/>
          </a:p>
          <a:p>
            <a:r>
              <a:t>Sources:</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Optional</a:t>
            </a:r>
          </a:p>
          <a:p>
            <a:endParaRPr/>
          </a:p>
          <a:p>
            <a:r>
              <a:t>Section transition: Appendix.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These fragments match demo/obi-values.yaml and demo/cilium-values.yaml in the workspace. Render the charts before the live session.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demo/cilium-values-legacy-recording.yaml plus demo/cilium-values-legacy-safe.yaml for the safe side, and demo/obi-values-legacy-recording.yaml in both runs. The OBI guard in v0.13.0 is triggered here because optional network flow collection uses network.source: tc. The visible configuration is abbreviated; use the repository files, not the slide, for the complete values. Build each variant on a fresh cluster because stale filters can break connectivity. Inspect tc filter show on the actual node.</a:t>
            </a:r>
          </a:p>
          <a:p>
            <a:endParaRPr/>
          </a:p>
          <a:p>
            <a:r>
              <a:t>Sources:</a:t>
            </a:r>
          </a:p>
          <a:p>
            <a:r>
              <a:t>- https://opentelemetry.io/docs/zero-code/obi/cilium-compatibility/</a:t>
            </a:r>
          </a:p>
          <a:p>
            <a:r>
              <a:t>- https://github.com/ajimenez1503/cilium-obi-demo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Run these read-only checks before the talk. Save clean output for the backup recording.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Appendix</a:t>
            </a:r>
          </a:p>
          <a:p>
            <a:endParaRPr/>
          </a:p>
          <a:p>
            <a:r>
              <a:t>Use this slide to handle operational questions without turning the main talk into a troubleshooting checklist. Detailed failure modes are in research.md.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End</a:t>
            </a:r>
          </a:p>
          <a:p>
            <a:endParaRPr/>
          </a:p>
          <a:p>
            <a:r>
              <a:t>Finish on the required Cisco closing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871345"/>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512820"/>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4061400"/>
            <a:ext cx="5048090" cy="457200"/>
          </a:xfrm>
        </p:spPr>
        <p:txBody>
          <a:bodyPr anchor="t"/>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676458"/>
            <a:ext cx="5047270" cy="459455"/>
          </a:xfrm>
          <a:prstGeom prst="rect">
            <a:avLst/>
          </a:prstGeom>
          <a:noFill/>
        </p:spPr>
        <p:txBody>
          <a:bodyPr anchor="t"/>
          <a:lstStyle>
            <a:lvl1pPr marL="0" indent="0">
              <a:spcAft>
                <a:spcPts val="0"/>
              </a:spcAft>
              <a:buNone/>
              <a:defRPr sz="1400"/>
            </a:lvl1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endParaRPr/>
          </a:p>
        </p:txBody>
      </p:sp>
      <p:pic>
        <p:nvPicPr>
          <p:cNvPr id="31"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Two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19"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1,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0368B8A-B8FA-06EC-E6D8-DF0F60F2EFDC}"/>
              </a:ext>
            </a:extLst>
          </p:cNvPr>
          <p:cNvSpPr>
            <a:spLocks noGrp="1"/>
          </p:cNvSpPr>
          <p:nvPr>
            <p:ph type="title" hasCustomPrompt="1"/>
          </p:nvPr>
        </p:nvSpPr>
        <p:spPr>
          <a:xfrm>
            <a:off x="323850" y="1244600"/>
            <a:ext cx="5048063" cy="1555148"/>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2886075"/>
            <a:ext cx="5048063" cy="228600"/>
          </a:xfrm>
          <a:prstGeom prst="rect">
            <a:avLst/>
          </a:prstGeom>
          <a:noFill/>
        </p:spPr>
        <p:txBody>
          <a:bodyPr/>
          <a:lstStyle>
            <a:lvl1pPr marL="0" indent="0">
              <a:buNone/>
              <a:defRPr sz="1600" b="0"/>
            </a:lvl1pPr>
          </a:lstStyle>
          <a:p>
            <a:pPr lvl="0">
              <a:buNone/>
            </a:pPr>
            <a:r>
              <a:t>Subtitle</a:t>
            </a:r>
          </a:p>
        </p:txBody>
      </p:sp>
      <p:sp>
        <p:nvSpPr>
          <p:cNvPr id="13" name="Text Placeholder 12">
            <a:extLst>
              <a:ext uri="{FF2B5EF4-FFF2-40B4-BE49-F238E27FC236}">
                <a16:creationId xmlns:a16="http://schemas.microsoft.com/office/drawing/2014/main" id="{79E2B63B-5B68-90B7-7A62-17A839591C96}"/>
              </a:ext>
            </a:extLst>
          </p:cNvPr>
          <p:cNvSpPr>
            <a:spLocks noGrp="1"/>
          </p:cNvSpPr>
          <p:nvPr>
            <p:ph type="body" idx="16" hasCustomPrompt="1"/>
          </p:nvPr>
        </p:nvSpPr>
        <p:spPr>
          <a:xfrm>
            <a:off x="323851" y="3428789"/>
            <a:ext cx="5048090" cy="457200"/>
          </a:xfrm>
        </p:spPr>
        <p:txBody>
          <a:bodyPr anchor="b"/>
          <a:lstStyle>
            <a:lvl1pPr marL="0" indent="0">
              <a:spcBef>
                <a:spcPts val="0"/>
              </a:spcBef>
              <a:spcAft>
                <a:spcPts val="0"/>
              </a:spcAft>
              <a:buNone/>
              <a:defRPr sz="1400" kern="1200">
                <a:solidFill>
                  <a:schemeClr val="bg1"/>
                </a:solidFill>
                <a:latin typeface="+mn-lt"/>
                <a:ea typeface="+mn-lt"/>
                <a:cs typeface="+mn-lt"/>
              </a:defRPr>
            </a:lvl1pPr>
          </a:lstStyle>
          <a:p>
            <a:pPr marL="182880" lvl="0" indent="-182880" algn="l" defTabSz="912276">
              <a:lnSpc>
                <a:spcPct val="100000"/>
              </a:lnSpc>
              <a:spcBef>
                <a:spcPts val="0"/>
              </a:spcBef>
              <a:spcAft>
                <a:spcPts val="0"/>
              </a:spcAft>
              <a:buClr>
                <a:schemeClr val="bg1"/>
              </a:buClr>
              <a:buSzPct val="100000"/>
              <a:buNone/>
            </a:pPr>
            <a:r>
              <a:t>Speaker Name</a:t>
            </a:r>
          </a:p>
          <a:p>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a:ext uri="{FF2B5EF4-FFF2-40B4-BE49-F238E27FC236}">
                <a16:creationId xmlns:a16="http://schemas.microsoft.com/office/drawing/2014/main" id="{80638510-2998-9359-2A51-B0CA834B6203}"/>
              </a:ext>
            </a:extLst>
          </p:cNvPr>
          <p:cNvSpPr>
            <a:spLocks noGrp="1"/>
          </p:cNvSpPr>
          <p:nvPr>
            <p:ph type="body" idx="14" hasCustomPrompt="1"/>
          </p:nvPr>
        </p:nvSpPr>
        <p:spPr>
          <a:xfrm>
            <a:off x="323850" y="4051300"/>
            <a:ext cx="5047270" cy="459455"/>
          </a:xfrm>
          <a:prstGeom prst="rect">
            <a:avLst/>
          </a:prstGeom>
          <a:noFill/>
        </p:spPr>
        <p:txBody>
          <a:bodyPr anchor="b"/>
          <a:lstStyle>
            <a:lvl1pPr marL="0" indent="0">
              <a:spcAft>
                <a:spcPts val="0"/>
              </a:spcAft>
              <a:buNone/>
              <a:defRPr sz="1400"/>
            </a:lvl1pPr>
          </a:lstStyle>
          <a:p>
            <a:pPr lvl="0">
              <a:buNone/>
            </a:pPr>
            <a:r>
              <a:t>Speaker Name</a:t>
            </a:r>
          </a:p>
          <a:p>
            <a:pPr lvl="0">
              <a:buNone/>
            </a:pPr>
            <a:r>
              <a:t>Speaker Title placeholder, @social</a:t>
            </a:r>
          </a:p>
        </p:txBody>
      </p:sp>
      <p:sp>
        <p:nvSpPr>
          <p:cNvPr id="5" name="Text Placeholder 4">
            <a:extLst>
              <a:ext uri="{FF2B5EF4-FFF2-40B4-BE49-F238E27FC236}">
                <a16:creationId xmlns:a16="http://schemas.microsoft.com/office/drawing/2014/main" id="{1C0E61D1-59EB-7A86-0D12-9388193F45D9}"/>
              </a:ext>
            </a:extLst>
          </p:cNvPr>
          <p:cNvSpPr>
            <a:spLocks noGrp="1"/>
          </p:cNvSpPr>
          <p:nvPr>
            <p:ph type="body" idx="17" hasCustomPrompt="1"/>
          </p:nvPr>
        </p:nvSpPr>
        <p:spPr>
          <a:xfrm>
            <a:off x="323849" y="4681134"/>
            <a:ext cx="5046663" cy="457200"/>
          </a:xfrm>
        </p:spPr>
        <p:txBody>
          <a:bodyPr anchor="b"/>
          <a:lstStyle>
            <a:lvl1pPr marL="0" indent="0">
              <a:spcAft>
                <a:spcPts val="0"/>
              </a:spcAft>
              <a:buNone/>
              <a:defRPr sz="1400" kern="1200">
                <a:solidFill>
                  <a:schemeClr val="bg1"/>
                </a:solidFill>
                <a:latin typeface="+mn-lt"/>
                <a:ea typeface="+mn-lt"/>
                <a:cs typeface="+mn-lt"/>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a:pPr marL="0" lvl="0" indent="0" algn="l" defTabSz="912276">
              <a:lnSpc>
                <a:spcPct val="100000"/>
              </a:lnSpc>
              <a:spcBef>
                <a:spcPts val="0"/>
              </a:spcBef>
              <a:spcAft>
                <a:spcPts val="0"/>
              </a:spcAft>
              <a:buClr>
                <a:schemeClr val="bg1"/>
              </a:buClr>
              <a:buSzPct val="100000"/>
              <a:buFont typeface="Arial"/>
              <a:buNone/>
            </a:pPr>
            <a:r>
              <a:t>Speaker Name</a:t>
            </a:r>
          </a:p>
          <a:p>
            <a:pPr marL="0" lvl="0" indent="0" algn="l" defTabSz="912276">
              <a:lnSpc>
                <a:spcPct val="100000"/>
              </a:lnSpc>
              <a:spcBef>
                <a:spcPts val="0"/>
              </a:spcBef>
              <a:spcAft>
                <a:spcPts val="0"/>
              </a:spcAft>
              <a:buClr>
                <a:schemeClr val="bg1"/>
              </a:buClr>
              <a:buSzPct val="100000"/>
              <a:buFont typeface="Arial"/>
              <a:buNone/>
            </a:pPr>
            <a:r>
              <a:t>Speaker Title placeholder, @social</a:t>
            </a:r>
          </a:p>
        </p:txBody>
      </p:sp>
      <p:sp>
        <p:nvSpPr>
          <p:cNvPr id="7" name="Text Placeholder 6">
            <a:extLst>
              <a:ext uri="{FF2B5EF4-FFF2-40B4-BE49-F238E27FC236}">
                <a16:creationId xmlns:a16="http://schemas.microsoft.com/office/drawing/2014/main" id="{D175C0FC-DD02-0704-8A17-1B3037F861D2}"/>
              </a:ext>
            </a:extLst>
          </p:cNvPr>
          <p:cNvSpPr>
            <a:spLocks noGrp="1"/>
          </p:cNvSpPr>
          <p:nvPr>
            <p:ph type="body" idx="18" hasCustomPrompt="1"/>
          </p:nvPr>
        </p:nvSpPr>
        <p:spPr>
          <a:xfrm>
            <a:off x="323848" y="5306439"/>
            <a:ext cx="5046663" cy="457200"/>
          </a:xfrm>
        </p:spPr>
        <p:txBody>
          <a:bodyPr anchor="b"/>
          <a:lstStyle>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4643" y="6360518"/>
            <a:ext cx="3906838" cy="497482"/>
          </a:xfrm>
          <a:prstGeom prst="rect">
            <a:avLst/>
          </a:prstGeom>
          <a:noFill/>
        </p:spPr>
        <p:txBody>
          <a:bodyPr/>
          <a:lstStyle>
            <a:lvl1pPr marL="0" indent="0" algn="l">
              <a:buNone/>
              <a:defRPr sz="1400">
                <a:solidFill>
                  <a:schemeClr val="bg2"/>
                </a:solidFill>
              </a:defRPr>
            </a:lvl1pPr>
          </a:lstStyle>
          <a:p>
            <a:pPr lvl="0">
              <a:buNone/>
            </a:pPr>
            <a:r>
              <a:t>Date</a:t>
            </a:r>
          </a:p>
        </p:txBody>
      </p:sp>
      <p:sp>
        <p:nvSpPr>
          <p:cNvPr id="23" name="Graphic 21">
            <a:extLst>
              <a:ext uri="{FF2B5EF4-FFF2-40B4-BE49-F238E27FC236}">
                <a16:creationId xmlns:a16="http://schemas.microsoft.com/office/drawing/2014/main" id="{0B51E088-9CCC-0F69-112A-CEC9A65FADC5}"/>
              </a:ext>
            </a:extLst>
          </p:cNvPr>
          <p:cNvSpPr>
            <a:spLocks noGrp="1"/>
          </p:cNvSpPr>
          <p:nvPr/>
        </p:nvSpPr>
        <p:spPr>
          <a:xfrm>
            <a:off x="6107248" y="781243"/>
            <a:ext cx="5303520" cy="5303520"/>
          </a:xfrm>
          <a:custGeom>
            <a:avLst/>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ahLst/>
            <a:cxn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a:schemeClr val="tx1"/>
          </a:solidFill>
          <a:l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anchor="ctr"/>
          <a:lstStyle/>
          <a:p>
            <a:pPr lvl="0">
              <a:buNone/>
            </a:pPr>
            <a:endParaRPr/>
          </a:p>
        </p:txBody>
      </p:sp>
      <p:pic>
        <p:nvPicPr>
          <p:cNvPr id="33"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8281171" y="3181936"/>
            <a:ext cx="955675" cy="50213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2, Four Speakers">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AB65E-774E-7C2F-9733-CE6410F8652F}"/>
              </a:ext>
            </a:extLst>
          </p:cNvPr>
          <p:cNvSpPr>
            <a:spLocks noGrp="1"/>
          </p:cNvSpPr>
          <p:nvPr/>
        </p:nvSpPr>
        <p:spPr>
          <a:xfrm>
            <a:off x="0" y="1260471"/>
            <a:ext cx="10888663" cy="435134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pic>
        <p:nvPicPr>
          <p:cNvPr id="21"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3, Four Speakers">
    <p:bg>
      <p:bgPr>
        <a:solidFill>
          <a:schemeClr val="tx1"/>
        </a:solidFill>
        <a:effectLst/>
      </p:bgPr>
    </p:bg>
    <p:spTree>
      <p:nvGrpSpPr>
        <p:cNvPr id="1" name=""/>
        <p:cNvGrpSpPr/>
        <p:nvPr/>
      </p:nvGrpSpPr>
      <p:grpSpPr>
        <a:xfrm>
          <a:off x="0" y="0"/>
          <a:ext cx="0" cy="0"/>
          <a:chOff x="0" y="0"/>
          <a:chExt cx="0" cy="0"/>
        </a:xfrm>
      </p:grpSpPr>
      <p:pic>
        <p:nvPicPr>
          <p:cNvPr id="15" name="Picture 7"/>
          <p:cNvPicPr>
            <a:picLocks noChangeAspect="1"/>
          </p:cNvPicPr>
          <p:nvPr/>
        </p:nvPicPr>
        <p:blipFill>
          <a:blip>
            <a:extLst>
              <a:ext uri="{96DAC541-7B7A-43D3-8B79-37D633B846F1}">
                <asvg:svgBlip xmlns:asvg="http://schemas.microsoft.com/office/drawing/2016/SVG/main" r:embed="rId2"/>
              </a:ext>
            </a:extLst>
          </a:blip>
          <a:srcRect/>
          <a:stretch/>
        </p:blipFill>
        <p:spPr>
          <a:xfrm>
            <a:off x="323850" y="320675"/>
            <a:ext cx="792163" cy="416221"/>
          </a:xfrm>
          <a:prstGeom prst="rect">
            <a:avLst/>
          </a:prstGeom>
        </p:spPr>
      </p:pic>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492374"/>
            <a:ext cx="10167938" cy="1243019"/>
          </a:xfrm>
        </p:spPr>
        <p:txBody>
          <a:bodyPr anchor="b"/>
          <a:lstStyle>
            <a:lvl1pPr>
              <a:buNone/>
              <a:defRPr sz="3600">
                <a:solidFill>
                  <a:schemeClr val="bg1"/>
                </a:solidFill>
              </a:defRPr>
            </a:lvl1pPr>
          </a:lstStyle>
          <a:p>
            <a:r>
              <a:t>Presentation Slide Title Layout 3</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49" y="3827463"/>
            <a:ext cx="1016793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7" name="Text Placeholder 6">
            <a:extLst>
              <a:ext uri="{FF2B5EF4-FFF2-40B4-BE49-F238E27FC236}">
                <a16:creationId xmlns:a16="http://schemas.microsoft.com/office/drawing/2014/main" id="{872EFECA-80DB-74BA-813F-3952A15A5022}"/>
              </a:ext>
            </a:extLst>
          </p:cNvPr>
          <p:cNvSpPr>
            <a:spLocks noGrp="1"/>
          </p:cNvSpPr>
          <p:nvPr>
            <p:ph type="body" idx="15" hasCustomPrompt="1"/>
          </p:nvPr>
        </p:nvSpPr>
        <p:spPr>
          <a:xfrm>
            <a:off x="4230688" y="4360863"/>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323850" y="4990779"/>
            <a:ext cx="3725863"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13" name="Text Placeholder 12">
            <a:extLst>
              <a:ext uri="{FF2B5EF4-FFF2-40B4-BE49-F238E27FC236}">
                <a16:creationId xmlns:a16="http://schemas.microsoft.com/office/drawing/2014/main" id="{2BBB47F0-F6D2-5FD5-1C2D-8963A9B280F8}"/>
              </a:ext>
            </a:extLst>
          </p:cNvPr>
          <p:cNvSpPr>
            <a:spLocks noGrp="1"/>
          </p:cNvSpPr>
          <p:nvPr>
            <p:ph type="body" idx="16" hasCustomPrompt="1"/>
          </p:nvPr>
        </p:nvSpPr>
        <p:spPr>
          <a:xfrm>
            <a:off x="4230688" y="4990779"/>
            <a:ext cx="4886325" cy="457200"/>
          </a:xfrm>
        </p:spPr>
        <p:txBody>
          <a:bodyPr/>
          <a:lstStyle>
            <a:lvl1pPr marL="0" indent="0">
              <a:spcAft>
                <a:spcPts val="0"/>
              </a:spcAft>
              <a:buNone/>
              <a:defRPr sz="1400"/>
            </a:lvl1pPr>
            <a:lvl2pPr>
              <a:buNone/>
              <a:defRPr sz="1400"/>
            </a:lvl2pPr>
            <a:lvl3pPr>
              <a:buNone/>
              <a:defRPr sz="1200"/>
            </a:lvl3pPr>
            <a:lvl4pPr>
              <a:buNone/>
              <a:defRPr sz="1100"/>
            </a:lvl4pPr>
            <a:lvl5pPr>
              <a:buNone/>
              <a:defRPr sz="1050"/>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1, Two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218122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82746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436086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436086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2, Four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Event Only Title Slide 3, Six Speaker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1BA1A5-BDA4-7FEA-3EC4-1DBB3AD00F15}"/>
              </a:ext>
            </a:extLst>
          </p:cNvPr>
          <p:cNvSpPr>
            <a:spLocks noGrp="1"/>
          </p:cNvSpPr>
          <p:nvPr>
            <p:ph type="title" hasCustomPrompt="1"/>
          </p:nvPr>
        </p:nvSpPr>
        <p:spPr>
          <a:xfrm>
            <a:off x="323850" y="1556884"/>
            <a:ext cx="6656388" cy="1554169"/>
          </a:xfrm>
        </p:spPr>
        <p:txBody>
          <a:bodyPr anchor="b"/>
          <a:lstStyle>
            <a:lvl1pPr>
              <a:buNone/>
              <a:defRPr sz="3600"/>
            </a:lvl1pPr>
          </a:lstStyle>
          <a:p>
            <a:r>
              <a:t>Presentation Title</a:t>
            </a:r>
          </a:p>
        </p:txBody>
      </p:sp>
      <p:sp>
        <p:nvSpPr>
          <p:cNvPr id="11" name="Text Placeholder 10">
            <a:extLst>
              <a:ext uri="{FF2B5EF4-FFF2-40B4-BE49-F238E27FC236}">
                <a16:creationId xmlns:a16="http://schemas.microsoft.com/office/drawing/2014/main" id="{4DBA1600-2171-A996-0ADC-8B8C7BC4DEAA}"/>
              </a:ext>
            </a:extLst>
          </p:cNvPr>
          <p:cNvSpPr>
            <a:spLocks noGrp="1"/>
          </p:cNvSpPr>
          <p:nvPr>
            <p:ph type="body" idx="13" hasCustomPrompt="1"/>
          </p:nvPr>
        </p:nvSpPr>
        <p:spPr>
          <a:xfrm>
            <a:off x="323850" y="3203123"/>
            <a:ext cx="6656388" cy="223837"/>
          </a:xfrm>
          <a:prstGeom prst="rect">
            <a:avLst/>
          </a:prstGeom>
          <a:noFill/>
        </p:spPr>
        <p:txBody>
          <a:bodyPr/>
          <a:lstStyle>
            <a:lvl1pPr marL="0" indent="0">
              <a:buNone/>
              <a:defRPr sz="1600" b="0" kern="1200">
                <a:solidFill>
                  <a:schemeClr val="bg1"/>
                </a:solidFill>
                <a:latin typeface="+mn-lt"/>
                <a:ea typeface="+mn-lt"/>
                <a:cs typeface="+mn-lt"/>
              </a:defRPr>
            </a:lvl1pPr>
          </a:lstStyle>
          <a:p>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a:ext uri="{FF2B5EF4-FFF2-40B4-BE49-F238E27FC236}">
                <a16:creationId xmlns:a16="http://schemas.microsoft.com/office/drawing/2014/main" id="{3C6237E3-CDA3-4826-B416-A9C4ECE19D8D}"/>
              </a:ext>
            </a:extLst>
          </p:cNvPr>
          <p:cNvSpPr>
            <a:spLocks noGrp="1"/>
          </p:cNvSpPr>
          <p:nvPr>
            <p:ph type="body" idx="11" hasCustomPrompt="1"/>
          </p:nvPr>
        </p:nvSpPr>
        <p:spPr>
          <a:xfrm>
            <a:off x="323850" y="3736526"/>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10" name="Text Placeholder 9">
            <a:extLst>
              <a:ext uri="{FF2B5EF4-FFF2-40B4-BE49-F238E27FC236}">
                <a16:creationId xmlns:a16="http://schemas.microsoft.com/office/drawing/2014/main" id="{5AEFF02C-63AA-C8DF-DF7B-EDA5A3CE61A6}"/>
              </a:ext>
            </a:extLst>
          </p:cNvPr>
          <p:cNvSpPr>
            <a:spLocks noGrp="1"/>
          </p:cNvSpPr>
          <p:nvPr>
            <p:ph type="body" idx="14" hasCustomPrompt="1"/>
          </p:nvPr>
        </p:nvSpPr>
        <p:spPr>
          <a:xfrm>
            <a:off x="4230687" y="3736526"/>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9" name="Text Placeholder 8">
            <a:extLst>
              <a:ext uri="{FF2B5EF4-FFF2-40B4-BE49-F238E27FC236}">
                <a16:creationId xmlns:a16="http://schemas.microsoft.com/office/drawing/2014/main" id="{943234AB-A4AA-B257-D87A-A9AEED608B7B}"/>
              </a:ext>
            </a:extLst>
          </p:cNvPr>
          <p:cNvSpPr>
            <a:spLocks noGrp="1"/>
          </p:cNvSpPr>
          <p:nvPr>
            <p:ph type="body" idx="12" hasCustomPrompt="1"/>
          </p:nvPr>
        </p:nvSpPr>
        <p:spPr>
          <a:xfrm>
            <a:off x="323850" y="6364224"/>
            <a:ext cx="3906838" cy="493776"/>
          </a:xfrm>
          <a:prstGeom prst="rect">
            <a:avLst/>
          </a:prstGeom>
          <a:noFill/>
        </p:spPr>
        <p:txBody>
          <a:bodyPr/>
          <a:lstStyle>
            <a:lvl1pPr marL="0" indent="0">
              <a:buNone/>
              <a:defRPr sz="1400">
                <a:solidFill>
                  <a:schemeClr val="bg2"/>
                </a:solidFill>
              </a:defRPr>
            </a:lvl1pPr>
          </a:lstStyle>
          <a:p>
            <a:pPr lvl="0">
              <a:buNone/>
            </a:pPr>
            <a:r>
              <a:t>Date</a:t>
            </a:r>
          </a:p>
        </p:txBody>
      </p:sp>
      <p:sp>
        <p:nvSpPr>
          <p:cNvPr id="2" name="Text Placeholder 5">
            <a:extLst>
              <a:ext uri="{FF2B5EF4-FFF2-40B4-BE49-F238E27FC236}">
                <a16:creationId xmlns:a16="http://schemas.microsoft.com/office/drawing/2014/main" id="{975F4503-6E14-DE87-30D2-13904F94B354}"/>
              </a:ext>
            </a:extLst>
          </p:cNvPr>
          <p:cNvSpPr>
            <a:spLocks noGrp="1"/>
          </p:cNvSpPr>
          <p:nvPr>
            <p:ph type="body" idx="15" hasCustomPrompt="1"/>
          </p:nvPr>
        </p:nvSpPr>
        <p:spPr>
          <a:xfrm>
            <a:off x="323850" y="4363133"/>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4" name="Text Placeholder 9">
            <a:extLst>
              <a:ext uri="{FF2B5EF4-FFF2-40B4-BE49-F238E27FC236}">
                <a16:creationId xmlns:a16="http://schemas.microsoft.com/office/drawing/2014/main" id="{09DECD55-6AA1-8B80-F758-69B1E9337A04}"/>
              </a:ext>
            </a:extLst>
          </p:cNvPr>
          <p:cNvSpPr>
            <a:spLocks noGrp="1"/>
          </p:cNvSpPr>
          <p:nvPr>
            <p:ph type="body" idx="16" hasCustomPrompt="1"/>
          </p:nvPr>
        </p:nvSpPr>
        <p:spPr>
          <a:xfrm>
            <a:off x="4230687" y="4363133"/>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
        <p:nvSpPr>
          <p:cNvPr id="7" name="Text Placeholder 5">
            <a:extLst>
              <a:ext uri="{FF2B5EF4-FFF2-40B4-BE49-F238E27FC236}">
                <a16:creationId xmlns:a16="http://schemas.microsoft.com/office/drawing/2014/main" id="{B989D1F9-5949-EAFF-931D-8121D6A66AA8}"/>
              </a:ext>
            </a:extLst>
          </p:cNvPr>
          <p:cNvSpPr>
            <a:spLocks noGrp="1"/>
          </p:cNvSpPr>
          <p:nvPr>
            <p:ph type="body" idx="17" hasCustomPrompt="1"/>
          </p:nvPr>
        </p:nvSpPr>
        <p:spPr>
          <a:xfrm>
            <a:off x="323850" y="4986338"/>
            <a:ext cx="3725863" cy="457200"/>
          </a:xfrm>
          <a:prstGeom prst="rect">
            <a:avLst/>
          </a:prstGeom>
          <a:noFill/>
        </p:spPr>
        <p:txBody>
          <a:bodyPr/>
          <a:lstStyle>
            <a:lvl1pPr marL="0" indent="0">
              <a:spcAft>
                <a:spcPts val="0"/>
              </a:spcAft>
              <a:buNone/>
              <a:defRPr sz="1400"/>
            </a:lvl1pPr>
          </a:lstStyle>
          <a:p>
            <a:pPr lvl="0">
              <a:buNone/>
            </a:pPr>
            <a:r>
              <a:t>Speaker Name</a:t>
            </a:r>
          </a:p>
          <a:p>
            <a:pPr lvl="0">
              <a:buNone/>
            </a:pPr>
            <a:r>
              <a:t>Speaker Title placeholder, @social</a:t>
            </a:r>
          </a:p>
        </p:txBody>
      </p:sp>
      <p:sp>
        <p:nvSpPr>
          <p:cNvPr id="8" name="Text Placeholder 9">
            <a:extLst>
              <a:ext uri="{FF2B5EF4-FFF2-40B4-BE49-F238E27FC236}">
                <a16:creationId xmlns:a16="http://schemas.microsoft.com/office/drawing/2014/main" id="{3D1ACE7D-3D09-2D50-1C06-DBAD3893A921}"/>
              </a:ext>
            </a:extLst>
          </p:cNvPr>
          <p:cNvSpPr>
            <a:spLocks noGrp="1"/>
          </p:cNvSpPr>
          <p:nvPr>
            <p:ph type="body" idx="18" hasCustomPrompt="1"/>
          </p:nvPr>
        </p:nvSpPr>
        <p:spPr>
          <a:xfrm>
            <a:off x="4230687" y="4986338"/>
            <a:ext cx="3727451" cy="457200"/>
          </a:xfrm>
        </p:spPr>
        <p:txBody>
          <a:bodyPr/>
          <a:lstStyle>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a:pPr lvl="0">
              <a:buNone/>
            </a:pPr>
            <a:r>
              <a:t>Speaker Name</a:t>
            </a:r>
          </a:p>
          <a:p>
            <a:pPr lvl="0">
              <a:buNone/>
            </a:pPr>
            <a:r>
              <a:t>Speaker Title placeholder, @social</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E637F1A5-67B6-4A78-7FA7-0860E1B6F9B0}"/>
              </a:ext>
            </a:extLst>
          </p:cNvPr>
          <p:cNvSpPr>
            <a:spLocks noGrp="1"/>
          </p:cNvSpPr>
          <p:nvPr>
            <p:ph type="ftr" idx="21"/>
          </p:nvPr>
        </p:nvSpPr>
        <p:spPr/>
        <p:txBody>
          <a:bodyPr/>
          <a:lstStyle/>
          <a:p>
            <a:pPr defTabSz="814318">
              <a:buNone/>
            </a:pPr>
            <a:r>
              <a:t>Session ID: BRKSEC-XXXX</a:t>
            </a:r>
          </a:p>
        </p:txBody>
      </p:sp>
      <p:sp>
        <p:nvSpPr>
          <p:cNvPr id="2" name="Slide Number Placeholder 1">
            <a:extLst>
              <a:ext uri="{FF2B5EF4-FFF2-40B4-BE49-F238E27FC236}">
                <a16:creationId xmlns:a16="http://schemas.microsoft.com/office/drawing/2014/main" id="{FB200302-2202-F22C-D162-871BF904F46C}"/>
              </a:ext>
            </a:extLst>
          </p:cNvPr>
          <p:cNvSpPr>
            <a:spLocks noGrp="1"/>
          </p:cNvSpPr>
          <p:nvPr>
            <p:ph type="sldNum" idx="19"/>
          </p:nvPr>
        </p:nvSpPr>
        <p:spPr/>
        <p:txBody>
          <a:bodyPr/>
          <a:lstStyle/>
          <a:p>
            <a:fld id="{C3C42FAE-7A31-41D3-A712-51D9B15D0B10}"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ubtitle Only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2 Slide Title, Top Subheadin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4703763"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6184900" y="320675"/>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Subheading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Only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Subtitl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8" name="Text Placeholder 7">
            <a:extLst>
              <a:ext uri="{FF2B5EF4-FFF2-40B4-BE49-F238E27FC236}">
                <a16:creationId xmlns:a16="http://schemas.microsoft.com/office/drawing/2014/main" id="{6A259C3D-581C-B8BC-32B4-EE2B22A753A2}"/>
              </a:ext>
            </a:extLst>
          </p:cNvPr>
          <p:cNvSpPr>
            <a:spLocks noGrp="1"/>
          </p:cNvSpPr>
          <p:nvPr>
            <p:ph type="body" idx="13" hasCustomPrompt="1"/>
          </p:nvPr>
        </p:nvSpPr>
        <p:spPr>
          <a:xfrm>
            <a:off x="323850" y="1114425"/>
            <a:ext cx="5772150" cy="441325"/>
          </a:xfrm>
        </p:spPr>
        <p:txBody>
          <a:bodyPr/>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2 Slide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2 Slide, Section, Title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2 Slide, Section, Title 2">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F5376922-1A18-EB35-1718-708DF44FBF1B}"/>
              </a:ext>
            </a:extLst>
          </p:cNvPr>
          <p:cNvSpPr>
            <a:spLocks noGrp="1"/>
          </p:cNvSpPr>
          <p:nvPr>
            <p:ph type="body" idx="13"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2 Slide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2 Slide Section, Title, Body Copy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D6125826-3231-68F4-7FEE-8A01F6F42B51}"/>
              </a:ext>
            </a:extLst>
          </p:cNvPr>
          <p:cNvSpPr>
            <a:spLocks noGrp="1"/>
          </p:cNvSpPr>
          <p:nvPr>
            <p:ph type="body" idx="12"/>
          </p:nvPr>
        </p:nvSpPr>
        <p:spPr>
          <a:xfrm>
            <a:off x="6581774" y="1244600"/>
            <a:ext cx="5286375" cy="4367213"/>
          </a:xfrm>
        </p:spPr>
        <p:txBody>
          <a:bodyPr anchor="ct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8" name="Text Placeholder 7">
            <a:extLst>
              <a:ext uri="{FF2B5EF4-FFF2-40B4-BE49-F238E27FC236}">
                <a16:creationId xmlns:a16="http://schemas.microsoft.com/office/drawing/2014/main" id="{73B0377C-E9B5-910F-ED3D-37BEFE794881}"/>
              </a:ext>
            </a:extLst>
          </p:cNvPr>
          <p:cNvSpPr>
            <a:spLocks noGrp="1"/>
          </p:cNvSpPr>
          <p:nvPr>
            <p:ph type="body" idx="14" hasCustomPrompt="1"/>
          </p:nvPr>
        </p:nvSpPr>
        <p:spPr>
          <a:xfrm>
            <a:off x="323850" y="0"/>
            <a:ext cx="5772150" cy="466344"/>
          </a:xfrm>
        </p:spPr>
        <p:txBody>
          <a:bodyPr anchor="b"/>
          <a:lstStyle>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a:pPr lvl="0">
              <a:buNone/>
            </a:pPr>
            <a:r>
              <a:t>Section title</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1 Column with Bullets">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6" name="Text Placeholder 5">
            <a:extLst>
              <a:ext uri="{FF2B5EF4-FFF2-40B4-BE49-F238E27FC236}">
                <a16:creationId xmlns:a16="http://schemas.microsoft.com/office/drawing/2014/main" id="{141A00D0-7712-950D-34B2-5551B85F9E7B}"/>
              </a:ext>
            </a:extLst>
          </p:cNvPr>
          <p:cNvSpPr>
            <a:spLocks noGrp="1"/>
          </p:cNvSpPr>
          <p:nvPr>
            <p:ph type="body" idx="12"/>
          </p:nvPr>
        </p:nvSpPr>
        <p:spPr>
          <a:xfrm>
            <a:off x="323850" y="952500"/>
            <a:ext cx="11544300" cy="5122863"/>
          </a:xfrm>
        </p:spPr>
        <p:txBody>
          <a:bodyPr/>
          <a:lstStyle>
            <a:lvl1pPr>
              <a:buNone/>
              <a:defRPr sz="2000"/>
            </a:lvl1pPr>
            <a:lvl2pPr>
              <a:buNone/>
              <a:defRPr sz="2000"/>
            </a:lvl2pPr>
            <a:lvl3pPr>
              <a:buNone/>
              <a:defRPr sz="2000"/>
            </a:lvl3pPr>
            <a:lvl4pPr>
              <a:buNone/>
              <a:defRPr sz="2000"/>
            </a:lvl4pPr>
            <a:lvl5pPr>
              <a:buNone/>
              <a:defRPr sz="20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2 Columns with Bullet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Subtitle, 2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23851" y="249237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81751" y="2494756"/>
            <a:ext cx="5486400" cy="1868488"/>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Subtitle, 3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23848"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4358639" y="2179638"/>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8393430" y="2181225"/>
            <a:ext cx="347472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Subtitle, 4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3351107"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6372014"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9392920" y="2179638"/>
            <a:ext cx="2468880" cy="2495550"/>
          </a:xfrm>
        </p:spPr>
        <p:txBody>
          <a:bodyPr/>
          <a:lstStyle>
            <a:lvl1pPr>
              <a:buNone/>
              <a:defRPr sz="1600"/>
            </a:lvl1pPr>
            <a:lvl2pPr>
              <a:buNone/>
              <a:defRPr sz="1600"/>
            </a:lvl2pPr>
            <a:lvl3pPr>
              <a:buNone/>
              <a:defRPr sz="1600"/>
            </a:lvl3pPr>
            <a:lvl4pPr>
              <a:buNone/>
              <a:defRPr sz="1600"/>
            </a:lvl4pPr>
            <a:lvl5pPr>
              <a:buNone/>
              <a:defRPr sz="16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ubtitle, 5 Columns">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7" name="Text Placeholder 6">
            <a:extLst>
              <a:ext uri="{FF2B5EF4-FFF2-40B4-BE49-F238E27FC236}">
                <a16:creationId xmlns:a16="http://schemas.microsoft.com/office/drawing/2014/main" id="{CAFF7876-DE6D-49C2-DD58-608A9798B315}"/>
              </a:ext>
            </a:extLst>
          </p:cNvPr>
          <p:cNvSpPr>
            <a:spLocks noGrp="1"/>
          </p:cNvSpPr>
          <p:nvPr>
            <p:ph type="body" idx="13"/>
          </p:nvPr>
        </p:nvSpPr>
        <p:spPr>
          <a:xfrm>
            <a:off x="33020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3" name="Text Placeholder 12">
            <a:extLst>
              <a:ext uri="{FF2B5EF4-FFF2-40B4-BE49-F238E27FC236}">
                <a16:creationId xmlns:a16="http://schemas.microsoft.com/office/drawing/2014/main" id="{322DBF3C-0929-006D-E549-2D8EABB3CA4B}"/>
              </a:ext>
            </a:extLst>
          </p:cNvPr>
          <p:cNvSpPr>
            <a:spLocks noGrp="1"/>
          </p:cNvSpPr>
          <p:nvPr>
            <p:ph type="body" idx="14"/>
          </p:nvPr>
        </p:nvSpPr>
        <p:spPr>
          <a:xfrm>
            <a:off x="271018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5" name="Text Placeholder 14">
            <a:extLst>
              <a:ext uri="{FF2B5EF4-FFF2-40B4-BE49-F238E27FC236}">
                <a16:creationId xmlns:a16="http://schemas.microsoft.com/office/drawing/2014/main" id="{B163D847-B2CC-D10C-474F-9374B33501E0}"/>
              </a:ext>
            </a:extLst>
          </p:cNvPr>
          <p:cNvSpPr>
            <a:spLocks noGrp="1"/>
          </p:cNvSpPr>
          <p:nvPr>
            <p:ph type="body" idx="15"/>
          </p:nvPr>
        </p:nvSpPr>
        <p:spPr>
          <a:xfrm>
            <a:off x="509016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7" name="Text Placeholder 16">
            <a:extLst>
              <a:ext uri="{FF2B5EF4-FFF2-40B4-BE49-F238E27FC236}">
                <a16:creationId xmlns:a16="http://schemas.microsoft.com/office/drawing/2014/main" id="{DDFF45C9-081C-CA2E-F4A7-8383A93B6B05}"/>
              </a:ext>
            </a:extLst>
          </p:cNvPr>
          <p:cNvSpPr>
            <a:spLocks noGrp="1"/>
          </p:cNvSpPr>
          <p:nvPr>
            <p:ph type="body" idx="16"/>
          </p:nvPr>
        </p:nvSpPr>
        <p:spPr>
          <a:xfrm>
            <a:off x="7470140" y="2179638"/>
            <a:ext cx="2011680" cy="2495550"/>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14" name="Text Placeholder 13">
            <a:extLst>
              <a:ext uri="{FF2B5EF4-FFF2-40B4-BE49-F238E27FC236}">
                <a16:creationId xmlns:a16="http://schemas.microsoft.com/office/drawing/2014/main" id="{3B7038BF-5DE9-94EF-1E39-92627DD8ACA8}"/>
              </a:ext>
            </a:extLst>
          </p:cNvPr>
          <p:cNvSpPr>
            <a:spLocks noGrp="1"/>
          </p:cNvSpPr>
          <p:nvPr>
            <p:ph type="body" idx="17"/>
          </p:nvPr>
        </p:nvSpPr>
        <p:spPr>
          <a:xfrm>
            <a:off x="9850120" y="2181225"/>
            <a:ext cx="2011680" cy="2493963"/>
          </a:xfrm>
        </p:spPr>
        <p:txBody>
          <a:bodyPr/>
          <a:lstStyle>
            <a:lvl1pPr>
              <a:buNone/>
              <a:defRPr sz="1400"/>
            </a:lvl1pPr>
            <a:lvl2pPr>
              <a:buNone/>
              <a:defRPr sz="1400"/>
            </a:lvl2pPr>
            <a:lvl3pPr>
              <a:buNone/>
              <a:defRPr sz="1400"/>
            </a:lvl3pPr>
            <a:lvl4pPr>
              <a:buNone/>
              <a:defRPr sz="1400"/>
            </a:lvl4pPr>
            <a:lvl5pPr>
              <a:buNone/>
              <a:defRPr sz="140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2 Slide, Title,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5281613"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6107430" y="320675"/>
            <a:ext cx="5760720" cy="5759451"/>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7235825" cy="94773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8140700" y="320675"/>
            <a:ext cx="3727450" cy="5759451"/>
          </a:xfrm>
          <a:prstGeom prst="roundRect">
            <a:avLst>
              <a:gd name="adj" fmla="val 1618"/>
            </a:avLst>
          </a:prstGeom>
          <a:solidFill>
            <a:schemeClr val="bg1">
              <a:alpha val="10000"/>
            </a:schemeClr>
          </a:solidFill>
        </p:spPr>
        <p:txBody>
          <a:bodyPr tIns="155448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3 Photo, Title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96862"/>
            <a:ext cx="3328987" cy="1258888"/>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FBFEB48-5190-C5F8-C046-27E12C0DAE62}"/>
              </a:ext>
            </a:extLst>
          </p:cNvPr>
          <p:cNvSpPr>
            <a:spLocks noGrp="1"/>
          </p:cNvSpPr>
          <p:nvPr>
            <p:ph type="pic" idx="13" hasCustomPrompt="1"/>
          </p:nvPr>
        </p:nvSpPr>
        <p:spPr>
          <a:xfrm>
            <a:off x="4049713" y="320676"/>
            <a:ext cx="7818436" cy="57546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2 Slide Title, Photo 3">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3116793"/>
            <a:ext cx="5284788" cy="1246188"/>
          </a:xfrm>
        </p:spPr>
        <p:txBody>
          <a:bodyPr wrap="square" anchor="t">
            <a:noAutofit/>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903A889C-4BCD-59AA-132B-C3FD4F8E65F1}"/>
              </a:ext>
            </a:extLst>
          </p:cNvPr>
          <p:cNvSpPr>
            <a:spLocks noGrp="1"/>
          </p:cNvSpPr>
          <p:nvPr>
            <p:ph type="pic" idx="12" hasCustomPrompt="1"/>
          </p:nvPr>
        </p:nvSpPr>
        <p:spPr>
          <a:xfrm>
            <a:off x="6184901" y="795338"/>
            <a:ext cx="5284788" cy="5284788"/>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 Slide Title, Section, Body, 2/3 Photo">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solidFill>
                  <a:schemeClr val="bg1"/>
                </a:solidFill>
              </a:defRPr>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49" y="622300"/>
            <a:ext cx="3328989" cy="1558925"/>
          </a:xfrm>
        </p:spPr>
        <p:txBody>
          <a:bodyPr/>
          <a:lstStyle>
            <a:lvl1pPr>
              <a:buNone/>
              <a:defRPr/>
            </a:lvl1pPr>
          </a:lstStyle>
          <a:p>
            <a:r>
              <a:t>Click to edit Master title style</a:t>
            </a:r>
          </a:p>
        </p:txBody>
      </p:sp>
      <p:sp>
        <p:nvSpPr>
          <p:cNvPr id="7" name="Text Placeholder 6">
            <a:extLst>
              <a:ext uri="{FF2B5EF4-FFF2-40B4-BE49-F238E27FC236}">
                <a16:creationId xmlns:a16="http://schemas.microsoft.com/office/drawing/2014/main" id="{A6653D0B-638B-EB5D-F379-EF10C80DCCA3}"/>
              </a:ext>
            </a:extLst>
          </p:cNvPr>
          <p:cNvSpPr>
            <a:spLocks noGrp="1"/>
          </p:cNvSpPr>
          <p:nvPr>
            <p:ph type="body" idx="13"/>
          </p:nvPr>
        </p:nvSpPr>
        <p:spPr>
          <a:xfrm>
            <a:off x="323851" y="3429000"/>
            <a:ext cx="3328988" cy="2646363"/>
          </a:xfrm>
        </p:spPr>
        <p:txBody>
          <a:bodyPr anchor="b"/>
          <a:lstStyle>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9" name="Picture Placeholder 5">
            <a:extLst>
              <a:ext uri="{FF2B5EF4-FFF2-40B4-BE49-F238E27FC236}">
                <a16:creationId xmlns:a16="http://schemas.microsoft.com/office/drawing/2014/main" id="{798C8AA3-6350-A299-E288-D693A8EC8932}"/>
              </a:ext>
            </a:extLst>
          </p:cNvPr>
          <p:cNvSpPr>
            <a:spLocks noGrp="1"/>
          </p:cNvSpPr>
          <p:nvPr>
            <p:ph type="pic" idx="14" hasCustomPrompt="1"/>
          </p:nvPr>
        </p:nvSpPr>
        <p:spPr>
          <a:xfrm>
            <a:off x="4049713" y="622300"/>
            <a:ext cx="7818436" cy="5453063"/>
          </a:xfrm>
          <a:prstGeom prst="roundRect">
            <a:avLst>
              <a:gd name="adj" fmla="val 1618"/>
            </a:avLst>
          </a:prstGeom>
          <a:solidFill>
            <a:schemeClr val="bg1">
              <a:alpha val="10000"/>
            </a:schemeClr>
          </a:solidFill>
        </p:spPr>
        <p:txBody>
          <a:bodyPr tIns="1737360"/>
          <a:lstStyle>
            <a:lvl1pPr marL="0" indent="0" algn="ctr">
              <a:buNone/>
              <a:defRPr/>
            </a:lvl1pPr>
          </a:lstStyle>
          <a:p>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2 Slide Section, Title 1,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D9785467-C0DB-C17E-5173-C6C6A323A1C3}"/>
              </a:ext>
            </a:extLst>
          </p:cNvPr>
          <p:cNvSpPr>
            <a:spLocks noGrp="1"/>
          </p:cNvSpPr>
          <p:nvPr>
            <p:ph type="body" idx="12" hasCustomPrompt="1"/>
          </p:nvPr>
        </p:nvSpPr>
        <p:spPr>
          <a:xfrm>
            <a:off x="323850" y="0"/>
            <a:ext cx="5772150" cy="466342"/>
          </a:xfrm>
        </p:spPr>
        <p:txBody>
          <a:bodyPr anchor="b"/>
          <a:lstStyle>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5281613" cy="1247775"/>
          </a:xfrm>
        </p:spPr>
        <p:txBody>
          <a:bodyPr wrap="square" anchor="t">
            <a:noAutofit/>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2739B37-658D-FBF5-94C3-66EECB73F7D0}"/>
              </a:ext>
            </a:extLst>
          </p:cNvPr>
          <p:cNvSpPr>
            <a:spLocks noGrp="1"/>
          </p:cNvSpPr>
          <p:nvPr>
            <p:ph type="pic" idx="13" hasCustomPrompt="1"/>
          </p:nvPr>
        </p:nvSpPr>
        <p:spPr>
          <a:xfrm>
            <a:off x="6096001" y="320675"/>
            <a:ext cx="5766436" cy="5754687"/>
          </a:xfrm>
          <a:prstGeom prst="roundRect">
            <a:avLst>
              <a:gd name="adj" fmla="val 1714"/>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a:t>
            </a:r>
            <a:br/>
            <a:r>
              <a:t>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ull Margin Photo 1">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p:txBody>
          <a:bodyPr/>
          <a:lstStyle>
            <a:lvl1pPr>
              <a:buNone/>
              <a:defRPr/>
            </a:lvl1pPr>
          </a:lstStyle>
          <a:p>
            <a:r>
              <a:t>Click to edit Master title style</a:t>
            </a:r>
          </a:p>
        </p:txBody>
      </p:sp>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323850" y="952500"/>
            <a:ext cx="11544300" cy="5122863"/>
          </a:xfrm>
          <a:prstGeom prst="roundRect">
            <a:avLst>
              <a:gd name="adj" fmla="val 1503"/>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ubtitle, Full Margin Photo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1154430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2" name="Picture Placeholder 5">
            <a:extLst>
              <a:ext uri="{FF2B5EF4-FFF2-40B4-BE49-F238E27FC236}">
                <a16:creationId xmlns:a16="http://schemas.microsoft.com/office/drawing/2014/main" id="{99D23610-D323-6271-753B-C40A3678BD66}"/>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ection, Title, Full Margin Photo 1">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F8AB58A4-E099-9FBA-C32F-D0D994BC760F}"/>
              </a:ext>
            </a:extLst>
          </p:cNvPr>
          <p:cNvSpPr>
            <a:spLocks noGrp="1"/>
          </p:cNvSpPr>
          <p:nvPr>
            <p:ph type="body" idx="12" hasCustomPrompt="1"/>
          </p:nvPr>
        </p:nvSpPr>
        <p:spPr>
          <a:xfrm>
            <a:off x="323850" y="-2"/>
            <a:ext cx="5772150" cy="466344"/>
          </a:xfrm>
        </p:spPr>
        <p:txBody>
          <a:bodyPr anchor="b"/>
          <a:lstStyle>
            <a:lvl1pPr marL="0" indent="0">
              <a:buNone/>
              <a:defRPr sz="1200"/>
            </a:lvl1pPr>
          </a:lstStyle>
          <a:p>
            <a:pPr lvl="0">
              <a:buNone/>
            </a:pPr>
            <a:r>
              <a:t>Section title</a:t>
            </a:r>
          </a:p>
        </p:txBody>
      </p:sp>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622300"/>
            <a:ext cx="11544300" cy="492443"/>
          </a:xfrm>
        </p:spPr>
        <p:txBody>
          <a:bodyPr/>
          <a:lstStyle>
            <a:lvl1pPr>
              <a:buNone/>
              <a:defRPr/>
            </a:lvl1pPr>
          </a:lstStyle>
          <a:p>
            <a:r>
              <a:t>Click to edit Master title style</a:t>
            </a:r>
          </a:p>
        </p:txBody>
      </p:sp>
      <p:sp>
        <p:nvSpPr>
          <p:cNvPr id="7" name="Picture Placeholder 5">
            <a:extLst>
              <a:ext uri="{FF2B5EF4-FFF2-40B4-BE49-F238E27FC236}">
                <a16:creationId xmlns:a16="http://schemas.microsoft.com/office/drawing/2014/main" id="{E170B322-9DD5-07FB-D258-3DA95EF8E7B1}"/>
              </a:ext>
            </a:extLst>
          </p:cNvPr>
          <p:cNvSpPr>
            <a:spLocks noGrp="1"/>
          </p:cNvSpPr>
          <p:nvPr>
            <p:ph type="pic" idx="13" hasCustomPrompt="1"/>
          </p:nvPr>
        </p:nvSpPr>
        <p:spPr>
          <a:xfrm>
            <a:off x="323850" y="1244600"/>
            <a:ext cx="11544300" cy="4830763"/>
          </a:xfrm>
          <a:prstGeom prst="roundRect">
            <a:avLst>
              <a:gd name="adj" fmla="val 1897"/>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ull-bleed Photo,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4" name="Footer Placeholder 3">
            <a:extLst>
              <a:ext uri="{FF2B5EF4-FFF2-40B4-BE49-F238E27FC236}">
                <a16:creationId xmlns:a16="http://schemas.microsoft.com/office/drawing/2014/main" id="{DB168980-BFE5-40AF-63BF-9DB031B379C4}"/>
              </a:ext>
            </a:extLst>
          </p:cNvPr>
          <p:cNvSpPr>
            <a:spLocks noGrp="1"/>
          </p:cNvSpPr>
          <p:nvPr>
            <p:ph type="ftr" idx="13"/>
          </p:nvPr>
        </p:nvSpPr>
        <p:spPr/>
        <p:txBody>
          <a:bodyPr/>
          <a:lstStyle/>
          <a:p>
            <a:pPr defTabSz="814318">
              <a:buNone/>
            </a:pPr>
            <a:r>
              <a:t>Session ID: BRKSEC-XXXX</a:t>
            </a:r>
          </a:p>
        </p:txBody>
      </p:sp>
      <p:sp>
        <p:nvSpPr>
          <p:cNvPr id="5" name="Slide Number Placeholder 4">
            <a:extLst>
              <a:ext uri="{FF2B5EF4-FFF2-40B4-BE49-F238E27FC236}">
                <a16:creationId xmlns:a16="http://schemas.microsoft.com/office/drawing/2014/main" id="{7E7B9760-CDAA-BC58-F236-F1837F40C2DB}"/>
              </a:ext>
            </a:extLst>
          </p:cNvPr>
          <p:cNvSpPr>
            <a:spLocks noGrp="1"/>
          </p:cNvSpPr>
          <p:nvPr>
            <p:ph type="sldNum" idx="14"/>
          </p:nvPr>
        </p:nvSpPr>
        <p:spPr/>
        <p:txBody>
          <a:bodyPr/>
          <a:lstStyle/>
          <a:p>
            <a:fld id="{C3C42FAE-7A31-41D3-A712-51D9B15D0B10}" type="slidenum">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ull Bleed Photo, Titl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722312" y="4540250"/>
            <a:ext cx="10747375" cy="1071563"/>
          </a:xfrm>
        </p:spPr>
        <p:txBody>
          <a:bodyPr anchor="b"/>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Full-bleed Photo, Section, Titl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6858000"/>
          </a:xfrm>
          <a:prstGeom prst="roundRect">
            <a:avLst>
              <a:gd name="adj" fmla="val 0"/>
            </a:avLst>
          </a:prstGeom>
        </p:spPr>
        <p:txBody>
          <a:bodyPr tIns="2103120"/>
          <a:lstStyle>
            <a:lvl1pPr marL="0" indent="0" algn="ctr">
              <a:buNone/>
              <a:defRPr/>
            </a:lvl1pPr>
          </a:lstStyle>
          <a:p>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Full-bleed Photo, Section, Titl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1697038" y="-7937"/>
            <a:ext cx="8794750" cy="466344"/>
          </a:xfrm>
        </p:spPr>
        <p:txBody>
          <a:bodyPr anchor="b"/>
          <a:lstStyle>
            <a:lvl1pPr marL="0" indent="0" algn="ctr">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1697038" y="952500"/>
            <a:ext cx="8794750" cy="917575"/>
          </a:xfrm>
        </p:spPr>
        <p:txBody>
          <a:bodyPr/>
          <a:lstStyle>
            <a:lvl1pPr algn="ctr">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Upper 2/3 Photo, Section, Tit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CFD4AF9-7F36-FA7F-469A-A71DBA5AF531}"/>
              </a:ext>
            </a:extLst>
          </p:cNvPr>
          <p:cNvSpPr>
            <a:spLocks noGrp="1"/>
          </p:cNvSpPr>
          <p:nvPr>
            <p:ph type="pic" idx="12" hasCustomPrompt="1"/>
          </p:nvPr>
        </p:nvSpPr>
        <p:spPr>
          <a:xfrm>
            <a:off x="0" y="0"/>
            <a:ext cx="12192000" cy="4675188"/>
          </a:xfrm>
          <a:prstGeom prst="roundRect">
            <a:avLst>
              <a:gd name="adj" fmla="val 0"/>
            </a:avLst>
          </a:prstGeom>
          <a:solidFill>
            <a:schemeClr val="bg1">
              <a:alpha val="10000"/>
            </a:schemeClr>
          </a:solidFill>
        </p:spPr>
        <p:txBody>
          <a:bodyPr vert="horz" lIns="0" tIns="1463040" rIns="0" bIns="0">
            <a:noAutofit/>
          </a:bodyPr>
          <a:lstStyle>
            <a:lvl1pPr>
              <a:buNone/>
              <a:defRPr/>
            </a:lvl1pPr>
          </a:lstStyle>
          <a:p>
            <a:pPr marL="0" lvl="0" indent="0" algn="ctr">
              <a:buNone/>
            </a:pPr>
            <a:r>
              <a:t>To add your image, drag and drop it here </a:t>
            </a:r>
            <a:br/>
            <a:r>
              <a:t>or click the icon below</a:t>
            </a:r>
          </a:p>
        </p:txBody>
      </p:sp>
      <p:sp>
        <p:nvSpPr>
          <p:cNvPr id="4" name="Text Placeholder 3">
            <a:extLst>
              <a:ext uri="{FF2B5EF4-FFF2-40B4-BE49-F238E27FC236}">
                <a16:creationId xmlns:a16="http://schemas.microsoft.com/office/drawing/2014/main" id="{F8FE21AB-8C85-5F58-60F8-E68917124A6D}"/>
              </a:ext>
            </a:extLst>
          </p:cNvPr>
          <p:cNvSpPr>
            <a:spLocks noGrp="1"/>
          </p:cNvSpPr>
          <p:nvPr>
            <p:ph type="body" idx="13" hasCustomPrompt="1"/>
          </p:nvPr>
        </p:nvSpPr>
        <p:spPr>
          <a:xfrm>
            <a:off x="323850" y="-7937"/>
            <a:ext cx="8612188" cy="466344"/>
          </a:xfrm>
        </p:spPr>
        <p:txBody>
          <a:bodyPr anchor="b"/>
          <a:lstStyle>
            <a:lvl1pPr marL="0" indent="0" algn="l">
              <a:buNone/>
              <a:defRPr sz="1200"/>
            </a:lvl1pPr>
            <a:lvl2pPr algn="ctr">
              <a:buNone/>
              <a:defRPr sz="1400"/>
            </a:lvl2pPr>
            <a:lvl3pPr algn="ctr">
              <a:buNone/>
              <a:defRPr sz="1200"/>
            </a:lvl3pPr>
            <a:lvl4pPr algn="ctr">
              <a:buNone/>
              <a:defRPr sz="1100"/>
            </a:lvl4pPr>
            <a:lvl5pPr algn="ctr">
              <a:buNone/>
              <a:defRPr sz="1050"/>
            </a:lvl5pPr>
          </a:lstStyle>
          <a:p>
            <a:pPr lvl="0">
              <a:buNone/>
            </a:pPr>
            <a:r>
              <a:t>Section title placeholder</a:t>
            </a:r>
          </a:p>
        </p:txBody>
      </p:sp>
      <p:sp>
        <p:nvSpPr>
          <p:cNvPr id="3" name="Title 2">
            <a:extLst>
              <a:ext uri="{FF2B5EF4-FFF2-40B4-BE49-F238E27FC236}">
                <a16:creationId xmlns:a16="http://schemas.microsoft.com/office/drawing/2014/main" id="{04349D14-3B3C-D0C6-6DFD-8321479B2C58}"/>
              </a:ext>
            </a:extLst>
          </p:cNvPr>
          <p:cNvSpPr>
            <a:spLocks noGrp="1"/>
          </p:cNvSpPr>
          <p:nvPr>
            <p:ph type="title"/>
          </p:nvPr>
        </p:nvSpPr>
        <p:spPr>
          <a:xfrm>
            <a:off x="323850" y="5003800"/>
            <a:ext cx="8612188" cy="1071563"/>
          </a:xfrm>
        </p:spPr>
        <p:txBody>
          <a:bodyPr/>
          <a:lstStyle>
            <a:lvl1pPr algn="l">
              <a:buNone/>
              <a:defRPr/>
            </a:lvl1pPr>
          </a:lstStyle>
          <a:p>
            <a:r>
              <a:t>Click to edit Master title style</a:t>
            </a:r>
          </a:p>
        </p:txBody>
      </p:sp>
      <p:sp>
        <p:nvSpPr>
          <p:cNvPr id="5" name="Footer Placeholder 4">
            <a:extLst>
              <a:ext uri="{FF2B5EF4-FFF2-40B4-BE49-F238E27FC236}">
                <a16:creationId xmlns:a16="http://schemas.microsoft.com/office/drawing/2014/main" id="{0C5C7D8B-10D2-2133-F08F-266FA09AD876}"/>
              </a:ext>
            </a:extLst>
          </p:cNvPr>
          <p:cNvSpPr>
            <a:spLocks noGrp="1"/>
          </p:cNvSpPr>
          <p:nvPr>
            <p:ph type="ftr" idx="14"/>
          </p:nvPr>
        </p:nvSpPr>
        <p:spPr/>
        <p:txBody>
          <a:bodyPr/>
          <a:lstStyle/>
          <a:p>
            <a:pPr defTabSz="814318">
              <a:buNone/>
            </a:pPr>
            <a:r>
              <a:t>Session ID: BRKSEC-XXXX</a:t>
            </a:r>
          </a:p>
        </p:txBody>
      </p:sp>
      <p:sp>
        <p:nvSpPr>
          <p:cNvPr id="7" name="Slide Number Placeholder 6">
            <a:extLst>
              <a:ext uri="{FF2B5EF4-FFF2-40B4-BE49-F238E27FC236}">
                <a16:creationId xmlns:a16="http://schemas.microsoft.com/office/drawing/2014/main" id="{705F3EDC-58FE-7AC5-F13A-6FDE8EDA836E}"/>
              </a:ext>
            </a:extLst>
          </p:cNvPr>
          <p:cNvSpPr>
            <a:spLocks noGrp="1"/>
          </p:cNvSpPr>
          <p:nvPr>
            <p:ph type="sldNum" idx="15"/>
          </p:nvPr>
        </p:nvSpPr>
        <p:spPr/>
        <p:txBody>
          <a:bodyPr/>
          <a:lstStyle/>
          <a:p>
            <a:fld id="{C3C42FAE-7A31-41D3-A712-51D9B15D0B10}" type="slidenum">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1">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1132840"/>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gradFill rotWithShape="1">
              <a:gsLst>
                <a:gs pos="0">
                  <a:schemeClr val="accent1"/>
                </a:gs>
                <a:gs pos="100000">
                  <a:schemeClr val="accent2"/>
                </a:gs>
              </a:gsLst>
              <a:lin ang="2700000" scaled="1"/>
              <a:tileRect/>
            </a:gradFill>
            <a:prstDash val="solid"/>
          </a:ln>
        </p:spPr>
        <p:txBody>
          <a:bodyPr anchor="ctr"/>
          <a:lstStyle/>
          <a:p>
            <a:endParaRPr>
              <a:gradFill>
                <a:gsLst>
                  <a:gs pos="0">
                    <a:srgbClr val="009DE2"/>
                  </a:gs>
                  <a:gs pos="100000">
                    <a:schemeClr val="accent2"/>
                  </a:gs>
                </a:gsLst>
                <a:lin ang="2700000" scaled="1"/>
              </a:gradFill>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876424"/>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360863"/>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Graphic 4">
            <a:extLst>
              <a:ext uri="{FF2B5EF4-FFF2-40B4-BE49-F238E27FC236}">
                <a16:creationId xmlns:a16="http://schemas.microsoft.com/office/drawing/2014/main" id="{4B52BC46-48EA-B916-39B5-C5FF3FB612BC}"/>
              </a:ext>
            </a:extLst>
          </p:cNvPr>
          <p:cNvSpPr>
            <a:spLocks noGrp="1"/>
          </p:cNvSpPr>
          <p:nvPr/>
        </p:nvSpPr>
        <p:spPr>
          <a:xfrm>
            <a:off x="5731161" y="963295"/>
            <a:ext cx="516694" cy="416701"/>
          </a:xfrm>
          <a:custGeom>
            <a:avLst/>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ahLst/>
            <a:cxn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a:ln w="15875">
            <a:solidFill>
              <a:schemeClr val="bg1"/>
            </a:solidFill>
            <a:prstDash val="solid"/>
          </a:ln>
        </p:spPr>
        <p:txBody>
          <a:bodyPr anchor="ctr"/>
          <a:lstStyle/>
          <a:p>
            <a:endParaRPr/>
          </a:p>
        </p:txBody>
      </p:sp>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1697038" y="1706879"/>
            <a:ext cx="8794750" cy="2174875"/>
          </a:xfrm>
        </p:spPr>
        <p:txBody>
          <a:bodyPr/>
          <a:lstStyle>
            <a:lvl1pPr algn="ctr">
              <a:buNone/>
              <a:defRPr sz="4000"/>
            </a:lvl1pPr>
          </a:lstStyle>
          <a:p>
            <a:r>
              <a:t>Quote slide 1, Lorem ipsum dolor sit amet, consectetuer adipiscing elit, sed diam nonummy nibh euismod tincidunt ut laoreet dolore</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1697038" y="4191318"/>
            <a:ext cx="8794750" cy="625475"/>
          </a:xfrm>
        </p:spPr>
        <p:txBody>
          <a:bodyPr/>
          <a:lstStyle>
            <a:lvl1pPr marL="0" indent="0" algn="ctr">
              <a:lnSpc>
                <a:spcPct val="110000"/>
              </a:lnSpc>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3">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368BC5-9F97-A637-CA24-35B03B63AA5A}"/>
              </a:ext>
            </a:extLst>
          </p:cNvPr>
          <p:cNvSpPr>
            <a:spLocks noGrp="1"/>
          </p:cNvSpPr>
          <p:nvPr>
            <p:ph type="title" hasCustomPrompt="1"/>
          </p:nvPr>
        </p:nvSpPr>
        <p:spPr>
          <a:xfrm>
            <a:off x="6096000" y="1244600"/>
            <a:ext cx="5373688" cy="3167380"/>
          </a:xfrm>
        </p:spPr>
        <p:txBody>
          <a:bodyPr/>
          <a:lstStyle>
            <a:lvl1pPr algn="l">
              <a:buNone/>
              <a:defRPr sz="4000"/>
            </a:lvl1pPr>
          </a:lstStyle>
          <a:p>
            <a:r>
              <a:t>“Quote slide 1, Lorem ipsum dolor sit amet, consect adipiscing elit, sed diam no nummy nibh euismod tincidunt ut laoreet”</a:t>
            </a:r>
          </a:p>
        </p:txBody>
      </p:sp>
      <p:sp>
        <p:nvSpPr>
          <p:cNvPr id="7" name="Text Placeholder 6">
            <a:extLst>
              <a:ext uri="{FF2B5EF4-FFF2-40B4-BE49-F238E27FC236}">
                <a16:creationId xmlns:a16="http://schemas.microsoft.com/office/drawing/2014/main" id="{FE765B2C-5060-1909-C557-ADA0DD5D99D3}"/>
              </a:ext>
            </a:extLst>
          </p:cNvPr>
          <p:cNvSpPr>
            <a:spLocks noGrp="1"/>
          </p:cNvSpPr>
          <p:nvPr>
            <p:ph type="body" idx="12" hasCustomPrompt="1"/>
          </p:nvPr>
        </p:nvSpPr>
        <p:spPr>
          <a:xfrm>
            <a:off x="6096000" y="4726305"/>
            <a:ext cx="5373688" cy="673417"/>
          </a:xfrm>
        </p:spPr>
        <p:txBody>
          <a:bodyPr/>
          <a:lstStyle>
            <a:lvl1pPr marL="0" indent="0" algn="l">
              <a:spcAft>
                <a:spcPts val="0"/>
              </a:spcAft>
              <a:buNone/>
              <a:defRPr sz="2000"/>
            </a:lvl1pPr>
          </a:lstStyle>
          <a:p>
            <a:pPr lvl="0">
              <a:buNone/>
            </a:pPr>
            <a:r>
              <a:t>Speaker Name</a:t>
            </a:r>
          </a:p>
          <a:p>
            <a:pPr lvl="0">
              <a:buNone/>
            </a:pPr>
            <a:r>
              <a:t>Speaker Role</a:t>
            </a:r>
          </a:p>
        </p:txBody>
      </p:sp>
      <p:sp>
        <p:nvSpPr>
          <p:cNvPr id="3" name="Footer Placeholder 2">
            <a:extLst>
              <a:ext uri="{FF2B5EF4-FFF2-40B4-BE49-F238E27FC236}">
                <a16:creationId xmlns:a16="http://schemas.microsoft.com/office/drawing/2014/main" id="{54CFFC5C-7657-95D9-3E3C-A05AC680CBA5}"/>
              </a:ext>
            </a:extLst>
          </p:cNvPr>
          <p:cNvSpPr>
            <a:spLocks noGrp="1"/>
          </p:cNvSpPr>
          <p:nvPr>
            <p:ph type="ftr" idx="10"/>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AA999777-CA26-AFF0-62B3-9D957F6FDE0C}"/>
              </a:ext>
            </a:extLst>
          </p:cNvPr>
          <p:cNvSpPr>
            <a:spLocks noGrp="1"/>
          </p:cNvSpPr>
          <p:nvPr>
            <p:ph type="sldNum" idx="11"/>
          </p:nvPr>
        </p:nvSpPr>
        <p:spPr/>
        <p:txBody>
          <a:bodyPr/>
          <a:lstStyle/>
          <a:p>
            <a:fld id="{C3C42FAE-7A31-41D3-A712-51D9B15D0B10}" type="slidenum">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2 Slide, Title, Body Copy, Graphic">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EFB629D-1461-3E6E-194F-1E2781C58CDE}"/>
              </a:ext>
            </a:extLst>
          </p:cNvPr>
          <p:cNvSpPr>
            <a:spLocks noGrp="1"/>
          </p:cNvSpPr>
          <p:nvPr>
            <p:ph type="title"/>
          </p:nvPr>
        </p:nvSpPr>
        <p:spPr>
          <a:xfrm>
            <a:off x="323850" y="298146"/>
            <a:ext cx="5683250" cy="946454"/>
          </a:xfrm>
        </p:spPr>
        <p:txBody>
          <a:bodyPr/>
          <a:lstStyle/>
          <a:p>
            <a:r>
              <a:t>Click to edit Master title style</a:t>
            </a:r>
          </a:p>
        </p:txBody>
      </p:sp>
      <p:sp>
        <p:nvSpPr>
          <p:cNvPr id="5" name="Text Placeholder 4">
            <a:extLst>
              <a:ext uri="{FF2B5EF4-FFF2-40B4-BE49-F238E27FC236}">
                <a16:creationId xmlns:a16="http://schemas.microsoft.com/office/drawing/2014/main" id="{3402D1E1-C16C-597A-29F4-4F0B59039571}"/>
              </a:ext>
            </a:extLst>
          </p:cNvPr>
          <p:cNvSpPr>
            <a:spLocks noGrp="1"/>
          </p:cNvSpPr>
          <p:nvPr>
            <p:ph type="body" idx="11" hasCustomPrompt="1"/>
          </p:nvPr>
        </p:nvSpPr>
        <p:spPr>
          <a:xfrm>
            <a:off x="323850" y="1555750"/>
            <a:ext cx="5683250" cy="923925"/>
          </a:xfrm>
        </p:spPr>
        <p:txBody>
          <a:bodyPr/>
          <a:lstStyle>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a:pPr lvl="0">
              <a:buNone/>
            </a:pPr>
            <a:r>
              <a:t>Body copy placeholder</a:t>
            </a:r>
          </a:p>
        </p:txBody>
      </p:sp>
      <p:sp>
        <p:nvSpPr>
          <p:cNvPr id="4" name="Footer Placeholder 3">
            <a:extLst>
              <a:ext uri="{FF2B5EF4-FFF2-40B4-BE49-F238E27FC236}">
                <a16:creationId xmlns:a16="http://schemas.microsoft.com/office/drawing/2014/main" id="{60599622-5FA2-FEEE-3C33-0A896ADDB122}"/>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EC50E13-06E5-F6BB-7667-EE8E9893D04E}"/>
              </a:ext>
            </a:extLst>
          </p:cNvPr>
          <p:cNvSpPr>
            <a:spLocks noGrp="1"/>
          </p:cNvSpPr>
          <p:nvPr>
            <p:ph type="sldNum" idx="10"/>
          </p:nvPr>
        </p:nvSpPr>
        <p:spPr/>
        <p:txBody>
          <a:bodyPr/>
          <a:lstStyle/>
          <a:p>
            <a:fld id="{C3C42FAE-7A31-41D3-A712-51D9B15D0B10}" type="slidenum">
              <a:t>‹#›</a:t>
            </a:fld>
            <a:endParaRPr/>
          </a:p>
        </p:txBody>
      </p:sp>
      <p:sp>
        <p:nvSpPr>
          <p:cNvPr id="2" name="Footer Placeholder 1">
            <a:extLst>
              <a:ext uri="{FF2B5EF4-FFF2-40B4-BE49-F238E27FC236}">
                <a16:creationId xmlns:a16="http://schemas.microsoft.com/office/drawing/2014/main" id="{8005315C-F3C4-4817-6DB5-825E9E8E9690}"/>
              </a:ext>
            </a:extLst>
          </p:cNvPr>
          <p:cNvSpPr>
            <a:spLocks noGrp="1"/>
          </p:cNvSpPr>
          <p:nvPr>
            <p:ph type="ftr" idx="11"/>
          </p:nvPr>
        </p:nvSpPr>
        <p:spPr/>
        <p:txBody>
          <a:bodyPr/>
          <a:lstStyle/>
          <a:p>
            <a:pPr defTabSz="814318">
              <a:buNone/>
            </a:pPr>
            <a:r>
              <a:t>Session ID: BRKSEC-XXXX</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Subtitle, Chart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9" name="Chart Placeholder 8">
            <a:extLst>
              <a:ext uri="{FF2B5EF4-FFF2-40B4-BE49-F238E27FC236}">
                <a16:creationId xmlns:a16="http://schemas.microsoft.com/office/drawing/2014/main" id="{BD67761C-12AC-06B4-1032-66C47B765FE0}"/>
              </a:ext>
            </a:extLst>
          </p:cNvPr>
          <p:cNvSpPr>
            <a:spLocks noGrp="1"/>
          </p:cNvSpPr>
          <p:nvPr>
            <p:ph type="chart" idx="13" hasCustomPrompt="1"/>
          </p:nvPr>
        </p:nvSpPr>
        <p:spPr>
          <a:xfrm>
            <a:off x="722313" y="1555750"/>
            <a:ext cx="10747375" cy="4519613"/>
          </a:xfrm>
        </p:spPr>
        <p:txBody>
          <a:bodyPr tIns="914400"/>
          <a:lstStyle>
            <a:lvl1pPr marL="0" indent="0" algn="ctr">
              <a:buNone/>
              <a:defRPr/>
            </a:lvl1pPr>
          </a:lstStyle>
          <a:p>
            <a:r>
              <a:t>Click on icon below to add a chart</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le, Subtitle, Table 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E74D6FA-95EE-1CAF-BEA5-F32D06BA6158}"/>
              </a:ext>
            </a:extLst>
          </p:cNvPr>
          <p:cNvSpPr>
            <a:spLocks noGrp="1"/>
          </p:cNvSpPr>
          <p:nvPr>
            <p:ph type="title"/>
          </p:nvPr>
        </p:nvSpPr>
        <p:spPr/>
        <p:txBody>
          <a:bodyPr/>
          <a:lstStyle/>
          <a:p>
            <a:r>
              <a:t>Click to edit Master title style</a:t>
            </a:r>
          </a:p>
        </p:txBody>
      </p:sp>
      <p:sp>
        <p:nvSpPr>
          <p:cNvPr id="5" name="Text Placeholder 4">
            <a:extLst>
              <a:ext uri="{FF2B5EF4-FFF2-40B4-BE49-F238E27FC236}">
                <a16:creationId xmlns:a16="http://schemas.microsoft.com/office/drawing/2014/main" id="{CDCDE918-878C-B6E2-7015-CE4BF7A0B7FA}"/>
              </a:ext>
            </a:extLst>
          </p:cNvPr>
          <p:cNvSpPr>
            <a:spLocks noGrp="1"/>
          </p:cNvSpPr>
          <p:nvPr>
            <p:ph type="body" idx="11" hasCustomPrompt="1"/>
          </p:nvPr>
        </p:nvSpPr>
        <p:spPr>
          <a:xfrm>
            <a:off x="323850" y="806450"/>
            <a:ext cx="5772150" cy="292100"/>
          </a:xfrm>
        </p:spPr>
        <p:txBody>
          <a:bodyPr/>
          <a:lstStyle>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a:pPr lvl="0">
              <a:buNone/>
            </a:pPr>
            <a:r>
              <a:t>Subtitle placeholder</a:t>
            </a:r>
          </a:p>
        </p:txBody>
      </p:sp>
      <p:sp>
        <p:nvSpPr>
          <p:cNvPr id="7" name="Table Placeholder 6">
            <a:extLst>
              <a:ext uri="{FF2B5EF4-FFF2-40B4-BE49-F238E27FC236}">
                <a16:creationId xmlns:a16="http://schemas.microsoft.com/office/drawing/2014/main" id="{B0E688F9-03DF-D354-A8AF-EF5349F39C6B}"/>
              </a:ext>
            </a:extLst>
          </p:cNvPr>
          <p:cNvSpPr>
            <a:spLocks noGrp="1"/>
          </p:cNvSpPr>
          <p:nvPr>
            <p:ph type="tbl" idx="13" hasCustomPrompt="1"/>
          </p:nvPr>
        </p:nvSpPr>
        <p:spPr>
          <a:xfrm>
            <a:off x="323850" y="1555750"/>
            <a:ext cx="11544300" cy="4519613"/>
          </a:xfrm>
        </p:spPr>
        <p:txBody>
          <a:bodyPr tIns="914400"/>
          <a:lstStyle>
            <a:lvl1pPr marL="0" indent="0" algn="ctr">
              <a:buNone/>
              <a:defRPr/>
            </a:lvl1pPr>
          </a:lstStyle>
          <a:p>
            <a:r>
              <a:t>Click on icon below to add a table</a:t>
            </a:r>
          </a:p>
        </p:txBody>
      </p:sp>
      <p:sp>
        <p:nvSpPr>
          <p:cNvPr id="4" name="Footer Placeholder 3">
            <a:extLst>
              <a:ext uri="{FF2B5EF4-FFF2-40B4-BE49-F238E27FC236}">
                <a16:creationId xmlns:a16="http://schemas.microsoft.com/office/drawing/2014/main" id="{0D345BA0-AFF9-CA34-CF89-66A166DB409B}"/>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2 Slide Title, Chart">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7114D6-E2A0-BB7F-D120-F920E817C802}"/>
              </a:ext>
            </a:extLst>
          </p:cNvPr>
          <p:cNvSpPr>
            <a:spLocks noGrp="1"/>
          </p:cNvSpPr>
          <p:nvPr>
            <p:ph type="title"/>
          </p:nvPr>
        </p:nvSpPr>
        <p:spPr>
          <a:xfrm>
            <a:off x="323850" y="2339181"/>
            <a:ext cx="5281613" cy="2179638"/>
          </a:xfrm>
        </p:spPr>
        <p:txBody>
          <a:bodyPr wrap="square" anchor="ctr">
            <a:noAutofit/>
          </a:bodyPr>
          <a:lstStyle>
            <a:lvl1pPr>
              <a:buNone/>
              <a:defRPr/>
            </a:lvl1pPr>
          </a:lstStyle>
          <a:p>
            <a:r>
              <a:t>Click to edit Master title style</a:t>
            </a:r>
          </a:p>
        </p:txBody>
      </p:sp>
      <p:sp>
        <p:nvSpPr>
          <p:cNvPr id="6" name="Chart Placeholder 5">
            <a:extLst>
              <a:ext uri="{FF2B5EF4-FFF2-40B4-BE49-F238E27FC236}">
                <a16:creationId xmlns:a16="http://schemas.microsoft.com/office/drawing/2014/main" id="{89EC94CF-F758-4A7C-3B39-A1EFC1EA815A}"/>
              </a:ext>
            </a:extLst>
          </p:cNvPr>
          <p:cNvSpPr>
            <a:spLocks noGrp="1"/>
          </p:cNvSpPr>
          <p:nvPr>
            <p:ph type="chart" idx="12" hasCustomPrompt="1"/>
          </p:nvPr>
        </p:nvSpPr>
        <p:spPr>
          <a:xfrm>
            <a:off x="6581775" y="952500"/>
            <a:ext cx="4887913" cy="4968875"/>
          </a:xfrm>
        </p:spPr>
        <p:txBody>
          <a:bodyPr tIns="914400"/>
          <a:lstStyle>
            <a:lvl1pPr marL="0" indent="0" algn="ctr">
              <a:buNone/>
              <a:defRPr/>
            </a:lvl1pPr>
          </a:lstStyle>
          <a:p>
            <a:r>
              <a:t>Click icon below to add chart</a:t>
            </a:r>
          </a:p>
        </p:txBody>
      </p:sp>
      <p:sp>
        <p:nvSpPr>
          <p:cNvPr id="4" name="Footer Placeholder 3">
            <a:extLst>
              <a:ext uri="{FF2B5EF4-FFF2-40B4-BE49-F238E27FC236}">
                <a16:creationId xmlns:a16="http://schemas.microsoft.com/office/drawing/2014/main" id="{6B01575F-C481-6715-1865-C24DCDB56C33}"/>
              </a:ext>
            </a:extLst>
          </p:cNvPr>
          <p:cNvSpPr>
            <a:spLocks noGrp="1"/>
          </p:cNvSpPr>
          <p:nvPr>
            <p:ph type="ftr" idx="11"/>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F288B697-7FF8-033A-E0D2-4C2717BFD5E6}"/>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tement 1, Title, Subtitle">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E0C9451-8976-3C96-3C4E-F9624BB318AB}"/>
              </a:ext>
            </a:extLst>
          </p:cNvPr>
          <p:cNvSpPr>
            <a:spLocks noGrp="1"/>
          </p:cNvSpPr>
          <p:nvPr>
            <p:ph type="title"/>
          </p:nvPr>
        </p:nvSpPr>
        <p:spPr>
          <a:xfrm>
            <a:off x="2278063" y="952500"/>
            <a:ext cx="7634288" cy="2476500"/>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3738563"/>
            <a:ext cx="7634287" cy="936625"/>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Footer Placeholder 3">
            <a:extLst>
              <a:ext uri="{FF2B5EF4-FFF2-40B4-BE49-F238E27FC236}">
                <a16:creationId xmlns:a16="http://schemas.microsoft.com/office/drawing/2014/main" id="{663146B2-9533-23DF-7DA9-0EBFD969778A}"/>
              </a:ext>
            </a:extLst>
          </p:cNvPr>
          <p:cNvSpPr>
            <a:spLocks noGrp="1"/>
          </p:cNvSpPr>
          <p:nvPr>
            <p:ph type="ftr" idx="12"/>
          </p:nvPr>
        </p:nvSpPr>
        <p:spPr/>
        <p:txBody>
          <a:bodyPr/>
          <a:lstStyle/>
          <a:p>
            <a:pPr defTabSz="814318">
              <a:buNone/>
            </a:pPr>
            <a:r>
              <a:t>Session ID: BRKSEC-XXXX</a:t>
            </a:r>
          </a:p>
        </p:txBody>
      </p:sp>
      <p:sp>
        <p:nvSpPr>
          <p:cNvPr id="3" name="Slide Number Placeholder 2">
            <a:extLst>
              <a:ext uri="{FF2B5EF4-FFF2-40B4-BE49-F238E27FC236}">
                <a16:creationId xmlns:a16="http://schemas.microsoft.com/office/drawing/2014/main" id="{8FD4EDA1-89C5-8341-7EDE-FCCAAA0607CB}"/>
              </a:ext>
            </a:extLst>
          </p:cNvPr>
          <p:cNvSpPr>
            <a:spLocks noGrp="1"/>
          </p:cNvSpPr>
          <p:nvPr>
            <p:ph type="sldNum" idx="10"/>
          </p:nvPr>
        </p:nvSpPr>
        <p:spPr/>
        <p:txBody>
          <a:bodyPr/>
          <a:lstStyle/>
          <a:p>
            <a:fld id="{C3C42FAE-7A31-41D3-A712-51D9B15D0B10}" type="slidenum">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Photo Statement 1, Title, Subtit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BE3366F-F43E-6996-B128-0A001300FD22}"/>
              </a:ext>
            </a:extLst>
          </p:cNvPr>
          <p:cNvSpPr>
            <a:spLocks noGrp="1"/>
          </p:cNvSpPr>
          <p:nvPr>
            <p:ph type="pic" idx="13" hasCustomPrompt="1"/>
          </p:nvPr>
        </p:nvSpPr>
        <p:spPr>
          <a:xfrm>
            <a:off x="0" y="0"/>
            <a:ext cx="12192000" cy="6858000"/>
          </a:xfrm>
        </p:spPr>
        <p:txBody>
          <a:bodyPr tIns="274320"/>
          <a:lstStyle>
            <a:lvl1pPr marL="0" indent="0" algn="ctr">
              <a:buNone/>
              <a:defRPr/>
            </a:lvl1pPr>
          </a:lstStyle>
          <a:p>
            <a:r>
              <a:t>Image placeholder</a:t>
            </a:r>
          </a:p>
        </p:txBody>
      </p:sp>
      <p:sp>
        <p:nvSpPr>
          <p:cNvPr id="6" name="Title 5">
            <a:extLst>
              <a:ext uri="{FF2B5EF4-FFF2-40B4-BE49-F238E27FC236}">
                <a16:creationId xmlns:a16="http://schemas.microsoft.com/office/drawing/2014/main" id="{576B6A35-8740-9D1E-A189-71BC5C742FCC}"/>
              </a:ext>
            </a:extLst>
          </p:cNvPr>
          <p:cNvSpPr>
            <a:spLocks noGrp="1"/>
          </p:cNvSpPr>
          <p:nvPr>
            <p:ph type="title"/>
          </p:nvPr>
        </p:nvSpPr>
        <p:spPr>
          <a:xfrm>
            <a:off x="2278063" y="952500"/>
            <a:ext cx="7634288" cy="1537465"/>
          </a:xfrm>
        </p:spPr>
        <p:txBody>
          <a:bodyPr anchor="b"/>
          <a:lstStyle>
            <a:lvl1pPr algn="ctr">
              <a:buNone/>
              <a:defRPr sz="4000"/>
            </a:lvl1pPr>
          </a:lstStyle>
          <a:p>
            <a:r>
              <a:t>Click to edit Master title style</a:t>
            </a:r>
          </a:p>
        </p:txBody>
      </p:sp>
      <p:sp>
        <p:nvSpPr>
          <p:cNvPr id="5" name="Text Placeholder 4">
            <a:extLst>
              <a:ext uri="{FF2B5EF4-FFF2-40B4-BE49-F238E27FC236}">
                <a16:creationId xmlns:a16="http://schemas.microsoft.com/office/drawing/2014/main" id="{96D4A8F9-F7CA-7BED-9594-D64F51EE92BB}"/>
              </a:ext>
            </a:extLst>
          </p:cNvPr>
          <p:cNvSpPr>
            <a:spLocks noGrp="1"/>
          </p:cNvSpPr>
          <p:nvPr>
            <p:ph type="body" idx="11"/>
          </p:nvPr>
        </p:nvSpPr>
        <p:spPr>
          <a:xfrm>
            <a:off x="2278063" y="2492374"/>
            <a:ext cx="7634287" cy="311152"/>
          </a:xfrm>
        </p:spPr>
        <p:txBody>
          <a:bodyPr/>
          <a:lstStyle>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a:pPr lvl="0">
              <a:buNone/>
            </a:pPr>
            <a:r>
              <a:t>Click to edit Master text styles</a:t>
            </a:r>
          </a:p>
        </p:txBody>
      </p:sp>
      <p:sp>
        <p:nvSpPr>
          <p:cNvPr id="3" name="Footer Placeholder 2">
            <a:extLst>
              <a:ext uri="{FF2B5EF4-FFF2-40B4-BE49-F238E27FC236}">
                <a16:creationId xmlns:a16="http://schemas.microsoft.com/office/drawing/2014/main" id="{5D703969-9100-4398-1394-9B9B34222C66}"/>
              </a:ext>
            </a:extLst>
          </p:cNvPr>
          <p:cNvSpPr>
            <a:spLocks noGrp="1"/>
          </p:cNvSpPr>
          <p:nvPr>
            <p:ph type="ftr" idx="14"/>
          </p:nvPr>
        </p:nvSpPr>
        <p:spPr/>
        <p:txBody>
          <a:bodyPr/>
          <a:lstStyle/>
          <a:p>
            <a:pPr defTabSz="814318">
              <a:buNone/>
            </a:pPr>
            <a:r>
              <a:t>Session ID: BRKSEC-XXXX</a:t>
            </a:r>
          </a:p>
        </p:txBody>
      </p:sp>
      <p:sp>
        <p:nvSpPr>
          <p:cNvPr id="4" name="Slide Number Placeholder 3">
            <a:extLst>
              <a:ext uri="{FF2B5EF4-FFF2-40B4-BE49-F238E27FC236}">
                <a16:creationId xmlns:a16="http://schemas.microsoft.com/office/drawing/2014/main" id="{D6CFB270-12CC-4B92-85FD-B7710644F26B}"/>
              </a:ext>
            </a:extLst>
          </p:cNvPr>
          <p:cNvSpPr>
            <a:spLocks noGrp="1"/>
          </p:cNvSpPr>
          <p:nvPr>
            <p:ph type="sldNum" idx="12"/>
          </p:nvPr>
        </p:nvSpPr>
        <p:spPr/>
        <p:txBody>
          <a:bodyPr/>
          <a:lstStyle/>
          <a:p>
            <a:fld id="{C3C42FAE-7A31-41D3-A712-51D9B15D0B10}" type="slidenum">
              <a:t>‹#›</a:t>
            </a:fld>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Segue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a:xfrm>
            <a:off x="323850" y="2492231"/>
            <a:ext cx="7634288" cy="1870075"/>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Segue 2">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DF17AB4-9E08-0A74-D302-44EB1D55BE7A}"/>
              </a:ext>
            </a:extLst>
          </p:cNvPr>
          <p:cNvSpPr>
            <a:spLocks noGrp="1"/>
          </p:cNvSpPr>
          <p:nvPr>
            <p:ph type="title"/>
          </p:nvPr>
        </p:nvSpPr>
        <p:spPr>
          <a:xfrm>
            <a:off x="323850" y="2492375"/>
            <a:ext cx="7634288" cy="1868488"/>
          </a:xfrm>
        </p:spPr>
        <p:txBody>
          <a:bodyPr wrap="square" anchor="ctr">
            <a:noAutofit/>
          </a:bodyPr>
          <a:lstStyle>
            <a:lvl1pPr>
              <a:buNone/>
              <a:defRPr sz="4000"/>
            </a:lvl1pPr>
          </a:lstStyle>
          <a:p>
            <a:r>
              <a:t>Click to edit Master title style</a:t>
            </a: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Segu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634288"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Segue 4">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1CEAE-269F-9001-82E1-E63AB48127E3}"/>
              </a:ext>
            </a:extLst>
          </p:cNvPr>
          <p:cNvSpPr>
            <a:spLocks noGrp="1"/>
          </p:cNvSpPr>
          <p:nvPr>
            <p:ph type="title"/>
          </p:nvPr>
        </p:nvSpPr>
        <p:spPr>
          <a:xfrm>
            <a:off x="323850" y="2492375"/>
            <a:ext cx="7235825" cy="1868487"/>
          </a:xfrm>
        </p:spPr>
        <p:txBody>
          <a:bodyPr anchor="ctr"/>
          <a:lstStyle>
            <a:lvl1pPr>
              <a:buNone/>
              <a:defRPr sz="4000">
                <a:solidFill>
                  <a:schemeClr val="bg1"/>
                </a:solidFill>
              </a:defRPr>
            </a:lvl1pPr>
          </a:lstStyle>
          <a:p>
            <a:r>
              <a:t>Click to edit Master title style</a:t>
            </a: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1">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25412D7-A614-E163-F131-6847698E7759}"/>
              </a:ext>
            </a:extLst>
          </p:cNvPr>
          <p:cNvSpPr>
            <a:spLocks noGrp="1"/>
          </p:cNvSpPr>
          <p:nvPr/>
        </p:nvSpPr>
        <p:spPr>
          <a:xfrm>
            <a:off x="0" y="1244601"/>
            <a:ext cx="10888663" cy="4367212"/>
          </a:xfrm>
          <a:prstGeom prst="rect">
            <a:avLst/>
          </a:prstGeom>
          <a:solidFill>
            <a:schemeClr val="tx1"/>
          </a:solidFill>
          <a:ln w="9525">
            <a:noFill/>
          </a:ln>
        </p:spPr>
        <p:style>
          <a:lnRef idx="2">
            <a:schemeClr val="accent1">
              <a:shade val="50000"/>
            </a:schemeClr>
          </a:lnRef>
          <a:fillRef idx="1">
            <a:schemeClr val="accent1"/>
          </a:fillRef>
          <a:effectRef idx="0">
            <a:schemeClr val="accent1"/>
          </a:effectRef>
          <a:fontRef idx="minor">
            <a:schemeClr val="lt1"/>
          </a:fontRef>
        </p:style>
        <p:txBody>
          <a:bodyPr lIns="182880" tIns="182880" rIns="182880" bIns="182880" anchor="ctr"/>
          <a:lstStyle/>
          <a:p>
            <a:pPr algn="ctr">
              <a:buNone/>
            </a:pPr>
            <a:endParaRPr sz="1600">
              <a:solidFill>
                <a:schemeClr val="bg1"/>
              </a:solidFill>
            </a:endParaRPr>
          </a:p>
        </p:txBody>
      </p:sp>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pic>
        <p:nvPicPr>
          <p:cNvPr id="7" name="Picture 7"/>
          <p:cNvPicPr>
            <a:picLocks noChangeAspect="1"/>
          </p:cNvPicPr>
          <p:nvPr/>
        </p:nvPicPr>
        <p:blipFill>
          <a:blip>
            <a:extLst>
              <a:ext uri="{96DAC541-7B7A-43D3-8B79-37D633B846F1}">
                <asvg:svgBlip xmlns:asvg="http://schemas.microsoft.com/office/drawing/2016/SVG/main" r:embed="rId3"/>
              </a:ext>
            </a:extLst>
          </a:blip>
          <a:srcRect/>
          <a:stretch/>
        </p:blipFill>
        <p:spPr>
          <a:xfrm>
            <a:off x="9058274" y="3188776"/>
            <a:ext cx="914400" cy="480447"/>
          </a:xfrm>
          <a:prstGeom prst="rect">
            <a:avLst/>
          </a:prstGeom>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Thank you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FD99A5-A6E1-0514-02DB-84C6BD18783A}"/>
              </a:ext>
            </a:extLst>
          </p:cNvPr>
          <p:cNvSpPr>
            <a:spLocks noGrp="1"/>
          </p:cNvSpPr>
          <p:nvPr>
            <p:ph type="title" hasCustomPrompt="1"/>
          </p:nvPr>
        </p:nvSpPr>
        <p:spPr>
          <a:xfrm>
            <a:off x="323850" y="3114676"/>
            <a:ext cx="2749550" cy="623888"/>
          </a:xfrm>
        </p:spPr>
        <p:txBody>
          <a:bodyPr anchor="ctr"/>
          <a:lstStyle>
            <a:lvl1pPr>
              <a:buNone/>
              <a:defRPr/>
            </a:lvl1pPr>
          </a:lstStyle>
          <a:p>
            <a:r>
              <a:t>Thank you</a:t>
            </a: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Closing 1">
    <p:spTree>
      <p:nvGrpSpPr>
        <p:cNvPr id="1" name=""/>
        <p:cNvGrpSpPr/>
        <p:nvPr/>
      </p:nvGrpSpPr>
      <p:grpSpPr>
        <a:xfrm>
          <a:off x="0" y="0"/>
          <a:ext cx="0" cy="0"/>
          <a:chOff x="0" y="0"/>
          <a:chExt cx="0" cy="0"/>
        </a:xfrm>
      </p:grpSpPr>
      <p:sp>
        <p:nvSpPr>
          <p:cNvPr id="4" name="Freeform 24">
            <a:extLst>
              <a:ext uri="{FF2B5EF4-FFF2-40B4-BE49-F238E27FC236}">
                <a16:creationId xmlns:a16="http://schemas.microsoft.com/office/drawing/2014/main" id="{0848F511-CD0C-4E21-1411-CA7D0F6E3A43}"/>
              </a:ext>
            </a:extLst>
          </p:cNvPr>
          <p:cNvSpPr>
            <a:spLocks noGrp="1"/>
          </p:cNvSpPr>
          <p:nvPr/>
        </p:nvSpPr>
        <p:spPr>
          <a:xfrm>
            <a:off x="5831690" y="3403715"/>
            <a:ext cx="53378" cy="210276"/>
          </a:xfrm>
          <a:custGeom>
            <a:avLst/>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ahLst/>
            <a:cxnLst/>
            <a:rect l="l" t="t" r="r" b="b"/>
            <a:pathLst>
              <a:path w="44467" h="175170">
                <a:moveTo>
                  <a:pt x="0" y="0"/>
                </a:moveTo>
                <a:lnTo>
                  <a:pt x="44467" y="0"/>
                </a:lnTo>
                <a:lnTo>
                  <a:pt x="44467" y="175170"/>
                </a:lnTo>
                <a:lnTo>
                  <a:pt x="0" y="175170"/>
                </a:lnTo>
                <a:close/>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5" name="Freeform 25">
            <a:extLst>
              <a:ext uri="{FF2B5EF4-FFF2-40B4-BE49-F238E27FC236}">
                <a16:creationId xmlns:a16="http://schemas.microsoft.com/office/drawing/2014/main" id="{CE7BD058-D0FF-047D-F5E7-7A0A610E086D}"/>
              </a:ext>
            </a:extLst>
          </p:cNvPr>
          <p:cNvSpPr>
            <a:spLocks noGrp="1"/>
          </p:cNvSpPr>
          <p:nvPr/>
        </p:nvSpPr>
        <p:spPr>
          <a:xfrm>
            <a:off x="6154144" y="3400033"/>
            <a:ext cx="161334" cy="217748"/>
          </a:xfrm>
          <a:custGeom>
            <a:avLst/>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ahLst/>
            <a:cxn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6" name="Freeform 26">
            <a:extLst>
              <a:ext uri="{FF2B5EF4-FFF2-40B4-BE49-F238E27FC236}">
                <a16:creationId xmlns:a16="http://schemas.microsoft.com/office/drawing/2014/main" id="{83623A44-0F0F-1370-66F6-0846CAF90985}"/>
              </a:ext>
            </a:extLst>
          </p:cNvPr>
          <p:cNvSpPr>
            <a:spLocks noGrp="1"/>
          </p:cNvSpPr>
          <p:nvPr/>
        </p:nvSpPr>
        <p:spPr>
          <a:xfrm>
            <a:off x="5597040" y="3400033"/>
            <a:ext cx="161553" cy="217748"/>
          </a:xfrm>
          <a:custGeom>
            <a:avLst/>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ahLst/>
            <a:cxn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7" name="Freeform 27">
            <a:extLst>
              <a:ext uri="{FF2B5EF4-FFF2-40B4-BE49-F238E27FC236}">
                <a16:creationId xmlns:a16="http://schemas.microsoft.com/office/drawing/2014/main" id="{8ABAB402-379C-A6D8-AF39-B22717AC8652}"/>
              </a:ext>
            </a:extLst>
          </p:cNvPr>
          <p:cNvSpPr>
            <a:spLocks noGrp="1"/>
          </p:cNvSpPr>
          <p:nvPr/>
        </p:nvSpPr>
        <p:spPr>
          <a:xfrm>
            <a:off x="6375724" y="3399999"/>
            <a:ext cx="219185" cy="218412"/>
          </a:xfrm>
          <a:custGeom>
            <a:avLst/>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ahLst/>
            <a:cxn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8" name="Freeform 28">
            <a:extLst>
              <a:ext uri="{FF2B5EF4-FFF2-40B4-BE49-F238E27FC236}">
                <a16:creationId xmlns:a16="http://schemas.microsoft.com/office/drawing/2014/main" id="{A0F49F63-D861-23D0-7A32-6898EA38AA9E}"/>
              </a:ext>
            </a:extLst>
          </p:cNvPr>
          <p:cNvSpPr>
            <a:spLocks noGrp="1"/>
          </p:cNvSpPr>
          <p:nvPr/>
        </p:nvSpPr>
        <p:spPr>
          <a:xfrm>
            <a:off x="5956314" y="3399925"/>
            <a:ext cx="145321" cy="217856"/>
          </a:xfrm>
          <a:custGeom>
            <a:avLst/>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ahLst/>
            <a:cxn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9" name="Freeform 29">
            <a:extLst>
              <a:ext uri="{FF2B5EF4-FFF2-40B4-BE49-F238E27FC236}">
                <a16:creationId xmlns:a16="http://schemas.microsoft.com/office/drawing/2014/main" id="{62CA1BBC-594E-0B3B-ACB5-5180E647EB68}"/>
              </a:ext>
            </a:extLst>
          </p:cNvPr>
          <p:cNvSpPr>
            <a:spLocks noGrp="1"/>
          </p:cNvSpPr>
          <p:nvPr/>
        </p:nvSpPr>
        <p:spPr>
          <a:xfrm>
            <a:off x="5487122" y="3151534"/>
            <a:ext cx="53051" cy="106155"/>
          </a:xfrm>
          <a:custGeom>
            <a:avLst/>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ahLst/>
            <a:cxn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0" name="Freeform 30">
            <a:extLst>
              <a:ext uri="{FF2B5EF4-FFF2-40B4-BE49-F238E27FC236}">
                <a16:creationId xmlns:a16="http://schemas.microsoft.com/office/drawing/2014/main" id="{51B57147-07A3-179D-3B44-669E31BA0779}"/>
              </a:ext>
            </a:extLst>
          </p:cNvPr>
          <p:cNvSpPr>
            <a:spLocks noGrp="1"/>
          </p:cNvSpPr>
          <p:nvPr/>
        </p:nvSpPr>
        <p:spPr>
          <a:xfrm>
            <a:off x="5632989" y="3079095"/>
            <a:ext cx="52943" cy="180175"/>
          </a:xfrm>
          <a:custGeom>
            <a:avLst/>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ahLst/>
            <a:cxn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1" name="Freeform 31">
            <a:extLst>
              <a:ext uri="{FF2B5EF4-FFF2-40B4-BE49-F238E27FC236}">
                <a16:creationId xmlns:a16="http://schemas.microsoft.com/office/drawing/2014/main" id="{D2F4977B-6C3A-1749-28D3-74067758D800}"/>
              </a:ext>
            </a:extLst>
          </p:cNvPr>
          <p:cNvSpPr>
            <a:spLocks noGrp="1"/>
          </p:cNvSpPr>
          <p:nvPr/>
        </p:nvSpPr>
        <p:spPr>
          <a:xfrm>
            <a:off x="5778528" y="2980021"/>
            <a:ext cx="52943" cy="331765"/>
          </a:xfrm>
          <a:custGeom>
            <a:avLst/>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ahLst/>
            <a:cxn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2" name="Freeform 32">
            <a:extLst>
              <a:ext uri="{FF2B5EF4-FFF2-40B4-BE49-F238E27FC236}">
                <a16:creationId xmlns:a16="http://schemas.microsoft.com/office/drawing/2014/main" id="{7539BE40-6861-0AFB-E72A-25B2630122C7}"/>
              </a:ext>
            </a:extLst>
          </p:cNvPr>
          <p:cNvSpPr>
            <a:spLocks noGrp="1"/>
          </p:cNvSpPr>
          <p:nvPr/>
        </p:nvSpPr>
        <p:spPr>
          <a:xfrm>
            <a:off x="5924177" y="3079095"/>
            <a:ext cx="52943" cy="180175"/>
          </a:xfrm>
          <a:custGeom>
            <a:avLst/>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ahLst/>
            <a:cxn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3" name="Freeform 33">
            <a:extLst>
              <a:ext uri="{FF2B5EF4-FFF2-40B4-BE49-F238E27FC236}">
                <a16:creationId xmlns:a16="http://schemas.microsoft.com/office/drawing/2014/main" id="{8726BE87-6F3D-1887-CD70-E89DF7FE7BFC}"/>
              </a:ext>
            </a:extLst>
          </p:cNvPr>
          <p:cNvSpPr>
            <a:spLocks noGrp="1"/>
          </p:cNvSpPr>
          <p:nvPr/>
        </p:nvSpPr>
        <p:spPr>
          <a:xfrm>
            <a:off x="6069283" y="3151531"/>
            <a:ext cx="52943" cy="107738"/>
          </a:xfrm>
          <a:custGeom>
            <a:avLst/>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ahLst/>
            <a:cxn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4" name="Freeform 34">
            <a:extLst>
              <a:ext uri="{FF2B5EF4-FFF2-40B4-BE49-F238E27FC236}">
                <a16:creationId xmlns:a16="http://schemas.microsoft.com/office/drawing/2014/main" id="{EB3564BA-B2F9-645B-AD4D-30EC3199A221}"/>
              </a:ext>
            </a:extLst>
          </p:cNvPr>
          <p:cNvSpPr>
            <a:spLocks noGrp="1"/>
          </p:cNvSpPr>
          <p:nvPr/>
        </p:nvSpPr>
        <p:spPr>
          <a:xfrm>
            <a:off x="6215310" y="3077407"/>
            <a:ext cx="52946" cy="181863"/>
          </a:xfrm>
          <a:custGeom>
            <a:avLst/>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ahLst/>
            <a:cxn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5" name="Freeform 35">
            <a:extLst>
              <a:ext uri="{FF2B5EF4-FFF2-40B4-BE49-F238E27FC236}">
                <a16:creationId xmlns:a16="http://schemas.microsoft.com/office/drawing/2014/main" id="{0B4EEF7D-1D1F-7611-2AD6-3168E2EE165C}"/>
              </a:ext>
            </a:extLst>
          </p:cNvPr>
          <p:cNvSpPr>
            <a:spLocks noGrp="1"/>
          </p:cNvSpPr>
          <p:nvPr/>
        </p:nvSpPr>
        <p:spPr>
          <a:xfrm>
            <a:off x="6360959" y="2978332"/>
            <a:ext cx="52948" cy="335140"/>
          </a:xfrm>
          <a:custGeom>
            <a:avLst/>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ahLst/>
            <a:cxn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6" name="Freeform 36">
            <a:extLst>
              <a:ext uri="{FF2B5EF4-FFF2-40B4-BE49-F238E27FC236}">
                <a16:creationId xmlns:a16="http://schemas.microsoft.com/office/drawing/2014/main" id="{9A55B643-50C9-ECA1-F047-7AF4A01DADB7}"/>
              </a:ext>
            </a:extLst>
          </p:cNvPr>
          <p:cNvSpPr>
            <a:spLocks noGrp="1"/>
          </p:cNvSpPr>
          <p:nvPr/>
        </p:nvSpPr>
        <p:spPr>
          <a:xfrm>
            <a:off x="6506338" y="3078987"/>
            <a:ext cx="53160" cy="180286"/>
          </a:xfrm>
          <a:custGeom>
            <a:avLst/>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ahLst/>
            <a:cxn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7" name="Freeform 37">
            <a:extLst>
              <a:ext uri="{FF2B5EF4-FFF2-40B4-BE49-F238E27FC236}">
                <a16:creationId xmlns:a16="http://schemas.microsoft.com/office/drawing/2014/main" id="{46A6ACD1-E596-9055-243C-B9CF5CFB813D}"/>
              </a:ext>
            </a:extLst>
          </p:cNvPr>
          <p:cNvSpPr>
            <a:spLocks noGrp="1"/>
          </p:cNvSpPr>
          <p:nvPr/>
        </p:nvSpPr>
        <p:spPr>
          <a:xfrm>
            <a:off x="6651932" y="3151534"/>
            <a:ext cx="52946" cy="109425"/>
          </a:xfrm>
          <a:custGeom>
            <a:avLst/>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ahLst/>
            <a:cxn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solidFill>
            <a:schemeClr val="bg1"/>
          </a:solidFill>
          <a:ln w="9034">
            <a:noFill/>
            <a:prstDash val="solid"/>
          </a:ln>
        </p:spPr>
        <p:txBody>
          <a:bodyPr anchor="ctr"/>
          <a:lstStyle/>
          <a:p>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image" Target="../media/image1.svg"/><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F21F2830-F0A3-2EAC-C709-5C928A8C49EF}"/>
              </a:ext>
            </a:extLst>
          </p:cNvPr>
          <p:cNvSpPr>
            <a:spLocks noGrp="1"/>
          </p:cNvSpPr>
          <p:nvPr>
            <p:ph type="title"/>
          </p:nvPr>
        </p:nvSpPr>
        <p:spPr>
          <a:xfrm>
            <a:off x="323850" y="298146"/>
            <a:ext cx="11544300" cy="492443"/>
          </a:xfrm>
          <a:prstGeom prst="rect">
            <a:avLst/>
          </a:prstGeom>
          <a:noFill/>
        </p:spPr>
        <p:txBody>
          <a:bodyPr vert="horz" lIns="0" tIns="0" rIns="0" bIns="0" anchor="t">
            <a:noAutofit/>
          </a:bodyPr>
          <a:lstStyle/>
          <a:p>
            <a:r>
              <a:t>Click to edit Master title style</a:t>
            </a:r>
          </a:p>
        </p:txBody>
      </p:sp>
      <p:sp>
        <p:nvSpPr>
          <p:cNvPr id="7" name="Text Placeholder 2">
            <a:extLst>
              <a:ext uri="{FF2B5EF4-FFF2-40B4-BE49-F238E27FC236}">
                <a16:creationId xmlns:a16="http://schemas.microsoft.com/office/drawing/2014/main" id="{455BE63C-8C0C-FC75-3DF2-F8F96A3C87BE}"/>
              </a:ext>
            </a:extLst>
          </p:cNvPr>
          <p:cNvSpPr>
            <a:spLocks noGrp="1"/>
          </p:cNvSpPr>
          <p:nvPr>
            <p:ph type="body" idx="1"/>
          </p:nvPr>
        </p:nvSpPr>
        <p:spPr>
          <a:xfrm>
            <a:off x="323754" y="1244599"/>
            <a:ext cx="11544396" cy="4835321"/>
          </a:xfrm>
          <a:prstGeom prst="rect">
            <a:avLst/>
          </a:prstGeom>
          <a:noFill/>
        </p:spPr>
        <p:txBody>
          <a:bodyPr vert="horz" lIns="0" tIns="0" rIns="0" bIns="0">
            <a:no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Rectangle 4">
            <a:extLst>
              <a:ext uri="{FF2B5EF4-FFF2-40B4-BE49-F238E27FC236}">
                <a16:creationId xmlns:a16="http://schemas.microsoft.com/office/drawing/2014/main" id="{239B4362-70A2-3ADC-C4AA-ADA6E4E09C94}"/>
              </a:ext>
            </a:extLst>
          </p:cNvPr>
          <p:cNvSpPr>
            <a:spLocks noGrp="1"/>
          </p:cNvSpPr>
          <p:nvPr/>
        </p:nvSpPr>
        <p:spPr>
          <a:xfrm>
            <a:off x="323850" y="6448930"/>
            <a:ext cx="3285935" cy="409069"/>
          </a:xfrm>
          <a:prstGeom prst="rect">
            <a:avLst/>
          </a:prstGeom>
          <a:noFill/>
          <a:ln w="9525">
            <a:noFill/>
          </a:ln>
        </p:spPr>
        <p:txBody>
          <a:bodyPr wrap="square" lIns="0" tIns="0" rIns="0" bIns="0" anchor="t">
            <a:noAutofit/>
          </a:bodyPr>
          <a:lstStyle/>
          <a:p>
            <a:pPr marL="0" marR="0" lvl="0" indent="0" algn="l" defTabSz="814318">
              <a:lnSpc>
                <a:spcPct val="100000"/>
              </a:lnSpc>
              <a:spcBef>
                <a:spcPts val="0"/>
              </a:spcBef>
              <a:spcAft>
                <a:spcPts val="0"/>
              </a:spcAft>
              <a:buClrTx/>
              <a:buSzTx/>
              <a:buFontTx/>
              <a:buNone/>
            </a:pPr>
            <a:r>
              <a:rPr sz="700" b="0" i="0" u="none" cap="none" spc="0">
                <a:ln>
                  <a:noFill/>
                </a:ln>
                <a:solidFill>
                  <a:schemeClr val="bg1"/>
                </a:solidFill>
                <a:latin typeface="+mn-lt"/>
                <a:ea typeface="+mn-lt"/>
                <a:cs typeface="+mn-lt"/>
              </a:rPr>
              <a:t>© 2026 Cisco and/or its affiliates. All rights reserved.</a:t>
            </a:r>
          </a:p>
        </p:txBody>
      </p:sp>
      <p:sp>
        <p:nvSpPr>
          <p:cNvPr id="6" name="Footer Placeholder 5">
            <a:extLst>
              <a:ext uri="{FF2B5EF4-FFF2-40B4-BE49-F238E27FC236}">
                <a16:creationId xmlns:a16="http://schemas.microsoft.com/office/drawing/2014/main" id="{B042B348-7CFA-9BD7-7FBA-A3E160A67776}"/>
              </a:ext>
            </a:extLst>
          </p:cNvPr>
          <p:cNvSpPr>
            <a:spLocks noGrp="1"/>
          </p:cNvSpPr>
          <p:nvPr>
            <p:ph type="ftr" idx="3"/>
          </p:nvPr>
        </p:nvSpPr>
        <p:spPr>
          <a:xfrm>
            <a:off x="4230688" y="6445885"/>
            <a:ext cx="3727450" cy="411480"/>
          </a:xfrm>
          <a:prstGeom prst="rect">
            <a:avLst/>
          </a:prstGeom>
        </p:spPr>
        <p:txBody>
          <a:bodyPr vert="horz" lIns="0" tIns="0" rIns="0" bIns="0" anchor="t"/>
          <a:lstStyle>
            <a:lvl1pPr algn="ctr">
              <a:buNone/>
              <a:defRPr sz="700" b="0" i="0" u="none" kern="1200" cap="none" spc="0" baseline="0">
                <a:ln>
                  <a:noFill/>
                </a:ln>
                <a:solidFill>
                  <a:schemeClr val="bg1"/>
                </a:solidFill>
                <a:latin typeface="+mn-lt"/>
                <a:ea typeface="+mn-lt"/>
                <a:cs typeface="+mn-lt"/>
              </a:defRPr>
            </a:lvl1pPr>
          </a:lstStyle>
          <a:p>
            <a:pPr defTabSz="814318">
              <a:buNone/>
            </a:pPr>
            <a:r>
              <a:t>Session ID: BRKSEC-XXXX</a:t>
            </a:r>
          </a:p>
        </p:txBody>
      </p:sp>
      <p:sp>
        <p:nvSpPr>
          <p:cNvPr id="2" name="Slide Number Placeholder 1">
            <a:extLst>
              <a:ext uri="{FF2B5EF4-FFF2-40B4-BE49-F238E27FC236}">
                <a16:creationId xmlns:a16="http://schemas.microsoft.com/office/drawing/2014/main" id="{10ECAE8E-F596-3416-3914-B7C065191A87}"/>
              </a:ext>
            </a:extLst>
          </p:cNvPr>
          <p:cNvSpPr>
            <a:spLocks noGrp="1"/>
          </p:cNvSpPr>
          <p:nvPr>
            <p:ph type="sldNum" idx="4"/>
          </p:nvPr>
        </p:nvSpPr>
        <p:spPr>
          <a:xfrm>
            <a:off x="9115425" y="6448929"/>
            <a:ext cx="1773238" cy="411480"/>
          </a:xfrm>
          <a:prstGeom prst="rect">
            <a:avLst/>
          </a:prstGeom>
        </p:spPr>
        <p:txBody>
          <a:bodyPr vert="horz" lIns="0" tIns="0" rIns="0" bIns="0" anchor="t"/>
          <a:lstStyle>
            <a:lvl1pPr algn="r">
              <a:buNone/>
              <a:defRPr sz="700" b="0" i="0" u="none" kern="1200" cap="none" spc="0" baseline="0">
                <a:ln>
                  <a:noFill/>
                </a:ln>
                <a:solidFill>
                  <a:schemeClr val="bg1"/>
                </a:solidFill>
                <a:latin typeface="+mn-lt"/>
                <a:ea typeface="+mn-lt"/>
                <a:cs typeface="+mn-lt"/>
              </a:defRPr>
            </a:lvl1pPr>
          </a:lstStyle>
          <a:p>
            <a:fld id="{C3C42FAE-7A31-41D3-A712-51D9B15D0B10}" type="slidenum">
              <a:t>‹#›</a:t>
            </a:fld>
            <a:endParaRPr/>
          </a:p>
        </p:txBody>
      </p:sp>
      <p:pic>
        <p:nvPicPr>
          <p:cNvPr id="16" name="Picture 7"/>
          <p:cNvPicPr>
            <a:picLocks noChangeAspect="1"/>
          </p:cNvPicPr>
          <p:nvPr/>
        </p:nvPicPr>
        <p:blipFill>
          <a:blip>
            <a:extLst>
              <a:ext uri="{96DAC541-7B7A-43D3-8B79-37D633B846F1}">
                <asvg:svgBlip xmlns:asvg="http://schemas.microsoft.com/office/drawing/2016/SVG/main" r:embed="rId58"/>
              </a:ext>
            </a:extLst>
          </a:blip>
          <a:srcRect/>
          <a:stretch/>
        </p:blipFill>
        <p:spPr>
          <a:xfrm>
            <a:off x="11520088" y="6354445"/>
            <a:ext cx="348061" cy="182880"/>
          </a:xfrm>
          <a:prstGeom prst="rect">
            <a:avLst/>
          </a:prstGeom>
        </p:spPr>
      </p:pic>
      <p:sp>
        <p:nvSpPr>
          <p:cNvPr id="8" name="TextBox 7">
            <a:extLst>
              <a:ext uri="{FF2B5EF4-FFF2-40B4-BE49-F238E27FC236}">
                <a16:creationId xmlns:a16="http://schemas.microsoft.com/office/drawing/2014/main" id="{DCAE3397-B7E0-F9B7-D1AC-C859F3CFC5AF}"/>
              </a:ext>
            </a:extLst>
          </p:cNvPr>
          <p:cNvSpPr>
            <a:spLocks noGrp="1"/>
          </p:cNvSpPr>
          <p:nvPr/>
        </p:nvSpPr>
        <p:spPr>
          <a:xfrm>
            <a:off x="11385550" y="6672580"/>
            <a:ext cx="765175" cy="107722"/>
          </a:xfrm>
          <a:prstGeom prst="rect">
            <a:avLst/>
          </a:prstGeom>
        </p:spPr>
        <p:txBody>
          <a:bodyPr lIns="0" tIns="0" rIns="0" bIns="0">
            <a:spAutoFit/>
          </a:bodyPr>
          <a:lstStyle/>
          <a:p>
            <a:pPr algn="l">
              <a:buNone/>
            </a:pPr>
            <a:r>
              <a:rPr sz="700">
                <a:solidFill>
                  <a:schemeClr val="bg2"/>
                </a:solidFill>
                <a:latin typeface="Calibri"/>
                <a:ea typeface="Calibri"/>
                <a:cs typeface="Calibri"/>
              </a:rPr>
              <a:t>Cisco Confidential</a:t>
            </a:r>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Lst>
  <p:hf sldNum="0" hdr="0" ftr="0" dt="0"/>
  <p:txStyles>
    <p:titleStyle>
      <a:lvl1pPr marL="0" indent="0" algn="l" defTabSz="912276">
        <a:lnSpc>
          <a:spcPct val="90000"/>
        </a:lnSpc>
        <a:spcBef>
          <a:spcPct val="0"/>
        </a:spcBef>
        <a:spcAft>
          <a:spcPct val="0"/>
        </a:spcAft>
        <a:buClrTx/>
        <a:buSzPct val="70000"/>
        <a:buFont typeface="Arial"/>
        <a:buNone/>
        <a:defRPr sz="3200" b="0" i="0" u="none" kern="1200">
          <a:solidFill>
            <a:schemeClr val="bg1"/>
          </a:solidFill>
          <a:latin typeface="+mj-lt"/>
          <a:ea typeface="+mj-lt"/>
          <a:cs typeface="+mj-lt"/>
        </a:defRPr>
      </a:lvl1pPr>
      <a:lvl2pPr algn="l" defTabSz="912276">
        <a:lnSpc>
          <a:spcPct val="80000"/>
        </a:lnSpc>
        <a:spcBef>
          <a:spcPct val="0"/>
        </a:spcBef>
        <a:spcAft>
          <a:spcPct val="0"/>
        </a:spcAft>
        <a:buNone/>
        <a:defRPr sz="4267">
          <a:solidFill>
            <a:srgbClr val="676767"/>
          </a:solidFill>
          <a:latin typeface="Arial"/>
          <a:ea typeface="Arial"/>
          <a:cs typeface="Arial"/>
        </a:defRPr>
      </a:lvl2pPr>
      <a:lvl3pPr algn="l" defTabSz="912276">
        <a:lnSpc>
          <a:spcPct val="80000"/>
        </a:lnSpc>
        <a:spcBef>
          <a:spcPct val="0"/>
        </a:spcBef>
        <a:spcAft>
          <a:spcPct val="0"/>
        </a:spcAft>
        <a:buNone/>
        <a:defRPr sz="4267">
          <a:solidFill>
            <a:srgbClr val="676767"/>
          </a:solidFill>
          <a:latin typeface="Arial"/>
          <a:ea typeface="Arial"/>
          <a:cs typeface="Arial"/>
        </a:defRPr>
      </a:lvl3pPr>
      <a:lvl4pPr algn="l" defTabSz="912276">
        <a:lnSpc>
          <a:spcPct val="80000"/>
        </a:lnSpc>
        <a:spcBef>
          <a:spcPct val="0"/>
        </a:spcBef>
        <a:spcAft>
          <a:spcPct val="0"/>
        </a:spcAft>
        <a:buNone/>
        <a:defRPr sz="4267">
          <a:solidFill>
            <a:srgbClr val="676767"/>
          </a:solidFill>
          <a:latin typeface="Arial"/>
          <a:ea typeface="Arial"/>
          <a:cs typeface="Arial"/>
        </a:defRPr>
      </a:lvl4pPr>
      <a:lvl5pPr algn="l" defTabSz="912276">
        <a:lnSpc>
          <a:spcPct val="80000"/>
        </a:lnSpc>
        <a:spcBef>
          <a:spcPct val="0"/>
        </a:spcBef>
        <a:spcAft>
          <a:spcPct val="0"/>
        </a:spcAft>
        <a:buNone/>
        <a:defRPr sz="4267">
          <a:solidFill>
            <a:srgbClr val="676767"/>
          </a:solidFill>
          <a:latin typeface="Arial"/>
          <a:ea typeface="Arial"/>
          <a:cs typeface="Arial"/>
        </a:defRPr>
      </a:lvl5pPr>
      <a:lvl6pPr marL="609595" algn="l" defTabSz="912276">
        <a:lnSpc>
          <a:spcPct val="80000"/>
        </a:lnSpc>
        <a:spcBef>
          <a:spcPct val="0"/>
        </a:spcBef>
        <a:spcAft>
          <a:spcPct val="0"/>
        </a:spcAft>
        <a:buNone/>
        <a:defRPr sz="4267">
          <a:solidFill>
            <a:srgbClr val="676767"/>
          </a:solidFill>
          <a:latin typeface="Arial"/>
          <a:ea typeface="Arial"/>
          <a:cs typeface="Arial"/>
        </a:defRPr>
      </a:lvl6pPr>
      <a:lvl7pPr marL="1219190" algn="l" defTabSz="912276">
        <a:lnSpc>
          <a:spcPct val="80000"/>
        </a:lnSpc>
        <a:spcBef>
          <a:spcPct val="0"/>
        </a:spcBef>
        <a:spcAft>
          <a:spcPct val="0"/>
        </a:spcAft>
        <a:buNone/>
        <a:defRPr sz="4267">
          <a:solidFill>
            <a:srgbClr val="676767"/>
          </a:solidFill>
          <a:latin typeface="Arial"/>
          <a:ea typeface="Arial"/>
          <a:cs typeface="Arial"/>
        </a:defRPr>
      </a:lvl7pPr>
      <a:lvl8pPr marL="1828785" algn="l" defTabSz="912276">
        <a:lnSpc>
          <a:spcPct val="80000"/>
        </a:lnSpc>
        <a:spcBef>
          <a:spcPct val="0"/>
        </a:spcBef>
        <a:spcAft>
          <a:spcPct val="0"/>
        </a:spcAft>
        <a:buNone/>
        <a:defRPr sz="4267">
          <a:solidFill>
            <a:srgbClr val="676767"/>
          </a:solidFill>
          <a:latin typeface="Arial"/>
          <a:ea typeface="Arial"/>
          <a:cs typeface="Arial"/>
        </a:defRPr>
      </a:lvl8pPr>
      <a:lvl9pPr marL="2438379" algn="l" defTabSz="912276">
        <a:lnSpc>
          <a:spcPct val="80000"/>
        </a:lnSpc>
        <a:spcBef>
          <a:spcPct val="0"/>
        </a:spcBef>
        <a:spcAft>
          <a:spcPct val="0"/>
        </a:spcAft>
        <a:buNone/>
        <a:defRPr sz="4267">
          <a:solidFill>
            <a:srgbClr val="676767"/>
          </a:solidFill>
          <a:latin typeface="Arial"/>
          <a:ea typeface="Arial"/>
          <a:cs typeface="Arial"/>
        </a:defRPr>
      </a:lvl9pPr>
    </p:titleStyle>
    <p:bodyStyle>
      <a:lvl1pPr marL="182880" indent="-182880" algn="l" defTabSz="912276">
        <a:lnSpc>
          <a:spcPct val="100000"/>
        </a:lnSpc>
        <a:spcBef>
          <a:spcPts val="0"/>
        </a:spcBef>
        <a:spcAft>
          <a:spcPts val="1000"/>
        </a:spcAft>
        <a:buClr>
          <a:schemeClr val="bg1"/>
        </a:buClr>
        <a:buSzPct val="100000"/>
        <a:buFont typeface="Arial"/>
        <a:buChar char="•"/>
        <a:defRPr sz="2000" kern="1200">
          <a:solidFill>
            <a:schemeClr val="bg1"/>
          </a:solidFill>
          <a:latin typeface="+mn-lt"/>
          <a:ea typeface="+mn-lt"/>
          <a:cs typeface="+mn-lt"/>
        </a:defRPr>
      </a:lvl1pPr>
      <a:lvl2pPr marL="365760" indent="-182880" algn="l" defTabSz="912276">
        <a:lnSpc>
          <a:spcPct val="100000"/>
        </a:lnSpc>
        <a:spcBef>
          <a:spcPts val="0"/>
        </a:spcBef>
        <a:spcAft>
          <a:spcPts val="1000"/>
        </a:spcAft>
        <a:buClr>
          <a:schemeClr val="bg1"/>
        </a:buClr>
        <a:buSzPct val="100000"/>
        <a:buFont typeface="Arial"/>
        <a:buChar char="•"/>
        <a:defRPr sz="1800" kern="1200">
          <a:solidFill>
            <a:schemeClr val="bg1"/>
          </a:solidFill>
          <a:latin typeface="+mn-lt"/>
          <a:ea typeface="+mn-lt"/>
          <a:cs typeface="+mn-lt"/>
        </a:defRPr>
      </a:lvl2pPr>
      <a:lvl3pPr marL="548640" indent="-182880" algn="l" defTabSz="912276">
        <a:lnSpc>
          <a:spcPct val="100000"/>
        </a:lnSpc>
        <a:spcBef>
          <a:spcPts val="0"/>
        </a:spcBef>
        <a:spcAft>
          <a:spcPts val="1000"/>
        </a:spcAft>
        <a:buClr>
          <a:schemeClr val="bg1"/>
        </a:buClr>
        <a:buSzPct val="100000"/>
        <a:buFont typeface="Arial"/>
        <a:buChar char="•"/>
        <a:defRPr sz="1600" kern="1200">
          <a:solidFill>
            <a:schemeClr val="bg1"/>
          </a:solidFill>
          <a:latin typeface="+mn-lt"/>
          <a:ea typeface="+mn-lt"/>
          <a:cs typeface="+mn-lt"/>
        </a:defRPr>
      </a:lvl3pPr>
      <a:lvl4pPr marL="731520" indent="-182880" algn="l" defTabSz="912276">
        <a:lnSpc>
          <a:spcPct val="100000"/>
        </a:lnSpc>
        <a:spcBef>
          <a:spcPts val="0"/>
        </a:spcBef>
        <a:spcAft>
          <a:spcPts val="1000"/>
        </a:spcAft>
        <a:buClr>
          <a:schemeClr val="bg1"/>
        </a:buClr>
        <a:buSzPct val="100000"/>
        <a:buFont typeface="Arial"/>
        <a:buChar char="•"/>
        <a:defRPr sz="1400" kern="1200">
          <a:solidFill>
            <a:schemeClr val="bg1"/>
          </a:solidFill>
          <a:latin typeface="+mn-lt"/>
          <a:ea typeface="+mn-lt"/>
          <a:cs typeface="+mn-lt"/>
        </a:defRPr>
      </a:lvl4pPr>
      <a:lvl5pPr marL="914400" indent="-182880" algn="l" defTabSz="912276">
        <a:lnSpc>
          <a:spcPct val="100000"/>
        </a:lnSpc>
        <a:spcBef>
          <a:spcPts val="0"/>
        </a:spcBef>
        <a:spcAft>
          <a:spcPts val="1000"/>
        </a:spcAft>
        <a:buClr>
          <a:schemeClr val="bg1"/>
        </a:buClr>
        <a:buSzPct val="100000"/>
        <a:buFont typeface="Arial"/>
        <a:buChar char="•"/>
        <a:defRPr sz="1200" kern="1200">
          <a:solidFill>
            <a:schemeClr val="bg1"/>
          </a:solidFill>
          <a:latin typeface="+mn-lt"/>
          <a:ea typeface="+mn-lt"/>
          <a:cs typeface="+mn-lt"/>
        </a:defRPr>
      </a:lvl5pPr>
      <a:lvl6pPr marL="1151798" indent="-228592" algn="l" defTabSz="914362">
        <a:spcBef>
          <a:spcPts val="800"/>
        </a:spcBef>
        <a:buFont typeface="Arial"/>
        <a:buChar char="•"/>
        <a:defRPr sz="1200" kern="1200" baseline="0">
          <a:solidFill>
            <a:schemeClr val="tx1"/>
          </a:solidFill>
          <a:latin typeface="+mn-lt"/>
          <a:ea typeface="+mn-lt"/>
          <a:cs typeface="+mn-lt"/>
        </a:defRPr>
      </a:lvl6pPr>
      <a:lvl7pPr marL="1247781" indent="-228561" algn="l" defTabSz="914362">
        <a:spcBef>
          <a:spcPts val="800"/>
        </a:spcBef>
        <a:buFont typeface="Arial"/>
        <a:buChar char="•"/>
        <a:defRPr sz="1067" kern="1200" baseline="0">
          <a:solidFill>
            <a:schemeClr val="tx1"/>
          </a:solidFill>
          <a:latin typeface="+mn-lt"/>
          <a:ea typeface="+mn-lt"/>
          <a:cs typeface="+mn-lt"/>
        </a:defRPr>
      </a:lvl7pPr>
      <a:lvl8pPr marL="3200267" indent="0" algn="l" defTabSz="914362">
        <a:spcBef>
          <a:spcPct val="20000"/>
        </a:spcBef>
        <a:buFont typeface="Arial"/>
        <a:buNone/>
        <a:defRPr sz="2000" kern="1200">
          <a:solidFill>
            <a:schemeClr val="tx1"/>
          </a:solidFill>
          <a:latin typeface="+mn-lt"/>
          <a:ea typeface="+mn-lt"/>
          <a:cs typeface="+mn-lt"/>
        </a:defRPr>
      </a:lvl8pPr>
      <a:lvl9pPr marL="3886038" indent="-228592" algn="l" defTabSz="914362">
        <a:spcBef>
          <a:spcPct val="20000"/>
        </a:spcBef>
        <a:buFont typeface="Arial"/>
        <a:buChar char="•"/>
        <a:defRPr sz="2000" kern="1200">
          <a:solidFill>
            <a:schemeClr val="tx1"/>
          </a:solidFill>
          <a:latin typeface="+mn-lt"/>
          <a:ea typeface="+mn-lt"/>
          <a:cs typeface="+mn-lt"/>
        </a:defRPr>
      </a:lvl9pPr>
    </p:bodyStyle>
    <p:otherStyle>
      <a:lvl1pPr marL="0" algn="l" defTabSz="914362">
        <a:buNone/>
        <a:defRPr sz="1867" kern="1200">
          <a:solidFill>
            <a:schemeClr val="tx1"/>
          </a:solidFill>
          <a:latin typeface="+mn-lt"/>
          <a:ea typeface="+mn-lt"/>
          <a:cs typeface="+mn-lt"/>
        </a:defRPr>
      </a:lvl1pPr>
      <a:lvl2pPr marL="457178" algn="l" defTabSz="914362">
        <a:buNone/>
        <a:defRPr sz="1867" kern="1200">
          <a:solidFill>
            <a:schemeClr val="tx1"/>
          </a:solidFill>
          <a:latin typeface="+mn-lt"/>
          <a:ea typeface="+mn-lt"/>
          <a:cs typeface="+mn-lt"/>
        </a:defRPr>
      </a:lvl2pPr>
      <a:lvl3pPr marL="914362" algn="l" defTabSz="914362">
        <a:buNone/>
        <a:defRPr sz="1867" kern="1200">
          <a:solidFill>
            <a:schemeClr val="tx1"/>
          </a:solidFill>
          <a:latin typeface="+mn-lt"/>
          <a:ea typeface="+mn-lt"/>
          <a:cs typeface="+mn-lt"/>
        </a:defRPr>
      </a:lvl3pPr>
      <a:lvl4pPr marL="1371542" algn="l" defTabSz="914362">
        <a:buNone/>
        <a:defRPr sz="1867" kern="1200">
          <a:solidFill>
            <a:schemeClr val="tx1"/>
          </a:solidFill>
          <a:latin typeface="+mn-lt"/>
          <a:ea typeface="+mn-lt"/>
          <a:cs typeface="+mn-lt"/>
        </a:defRPr>
      </a:lvl4pPr>
      <a:lvl5pPr marL="1828725" algn="l" defTabSz="914362">
        <a:buNone/>
        <a:defRPr sz="1867" kern="1200">
          <a:solidFill>
            <a:schemeClr val="tx1"/>
          </a:solidFill>
          <a:latin typeface="+mn-lt"/>
          <a:ea typeface="+mn-lt"/>
          <a:cs typeface="+mn-lt"/>
        </a:defRPr>
      </a:lvl5pPr>
      <a:lvl6pPr marL="2285903" algn="l" defTabSz="914362">
        <a:buNone/>
        <a:defRPr sz="1867" kern="1200">
          <a:solidFill>
            <a:schemeClr val="tx1"/>
          </a:solidFill>
          <a:latin typeface="+mn-lt"/>
          <a:ea typeface="+mn-lt"/>
          <a:cs typeface="+mn-lt"/>
        </a:defRPr>
      </a:lvl6pPr>
      <a:lvl7pPr marL="2743086" algn="l" defTabSz="914362">
        <a:buNone/>
        <a:defRPr sz="1867" kern="1200">
          <a:solidFill>
            <a:schemeClr val="tx1"/>
          </a:solidFill>
          <a:latin typeface="+mn-lt"/>
          <a:ea typeface="+mn-lt"/>
          <a:cs typeface="+mn-lt"/>
        </a:defRPr>
      </a:lvl7pPr>
      <a:lvl8pPr marL="3200267" algn="l" defTabSz="914362">
        <a:buNone/>
        <a:defRPr sz="1867" kern="1200">
          <a:solidFill>
            <a:schemeClr val="tx1"/>
          </a:solidFill>
          <a:latin typeface="+mn-lt"/>
          <a:ea typeface="+mn-lt"/>
          <a:cs typeface="+mn-lt"/>
        </a:defRPr>
      </a:lvl8pPr>
      <a:lvl9pPr marL="3657450" algn="l" defTabSz="914362">
        <a:buNone/>
        <a:defRPr sz="1867" kern="1200">
          <a:solidFill>
            <a:schemeClr val="tx1"/>
          </a:solidFill>
          <a:latin typeface="+mn-lt"/>
          <a:ea typeface="+mn-lt"/>
          <a:cs typeface="+mn-lt"/>
        </a:defRPr>
      </a:lvl9pPr>
    </p:otherStyle>
  </p:txStyles>
  <p:extLst>
    <p:ext uri="{27BBF7A9-308A-43DC-89C8-2F10F3537804}">
      <p15:sldGuideLst xmlns:p15="http://schemas.microsoft.com/office/powerpoint/2012/main">
        <p15:guide id="2" pos="204" userDrawn="1">
          <p15:clr>
            <a:srgbClr val="F26B43"/>
          </p15:clr>
        </p15:guide>
        <p15:guide id="3" pos="7476" userDrawn="1">
          <p15:clr>
            <a:srgbClr val="F26B43"/>
          </p15:clr>
        </p15:guide>
        <p15:guide id="6" pos="3840" userDrawn="1">
          <p15:clr>
            <a:srgbClr val="F26B43"/>
          </p15:clr>
        </p15:guide>
        <p15:guide id="9" orient="horz" pos="3827" userDrawn="1">
          <p15:clr>
            <a:srgbClr val="9FCC3B"/>
          </p15:clr>
        </p15:guide>
        <p15:guide id="10" orient="horz" pos="202" userDrawn="1">
          <p15:clr>
            <a:srgbClr val="F26B43"/>
          </p15:clr>
        </p15:guide>
        <p15:guide id="11" orient="horz" pos="2160">
          <p15:clr>
            <a:srgbClr val="F26B43"/>
          </p15:clr>
        </p15:guide>
        <p15:guide id="12" orient="horz" pos="392" userDrawn="1">
          <p15:clr>
            <a:srgbClr val="A4A3A4"/>
          </p15:clr>
        </p15:guide>
        <p15:guide id="13" orient="horz" pos="2552" userDrawn="1">
          <p15:clr>
            <a:srgbClr val="A4A3A4"/>
          </p15:clr>
        </p15:guide>
        <p15:guide id="14" orient="horz" pos="600" userDrawn="1">
          <p15:clr>
            <a:srgbClr val="A4A3A4"/>
          </p15:clr>
        </p15:guide>
        <p15:guide id="15" orient="horz" pos="1766" userDrawn="1">
          <p15:clr>
            <a:srgbClr val="A4A3A4"/>
          </p15:clr>
        </p15:guide>
        <p15:guide id="16" orient="horz" pos="2355" userDrawn="1">
          <p15:clr>
            <a:srgbClr val="A4A3A4"/>
          </p15:clr>
        </p15:guide>
        <p15:guide id="18" orient="horz" pos="4118" userDrawn="1">
          <p15:clr>
            <a:srgbClr val="F26B43"/>
          </p15:clr>
        </p15:guide>
        <p15:guide id="19" orient="horz" pos="1178" userDrawn="1">
          <p15:clr>
            <a:srgbClr val="A4A3A4"/>
          </p15:clr>
        </p15:guide>
        <p15:guide id="20" orient="horz" pos="1374" userDrawn="1">
          <p15:clr>
            <a:srgbClr val="A4A3A4"/>
          </p15:clr>
        </p15:guide>
        <p15:guide id="21" orient="horz" pos="1570" userDrawn="1">
          <p15:clr>
            <a:srgbClr val="A4A3A4"/>
          </p15:clr>
        </p15:guide>
        <p15:guide id="22" pos="703" userDrawn="1">
          <p15:clr>
            <a:srgbClr val="A4A3A4"/>
          </p15:clr>
        </p15:guide>
        <p15:guide id="23" pos="820" userDrawn="1">
          <p15:clr>
            <a:srgbClr val="A4A3A4"/>
          </p15:clr>
        </p15:guide>
        <p15:guide id="24" pos="1321" userDrawn="1">
          <p15:clr>
            <a:srgbClr val="A4A3A4"/>
          </p15:clr>
        </p15:guide>
        <p15:guide id="25" pos="1435" userDrawn="1">
          <p15:clr>
            <a:srgbClr val="A4A3A4"/>
          </p15:clr>
        </p15:guide>
        <p15:guide id="26" pos="1936" userDrawn="1">
          <p15:clr>
            <a:srgbClr val="A4A3A4"/>
          </p15:clr>
        </p15:guide>
        <p15:guide id="27" pos="2051" userDrawn="1">
          <p15:clr>
            <a:srgbClr val="A4A3A4"/>
          </p15:clr>
        </p15:guide>
        <p15:guide id="28" pos="2551" userDrawn="1">
          <p15:clr>
            <a:srgbClr val="A4A3A4"/>
          </p15:clr>
        </p15:guide>
        <p15:guide id="29" pos="2665" userDrawn="1">
          <p15:clr>
            <a:srgbClr val="A4A3A4"/>
          </p15:clr>
        </p15:guide>
        <p15:guide id="30" pos="3167" userDrawn="1">
          <p15:clr>
            <a:srgbClr val="A4A3A4"/>
          </p15:clr>
        </p15:guide>
        <p15:guide id="31" pos="3281" userDrawn="1">
          <p15:clr>
            <a:srgbClr val="A4A3A4"/>
          </p15:clr>
        </p15:guide>
        <p15:guide id="32" pos="3783" userDrawn="1">
          <p15:clr>
            <a:srgbClr val="A4A3A4"/>
          </p15:clr>
        </p15:guide>
        <p15:guide id="33" pos="3896" userDrawn="1">
          <p15:clr>
            <a:srgbClr val="A4A3A4"/>
          </p15:clr>
        </p15:guide>
        <p15:guide id="34" pos="4397" userDrawn="1">
          <p15:clr>
            <a:srgbClr val="A4A3A4"/>
          </p15:clr>
        </p15:guide>
        <p15:guide id="35" pos="4512" userDrawn="1">
          <p15:clr>
            <a:srgbClr val="A4A3A4"/>
          </p15:clr>
        </p15:guide>
        <p15:guide id="36" pos="5013" userDrawn="1">
          <p15:clr>
            <a:srgbClr val="A4A3A4"/>
          </p15:clr>
        </p15:guide>
        <p15:guide id="37" pos="5128" userDrawn="1">
          <p15:clr>
            <a:srgbClr val="A4A3A4"/>
          </p15:clr>
        </p15:guide>
        <p15:guide id="38" pos="5629" userDrawn="1">
          <p15:clr>
            <a:srgbClr val="A4A3A4"/>
          </p15:clr>
        </p15:guide>
        <p15:guide id="39" pos="5742" userDrawn="1">
          <p15:clr>
            <a:srgbClr val="A4A3A4"/>
          </p15:clr>
        </p15:guide>
        <p15:guide id="40" pos="6244" userDrawn="1">
          <p15:clr>
            <a:srgbClr val="A4A3A4"/>
          </p15:clr>
        </p15:guide>
        <p15:guide id="41" pos="6359" userDrawn="1">
          <p15:clr>
            <a:srgbClr val="A4A3A4"/>
          </p15:clr>
        </p15:guide>
        <p15:guide id="42" pos="6859" userDrawn="1">
          <p15:clr>
            <a:srgbClr val="A4A3A4"/>
          </p15:clr>
        </p15:guide>
        <p15:guide id="43" pos="6975" userDrawn="1">
          <p15:clr>
            <a:srgbClr val="A4A3A4"/>
          </p15:clr>
        </p15:guide>
        <p15:guide id="44" orient="horz" pos="784" userDrawn="1">
          <p15:clr>
            <a:srgbClr val="A4A3A4"/>
          </p15:clr>
        </p15:guide>
        <p15:guide id="45" orient="horz" pos="980" userDrawn="1">
          <p15:clr>
            <a:srgbClr val="A4A3A4"/>
          </p15:clr>
        </p15:guide>
        <p15:guide id="46" orient="horz" pos="1962" userDrawn="1">
          <p15:clr>
            <a:srgbClr val="A4A3A4"/>
          </p15:clr>
        </p15:guide>
        <p15:guide id="47" orient="horz" pos="2747" userDrawn="1">
          <p15:clr>
            <a:srgbClr val="A4A3A4"/>
          </p15:clr>
        </p15:guide>
        <p15:guide id="48" orient="horz" pos="2945" userDrawn="1">
          <p15:clr>
            <a:srgbClr val="A4A3A4"/>
          </p15:clr>
        </p15:guide>
        <p15:guide id="49" orient="horz" pos="3141" userDrawn="1">
          <p15:clr>
            <a:srgbClr val="A4A3A4"/>
          </p15:clr>
        </p15:guide>
        <p15:guide id="50" orient="horz" pos="3337" userDrawn="1">
          <p15:clr>
            <a:srgbClr val="A4A3A4"/>
          </p15:clr>
        </p15:guide>
        <p15:guide id="51" orient="horz" pos="3535" userDrawn="1">
          <p15:clr>
            <a:srgbClr val="A4A3A4"/>
          </p15:clr>
        </p15:guide>
        <p15:guide id="52" orient="horz" pos="3730" userDrawn="1">
          <p15:clr>
            <a:srgbClr val="A4A3A4"/>
          </p15:clr>
        </p15:guide>
        <p15:guide id="53" orient="horz" pos="3936" userDrawn="1">
          <p15:clr>
            <a:srgbClr val="A4A3A4"/>
          </p15:clr>
        </p15:guide>
        <p15:guide id="54" orient="horz" pos="187" userDrawn="1">
          <p15:clr>
            <a:srgbClr val="9FCC3B"/>
          </p15:clr>
        </p15:guide>
        <p15:guide id="55" pos="455" userDrawn="1">
          <p15:clr>
            <a:srgbClr val="9FCC3B"/>
          </p15:clr>
        </p15:guide>
        <p15:guide id="56" pos="1069" userDrawn="1">
          <p15:clr>
            <a:srgbClr val="9FCC3B"/>
          </p15:clr>
        </p15:guide>
        <p15:guide id="57" pos="1685" userDrawn="1">
          <p15:clr>
            <a:srgbClr val="9FCC3B"/>
          </p15:clr>
        </p15:guide>
        <p15:guide id="58" pos="2301" userDrawn="1">
          <p15:clr>
            <a:srgbClr val="9FCC3B"/>
          </p15:clr>
        </p15:guide>
        <p15:guide id="59" pos="2915" userDrawn="1">
          <p15:clr>
            <a:srgbClr val="9FCC3B"/>
          </p15:clr>
        </p15:guide>
        <p15:guide id="60" pos="3531" userDrawn="1">
          <p15:clr>
            <a:srgbClr val="9FCC3B"/>
          </p15:clr>
        </p15:guide>
        <p15:guide id="61" pos="4146" userDrawn="1">
          <p15:clr>
            <a:srgbClr val="9FCC3B"/>
          </p15:clr>
        </p15:guide>
        <p15:guide id="62" pos="4762" userDrawn="1">
          <p15:clr>
            <a:srgbClr val="9FCC3B"/>
          </p15:clr>
        </p15:guide>
        <p15:guide id="63" pos="5378" userDrawn="1">
          <p15:clr>
            <a:srgbClr val="9FCC3B"/>
          </p15:clr>
        </p15:guide>
        <p15:guide id="64" pos="5992" userDrawn="1">
          <p15:clr>
            <a:srgbClr val="9FCC3B"/>
          </p15:clr>
        </p15:guide>
        <p15:guide id="65" pos="6609" userDrawn="1">
          <p15:clr>
            <a:srgbClr val="9FCC3B"/>
          </p15:clr>
        </p15:guide>
        <p15:guide id="66" pos="7225"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4.xml"/><Relationship Id="rId5" Type="http://schemas.openxmlformats.org/officeDocument/2006/relationships/hyperlink" Target="https://github.com/open-telemetry/opentelemetry-ebpf-instrumentation" TargetMode="External"/><Relationship Id="rId4" Type="http://schemas.openxmlformats.org/officeDocument/2006/relationships/hyperlink" Target="https://opentelemetry.io/docs/zero-code/obi/"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9.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0.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0.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1.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localhost:3000/d/cilium-obi-app-network" TargetMode="External"/><Relationship Id="rId2" Type="http://schemas.openxmlformats.org/officeDocument/2006/relationships/notesSlide" Target="../notesSlides/notesSlide22.xml"/><Relationship Id="rId1" Type="http://schemas.openxmlformats.org/officeDocument/2006/relationships/slideLayout" Target="../slideLayouts/slideLayout10.xml"/><Relationship Id="rId6" Type="http://schemas.openxmlformats.org/officeDocument/2006/relationships/hyperlink" Target="http://localhost:12000/" TargetMode="External"/><Relationship Id="rId5" Type="http://schemas.openxmlformats.org/officeDocument/2006/relationships/hyperlink" Target="http://localhost:3000/explore" TargetMode="External"/><Relationship Id="rId4" Type="http://schemas.openxmlformats.org/officeDocument/2006/relationships/hyperlink" Target="http://localhost:3000/d/cilium-obi-platform" TargetMode="Externa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8E202DE-F0C4-F38B-E5D9-3EDB75497747}"/>
              </a:ext>
            </a:extLst>
          </p:cNvPr>
          <p:cNvSpPr>
            <a:spLocks noGrp="1"/>
          </p:cNvSpPr>
          <p:nvPr>
            <p:ph type="title"/>
          </p:nvPr>
        </p:nvSpPr>
        <p:spPr>
          <a:xfrm>
            <a:off x="323850" y="2181225"/>
            <a:ext cx="5204883" cy="1554163"/>
          </a:xfrm>
        </p:spPr>
        <p:txBody>
          <a:bodyPr/>
          <a:lstStyle/>
          <a:p>
            <a:r>
              <a:t>Two eBPF Systems,</a:t>
            </a:r>
          </a:p>
          <a:p>
            <a:r>
              <a:t>One Kubernetes Node</a:t>
            </a:r>
          </a:p>
        </p:txBody>
      </p:sp>
      <p:sp>
        <p:nvSpPr>
          <p:cNvPr id="11" name="Text Placeholder 10">
            <a:extLst>
              <a:ext uri="{FF2B5EF4-FFF2-40B4-BE49-F238E27FC236}">
                <a16:creationId xmlns:a16="http://schemas.microsoft.com/office/drawing/2014/main" id="{BF2F44CF-ACFF-5B47-1E65-5DC0E344BBF1}"/>
              </a:ext>
            </a:extLst>
          </p:cNvPr>
          <p:cNvSpPr>
            <a:spLocks noGrp="1"/>
          </p:cNvSpPr>
          <p:nvPr>
            <p:ph type="body" idx="13"/>
          </p:nvPr>
        </p:nvSpPr>
        <p:spPr/>
        <p:txBody>
          <a:bodyPr/>
          <a:lstStyle/>
          <a:p>
            <a:r>
              <a:t>Running OpenTelemetry OBI and Cilium together</a:t>
            </a:r>
          </a:p>
        </p:txBody>
      </p:sp>
      <p:sp>
        <p:nvSpPr>
          <p:cNvPr id="16" name="Text Placeholder 15">
            <a:extLst>
              <a:ext uri="{FF2B5EF4-FFF2-40B4-BE49-F238E27FC236}">
                <a16:creationId xmlns:a16="http://schemas.microsoft.com/office/drawing/2014/main" id="{224B78CB-A350-22C0-F50A-644022F70AA5}"/>
              </a:ext>
            </a:extLst>
          </p:cNvPr>
          <p:cNvSpPr>
            <a:spLocks noGrp="1"/>
          </p:cNvSpPr>
          <p:nvPr>
            <p:ph type="body" idx="12"/>
          </p:nvPr>
        </p:nvSpPr>
        <p:spPr>
          <a:xfrm>
            <a:off x="323850" y="6364224"/>
            <a:ext cx="3906838" cy="493776"/>
          </a:xfrm>
        </p:spPr>
        <p:txBody>
          <a:bodyPr/>
          <a:lstStyle/>
          <a:p>
            <a:r>
              <a:t>Anton Jimenez · KubeCon + CloudNativeCon NA 2026</a:t>
            </a:r>
          </a:p>
        </p:txBody>
      </p:sp>
    </p:spTree>
    <p:extLst>
      <p:ext uri="{BB962C8B-B14F-4D97-AF65-F5344CB8AC3E}">
        <p14:creationId xmlns:p14="http://schemas.microsoft.com/office/powerpoint/2010/main" val="2366237103"/>
      </p:ext>
    </p:extLst>
  </p:cSld>
  <p:clrMapOvr>
    <a:masterClrMapping/>
  </p:clrMapOvr>
  <p:transition advClick="1"/>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lide-title">
            <a:extLst>
              <a:ext uri="{FF2B5EF4-FFF2-40B4-BE49-F238E27FC236}">
                <a16:creationId xmlns:a16="http://schemas.microsoft.com/office/drawing/2014/main" id="{B7D396CA-1E8D-4AC0-BB33-1CC88795277A}"/>
              </a:ext>
            </a:extLst>
          </p:cNvPr>
          <p:cNvSpPr>
            <a:spLocks noGrp="1"/>
          </p:cNvSpPr>
          <p:nvPr/>
        </p:nvSpPr>
        <p:spPr>
          <a:xfrm>
            <a:off x="533400" y="361950"/>
            <a:ext cx="10763250" cy="647700"/>
          </a:xfrm>
          <a:prstGeom prst="rect">
            <a:avLst/>
          </a:prstGeom>
          <a:noFill/>
          <a:ln w="0">
            <a:noFill/>
          </a:ln>
        </p:spPr>
        <p:txBody>
          <a:bodyPr anchor="t">
            <a:no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Agenda</a:t>
            </a:r>
          </a:p>
        </p:txBody>
      </p:sp>
      <p:sp>
        <p:nvSpPr>
          <p:cNvPr id="2" name="Rectangle 1">
            <a:extLst>
              <a:ext uri="{FF2B5EF4-FFF2-40B4-BE49-F238E27FC236}">
                <a16:creationId xmlns:a16="http://schemas.microsoft.com/office/drawing/2014/main" id="{47EA0793-C78B-4E2F-9902-7D0C563A2053}"/>
              </a:ext>
            </a:extLst>
          </p:cNvPr>
          <p:cNvSpPr>
            <a:spLocks noGrp="1"/>
          </p:cNvSpPr>
          <p:nvPr/>
        </p:nvSpPr>
        <p:spPr>
          <a:xfrm>
            <a:off x="8763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AF9071E1-2371-4EFE-8EC1-D5B8EF52240E}"/>
              </a:ext>
            </a:extLst>
          </p:cNvPr>
          <p:cNvSpPr>
            <a:spLocks noGrp="1"/>
          </p:cNvSpPr>
          <p:nvPr/>
        </p:nvSpPr>
        <p:spPr>
          <a:xfrm>
            <a:off x="18764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 vs Cilium + Hubble</a:t>
            </a:r>
          </a:p>
        </p:txBody>
      </p:sp>
      <p:sp>
        <p:nvSpPr>
          <p:cNvPr id="4" name="Rectangle 3">
            <a:extLst>
              <a:ext uri="{FF2B5EF4-FFF2-40B4-BE49-F238E27FC236}">
                <a16:creationId xmlns:a16="http://schemas.microsoft.com/office/drawing/2014/main" id="{F1C4AE24-03D8-4219-82A5-69355D3425E8}"/>
              </a:ext>
            </a:extLst>
          </p:cNvPr>
          <p:cNvSpPr>
            <a:spLocks noGrp="1"/>
          </p:cNvSpPr>
          <p:nvPr/>
        </p:nvSpPr>
        <p:spPr>
          <a:xfrm>
            <a:off x="1876425" y="2209800"/>
            <a:ext cx="39052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08D6A3A6-BCF5-41B2-A498-0B9E5CD03507}"/>
              </a:ext>
            </a:extLst>
          </p:cNvPr>
          <p:cNvSpPr>
            <a:spLocks noGrp="1"/>
          </p:cNvSpPr>
          <p:nvPr/>
        </p:nvSpPr>
        <p:spPr>
          <a:xfrm>
            <a:off x="8763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02</a:t>
            </a:r>
          </a:p>
        </p:txBody>
      </p:sp>
      <p:sp>
        <p:nvSpPr>
          <p:cNvPr id="6" name="Rectangle 5">
            <a:extLst>
              <a:ext uri="{FF2B5EF4-FFF2-40B4-BE49-F238E27FC236}">
                <a16:creationId xmlns:a16="http://schemas.microsoft.com/office/drawing/2014/main" id="{5427CE96-D1A7-435E-9CFB-B4349F764F82}"/>
              </a:ext>
            </a:extLst>
          </p:cNvPr>
          <p:cNvSpPr>
            <a:spLocks noGrp="1"/>
          </p:cNvSpPr>
          <p:nvPr/>
        </p:nvSpPr>
        <p:spPr>
          <a:xfrm>
            <a:off x="18764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Coexistence problem</a:t>
            </a:r>
          </a:p>
        </p:txBody>
      </p:sp>
      <p:sp>
        <p:nvSpPr>
          <p:cNvPr id="7" name="Rectangle 6">
            <a:extLst>
              <a:ext uri="{FF2B5EF4-FFF2-40B4-BE49-F238E27FC236}">
                <a16:creationId xmlns:a16="http://schemas.microsoft.com/office/drawing/2014/main" id="{721DF949-ECCD-4C23-BC0E-AA64404F88CB}"/>
              </a:ext>
            </a:extLst>
          </p:cNvPr>
          <p:cNvSpPr>
            <a:spLocks noGrp="1"/>
          </p:cNvSpPr>
          <p:nvPr/>
        </p:nvSpPr>
        <p:spPr>
          <a:xfrm>
            <a:off x="1876425" y="3409950"/>
            <a:ext cx="39052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CC1267DE-B7B2-4A83-86F5-D8E5B14C600C}"/>
              </a:ext>
            </a:extLst>
          </p:cNvPr>
          <p:cNvSpPr>
            <a:spLocks noGrp="1"/>
          </p:cNvSpPr>
          <p:nvPr/>
        </p:nvSpPr>
        <p:spPr>
          <a:xfrm>
            <a:off x="8763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03</a:t>
            </a:r>
          </a:p>
        </p:txBody>
      </p:sp>
      <p:sp>
        <p:nvSpPr>
          <p:cNvPr id="9" name="Rectangle 8">
            <a:extLst>
              <a:ext uri="{FF2B5EF4-FFF2-40B4-BE49-F238E27FC236}">
                <a16:creationId xmlns:a16="http://schemas.microsoft.com/office/drawing/2014/main" id="{C62A8A12-A547-4E33-B2AF-B2609FA728C0}"/>
              </a:ext>
            </a:extLst>
          </p:cNvPr>
          <p:cNvSpPr>
            <a:spLocks noGrp="1"/>
          </p:cNvSpPr>
          <p:nvPr/>
        </p:nvSpPr>
        <p:spPr>
          <a:xfrm>
            <a:off x="18764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Attachment order</a:t>
            </a:r>
          </a:p>
        </p:txBody>
      </p:sp>
      <p:sp>
        <p:nvSpPr>
          <p:cNvPr id="10" name="Rectangle 9">
            <a:extLst>
              <a:ext uri="{FF2B5EF4-FFF2-40B4-BE49-F238E27FC236}">
                <a16:creationId xmlns:a16="http://schemas.microsoft.com/office/drawing/2014/main" id="{E3980FFE-1F3F-4885-9E11-751F56C0BC93}"/>
              </a:ext>
            </a:extLst>
          </p:cNvPr>
          <p:cNvSpPr>
            <a:spLocks noGrp="1"/>
          </p:cNvSpPr>
          <p:nvPr/>
        </p:nvSpPr>
        <p:spPr>
          <a:xfrm>
            <a:off x="1876425" y="4610100"/>
            <a:ext cx="39052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F597A3DA-EF14-4A49-AC78-E8CA1F50DF05}"/>
              </a:ext>
            </a:extLst>
          </p:cNvPr>
          <p:cNvSpPr>
            <a:spLocks noGrp="1"/>
          </p:cNvSpPr>
          <p:nvPr/>
        </p:nvSpPr>
        <p:spPr>
          <a:xfrm>
            <a:off x="6477000" y="16192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04</a:t>
            </a:r>
          </a:p>
        </p:txBody>
      </p:sp>
      <p:sp>
        <p:nvSpPr>
          <p:cNvPr id="12" name="Rectangle 11">
            <a:extLst>
              <a:ext uri="{FF2B5EF4-FFF2-40B4-BE49-F238E27FC236}">
                <a16:creationId xmlns:a16="http://schemas.microsoft.com/office/drawing/2014/main" id="{9B3E707B-5C31-4C26-8CE7-770843414CE5}"/>
              </a:ext>
            </a:extLst>
          </p:cNvPr>
          <p:cNvSpPr>
            <a:spLocks noGrp="1"/>
          </p:cNvSpPr>
          <p:nvPr/>
        </p:nvSpPr>
        <p:spPr>
          <a:xfrm>
            <a:off x="7477125" y="16192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lang="en-US" sz="2100" b="1" dirty="0">
                <a:solidFill>
                  <a:srgbClr val="07182A"/>
                </a:solidFill>
                <a:latin typeface="CiscoSansTT Medium"/>
                <a:ea typeface="CiscoSansTT Medium"/>
                <a:cs typeface="CiscoSansTT Medium"/>
              </a:rPr>
              <a:t>Demo</a:t>
            </a:r>
            <a:endParaRPr sz="2100" b="1" dirty="0">
              <a:solidFill>
                <a:srgbClr val="07182A"/>
              </a:solidFill>
              <a:latin typeface="CiscoSansTT Medium"/>
              <a:ea typeface="CiscoSansTT Medium"/>
              <a:cs typeface="CiscoSansTT Medium"/>
            </a:endParaRPr>
          </a:p>
        </p:txBody>
      </p:sp>
      <p:sp>
        <p:nvSpPr>
          <p:cNvPr id="13" name="Rectangle 12">
            <a:extLst>
              <a:ext uri="{FF2B5EF4-FFF2-40B4-BE49-F238E27FC236}">
                <a16:creationId xmlns:a16="http://schemas.microsoft.com/office/drawing/2014/main" id="{18535E0D-77D8-458C-99DB-DBBA068786D7}"/>
              </a:ext>
            </a:extLst>
          </p:cNvPr>
          <p:cNvSpPr>
            <a:spLocks noGrp="1"/>
          </p:cNvSpPr>
          <p:nvPr/>
        </p:nvSpPr>
        <p:spPr>
          <a:xfrm>
            <a:off x="7477125" y="2209800"/>
            <a:ext cx="39052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929BE267-4CA4-4BAA-B490-AB20218BE7BA}"/>
              </a:ext>
            </a:extLst>
          </p:cNvPr>
          <p:cNvSpPr>
            <a:spLocks noGrp="1"/>
          </p:cNvSpPr>
          <p:nvPr/>
        </p:nvSpPr>
        <p:spPr>
          <a:xfrm>
            <a:off x="6477000" y="281940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05</a:t>
            </a:r>
          </a:p>
        </p:txBody>
      </p:sp>
      <p:sp>
        <p:nvSpPr>
          <p:cNvPr id="15" name="Rectangle 14">
            <a:extLst>
              <a:ext uri="{FF2B5EF4-FFF2-40B4-BE49-F238E27FC236}">
                <a16:creationId xmlns:a16="http://schemas.microsoft.com/office/drawing/2014/main" id="{B357B8D1-CA8D-49E6-98AC-5457FAF96A1A}"/>
              </a:ext>
            </a:extLst>
          </p:cNvPr>
          <p:cNvSpPr>
            <a:spLocks noGrp="1"/>
          </p:cNvSpPr>
          <p:nvPr/>
        </p:nvSpPr>
        <p:spPr>
          <a:xfrm>
            <a:off x="7477125" y="281940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Benchmark</a:t>
            </a:r>
          </a:p>
        </p:txBody>
      </p:sp>
      <p:sp>
        <p:nvSpPr>
          <p:cNvPr id="16" name="Rectangle 15">
            <a:extLst>
              <a:ext uri="{FF2B5EF4-FFF2-40B4-BE49-F238E27FC236}">
                <a16:creationId xmlns:a16="http://schemas.microsoft.com/office/drawing/2014/main" id="{A03C16AE-F78F-4A62-82F9-113185187DD3}"/>
              </a:ext>
            </a:extLst>
          </p:cNvPr>
          <p:cNvSpPr>
            <a:spLocks noGrp="1"/>
          </p:cNvSpPr>
          <p:nvPr/>
        </p:nvSpPr>
        <p:spPr>
          <a:xfrm>
            <a:off x="7477125" y="3409950"/>
            <a:ext cx="3905250" cy="9525"/>
          </a:xfrm>
          <a:prstGeom prst="rect">
            <a:avLst/>
          </a:prstGeom>
          <a:solidFill>
            <a:srgbClr val="D6D6D6"/>
          </a:solidFill>
          <a:ln w="0">
            <a:noFill/>
          </a:ln>
        </p:spPr>
        <p:txBody>
          <a:bodyPr/>
          <a:lstStyle/>
          <a:p>
            <a:endParaRPr/>
          </a:p>
        </p:txBody>
      </p:sp>
      <p:sp>
        <p:nvSpPr>
          <p:cNvPr id="17" name="Rectangle 16">
            <a:extLst>
              <a:ext uri="{FF2B5EF4-FFF2-40B4-BE49-F238E27FC236}">
                <a16:creationId xmlns:a16="http://schemas.microsoft.com/office/drawing/2014/main" id="{CDF39F5D-82A7-43DA-B918-9373DC8A03ED}"/>
              </a:ext>
            </a:extLst>
          </p:cNvPr>
          <p:cNvSpPr>
            <a:spLocks noGrp="1"/>
          </p:cNvSpPr>
          <p:nvPr/>
        </p:nvSpPr>
        <p:spPr>
          <a:xfrm>
            <a:off x="6477000" y="4019550"/>
            <a:ext cx="742950" cy="457200"/>
          </a:xfrm>
          <a:prstGeom prst="rect">
            <a:avLst/>
          </a:prstGeom>
          <a:noFill/>
          <a:ln w="0">
            <a:noFill/>
          </a:ln>
        </p:spPr>
        <p:txBody>
          <a:bodyPr anchor="t">
            <a:normAutofit/>
          </a:bodyPr>
          <a:lstStyle/>
          <a:p>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06</a:t>
            </a:r>
          </a:p>
        </p:txBody>
      </p:sp>
      <p:sp>
        <p:nvSpPr>
          <p:cNvPr id="18" name="Rectangle 17">
            <a:extLst>
              <a:ext uri="{FF2B5EF4-FFF2-40B4-BE49-F238E27FC236}">
                <a16:creationId xmlns:a16="http://schemas.microsoft.com/office/drawing/2014/main" id="{82632E2D-769F-47E9-B6EA-08FF75570C4A}"/>
              </a:ext>
            </a:extLst>
          </p:cNvPr>
          <p:cNvSpPr>
            <a:spLocks noGrp="1"/>
          </p:cNvSpPr>
          <p:nvPr/>
        </p:nvSpPr>
        <p:spPr>
          <a:xfrm>
            <a:off x="7477125" y="4019550"/>
            <a:ext cx="3905250" cy="457200"/>
          </a:xfrm>
          <a:prstGeom prst="rect">
            <a:avLst/>
          </a:prstGeom>
          <a:noFill/>
          <a:ln w="0">
            <a:noFill/>
          </a:ln>
        </p:spPr>
        <p:txBody>
          <a:bodyPr anchor="t">
            <a:normAutofit/>
          </a:body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Production rollout</a:t>
            </a:r>
          </a:p>
        </p:txBody>
      </p:sp>
      <p:sp>
        <p:nvSpPr>
          <p:cNvPr id="19" name="Rectangle 18">
            <a:extLst>
              <a:ext uri="{FF2B5EF4-FFF2-40B4-BE49-F238E27FC236}">
                <a16:creationId xmlns:a16="http://schemas.microsoft.com/office/drawing/2014/main" id="{F815B16F-747D-45B6-A0F1-C46A61EBB3DA}"/>
              </a:ext>
            </a:extLst>
          </p:cNvPr>
          <p:cNvSpPr>
            <a:spLocks noGrp="1"/>
          </p:cNvSpPr>
          <p:nvPr/>
        </p:nvSpPr>
        <p:spPr>
          <a:xfrm>
            <a:off x="7477125" y="4610100"/>
            <a:ext cx="3905250" cy="9525"/>
          </a:xfrm>
          <a:prstGeom prst="rect">
            <a:avLst/>
          </a:prstGeom>
          <a:solidFill>
            <a:srgbClr val="D6D6D6"/>
          </a:solidFill>
          <a:ln w="0">
            <a:noFill/>
          </a:ln>
        </p:spPr>
        <p:txBody>
          <a:bodyPr/>
          <a:lstStyle/>
          <a:p>
            <a:endParaRPr/>
          </a:p>
        </p:txBody>
      </p:sp>
      <p:sp>
        <p:nvSpPr>
          <p:cNvPr id="20" name="Rounded Rectangle 19">
            <a:extLst>
              <a:ext uri="{FF2B5EF4-FFF2-40B4-BE49-F238E27FC236}">
                <a16:creationId xmlns:a16="http://schemas.microsoft.com/office/drawing/2014/main" id="{FC8E9A76-0120-4DAE-BC83-519A8F5F25AA}"/>
              </a:ext>
            </a:extLst>
          </p:cNvPr>
          <p:cNvSpPr>
            <a:spLocks noGrp="1"/>
          </p:cNvSpPr>
          <p:nvPr/>
        </p:nvSpPr>
        <p:spPr>
          <a:xfrm>
            <a:off x="2724150" y="5562600"/>
            <a:ext cx="6743700" cy="381000"/>
          </a:xfrm>
          <a:prstGeom prst="roundRect">
            <a:avLst>
              <a:gd name="adj" fmla="val 20000"/>
            </a:avLst>
          </a:prstGeom>
          <a:solidFill>
            <a:srgbClr val="07182A"/>
          </a:solidFill>
          <a:ln w="0">
            <a:noFill/>
          </a:ln>
        </p:spPr>
        <p:txBody>
          <a:bodyPr anchor="ctr">
            <a:normAutofit/>
          </a:bodyPr>
          <a:lstStyle/>
          <a:p>
            <a:pPr algn="ctr">
              <a:buNone/>
              <a:defRPr sz="1275" b="1">
                <a:solidFill>
                  <a:srgbClr val="FFFFFF"/>
                </a:solidFill>
                <a:latin typeface="CiscoSansTT Medium"/>
                <a:ea typeface="CiscoSansTT Medium"/>
                <a:cs typeface="CiscoSansTT Medium"/>
              </a:defRPr>
            </a:pPr>
            <a:r>
              <a:rPr sz="1275" b="1" dirty="0">
                <a:solidFill>
                  <a:srgbClr val="FFFFFF"/>
                </a:solidFill>
                <a:latin typeface="CiscoSansTT Medium"/>
                <a:ea typeface="CiscoSansTT Medium"/>
                <a:cs typeface="CiscoSansTT Medium"/>
              </a:rPr>
              <a:t>ONE REQUEST · TWO TELEMETRY VIEWS</a:t>
            </a:r>
          </a:p>
        </p:txBody>
      </p:sp>
      <p:sp>
        <p:nvSpPr>
          <p:cNvPr id="22" name="Rectangle 21">
            <a:extLst>
              <a:ext uri="{FF2B5EF4-FFF2-40B4-BE49-F238E27FC236}">
                <a16:creationId xmlns:a16="http://schemas.microsoft.com/office/drawing/2014/main" id="{F2410DE7-62AD-405F-867D-87290CCEF6A7}"/>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23" name="Rectangle 22">
            <a:extLst>
              <a:ext uri="{FF2B5EF4-FFF2-40B4-BE49-F238E27FC236}">
                <a16:creationId xmlns:a16="http://schemas.microsoft.com/office/drawing/2014/main" id="{2A65D56C-4C1B-45E5-BEA1-03C8866212B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438193867"/>
      </p:ext>
    </p:extLst>
  </p:cSld>
  <p:clrMapOvr>
    <a:masterClrMapping/>
  </p:clrMapOvr>
  <p:transition advClick="1"/>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OpenTelemetry eBPF Instrumentation (OBI)</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60833" lnSpcReduction="2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
        <p:nvSpPr>
          <p:cNvPr id="17" name="Rectangle 16">
            <a:extLst>
              <a:ext uri="{FF2B5EF4-FFF2-40B4-BE49-F238E27FC236}">
                <a16:creationId xmlns:a16="http://schemas.microsoft.com/office/drawing/2014/main" id="{A334CE78-A7CE-48FF-8708-F87B568CB332}"/>
              </a:ext>
            </a:extLst>
          </p:cNvPr>
          <p:cNvSpPr>
            <a:spLocks noGrp="1"/>
          </p:cNvSpPr>
          <p:nvPr/>
        </p:nvSpPr>
        <p:spPr>
          <a:xfrm>
            <a:off x="723900" y="1343025"/>
            <a:ext cx="10572750" cy="457200"/>
          </a:xfrm>
          <a:prstGeom prst="rect">
            <a:avLst/>
          </a:prstGeom>
          <a:noFill/>
          <a:ln w="0">
            <a:noFill/>
          </a:ln>
        </p:spPr>
        <p:txBody>
          <a:bodyPr anchor="ctr">
            <a:noAutofit/>
          </a:bodyPr>
          <a:lstStyle>
            <a:defPPr algn="l">
              <a:defRPr sz="2100" b="0">
                <a:solidFill>
                  <a:srgbClr val="686B6B"/>
                </a:solidFill>
                <a:latin typeface="CiscoSansTT"/>
                <a:ea typeface="CiscoSansTT"/>
                <a:cs typeface="CiscoSansTT"/>
              </a:defRPr>
            </a:defPPr>
            <a:lvl1pPr algn="l">
              <a:defRPr sz="2100" b="0">
                <a:solidFill>
                  <a:srgbClr val="686B6B"/>
                </a:solidFill>
                <a:latin typeface="CiscoSansTT"/>
                <a:ea typeface="CiscoSansTT"/>
                <a:cs typeface="CiscoSansTT"/>
              </a:defRPr>
            </a:lvl1pPr>
            <a:lvl2pPr algn="l">
              <a:defRPr sz="2100" b="0">
                <a:solidFill>
                  <a:srgbClr val="686B6B"/>
                </a:solidFill>
                <a:latin typeface="CiscoSansTT"/>
                <a:ea typeface="CiscoSansTT"/>
                <a:cs typeface="CiscoSansTT"/>
              </a:defRPr>
            </a:lvl2pPr>
            <a:lvl3pPr algn="l">
              <a:defRPr sz="2100" b="0">
                <a:solidFill>
                  <a:srgbClr val="686B6B"/>
                </a:solidFill>
                <a:latin typeface="CiscoSansTT"/>
                <a:ea typeface="CiscoSansTT"/>
                <a:cs typeface="CiscoSansTT"/>
              </a:defRPr>
            </a:lvl3pPr>
            <a:lvl4pPr algn="l">
              <a:defRPr sz="2100" b="0">
                <a:solidFill>
                  <a:srgbClr val="686B6B"/>
                </a:solidFill>
                <a:latin typeface="CiscoSansTT"/>
                <a:ea typeface="CiscoSansTT"/>
                <a:cs typeface="CiscoSansTT"/>
              </a:defRPr>
            </a:lvl4pPr>
            <a:lvl5pPr algn="l">
              <a:defRPr sz="2100" b="0">
                <a:solidFill>
                  <a:srgbClr val="686B6B"/>
                </a:solidFill>
                <a:latin typeface="CiscoSansTT"/>
                <a:ea typeface="CiscoSansTT"/>
                <a:cs typeface="CiscoSansTT"/>
              </a:defRPr>
            </a:lvl5pPr>
            <a:lvl6pPr algn="l">
              <a:defRPr sz="2100" b="0">
                <a:solidFill>
                  <a:srgbClr val="686B6B"/>
                </a:solidFill>
                <a:latin typeface="CiscoSansTT"/>
                <a:ea typeface="CiscoSansTT"/>
                <a:cs typeface="CiscoSansTT"/>
              </a:defRPr>
            </a:lvl6pPr>
            <a:lvl7pPr algn="l">
              <a:defRPr sz="2100" b="0">
                <a:solidFill>
                  <a:srgbClr val="686B6B"/>
                </a:solidFill>
                <a:latin typeface="CiscoSansTT"/>
                <a:ea typeface="CiscoSansTT"/>
                <a:cs typeface="CiscoSansTT"/>
              </a:defRPr>
            </a:lvl7pPr>
            <a:lvl8pPr algn="l">
              <a:defRPr sz="2100" b="0">
                <a:solidFill>
                  <a:srgbClr val="686B6B"/>
                </a:solidFill>
                <a:latin typeface="CiscoSansTT"/>
                <a:ea typeface="CiscoSansTT"/>
                <a:cs typeface="CiscoSansTT"/>
              </a:defRPr>
            </a:lvl8pPr>
            <a:lvl9pPr algn="l">
              <a:defRPr sz="2100" b="0">
                <a:solidFill>
                  <a:srgbClr val="686B6B"/>
                </a:solidFill>
                <a:latin typeface="CiscoSansTT"/>
                <a:ea typeface="CiscoSansTT"/>
                <a:cs typeface="CiscoSansTT"/>
              </a:defRPr>
            </a:lvl9pPr>
          </a:lstStyle>
          <a:p>
            <a:pPr algn="l">
              <a:buNone/>
              <a:defRPr sz="2100" b="0">
                <a:solidFill>
                  <a:srgbClr val="686B6B"/>
                </a:solidFill>
                <a:latin typeface="CiscoSansTT"/>
                <a:ea typeface="CiscoSansTT"/>
                <a:cs typeface="CiscoSansTT"/>
              </a:defRPr>
            </a:pPr>
            <a:r>
              <a:rPr sz="2100" b="0">
                <a:solidFill>
                  <a:srgbClr val="686B6B"/>
                </a:solidFill>
                <a:latin typeface="CiscoSansTT"/>
                <a:ea typeface="CiscoSansTT"/>
                <a:cs typeface="CiscoSansTT"/>
              </a:rPr>
              <a:t>One application request becomes traces and metrics</a:t>
            </a:r>
          </a:p>
        </p:txBody>
      </p:sp>
      <p:sp>
        <p:nvSpPr>
          <p:cNvPr id="18" name="Rectangle 17">
            <a:extLst>
              <a:ext uri="{FF2B5EF4-FFF2-40B4-BE49-F238E27FC236}">
                <a16:creationId xmlns:a16="http://schemas.microsoft.com/office/drawing/2014/main" id="{D9A99B0B-3915-46AB-9DF7-9A6093270C98}"/>
              </a:ext>
            </a:extLst>
          </p:cNvPr>
          <p:cNvSpPr>
            <a:spLocks noGrp="1"/>
          </p:cNvSpPr>
          <p:nvPr/>
        </p:nvSpPr>
        <p:spPr>
          <a:xfrm>
            <a:off x="742950" y="207645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01</a:t>
            </a:r>
          </a:p>
        </p:txBody>
      </p:sp>
      <p:sp>
        <p:nvSpPr>
          <p:cNvPr id="19" name="Rectangle 18">
            <a:extLst>
              <a:ext uri="{FF2B5EF4-FFF2-40B4-BE49-F238E27FC236}">
                <a16:creationId xmlns:a16="http://schemas.microsoft.com/office/drawing/2014/main" id="{8D9D5781-19F1-4B23-A7A1-3479877C9FE1}"/>
              </a:ext>
            </a:extLst>
          </p:cNvPr>
          <p:cNvSpPr>
            <a:spLocks noGrp="1"/>
          </p:cNvSpPr>
          <p:nvPr/>
        </p:nvSpPr>
        <p:spPr>
          <a:xfrm>
            <a:off x="1638300" y="208597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a:t>
            </a:r>
          </a:p>
        </p:txBody>
      </p:sp>
      <p:sp>
        <p:nvSpPr>
          <p:cNvPr id="20" name="Rectangle 19">
            <a:extLst>
              <a:ext uri="{FF2B5EF4-FFF2-40B4-BE49-F238E27FC236}">
                <a16:creationId xmlns:a16="http://schemas.microsoft.com/office/drawing/2014/main" id="{475C7ABE-C852-46F0-8440-29E93435EE74}"/>
              </a:ext>
            </a:extLst>
          </p:cNvPr>
          <p:cNvSpPr>
            <a:spLocks noGrp="1"/>
          </p:cNvSpPr>
          <p:nvPr/>
        </p:nvSpPr>
        <p:spPr>
          <a:xfrm>
            <a:off x="1638300" y="252412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uses eBPF to observe requests sent or</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received by supported applications.</a:t>
            </a:r>
          </a:p>
        </p:txBody>
      </p:sp>
      <p:sp>
        <p:nvSpPr>
          <p:cNvPr id="21" name="Rectangle 20">
            <a:extLst>
              <a:ext uri="{FF2B5EF4-FFF2-40B4-BE49-F238E27FC236}">
                <a16:creationId xmlns:a16="http://schemas.microsoft.com/office/drawing/2014/main" id="{561E33F0-9556-4CAF-999D-F7D9D5066F95}"/>
              </a:ext>
            </a:extLst>
          </p:cNvPr>
          <p:cNvSpPr>
            <a:spLocks noGrp="1"/>
          </p:cNvSpPr>
          <p:nvPr/>
        </p:nvSpPr>
        <p:spPr>
          <a:xfrm>
            <a:off x="1638300" y="3143250"/>
            <a:ext cx="6191250" cy="14288"/>
          </a:xfrm>
          <a:prstGeom prst="rect">
            <a:avLst/>
          </a:prstGeom>
          <a:solidFill>
            <a:srgbClr val="D6D6D6"/>
          </a:solidFill>
          <a:ln w="0">
            <a:noFill/>
          </a:ln>
        </p:spPr>
        <p:txBody>
          <a:bodyPr/>
          <a:lstStyle/>
          <a:p>
            <a:endParaRPr/>
          </a:p>
        </p:txBody>
      </p:sp>
      <p:sp>
        <p:nvSpPr>
          <p:cNvPr id="22" name="Rectangle 21">
            <a:extLst>
              <a:ext uri="{FF2B5EF4-FFF2-40B4-BE49-F238E27FC236}">
                <a16:creationId xmlns:a16="http://schemas.microsoft.com/office/drawing/2014/main" id="{6E3E1547-0690-41B6-A094-92DD3AD34550}"/>
              </a:ext>
            </a:extLst>
          </p:cNvPr>
          <p:cNvSpPr>
            <a:spLocks noGrp="1"/>
          </p:cNvSpPr>
          <p:nvPr/>
        </p:nvSpPr>
        <p:spPr>
          <a:xfrm>
            <a:off x="742950" y="327660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02</a:t>
            </a:r>
          </a:p>
        </p:txBody>
      </p:sp>
      <p:sp>
        <p:nvSpPr>
          <p:cNvPr id="23" name="Rectangle 22">
            <a:extLst>
              <a:ext uri="{FF2B5EF4-FFF2-40B4-BE49-F238E27FC236}">
                <a16:creationId xmlns:a16="http://schemas.microsoft.com/office/drawing/2014/main" id="{9F06C7CD-12DC-45DF-8CF5-12E573F6F38D}"/>
              </a:ext>
            </a:extLst>
          </p:cNvPr>
          <p:cNvSpPr>
            <a:spLocks noGrp="1"/>
          </p:cNvSpPr>
          <p:nvPr/>
        </p:nvSpPr>
        <p:spPr>
          <a:xfrm>
            <a:off x="1638300" y="328612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Create telemetry</a:t>
            </a:r>
          </a:p>
        </p:txBody>
      </p:sp>
      <p:sp>
        <p:nvSpPr>
          <p:cNvPr id="24" name="Rectangle 23">
            <a:extLst>
              <a:ext uri="{FF2B5EF4-FFF2-40B4-BE49-F238E27FC236}">
                <a16:creationId xmlns:a16="http://schemas.microsoft.com/office/drawing/2014/main" id="{0AD620F7-9210-4E6C-977E-C41323C0D218}"/>
              </a:ext>
            </a:extLst>
          </p:cNvPr>
          <p:cNvSpPr>
            <a:spLocks noGrp="1"/>
          </p:cNvSpPr>
          <p:nvPr/>
        </p:nvSpPr>
        <p:spPr>
          <a:xfrm>
            <a:off x="1638300" y="372427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Client and server calls become spans.</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Metrics show rate, errors, and duration.</a:t>
            </a:r>
          </a:p>
        </p:txBody>
      </p:sp>
      <p:sp>
        <p:nvSpPr>
          <p:cNvPr id="25" name="Rectangle 24">
            <a:extLst>
              <a:ext uri="{FF2B5EF4-FFF2-40B4-BE49-F238E27FC236}">
                <a16:creationId xmlns:a16="http://schemas.microsoft.com/office/drawing/2014/main" id="{EF061137-362E-4028-8DC7-73E3458F86FF}"/>
              </a:ext>
            </a:extLst>
          </p:cNvPr>
          <p:cNvSpPr>
            <a:spLocks noGrp="1"/>
          </p:cNvSpPr>
          <p:nvPr/>
        </p:nvSpPr>
        <p:spPr>
          <a:xfrm>
            <a:off x="1638300" y="4343400"/>
            <a:ext cx="6191250" cy="14288"/>
          </a:xfrm>
          <a:prstGeom prst="rect">
            <a:avLst/>
          </a:prstGeom>
          <a:solidFill>
            <a:srgbClr val="D6D6D6"/>
          </a:solidFill>
          <a:ln w="0">
            <a:noFill/>
          </a:ln>
        </p:spPr>
        <p:txBody>
          <a:bodyPr/>
          <a:lstStyle/>
          <a:p>
            <a:endParaRPr/>
          </a:p>
        </p:txBody>
      </p:sp>
      <p:sp>
        <p:nvSpPr>
          <p:cNvPr id="26" name="Rectangle 25">
            <a:extLst>
              <a:ext uri="{FF2B5EF4-FFF2-40B4-BE49-F238E27FC236}">
                <a16:creationId xmlns:a16="http://schemas.microsoft.com/office/drawing/2014/main" id="{A253741F-4AF9-4008-A6F4-68EDD4CE0910}"/>
              </a:ext>
            </a:extLst>
          </p:cNvPr>
          <p:cNvSpPr>
            <a:spLocks noGrp="1"/>
          </p:cNvSpPr>
          <p:nvPr/>
        </p:nvSpPr>
        <p:spPr>
          <a:xfrm>
            <a:off x="742950" y="4476750"/>
            <a:ext cx="723900" cy="504825"/>
          </a:xfrm>
          <a:prstGeom prst="rect">
            <a:avLst/>
          </a:prstGeom>
          <a:noFill/>
          <a:ln w="0">
            <a:noFill/>
          </a:ln>
        </p:spPr>
        <p:txBody>
          <a:bodyPr anchor="t">
            <a:noAutofit/>
          </a:bodyPr>
          <a:lstStyle/>
          <a:p>
            <a:pPr algn="l">
              <a:buNone/>
              <a:defRPr sz="2700" b="1">
                <a:solidFill>
                  <a:srgbClr val="FF007F"/>
                </a:solidFill>
                <a:latin typeface="CiscoSansTT Medium"/>
                <a:ea typeface="CiscoSansTT Medium"/>
                <a:cs typeface="CiscoSansTT Medium"/>
              </a:defRPr>
            </a:pPr>
            <a:r>
              <a:rPr sz="2700" b="1">
                <a:solidFill>
                  <a:srgbClr val="FF007F"/>
                </a:solidFill>
                <a:latin typeface="CiscoSansTT Medium"/>
                <a:ea typeface="CiscoSansTT Medium"/>
                <a:cs typeface="CiscoSansTT Medium"/>
              </a:rPr>
              <a:t>03</a:t>
            </a:r>
          </a:p>
        </p:txBody>
      </p:sp>
      <p:sp>
        <p:nvSpPr>
          <p:cNvPr id="27" name="Rectangle 26">
            <a:extLst>
              <a:ext uri="{FF2B5EF4-FFF2-40B4-BE49-F238E27FC236}">
                <a16:creationId xmlns:a16="http://schemas.microsoft.com/office/drawing/2014/main" id="{F872886C-D0B2-4EAD-86A5-A4B9EFD37913}"/>
              </a:ext>
            </a:extLst>
          </p:cNvPr>
          <p:cNvSpPr>
            <a:spLocks noGrp="1"/>
          </p:cNvSpPr>
          <p:nvPr/>
        </p:nvSpPr>
        <p:spPr>
          <a:xfrm>
            <a:off x="1638300" y="4486275"/>
            <a:ext cx="6096000" cy="419100"/>
          </a:xfrm>
          <a:prstGeom prst="rect">
            <a:avLst/>
          </a:prstGeom>
          <a:noFill/>
          <a:ln w="0">
            <a:noFill/>
          </a:ln>
        </p:spPr>
        <p:txBody>
          <a:bodyPr anchor="ctr">
            <a:noAutofit/>
          </a:bodyPr>
          <a:lstStyle>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Export</a:t>
            </a:r>
          </a:p>
        </p:txBody>
      </p:sp>
      <p:sp>
        <p:nvSpPr>
          <p:cNvPr id="28" name="Rectangle 27">
            <a:extLst>
              <a:ext uri="{FF2B5EF4-FFF2-40B4-BE49-F238E27FC236}">
                <a16:creationId xmlns:a16="http://schemas.microsoft.com/office/drawing/2014/main" id="{9FE58FB9-5595-40BC-80A2-0FB84D19C295}"/>
              </a:ext>
            </a:extLst>
          </p:cNvPr>
          <p:cNvSpPr>
            <a:spLocks noGrp="1"/>
          </p:cNvSpPr>
          <p:nvPr/>
        </p:nvSpPr>
        <p:spPr>
          <a:xfrm>
            <a:off x="1638300" y="4924425"/>
            <a:ext cx="6096000" cy="619125"/>
          </a:xfrm>
          <a:prstGeom prst="rect">
            <a:avLst/>
          </a:prstGeom>
          <a:noFill/>
          <a:ln w="0">
            <a:noFill/>
          </a:ln>
        </p:spPr>
        <p:txBody>
          <a:bodyPr anchor="ctr">
            <a:noAutofit/>
          </a:bodyPr>
          <a:lstStyle>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sends these signals to an</a:t>
            </a:r>
          </a:p>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OpenTelemetry-compatible backend.</a:t>
            </a:r>
          </a:p>
        </p:txBody>
      </p:sp>
      <p:sp>
        <p:nvSpPr>
          <p:cNvPr id="29" name="Rectangle 28">
            <a:extLst>
              <a:ext uri="{FF2B5EF4-FFF2-40B4-BE49-F238E27FC236}">
                <a16:creationId xmlns:a16="http://schemas.microsoft.com/office/drawing/2014/main" id="{1021DFE0-06B2-4E5F-900E-1BFCD8FC5AE7}"/>
              </a:ext>
            </a:extLst>
          </p:cNvPr>
          <p:cNvSpPr>
            <a:spLocks noGrp="1"/>
          </p:cNvSpPr>
          <p:nvPr/>
        </p:nvSpPr>
        <p:spPr>
          <a:xfrm>
            <a:off x="723900" y="5753100"/>
            <a:ext cx="7239000" cy="504825"/>
          </a:xfrm>
          <a:prstGeom prst="rect">
            <a:avLst/>
          </a:prstGeom>
          <a:noFill/>
          <a:ln w="0">
            <a:noFill/>
          </a:ln>
        </p:spPr>
        <p:txBody>
          <a:bodyPr anchor="ctr">
            <a:noAutofit/>
          </a:bodyPr>
          <a:lstStyle>
            <a:defPPr algn="l">
              <a:defRPr sz="1725" b="0">
                <a:solidFill>
                  <a:srgbClr val="0860FE"/>
                </a:solidFill>
                <a:latin typeface="CiscoSansTT"/>
                <a:ea typeface="CiscoSansTT"/>
                <a:cs typeface="CiscoSansTT"/>
              </a:defRPr>
            </a:defPPr>
            <a:lvl1pPr algn="l">
              <a:defRPr sz="1725" b="0">
                <a:solidFill>
                  <a:srgbClr val="0860FE"/>
                </a:solidFill>
                <a:latin typeface="CiscoSansTT"/>
                <a:ea typeface="CiscoSansTT"/>
                <a:cs typeface="CiscoSansTT"/>
              </a:defRPr>
            </a:lvl1pPr>
            <a:lvl2pPr algn="l">
              <a:defRPr sz="1725" b="0">
                <a:solidFill>
                  <a:srgbClr val="0860FE"/>
                </a:solidFill>
                <a:latin typeface="CiscoSansTT"/>
                <a:ea typeface="CiscoSansTT"/>
                <a:cs typeface="CiscoSansTT"/>
              </a:defRPr>
            </a:lvl2pPr>
            <a:lvl3pPr algn="l">
              <a:defRPr sz="1725" b="0">
                <a:solidFill>
                  <a:srgbClr val="0860FE"/>
                </a:solidFill>
                <a:latin typeface="CiscoSansTT"/>
                <a:ea typeface="CiscoSansTT"/>
                <a:cs typeface="CiscoSansTT"/>
              </a:defRPr>
            </a:lvl3pPr>
            <a:lvl4pPr algn="l">
              <a:defRPr sz="1725" b="0">
                <a:solidFill>
                  <a:srgbClr val="0860FE"/>
                </a:solidFill>
                <a:latin typeface="CiscoSansTT"/>
                <a:ea typeface="CiscoSansTT"/>
                <a:cs typeface="CiscoSansTT"/>
              </a:defRPr>
            </a:lvl4pPr>
            <a:lvl5pPr algn="l">
              <a:defRPr sz="1725" b="0">
                <a:solidFill>
                  <a:srgbClr val="0860FE"/>
                </a:solidFill>
                <a:latin typeface="CiscoSansTT"/>
                <a:ea typeface="CiscoSansTT"/>
                <a:cs typeface="CiscoSansTT"/>
              </a:defRPr>
            </a:lvl5pPr>
            <a:lvl6pPr algn="l">
              <a:defRPr sz="1725" b="0">
                <a:solidFill>
                  <a:srgbClr val="0860FE"/>
                </a:solidFill>
                <a:latin typeface="CiscoSansTT"/>
                <a:ea typeface="CiscoSansTT"/>
                <a:cs typeface="CiscoSansTT"/>
              </a:defRPr>
            </a:lvl6pPr>
            <a:lvl7pPr algn="l">
              <a:defRPr sz="1725" b="0">
                <a:solidFill>
                  <a:srgbClr val="0860FE"/>
                </a:solidFill>
                <a:latin typeface="CiscoSansTT"/>
                <a:ea typeface="CiscoSansTT"/>
                <a:cs typeface="CiscoSansTT"/>
              </a:defRPr>
            </a:lvl7pPr>
            <a:lvl8pPr algn="l">
              <a:defRPr sz="1725" b="0">
                <a:solidFill>
                  <a:srgbClr val="0860FE"/>
                </a:solidFill>
                <a:latin typeface="CiscoSansTT"/>
                <a:ea typeface="CiscoSansTT"/>
                <a:cs typeface="CiscoSansTT"/>
              </a:defRPr>
            </a:lvl8pPr>
            <a:lvl9pPr algn="l">
              <a:defRPr sz="1725" b="0">
                <a:solidFill>
                  <a:srgbClr val="0860FE"/>
                </a:solidFill>
                <a:latin typeface="CiscoSansTT"/>
                <a:ea typeface="CiscoSansTT"/>
                <a:cs typeface="CiscoSansTT"/>
              </a:defRPr>
            </a:lvl9pPr>
          </a:lstStyle>
          <a:p>
            <a:pPr algn="l">
              <a:buNone/>
              <a:defRPr sz="1725" b="0">
                <a:solidFill>
                  <a:srgbClr val="0860FE"/>
                </a:solidFill>
                <a:latin typeface="CiscoSansTT"/>
                <a:ea typeface="CiscoSansTT"/>
                <a:cs typeface="CiscoSansTT"/>
              </a:defRPr>
            </a:pPr>
            <a:r>
              <a:rPr sz="1725" b="0">
                <a:solidFill>
                  <a:srgbClr val="0860FE"/>
                </a:solidFill>
                <a:latin typeface="CiscoSansTT"/>
                <a:ea typeface="CiscoSansTT"/>
                <a:cs typeface="CiscoSansTT"/>
              </a:rPr>
              <a:t>No application code changes for supported operations.</a:t>
            </a:r>
          </a:p>
        </p:txBody>
      </p:sp>
      <p:sp>
        <p:nvSpPr>
          <p:cNvPr id="30" name="obi-telemetry-diagram-label">
            <a:extLst>
              <a:ext uri="{FF2B5EF4-FFF2-40B4-BE49-F238E27FC236}">
                <a16:creationId xmlns:a16="http://schemas.microsoft.com/office/drawing/2014/main" id="{885035E3-FAA4-47FE-89FD-3DBEC63A60A7}"/>
              </a:ext>
            </a:extLst>
          </p:cNvPr>
          <p:cNvSpPr>
            <a:spLocks noGrp="1"/>
          </p:cNvSpPr>
          <p:nvPr/>
        </p:nvSpPr>
        <p:spPr>
          <a:xfrm>
            <a:off x="8591550" y="1819275"/>
            <a:ext cx="2857500" cy="323850"/>
          </a:xfrm>
          <a:prstGeom prst="rect">
            <a:avLst/>
          </a:prstGeom>
          <a:noFill/>
          <a:ln w="0">
            <a:noFill/>
          </a:ln>
        </p:spPr>
        <p:txBody>
          <a:bodyPr anchor="ctr">
            <a:noAutofit/>
          </a:bodyPr>
          <a:lstStyle>
            <a:defPPr algn="ctr">
              <a:defRPr sz="1500" b="0">
                <a:solidFill>
                  <a:srgbClr val="686B6B"/>
                </a:solidFill>
                <a:latin typeface="CiscoSansTT"/>
                <a:ea typeface="CiscoSansTT"/>
                <a:cs typeface="CiscoSansTT"/>
              </a:defRPr>
            </a:defPPr>
            <a:lvl1pPr algn="ctr">
              <a:defRPr sz="1500" b="0">
                <a:solidFill>
                  <a:srgbClr val="686B6B"/>
                </a:solidFill>
                <a:latin typeface="CiscoSansTT"/>
                <a:ea typeface="CiscoSansTT"/>
                <a:cs typeface="CiscoSansTT"/>
              </a:defRPr>
            </a:lvl1pPr>
            <a:lvl2pPr algn="ctr">
              <a:defRPr sz="1500" b="0">
                <a:solidFill>
                  <a:srgbClr val="686B6B"/>
                </a:solidFill>
                <a:latin typeface="CiscoSansTT"/>
                <a:ea typeface="CiscoSansTT"/>
                <a:cs typeface="CiscoSansTT"/>
              </a:defRPr>
            </a:lvl2pPr>
            <a:lvl3pPr algn="ctr">
              <a:defRPr sz="1500" b="0">
                <a:solidFill>
                  <a:srgbClr val="686B6B"/>
                </a:solidFill>
                <a:latin typeface="CiscoSansTT"/>
                <a:ea typeface="CiscoSansTT"/>
                <a:cs typeface="CiscoSansTT"/>
              </a:defRPr>
            </a:lvl3pPr>
            <a:lvl4pPr algn="ctr">
              <a:defRPr sz="1500" b="0">
                <a:solidFill>
                  <a:srgbClr val="686B6B"/>
                </a:solidFill>
                <a:latin typeface="CiscoSansTT"/>
                <a:ea typeface="CiscoSansTT"/>
                <a:cs typeface="CiscoSansTT"/>
              </a:defRPr>
            </a:lvl4pPr>
            <a:lvl5pPr algn="ctr">
              <a:defRPr sz="1500" b="0">
                <a:solidFill>
                  <a:srgbClr val="686B6B"/>
                </a:solidFill>
                <a:latin typeface="CiscoSansTT"/>
                <a:ea typeface="CiscoSansTT"/>
                <a:cs typeface="CiscoSansTT"/>
              </a:defRPr>
            </a:lvl5pPr>
            <a:lvl6pPr algn="ctr">
              <a:defRPr sz="1500" b="0">
                <a:solidFill>
                  <a:srgbClr val="686B6B"/>
                </a:solidFill>
                <a:latin typeface="CiscoSansTT"/>
                <a:ea typeface="CiscoSansTT"/>
                <a:cs typeface="CiscoSansTT"/>
              </a:defRPr>
            </a:lvl6pPr>
            <a:lvl7pPr algn="ctr">
              <a:defRPr sz="1500" b="0">
                <a:solidFill>
                  <a:srgbClr val="686B6B"/>
                </a:solidFill>
                <a:latin typeface="CiscoSansTT"/>
                <a:ea typeface="CiscoSansTT"/>
                <a:cs typeface="CiscoSansTT"/>
              </a:defRPr>
            </a:lvl7pPr>
            <a:lvl8pPr algn="ctr">
              <a:defRPr sz="1500" b="0">
                <a:solidFill>
                  <a:srgbClr val="686B6B"/>
                </a:solidFill>
                <a:latin typeface="CiscoSansTT"/>
                <a:ea typeface="CiscoSansTT"/>
                <a:cs typeface="CiscoSansTT"/>
              </a:defRPr>
            </a:lvl8pPr>
            <a:lvl9pPr algn="ctr">
              <a:defRPr sz="1500" b="0">
                <a:solidFill>
                  <a:srgbClr val="686B6B"/>
                </a:solidFill>
                <a:latin typeface="CiscoSansTT"/>
                <a:ea typeface="CiscoSansTT"/>
                <a:cs typeface="CiscoSansTT"/>
              </a:defRPr>
            </a:lvl9pPr>
          </a:lstStyle>
          <a:p>
            <a:pPr algn="ctr">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Telemetry path</a:t>
            </a:r>
          </a:p>
        </p:txBody>
      </p:sp>
      <p:sp>
        <p:nvSpPr>
          <p:cNvPr id="31" name="obi-supported-app">
            <a:extLst>
              <a:ext uri="{FF2B5EF4-FFF2-40B4-BE49-F238E27FC236}">
                <a16:creationId xmlns:a16="http://schemas.microsoft.com/office/drawing/2014/main" id="{E492C830-4595-48CA-9340-A4300270F054}"/>
              </a:ext>
            </a:extLst>
          </p:cNvPr>
          <p:cNvSpPr>
            <a:spLocks noGrp="1"/>
          </p:cNvSpPr>
          <p:nvPr/>
        </p:nvSpPr>
        <p:spPr>
          <a:xfrm>
            <a:off x="8782050" y="2286000"/>
            <a:ext cx="2514600" cy="685800"/>
          </a:xfrm>
          <a:prstGeom prst="roundRect">
            <a:avLst>
              <a:gd name="adj" fmla="val 9722"/>
            </a:avLst>
          </a:prstGeom>
          <a:solidFill>
            <a:srgbClr val="FFFFFF"/>
          </a:solidFill>
          <a:ln w="11906">
            <a:solidFill>
              <a:srgbClr val="686B6B"/>
            </a:solid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Supported</a:t>
            </a:r>
          </a:p>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application</a:t>
            </a:r>
          </a:p>
        </p:txBody>
      </p:sp>
      <p:cxnSp>
        <p:nvCxnSpPr>
          <p:cNvPr id="32" name="app-observations-to-obi">
            <a:extLst>
              <a:ext uri="{FF2B5EF4-FFF2-40B4-BE49-F238E27FC236}">
                <a16:creationId xmlns:a16="http://schemas.microsoft.com/office/drawing/2014/main" id="{6C265905-52A2-4B9A-A60B-136CF935C6F7}"/>
              </a:ext>
            </a:extLst>
          </p:cNvPr>
          <p:cNvCxnSpPr/>
          <p:nvPr/>
        </p:nvCxnSpPr>
        <p:spPr>
          <a:xfrm>
            <a:off x="10039350" y="2971800"/>
            <a:ext cx="0" cy="514350"/>
          </a:xfrm>
          <a:prstGeom prst="straightConnector1">
            <a:avLst/>
          </a:prstGeom>
          <a:ln w="19050">
            <a:solidFill>
              <a:srgbClr val="FF007F"/>
            </a:solidFill>
            <a:tailEnd type="arrow" w="med" len="med"/>
          </a:ln>
        </p:spPr>
      </p:cxnSp>
      <p:sp>
        <p:nvSpPr>
          <p:cNvPr id="33" name="obi-agent">
            <a:extLst>
              <a:ext uri="{FF2B5EF4-FFF2-40B4-BE49-F238E27FC236}">
                <a16:creationId xmlns:a16="http://schemas.microsoft.com/office/drawing/2014/main" id="{D0DAE50F-661B-4E53-842F-04A0739507A5}"/>
              </a:ext>
            </a:extLst>
          </p:cNvPr>
          <p:cNvSpPr>
            <a:spLocks noGrp="1"/>
          </p:cNvSpPr>
          <p:nvPr/>
        </p:nvSpPr>
        <p:spPr>
          <a:xfrm>
            <a:off x="8782050" y="3486150"/>
            <a:ext cx="2514600" cy="838200"/>
          </a:xfrm>
          <a:prstGeom prst="roundRect">
            <a:avLst>
              <a:gd name="adj" fmla="val 7955"/>
            </a:avLst>
          </a:prstGeom>
          <a:solidFill>
            <a:srgbClr val="F6ECF5"/>
          </a:solidFill>
          <a:ln w="11906">
            <a:solidFill>
              <a:srgbClr val="FF007F"/>
            </a:solidFill>
          </a:ln>
        </p:spPr>
        <p:txBody>
          <a:bodyPr anchor="ctr">
            <a:noAutofit/>
          </a:bodyPr>
          <a:lstStyle>
            <a:defPPr algn="ctr">
              <a:defRPr sz="1800" b="0">
                <a:solidFill>
                  <a:srgbClr val="07182A"/>
                </a:solidFill>
                <a:latin typeface="CiscoSansTT"/>
                <a:ea typeface="CiscoSansTT"/>
                <a:cs typeface="CiscoSansTT"/>
              </a:defRPr>
            </a:defPPr>
            <a:lvl1pPr algn="ctr">
              <a:defRPr sz="1800" b="0">
                <a:solidFill>
                  <a:srgbClr val="07182A"/>
                </a:solidFill>
                <a:latin typeface="CiscoSansTT"/>
                <a:ea typeface="CiscoSansTT"/>
                <a:cs typeface="CiscoSansTT"/>
              </a:defRPr>
            </a:lvl1pPr>
            <a:lvl2pPr algn="ctr">
              <a:defRPr sz="1800" b="0">
                <a:solidFill>
                  <a:srgbClr val="07182A"/>
                </a:solidFill>
                <a:latin typeface="CiscoSansTT"/>
                <a:ea typeface="CiscoSansTT"/>
                <a:cs typeface="CiscoSansTT"/>
              </a:defRPr>
            </a:lvl2pPr>
            <a:lvl3pPr algn="ctr">
              <a:defRPr sz="1800" b="0">
                <a:solidFill>
                  <a:srgbClr val="07182A"/>
                </a:solidFill>
                <a:latin typeface="CiscoSansTT"/>
                <a:ea typeface="CiscoSansTT"/>
                <a:cs typeface="CiscoSansTT"/>
              </a:defRPr>
            </a:lvl3pPr>
            <a:lvl4pPr algn="ctr">
              <a:defRPr sz="1800" b="0">
                <a:solidFill>
                  <a:srgbClr val="07182A"/>
                </a:solidFill>
                <a:latin typeface="CiscoSansTT"/>
                <a:ea typeface="CiscoSansTT"/>
                <a:cs typeface="CiscoSansTT"/>
              </a:defRPr>
            </a:lvl4pPr>
            <a:lvl5pPr algn="ctr">
              <a:defRPr sz="1800" b="0">
                <a:solidFill>
                  <a:srgbClr val="07182A"/>
                </a:solidFill>
                <a:latin typeface="CiscoSansTT"/>
                <a:ea typeface="CiscoSansTT"/>
                <a:cs typeface="CiscoSansTT"/>
              </a:defRPr>
            </a:lvl5pPr>
            <a:lvl6pPr algn="ctr">
              <a:defRPr sz="1800" b="0">
                <a:solidFill>
                  <a:srgbClr val="07182A"/>
                </a:solidFill>
                <a:latin typeface="CiscoSansTT"/>
                <a:ea typeface="CiscoSansTT"/>
                <a:cs typeface="CiscoSansTT"/>
              </a:defRPr>
            </a:lvl6pPr>
            <a:lvl7pPr algn="ctr">
              <a:defRPr sz="1800" b="0">
                <a:solidFill>
                  <a:srgbClr val="07182A"/>
                </a:solidFill>
                <a:latin typeface="CiscoSansTT"/>
                <a:ea typeface="CiscoSansTT"/>
                <a:cs typeface="CiscoSansTT"/>
              </a:defRPr>
            </a:lvl7pPr>
            <a:lvl8pPr algn="ctr">
              <a:defRPr sz="1800" b="0">
                <a:solidFill>
                  <a:srgbClr val="07182A"/>
                </a:solidFill>
                <a:latin typeface="CiscoSansTT"/>
                <a:ea typeface="CiscoSansTT"/>
                <a:cs typeface="CiscoSansTT"/>
              </a:defRPr>
            </a:lvl8pPr>
            <a:lvl9pPr algn="ctr">
              <a:defRPr sz="1800" b="0">
                <a:solidFill>
                  <a:srgbClr val="07182A"/>
                </a:solidFill>
                <a:latin typeface="CiscoSansTT"/>
                <a:ea typeface="CiscoSansTT"/>
                <a:cs typeface="CiscoSansTT"/>
              </a:defRPr>
            </a:lvl9pPr>
          </a:lstStyle>
          <a:p>
            <a:endParaRPr/>
          </a:p>
        </p:txBody>
      </p:sp>
      <p:pic>
        <p:nvPicPr>
          <p:cNvPr id="34" name="Picture 33">
            <a:extLst>
              <a:ext uri="{FF2B5EF4-FFF2-40B4-BE49-F238E27FC236}">
                <a16:creationId xmlns:a16="http://schemas.microsoft.com/office/drawing/2014/main" id="{D1138346-166F-4FEF-BD10-93574A253E70}"/>
              </a:ext>
            </a:extLst>
          </p:cNvPr>
          <p:cNvPicPr>
            <a:picLocks noChangeAspect="1"/>
          </p:cNvPicPr>
          <p:nvPr/>
        </p:nvPicPr>
        <p:blipFill>
          <a:blip r:embed="rId3"/>
          <a:stretch/>
        </p:blipFill>
        <p:spPr>
          <a:xfrm>
            <a:off x="9029700" y="3676650"/>
            <a:ext cx="457200" cy="457200"/>
          </a:xfrm>
          <a:prstGeom prst="rect">
            <a:avLst/>
          </a:prstGeom>
        </p:spPr>
      </p:pic>
      <p:sp>
        <p:nvSpPr>
          <p:cNvPr id="35" name="obi-agent-label">
            <a:extLst>
              <a:ext uri="{FF2B5EF4-FFF2-40B4-BE49-F238E27FC236}">
                <a16:creationId xmlns:a16="http://schemas.microsoft.com/office/drawing/2014/main" id="{17D08D2F-4CE6-48ED-ACDA-2B2EFE2CE5F2}"/>
              </a:ext>
            </a:extLst>
          </p:cNvPr>
          <p:cNvSpPr>
            <a:spLocks noGrp="1"/>
          </p:cNvSpPr>
          <p:nvPr/>
        </p:nvSpPr>
        <p:spPr>
          <a:xfrm>
            <a:off x="9601200" y="3619500"/>
            <a:ext cx="1581150" cy="542925"/>
          </a:xfrm>
          <a:prstGeom prst="rect">
            <a:avLst/>
          </a:prstGeom>
          <a:noFill/>
          <a:ln w="0">
            <a:noFill/>
          </a:ln>
        </p:spPr>
        <p:txBody>
          <a:bodyPr anchor="ctr">
            <a:noAutofit/>
          </a:bodyPr>
          <a:lstStyle>
            <a:defPPr algn="l">
              <a:defRPr sz="1875" b="1">
                <a:solidFill>
                  <a:srgbClr val="07182A"/>
                </a:solidFill>
                <a:latin typeface="CiscoSansTT Medium"/>
                <a:ea typeface="CiscoSansTT Medium"/>
                <a:cs typeface="CiscoSansTT Medium"/>
              </a:defRPr>
            </a:defPPr>
            <a:lvl1pPr algn="l">
              <a:defRPr sz="1875" b="1">
                <a:solidFill>
                  <a:srgbClr val="07182A"/>
                </a:solidFill>
                <a:latin typeface="CiscoSansTT Medium"/>
                <a:ea typeface="CiscoSansTT Medium"/>
                <a:cs typeface="CiscoSansTT Medium"/>
              </a:defRPr>
            </a:lvl1pPr>
            <a:lvl2pPr algn="l">
              <a:defRPr sz="1875" b="1">
                <a:solidFill>
                  <a:srgbClr val="07182A"/>
                </a:solidFill>
                <a:latin typeface="CiscoSansTT Medium"/>
                <a:ea typeface="CiscoSansTT Medium"/>
                <a:cs typeface="CiscoSansTT Medium"/>
              </a:defRPr>
            </a:lvl2pPr>
            <a:lvl3pPr algn="l">
              <a:defRPr sz="1875" b="1">
                <a:solidFill>
                  <a:srgbClr val="07182A"/>
                </a:solidFill>
                <a:latin typeface="CiscoSansTT Medium"/>
                <a:ea typeface="CiscoSansTT Medium"/>
                <a:cs typeface="CiscoSansTT Medium"/>
              </a:defRPr>
            </a:lvl3pPr>
            <a:lvl4pPr algn="l">
              <a:defRPr sz="1875" b="1">
                <a:solidFill>
                  <a:srgbClr val="07182A"/>
                </a:solidFill>
                <a:latin typeface="CiscoSansTT Medium"/>
                <a:ea typeface="CiscoSansTT Medium"/>
                <a:cs typeface="CiscoSansTT Medium"/>
              </a:defRPr>
            </a:lvl4pPr>
            <a:lvl5pPr algn="l">
              <a:defRPr sz="1875" b="1">
                <a:solidFill>
                  <a:srgbClr val="07182A"/>
                </a:solidFill>
                <a:latin typeface="CiscoSansTT Medium"/>
                <a:ea typeface="CiscoSansTT Medium"/>
                <a:cs typeface="CiscoSansTT Medium"/>
              </a:defRPr>
            </a:lvl5pPr>
            <a:lvl6pPr algn="l">
              <a:defRPr sz="1875" b="1">
                <a:solidFill>
                  <a:srgbClr val="07182A"/>
                </a:solidFill>
                <a:latin typeface="CiscoSansTT Medium"/>
                <a:ea typeface="CiscoSansTT Medium"/>
                <a:cs typeface="CiscoSansTT Medium"/>
              </a:defRPr>
            </a:lvl6pPr>
            <a:lvl7pPr algn="l">
              <a:defRPr sz="1875" b="1">
                <a:solidFill>
                  <a:srgbClr val="07182A"/>
                </a:solidFill>
                <a:latin typeface="CiscoSansTT Medium"/>
                <a:ea typeface="CiscoSansTT Medium"/>
                <a:cs typeface="CiscoSansTT Medium"/>
              </a:defRPr>
            </a:lvl7pPr>
            <a:lvl8pPr algn="l">
              <a:defRPr sz="1875" b="1">
                <a:solidFill>
                  <a:srgbClr val="07182A"/>
                </a:solidFill>
                <a:latin typeface="CiscoSansTT Medium"/>
                <a:ea typeface="CiscoSansTT Medium"/>
                <a:cs typeface="CiscoSansTT Medium"/>
              </a:defRPr>
            </a:lvl8pPr>
            <a:lvl9pPr algn="l">
              <a:defRPr sz="1875" b="1">
                <a:solidFill>
                  <a:srgbClr val="07182A"/>
                </a:solidFill>
                <a:latin typeface="CiscoSansTT Medium"/>
                <a:ea typeface="CiscoSansTT Medium"/>
                <a:cs typeface="CiscoSansTT Medium"/>
              </a:defRPr>
            </a:lvl9pPr>
          </a:lstStyle>
          <a:p>
            <a:pPr algn="l">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 agent</a:t>
            </a:r>
          </a:p>
        </p:txBody>
      </p:sp>
      <p:cxnSp>
        <p:nvCxnSpPr>
          <p:cNvPr id="36" name="obi-telemetry-export">
            <a:extLst>
              <a:ext uri="{FF2B5EF4-FFF2-40B4-BE49-F238E27FC236}">
                <a16:creationId xmlns:a16="http://schemas.microsoft.com/office/drawing/2014/main" id="{EB6680CD-BF39-4FA9-8AAE-B4304AF6B133}"/>
              </a:ext>
            </a:extLst>
          </p:cNvPr>
          <p:cNvCxnSpPr/>
          <p:nvPr/>
        </p:nvCxnSpPr>
        <p:spPr>
          <a:xfrm>
            <a:off x="10039350" y="4324350"/>
            <a:ext cx="0" cy="523875"/>
          </a:xfrm>
          <a:prstGeom prst="straightConnector1">
            <a:avLst/>
          </a:prstGeom>
          <a:ln w="19050">
            <a:solidFill>
              <a:srgbClr val="0860FE"/>
            </a:solidFill>
            <a:tailEnd type="arrow" w="med" len="med"/>
          </a:ln>
        </p:spPr>
      </p:cxnSp>
      <p:sp>
        <p:nvSpPr>
          <p:cNvPr id="37" name="obi-output">
            <a:extLst>
              <a:ext uri="{FF2B5EF4-FFF2-40B4-BE49-F238E27FC236}">
                <a16:creationId xmlns:a16="http://schemas.microsoft.com/office/drawing/2014/main" id="{06788282-0C30-4125-A773-32C5982509AF}"/>
              </a:ext>
            </a:extLst>
          </p:cNvPr>
          <p:cNvSpPr>
            <a:spLocks noGrp="1"/>
          </p:cNvSpPr>
          <p:nvPr/>
        </p:nvSpPr>
        <p:spPr>
          <a:xfrm>
            <a:off x="8782050" y="4848225"/>
            <a:ext cx="2514600" cy="685800"/>
          </a:xfrm>
          <a:prstGeom prst="roundRect">
            <a:avLst>
              <a:gd name="adj" fmla="val 9722"/>
            </a:avLst>
          </a:prstGeom>
          <a:solidFill>
            <a:srgbClr val="EAF8FC"/>
          </a:solidFill>
          <a:ln w="11906">
            <a:solidFill>
              <a:srgbClr val="0860FE"/>
            </a:solidFill>
          </a:ln>
        </p:spPr>
        <p:txBody>
          <a:bodyPr anchor="ctr">
            <a:noAutofit/>
          </a:bodyPr>
          <a:lstStyle>
            <a:defPPr algn="ctr">
              <a:defRPr sz="1725" b="0">
                <a:solidFill>
                  <a:srgbClr val="07182A"/>
                </a:solidFill>
                <a:latin typeface="CiscoSansTT"/>
                <a:ea typeface="CiscoSansTT"/>
                <a:cs typeface="CiscoSansTT"/>
              </a:defRPr>
            </a:defPPr>
            <a:lvl1pPr algn="ctr">
              <a:defRPr sz="1725" b="0">
                <a:solidFill>
                  <a:srgbClr val="07182A"/>
                </a:solidFill>
                <a:latin typeface="CiscoSansTT"/>
                <a:ea typeface="CiscoSansTT"/>
                <a:cs typeface="CiscoSansTT"/>
              </a:defRPr>
            </a:lvl1pPr>
            <a:lvl2pPr algn="ctr">
              <a:defRPr sz="1725" b="0">
                <a:solidFill>
                  <a:srgbClr val="07182A"/>
                </a:solidFill>
                <a:latin typeface="CiscoSansTT"/>
                <a:ea typeface="CiscoSansTT"/>
                <a:cs typeface="CiscoSansTT"/>
              </a:defRPr>
            </a:lvl2pPr>
            <a:lvl3pPr algn="ctr">
              <a:defRPr sz="1725" b="0">
                <a:solidFill>
                  <a:srgbClr val="07182A"/>
                </a:solidFill>
                <a:latin typeface="CiscoSansTT"/>
                <a:ea typeface="CiscoSansTT"/>
                <a:cs typeface="CiscoSansTT"/>
              </a:defRPr>
            </a:lvl3pPr>
            <a:lvl4pPr algn="ctr">
              <a:defRPr sz="1725" b="0">
                <a:solidFill>
                  <a:srgbClr val="07182A"/>
                </a:solidFill>
                <a:latin typeface="CiscoSansTT"/>
                <a:ea typeface="CiscoSansTT"/>
                <a:cs typeface="CiscoSansTT"/>
              </a:defRPr>
            </a:lvl4pPr>
            <a:lvl5pPr algn="ctr">
              <a:defRPr sz="1725" b="0">
                <a:solidFill>
                  <a:srgbClr val="07182A"/>
                </a:solidFill>
                <a:latin typeface="CiscoSansTT"/>
                <a:ea typeface="CiscoSansTT"/>
                <a:cs typeface="CiscoSansTT"/>
              </a:defRPr>
            </a:lvl5pPr>
            <a:lvl6pPr algn="ctr">
              <a:defRPr sz="1725" b="0">
                <a:solidFill>
                  <a:srgbClr val="07182A"/>
                </a:solidFill>
                <a:latin typeface="CiscoSansTT"/>
                <a:ea typeface="CiscoSansTT"/>
                <a:cs typeface="CiscoSansTT"/>
              </a:defRPr>
            </a:lvl6pPr>
            <a:lvl7pPr algn="ctr">
              <a:defRPr sz="1725" b="0">
                <a:solidFill>
                  <a:srgbClr val="07182A"/>
                </a:solidFill>
                <a:latin typeface="CiscoSansTT"/>
                <a:ea typeface="CiscoSansTT"/>
                <a:cs typeface="CiscoSansTT"/>
              </a:defRPr>
            </a:lvl7pPr>
            <a:lvl8pPr algn="ctr">
              <a:defRPr sz="1725" b="0">
                <a:solidFill>
                  <a:srgbClr val="07182A"/>
                </a:solidFill>
                <a:latin typeface="CiscoSansTT"/>
                <a:ea typeface="CiscoSansTT"/>
                <a:cs typeface="CiscoSansTT"/>
              </a:defRPr>
            </a:lvl8pPr>
            <a:lvl9pPr algn="ctr">
              <a:defRPr sz="1725" b="0">
                <a:solidFill>
                  <a:srgbClr val="07182A"/>
                </a:solidFill>
                <a:latin typeface="CiscoSansTT"/>
                <a:ea typeface="CiscoSansTT"/>
                <a:cs typeface="CiscoSansTT"/>
              </a:defRPr>
            </a:lvl9pPr>
          </a:lstStyle>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Traces +</a:t>
            </a:r>
          </a:p>
          <a:p>
            <a:pPr algn="ctr">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RED metrics</a:t>
            </a:r>
          </a:p>
        </p:txBody>
      </p:sp>
      <p:sp>
        <p:nvSpPr>
          <p:cNvPr id="38" name="obi-observations-label">
            <a:extLst>
              <a:ext uri="{FF2B5EF4-FFF2-40B4-BE49-F238E27FC236}">
                <a16:creationId xmlns:a16="http://schemas.microsoft.com/office/drawing/2014/main" id="{426782B2-104A-455C-9943-B16BDE198EAC}"/>
              </a:ext>
            </a:extLst>
          </p:cNvPr>
          <p:cNvSpPr>
            <a:spLocks noGrp="1"/>
          </p:cNvSpPr>
          <p:nvPr/>
        </p:nvSpPr>
        <p:spPr>
          <a:xfrm>
            <a:off x="10382250" y="3095625"/>
            <a:ext cx="1095375" cy="342900"/>
          </a:xfrm>
          <a:prstGeom prst="rect">
            <a:avLst/>
          </a:prstGeom>
          <a:noFill/>
          <a:ln w="0">
            <a:noFill/>
          </a:ln>
        </p:spPr>
        <p:txBody>
          <a:bodyPr anchor="ctr">
            <a:noAutofit/>
          </a:bodyPr>
          <a:lstStyle>
            <a:defPPr algn="ctr">
              <a:defRPr sz="1125" b="0">
                <a:solidFill>
                  <a:srgbClr val="686B6B"/>
                </a:solidFill>
                <a:latin typeface="CiscoSansTT"/>
                <a:ea typeface="CiscoSansTT"/>
                <a:cs typeface="CiscoSansTT"/>
              </a:defRPr>
            </a:defPPr>
            <a:lvl1pPr algn="ctr">
              <a:defRPr sz="1125" b="0">
                <a:solidFill>
                  <a:srgbClr val="686B6B"/>
                </a:solidFill>
                <a:latin typeface="CiscoSansTT"/>
                <a:ea typeface="CiscoSansTT"/>
                <a:cs typeface="CiscoSansTT"/>
              </a:defRPr>
            </a:lvl1pPr>
            <a:lvl2pPr algn="ctr">
              <a:defRPr sz="1125" b="0">
                <a:solidFill>
                  <a:srgbClr val="686B6B"/>
                </a:solidFill>
                <a:latin typeface="CiscoSansTT"/>
                <a:ea typeface="CiscoSansTT"/>
                <a:cs typeface="CiscoSansTT"/>
              </a:defRPr>
            </a:lvl2pPr>
            <a:lvl3pPr algn="ctr">
              <a:defRPr sz="1125" b="0">
                <a:solidFill>
                  <a:srgbClr val="686B6B"/>
                </a:solidFill>
                <a:latin typeface="CiscoSansTT"/>
                <a:ea typeface="CiscoSansTT"/>
                <a:cs typeface="CiscoSansTT"/>
              </a:defRPr>
            </a:lvl3pPr>
            <a:lvl4pPr algn="ctr">
              <a:defRPr sz="1125" b="0">
                <a:solidFill>
                  <a:srgbClr val="686B6B"/>
                </a:solidFill>
                <a:latin typeface="CiscoSansTT"/>
                <a:ea typeface="CiscoSansTT"/>
                <a:cs typeface="CiscoSansTT"/>
              </a:defRPr>
            </a:lvl4pPr>
            <a:lvl5pPr algn="ctr">
              <a:defRPr sz="1125" b="0">
                <a:solidFill>
                  <a:srgbClr val="686B6B"/>
                </a:solidFill>
                <a:latin typeface="CiscoSansTT"/>
                <a:ea typeface="CiscoSansTT"/>
                <a:cs typeface="CiscoSansTT"/>
              </a:defRPr>
            </a:lvl5pPr>
            <a:lvl6pPr algn="ctr">
              <a:defRPr sz="1125" b="0">
                <a:solidFill>
                  <a:srgbClr val="686B6B"/>
                </a:solidFill>
                <a:latin typeface="CiscoSansTT"/>
                <a:ea typeface="CiscoSansTT"/>
                <a:cs typeface="CiscoSansTT"/>
              </a:defRPr>
            </a:lvl6pPr>
            <a:lvl7pPr algn="ctr">
              <a:defRPr sz="1125" b="0">
                <a:solidFill>
                  <a:srgbClr val="686B6B"/>
                </a:solidFill>
                <a:latin typeface="CiscoSansTT"/>
                <a:ea typeface="CiscoSansTT"/>
                <a:cs typeface="CiscoSansTT"/>
              </a:defRPr>
            </a:lvl7pPr>
            <a:lvl8pPr algn="ctr">
              <a:defRPr sz="1125" b="0">
                <a:solidFill>
                  <a:srgbClr val="686B6B"/>
                </a:solidFill>
                <a:latin typeface="CiscoSansTT"/>
                <a:ea typeface="CiscoSansTT"/>
                <a:cs typeface="CiscoSansTT"/>
              </a:defRPr>
            </a:lvl8pPr>
            <a:lvl9pPr algn="ctr">
              <a:defRPr sz="1125" b="0">
                <a:solidFill>
                  <a:srgbClr val="686B6B"/>
                </a:solidFill>
                <a:latin typeface="CiscoSansTT"/>
                <a:ea typeface="CiscoSansTT"/>
                <a:cs typeface="CiscoSansTT"/>
              </a:defRPr>
            </a:lvl9pPr>
          </a:lstStyle>
          <a:p>
            <a:pPr algn="ctr">
              <a:defRPr sz="1125" b="0">
                <a:solidFill>
                  <a:srgbClr val="686B6B"/>
                </a:solidFill>
                <a:latin typeface="CiscoSansTT"/>
                <a:ea typeface="CiscoSansTT"/>
                <a:cs typeface="CiscoSansTT"/>
              </a:defRPr>
            </a:pPr>
            <a:r>
              <a:rPr sz="1125" b="0">
                <a:solidFill>
                  <a:srgbClr val="686B6B"/>
                </a:solidFill>
                <a:latin typeface="CiscoSansTT"/>
                <a:ea typeface="CiscoSansTT"/>
                <a:cs typeface="CiscoSansTT"/>
              </a:rPr>
              <a:t>observes requests</a:t>
            </a:r>
          </a:p>
        </p:txBody>
      </p:sp>
      <p:sp>
        <p:nvSpPr>
          <p:cNvPr id="39" name="obi-export-label">
            <a:extLst>
              <a:ext uri="{FF2B5EF4-FFF2-40B4-BE49-F238E27FC236}">
                <a16:creationId xmlns:a16="http://schemas.microsoft.com/office/drawing/2014/main" id="{15E2EEE5-6F0D-432B-BC00-BA82995B2C50}"/>
              </a:ext>
            </a:extLst>
          </p:cNvPr>
          <p:cNvSpPr>
            <a:spLocks noGrp="1"/>
          </p:cNvSpPr>
          <p:nvPr/>
        </p:nvSpPr>
        <p:spPr>
          <a:xfrm>
            <a:off x="10420350" y="4467225"/>
            <a:ext cx="1028700" cy="257175"/>
          </a:xfrm>
          <a:prstGeom prst="rect">
            <a:avLst/>
          </a:prstGeom>
          <a:noFill/>
          <a:ln w="0">
            <a:noFill/>
          </a:ln>
        </p:spPr>
        <p:txBody>
          <a:bodyPr anchor="ctr">
            <a:noAutofit/>
          </a:bodyPr>
          <a:lstStyle>
            <a:defPPr algn="ctr">
              <a:defRPr sz="1200" b="0">
                <a:solidFill>
                  <a:srgbClr val="686B6B"/>
                </a:solidFill>
                <a:latin typeface="CiscoSansTT"/>
                <a:ea typeface="CiscoSansTT"/>
                <a:cs typeface="CiscoSansTT"/>
              </a:defRPr>
            </a:defPPr>
            <a:lvl1pPr algn="ctr">
              <a:defRPr sz="1200" b="0">
                <a:solidFill>
                  <a:srgbClr val="686B6B"/>
                </a:solidFill>
                <a:latin typeface="CiscoSansTT"/>
                <a:ea typeface="CiscoSansTT"/>
                <a:cs typeface="CiscoSansTT"/>
              </a:defRPr>
            </a:lvl1pPr>
            <a:lvl2pPr algn="ctr">
              <a:defRPr sz="1200" b="0">
                <a:solidFill>
                  <a:srgbClr val="686B6B"/>
                </a:solidFill>
                <a:latin typeface="CiscoSansTT"/>
                <a:ea typeface="CiscoSansTT"/>
                <a:cs typeface="CiscoSansTT"/>
              </a:defRPr>
            </a:lvl2pPr>
            <a:lvl3pPr algn="ctr">
              <a:defRPr sz="1200" b="0">
                <a:solidFill>
                  <a:srgbClr val="686B6B"/>
                </a:solidFill>
                <a:latin typeface="CiscoSansTT"/>
                <a:ea typeface="CiscoSansTT"/>
                <a:cs typeface="CiscoSansTT"/>
              </a:defRPr>
            </a:lvl3pPr>
            <a:lvl4pPr algn="ctr">
              <a:defRPr sz="1200" b="0">
                <a:solidFill>
                  <a:srgbClr val="686B6B"/>
                </a:solidFill>
                <a:latin typeface="CiscoSansTT"/>
                <a:ea typeface="CiscoSansTT"/>
                <a:cs typeface="CiscoSansTT"/>
              </a:defRPr>
            </a:lvl4pPr>
            <a:lvl5pPr algn="ctr">
              <a:defRPr sz="1200" b="0">
                <a:solidFill>
                  <a:srgbClr val="686B6B"/>
                </a:solidFill>
                <a:latin typeface="CiscoSansTT"/>
                <a:ea typeface="CiscoSansTT"/>
                <a:cs typeface="CiscoSansTT"/>
              </a:defRPr>
            </a:lvl5pPr>
            <a:lvl6pPr algn="ctr">
              <a:defRPr sz="1200" b="0">
                <a:solidFill>
                  <a:srgbClr val="686B6B"/>
                </a:solidFill>
                <a:latin typeface="CiscoSansTT"/>
                <a:ea typeface="CiscoSansTT"/>
                <a:cs typeface="CiscoSansTT"/>
              </a:defRPr>
            </a:lvl6pPr>
            <a:lvl7pPr algn="ctr">
              <a:defRPr sz="1200" b="0">
                <a:solidFill>
                  <a:srgbClr val="686B6B"/>
                </a:solidFill>
                <a:latin typeface="CiscoSansTT"/>
                <a:ea typeface="CiscoSansTT"/>
                <a:cs typeface="CiscoSansTT"/>
              </a:defRPr>
            </a:lvl7pPr>
            <a:lvl8pPr algn="ctr">
              <a:defRPr sz="1200" b="0">
                <a:solidFill>
                  <a:srgbClr val="686B6B"/>
                </a:solidFill>
                <a:latin typeface="CiscoSansTT"/>
                <a:ea typeface="CiscoSansTT"/>
                <a:cs typeface="CiscoSansTT"/>
              </a:defRPr>
            </a:lvl8pPr>
            <a:lvl9pPr algn="ctr">
              <a:defRPr sz="1200" b="0">
                <a:solidFill>
                  <a:srgbClr val="686B6B"/>
                </a:solidFill>
                <a:latin typeface="CiscoSansTT"/>
                <a:ea typeface="CiscoSansTT"/>
                <a:cs typeface="CiscoSansTT"/>
              </a:defRPr>
            </a:lvl9pPr>
          </a:lstStyle>
          <a:p>
            <a:pPr algn="ctr">
              <a:defRPr sz="1200" b="0">
                <a:solidFill>
                  <a:srgbClr val="686B6B"/>
                </a:solidFill>
                <a:latin typeface="CiscoSansTT"/>
                <a:ea typeface="CiscoSansTT"/>
                <a:cs typeface="CiscoSansTT"/>
              </a:defRPr>
            </a:pPr>
            <a:r>
              <a:rPr sz="1200" b="0">
                <a:solidFill>
                  <a:srgbClr val="686B6B"/>
                </a:solidFill>
                <a:latin typeface="CiscoSansTT"/>
                <a:ea typeface="CiscoSansTT"/>
                <a:cs typeface="CiscoSansTT"/>
              </a:rPr>
              <a:t>exports</a:t>
            </a:r>
          </a:p>
        </p:txBody>
      </p:sp>
      <p:sp>
        <p:nvSpPr>
          <p:cNvPr id="40" name="obi-docs-link">
            <a:extLst>
              <a:ext uri="{FF2B5EF4-FFF2-40B4-BE49-F238E27FC236}">
                <a16:creationId xmlns:a16="http://schemas.microsoft.com/office/drawing/2014/main" id="{EFB89B9D-BF70-4863-BA65-4AC881ED75AE}"/>
              </a:ext>
            </a:extLst>
          </p:cNvPr>
          <p:cNvSpPr>
            <a:spLocks noGrp="1"/>
          </p:cNvSpPr>
          <p:nvPr/>
        </p:nvSpPr>
        <p:spPr>
          <a:xfrm>
            <a:off x="8724900" y="5848350"/>
            <a:ext cx="1200150" cy="314325"/>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u="sng">
                <a:solidFill>
                  <a:srgbClr val="0860FE"/>
                </a:solidFill>
                <a:latin typeface="CiscoSansTT"/>
                <a:ea typeface="CiscoSansTT"/>
                <a:cs typeface="CiscoSansTT"/>
                <a:hlinkClick r:id="rId4"/>
              </a:rPr>
              <a:t>OBI docs</a:t>
            </a:r>
          </a:p>
        </p:txBody>
      </p:sp>
      <p:sp>
        <p:nvSpPr>
          <p:cNvPr id="41" name="obi-repo-link">
            <a:extLst>
              <a:ext uri="{FF2B5EF4-FFF2-40B4-BE49-F238E27FC236}">
                <a16:creationId xmlns:a16="http://schemas.microsoft.com/office/drawing/2014/main" id="{B6DC096B-BDCF-4F2E-8CDC-9A415ACE1F79}"/>
              </a:ext>
            </a:extLst>
          </p:cNvPr>
          <p:cNvSpPr>
            <a:spLocks noGrp="1"/>
          </p:cNvSpPr>
          <p:nvPr/>
        </p:nvSpPr>
        <p:spPr>
          <a:xfrm>
            <a:off x="10010775" y="5848350"/>
            <a:ext cx="1666875" cy="314325"/>
          </a:xfrm>
          <a:prstGeom prst="rect">
            <a:avLst/>
          </a:prstGeom>
          <a:noFill/>
          <a:ln w="0">
            <a:noFill/>
          </a:ln>
        </p:spPr>
        <p:txBody>
          <a:bodyPr anchor="ctr">
            <a:noAutofit/>
          </a:bodyPr>
          <a:lstStyle>
            <a:defPPr algn="l">
              <a:defRPr sz="1500" b="0">
                <a:solidFill>
                  <a:srgbClr val="0860FE"/>
                </a:solidFill>
                <a:latin typeface="CiscoSansTT"/>
                <a:ea typeface="CiscoSansTT"/>
                <a:cs typeface="CiscoSansTT"/>
              </a:defRPr>
            </a:defPPr>
            <a:lvl1pPr algn="l">
              <a:defRPr sz="1500" b="0">
                <a:solidFill>
                  <a:srgbClr val="0860FE"/>
                </a:solidFill>
                <a:latin typeface="CiscoSansTT"/>
                <a:ea typeface="CiscoSansTT"/>
                <a:cs typeface="CiscoSansTT"/>
              </a:defRPr>
            </a:lvl1pPr>
            <a:lvl2pPr algn="l">
              <a:defRPr sz="1500" b="0">
                <a:solidFill>
                  <a:srgbClr val="0860FE"/>
                </a:solidFill>
                <a:latin typeface="CiscoSansTT"/>
                <a:ea typeface="CiscoSansTT"/>
                <a:cs typeface="CiscoSansTT"/>
              </a:defRPr>
            </a:lvl2pPr>
            <a:lvl3pPr algn="l">
              <a:defRPr sz="1500" b="0">
                <a:solidFill>
                  <a:srgbClr val="0860FE"/>
                </a:solidFill>
                <a:latin typeface="CiscoSansTT"/>
                <a:ea typeface="CiscoSansTT"/>
                <a:cs typeface="CiscoSansTT"/>
              </a:defRPr>
            </a:lvl3pPr>
            <a:lvl4pPr algn="l">
              <a:defRPr sz="1500" b="0">
                <a:solidFill>
                  <a:srgbClr val="0860FE"/>
                </a:solidFill>
                <a:latin typeface="CiscoSansTT"/>
                <a:ea typeface="CiscoSansTT"/>
                <a:cs typeface="CiscoSansTT"/>
              </a:defRPr>
            </a:lvl4pPr>
            <a:lvl5pPr algn="l">
              <a:defRPr sz="1500" b="0">
                <a:solidFill>
                  <a:srgbClr val="0860FE"/>
                </a:solidFill>
                <a:latin typeface="CiscoSansTT"/>
                <a:ea typeface="CiscoSansTT"/>
                <a:cs typeface="CiscoSansTT"/>
              </a:defRPr>
            </a:lvl5pPr>
            <a:lvl6pPr algn="l">
              <a:defRPr sz="1500" b="0">
                <a:solidFill>
                  <a:srgbClr val="0860FE"/>
                </a:solidFill>
                <a:latin typeface="CiscoSansTT"/>
                <a:ea typeface="CiscoSansTT"/>
                <a:cs typeface="CiscoSansTT"/>
              </a:defRPr>
            </a:lvl6pPr>
            <a:lvl7pPr algn="l">
              <a:defRPr sz="1500" b="0">
                <a:solidFill>
                  <a:srgbClr val="0860FE"/>
                </a:solidFill>
                <a:latin typeface="CiscoSansTT"/>
                <a:ea typeface="CiscoSansTT"/>
                <a:cs typeface="CiscoSansTT"/>
              </a:defRPr>
            </a:lvl7pPr>
            <a:lvl8pPr algn="l">
              <a:defRPr sz="1500" b="0">
                <a:solidFill>
                  <a:srgbClr val="0860FE"/>
                </a:solidFill>
                <a:latin typeface="CiscoSansTT"/>
                <a:ea typeface="CiscoSansTT"/>
                <a:cs typeface="CiscoSansTT"/>
              </a:defRPr>
            </a:lvl8pPr>
            <a:lvl9pPr algn="l">
              <a:defRPr sz="1500" b="0">
                <a:solidFill>
                  <a:srgbClr val="0860FE"/>
                </a:solidFill>
                <a:latin typeface="CiscoSansTT"/>
                <a:ea typeface="CiscoSansTT"/>
                <a:cs typeface="CiscoSansTT"/>
              </a:defRPr>
            </a:lvl9pPr>
          </a:lstStyle>
          <a:p>
            <a:pPr algn="l">
              <a:defRPr sz="1500" b="0">
                <a:solidFill>
                  <a:srgbClr val="0860FE"/>
                </a:solidFill>
                <a:latin typeface="CiscoSansTT"/>
                <a:ea typeface="CiscoSansTT"/>
                <a:cs typeface="CiscoSansTT"/>
              </a:defRPr>
            </a:pPr>
            <a:r>
              <a:rPr sz="1500" b="0" u="sng">
                <a:solidFill>
                  <a:srgbClr val="0860FE"/>
                </a:solidFill>
                <a:latin typeface="CiscoSansTT"/>
                <a:ea typeface="CiscoSansTT"/>
                <a:cs typeface="CiscoSansTT"/>
                <a:hlinkClick r:id="rId5"/>
              </a:rPr>
              <a:t>OBI on GitHub</a:t>
            </a:r>
          </a:p>
        </p:txBody>
      </p:sp>
    </p:spTree>
    <p:extLst>
      <p:ext uri="{BB962C8B-B14F-4D97-AF65-F5344CB8AC3E}">
        <p14:creationId xmlns:p14="http://schemas.microsoft.com/office/powerpoint/2010/main" val="654467088"/>
      </p:ext>
    </p:extLst>
  </p:cSld>
  <p:clrMapOvr>
    <a:masterClrMapping/>
  </p:clrMapOvr>
  <p:transition advClick="1"/>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DFDA3ED-95EC-4A0D-9FCE-16122C5E9912}"/>
              </a:ext>
            </a:extLst>
          </p:cNvPr>
          <p:cNvSpPr>
            <a:spLocks noGrp="1"/>
          </p:cNvSpPr>
          <p:nvPr/>
        </p:nvSpPr>
        <p:spPr>
          <a:xfrm>
            <a:off x="6096000" y="1466850"/>
            <a:ext cx="19050" cy="3695700"/>
          </a:xfrm>
          <a:prstGeom prst="rect">
            <a:avLst/>
          </a:prstGeom>
          <a:solidFill>
            <a:srgbClr val="D6D6D6"/>
          </a:solidFill>
          <a:ln w="0">
            <a:noFill/>
          </a:ln>
        </p:spPr>
        <p:txBody>
          <a:bodyPr/>
          <a:lstStyle/>
          <a:p>
            <a:endParaRPr lang="en-ES"/>
          </a:p>
        </p:txBody>
      </p:sp>
      <p:sp>
        <p:nvSpPr>
          <p:cNvPr id="2" name="slide-title">
            <a:extLst>
              <a:ext uri="{FF2B5EF4-FFF2-40B4-BE49-F238E27FC236}">
                <a16:creationId xmlns:a16="http://schemas.microsoft.com/office/drawing/2014/main" id="{AF91CE5A-64FB-4F8E-8356-F072CCB34E8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Signal ownership: OBI and Cilium + Hubble</a:t>
            </a:r>
          </a:p>
        </p:txBody>
      </p:sp>
      <p:sp>
        <p:nvSpPr>
          <p:cNvPr id="3" name="Rectangle 2">
            <a:extLst>
              <a:ext uri="{FF2B5EF4-FFF2-40B4-BE49-F238E27FC236}">
                <a16:creationId xmlns:a16="http://schemas.microsoft.com/office/drawing/2014/main" id="{5AFF7D12-6ECF-4276-80D9-6F814907A008}"/>
              </a:ext>
            </a:extLst>
          </p:cNvPr>
          <p:cNvSpPr>
            <a:spLocks noGrp="1"/>
          </p:cNvSpPr>
          <p:nvPr/>
        </p:nvSpPr>
        <p:spPr>
          <a:xfrm>
            <a:off x="723900" y="1524000"/>
            <a:ext cx="4572000" cy="51435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OBI</a:t>
            </a:r>
          </a:p>
        </p:txBody>
      </p:sp>
      <p:sp>
        <p:nvSpPr>
          <p:cNvPr id="4" name="Rectangle 3">
            <a:extLst>
              <a:ext uri="{FF2B5EF4-FFF2-40B4-BE49-F238E27FC236}">
                <a16:creationId xmlns:a16="http://schemas.microsoft.com/office/drawing/2014/main" id="{46FB8965-F160-4E3D-8BE7-E57B69EA80D6}"/>
              </a:ext>
            </a:extLst>
          </p:cNvPr>
          <p:cNvSpPr>
            <a:spLocks noGrp="1"/>
          </p:cNvSpPr>
          <p:nvPr/>
        </p:nvSpPr>
        <p:spPr>
          <a:xfrm>
            <a:off x="723900" y="2133600"/>
            <a:ext cx="4619625"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requests</a:t>
            </a:r>
          </a:p>
        </p:txBody>
      </p:sp>
      <p:sp>
        <p:nvSpPr>
          <p:cNvPr id="5" name="Rectangle 4">
            <a:extLst>
              <a:ext uri="{FF2B5EF4-FFF2-40B4-BE49-F238E27FC236}">
                <a16:creationId xmlns:a16="http://schemas.microsoft.com/office/drawing/2014/main" id="{29251D8D-B9F0-4C66-BFC3-7128D479000C}"/>
              </a:ext>
            </a:extLst>
          </p:cNvPr>
          <p:cNvSpPr>
            <a:spLocks noGrp="1"/>
          </p:cNvSpPr>
          <p:nvPr/>
        </p:nvSpPr>
        <p:spPr>
          <a:xfrm>
            <a:off x="723900" y="276225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dirty="0">
                <a:solidFill>
                  <a:srgbClr val="07182A"/>
                </a:solidFill>
                <a:latin typeface="CiscoSansTT"/>
                <a:ea typeface="CiscoSansTT"/>
                <a:cs typeface="CiscoSansTT"/>
              </a:rPr>
              <a:t>Route, latency, and status</a:t>
            </a:r>
          </a:p>
        </p:txBody>
      </p:sp>
      <p:sp>
        <p:nvSpPr>
          <p:cNvPr id="6" name="Rectangle 5">
            <a:extLst>
              <a:ext uri="{FF2B5EF4-FFF2-40B4-BE49-F238E27FC236}">
                <a16:creationId xmlns:a16="http://schemas.microsoft.com/office/drawing/2014/main" id="{C56BF428-33AE-4A4D-A033-BA529044666F}"/>
              </a:ext>
            </a:extLst>
          </p:cNvPr>
          <p:cNvSpPr>
            <a:spLocks noGrp="1"/>
          </p:cNvSpPr>
          <p:nvPr/>
        </p:nvSpPr>
        <p:spPr>
          <a:xfrm>
            <a:off x="723900" y="3352800"/>
            <a:ext cx="476250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lang="en-US" sz="1875" b="0" dirty="0">
                <a:solidFill>
                  <a:srgbClr val="07182A"/>
                </a:solidFill>
                <a:latin typeface="CiscoSansTT"/>
                <a:ea typeface="CiscoSansTT"/>
                <a:cs typeface="CiscoSansTT"/>
              </a:rPr>
              <a:t>Distributed tracing</a:t>
            </a:r>
            <a:r>
              <a:rPr sz="1875" b="0" dirty="0">
                <a:solidFill>
                  <a:srgbClr val="07182A"/>
                </a:solidFill>
                <a:latin typeface="CiscoSansTT"/>
                <a:ea typeface="CiscoSansTT"/>
                <a:cs typeface="CiscoSansTT"/>
              </a:rPr>
              <a:t> and RED metrics</a:t>
            </a:r>
          </a:p>
        </p:txBody>
      </p:sp>
      <p:sp>
        <p:nvSpPr>
          <p:cNvPr id="7" name="Rectangle 6">
            <a:extLst>
              <a:ext uri="{FF2B5EF4-FFF2-40B4-BE49-F238E27FC236}">
                <a16:creationId xmlns:a16="http://schemas.microsoft.com/office/drawing/2014/main" id="{88F31A24-7B4B-4EA1-97AB-CA1F9BB93819}"/>
              </a:ext>
            </a:extLst>
          </p:cNvPr>
          <p:cNvSpPr>
            <a:spLocks noGrp="1"/>
          </p:cNvSpPr>
          <p:nvPr/>
        </p:nvSpPr>
        <p:spPr>
          <a:xfrm>
            <a:off x="723900" y="4143375"/>
            <a:ext cx="476250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dirty="0">
                <a:solidFill>
                  <a:srgbClr val="686B6B"/>
                </a:solidFill>
                <a:latin typeface="CiscoSansTT"/>
                <a:ea typeface="CiscoSansTT"/>
                <a:cs typeface="CiscoSansTT"/>
              </a:rPr>
              <a:t>Which request was slow?</a:t>
            </a:r>
            <a:r>
              <a:rPr lang="en-US" sz="1800" b="0" dirty="0">
                <a:solidFill>
                  <a:srgbClr val="686B6B"/>
                </a:solidFill>
                <a:latin typeface="CiscoSansTT"/>
                <a:ea typeface="CiscoSansTT"/>
                <a:cs typeface="CiscoSansTT"/>
              </a:rPr>
              <a:t> And why?</a:t>
            </a:r>
            <a:endParaRPr sz="1800" b="0" dirty="0">
              <a:solidFill>
                <a:srgbClr val="686B6B"/>
              </a:solidFill>
              <a:latin typeface="CiscoSansTT"/>
              <a:ea typeface="CiscoSansTT"/>
              <a:cs typeface="CiscoSansTT"/>
            </a:endParaRPr>
          </a:p>
        </p:txBody>
      </p:sp>
      <p:sp>
        <p:nvSpPr>
          <p:cNvPr id="8" name="Rectangle 7">
            <a:extLst>
              <a:ext uri="{FF2B5EF4-FFF2-40B4-BE49-F238E27FC236}">
                <a16:creationId xmlns:a16="http://schemas.microsoft.com/office/drawing/2014/main" id="{738FCE8D-946B-4CE8-B707-81664E240627}"/>
              </a:ext>
            </a:extLst>
          </p:cNvPr>
          <p:cNvSpPr>
            <a:spLocks noGrp="1"/>
          </p:cNvSpPr>
          <p:nvPr/>
        </p:nvSpPr>
        <p:spPr>
          <a:xfrm>
            <a:off x="6724650" y="1524000"/>
            <a:ext cx="4762500" cy="51435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Cilium + Hubble</a:t>
            </a:r>
          </a:p>
        </p:txBody>
      </p:sp>
      <p:sp>
        <p:nvSpPr>
          <p:cNvPr id="9" name="Rectangle 8">
            <a:extLst>
              <a:ext uri="{FF2B5EF4-FFF2-40B4-BE49-F238E27FC236}">
                <a16:creationId xmlns:a16="http://schemas.microsoft.com/office/drawing/2014/main" id="{3425763A-237B-4BDB-99B4-06424102A018}"/>
              </a:ext>
            </a:extLst>
          </p:cNvPr>
          <p:cNvSpPr>
            <a:spLocks noGrp="1"/>
          </p:cNvSpPr>
          <p:nvPr/>
        </p:nvSpPr>
        <p:spPr>
          <a:xfrm>
            <a:off x="6724650" y="2133600"/>
            <a:ext cx="4762500" cy="400050"/>
          </a:xfrm>
          <a:prstGeom prst="rect">
            <a:avLst/>
          </a:prstGeom>
          <a:noFill/>
          <a:ln w="0">
            <a:noFill/>
          </a:ln>
        </p:spPr>
        <p:txBody>
          <a:bodyPr anchor="t">
            <a:normAutofit/>
          </a:bodyPr>
          <a:lstStyle/>
          <a:p>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Network flows and policy</a:t>
            </a:r>
          </a:p>
        </p:txBody>
      </p:sp>
      <p:sp>
        <p:nvSpPr>
          <p:cNvPr id="10" name="Rectangle 9">
            <a:extLst>
              <a:ext uri="{FF2B5EF4-FFF2-40B4-BE49-F238E27FC236}">
                <a16:creationId xmlns:a16="http://schemas.microsoft.com/office/drawing/2014/main" id="{FF114EB4-706A-4CBB-9A81-8539929A4102}"/>
              </a:ext>
            </a:extLst>
          </p:cNvPr>
          <p:cNvSpPr>
            <a:spLocks noGrp="1"/>
          </p:cNvSpPr>
          <p:nvPr/>
        </p:nvSpPr>
        <p:spPr>
          <a:xfrm>
            <a:off x="6724650" y="276225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Workload identities and ports</a:t>
            </a:r>
          </a:p>
        </p:txBody>
      </p:sp>
      <p:sp>
        <p:nvSpPr>
          <p:cNvPr id="11" name="Rectangle 10">
            <a:extLst>
              <a:ext uri="{FF2B5EF4-FFF2-40B4-BE49-F238E27FC236}">
                <a16:creationId xmlns:a16="http://schemas.microsoft.com/office/drawing/2014/main" id="{198F2D09-E983-4F35-8B9B-503CC7F6AD6A}"/>
              </a:ext>
            </a:extLst>
          </p:cNvPr>
          <p:cNvSpPr>
            <a:spLocks noGrp="1"/>
          </p:cNvSpPr>
          <p:nvPr/>
        </p:nvSpPr>
        <p:spPr>
          <a:xfrm>
            <a:off x="6724650" y="3352800"/>
            <a:ext cx="4857750" cy="40005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dirty="0">
                <a:solidFill>
                  <a:srgbClr val="07182A"/>
                </a:solidFill>
                <a:latin typeface="CiscoSansTT"/>
                <a:ea typeface="CiscoSansTT"/>
                <a:cs typeface="CiscoSansTT"/>
              </a:rPr>
              <a:t>Verdicts and drop reasons</a:t>
            </a:r>
          </a:p>
        </p:txBody>
      </p:sp>
      <p:sp>
        <p:nvSpPr>
          <p:cNvPr id="12" name="Rectangle 11">
            <a:extLst>
              <a:ext uri="{FF2B5EF4-FFF2-40B4-BE49-F238E27FC236}">
                <a16:creationId xmlns:a16="http://schemas.microsoft.com/office/drawing/2014/main" id="{025468DF-4C94-4BBF-AA5C-A1251E4A9E74}"/>
              </a:ext>
            </a:extLst>
          </p:cNvPr>
          <p:cNvSpPr>
            <a:spLocks noGrp="1"/>
          </p:cNvSpPr>
          <p:nvPr/>
        </p:nvSpPr>
        <p:spPr>
          <a:xfrm>
            <a:off x="6724650" y="4143375"/>
            <a:ext cx="4857750" cy="400050"/>
          </a:xfrm>
          <a:prstGeom prst="rect">
            <a:avLst/>
          </a:prstGeom>
          <a:noFill/>
          <a:ln w="0">
            <a:noFill/>
          </a:ln>
        </p:spPr>
        <p:txBody>
          <a:bodyPr anchor="t">
            <a:normAutofit/>
          </a:body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connection was denied?</a:t>
            </a:r>
          </a:p>
        </p:txBody>
      </p:sp>
      <p:sp>
        <p:nvSpPr>
          <p:cNvPr id="13" name="Rounded Rectangle 12">
            <a:extLst>
              <a:ext uri="{FF2B5EF4-FFF2-40B4-BE49-F238E27FC236}">
                <a16:creationId xmlns:a16="http://schemas.microsoft.com/office/drawing/2014/main" id="{E443BD63-0DF9-4B2B-8414-99B373C542BB}"/>
              </a:ext>
            </a:extLst>
          </p:cNvPr>
          <p:cNvSpPr>
            <a:spLocks noGrp="1"/>
          </p:cNvSpPr>
          <p:nvPr/>
        </p:nvSpPr>
        <p:spPr>
          <a:xfrm>
            <a:off x="1962150" y="5181600"/>
            <a:ext cx="8267700" cy="742950"/>
          </a:xfrm>
          <a:prstGeom prst="roundRect">
            <a:avLst>
              <a:gd name="adj" fmla="val 10256"/>
            </a:avLst>
          </a:prstGeom>
          <a:solidFill>
            <a:srgbClr val="07182A"/>
          </a:solidFill>
          <a:ln w="0">
            <a:noFill/>
          </a:ln>
        </p:spPr>
        <p:txBody>
          <a:bodyPr/>
          <a:lstStyle/>
          <a:p>
            <a:endParaRPr lang="en-ES"/>
          </a:p>
        </p:txBody>
      </p:sp>
      <p:sp>
        <p:nvSpPr>
          <p:cNvPr id="14" name="Rectangle 13">
            <a:extLst>
              <a:ext uri="{FF2B5EF4-FFF2-40B4-BE49-F238E27FC236}">
                <a16:creationId xmlns:a16="http://schemas.microsoft.com/office/drawing/2014/main" id="{4389C545-F081-40EF-85C4-C440B5B4FB21}"/>
              </a:ext>
            </a:extLst>
          </p:cNvPr>
          <p:cNvSpPr>
            <a:spLocks noGrp="1"/>
          </p:cNvSpPr>
          <p:nvPr/>
        </p:nvSpPr>
        <p:spPr>
          <a:xfrm>
            <a:off x="2238375" y="5324475"/>
            <a:ext cx="7715250" cy="457200"/>
          </a:xfrm>
          <a:prstGeom prst="rect">
            <a:avLst/>
          </a:prstGeom>
          <a:noFill/>
          <a:ln w="0">
            <a:noFill/>
          </a:ln>
        </p:spPr>
        <p:txBody>
          <a:bodyPr anchor="ctr">
            <a:normAutofit/>
          </a:bodyPr>
          <a:lstStyle/>
          <a:p>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Correlate by time, workload, direction, and port</a:t>
            </a:r>
          </a:p>
        </p:txBody>
      </p:sp>
      <p:sp>
        <p:nvSpPr>
          <p:cNvPr id="15" name="Rectangle 14">
            <a:extLst>
              <a:ext uri="{FF2B5EF4-FFF2-40B4-BE49-F238E27FC236}">
                <a16:creationId xmlns:a16="http://schemas.microsoft.com/office/drawing/2014/main" id="{A8D5C6D2-82FF-4317-A141-ECBC8D49B59B}"/>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6" name="Rectangle 15">
            <a:extLst>
              <a:ext uri="{FF2B5EF4-FFF2-40B4-BE49-F238E27FC236}">
                <a16:creationId xmlns:a16="http://schemas.microsoft.com/office/drawing/2014/main" id="{7A2396CF-EA53-4DF6-BF9F-D013733D3D64}"/>
              </a:ext>
            </a:extLst>
          </p:cNvPr>
          <p:cNvSpPr>
            <a:spLocks noGrp="1"/>
          </p:cNvSpPr>
          <p:nvPr/>
        </p:nvSpPr>
        <p:spPr>
          <a:xfrm>
            <a:off x="11144250" y="6696075"/>
            <a:ext cx="1009650" cy="133350"/>
          </a:xfrm>
          <a:prstGeom prst="rect">
            <a:avLst/>
          </a:prstGeom>
          <a:noFill/>
          <a:ln w="0">
            <a:noFill/>
          </a:ln>
        </p:spPr>
        <p:txBody>
          <a:bodyPr anchor="t">
            <a:normAutofit fontScale="60833" lnSpcReduction="20000"/>
          </a:bodyPr>
          <a:lstStyle/>
          <a:p>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clrMapOvr>
    <a:masterClrMapping/>
  </p:clrMapOvr>
  <p:transition advClick="1"/>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5BE4714C-E09A-4E15-A6FA-743BF91C0637}"/>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network metrics: when to enable them</a:t>
            </a:r>
          </a:p>
        </p:txBody>
      </p:sp>
      <p:sp>
        <p:nvSpPr>
          <p:cNvPr id="11" name="network-definition">
            <a:extLst xmlns:a="http://schemas.openxmlformats.org/drawingml/2006/main">
              <a:ext uri="{FF2B5EF4-FFF2-40B4-BE49-F238E27FC236}">
                <a16:creationId xmlns:a16="http://schemas.microsoft.com/office/drawing/2014/main" id="{FDC60109-7549-450B-BEE5-B1C467860AA3}"/>
              </a:ext>
            </a:extLst>
          </p:cNvPr>
          <p:cNvSpPr>
            <a:spLocks xmlns:a="http://schemas.openxmlformats.org/drawingml/2006/main" noGrp="1"/>
          </p:cNvSpPr>
          <p:nvPr/>
        </p:nvSpPr>
        <p:spPr>
          <a:xfrm xmlns:a="http://schemas.openxmlformats.org/drawingml/2006/main">
            <a:off x="666750" y="1047750"/>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0">
                <a:solidFill>
                  <a:srgbClr val="686B6B"/>
                </a:solidFill>
                <a:latin typeface="CiscoSansTT"/>
                <a:ea typeface="CiscoSansTT"/>
                <a:cs typeface="CiscoSansTT"/>
              </a:defRPr>
            </a:defPPr>
            <a:lvl1pPr algn="l">
              <a:buNone/>
              <a:defRPr sz="1875" b="0">
                <a:solidFill>
                  <a:srgbClr val="686B6B"/>
                </a:solidFill>
                <a:latin typeface="CiscoSansTT"/>
                <a:ea typeface="CiscoSansTT"/>
                <a:cs typeface="CiscoSansTT"/>
              </a:defRPr>
            </a:lvl1pPr>
            <a:lvl2pPr algn="l">
              <a:buNone/>
              <a:defRPr sz="1875" b="0">
                <a:solidFill>
                  <a:srgbClr val="686B6B"/>
                </a:solidFill>
                <a:latin typeface="CiscoSansTT"/>
                <a:ea typeface="CiscoSansTT"/>
                <a:cs typeface="CiscoSansTT"/>
              </a:defRPr>
            </a:lvl2pPr>
            <a:lvl3pPr algn="l">
              <a:buNone/>
              <a:defRPr sz="1875" b="0">
                <a:solidFill>
                  <a:srgbClr val="686B6B"/>
                </a:solidFill>
                <a:latin typeface="CiscoSansTT"/>
                <a:ea typeface="CiscoSansTT"/>
                <a:cs typeface="CiscoSansTT"/>
              </a:defRPr>
            </a:lvl3pPr>
            <a:lvl4pPr algn="l">
              <a:buNone/>
              <a:defRPr sz="1875" b="0">
                <a:solidFill>
                  <a:srgbClr val="686B6B"/>
                </a:solidFill>
                <a:latin typeface="CiscoSansTT"/>
                <a:ea typeface="CiscoSansTT"/>
                <a:cs typeface="CiscoSansTT"/>
              </a:defRPr>
            </a:lvl4pPr>
            <a:lvl5pPr algn="l">
              <a:buNone/>
              <a:defRPr sz="1875" b="0">
                <a:solidFill>
                  <a:srgbClr val="686B6B"/>
                </a:solidFill>
                <a:latin typeface="CiscoSansTT"/>
                <a:ea typeface="CiscoSansTT"/>
                <a:cs typeface="CiscoSansTT"/>
              </a:defRPr>
            </a:lvl5pPr>
            <a:lvl6pPr algn="l">
              <a:buNone/>
              <a:defRPr sz="1875" b="0">
                <a:solidFill>
                  <a:srgbClr val="686B6B"/>
                </a:solidFill>
                <a:latin typeface="CiscoSansTT"/>
                <a:ea typeface="CiscoSansTT"/>
                <a:cs typeface="CiscoSansTT"/>
              </a:defRPr>
            </a:lvl6pPr>
            <a:lvl7pPr algn="l">
              <a:buNone/>
              <a:defRPr sz="1875" b="0">
                <a:solidFill>
                  <a:srgbClr val="686B6B"/>
                </a:solidFill>
                <a:latin typeface="CiscoSansTT"/>
                <a:ea typeface="CiscoSansTT"/>
                <a:cs typeface="CiscoSansTT"/>
              </a:defRPr>
            </a:lvl7pPr>
            <a:lvl8pPr algn="l">
              <a:buNone/>
              <a:defRPr sz="1875" b="0">
                <a:solidFill>
                  <a:srgbClr val="686B6B"/>
                </a:solidFill>
                <a:latin typeface="CiscoSansTT"/>
                <a:ea typeface="CiscoSansTT"/>
                <a:cs typeface="CiscoSansTT"/>
              </a:defRPr>
            </a:lvl8pPr>
            <a:lvl9pPr algn="l">
              <a:buNone/>
              <a:defRPr sz="1875" b="0">
                <a:solidFill>
                  <a:srgbClr val="686B6B"/>
                </a:solidFill>
                <a:latin typeface="CiscoSansTT"/>
                <a:ea typeface="CiscoSansTT"/>
                <a:cs typeface="CiscoSansTT"/>
              </a:defRPr>
            </a:lvl9pPr>
          </a:lstStyle>
          <a:p xmlns:a="http://schemas.openxmlformats.org/drawingml/2006/main">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Optional traffic-volume metrics, separate from application traces.</a:t>
            </a:r>
          </a:p>
        </p:txBody>
      </p:sp>
      <p:sp>
        <p:nvSpPr>
          <p:cNvPr id="12" name="network-heading-0">
            <a:extLst xmlns:a="http://schemas.openxmlformats.org/drawingml/2006/main">
              <a:ext uri="{FF2B5EF4-FFF2-40B4-BE49-F238E27FC236}">
                <a16:creationId xmlns:a16="http://schemas.microsoft.com/office/drawing/2014/main" id="{22DA0A7B-1FB9-4472-B613-7463E2E65088}"/>
              </a:ext>
            </a:extLst>
          </p:cNvPr>
          <p:cNvSpPr>
            <a:spLocks xmlns:a="http://schemas.openxmlformats.org/drawingml/2006/main" noGrp="1"/>
          </p:cNvSpPr>
          <p:nvPr/>
        </p:nvSpPr>
        <p:spPr>
          <a:xfrm xmlns:a="http://schemas.openxmlformats.org/drawingml/2006/main">
            <a:off x="762000" y="1790700"/>
            <a:ext cx="285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FF007F"/>
                </a:solidFill>
                <a:latin typeface="CiscoSansTT Medium"/>
                <a:ea typeface="CiscoSansTT Medium"/>
                <a:cs typeface="CiscoSansTT Medium"/>
              </a:defRPr>
            </a:defPPr>
            <a:lvl1pPr algn="l">
              <a:buNone/>
              <a:defRPr sz="2175" b="1">
                <a:solidFill>
                  <a:srgbClr val="FF007F"/>
                </a:solidFill>
                <a:latin typeface="CiscoSansTT Medium"/>
                <a:ea typeface="CiscoSansTT Medium"/>
                <a:cs typeface="CiscoSansTT Medium"/>
              </a:defRPr>
            </a:lvl1pPr>
            <a:lvl2pPr algn="l">
              <a:buNone/>
              <a:defRPr sz="2175" b="1">
                <a:solidFill>
                  <a:srgbClr val="FF007F"/>
                </a:solidFill>
                <a:latin typeface="CiscoSansTT Medium"/>
                <a:ea typeface="CiscoSansTT Medium"/>
                <a:cs typeface="CiscoSansTT Medium"/>
              </a:defRPr>
            </a:lvl2pPr>
            <a:lvl3pPr algn="l">
              <a:buNone/>
              <a:defRPr sz="2175" b="1">
                <a:solidFill>
                  <a:srgbClr val="FF007F"/>
                </a:solidFill>
                <a:latin typeface="CiscoSansTT Medium"/>
                <a:ea typeface="CiscoSansTT Medium"/>
                <a:cs typeface="CiscoSansTT Medium"/>
              </a:defRPr>
            </a:lvl3pPr>
            <a:lvl4pPr algn="l">
              <a:buNone/>
              <a:defRPr sz="2175" b="1">
                <a:solidFill>
                  <a:srgbClr val="FF007F"/>
                </a:solidFill>
                <a:latin typeface="CiscoSansTT Medium"/>
                <a:ea typeface="CiscoSansTT Medium"/>
                <a:cs typeface="CiscoSansTT Medium"/>
              </a:defRPr>
            </a:lvl4pPr>
            <a:lvl5pPr algn="l">
              <a:buNone/>
              <a:defRPr sz="2175" b="1">
                <a:solidFill>
                  <a:srgbClr val="FF007F"/>
                </a:solidFill>
                <a:latin typeface="CiscoSansTT Medium"/>
                <a:ea typeface="CiscoSansTT Medium"/>
                <a:cs typeface="CiscoSansTT Medium"/>
              </a:defRPr>
            </a:lvl5pPr>
            <a:lvl6pPr algn="l">
              <a:buNone/>
              <a:defRPr sz="2175" b="1">
                <a:solidFill>
                  <a:srgbClr val="FF007F"/>
                </a:solidFill>
                <a:latin typeface="CiscoSansTT Medium"/>
                <a:ea typeface="CiscoSansTT Medium"/>
                <a:cs typeface="CiscoSansTT Medium"/>
              </a:defRPr>
            </a:lvl6pPr>
            <a:lvl7pPr algn="l">
              <a:buNone/>
              <a:defRPr sz="2175" b="1">
                <a:solidFill>
                  <a:srgbClr val="FF007F"/>
                </a:solidFill>
                <a:latin typeface="CiscoSansTT Medium"/>
                <a:ea typeface="CiscoSansTT Medium"/>
                <a:cs typeface="CiscoSansTT Medium"/>
              </a:defRPr>
            </a:lvl7pPr>
            <a:lvl8pPr algn="l">
              <a:buNone/>
              <a:defRPr sz="2175" b="1">
                <a:solidFill>
                  <a:srgbClr val="FF007F"/>
                </a:solidFill>
                <a:latin typeface="CiscoSansTT Medium"/>
                <a:ea typeface="CiscoSansTT Medium"/>
                <a:cs typeface="CiscoSansTT Medium"/>
              </a:defRPr>
            </a:lvl8pPr>
            <a:lvl9pPr algn="l">
              <a:buNone/>
              <a:defRPr sz="2175" b="1">
                <a:solidFill>
                  <a:srgbClr val="FF007F"/>
                </a:solidFill>
                <a:latin typeface="CiscoSansTT Medium"/>
                <a:ea typeface="CiscoSansTT Medium"/>
                <a:cs typeface="CiscoSansTT Medium"/>
              </a:defRPr>
            </a:lvl9pPr>
          </a:lstStyle>
          <a:p xmlns:a="http://schemas.openxmlformats.org/drawingml/2006/main">
            <a:pPr algn="l">
              <a:buNone/>
              <a:defRPr sz="2175" b="1">
                <a:solidFill>
                  <a:srgbClr val="FF007F"/>
                </a:solidFill>
                <a:latin typeface="CiscoSansTT Medium"/>
                <a:ea typeface="CiscoSansTT Medium"/>
                <a:cs typeface="CiscoSansTT Medium"/>
              </a:defRPr>
            </a:pPr>
            <a:r>
              <a:rPr sz="2175" b="1">
                <a:solidFill>
                  <a:srgbClr val="FF007F"/>
                </a:solidFill>
                <a:latin typeface="CiscoSansTT Medium"/>
                <a:ea typeface="CiscoSansTT Medium"/>
                <a:cs typeface="CiscoSansTT Medium"/>
              </a:rPr>
              <a:t>What they add</a:t>
            </a:r>
          </a:p>
        </p:txBody>
      </p:sp>
      <p:sp>
        <p:nvSpPr>
          <p:cNvPr id="13" name="network-body-0">
            <a:extLst xmlns:a="http://schemas.openxmlformats.org/drawingml/2006/main">
              <a:ext uri="{FF2B5EF4-FFF2-40B4-BE49-F238E27FC236}">
                <a16:creationId xmlns:a16="http://schemas.microsoft.com/office/drawing/2014/main" id="{AF8FEED1-7E86-42F8-AAC2-EF5AF031F7F8}"/>
              </a:ext>
            </a:extLst>
          </p:cNvPr>
          <p:cNvSpPr>
            <a:spLocks xmlns:a="http://schemas.openxmlformats.org/drawingml/2006/main" noGrp="1"/>
          </p:cNvSpPr>
          <p:nvPr/>
        </p:nvSpPr>
        <p:spPr>
          <a:xfrm xmlns:a="http://schemas.openxmlformats.org/drawingml/2006/main">
            <a:off x="3905250" y="17907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0">
                <a:solidFill>
                  <a:srgbClr val="07182A"/>
                </a:solidFill>
                <a:latin typeface="CiscoSansTT"/>
                <a:ea typeface="CiscoSansTT"/>
                <a:cs typeface="CiscoSansTT"/>
              </a:defRPr>
            </a:defPPr>
            <a:lvl1pPr algn="l">
              <a:buNone/>
              <a:defRPr sz="1875" b="0">
                <a:solidFill>
                  <a:srgbClr val="07182A"/>
                </a:solidFill>
                <a:latin typeface="CiscoSansTT"/>
                <a:ea typeface="CiscoSansTT"/>
                <a:cs typeface="CiscoSansTT"/>
              </a:defRPr>
            </a:lvl1pPr>
            <a:lvl2pPr algn="l">
              <a:buNone/>
              <a:defRPr sz="1875" b="0">
                <a:solidFill>
                  <a:srgbClr val="07182A"/>
                </a:solidFill>
                <a:latin typeface="CiscoSansTT"/>
                <a:ea typeface="CiscoSansTT"/>
                <a:cs typeface="CiscoSansTT"/>
              </a:defRPr>
            </a:lvl2pPr>
            <a:lvl3pPr algn="l">
              <a:buNone/>
              <a:defRPr sz="1875" b="0">
                <a:solidFill>
                  <a:srgbClr val="07182A"/>
                </a:solidFill>
                <a:latin typeface="CiscoSansTT"/>
                <a:ea typeface="CiscoSansTT"/>
                <a:cs typeface="CiscoSansTT"/>
              </a:defRPr>
            </a:lvl3pPr>
            <a:lvl4pPr algn="l">
              <a:buNone/>
              <a:defRPr sz="1875" b="0">
                <a:solidFill>
                  <a:srgbClr val="07182A"/>
                </a:solidFill>
                <a:latin typeface="CiscoSansTT"/>
                <a:ea typeface="CiscoSansTT"/>
                <a:cs typeface="CiscoSansTT"/>
              </a:defRPr>
            </a:lvl4pPr>
            <a:lvl5pPr algn="l">
              <a:buNone/>
              <a:defRPr sz="1875" b="0">
                <a:solidFill>
                  <a:srgbClr val="07182A"/>
                </a:solidFill>
                <a:latin typeface="CiscoSansTT"/>
                <a:ea typeface="CiscoSansTT"/>
                <a:cs typeface="CiscoSansTT"/>
              </a:defRPr>
            </a:lvl5pPr>
            <a:lvl6pPr algn="l">
              <a:buNone/>
              <a:defRPr sz="1875" b="0">
                <a:solidFill>
                  <a:srgbClr val="07182A"/>
                </a:solidFill>
                <a:latin typeface="CiscoSansTT"/>
                <a:ea typeface="CiscoSansTT"/>
                <a:cs typeface="CiscoSansTT"/>
              </a:defRPr>
            </a:lvl6pPr>
            <a:lvl7pPr algn="l">
              <a:buNone/>
              <a:defRPr sz="1875" b="0">
                <a:solidFill>
                  <a:srgbClr val="07182A"/>
                </a:solidFill>
                <a:latin typeface="CiscoSansTT"/>
                <a:ea typeface="CiscoSansTT"/>
                <a:cs typeface="CiscoSansTT"/>
              </a:defRPr>
            </a:lvl7pPr>
            <a:lvl8pPr algn="l">
              <a:buNone/>
              <a:defRPr sz="1875" b="0">
                <a:solidFill>
                  <a:srgbClr val="07182A"/>
                </a:solidFill>
                <a:latin typeface="CiscoSansTT"/>
                <a:ea typeface="CiscoSansTT"/>
                <a:cs typeface="CiscoSansTT"/>
              </a:defRPr>
            </a:lvl8pPr>
            <a:lvl9pPr algn="l">
              <a:buNone/>
              <a:defRPr sz="1875" b="0">
                <a:solidFill>
                  <a:srgbClr val="07182A"/>
                </a:solidFill>
                <a:latin typeface="CiscoSansTT"/>
                <a:ea typeface="CiscoSansTT"/>
                <a:cs typeface="CiscoSansTT"/>
              </a:defRPr>
            </a:lvl9pPr>
          </a:lstStyle>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Bytes and packets between endpoints,</a:t>
            </a:r>
          </a:p>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with Kubernetes workload labels.</a:t>
            </a:r>
          </a:p>
        </p:txBody>
      </p:sp>
      <p:sp>
        <p:nvSpPr>
          <p:cNvPr id="14" name="network-rule-0">
            <a:extLst xmlns:a="http://schemas.openxmlformats.org/drawingml/2006/main">
              <a:ext uri="{FF2B5EF4-FFF2-40B4-BE49-F238E27FC236}">
                <a16:creationId xmlns:a16="http://schemas.microsoft.com/office/drawing/2014/main" id="{1B0A576A-E211-40EE-B765-E1849A442BA5}"/>
              </a:ext>
            </a:extLst>
          </p:cNvPr>
          <p:cNvSpPr>
            <a:spLocks xmlns:a="http://schemas.openxmlformats.org/drawingml/2006/main" noGrp="1"/>
          </p:cNvSpPr>
          <p:nvPr/>
        </p:nvSpPr>
        <p:spPr>
          <a:xfrm xmlns:a="http://schemas.openxmlformats.org/drawingml/2006/main">
            <a:off x="762000" y="2686050"/>
            <a:ext cx="10668000" cy="9525"/>
          </a:xfrm>
          <a:prstGeom xmlns:a="http://schemas.openxmlformats.org/drawingml/2006/main" prst="rect">
            <a:avLst/>
          </a:prstGeom>
          <a:solidFill xmlns:a="http://schemas.openxmlformats.org/drawingml/2006/main">
            <a:srgbClr val="D6DD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5" name="network-heading-1">
            <a:extLst xmlns:a="http://schemas.openxmlformats.org/drawingml/2006/main">
              <a:ext uri="{FF2B5EF4-FFF2-40B4-BE49-F238E27FC236}">
                <a16:creationId xmlns:a16="http://schemas.microsoft.com/office/drawing/2014/main" id="{FA873DA4-F84F-453B-8B71-9AA7BB3DF16C}"/>
              </a:ext>
            </a:extLst>
          </p:cNvPr>
          <p:cNvSpPr>
            <a:spLocks xmlns:a="http://schemas.openxmlformats.org/drawingml/2006/main" noGrp="1"/>
          </p:cNvSpPr>
          <p:nvPr/>
        </p:nvSpPr>
        <p:spPr>
          <a:xfrm xmlns:a="http://schemas.openxmlformats.org/drawingml/2006/main">
            <a:off x="762000" y="2895600"/>
            <a:ext cx="285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75" b="1">
                <a:solidFill>
                  <a:srgbClr val="0860FE"/>
                </a:solidFill>
                <a:latin typeface="CiscoSansTT Medium"/>
                <a:ea typeface="CiscoSansTT Medium"/>
                <a:cs typeface="CiscoSansTT Medium"/>
              </a:defRPr>
            </a:defPPr>
            <a:lvl1pPr algn="l">
              <a:buNone/>
              <a:defRPr sz="2175" b="1">
                <a:solidFill>
                  <a:srgbClr val="0860FE"/>
                </a:solidFill>
                <a:latin typeface="CiscoSansTT Medium"/>
                <a:ea typeface="CiscoSansTT Medium"/>
                <a:cs typeface="CiscoSansTT Medium"/>
              </a:defRPr>
            </a:lvl1pPr>
            <a:lvl2pPr algn="l">
              <a:buNone/>
              <a:defRPr sz="2175" b="1">
                <a:solidFill>
                  <a:srgbClr val="0860FE"/>
                </a:solidFill>
                <a:latin typeface="CiscoSansTT Medium"/>
                <a:ea typeface="CiscoSansTT Medium"/>
                <a:cs typeface="CiscoSansTT Medium"/>
              </a:defRPr>
            </a:lvl2pPr>
            <a:lvl3pPr algn="l">
              <a:buNone/>
              <a:defRPr sz="2175" b="1">
                <a:solidFill>
                  <a:srgbClr val="0860FE"/>
                </a:solidFill>
                <a:latin typeface="CiscoSansTT Medium"/>
                <a:ea typeface="CiscoSansTT Medium"/>
                <a:cs typeface="CiscoSansTT Medium"/>
              </a:defRPr>
            </a:lvl3pPr>
            <a:lvl4pPr algn="l">
              <a:buNone/>
              <a:defRPr sz="2175" b="1">
                <a:solidFill>
                  <a:srgbClr val="0860FE"/>
                </a:solidFill>
                <a:latin typeface="CiscoSansTT Medium"/>
                <a:ea typeface="CiscoSansTT Medium"/>
                <a:cs typeface="CiscoSansTT Medium"/>
              </a:defRPr>
            </a:lvl4pPr>
            <a:lvl5pPr algn="l">
              <a:buNone/>
              <a:defRPr sz="2175" b="1">
                <a:solidFill>
                  <a:srgbClr val="0860FE"/>
                </a:solidFill>
                <a:latin typeface="CiscoSansTT Medium"/>
                <a:ea typeface="CiscoSansTT Medium"/>
                <a:cs typeface="CiscoSansTT Medium"/>
              </a:defRPr>
            </a:lvl5pPr>
            <a:lvl6pPr algn="l">
              <a:buNone/>
              <a:defRPr sz="2175" b="1">
                <a:solidFill>
                  <a:srgbClr val="0860FE"/>
                </a:solidFill>
                <a:latin typeface="CiscoSansTT Medium"/>
                <a:ea typeface="CiscoSansTT Medium"/>
                <a:cs typeface="CiscoSansTT Medium"/>
              </a:defRPr>
            </a:lvl6pPr>
            <a:lvl7pPr algn="l">
              <a:buNone/>
              <a:defRPr sz="2175" b="1">
                <a:solidFill>
                  <a:srgbClr val="0860FE"/>
                </a:solidFill>
                <a:latin typeface="CiscoSansTT Medium"/>
                <a:ea typeface="CiscoSansTT Medium"/>
                <a:cs typeface="CiscoSansTT Medium"/>
              </a:defRPr>
            </a:lvl7pPr>
            <a:lvl8pPr algn="l">
              <a:buNone/>
              <a:defRPr sz="2175" b="1">
                <a:solidFill>
                  <a:srgbClr val="0860FE"/>
                </a:solidFill>
                <a:latin typeface="CiscoSansTT Medium"/>
                <a:ea typeface="CiscoSansTT Medium"/>
                <a:cs typeface="CiscoSansTT Medium"/>
              </a:defRPr>
            </a:lvl8pPr>
            <a:lvl9pPr algn="l">
              <a:buNone/>
              <a:defRPr sz="2175" b="1">
                <a:solidFill>
                  <a:srgbClr val="0860FE"/>
                </a:solidFill>
                <a:latin typeface="CiscoSansTT Medium"/>
                <a:ea typeface="CiscoSansTT Medium"/>
                <a:cs typeface="CiscoSansTT Medium"/>
              </a:defRPr>
            </a:lvl9pPr>
          </a:lstStyle>
          <a:p xmlns:a="http://schemas.openxmlformats.org/drawingml/2006/main">
            <a:pPr algn="l">
              <a:buNone/>
              <a:defRPr sz="2175" b="1">
                <a:solidFill>
                  <a:srgbClr val="0860FE"/>
                </a:solidFill>
                <a:latin typeface="CiscoSansTT Medium"/>
                <a:ea typeface="CiscoSansTT Medium"/>
                <a:cs typeface="CiscoSansTT Medium"/>
              </a:defRPr>
            </a:pPr>
            <a:r>
              <a:rPr sz="2175" b="1">
                <a:solidFill>
                  <a:srgbClr val="0860FE"/>
                </a:solidFill>
                <a:latin typeface="CiscoSansTT Medium"/>
                <a:ea typeface="CiscoSansTT Medium"/>
                <a:cs typeface="CiscoSansTT Medium"/>
              </a:rPr>
              <a:t>Useful for</a:t>
            </a:r>
          </a:p>
        </p:txBody>
      </p:sp>
      <p:sp>
        <p:nvSpPr>
          <p:cNvPr id="16" name="network-body-1">
            <a:extLst xmlns:a="http://schemas.openxmlformats.org/drawingml/2006/main">
              <a:ext uri="{FF2B5EF4-FFF2-40B4-BE49-F238E27FC236}">
                <a16:creationId xmlns:a16="http://schemas.microsoft.com/office/drawing/2014/main" id="{C1638B0B-F23C-49DC-9192-79237A3EA7D7}"/>
              </a:ext>
            </a:extLst>
          </p:cNvPr>
          <p:cNvSpPr>
            <a:spLocks xmlns:a="http://schemas.openxmlformats.org/drawingml/2006/main" noGrp="1"/>
          </p:cNvSpPr>
          <p:nvPr/>
        </p:nvSpPr>
        <p:spPr>
          <a:xfrm xmlns:a="http://schemas.openxmlformats.org/drawingml/2006/main">
            <a:off x="3905250" y="2895600"/>
            <a:ext cx="7524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0">
                <a:solidFill>
                  <a:srgbClr val="07182A"/>
                </a:solidFill>
                <a:latin typeface="CiscoSansTT"/>
                <a:ea typeface="CiscoSansTT"/>
                <a:cs typeface="CiscoSansTT"/>
              </a:defRPr>
            </a:defPPr>
            <a:lvl1pPr algn="l">
              <a:buNone/>
              <a:defRPr sz="1875" b="0">
                <a:solidFill>
                  <a:srgbClr val="07182A"/>
                </a:solidFill>
                <a:latin typeface="CiscoSansTT"/>
                <a:ea typeface="CiscoSansTT"/>
                <a:cs typeface="CiscoSansTT"/>
              </a:defRPr>
            </a:lvl1pPr>
            <a:lvl2pPr algn="l">
              <a:buNone/>
              <a:defRPr sz="1875" b="0">
                <a:solidFill>
                  <a:srgbClr val="07182A"/>
                </a:solidFill>
                <a:latin typeface="CiscoSansTT"/>
                <a:ea typeface="CiscoSansTT"/>
                <a:cs typeface="CiscoSansTT"/>
              </a:defRPr>
            </a:lvl2pPr>
            <a:lvl3pPr algn="l">
              <a:buNone/>
              <a:defRPr sz="1875" b="0">
                <a:solidFill>
                  <a:srgbClr val="07182A"/>
                </a:solidFill>
                <a:latin typeface="CiscoSansTT"/>
                <a:ea typeface="CiscoSansTT"/>
                <a:cs typeface="CiscoSansTT"/>
              </a:defRPr>
            </a:lvl3pPr>
            <a:lvl4pPr algn="l">
              <a:buNone/>
              <a:defRPr sz="1875" b="0">
                <a:solidFill>
                  <a:srgbClr val="07182A"/>
                </a:solidFill>
                <a:latin typeface="CiscoSansTT"/>
                <a:ea typeface="CiscoSansTT"/>
                <a:cs typeface="CiscoSansTT"/>
              </a:defRPr>
            </a:lvl4pPr>
            <a:lvl5pPr algn="l">
              <a:buNone/>
              <a:defRPr sz="1875" b="0">
                <a:solidFill>
                  <a:srgbClr val="07182A"/>
                </a:solidFill>
                <a:latin typeface="CiscoSansTT"/>
                <a:ea typeface="CiscoSansTT"/>
                <a:cs typeface="CiscoSansTT"/>
              </a:defRPr>
            </a:lvl5pPr>
            <a:lvl6pPr algn="l">
              <a:buNone/>
              <a:defRPr sz="1875" b="0">
                <a:solidFill>
                  <a:srgbClr val="07182A"/>
                </a:solidFill>
                <a:latin typeface="CiscoSansTT"/>
                <a:ea typeface="CiscoSansTT"/>
                <a:cs typeface="CiscoSansTT"/>
              </a:defRPr>
            </a:lvl6pPr>
            <a:lvl7pPr algn="l">
              <a:buNone/>
              <a:defRPr sz="1875" b="0">
                <a:solidFill>
                  <a:srgbClr val="07182A"/>
                </a:solidFill>
                <a:latin typeface="CiscoSansTT"/>
                <a:ea typeface="CiscoSansTT"/>
                <a:cs typeface="CiscoSansTT"/>
              </a:defRPr>
            </a:lvl7pPr>
            <a:lvl8pPr algn="l">
              <a:buNone/>
              <a:defRPr sz="1875" b="0">
                <a:solidFill>
                  <a:srgbClr val="07182A"/>
                </a:solidFill>
                <a:latin typeface="CiscoSansTT"/>
                <a:ea typeface="CiscoSansTT"/>
                <a:cs typeface="CiscoSansTT"/>
              </a:defRPr>
            </a:lvl8pPr>
            <a:lvl9pPr algn="l">
              <a:buNone/>
              <a:defRPr sz="1875" b="0">
                <a:solidFill>
                  <a:srgbClr val="07182A"/>
                </a:solidFill>
                <a:latin typeface="CiscoSansTT"/>
                <a:ea typeface="CiscoSansTT"/>
                <a:cs typeface="CiscoSansTT"/>
              </a:defRPr>
            </a:lvl9pPr>
          </a:lstStyle>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Finding traffic-heavy services</a:t>
            </a:r>
          </a:p>
        </p:txBody>
      </p:sp>
      <p:sp>
        <p:nvSpPr>
          <p:cNvPr id="17" name="network-rule-1">
            <a:extLst xmlns:a="http://schemas.openxmlformats.org/drawingml/2006/main">
              <a:ext uri="{FF2B5EF4-FFF2-40B4-BE49-F238E27FC236}">
                <a16:creationId xmlns:a16="http://schemas.microsoft.com/office/drawing/2014/main" id="{46E47913-8214-447C-AD61-E270EE73256B}"/>
              </a:ext>
            </a:extLst>
          </p:cNvPr>
          <p:cNvSpPr>
            <a:spLocks xmlns:a="http://schemas.openxmlformats.org/drawingml/2006/main" noGrp="1"/>
          </p:cNvSpPr>
          <p:nvPr/>
        </p:nvSpPr>
        <p:spPr>
          <a:xfrm xmlns:a="http://schemas.openxmlformats.org/drawingml/2006/main">
            <a:off x="762000" y="3790950"/>
            <a:ext cx="10668000" cy="9525"/>
          </a:xfrm>
          <a:prstGeom xmlns:a="http://schemas.openxmlformats.org/drawingml/2006/main" prst="rect">
            <a:avLst/>
          </a:prstGeom>
          <a:solidFill xmlns:a="http://schemas.openxmlformats.org/drawingml/2006/main">
            <a:srgbClr val="D6DDE3"/>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1" name="network-selection">
            <a:extLst xmlns:a="http://schemas.openxmlformats.org/drawingml/2006/main">
              <a:ext uri="{FF2B5EF4-FFF2-40B4-BE49-F238E27FC236}">
                <a16:creationId xmlns:a16="http://schemas.microsoft.com/office/drawing/2014/main" id="{84BA9390-28BA-4730-9B9D-34A39C50AF17}"/>
              </a:ext>
            </a:extLst>
          </p:cNvPr>
          <p:cNvSpPr>
            <a:spLocks xmlns:a="http://schemas.openxmlformats.org/drawingml/2006/main" noGrp="1"/>
          </p:cNvSpPr>
          <p:nvPr/>
        </p:nvSpPr>
        <p:spPr>
          <a:xfrm xmlns:a="http://schemas.openxmlformats.org/drawingml/2006/main">
            <a:off x="762000" y="42005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75" b="1">
                <a:solidFill>
                  <a:srgbClr val="07182A"/>
                </a:solidFill>
                <a:latin typeface="CiscoSansTT Medium"/>
                <a:ea typeface="CiscoSansTT Medium"/>
                <a:cs typeface="CiscoSansTT Medium"/>
              </a:defRPr>
            </a:defPPr>
            <a:lvl1pPr algn="l">
              <a:buNone/>
              <a:defRPr sz="1875" b="1">
                <a:solidFill>
                  <a:srgbClr val="07182A"/>
                </a:solidFill>
                <a:latin typeface="CiscoSansTT Medium"/>
                <a:ea typeface="CiscoSansTT Medium"/>
                <a:cs typeface="CiscoSansTT Medium"/>
              </a:defRPr>
            </a:lvl1pPr>
            <a:lvl2pPr algn="l">
              <a:buNone/>
              <a:defRPr sz="1875" b="1">
                <a:solidFill>
                  <a:srgbClr val="07182A"/>
                </a:solidFill>
                <a:latin typeface="CiscoSansTT Medium"/>
                <a:ea typeface="CiscoSansTT Medium"/>
                <a:cs typeface="CiscoSansTT Medium"/>
              </a:defRPr>
            </a:lvl2pPr>
            <a:lvl3pPr algn="l">
              <a:buNone/>
              <a:defRPr sz="1875" b="1">
                <a:solidFill>
                  <a:srgbClr val="07182A"/>
                </a:solidFill>
                <a:latin typeface="CiscoSansTT Medium"/>
                <a:ea typeface="CiscoSansTT Medium"/>
                <a:cs typeface="CiscoSansTT Medium"/>
              </a:defRPr>
            </a:lvl3pPr>
            <a:lvl4pPr algn="l">
              <a:buNone/>
              <a:defRPr sz="1875" b="1">
                <a:solidFill>
                  <a:srgbClr val="07182A"/>
                </a:solidFill>
                <a:latin typeface="CiscoSansTT Medium"/>
                <a:ea typeface="CiscoSansTT Medium"/>
                <a:cs typeface="CiscoSansTT Medium"/>
              </a:defRPr>
            </a:lvl4pPr>
            <a:lvl5pPr algn="l">
              <a:buNone/>
              <a:defRPr sz="1875" b="1">
                <a:solidFill>
                  <a:srgbClr val="07182A"/>
                </a:solidFill>
                <a:latin typeface="CiscoSansTT Medium"/>
                <a:ea typeface="CiscoSansTT Medium"/>
                <a:cs typeface="CiscoSansTT Medium"/>
              </a:defRPr>
            </a:lvl5pPr>
            <a:lvl6pPr algn="l">
              <a:buNone/>
              <a:defRPr sz="1875" b="1">
                <a:solidFill>
                  <a:srgbClr val="07182A"/>
                </a:solidFill>
                <a:latin typeface="CiscoSansTT Medium"/>
                <a:ea typeface="CiscoSansTT Medium"/>
                <a:cs typeface="CiscoSansTT Medium"/>
              </a:defRPr>
            </a:lvl6pPr>
            <a:lvl7pPr algn="l">
              <a:buNone/>
              <a:defRPr sz="1875" b="1">
                <a:solidFill>
                  <a:srgbClr val="07182A"/>
                </a:solidFill>
                <a:latin typeface="CiscoSansTT Medium"/>
                <a:ea typeface="CiscoSansTT Medium"/>
                <a:cs typeface="CiscoSansTT Medium"/>
              </a:defRPr>
            </a:lvl7pPr>
            <a:lvl8pPr algn="l">
              <a:buNone/>
              <a:defRPr sz="1875" b="1">
                <a:solidFill>
                  <a:srgbClr val="07182A"/>
                </a:solidFill>
                <a:latin typeface="CiscoSansTT Medium"/>
                <a:ea typeface="CiscoSansTT Medium"/>
                <a:cs typeface="CiscoSansTT Medium"/>
              </a:defRPr>
            </a:lvl8pPr>
            <a:lvl9pPr algn="l">
              <a:buNone/>
              <a:defRPr sz="1875" b="1">
                <a:solidFill>
                  <a:srgbClr val="07182A"/>
                </a:solidFill>
                <a:latin typeface="CiscoSansTT Medium"/>
                <a:ea typeface="CiscoSansTT Medium"/>
                <a:cs typeface="CiscoSansTT Medium"/>
              </a:defRPr>
            </a:lvl9pPr>
          </a:lstStyle>
          <a:p xmlns:a="http://schemas.openxmlformats.org/drawingml/2006/main">
            <a:pPr algn="l">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Enable them when you need an additional network-volume view.</a:t>
            </a:r>
          </a:p>
        </p:txBody>
      </p:sp>
      <p:sp>
        <p:nvSpPr>
          <p:cNvPr id="22" name="network-cilium-config">
            <a:extLst xmlns:a="http://schemas.openxmlformats.org/drawingml/2006/main">
              <a:ext uri="{FF2B5EF4-FFF2-40B4-BE49-F238E27FC236}">
                <a16:creationId xmlns:a16="http://schemas.microsoft.com/office/drawing/2014/main" id="{8BFA5B85-D8D2-4152-8D31-979037069024}"/>
              </a:ext>
            </a:extLst>
          </p:cNvPr>
          <p:cNvSpPr>
            <a:spLocks xmlns:a="http://schemas.openxmlformats.org/drawingml/2006/main" noGrp="1"/>
          </p:cNvSpPr>
          <p:nvPr/>
        </p:nvSpPr>
        <p:spPr>
          <a:xfrm xmlns:a="http://schemas.openxmlformats.org/drawingml/2006/main">
            <a:off x="762000" y="48768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0">
                <a:solidFill>
                  <a:srgbClr val="686B6B"/>
                </a:solidFill>
                <a:latin typeface="CiscoSansTT"/>
                <a:ea typeface="CiscoSansTT"/>
                <a:cs typeface="CiscoSansTT"/>
              </a:defRPr>
            </a:defPPr>
            <a:lvl1pPr algn="l">
              <a:buNone/>
              <a:defRPr sz="1650" b="0">
                <a:solidFill>
                  <a:srgbClr val="686B6B"/>
                </a:solidFill>
                <a:latin typeface="CiscoSansTT"/>
                <a:ea typeface="CiscoSansTT"/>
                <a:cs typeface="CiscoSansTT"/>
              </a:defRPr>
            </a:lvl1pPr>
            <a:lvl2pPr algn="l">
              <a:buNone/>
              <a:defRPr sz="1650" b="0">
                <a:solidFill>
                  <a:srgbClr val="686B6B"/>
                </a:solidFill>
                <a:latin typeface="CiscoSansTT"/>
                <a:ea typeface="CiscoSansTT"/>
                <a:cs typeface="CiscoSansTT"/>
              </a:defRPr>
            </a:lvl2pPr>
            <a:lvl3pPr algn="l">
              <a:buNone/>
              <a:defRPr sz="1650" b="0">
                <a:solidFill>
                  <a:srgbClr val="686B6B"/>
                </a:solidFill>
                <a:latin typeface="CiscoSansTT"/>
                <a:ea typeface="CiscoSansTT"/>
                <a:cs typeface="CiscoSansTT"/>
              </a:defRPr>
            </a:lvl3pPr>
            <a:lvl4pPr algn="l">
              <a:buNone/>
              <a:defRPr sz="1650" b="0">
                <a:solidFill>
                  <a:srgbClr val="686B6B"/>
                </a:solidFill>
                <a:latin typeface="CiscoSansTT"/>
                <a:ea typeface="CiscoSansTT"/>
                <a:cs typeface="CiscoSansTT"/>
              </a:defRPr>
            </a:lvl4pPr>
            <a:lvl5pPr algn="l">
              <a:buNone/>
              <a:defRPr sz="1650" b="0">
                <a:solidFill>
                  <a:srgbClr val="686B6B"/>
                </a:solidFill>
                <a:latin typeface="CiscoSansTT"/>
                <a:ea typeface="CiscoSansTT"/>
                <a:cs typeface="CiscoSansTT"/>
              </a:defRPr>
            </a:lvl5pPr>
            <a:lvl6pPr algn="l">
              <a:buNone/>
              <a:defRPr sz="1650" b="0">
                <a:solidFill>
                  <a:srgbClr val="686B6B"/>
                </a:solidFill>
                <a:latin typeface="CiscoSansTT"/>
                <a:ea typeface="CiscoSansTT"/>
                <a:cs typeface="CiscoSansTT"/>
              </a:defRPr>
            </a:lvl6pPr>
            <a:lvl7pPr algn="l">
              <a:buNone/>
              <a:defRPr sz="1650" b="0">
                <a:solidFill>
                  <a:srgbClr val="686B6B"/>
                </a:solidFill>
                <a:latin typeface="CiscoSansTT"/>
                <a:ea typeface="CiscoSansTT"/>
                <a:cs typeface="CiscoSansTT"/>
              </a:defRPr>
            </a:lvl7pPr>
            <a:lvl8pPr algn="l">
              <a:buNone/>
              <a:defRPr sz="1650" b="0">
                <a:solidFill>
                  <a:srgbClr val="686B6B"/>
                </a:solidFill>
                <a:latin typeface="CiscoSansTT"/>
                <a:ea typeface="CiscoSansTT"/>
                <a:cs typeface="CiscoSansTT"/>
              </a:defRPr>
            </a:lvl8pPr>
            <a:lvl9pPr algn="l">
              <a:buNone/>
              <a:defRPr sz="1650" b="0">
                <a:solidFill>
                  <a:srgbClr val="686B6B"/>
                </a:solidFill>
                <a:latin typeface="CiscoSansTT"/>
                <a:ea typeface="CiscoSansTT"/>
                <a:cs typeface="CiscoSansTT"/>
              </a:defRPr>
            </a:lvl9pPr>
          </a:lstStyle>
          <a:p xmlns:a="http://schemas.openxmlformats.org/drawingml/2006/main">
            <a:pPr algn="l">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With Cilium: network.source: socket_filter. Keep exported labels limited.</a:t>
            </a:r>
          </a:p>
        </p:txBody>
      </p:sp>
    </p:spTree>
    <p:extLst>
      <p:ext uri="{BB962C8B-B14F-4D97-AF65-F5344CB8AC3E}">
        <p14:creationId xmlns:p14="http://schemas.microsoft.com/office/powerpoint/2010/main" val="1785190512"/>
      </p:ext>
    </p:extLst>
  </p:cSld>
  <p:clrMapOvr>
    <a:masterClrMapping/>
  </p:clrMapOvr>
  <p:transition advClick="1"/>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The coexistence problem</a:t>
            </a:r>
          </a:p>
        </p:txBody>
      </p:sp>
    </p:spTree>
    <p:extLst>
      <p:ext uri="{BB962C8B-B14F-4D97-AF65-F5344CB8AC3E}">
        <p14:creationId xmlns:p14="http://schemas.microsoft.com/office/powerpoint/2010/main" val="502513240"/>
      </p:ext>
    </p:extLst>
  </p:cSld>
  <p:clrMapOvr>
    <a:masterClrMapping/>
  </p:clrMapOvr>
  <p:transition advClick="1"/>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lide-title">
            <a:extLst>
              <a:ext uri="{FF2B5EF4-FFF2-40B4-BE49-F238E27FC236}">
                <a16:creationId xmlns:a16="http://schemas.microsoft.com/office/drawing/2014/main" id="{87FACB85-A5FC-4526-9914-22C8BFC4174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Running OBI and Cilium together sounds simple</a:t>
            </a:r>
          </a:p>
        </p:txBody>
      </p:sp>
      <p:sp>
        <p:nvSpPr>
          <p:cNvPr id="2" name="Rectangle 1">
            <a:extLst>
              <a:ext uri="{FF2B5EF4-FFF2-40B4-BE49-F238E27FC236}">
                <a16:creationId xmlns:a16="http://schemas.microsoft.com/office/drawing/2014/main" id="{0D4FB395-04EA-4F05-B998-73DEAB7278C9}"/>
              </a:ext>
            </a:extLst>
          </p:cNvPr>
          <p:cNvSpPr>
            <a:spLocks noGrp="1"/>
          </p:cNvSpPr>
          <p:nvPr/>
        </p:nvSpPr>
        <p:spPr>
          <a:xfrm>
            <a:off x="857250" y="1619250"/>
            <a:ext cx="6858000" cy="1619250"/>
          </a:xfrm>
          <a:prstGeom prst="rect">
            <a:avLst/>
          </a:prstGeom>
          <a:noFill/>
          <a:ln w="0">
            <a:noFill/>
          </a:ln>
        </p:spPr>
        <p:txBody>
          <a:bodyPr anchor="t">
            <a:normAutofit/>
          </a:bodyPr>
          <a:lstStyle/>
          <a:p>
            <a:pPr algn="l">
              <a:buNone/>
              <a:defRPr sz="3600" b="1">
                <a:solidFill>
                  <a:srgbClr val="142735"/>
                </a:solidFill>
                <a:latin typeface="CiscoSansTT Medium"/>
                <a:ea typeface="CiscoSansTT Medium"/>
                <a:cs typeface="CiscoSansTT Medium"/>
              </a:defRPr>
            </a:pPr>
            <a:r>
              <a:rPr sz="3600" b="1">
                <a:solidFill>
                  <a:srgbClr val="142735"/>
                </a:solidFill>
                <a:latin typeface="CiscoSansTT Medium"/>
                <a:ea typeface="CiscoSansTT Medium"/>
                <a:cs typeface="CiscoSansTT Medium"/>
              </a:rPr>
              <a:t>“What changes when both eBPF agents share a node?”</a:t>
            </a:r>
          </a:p>
        </p:txBody>
      </p:sp>
      <p:sp>
        <p:nvSpPr>
          <p:cNvPr id="3" name="Rectangle 2">
            <a:extLst>
              <a:ext uri="{FF2B5EF4-FFF2-40B4-BE49-F238E27FC236}">
                <a16:creationId xmlns:a16="http://schemas.microsoft.com/office/drawing/2014/main" id="{4CA45C76-858D-4FB1-BC9A-88344B725C25}"/>
              </a:ext>
            </a:extLst>
          </p:cNvPr>
          <p:cNvSpPr>
            <a:spLocks noGrp="1"/>
          </p:cNvSpPr>
          <p:nvPr/>
        </p:nvSpPr>
        <p:spPr>
          <a:xfrm>
            <a:off x="857250" y="3562350"/>
            <a:ext cx="5143500" cy="66675"/>
          </a:xfrm>
          <a:prstGeom prst="rect">
            <a:avLst/>
          </a:prstGeom>
          <a:solidFill>
            <a:srgbClr val="02C8FF"/>
          </a:solidFill>
          <a:ln w="0">
            <a:noFill/>
          </a:ln>
        </p:spPr>
        <p:txBody>
          <a:bodyPr/>
          <a:lstStyle/>
          <a:p>
            <a:endParaRPr/>
          </a:p>
        </p:txBody>
      </p:sp>
      <p:sp>
        <p:nvSpPr>
          <p:cNvPr id="4" name="Rectangle 3">
            <a:extLst>
              <a:ext uri="{FF2B5EF4-FFF2-40B4-BE49-F238E27FC236}">
                <a16:creationId xmlns:a16="http://schemas.microsoft.com/office/drawing/2014/main" id="{D9331B5F-1C05-4F9F-937F-DC8971A7084D}"/>
              </a:ext>
            </a:extLst>
          </p:cNvPr>
          <p:cNvSpPr>
            <a:spLocks noGrp="1"/>
          </p:cNvSpPr>
          <p:nvPr/>
        </p:nvSpPr>
        <p:spPr>
          <a:xfrm>
            <a:off x="857250" y="3981450"/>
            <a:ext cx="4191000" cy="3619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Three things to verify in production</a:t>
            </a:r>
          </a:p>
        </p:txBody>
      </p:sp>
      <p:sp>
        <p:nvSpPr>
          <p:cNvPr id="5" name="Rectangle 4">
            <a:extLst>
              <a:ext uri="{FF2B5EF4-FFF2-40B4-BE49-F238E27FC236}">
                <a16:creationId xmlns:a16="http://schemas.microsoft.com/office/drawing/2014/main" id="{8FD0081F-2CF2-498C-9C0D-ABF15D76B43F}"/>
              </a:ext>
            </a:extLst>
          </p:cNvPr>
          <p:cNvSpPr>
            <a:spLocks noGrp="1"/>
          </p:cNvSpPr>
          <p:nvPr/>
        </p:nvSpPr>
        <p:spPr>
          <a:xfrm>
            <a:off x="857250" y="4552950"/>
            <a:ext cx="95250" cy="95250"/>
          </a:xfrm>
          <a:prstGeom prst="rect">
            <a:avLst/>
          </a:prstGeom>
          <a:solidFill>
            <a:srgbClr val="0860FE"/>
          </a:solidFill>
          <a:ln w="0">
            <a:noFill/>
          </a:ln>
        </p:spPr>
        <p:txBody>
          <a:bodyPr/>
          <a:lstStyle/>
          <a:p>
            <a:endParaRPr/>
          </a:p>
        </p:txBody>
      </p:sp>
      <p:sp>
        <p:nvSpPr>
          <p:cNvPr id="6" name="Rectangle 5">
            <a:extLst>
              <a:ext uri="{FF2B5EF4-FFF2-40B4-BE49-F238E27FC236}">
                <a16:creationId xmlns:a16="http://schemas.microsoft.com/office/drawing/2014/main" id="{193343C7-0B86-4584-8C9B-AF0CD3E3054C}"/>
              </a:ext>
            </a:extLst>
          </p:cNvPr>
          <p:cNvSpPr>
            <a:spLocks noGrp="1"/>
          </p:cNvSpPr>
          <p:nvPr/>
        </p:nvSpPr>
        <p:spPr>
          <a:xfrm>
            <a:off x="1123950" y="44577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packets still take the same path?</a:t>
            </a:r>
          </a:p>
        </p:txBody>
      </p:sp>
      <p:sp>
        <p:nvSpPr>
          <p:cNvPr id="7" name="Rectangle 6">
            <a:extLst>
              <a:ext uri="{FF2B5EF4-FFF2-40B4-BE49-F238E27FC236}">
                <a16:creationId xmlns:a16="http://schemas.microsoft.com/office/drawing/2014/main" id="{AC7E250E-BD9D-4B56-AA0C-A2590841586E}"/>
              </a:ext>
            </a:extLst>
          </p:cNvPr>
          <p:cNvSpPr>
            <a:spLocks noGrp="1"/>
          </p:cNvSpPr>
          <p:nvPr/>
        </p:nvSpPr>
        <p:spPr>
          <a:xfrm>
            <a:off x="857250" y="5086350"/>
            <a:ext cx="95250" cy="95250"/>
          </a:xfrm>
          <a:prstGeom prst="rect">
            <a:avLst/>
          </a:prstGeom>
          <a:solidFill>
            <a:srgbClr val="0860FE"/>
          </a:solidFill>
          <a:ln w="0">
            <a:noFill/>
          </a:ln>
        </p:spPr>
        <p:txBody>
          <a:bodyPr/>
          <a:lstStyle/>
          <a:p>
            <a:endParaRPr/>
          </a:p>
        </p:txBody>
      </p:sp>
      <p:sp>
        <p:nvSpPr>
          <p:cNvPr id="8" name="Rectangle 7">
            <a:extLst>
              <a:ext uri="{FF2B5EF4-FFF2-40B4-BE49-F238E27FC236}">
                <a16:creationId xmlns:a16="http://schemas.microsoft.com/office/drawing/2014/main" id="{2472821D-AB02-44A9-A09F-3F5D5F453EC1}"/>
              </a:ext>
            </a:extLst>
          </p:cNvPr>
          <p:cNvSpPr>
            <a:spLocks noGrp="1"/>
          </p:cNvSpPr>
          <p:nvPr/>
        </p:nvSpPr>
        <p:spPr>
          <a:xfrm>
            <a:off x="1123950" y="49911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both systems see the evidence they need?</a:t>
            </a:r>
          </a:p>
        </p:txBody>
      </p:sp>
      <p:sp>
        <p:nvSpPr>
          <p:cNvPr id="9" name="Rectangle 8">
            <a:extLst>
              <a:ext uri="{FF2B5EF4-FFF2-40B4-BE49-F238E27FC236}">
                <a16:creationId xmlns:a16="http://schemas.microsoft.com/office/drawing/2014/main" id="{E47F07B9-AACE-4FE6-91DA-F972465D815D}"/>
              </a:ext>
            </a:extLst>
          </p:cNvPr>
          <p:cNvSpPr>
            <a:spLocks noGrp="1"/>
          </p:cNvSpPr>
          <p:nvPr/>
        </p:nvSpPr>
        <p:spPr>
          <a:xfrm>
            <a:off x="857250" y="5619750"/>
            <a:ext cx="95250" cy="95250"/>
          </a:xfrm>
          <a:prstGeom prst="rect">
            <a:avLst/>
          </a:prstGeom>
          <a:solidFill>
            <a:srgbClr val="0860FE"/>
          </a:solidFill>
          <a:ln w="0">
            <a:noFill/>
          </a:ln>
        </p:spPr>
        <p:txBody>
          <a:bodyPr/>
          <a:lstStyle/>
          <a:p>
            <a:endParaRPr/>
          </a:p>
        </p:txBody>
      </p:sp>
      <p:sp>
        <p:nvSpPr>
          <p:cNvPr id="10" name="Rectangle 9">
            <a:extLst>
              <a:ext uri="{FF2B5EF4-FFF2-40B4-BE49-F238E27FC236}">
                <a16:creationId xmlns:a16="http://schemas.microsoft.com/office/drawing/2014/main" id="{D4797F6A-E334-4571-BB65-222E0D11C67C}"/>
              </a:ext>
            </a:extLst>
          </p:cNvPr>
          <p:cNvSpPr>
            <a:spLocks noGrp="1"/>
          </p:cNvSpPr>
          <p:nvPr/>
        </p:nvSpPr>
        <p:spPr>
          <a:xfrm>
            <a:off x="1123950" y="5524500"/>
            <a:ext cx="6972300" cy="495300"/>
          </a:xfrm>
          <a:prstGeom prst="rect">
            <a:avLst/>
          </a:prstGeom>
          <a:noFill/>
          <a:ln w="0">
            <a:noFill/>
          </a:ln>
        </p:spPr>
        <p:txBody>
          <a:bodyPr anchor="t">
            <a:normAutofit/>
          </a:body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What new CPU, memory, and telemetry cost appears?</a:t>
            </a:r>
          </a:p>
        </p:txBody>
      </p:sp>
      <p:sp>
        <p:nvSpPr>
          <p:cNvPr id="11" name="Rounded Rectangle 10">
            <a:extLst>
              <a:ext uri="{FF2B5EF4-FFF2-40B4-BE49-F238E27FC236}">
                <a16:creationId xmlns:a16="http://schemas.microsoft.com/office/drawing/2014/main" id="{8001E2B2-1358-47DC-8E7B-93880D0F1582}"/>
              </a:ext>
            </a:extLst>
          </p:cNvPr>
          <p:cNvSpPr>
            <a:spLocks noGrp="1"/>
          </p:cNvSpPr>
          <p:nvPr/>
        </p:nvSpPr>
        <p:spPr>
          <a:xfrm>
            <a:off x="8572500" y="1981200"/>
            <a:ext cx="2571750" cy="1095375"/>
          </a:xfrm>
          <a:prstGeom prst="roundRect">
            <a:avLst>
              <a:gd name="adj" fmla="val 6957"/>
            </a:avLst>
          </a:prstGeom>
          <a:solidFill>
            <a:srgbClr val="EAF7FC"/>
          </a:solidFill>
          <a:ln w="14288">
            <a:solidFill>
              <a:srgbClr val="02C8FF"/>
            </a:solidFill>
          </a:ln>
        </p:spPr>
        <p:txBody>
          <a:bodyPr anchor="ctr">
            <a:normAutofit/>
          </a:bodyPr>
          <a:lstStyle/>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Cilium</a:t>
            </a:r>
          </a:p>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networking + policy</a:t>
            </a:r>
          </a:p>
        </p:txBody>
      </p:sp>
      <p:sp>
        <p:nvSpPr>
          <p:cNvPr id="12" name="Rounded Rectangle 11">
            <a:extLst>
              <a:ext uri="{FF2B5EF4-FFF2-40B4-BE49-F238E27FC236}">
                <a16:creationId xmlns:a16="http://schemas.microsoft.com/office/drawing/2014/main" id="{86D6710D-EC8A-4D0D-B35E-2CDA393F1CE0}"/>
              </a:ext>
            </a:extLst>
          </p:cNvPr>
          <p:cNvSpPr>
            <a:spLocks noGrp="1"/>
          </p:cNvSpPr>
          <p:nvPr/>
        </p:nvSpPr>
        <p:spPr>
          <a:xfrm>
            <a:off x="8572500" y="3676650"/>
            <a:ext cx="2571750" cy="1095375"/>
          </a:xfrm>
          <a:prstGeom prst="roundRect">
            <a:avLst>
              <a:gd name="adj" fmla="val 6957"/>
            </a:avLst>
          </a:prstGeom>
          <a:solidFill>
            <a:srgbClr val="F4EAF4"/>
          </a:solidFill>
          <a:ln w="14288">
            <a:solidFill>
              <a:srgbClr val="FF007F"/>
            </a:solidFill>
          </a:ln>
        </p:spPr>
        <p:txBody>
          <a:bodyPr anchor="ctr">
            <a:normAutofit/>
          </a:bodyPr>
          <a:lstStyle/>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a:t>
            </a:r>
          </a:p>
          <a:p>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application telemetry</a:t>
            </a:r>
          </a:p>
        </p:txBody>
      </p:sp>
      <p:sp>
        <p:nvSpPr>
          <p:cNvPr id="14" name="Rectangle 13">
            <a:extLst>
              <a:ext uri="{FF2B5EF4-FFF2-40B4-BE49-F238E27FC236}">
                <a16:creationId xmlns:a16="http://schemas.microsoft.com/office/drawing/2014/main" id="{EBB07FB0-36F4-48B1-8714-832800EE3B62}"/>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15" name="Rectangle 14">
            <a:extLst>
              <a:ext uri="{FF2B5EF4-FFF2-40B4-BE49-F238E27FC236}">
                <a16:creationId xmlns:a16="http://schemas.microsoft.com/office/drawing/2014/main" id="{D612FC7A-1A2B-4638-9E69-C1CD77A5A173}"/>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161320730"/>
      </p:ext>
    </p:extLst>
  </p:cSld>
  <p:clrMapOvr>
    <a:masterClrMapping/>
  </p:clrMapOvr>
  <p:transition advClick="1"/>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places to follow one request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Application</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sees requests and creates spans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Pod network</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 veth pair connects the pod to the node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Kernel path</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Cilium routes traffic and enforces policy</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Shared TC</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and Cilium can both attach here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dirty="0">
                <a:solidFill>
                  <a:srgbClr val="FFFFFF"/>
                </a:solidFill>
                <a:latin typeface="CiscoSansTT Medium"/>
                <a:ea typeface="CiscoSansTT Medium"/>
                <a:cs typeface="CiscoSansTT Medium"/>
              </a:rPr>
              <a:t>TC is the one shared checkpoint we will </a:t>
            </a:r>
            <a:r>
              <a:rPr lang="en-US" sz="1650" b="1" dirty="0">
                <a:solidFill>
                  <a:srgbClr val="FFFFFF"/>
                </a:solidFill>
                <a:latin typeface="CiscoSansTT Medium"/>
                <a:ea typeface="CiscoSansTT Medium"/>
                <a:cs typeface="CiscoSansTT Medium"/>
              </a:rPr>
              <a:t>explore</a:t>
            </a:r>
            <a:endParaRPr sz="1650" b="1" dirty="0">
              <a:solidFill>
                <a:srgbClr val="FFFFFF"/>
              </a:solidFill>
              <a:latin typeface="CiscoSansTT Medium"/>
              <a:ea typeface="CiscoSansTT Medium"/>
              <a:cs typeface="CiscoSansTT Medium"/>
            </a:endParaRPr>
          </a:p>
        </p:txBody>
      </p:sp>
    </p:spTree>
    <p:extLst>
      <p:ext uri="{BB962C8B-B14F-4D97-AF65-F5344CB8AC3E}">
        <p14:creationId xmlns:p14="http://schemas.microsoft.com/office/powerpoint/2010/main" val="1882857912"/>
      </p:ext>
    </p:extLst>
  </p:cSld>
  <p:clrMapOvr>
    <a:masterClrMapping/>
  </p:clrMapOvr>
  <p:transition advClick="1"/>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62" name="Straight Arrow Connector 361">
            <a:extLst>
              <a:ext uri="{FF2B5EF4-FFF2-40B4-BE49-F238E27FC236}">
                <a16:creationId xmlns:a16="http://schemas.microsoft.com/office/drawing/2014/main" id="{F63C1725-D5B0-4F01-BEB5-31162F4096B3}"/>
              </a:ext>
            </a:extLst>
          </p:cNvPr>
          <p:cNvCxnSpPr>
            <a:stCxn id="9" idx="3"/>
            <a:endCxn id="10" idx="1"/>
          </p:cNvCxnSpPr>
          <p:nvPr/>
        </p:nvCxnSpPr>
        <p:spPr>
          <a:xfrm>
            <a:off x="2952750" y="3219450"/>
            <a:ext cx="2000250" cy="0"/>
          </a:xfrm>
          <a:prstGeom prst="straightConnector1">
            <a:avLst/>
          </a:prstGeom>
          <a:ln w="19050">
            <a:solidFill>
              <a:srgbClr val="686B6B"/>
            </a:solidFill>
            <a:tailEnd type="arrow" w="med" len="med"/>
          </a:ln>
        </p:spPr>
      </p:cxnSp>
      <p:sp>
        <p:nvSpPr>
          <p:cNvPr id="26" name="slide-title">
            <a:extLst>
              <a:ext uri="{FF2B5EF4-FFF2-40B4-BE49-F238E27FC236}">
                <a16:creationId xmlns:a16="http://schemas.microsoft.com/office/drawing/2014/main" id="{F30FCB05-D8E9-4E9A-A589-036B48EA73AC}"/>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and Cilium meet at TC</a:t>
            </a:r>
          </a:p>
        </p:txBody>
      </p:sp>
      <p:sp>
        <p:nvSpPr>
          <p:cNvPr id="2" name="slide-subtitle">
            <a:extLst>
              <a:ext uri="{FF2B5EF4-FFF2-40B4-BE49-F238E27FC236}">
                <a16:creationId xmlns:a16="http://schemas.microsoft.com/office/drawing/2014/main" id="{9D6C336A-55D5-4177-AF1B-389608688355}"/>
              </a:ext>
            </a:extLst>
          </p:cNvPr>
          <p:cNvSpPr>
            <a:spLocks noGrp="1"/>
          </p:cNvSpPr>
          <p:nvPr/>
        </p:nvSpPr>
        <p:spPr>
          <a:xfrm>
            <a:off x="552450" y="1028700"/>
            <a:ext cx="10668000" cy="457200"/>
          </a:xfrm>
          <a:prstGeom prst="rect">
            <a:avLst/>
          </a:prstGeom>
          <a:noFill/>
          <a:ln w="0">
            <a:noFill/>
          </a:ln>
        </p:spPr>
        <p:txBody>
          <a:bodyPr anchor="t">
            <a:normAutofit fontScale="92500"/>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       OBI can add trace context here.                                                       Cilium processes pod traffic here.</a:t>
            </a:r>
          </a:p>
        </p:txBody>
      </p:sp>
      <p:sp>
        <p:nvSpPr>
          <p:cNvPr id="3" name="Rounded Rectangle 2">
            <a:extLst>
              <a:ext uri="{FF2B5EF4-FFF2-40B4-BE49-F238E27FC236}">
                <a16:creationId xmlns:a16="http://schemas.microsoft.com/office/drawing/2014/main" id="{2C6A31FC-F26E-42CD-9AE6-3C77F3A50EB6}"/>
              </a:ext>
            </a:extLst>
          </p:cNvPr>
          <p:cNvSpPr>
            <a:spLocks noGrp="1"/>
          </p:cNvSpPr>
          <p:nvPr/>
        </p:nvSpPr>
        <p:spPr>
          <a:xfrm>
            <a:off x="666750" y="1562100"/>
            <a:ext cx="4762500" cy="781050"/>
          </a:xfrm>
          <a:prstGeom prst="roundRect">
            <a:avLst>
              <a:gd name="adj" fmla="val 9756"/>
            </a:avLst>
          </a:prstGeom>
          <a:solidFill>
            <a:srgbClr val="F9F0F6"/>
          </a:solidFill>
          <a:ln w="14288">
            <a:solidFill>
              <a:srgbClr val="FF007F"/>
            </a:solidFill>
          </a:ln>
        </p:spPr>
        <p:txBody>
          <a:bodyPr/>
          <a:lstStyle/>
          <a:p>
            <a:endParaRPr/>
          </a:p>
        </p:txBody>
      </p:sp>
      <p:sp>
        <p:nvSpPr>
          <p:cNvPr id="4" name="Rectangle 3">
            <a:extLst>
              <a:ext uri="{FF2B5EF4-FFF2-40B4-BE49-F238E27FC236}">
                <a16:creationId xmlns:a16="http://schemas.microsoft.com/office/drawing/2014/main" id="{EA4F80D9-21A7-4BB0-8B6C-ADE46F071600}"/>
              </a:ext>
            </a:extLst>
          </p:cNvPr>
          <p:cNvSpPr>
            <a:spLocks noGrp="1"/>
          </p:cNvSpPr>
          <p:nvPr/>
        </p:nvSpPr>
        <p:spPr>
          <a:xfrm>
            <a:off x="895350" y="1695450"/>
            <a:ext cx="2095500" cy="285750"/>
          </a:xfrm>
          <a:prstGeom prst="rect">
            <a:avLst/>
          </a:prstGeom>
          <a:noFill/>
          <a:ln w="0">
            <a:noFill/>
          </a:ln>
        </p:spPr>
        <p:txBody>
          <a:bodyPr anchor="t">
            <a:normAutofit fontScale="89091" lnSpcReduction="20000"/>
          </a:bodyPr>
          <a:lstStyle/>
          <a:p>
            <a:pPr algn="l">
              <a:buNone/>
              <a:defRPr sz="1650" b="1">
                <a:solidFill>
                  <a:srgbClr val="FF007F"/>
                </a:solidFill>
                <a:latin typeface="CiscoSansTT Medium"/>
                <a:ea typeface="CiscoSansTT Medium"/>
                <a:cs typeface="CiscoSansTT Medium"/>
              </a:defRPr>
            </a:pPr>
            <a:r>
              <a:rPr sz="1650" b="1">
                <a:solidFill>
                  <a:srgbClr val="FF007F"/>
                </a:solidFill>
                <a:latin typeface="CiscoSansTT Medium"/>
                <a:ea typeface="CiscoSansTT Medium"/>
                <a:cs typeface="CiscoSansTT Medium"/>
              </a:rPr>
              <a:t>OBI</a:t>
            </a:r>
          </a:p>
        </p:txBody>
      </p:sp>
      <p:sp>
        <p:nvSpPr>
          <p:cNvPr id="5" name="Rectangle 4">
            <a:extLst>
              <a:ext uri="{FF2B5EF4-FFF2-40B4-BE49-F238E27FC236}">
                <a16:creationId xmlns:a16="http://schemas.microsoft.com/office/drawing/2014/main" id="{3095A0B0-00E3-4075-B666-952E0C2DC6C9}"/>
              </a:ext>
            </a:extLst>
          </p:cNvPr>
          <p:cNvSpPr>
            <a:spLocks noGrp="1"/>
          </p:cNvSpPr>
          <p:nvPr/>
        </p:nvSpPr>
        <p:spPr>
          <a:xfrm>
            <a:off x="895350" y="2000250"/>
            <a:ext cx="4000500" cy="247650"/>
          </a:xfrm>
          <a:prstGeom prst="rect">
            <a:avLst/>
          </a:prstGeom>
          <a:noFill/>
          <a:ln w="0">
            <a:noFill/>
          </a:ln>
        </p:spPr>
        <p:txBody>
          <a:bodyPr anchor="t">
            <a:normAutofit fontScale="82412" lnSpcReduction="20000"/>
          </a:bodyPr>
          <a:lstStyle/>
          <a:p>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Optional TCP trace propagation</a:t>
            </a:r>
          </a:p>
        </p:txBody>
      </p:sp>
      <p:sp>
        <p:nvSpPr>
          <p:cNvPr id="6" name="Rounded Rectangle 5">
            <a:extLst>
              <a:ext uri="{FF2B5EF4-FFF2-40B4-BE49-F238E27FC236}">
                <a16:creationId xmlns:a16="http://schemas.microsoft.com/office/drawing/2014/main" id="{8894B500-4C60-4EB7-A55D-B07E8DDA0609}"/>
              </a:ext>
            </a:extLst>
          </p:cNvPr>
          <p:cNvSpPr>
            <a:spLocks noGrp="1"/>
          </p:cNvSpPr>
          <p:nvPr/>
        </p:nvSpPr>
        <p:spPr>
          <a:xfrm>
            <a:off x="6762750" y="1562100"/>
            <a:ext cx="4762500" cy="781050"/>
          </a:xfrm>
          <a:prstGeom prst="roundRect">
            <a:avLst>
              <a:gd name="adj" fmla="val 9756"/>
            </a:avLst>
          </a:prstGeom>
          <a:solidFill>
            <a:srgbClr val="EAF7FC"/>
          </a:solidFill>
          <a:ln w="14288">
            <a:solidFill>
              <a:srgbClr val="0860FE"/>
            </a:solidFill>
          </a:ln>
        </p:spPr>
        <p:txBody>
          <a:bodyPr/>
          <a:lstStyle/>
          <a:p>
            <a:endParaRPr/>
          </a:p>
        </p:txBody>
      </p:sp>
      <p:sp>
        <p:nvSpPr>
          <p:cNvPr id="7" name="Rectangle 6">
            <a:extLst>
              <a:ext uri="{FF2B5EF4-FFF2-40B4-BE49-F238E27FC236}">
                <a16:creationId xmlns:a16="http://schemas.microsoft.com/office/drawing/2014/main" id="{20A765CC-FD83-44B5-A7D3-BA0C7F84DAAD}"/>
              </a:ext>
            </a:extLst>
          </p:cNvPr>
          <p:cNvSpPr>
            <a:spLocks noGrp="1"/>
          </p:cNvSpPr>
          <p:nvPr/>
        </p:nvSpPr>
        <p:spPr>
          <a:xfrm>
            <a:off x="6991350" y="1695450"/>
            <a:ext cx="2286000" cy="285750"/>
          </a:xfrm>
          <a:prstGeom prst="rect">
            <a:avLst/>
          </a:prstGeom>
          <a:noFill/>
          <a:ln w="0">
            <a:noFill/>
          </a:ln>
        </p:spPr>
        <p:txBody>
          <a:bodyPr anchor="t">
            <a:normAutofit fontScale="89091" lnSpcReduction="20000"/>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Cilium</a:t>
            </a:r>
          </a:p>
        </p:txBody>
      </p:sp>
      <p:sp>
        <p:nvSpPr>
          <p:cNvPr id="8" name="Rectangle 7">
            <a:extLst>
              <a:ext uri="{FF2B5EF4-FFF2-40B4-BE49-F238E27FC236}">
                <a16:creationId xmlns:a16="http://schemas.microsoft.com/office/drawing/2014/main" id="{6C28BB69-CC38-4098-95A7-E508628C9EA9}"/>
              </a:ext>
            </a:extLst>
          </p:cNvPr>
          <p:cNvSpPr>
            <a:spLocks noGrp="1"/>
          </p:cNvSpPr>
          <p:nvPr/>
        </p:nvSpPr>
        <p:spPr>
          <a:xfrm>
            <a:off x="6991350" y="2000250"/>
            <a:ext cx="3905250" cy="247650"/>
          </a:xfrm>
          <a:prstGeom prst="rect">
            <a:avLst/>
          </a:prstGeom>
          <a:noFill/>
          <a:ln w="0">
            <a:noFill/>
          </a:ln>
        </p:spPr>
        <p:txBody>
          <a:bodyPr anchor="t">
            <a:normAutofit fontScale="82412" lnSpcReduction="20000"/>
          </a:bodyPr>
          <a:lstStyle/>
          <a:p>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Pod networking and policy</a:t>
            </a:r>
          </a:p>
        </p:txBody>
      </p:sp>
      <p:sp>
        <p:nvSpPr>
          <p:cNvPr id="9" name="Rounded Rectangle 8">
            <a:extLst>
              <a:ext uri="{FF2B5EF4-FFF2-40B4-BE49-F238E27FC236}">
                <a16:creationId xmlns:a16="http://schemas.microsoft.com/office/drawing/2014/main" id="{696BD036-81BB-46F4-A7AB-4D4FBF7CFB83}"/>
              </a:ext>
            </a:extLst>
          </p:cNvPr>
          <p:cNvSpPr>
            <a:spLocks noGrp="1"/>
          </p:cNvSpPr>
          <p:nvPr/>
        </p:nvSpPr>
        <p:spPr>
          <a:xfrm>
            <a:off x="666750" y="2857500"/>
            <a:ext cx="2286000" cy="723900"/>
          </a:xfrm>
          <a:prstGeom prst="roundRect">
            <a:avLst>
              <a:gd name="adj" fmla="val 10526"/>
            </a:avLst>
          </a:prstGeom>
          <a:solidFill>
            <a:srgbClr val="F4F6F8"/>
          </a:solidFill>
          <a:ln w="14288">
            <a:solidFill>
              <a:srgbClr val="A6A6A6"/>
            </a:solidFill>
          </a:ln>
        </p:spPr>
        <p:txBody>
          <a:bodyPr anchor="ctr">
            <a:normAutofit/>
          </a:body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Application process</a:t>
            </a:r>
          </a:p>
        </p:txBody>
      </p:sp>
      <p:sp>
        <p:nvSpPr>
          <p:cNvPr id="10" name="Rounded Rectangle 9">
            <a:extLst>
              <a:ext uri="{FF2B5EF4-FFF2-40B4-BE49-F238E27FC236}">
                <a16:creationId xmlns:a16="http://schemas.microsoft.com/office/drawing/2014/main" id="{A91280D8-EB21-46FE-8E56-DC7EFF804CF9}"/>
              </a:ext>
            </a:extLst>
          </p:cNvPr>
          <p:cNvSpPr>
            <a:spLocks noGrp="1"/>
          </p:cNvSpPr>
          <p:nvPr/>
        </p:nvSpPr>
        <p:spPr>
          <a:xfrm>
            <a:off x="4953000" y="2857500"/>
            <a:ext cx="2286000" cy="723900"/>
          </a:xfrm>
          <a:prstGeom prst="roundRect">
            <a:avLst>
              <a:gd name="adj" fmla="val 10526"/>
            </a:avLst>
          </a:prstGeom>
          <a:solidFill>
            <a:srgbClr val="FFFFFF"/>
          </a:solidFill>
          <a:ln w="14288">
            <a:solidFill>
              <a:srgbClr val="0860FE"/>
            </a:solidFill>
          </a:ln>
        </p:spPr>
        <p:txBody>
          <a:bodyPr anchor="ctr">
            <a:normAutofit/>
          </a:body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Host-side veth</a:t>
            </a:r>
          </a:p>
        </p:txBody>
      </p:sp>
      <p:sp>
        <p:nvSpPr>
          <p:cNvPr id="11" name="Rounded Rectangle 10">
            <a:extLst>
              <a:ext uri="{FF2B5EF4-FFF2-40B4-BE49-F238E27FC236}">
                <a16:creationId xmlns:a16="http://schemas.microsoft.com/office/drawing/2014/main" id="{CDF2353C-694D-4CB4-9EA5-DA115205C4B4}"/>
              </a:ext>
            </a:extLst>
          </p:cNvPr>
          <p:cNvSpPr>
            <a:spLocks noGrp="1"/>
          </p:cNvSpPr>
          <p:nvPr/>
        </p:nvSpPr>
        <p:spPr>
          <a:xfrm>
            <a:off x="9239250" y="2857500"/>
            <a:ext cx="2095500" cy="723900"/>
          </a:xfrm>
          <a:prstGeom prst="roundRect">
            <a:avLst>
              <a:gd name="adj" fmla="val 10526"/>
            </a:avLst>
          </a:prstGeom>
          <a:solidFill>
            <a:srgbClr val="F4F6F8"/>
          </a:solidFill>
          <a:ln w="14288">
            <a:solidFill>
              <a:srgbClr val="A6A6A6"/>
            </a:solidFill>
          </a:ln>
        </p:spPr>
        <p:txBody>
          <a:bodyPr anchor="ctr">
            <a:normAutofit/>
          </a:bodyPr>
          <a:lstStyle/>
          <a:p>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Network</a:t>
            </a:r>
          </a:p>
        </p:txBody>
      </p:sp>
      <p:cxnSp>
        <p:nvCxnSpPr>
          <p:cNvPr id="350" name="Straight Arrow Connector 37">
            <a:extLst>
              <a:ext uri="{FF2B5EF4-FFF2-40B4-BE49-F238E27FC236}">
                <a16:creationId xmlns:a16="http://schemas.microsoft.com/office/drawing/2014/main" id="{88FAD868-6809-46F0-9E35-273A7055DB23}"/>
              </a:ext>
            </a:extLst>
          </p:cNvPr>
          <p:cNvCxnSpPr>
            <a:stCxn id="10" idx="3"/>
            <a:endCxn id="11" idx="1"/>
          </p:cNvCxnSpPr>
          <p:nvPr/>
        </p:nvCxnSpPr>
        <p:spPr>
          <a:xfrm>
            <a:off x="7239000" y="3219450"/>
            <a:ext cx="2000250" cy="0"/>
          </a:xfrm>
          <a:prstGeom prst="straightConnector1">
            <a:avLst/>
          </a:prstGeom>
          <a:ln w="23813">
            <a:solidFill>
              <a:srgbClr val="686B6B"/>
            </a:solidFill>
            <a:prstDash val="solid"/>
            <a:tailEnd type="arrow" w="med" len="med"/>
          </a:ln>
        </p:spPr>
      </p:cxnSp>
      <p:sp>
        <p:nvSpPr>
          <p:cNvPr id="14" name="Rounded Rectangle 13">
            <a:extLst>
              <a:ext uri="{FF2B5EF4-FFF2-40B4-BE49-F238E27FC236}">
                <a16:creationId xmlns:a16="http://schemas.microsoft.com/office/drawing/2014/main" id="{87530A25-FA22-4956-8BEA-4DCA6ABD07D0}"/>
              </a:ext>
            </a:extLst>
          </p:cNvPr>
          <p:cNvSpPr>
            <a:spLocks noGrp="1"/>
          </p:cNvSpPr>
          <p:nvPr/>
        </p:nvSpPr>
        <p:spPr>
          <a:xfrm>
            <a:off x="2381250" y="4000500"/>
            <a:ext cx="7429500" cy="1619250"/>
          </a:xfrm>
          <a:prstGeom prst="roundRect">
            <a:avLst>
              <a:gd name="adj" fmla="val 4706"/>
            </a:avLst>
          </a:prstGeom>
          <a:solidFill>
            <a:srgbClr val="07182A"/>
          </a:solidFill>
          <a:ln w="0">
            <a:noFill/>
          </a:ln>
        </p:spPr>
        <p:txBody>
          <a:bodyPr/>
          <a:lstStyle/>
          <a:p>
            <a:endParaRPr/>
          </a:p>
        </p:txBody>
      </p:sp>
      <p:sp>
        <p:nvSpPr>
          <p:cNvPr id="15" name="Rectangle 14">
            <a:extLst>
              <a:ext uri="{FF2B5EF4-FFF2-40B4-BE49-F238E27FC236}">
                <a16:creationId xmlns:a16="http://schemas.microsoft.com/office/drawing/2014/main" id="{6781C774-D4AF-488E-B34F-6E2E2AA5302D}"/>
              </a:ext>
            </a:extLst>
          </p:cNvPr>
          <p:cNvSpPr>
            <a:spLocks noGrp="1"/>
          </p:cNvSpPr>
          <p:nvPr/>
        </p:nvSpPr>
        <p:spPr>
          <a:xfrm>
            <a:off x="2724150" y="4171950"/>
            <a:ext cx="6743700" cy="323850"/>
          </a:xfrm>
          <a:prstGeom prst="rect">
            <a:avLst/>
          </a:prstGeom>
          <a:noFill/>
          <a:ln w="0">
            <a:noFill/>
          </a:ln>
        </p:spPr>
        <p:txBody>
          <a:bodyPr anchor="t">
            <a:normAutofit fontScale="92500" lnSpcReduction="20000"/>
          </a:bodyPr>
          <a:lstStyle/>
          <a:p>
            <a:pPr algn="ctr">
              <a:buNone/>
              <a:defRPr sz="1875" b="1">
                <a:solidFill>
                  <a:srgbClr val="FFFFFF"/>
                </a:solidFill>
                <a:latin typeface="CiscoSansTT Medium"/>
                <a:ea typeface="CiscoSansTT Medium"/>
                <a:cs typeface="CiscoSansTT Medium"/>
              </a:defRPr>
            </a:pPr>
            <a:r>
              <a:rPr sz="1875" b="1">
                <a:solidFill>
                  <a:srgbClr val="FFFFFF"/>
                </a:solidFill>
                <a:latin typeface="CiscoSansTT Medium"/>
                <a:ea typeface="CiscoSansTT Medium"/>
                <a:cs typeface="CiscoSansTT Medium"/>
              </a:rPr>
              <a:t>Shared TC hooks on the host-side veth</a:t>
            </a:r>
          </a:p>
        </p:txBody>
      </p:sp>
      <p:sp>
        <p:nvSpPr>
          <p:cNvPr id="16" name="Rounded Rectangle 15">
            <a:extLst>
              <a:ext uri="{FF2B5EF4-FFF2-40B4-BE49-F238E27FC236}">
                <a16:creationId xmlns:a16="http://schemas.microsoft.com/office/drawing/2014/main" id="{8FFC60E2-24BF-46E6-8463-DF1287D49085}"/>
              </a:ext>
            </a:extLst>
          </p:cNvPr>
          <p:cNvSpPr>
            <a:spLocks noGrp="1"/>
          </p:cNvSpPr>
          <p:nvPr/>
        </p:nvSpPr>
        <p:spPr>
          <a:xfrm>
            <a:off x="2724150" y="4629150"/>
            <a:ext cx="1428750" cy="381000"/>
          </a:xfrm>
          <a:prstGeom prst="roundRect">
            <a:avLst>
              <a:gd name="adj" fmla="val 20000"/>
            </a:avLst>
          </a:prstGeom>
          <a:solidFill>
            <a:srgbClr val="FFFFFF"/>
          </a:solidFill>
          <a:ln w="0">
            <a:noFill/>
          </a:ln>
        </p:spPr>
        <p:txBody>
          <a:bodyPr anchor="ctr">
            <a:normAutofit/>
          </a:bodyPr>
          <a:lstStyle/>
          <a:p>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ingress</a:t>
            </a:r>
          </a:p>
        </p:txBody>
      </p:sp>
      <p:sp>
        <p:nvSpPr>
          <p:cNvPr id="17" name="Rounded Rectangle 16">
            <a:extLst>
              <a:ext uri="{FF2B5EF4-FFF2-40B4-BE49-F238E27FC236}">
                <a16:creationId xmlns:a16="http://schemas.microsoft.com/office/drawing/2014/main" id="{40962869-3F21-45D8-B5A8-6F906157B194}"/>
              </a:ext>
            </a:extLst>
          </p:cNvPr>
          <p:cNvSpPr>
            <a:spLocks noGrp="1"/>
          </p:cNvSpPr>
          <p:nvPr/>
        </p:nvSpPr>
        <p:spPr>
          <a:xfrm>
            <a:off x="4400550" y="4629150"/>
            <a:ext cx="2095500" cy="381000"/>
          </a:xfrm>
          <a:prstGeom prst="roundRect">
            <a:avLst>
              <a:gd name="adj" fmla="val 20000"/>
            </a:avLst>
          </a:prstGeom>
          <a:solidFill>
            <a:srgbClr val="FF007F"/>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18" name="Rectangle 17">
            <a:extLst>
              <a:ext uri="{FF2B5EF4-FFF2-40B4-BE49-F238E27FC236}">
                <a16:creationId xmlns:a16="http://schemas.microsoft.com/office/drawing/2014/main" id="{6AD94758-A1ED-4586-AB0C-2F2F07415612}"/>
              </a:ext>
            </a:extLst>
          </p:cNvPr>
          <p:cNvSpPr>
            <a:spLocks noGrp="1"/>
          </p:cNvSpPr>
          <p:nvPr/>
        </p:nvSpPr>
        <p:spPr>
          <a:xfrm>
            <a:off x="6648450" y="4676775"/>
            <a:ext cx="323850" cy="266700"/>
          </a:xfrm>
          <a:prstGeom prst="rect">
            <a:avLst/>
          </a:prstGeom>
          <a:noFill/>
          <a:ln w="0">
            <a:noFill/>
          </a:ln>
        </p:spPr>
        <p:txBody>
          <a:bodyPr anchor="t">
            <a:normAutofit fontScale="74167" lnSpcReduction="20000"/>
          </a:body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19" name="Rounded Rectangle 18">
            <a:extLst>
              <a:ext uri="{FF2B5EF4-FFF2-40B4-BE49-F238E27FC236}">
                <a16:creationId xmlns:a16="http://schemas.microsoft.com/office/drawing/2014/main" id="{A5377F8E-C8A7-4E79-92B3-3E9549EC1889}"/>
              </a:ext>
            </a:extLst>
          </p:cNvPr>
          <p:cNvSpPr>
            <a:spLocks noGrp="1"/>
          </p:cNvSpPr>
          <p:nvPr/>
        </p:nvSpPr>
        <p:spPr>
          <a:xfrm>
            <a:off x="7124700" y="4629150"/>
            <a:ext cx="2343150" cy="381000"/>
          </a:xfrm>
          <a:prstGeom prst="roundRect">
            <a:avLst>
              <a:gd name="adj" fmla="val 20000"/>
            </a:avLst>
          </a:prstGeom>
          <a:solidFill>
            <a:srgbClr val="0860FE"/>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sp>
        <p:nvSpPr>
          <p:cNvPr id="20" name="Rounded Rectangle 19">
            <a:extLst>
              <a:ext uri="{FF2B5EF4-FFF2-40B4-BE49-F238E27FC236}">
                <a16:creationId xmlns:a16="http://schemas.microsoft.com/office/drawing/2014/main" id="{991B3726-39BE-47A6-8FF9-D40A56F03B4F}"/>
              </a:ext>
            </a:extLst>
          </p:cNvPr>
          <p:cNvSpPr>
            <a:spLocks noGrp="1"/>
          </p:cNvSpPr>
          <p:nvPr/>
        </p:nvSpPr>
        <p:spPr>
          <a:xfrm>
            <a:off x="2724150" y="5105400"/>
            <a:ext cx="1428750" cy="381000"/>
          </a:xfrm>
          <a:prstGeom prst="roundRect">
            <a:avLst>
              <a:gd name="adj" fmla="val 20000"/>
            </a:avLst>
          </a:prstGeom>
          <a:solidFill>
            <a:srgbClr val="FFFFFF"/>
          </a:solidFill>
          <a:ln w="0">
            <a:noFill/>
          </a:ln>
        </p:spPr>
        <p:txBody>
          <a:bodyPr anchor="ctr">
            <a:normAutofit/>
          </a:bodyPr>
          <a:lstStyle/>
          <a:p>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egress</a:t>
            </a:r>
          </a:p>
        </p:txBody>
      </p:sp>
      <p:sp>
        <p:nvSpPr>
          <p:cNvPr id="21" name="Rounded Rectangle 20">
            <a:extLst>
              <a:ext uri="{FF2B5EF4-FFF2-40B4-BE49-F238E27FC236}">
                <a16:creationId xmlns:a16="http://schemas.microsoft.com/office/drawing/2014/main" id="{E819752B-899A-4C7E-BF89-47C6539C8406}"/>
              </a:ext>
            </a:extLst>
          </p:cNvPr>
          <p:cNvSpPr>
            <a:spLocks noGrp="1"/>
          </p:cNvSpPr>
          <p:nvPr/>
        </p:nvSpPr>
        <p:spPr>
          <a:xfrm>
            <a:off x="4400550" y="5105400"/>
            <a:ext cx="2095500" cy="381000"/>
          </a:xfrm>
          <a:prstGeom prst="roundRect">
            <a:avLst>
              <a:gd name="adj" fmla="val 20000"/>
            </a:avLst>
          </a:prstGeom>
          <a:solidFill>
            <a:srgbClr val="FF007F"/>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22" name="Rectangle 21">
            <a:extLst>
              <a:ext uri="{FF2B5EF4-FFF2-40B4-BE49-F238E27FC236}">
                <a16:creationId xmlns:a16="http://schemas.microsoft.com/office/drawing/2014/main" id="{53F2990E-ED0E-4915-9483-1143960BA0A9}"/>
              </a:ext>
            </a:extLst>
          </p:cNvPr>
          <p:cNvSpPr>
            <a:spLocks noGrp="1"/>
          </p:cNvSpPr>
          <p:nvPr/>
        </p:nvSpPr>
        <p:spPr>
          <a:xfrm>
            <a:off x="6648450" y="5153025"/>
            <a:ext cx="323850" cy="266700"/>
          </a:xfrm>
          <a:prstGeom prst="rect">
            <a:avLst/>
          </a:prstGeom>
          <a:noFill/>
          <a:ln w="0">
            <a:noFill/>
          </a:ln>
        </p:spPr>
        <p:txBody>
          <a:bodyPr anchor="t">
            <a:normAutofit fontScale="74167" lnSpcReduction="20000"/>
          </a:body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23" name="Rounded Rectangle 22">
            <a:extLst>
              <a:ext uri="{FF2B5EF4-FFF2-40B4-BE49-F238E27FC236}">
                <a16:creationId xmlns:a16="http://schemas.microsoft.com/office/drawing/2014/main" id="{A5FFF6D5-7BCC-4B0B-9620-BB834FEE02EF}"/>
              </a:ext>
            </a:extLst>
          </p:cNvPr>
          <p:cNvSpPr>
            <a:spLocks noGrp="1"/>
          </p:cNvSpPr>
          <p:nvPr/>
        </p:nvSpPr>
        <p:spPr>
          <a:xfrm>
            <a:off x="7124700" y="5105400"/>
            <a:ext cx="2343150" cy="381000"/>
          </a:xfrm>
          <a:prstGeom prst="roundRect">
            <a:avLst>
              <a:gd name="adj" fmla="val 20000"/>
            </a:avLst>
          </a:prstGeom>
          <a:solidFill>
            <a:srgbClr val="0860FE"/>
          </a:solidFill>
          <a:ln w="0">
            <a:noFill/>
          </a:ln>
        </p:spPr>
        <p:txBody>
          <a:bodyPr anchor="ctr">
            <a:normAutofit/>
          </a:bodyPr>
          <a:lstStyle/>
          <a:p>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cxnSp>
        <p:nvCxnSpPr>
          <p:cNvPr id="361" name="Straight Arrow Connector 48">
            <a:extLst>
              <a:ext uri="{FF2B5EF4-FFF2-40B4-BE49-F238E27FC236}">
                <a16:creationId xmlns:a16="http://schemas.microsoft.com/office/drawing/2014/main" id="{26DE8223-1734-4228-998C-9A84E060C69E}"/>
              </a:ext>
            </a:extLst>
          </p:cNvPr>
          <p:cNvCxnSpPr>
            <a:stCxn id="10" idx="2"/>
            <a:endCxn id="14" idx="0"/>
          </p:cNvCxnSpPr>
          <p:nvPr/>
        </p:nvCxnSpPr>
        <p:spPr>
          <a:xfrm>
            <a:off x="6096000" y="3581400"/>
            <a:ext cx="0" cy="419100"/>
          </a:xfrm>
          <a:prstGeom prst="straightConnector1">
            <a:avLst/>
          </a:prstGeom>
          <a:ln w="23813">
            <a:solidFill>
              <a:srgbClr val="07182A"/>
            </a:solidFill>
            <a:prstDash val="solid"/>
          </a:ln>
        </p:spPr>
      </p:cxnSp>
    </p:spTree>
    <p:extLst>
      <p:ext uri="{BB962C8B-B14F-4D97-AF65-F5344CB8AC3E}">
        <p14:creationId xmlns:p14="http://schemas.microsoft.com/office/powerpoint/2010/main" val="768147433"/>
      </p:ext>
    </p:extLst>
  </p:cSld>
  <p:clrMapOvr>
    <a:masterClrMapping/>
  </p:clrMapOvr>
  <p:transition advClick="1"/>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title">
            <a:extLst>
              <a:ext uri="{FF2B5EF4-FFF2-40B4-BE49-F238E27FC236}">
                <a16:creationId xmlns:a16="http://schemas.microsoft.com/office/drawing/2014/main" id="{F77D8302-E9B9-45A8-8DDD-64A76D176D1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 is an ordered chain, not an exclusive lock</a:t>
            </a:r>
          </a:p>
        </p:txBody>
      </p:sp>
      <p:sp>
        <p:nvSpPr>
          <p:cNvPr id="7" name="Rectangle 6">
            <a:extLst>
              <a:ext uri="{FF2B5EF4-FFF2-40B4-BE49-F238E27FC236}">
                <a16:creationId xmlns:a16="http://schemas.microsoft.com/office/drawing/2014/main" id="{5849D950-B4D4-4CE5-85CA-9490FD1D80FC}"/>
              </a:ext>
            </a:extLst>
          </p:cNvPr>
          <p:cNvSpPr>
            <a:spLocks noGrp="1"/>
          </p:cNvSpPr>
          <p:nvPr/>
        </p:nvSpPr>
        <p:spPr>
          <a:xfrm>
            <a:off x="1428750" y="4476750"/>
            <a:ext cx="9334500" cy="571500"/>
          </a:xfrm>
          <a:prstGeom prst="rect">
            <a:avLst/>
          </a:prstGeom>
          <a:noFill/>
          <a:ln w="0">
            <a:noFill/>
          </a:ln>
        </p:spPr>
        <p:txBody>
          <a:bodyPr anchor="ctr">
            <a:noAutofit/>
          </a:bodyPr>
          <a:lstStyle>
            <a:defPPr algn="ctr">
              <a:defRPr sz="2100" b="0">
                <a:solidFill>
                  <a:srgbClr val="07182A"/>
                </a:solidFill>
                <a:latin typeface="CiscoSansTT"/>
                <a:ea typeface="CiscoSansTT"/>
                <a:cs typeface="CiscoSansTT"/>
              </a:defRPr>
            </a:defPPr>
            <a:lvl1pPr algn="ctr">
              <a:defRPr sz="2100" b="0">
                <a:solidFill>
                  <a:srgbClr val="07182A"/>
                </a:solidFill>
                <a:latin typeface="CiscoSansTT"/>
                <a:ea typeface="CiscoSansTT"/>
                <a:cs typeface="CiscoSansTT"/>
              </a:defRPr>
            </a:lvl1pPr>
            <a:lvl2pPr algn="ctr">
              <a:defRPr sz="2100" b="0">
                <a:solidFill>
                  <a:srgbClr val="07182A"/>
                </a:solidFill>
                <a:latin typeface="CiscoSansTT"/>
                <a:ea typeface="CiscoSansTT"/>
                <a:cs typeface="CiscoSansTT"/>
              </a:defRPr>
            </a:lvl2pPr>
            <a:lvl3pPr algn="ctr">
              <a:defRPr sz="2100" b="0">
                <a:solidFill>
                  <a:srgbClr val="07182A"/>
                </a:solidFill>
                <a:latin typeface="CiscoSansTT"/>
                <a:ea typeface="CiscoSansTT"/>
                <a:cs typeface="CiscoSansTT"/>
              </a:defRPr>
            </a:lvl3pPr>
            <a:lvl4pPr algn="ctr">
              <a:defRPr sz="2100" b="0">
                <a:solidFill>
                  <a:srgbClr val="07182A"/>
                </a:solidFill>
                <a:latin typeface="CiscoSansTT"/>
                <a:ea typeface="CiscoSansTT"/>
                <a:cs typeface="CiscoSansTT"/>
              </a:defRPr>
            </a:lvl4pPr>
            <a:lvl5pPr algn="ctr">
              <a:defRPr sz="2100" b="0">
                <a:solidFill>
                  <a:srgbClr val="07182A"/>
                </a:solidFill>
                <a:latin typeface="CiscoSansTT"/>
                <a:ea typeface="CiscoSansTT"/>
                <a:cs typeface="CiscoSansTT"/>
              </a:defRPr>
            </a:lvl5pPr>
            <a:lvl6pPr algn="ctr">
              <a:defRPr sz="2100" b="0">
                <a:solidFill>
                  <a:srgbClr val="07182A"/>
                </a:solidFill>
                <a:latin typeface="CiscoSansTT"/>
                <a:ea typeface="CiscoSansTT"/>
                <a:cs typeface="CiscoSansTT"/>
              </a:defRPr>
            </a:lvl6pPr>
            <a:lvl7pPr algn="ctr">
              <a:defRPr sz="2100" b="0">
                <a:solidFill>
                  <a:srgbClr val="07182A"/>
                </a:solidFill>
                <a:latin typeface="CiscoSansTT"/>
                <a:ea typeface="CiscoSansTT"/>
                <a:cs typeface="CiscoSansTT"/>
              </a:defRPr>
            </a:lvl7pPr>
            <a:lvl8pPr algn="ctr">
              <a:defRPr sz="2100" b="0">
                <a:solidFill>
                  <a:srgbClr val="07182A"/>
                </a:solidFill>
                <a:latin typeface="CiscoSansTT"/>
                <a:ea typeface="CiscoSansTT"/>
                <a:cs typeface="CiscoSansTT"/>
              </a:defRPr>
            </a:lvl8pPr>
            <a:lvl9pPr algn="ctr">
              <a:defRPr sz="2100" b="0">
                <a:solidFill>
                  <a:srgbClr val="07182A"/>
                </a:solidFill>
                <a:latin typeface="CiscoSansTT"/>
                <a:ea typeface="CiscoSansTT"/>
                <a:cs typeface="CiscoSansTT"/>
              </a:defRPr>
            </a:lvl9pPr>
          </a:lstStyle>
          <a:p>
            <a:pPr algn="ctr">
              <a:buNone/>
              <a:defRPr sz="2100" b="0">
                <a:solidFill>
                  <a:srgbClr val="07182A"/>
                </a:solidFill>
                <a:latin typeface="CiscoSansTT"/>
                <a:ea typeface="CiscoSansTT"/>
                <a:cs typeface="CiscoSansTT"/>
              </a:defRPr>
            </a:pPr>
            <a:r>
              <a:rPr sz="2100" b="0">
                <a:solidFill>
                  <a:srgbClr val="07182A"/>
                </a:solidFill>
                <a:latin typeface="CiscoSansTT"/>
                <a:ea typeface="CiscoSansTT"/>
                <a:cs typeface="CiscoSansTT"/>
              </a:rPr>
              <a:t>OBI observes the packet before Cilium can change its path or drop it.</a:t>
            </a:r>
          </a:p>
        </p:txBody>
      </p:sp>
      <p:sp>
        <p:nvSpPr>
          <p:cNvPr id="8" name="Rounded Rectangle 7">
            <a:extLst>
              <a:ext uri="{FF2B5EF4-FFF2-40B4-BE49-F238E27FC236}">
                <a16:creationId xmlns:a16="http://schemas.microsoft.com/office/drawing/2014/main" id="{E0211182-A93E-4D75-B6E0-FD340F786B7E}"/>
              </a:ext>
            </a:extLst>
          </p:cNvPr>
          <p:cNvSpPr>
            <a:spLocks noGrp="1"/>
          </p:cNvSpPr>
          <p:nvPr/>
        </p:nvSpPr>
        <p:spPr>
          <a:xfrm>
            <a:off x="4191000" y="5410200"/>
            <a:ext cx="3810000" cy="381000"/>
          </a:xfrm>
          <a:prstGeom prst="roundRect">
            <a:avLst>
              <a:gd name="adj" fmla="val 20000"/>
            </a:avLst>
          </a:prstGeom>
          <a:solidFill>
            <a:srgbClr val="07182A"/>
          </a:solidFill>
          <a:ln w="0">
            <a:noFill/>
          </a:ln>
        </p:spPr>
        <p:txBody>
          <a:bodyPr anchor="ctr">
            <a:normAutofit/>
          </a:bodyPr>
          <a:lstStyle/>
          <a:p>
            <a:pPr algn="ctr">
              <a:buNone/>
              <a:defRPr sz="1575" b="1">
                <a:solidFill>
                  <a:srgbClr val="FFFFFF"/>
                </a:solidFill>
                <a:latin typeface="CiscoSansTT Medium"/>
                <a:ea typeface="CiscoSansTT Medium"/>
                <a:cs typeface="CiscoSansTT Medium"/>
              </a:defRPr>
            </a:pPr>
            <a:r>
              <a:rPr sz="1575" b="1">
                <a:solidFill>
                  <a:srgbClr val="FFFFFF"/>
                </a:solidFill>
                <a:latin typeface="CiscoSansTT Medium"/>
                <a:ea typeface="CiscoSansTT Medium"/>
                <a:cs typeface="CiscoSansTT Medium"/>
              </a:rPr>
              <a:t>ORDER IS CORRECTNESS</a:t>
            </a:r>
          </a:p>
        </p:txBody>
      </p:sp>
      <p:sp>
        <p:nvSpPr>
          <p:cNvPr id="10" name="obi-tc-step">
            <a:extLst>
              <a:ext uri="{FF2B5EF4-FFF2-40B4-BE49-F238E27FC236}">
                <a16:creationId xmlns:a16="http://schemas.microsoft.com/office/drawing/2014/main" id="{6A062542-EA9B-400B-9F22-65A6D4F08617}"/>
              </a:ext>
            </a:extLst>
          </p:cNvPr>
          <p:cNvSpPr>
            <a:spLocks noGrp="1"/>
          </p:cNvSpPr>
          <p:nvPr/>
        </p:nvSpPr>
        <p:spPr>
          <a:xfrm>
            <a:off x="857250" y="2333625"/>
            <a:ext cx="3143250" cy="1524000"/>
          </a:xfrm>
          <a:prstGeom prst="roundRect">
            <a:avLst>
              <a:gd name="adj" fmla="val 4375"/>
            </a:avLst>
          </a:prstGeom>
          <a:solidFill>
            <a:srgbClr val="F6ECF5"/>
          </a:solidFill>
          <a:ln w="11906">
            <a:solidFill>
              <a:srgbClr val="FF007F"/>
            </a:solidFill>
          </a:ln>
        </p:spPr>
        <p:txBody>
          <a:bodyPr anchor="ctr">
            <a:noAutofit/>
          </a:bodyPr>
          <a:lstStyle>
            <a:defPPr algn="ctr">
              <a:defRPr sz="2175" b="0">
                <a:solidFill>
                  <a:srgbClr val="07182A"/>
                </a:solidFill>
                <a:latin typeface="CiscoSansTT"/>
                <a:ea typeface="CiscoSansTT"/>
                <a:cs typeface="CiscoSansTT"/>
              </a:defRPr>
            </a:defPPr>
            <a:lvl1pPr algn="ctr">
              <a:defRPr sz="2175" b="0">
                <a:solidFill>
                  <a:srgbClr val="07182A"/>
                </a:solidFill>
                <a:latin typeface="CiscoSansTT"/>
                <a:ea typeface="CiscoSansTT"/>
                <a:cs typeface="CiscoSansTT"/>
              </a:defRPr>
            </a:lvl1pPr>
            <a:lvl2pPr algn="ctr">
              <a:defRPr sz="2175" b="0">
                <a:solidFill>
                  <a:srgbClr val="07182A"/>
                </a:solidFill>
                <a:latin typeface="CiscoSansTT"/>
                <a:ea typeface="CiscoSansTT"/>
                <a:cs typeface="CiscoSansTT"/>
              </a:defRPr>
            </a:lvl2pPr>
            <a:lvl3pPr algn="ctr">
              <a:defRPr sz="2175" b="0">
                <a:solidFill>
                  <a:srgbClr val="07182A"/>
                </a:solidFill>
                <a:latin typeface="CiscoSansTT"/>
                <a:ea typeface="CiscoSansTT"/>
                <a:cs typeface="CiscoSansTT"/>
              </a:defRPr>
            </a:lvl3pPr>
            <a:lvl4pPr algn="ctr">
              <a:defRPr sz="2175" b="0">
                <a:solidFill>
                  <a:srgbClr val="07182A"/>
                </a:solidFill>
                <a:latin typeface="CiscoSansTT"/>
                <a:ea typeface="CiscoSansTT"/>
                <a:cs typeface="CiscoSansTT"/>
              </a:defRPr>
            </a:lvl4pPr>
            <a:lvl5pPr algn="ctr">
              <a:defRPr sz="2175" b="0">
                <a:solidFill>
                  <a:srgbClr val="07182A"/>
                </a:solidFill>
                <a:latin typeface="CiscoSansTT"/>
                <a:ea typeface="CiscoSansTT"/>
                <a:cs typeface="CiscoSansTT"/>
              </a:defRPr>
            </a:lvl5pPr>
            <a:lvl6pPr algn="ctr">
              <a:defRPr sz="2175" b="0">
                <a:solidFill>
                  <a:srgbClr val="07182A"/>
                </a:solidFill>
                <a:latin typeface="CiscoSansTT"/>
                <a:ea typeface="CiscoSansTT"/>
                <a:cs typeface="CiscoSansTT"/>
              </a:defRPr>
            </a:lvl6pPr>
            <a:lvl7pPr algn="ctr">
              <a:defRPr sz="2175" b="0">
                <a:solidFill>
                  <a:srgbClr val="07182A"/>
                </a:solidFill>
                <a:latin typeface="CiscoSansTT"/>
                <a:ea typeface="CiscoSansTT"/>
                <a:cs typeface="CiscoSansTT"/>
              </a:defRPr>
            </a:lvl7pPr>
            <a:lvl8pPr algn="ctr">
              <a:defRPr sz="2175" b="0">
                <a:solidFill>
                  <a:srgbClr val="07182A"/>
                </a:solidFill>
                <a:latin typeface="CiscoSansTT"/>
                <a:ea typeface="CiscoSansTT"/>
                <a:cs typeface="CiscoSansTT"/>
              </a:defRPr>
            </a:lvl8pPr>
            <a:lvl9pPr algn="ctr">
              <a:defRPr sz="2175" b="0">
                <a:solidFill>
                  <a:srgbClr val="07182A"/>
                </a:solidFill>
                <a:latin typeface="CiscoSansTT"/>
                <a:ea typeface="CiscoSansTT"/>
                <a:cs typeface="CiscoSansTT"/>
              </a:defRPr>
            </a:lvl9pPr>
          </a:lstStyle>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OBI</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Observe + propagate</a:t>
            </a:r>
          </a:p>
        </p:txBody>
      </p:sp>
      <p:sp>
        <p:nvSpPr>
          <p:cNvPr id="11" name="cilium-tc-step">
            <a:extLst>
              <a:ext uri="{FF2B5EF4-FFF2-40B4-BE49-F238E27FC236}">
                <a16:creationId xmlns:a16="http://schemas.microsoft.com/office/drawing/2014/main" id="{A3B9CEC6-752C-4ABC-9BF5-4879C0F521AA}"/>
              </a:ext>
            </a:extLst>
          </p:cNvPr>
          <p:cNvSpPr>
            <a:spLocks noGrp="1"/>
          </p:cNvSpPr>
          <p:nvPr/>
        </p:nvSpPr>
        <p:spPr>
          <a:xfrm>
            <a:off x="5715000" y="2333625"/>
            <a:ext cx="5619750" cy="1524000"/>
          </a:xfrm>
          <a:prstGeom prst="roundRect">
            <a:avLst>
              <a:gd name="adj" fmla="val 4375"/>
            </a:avLst>
          </a:prstGeom>
          <a:solidFill>
            <a:srgbClr val="EAF8FC"/>
          </a:solidFill>
          <a:ln w="11906">
            <a:solidFill>
              <a:srgbClr val="0860FE"/>
            </a:solidFill>
          </a:ln>
        </p:spPr>
        <p:txBody>
          <a:bodyPr anchor="ctr">
            <a:noAutofit/>
          </a:bodyPr>
          <a:lstStyle>
            <a:defPPr algn="ctr">
              <a:defRPr sz="2175" b="0">
                <a:solidFill>
                  <a:srgbClr val="07182A"/>
                </a:solidFill>
                <a:latin typeface="CiscoSansTT"/>
                <a:ea typeface="CiscoSansTT"/>
                <a:cs typeface="CiscoSansTT"/>
              </a:defRPr>
            </a:defPPr>
            <a:lvl1pPr algn="ctr">
              <a:defRPr sz="2175" b="0">
                <a:solidFill>
                  <a:srgbClr val="07182A"/>
                </a:solidFill>
                <a:latin typeface="CiscoSansTT"/>
                <a:ea typeface="CiscoSansTT"/>
                <a:cs typeface="CiscoSansTT"/>
              </a:defRPr>
            </a:lvl1pPr>
            <a:lvl2pPr algn="ctr">
              <a:defRPr sz="2175" b="0">
                <a:solidFill>
                  <a:srgbClr val="07182A"/>
                </a:solidFill>
                <a:latin typeface="CiscoSansTT"/>
                <a:ea typeface="CiscoSansTT"/>
                <a:cs typeface="CiscoSansTT"/>
              </a:defRPr>
            </a:lvl2pPr>
            <a:lvl3pPr algn="ctr">
              <a:defRPr sz="2175" b="0">
                <a:solidFill>
                  <a:srgbClr val="07182A"/>
                </a:solidFill>
                <a:latin typeface="CiscoSansTT"/>
                <a:ea typeface="CiscoSansTT"/>
                <a:cs typeface="CiscoSansTT"/>
              </a:defRPr>
            </a:lvl3pPr>
            <a:lvl4pPr algn="ctr">
              <a:defRPr sz="2175" b="0">
                <a:solidFill>
                  <a:srgbClr val="07182A"/>
                </a:solidFill>
                <a:latin typeface="CiscoSansTT"/>
                <a:ea typeface="CiscoSansTT"/>
                <a:cs typeface="CiscoSansTT"/>
              </a:defRPr>
            </a:lvl4pPr>
            <a:lvl5pPr algn="ctr">
              <a:defRPr sz="2175" b="0">
                <a:solidFill>
                  <a:srgbClr val="07182A"/>
                </a:solidFill>
                <a:latin typeface="CiscoSansTT"/>
                <a:ea typeface="CiscoSansTT"/>
                <a:cs typeface="CiscoSansTT"/>
              </a:defRPr>
            </a:lvl5pPr>
            <a:lvl6pPr algn="ctr">
              <a:defRPr sz="2175" b="0">
                <a:solidFill>
                  <a:srgbClr val="07182A"/>
                </a:solidFill>
                <a:latin typeface="CiscoSansTT"/>
                <a:ea typeface="CiscoSansTT"/>
                <a:cs typeface="CiscoSansTT"/>
              </a:defRPr>
            </a:lvl6pPr>
            <a:lvl7pPr algn="ctr">
              <a:defRPr sz="2175" b="0">
                <a:solidFill>
                  <a:srgbClr val="07182A"/>
                </a:solidFill>
                <a:latin typeface="CiscoSansTT"/>
                <a:ea typeface="CiscoSansTT"/>
                <a:cs typeface="CiscoSansTT"/>
              </a:defRPr>
            </a:lvl7pPr>
            <a:lvl8pPr algn="ctr">
              <a:defRPr sz="2175" b="0">
                <a:solidFill>
                  <a:srgbClr val="07182A"/>
                </a:solidFill>
                <a:latin typeface="CiscoSansTT"/>
                <a:ea typeface="CiscoSansTT"/>
                <a:cs typeface="CiscoSansTT"/>
              </a:defRPr>
            </a:lvl8pPr>
            <a:lvl9pPr algn="ctr">
              <a:defRPr sz="2175" b="0">
                <a:solidFill>
                  <a:srgbClr val="07182A"/>
                </a:solidFill>
                <a:latin typeface="CiscoSansTT"/>
                <a:ea typeface="CiscoSansTT"/>
                <a:cs typeface="CiscoSansTT"/>
              </a:defRPr>
            </a:lvl9pPr>
          </a:lstStyle>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Cilium</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Apply routing + policy</a:t>
            </a:r>
          </a:p>
          <a:p>
            <a:pPr algn="ctr">
              <a:defRPr sz="2175" b="0">
                <a:solidFill>
                  <a:srgbClr val="07182A"/>
                </a:solidFill>
                <a:latin typeface="CiscoSansTT"/>
                <a:ea typeface="CiscoSansTT"/>
                <a:cs typeface="CiscoSansTT"/>
              </a:defRPr>
            </a:pPr>
            <a:r>
              <a:rPr sz="2175" b="0">
                <a:solidFill>
                  <a:srgbClr val="07182A"/>
                </a:solidFill>
                <a:latin typeface="CiscoSansTT"/>
                <a:ea typeface="CiscoSansTT"/>
                <a:cs typeface="CiscoSansTT"/>
              </a:rPr>
              <a:t>Forward, redirect, or drop</a:t>
            </a:r>
          </a:p>
        </p:txBody>
      </p:sp>
      <p:cxnSp>
        <p:nvCxnSpPr>
          <p:cNvPr id="12" name="obi-before-cilium">
            <a:extLst>
              <a:ext uri="{FF2B5EF4-FFF2-40B4-BE49-F238E27FC236}">
                <a16:creationId xmlns:a16="http://schemas.microsoft.com/office/drawing/2014/main" id="{92A5194C-4A31-4F04-AA36-5203AD8600C8}"/>
              </a:ext>
            </a:extLst>
          </p:cNvPr>
          <p:cNvCxnSpPr/>
          <p:nvPr/>
        </p:nvCxnSpPr>
        <p:spPr>
          <a:xfrm>
            <a:off x="4000500" y="3095625"/>
            <a:ext cx="1714500" cy="0"/>
          </a:xfrm>
          <a:prstGeom prst="straightConnector1">
            <a:avLst/>
          </a:prstGeom>
          <a:ln w="19050">
            <a:solidFill>
              <a:srgbClr val="FF007F"/>
            </a:solidFill>
            <a:tailEnd type="arrow" w="med" len="med"/>
          </a:ln>
        </p:spPr>
      </p:cxnSp>
      <p:sp>
        <p:nvSpPr>
          <p:cNvPr id="13" name="tc-illustrative-order">
            <a:extLst>
              <a:ext uri="{FF2B5EF4-FFF2-40B4-BE49-F238E27FC236}">
                <a16:creationId xmlns:a16="http://schemas.microsoft.com/office/drawing/2014/main" id="{EA46B996-2ED9-458E-8011-7FA128FE8897}"/>
              </a:ext>
            </a:extLst>
          </p:cNvPr>
          <p:cNvSpPr>
            <a:spLocks noGrp="1"/>
          </p:cNvSpPr>
          <p:nvPr/>
        </p:nvSpPr>
        <p:spPr>
          <a:xfrm>
            <a:off x="857250" y="1581150"/>
            <a:ext cx="10477500" cy="457200"/>
          </a:xfrm>
          <a:prstGeom prst="rect">
            <a:avLst/>
          </a:prstGeom>
          <a:noFill/>
          <a:ln w="0">
            <a:noFill/>
          </a:ln>
        </p:spPr>
        <p:txBody>
          <a:bodyPr anchor="ctr">
            <a:noAutofit/>
          </a:bodyPr>
          <a:lstStyle>
            <a:defPPr algn="l">
              <a:defRPr sz="1950" b="0">
                <a:solidFill>
                  <a:srgbClr val="686B6B"/>
                </a:solidFill>
                <a:latin typeface="CiscoSansTT"/>
                <a:ea typeface="CiscoSansTT"/>
                <a:cs typeface="CiscoSansTT"/>
              </a:defRPr>
            </a:defPPr>
            <a:lvl1pPr algn="l">
              <a:defRPr sz="1950" b="0">
                <a:solidFill>
                  <a:srgbClr val="686B6B"/>
                </a:solidFill>
                <a:latin typeface="CiscoSansTT"/>
                <a:ea typeface="CiscoSansTT"/>
                <a:cs typeface="CiscoSansTT"/>
              </a:defRPr>
            </a:lvl1pPr>
            <a:lvl2pPr algn="l">
              <a:defRPr sz="1950" b="0">
                <a:solidFill>
                  <a:srgbClr val="686B6B"/>
                </a:solidFill>
                <a:latin typeface="CiscoSansTT"/>
                <a:ea typeface="CiscoSansTT"/>
                <a:cs typeface="CiscoSansTT"/>
              </a:defRPr>
            </a:lvl2pPr>
            <a:lvl3pPr algn="l">
              <a:defRPr sz="1950" b="0">
                <a:solidFill>
                  <a:srgbClr val="686B6B"/>
                </a:solidFill>
                <a:latin typeface="CiscoSansTT"/>
                <a:ea typeface="CiscoSansTT"/>
                <a:cs typeface="CiscoSansTT"/>
              </a:defRPr>
            </a:lvl3pPr>
            <a:lvl4pPr algn="l">
              <a:defRPr sz="1950" b="0">
                <a:solidFill>
                  <a:srgbClr val="686B6B"/>
                </a:solidFill>
                <a:latin typeface="CiscoSansTT"/>
                <a:ea typeface="CiscoSansTT"/>
                <a:cs typeface="CiscoSansTT"/>
              </a:defRPr>
            </a:lvl4pPr>
            <a:lvl5pPr algn="l">
              <a:defRPr sz="1950" b="0">
                <a:solidFill>
                  <a:srgbClr val="686B6B"/>
                </a:solidFill>
                <a:latin typeface="CiscoSansTT"/>
                <a:ea typeface="CiscoSansTT"/>
                <a:cs typeface="CiscoSansTT"/>
              </a:defRPr>
            </a:lvl5pPr>
            <a:lvl6pPr algn="l">
              <a:defRPr sz="1950" b="0">
                <a:solidFill>
                  <a:srgbClr val="686B6B"/>
                </a:solidFill>
                <a:latin typeface="CiscoSansTT"/>
                <a:ea typeface="CiscoSansTT"/>
                <a:cs typeface="CiscoSansTT"/>
              </a:defRPr>
            </a:lvl6pPr>
            <a:lvl7pPr algn="l">
              <a:defRPr sz="1950" b="0">
                <a:solidFill>
                  <a:srgbClr val="686B6B"/>
                </a:solidFill>
                <a:latin typeface="CiscoSansTT"/>
                <a:ea typeface="CiscoSansTT"/>
                <a:cs typeface="CiscoSansTT"/>
              </a:defRPr>
            </a:lvl7pPr>
            <a:lvl8pPr algn="l">
              <a:defRPr sz="1950" b="0">
                <a:solidFill>
                  <a:srgbClr val="686B6B"/>
                </a:solidFill>
                <a:latin typeface="CiscoSansTT"/>
                <a:ea typeface="CiscoSansTT"/>
                <a:cs typeface="CiscoSansTT"/>
              </a:defRPr>
            </a:lvl8pPr>
            <a:lvl9pPr algn="l">
              <a:defRPr sz="1950" b="0">
                <a:solidFill>
                  <a:srgbClr val="686B6B"/>
                </a:solidFill>
                <a:latin typeface="CiscoSansTT"/>
                <a:ea typeface="CiscoSansTT"/>
                <a:cs typeface="CiscoSansTT"/>
              </a:defRPr>
            </a:lvl9pPr>
          </a:lstStyle>
          <a:p>
            <a:pPr algn="l">
              <a:defRPr sz="1950" b="0">
                <a:solidFill>
                  <a:srgbClr val="686B6B"/>
                </a:solidFill>
                <a:latin typeface="CiscoSansTT"/>
                <a:ea typeface="CiscoSansTT"/>
                <a:cs typeface="CiscoSansTT"/>
              </a:defRPr>
            </a:pPr>
            <a:r>
              <a:rPr sz="1950" b="0">
                <a:solidFill>
                  <a:srgbClr val="686B6B"/>
                </a:solidFill>
                <a:latin typeface="CiscoSansTT"/>
                <a:ea typeface="CiscoSansTT"/>
                <a:cs typeface="CiscoSansTT"/>
              </a:rPr>
              <a:t>Illustrative order at a shared TC hook</a:t>
            </a:r>
          </a:p>
        </p:txBody>
      </p:sp>
    </p:spTree>
    <p:extLst>
      <p:ext uri="{BB962C8B-B14F-4D97-AF65-F5344CB8AC3E}">
        <p14:creationId xmlns:p14="http://schemas.microsoft.com/office/powerpoint/2010/main" val="1092769775"/>
      </p:ext>
    </p:extLst>
  </p:cSld>
  <p:clrMapOvr>
    <a:masterClrMapping/>
  </p:clrMapOvr>
  <p:transition advClick="1"/>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Attachment order</a:t>
            </a:r>
          </a:p>
        </p:txBody>
      </p:sp>
    </p:spTree>
    <p:extLst>
      <p:ext uri="{BB962C8B-B14F-4D97-AF65-F5344CB8AC3E}">
        <p14:creationId xmlns:p14="http://schemas.microsoft.com/office/powerpoint/2010/main" val="1380396814"/>
      </p:ext>
    </p:extLst>
  </p:cSld>
  <p:clrMapOvr>
    <a:masterClrMapping/>
  </p:clrMapOvr>
  <p:transition advClick="1"/>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slide-title">
            <a:extLst>
              <a:ext uri="{FF2B5EF4-FFF2-40B4-BE49-F238E27FC236}">
                <a16:creationId xmlns:a16="http://schemas.microsoft.com/office/drawing/2014/main" id="{B8A3B1EA-297C-45CD-AE4B-023352055ED5}"/>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TCX controls the order for both agents</a:t>
            </a:r>
          </a:p>
        </p:txBody>
      </p:sp>
      <p:sp>
        <p:nvSpPr>
          <p:cNvPr id="2" name="slide-subtitle">
            <a:extLst>
              <a:ext uri="{FF2B5EF4-FFF2-40B4-BE49-F238E27FC236}">
                <a16:creationId xmlns:a16="http://schemas.microsoft.com/office/drawing/2014/main" id="{8179063A-DDEB-4CBB-997A-D5FC68A8A3FF}"/>
              </a:ext>
            </a:extLst>
          </p:cNvPr>
          <p:cNvSpPr>
            <a:spLocks noGrp="1"/>
          </p:cNvSpPr>
          <p:nvPr/>
        </p:nvSpPr>
        <p:spPr>
          <a:xfrm>
            <a:off x="552450" y="1028700"/>
            <a:ext cx="10668000" cy="45720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In this demo, OBI runs before Cilium at the shared TC hook.</a:t>
            </a:r>
          </a:p>
        </p:txBody>
      </p:sp>
      <p:sp>
        <p:nvSpPr>
          <p:cNvPr id="3" name="Rounded Rectangle 2">
            <a:extLst>
              <a:ext uri="{FF2B5EF4-FFF2-40B4-BE49-F238E27FC236}">
                <a16:creationId xmlns:a16="http://schemas.microsoft.com/office/drawing/2014/main" id="{02145BF7-101A-4CDA-A92E-4AF9A6F59DBF}"/>
              </a:ext>
            </a:extLst>
          </p:cNvPr>
          <p:cNvSpPr>
            <a:spLocks noGrp="1"/>
          </p:cNvSpPr>
          <p:nvPr/>
        </p:nvSpPr>
        <p:spPr>
          <a:xfrm>
            <a:off x="819150" y="2266950"/>
            <a:ext cx="1143000" cy="381000"/>
          </a:xfrm>
          <a:prstGeom prst="roundRect">
            <a:avLst>
              <a:gd name="adj" fmla="val 20000"/>
            </a:avLst>
          </a:prstGeom>
          <a:solidFill>
            <a:srgbClr val="FF007F"/>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FIRST</a:t>
            </a:r>
          </a:p>
        </p:txBody>
      </p:sp>
      <p:sp>
        <p:nvSpPr>
          <p:cNvPr id="4" name="Rounded Rectangle 3">
            <a:extLst>
              <a:ext uri="{FF2B5EF4-FFF2-40B4-BE49-F238E27FC236}">
                <a16:creationId xmlns:a16="http://schemas.microsoft.com/office/drawing/2014/main" id="{9607A6B3-920E-4336-8F50-FE14D1F316A7}"/>
              </a:ext>
            </a:extLst>
          </p:cNvPr>
          <p:cNvSpPr>
            <a:spLocks noGrp="1"/>
          </p:cNvSpPr>
          <p:nvPr/>
        </p:nvSpPr>
        <p:spPr>
          <a:xfrm>
            <a:off x="2381250" y="1952625"/>
            <a:ext cx="2571750" cy="1381125"/>
          </a:xfrm>
          <a:prstGeom prst="roundRect">
            <a:avLst>
              <a:gd name="adj" fmla="val 5517"/>
            </a:avLst>
          </a:prstGeom>
          <a:solidFill>
            <a:srgbClr val="F4EAF4"/>
          </a:solidFill>
          <a:ln w="14288">
            <a:solidFill>
              <a:srgbClr val="FF007F"/>
            </a:solidFill>
          </a:ln>
        </p:spPr>
        <p:txBody>
          <a:bodyPr anchor="ctr">
            <a:noAutofit/>
          </a:bodyPr>
          <a:lstStyle>
            <a:defPPr algn="ctr">
              <a:defRPr sz="2100" b="1">
                <a:solidFill>
                  <a:srgbClr val="07182A"/>
                </a:solidFill>
                <a:latin typeface="CiscoSansTT Medium"/>
                <a:ea typeface="CiscoSansTT Medium"/>
                <a:cs typeface="CiscoSansTT Medium"/>
              </a:defRPr>
            </a:defPPr>
            <a:lvl1pPr algn="ctr">
              <a:defRPr sz="2100" b="1">
                <a:solidFill>
                  <a:srgbClr val="07182A"/>
                </a:solidFill>
                <a:latin typeface="CiscoSansTT Medium"/>
                <a:ea typeface="CiscoSansTT Medium"/>
                <a:cs typeface="CiscoSansTT Medium"/>
              </a:defRPr>
            </a:lvl1pPr>
            <a:lvl2pPr algn="ctr">
              <a:defRPr sz="2100" b="1">
                <a:solidFill>
                  <a:srgbClr val="07182A"/>
                </a:solidFill>
                <a:latin typeface="CiscoSansTT Medium"/>
                <a:ea typeface="CiscoSansTT Medium"/>
                <a:cs typeface="CiscoSansTT Medium"/>
              </a:defRPr>
            </a:lvl2pPr>
            <a:lvl3pPr algn="ctr">
              <a:defRPr sz="2100" b="1">
                <a:solidFill>
                  <a:srgbClr val="07182A"/>
                </a:solidFill>
                <a:latin typeface="CiscoSansTT Medium"/>
                <a:ea typeface="CiscoSansTT Medium"/>
                <a:cs typeface="CiscoSansTT Medium"/>
              </a:defRPr>
            </a:lvl3pPr>
            <a:lvl4pPr algn="ctr">
              <a:defRPr sz="2100" b="1">
                <a:solidFill>
                  <a:srgbClr val="07182A"/>
                </a:solidFill>
                <a:latin typeface="CiscoSansTT Medium"/>
                <a:ea typeface="CiscoSansTT Medium"/>
                <a:cs typeface="CiscoSansTT Medium"/>
              </a:defRPr>
            </a:lvl4pPr>
            <a:lvl5pPr algn="ctr">
              <a:defRPr sz="2100" b="1">
                <a:solidFill>
                  <a:srgbClr val="07182A"/>
                </a:solidFill>
                <a:latin typeface="CiscoSansTT Medium"/>
                <a:ea typeface="CiscoSansTT Medium"/>
                <a:cs typeface="CiscoSansTT Medium"/>
              </a:defRPr>
            </a:lvl5pPr>
            <a:lvl6pPr algn="ctr">
              <a:defRPr sz="2100" b="1">
                <a:solidFill>
                  <a:srgbClr val="07182A"/>
                </a:solidFill>
                <a:latin typeface="CiscoSansTT Medium"/>
                <a:ea typeface="CiscoSansTT Medium"/>
                <a:cs typeface="CiscoSansTT Medium"/>
              </a:defRPr>
            </a:lvl6pPr>
            <a:lvl7pPr algn="ctr">
              <a:defRPr sz="2100" b="1">
                <a:solidFill>
                  <a:srgbClr val="07182A"/>
                </a:solidFill>
                <a:latin typeface="CiscoSansTT Medium"/>
                <a:ea typeface="CiscoSansTT Medium"/>
                <a:cs typeface="CiscoSansTT Medium"/>
              </a:defRPr>
            </a:lvl7pPr>
            <a:lvl8pPr algn="ctr">
              <a:defRPr sz="2100" b="1">
                <a:solidFill>
                  <a:srgbClr val="07182A"/>
                </a:solidFill>
                <a:latin typeface="CiscoSansTT Medium"/>
                <a:ea typeface="CiscoSansTT Medium"/>
                <a:cs typeface="CiscoSansTT Medium"/>
              </a:defRPr>
            </a:lvl8pPr>
            <a:lvl9pPr algn="ctr">
              <a:defRPr sz="2100" b="1">
                <a:solidFill>
                  <a:srgbClr val="07182A"/>
                </a:solidFill>
                <a:latin typeface="CiscoSansTT Medium"/>
                <a:ea typeface="CiscoSansTT Medium"/>
                <a:cs typeface="CiscoSansTT Medium"/>
              </a:defRPr>
            </a:lvl9pPr>
          </a:lstStyle>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a:t>
            </a:r>
          </a:p>
          <a:p>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Observe the packet</a:t>
            </a:r>
          </a:p>
        </p:txBody>
      </p:sp>
      <p:sp>
        <p:nvSpPr>
          <p:cNvPr id="5" name="Rounded Rectangle 4">
            <a:extLst>
              <a:ext uri="{FF2B5EF4-FFF2-40B4-BE49-F238E27FC236}">
                <a16:creationId xmlns:a16="http://schemas.microsoft.com/office/drawing/2014/main" id="{CD71B99A-9619-4677-B426-4010E78FE632}"/>
              </a:ext>
            </a:extLst>
          </p:cNvPr>
          <p:cNvSpPr>
            <a:spLocks noGrp="1"/>
          </p:cNvSpPr>
          <p:nvPr/>
        </p:nvSpPr>
        <p:spPr>
          <a:xfrm>
            <a:off x="7239000" y="1952625"/>
            <a:ext cx="2571750" cy="1381125"/>
          </a:xfrm>
          <a:prstGeom prst="roundRect">
            <a:avLst>
              <a:gd name="adj" fmla="val 5517"/>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Cilium</a:t>
            </a:r>
          </a:p>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Apply networking + policy</a:t>
            </a:r>
          </a:p>
        </p:txBody>
      </p:sp>
      <p:sp>
        <p:nvSpPr>
          <p:cNvPr id="6" name="Rounded Rectangle 5">
            <a:extLst>
              <a:ext uri="{FF2B5EF4-FFF2-40B4-BE49-F238E27FC236}">
                <a16:creationId xmlns:a16="http://schemas.microsoft.com/office/drawing/2014/main" id="{A25EFA0D-21C9-45F7-A6DB-22113BE509FF}"/>
              </a:ext>
            </a:extLst>
          </p:cNvPr>
          <p:cNvSpPr>
            <a:spLocks noGrp="1"/>
          </p:cNvSpPr>
          <p:nvPr/>
        </p:nvSpPr>
        <p:spPr>
          <a:xfrm>
            <a:off x="10239375" y="2266950"/>
            <a:ext cx="1143000" cy="381000"/>
          </a:xfrm>
          <a:prstGeom prst="roundRect">
            <a:avLst>
              <a:gd name="adj" fmla="val 20000"/>
            </a:avLst>
          </a:prstGeom>
          <a:solidFill>
            <a:srgbClr val="0860FE"/>
          </a:solidFill>
          <a:ln w="0">
            <a:noFill/>
          </a:ln>
        </p:spPr>
        <p:txBody>
          <a:bodyPr anchor="ctr">
            <a:noAutofit/>
          </a:bodyPr>
          <a:lstStyle>
            <a:defPPr algn="ctr">
              <a:defRPr sz="1500" b="1">
                <a:solidFill>
                  <a:srgbClr val="FFFFFF"/>
                </a:solidFill>
                <a:latin typeface="CiscoSansTT Medium"/>
                <a:ea typeface="CiscoSansTT Medium"/>
                <a:cs typeface="CiscoSansTT Medium"/>
              </a:defRPr>
            </a:defPPr>
            <a:lvl1pPr algn="ctr">
              <a:defRPr sz="1500" b="1">
                <a:solidFill>
                  <a:srgbClr val="FFFFFF"/>
                </a:solidFill>
                <a:latin typeface="CiscoSansTT Medium"/>
                <a:ea typeface="CiscoSansTT Medium"/>
                <a:cs typeface="CiscoSansTT Medium"/>
              </a:defRPr>
            </a:lvl1pPr>
            <a:lvl2pPr algn="ctr">
              <a:defRPr sz="1500" b="1">
                <a:solidFill>
                  <a:srgbClr val="FFFFFF"/>
                </a:solidFill>
                <a:latin typeface="CiscoSansTT Medium"/>
                <a:ea typeface="CiscoSansTT Medium"/>
                <a:cs typeface="CiscoSansTT Medium"/>
              </a:defRPr>
            </a:lvl2pPr>
            <a:lvl3pPr algn="ctr">
              <a:defRPr sz="1500" b="1">
                <a:solidFill>
                  <a:srgbClr val="FFFFFF"/>
                </a:solidFill>
                <a:latin typeface="CiscoSansTT Medium"/>
                <a:ea typeface="CiscoSansTT Medium"/>
                <a:cs typeface="CiscoSansTT Medium"/>
              </a:defRPr>
            </a:lvl3pPr>
            <a:lvl4pPr algn="ctr">
              <a:defRPr sz="1500" b="1">
                <a:solidFill>
                  <a:srgbClr val="FFFFFF"/>
                </a:solidFill>
                <a:latin typeface="CiscoSansTT Medium"/>
                <a:ea typeface="CiscoSansTT Medium"/>
                <a:cs typeface="CiscoSansTT Medium"/>
              </a:defRPr>
            </a:lvl4pPr>
            <a:lvl5pPr algn="ctr">
              <a:defRPr sz="1500" b="1">
                <a:solidFill>
                  <a:srgbClr val="FFFFFF"/>
                </a:solidFill>
                <a:latin typeface="CiscoSansTT Medium"/>
                <a:ea typeface="CiscoSansTT Medium"/>
                <a:cs typeface="CiscoSansTT Medium"/>
              </a:defRPr>
            </a:lvl5pPr>
            <a:lvl6pPr algn="ctr">
              <a:defRPr sz="1500" b="1">
                <a:solidFill>
                  <a:srgbClr val="FFFFFF"/>
                </a:solidFill>
                <a:latin typeface="CiscoSansTT Medium"/>
                <a:ea typeface="CiscoSansTT Medium"/>
                <a:cs typeface="CiscoSansTT Medium"/>
              </a:defRPr>
            </a:lvl6pPr>
            <a:lvl7pPr algn="ctr">
              <a:defRPr sz="1500" b="1">
                <a:solidFill>
                  <a:srgbClr val="FFFFFF"/>
                </a:solidFill>
                <a:latin typeface="CiscoSansTT Medium"/>
                <a:ea typeface="CiscoSansTT Medium"/>
                <a:cs typeface="CiscoSansTT Medium"/>
              </a:defRPr>
            </a:lvl7pPr>
            <a:lvl8pPr algn="ctr">
              <a:defRPr sz="1500" b="1">
                <a:solidFill>
                  <a:srgbClr val="FFFFFF"/>
                </a:solidFill>
                <a:latin typeface="CiscoSansTT Medium"/>
                <a:ea typeface="CiscoSansTT Medium"/>
                <a:cs typeface="CiscoSansTT Medium"/>
              </a:defRPr>
            </a:lvl8pPr>
            <a:lvl9pPr algn="ctr">
              <a:defRPr sz="1500" b="1">
                <a:solidFill>
                  <a:srgbClr val="FFFFFF"/>
                </a:solidFill>
                <a:latin typeface="CiscoSansTT Medium"/>
                <a:ea typeface="CiscoSansTT Medium"/>
                <a:cs typeface="CiscoSansTT Medium"/>
              </a:defRPr>
            </a:lvl9pPr>
          </a:lstStyle>
          <a:p>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LAST</a:t>
            </a:r>
          </a:p>
        </p:txBody>
      </p:sp>
      <p:cxnSp>
        <p:nvCxnSpPr>
          <p:cNvPr id="112" name="Straight Arrow Connector 20">
            <a:extLst>
              <a:ext uri="{FF2B5EF4-FFF2-40B4-BE49-F238E27FC236}">
                <a16:creationId xmlns:a16="http://schemas.microsoft.com/office/drawing/2014/main" id="{26B767C4-2ACD-40AD-B092-E0FD08B75B50}"/>
              </a:ext>
            </a:extLst>
          </p:cNvPr>
          <p:cNvCxnSpPr>
            <a:stCxn id="4" idx="3"/>
            <a:endCxn id="5" idx="1"/>
          </p:cNvCxnSpPr>
          <p:nvPr/>
        </p:nvCxnSpPr>
        <p:spPr>
          <a:xfrm>
            <a:off x="4953000" y="2643188"/>
            <a:ext cx="2286000" cy="0"/>
          </a:xfrm>
          <a:prstGeom prst="straightConnector1">
            <a:avLst/>
          </a:prstGeom>
          <a:ln w="38100">
            <a:solidFill>
              <a:srgbClr val="07182A"/>
            </a:solidFill>
            <a:prstDash val="solid"/>
            <a:tailEnd type="arrow" w="med" len="med"/>
          </a:ln>
        </p:spPr>
      </p:cxnSp>
      <p:sp>
        <p:nvSpPr>
          <p:cNvPr id="8" name="Rectangle 7">
            <a:extLst>
              <a:ext uri="{FF2B5EF4-FFF2-40B4-BE49-F238E27FC236}">
                <a16:creationId xmlns:a16="http://schemas.microsoft.com/office/drawing/2014/main" id="{81723338-AEC6-46A8-A6E9-DB0E8AC17B5D}"/>
              </a:ext>
            </a:extLst>
          </p:cNvPr>
          <p:cNvSpPr>
            <a:spLocks noGrp="1"/>
          </p:cNvSpPr>
          <p:nvPr/>
        </p:nvSpPr>
        <p:spPr>
          <a:xfrm>
            <a:off x="2381250" y="3848100"/>
            <a:ext cx="7429500" cy="19050"/>
          </a:xfrm>
          <a:prstGeom prst="rect">
            <a:avLst/>
          </a:prstGeom>
          <a:solidFill>
            <a:srgbClr val="D6D6D6"/>
          </a:solidFill>
          <a:ln w="0">
            <a:noFill/>
          </a:ln>
        </p:spPr>
        <p:txBody>
          <a:bodyPr/>
          <a:lstStyle/>
          <a:p>
            <a:endParaRPr/>
          </a:p>
        </p:txBody>
      </p:sp>
      <p:sp>
        <p:nvSpPr>
          <p:cNvPr id="9" name="Rectangle 8">
            <a:extLst>
              <a:ext uri="{FF2B5EF4-FFF2-40B4-BE49-F238E27FC236}">
                <a16:creationId xmlns:a16="http://schemas.microsoft.com/office/drawing/2014/main" id="{0D7691E9-DC2A-4F17-918F-76C126E8BF88}"/>
              </a:ext>
            </a:extLst>
          </p:cNvPr>
          <p:cNvSpPr>
            <a:spLocks noGrp="1"/>
          </p:cNvSpPr>
          <p:nvPr/>
        </p:nvSpPr>
        <p:spPr>
          <a:xfrm>
            <a:off x="1905000" y="4286250"/>
            <a:ext cx="95250" cy="95250"/>
          </a:xfrm>
          <a:prstGeom prst="rect">
            <a:avLst/>
          </a:prstGeom>
          <a:solidFill>
            <a:srgbClr val="02C8FF"/>
          </a:solidFill>
          <a:ln w="0">
            <a:noFill/>
          </a:ln>
        </p:spPr>
        <p:txBody>
          <a:bodyPr/>
          <a:lstStyle/>
          <a:p>
            <a:endParaRPr/>
          </a:p>
        </p:txBody>
      </p:sp>
      <p:sp>
        <p:nvSpPr>
          <p:cNvPr id="10" name="Rectangle 9">
            <a:extLst>
              <a:ext uri="{FF2B5EF4-FFF2-40B4-BE49-F238E27FC236}">
                <a16:creationId xmlns:a16="http://schemas.microsoft.com/office/drawing/2014/main" id="{0267C6E7-9B37-4D0C-896A-F682D66023B1}"/>
              </a:ext>
            </a:extLst>
          </p:cNvPr>
          <p:cNvSpPr>
            <a:spLocks noGrp="1"/>
          </p:cNvSpPr>
          <p:nvPr/>
        </p:nvSpPr>
        <p:spPr>
          <a:xfrm>
            <a:off x="2171700" y="41910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TCX keeps both programs in one ordered list.</a:t>
            </a:r>
          </a:p>
        </p:txBody>
      </p:sp>
      <p:sp>
        <p:nvSpPr>
          <p:cNvPr id="11" name="Rectangle 10">
            <a:extLst>
              <a:ext uri="{FF2B5EF4-FFF2-40B4-BE49-F238E27FC236}">
                <a16:creationId xmlns:a16="http://schemas.microsoft.com/office/drawing/2014/main" id="{C33D4382-6522-4B0D-84F2-1F90F244A5B8}"/>
              </a:ext>
            </a:extLst>
          </p:cNvPr>
          <p:cNvSpPr>
            <a:spLocks noGrp="1"/>
          </p:cNvSpPr>
          <p:nvPr/>
        </p:nvSpPr>
        <p:spPr>
          <a:xfrm>
            <a:off x="1905000" y="4838700"/>
            <a:ext cx="95250" cy="95250"/>
          </a:xfrm>
          <a:prstGeom prst="rect">
            <a:avLst/>
          </a:prstGeom>
          <a:solidFill>
            <a:srgbClr val="02C8FF"/>
          </a:solidFill>
          <a:ln w="0">
            <a:noFill/>
          </a:ln>
        </p:spPr>
        <p:txBody>
          <a:bodyPr/>
          <a:lstStyle/>
          <a:p>
            <a:endParaRPr/>
          </a:p>
        </p:txBody>
      </p:sp>
      <p:sp>
        <p:nvSpPr>
          <p:cNvPr id="12" name="Rectangle 11">
            <a:extLst>
              <a:ext uri="{FF2B5EF4-FFF2-40B4-BE49-F238E27FC236}">
                <a16:creationId xmlns:a16="http://schemas.microsoft.com/office/drawing/2014/main" id="{34AFD7D3-DBBC-467B-AF67-D1E09884FC95}"/>
              </a:ext>
            </a:extLst>
          </p:cNvPr>
          <p:cNvSpPr>
            <a:spLocks noGrp="1"/>
          </p:cNvSpPr>
          <p:nvPr/>
        </p:nvSpPr>
        <p:spPr>
          <a:xfrm>
            <a:off x="2171700" y="474345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Confirm TCX in the agent logs on the running node.</a:t>
            </a:r>
          </a:p>
        </p:txBody>
      </p:sp>
      <p:sp>
        <p:nvSpPr>
          <p:cNvPr id="13" name="Rectangle 12">
            <a:extLst>
              <a:ext uri="{FF2B5EF4-FFF2-40B4-BE49-F238E27FC236}">
                <a16:creationId xmlns:a16="http://schemas.microsoft.com/office/drawing/2014/main" id="{ED5168D3-A4AE-4C03-BD57-4769C0F69AAF}"/>
              </a:ext>
            </a:extLst>
          </p:cNvPr>
          <p:cNvSpPr>
            <a:spLocks noGrp="1"/>
          </p:cNvSpPr>
          <p:nvPr/>
        </p:nvSpPr>
        <p:spPr>
          <a:xfrm>
            <a:off x="1905000" y="5391150"/>
            <a:ext cx="95250" cy="95250"/>
          </a:xfrm>
          <a:prstGeom prst="rect">
            <a:avLst/>
          </a:prstGeom>
          <a:solidFill>
            <a:srgbClr val="FF9000"/>
          </a:solidFill>
          <a:ln w="0">
            <a:noFill/>
          </a:ln>
        </p:spPr>
        <p:txBody>
          <a:bodyPr/>
          <a:lstStyle/>
          <a:p>
            <a:endParaRPr/>
          </a:p>
        </p:txBody>
      </p:sp>
      <p:sp>
        <p:nvSpPr>
          <p:cNvPr id="14" name="Rectangle 13">
            <a:extLst>
              <a:ext uri="{FF2B5EF4-FFF2-40B4-BE49-F238E27FC236}">
                <a16:creationId xmlns:a16="http://schemas.microsoft.com/office/drawing/2014/main" id="{418E2667-0F13-4934-813C-7529483B1954}"/>
              </a:ext>
            </a:extLst>
          </p:cNvPr>
          <p:cNvSpPr>
            <a:spLocks noGrp="1"/>
          </p:cNvSpPr>
          <p:nvPr/>
        </p:nvSpPr>
        <p:spPr>
          <a:xfrm>
            <a:off x="2171700" y="5295900"/>
            <a:ext cx="8305800" cy="514350"/>
          </a:xfrm>
          <a:prstGeom prst="rect">
            <a:avLst/>
          </a:prstGeom>
          <a:noFill/>
          <a:ln w="0">
            <a:noFill/>
          </a:ln>
        </p:spPr>
        <p:txBody>
          <a:bodyPr anchor="ctr">
            <a:noAutofit/>
          </a:bodyPr>
          <a:lstStyle>
            <a:defPPr algn="l">
              <a:defRPr sz="1875" b="0">
                <a:solidFill>
                  <a:srgbClr val="07182A"/>
                </a:solidFill>
                <a:latin typeface="CiscoSansTT"/>
                <a:ea typeface="CiscoSansTT"/>
                <a:cs typeface="CiscoSansTT"/>
              </a:defRPr>
            </a:defPPr>
            <a:lvl1pPr algn="l">
              <a:defRPr sz="1875" b="0">
                <a:solidFill>
                  <a:srgbClr val="07182A"/>
                </a:solidFill>
                <a:latin typeface="CiscoSansTT"/>
                <a:ea typeface="CiscoSansTT"/>
                <a:cs typeface="CiscoSansTT"/>
              </a:defRPr>
            </a:lvl1pPr>
            <a:lvl2pPr algn="l">
              <a:defRPr sz="1875" b="0">
                <a:solidFill>
                  <a:srgbClr val="07182A"/>
                </a:solidFill>
                <a:latin typeface="CiscoSansTT"/>
                <a:ea typeface="CiscoSansTT"/>
                <a:cs typeface="CiscoSansTT"/>
              </a:defRPr>
            </a:lvl2pPr>
            <a:lvl3pPr algn="l">
              <a:defRPr sz="1875" b="0">
                <a:solidFill>
                  <a:srgbClr val="07182A"/>
                </a:solidFill>
                <a:latin typeface="CiscoSansTT"/>
                <a:ea typeface="CiscoSansTT"/>
                <a:cs typeface="CiscoSansTT"/>
              </a:defRPr>
            </a:lvl3pPr>
            <a:lvl4pPr algn="l">
              <a:defRPr sz="1875" b="0">
                <a:solidFill>
                  <a:srgbClr val="07182A"/>
                </a:solidFill>
                <a:latin typeface="CiscoSansTT"/>
                <a:ea typeface="CiscoSansTT"/>
                <a:cs typeface="CiscoSansTT"/>
              </a:defRPr>
            </a:lvl4pPr>
            <a:lvl5pPr algn="l">
              <a:defRPr sz="1875" b="0">
                <a:solidFill>
                  <a:srgbClr val="07182A"/>
                </a:solidFill>
                <a:latin typeface="CiscoSansTT"/>
                <a:ea typeface="CiscoSansTT"/>
                <a:cs typeface="CiscoSansTT"/>
              </a:defRPr>
            </a:lvl5pPr>
            <a:lvl6pPr algn="l">
              <a:defRPr sz="1875" b="0">
                <a:solidFill>
                  <a:srgbClr val="07182A"/>
                </a:solidFill>
                <a:latin typeface="CiscoSansTT"/>
                <a:ea typeface="CiscoSansTT"/>
                <a:cs typeface="CiscoSansTT"/>
              </a:defRPr>
            </a:lvl6pPr>
            <a:lvl7pPr algn="l">
              <a:defRPr sz="1875" b="0">
                <a:solidFill>
                  <a:srgbClr val="07182A"/>
                </a:solidFill>
                <a:latin typeface="CiscoSansTT"/>
                <a:ea typeface="CiscoSansTT"/>
                <a:cs typeface="CiscoSansTT"/>
              </a:defRPr>
            </a:lvl7pPr>
            <a:lvl8pPr algn="l">
              <a:defRPr sz="1875" b="0">
                <a:solidFill>
                  <a:srgbClr val="07182A"/>
                </a:solidFill>
                <a:latin typeface="CiscoSansTT"/>
                <a:ea typeface="CiscoSansTT"/>
                <a:cs typeface="CiscoSansTT"/>
              </a:defRPr>
            </a:lvl8pPr>
            <a:lvl9pPr algn="l">
              <a:defRPr sz="1875" b="0">
                <a:solidFill>
                  <a:srgbClr val="07182A"/>
                </a:solidFill>
                <a:latin typeface="CiscoSansTT"/>
                <a:ea typeface="CiscoSansTT"/>
                <a:cs typeface="CiscoSansTT"/>
              </a:defRPr>
            </a:lvl9pPr>
          </a:lstStyle>
          <a:p>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Test the request and check that its telemetry arrives.</a:t>
            </a:r>
          </a:p>
        </p:txBody>
      </p:sp>
    </p:spTree>
    <p:extLst>
      <p:ext uri="{BB962C8B-B14F-4D97-AF65-F5344CB8AC3E}">
        <p14:creationId xmlns:p14="http://schemas.microsoft.com/office/powerpoint/2010/main" val="726721648"/>
      </p:ext>
    </p:extLst>
  </p:cSld>
  <p:clrMapOvr>
    <a:masterClrMapping/>
  </p:clrMapOvr>
  <p:transition advClick="1"/>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7997A2C8-CA2D-4412-9BCD-C55128D0BA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Legacy TC needs a priority contract</a:t>
            </a:r>
          </a:p>
        </p:txBody>
      </p:sp>
      <p:sp>
        <p:nvSpPr>
          <p:cNvPr id="2" name="slide-subtitle">
            <a:extLst>
              <a:ext uri="{FF2B5EF4-FFF2-40B4-BE49-F238E27FC236}">
                <a16:creationId xmlns:a16="http://schemas.microsoft.com/office/drawing/2014/main" id="{12E78F13-D05E-4B31-8F53-5C07894486A3}"/>
              </a:ext>
            </a:extLst>
          </p:cNvPr>
          <p:cNvSpPr>
            <a:spLocks noGrp="1"/>
          </p:cNvSpPr>
          <p:nvPr/>
        </p:nvSpPr>
        <p:spPr>
          <a:xfrm>
            <a:off x="552450" y="1028700"/>
            <a:ext cx="10668000" cy="45720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Lower numeric priority runs first.</a:t>
            </a:r>
          </a:p>
        </p:txBody>
      </p:sp>
      <p:sp>
        <p:nvSpPr>
          <p:cNvPr id="3" name="Rounded Rectangle 2">
            <a:extLst>
              <a:ext uri="{FF2B5EF4-FFF2-40B4-BE49-F238E27FC236}">
                <a16:creationId xmlns:a16="http://schemas.microsoft.com/office/drawing/2014/main" id="{F4340365-7A62-46A0-B861-397C798F1ECA}"/>
              </a:ext>
            </a:extLst>
          </p:cNvPr>
          <p:cNvSpPr>
            <a:spLocks noGrp="1"/>
          </p:cNvSpPr>
          <p:nvPr/>
        </p:nvSpPr>
        <p:spPr>
          <a:xfrm>
            <a:off x="1714500" y="2095500"/>
            <a:ext cx="2857500" cy="1428750"/>
          </a:xfrm>
          <a:prstGeom prst="roundRect">
            <a:avLst>
              <a:gd name="adj" fmla="val 5333"/>
            </a:avLst>
          </a:prstGeom>
          <a:solidFill>
            <a:srgbClr val="F4EAF4"/>
          </a:solidFill>
          <a:ln w="14288">
            <a:solidFill>
              <a:srgbClr val="FF007F"/>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1</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a:t>
            </a:r>
          </a:p>
        </p:txBody>
      </p:sp>
      <p:sp>
        <p:nvSpPr>
          <p:cNvPr id="4" name="Rounded Rectangle 3">
            <a:extLst>
              <a:ext uri="{FF2B5EF4-FFF2-40B4-BE49-F238E27FC236}">
                <a16:creationId xmlns:a16="http://schemas.microsoft.com/office/drawing/2014/main" id="{C1DD56C0-7A7F-457E-A82A-D0E7175F4478}"/>
              </a:ext>
            </a:extLst>
          </p:cNvPr>
          <p:cNvSpPr>
            <a:spLocks noGrp="1"/>
          </p:cNvSpPr>
          <p:nvPr/>
        </p:nvSpPr>
        <p:spPr>
          <a:xfrm>
            <a:off x="7620000" y="2095500"/>
            <a:ext cx="2857500" cy="1428750"/>
          </a:xfrm>
          <a:prstGeom prst="roundRect">
            <a:avLst>
              <a:gd name="adj" fmla="val 5333"/>
            </a:avLst>
          </a:prstGeom>
          <a:solidFill>
            <a:srgbClr val="EAF7FC"/>
          </a:solidFill>
          <a:ln w="14288">
            <a:solidFill>
              <a:srgbClr val="0860FE"/>
            </a:solidFill>
          </a:ln>
        </p:spPr>
        <p:txBody>
          <a:bodyPr anchor="ctr">
            <a:normAutofit/>
          </a:bodyPr>
          <a:lstStyle/>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2+</a:t>
            </a:r>
          </a:p>
          <a:p>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Cilium</a:t>
            </a:r>
          </a:p>
        </p:txBody>
      </p:sp>
      <p:cxnSp>
        <p:nvCxnSpPr>
          <p:cNvPr id="81" name="Straight Arrow Connector 13"/>
          <p:cNvCxnSpPr>
            <a:stCxn id="3" idx="3"/>
            <a:endCxn id="4" idx="1"/>
          </p:cNvCxnSpPr>
          <p:nvPr/>
        </p:nvCxnSpPr>
        <p:spPr>
          <a:xfrm>
            <a:off x="4572000" y="2809875"/>
            <a:ext cx="3048000" cy="0"/>
          </a:xfrm>
          <a:prstGeom prst="straightConnector1">
            <a:avLst/>
          </a:prstGeom>
          <a:ln w="38100">
            <a:solidFill>
              <a:srgbClr val="07182A"/>
            </a:solidFill>
            <a:prstDash val="solid"/>
            <a:tailEnd type="arrow" w="med" len="med"/>
          </a:ln>
        </p:spPr>
      </p:cxnSp>
      <p:sp>
        <p:nvSpPr>
          <p:cNvPr id="6" name="Rectangle 5">
            <a:extLst>
              <a:ext uri="{FF2B5EF4-FFF2-40B4-BE49-F238E27FC236}">
                <a16:creationId xmlns:a16="http://schemas.microsoft.com/office/drawing/2014/main" id="{4C0547DB-5BC5-42F5-A58E-A3894A5C481C}"/>
              </a:ext>
            </a:extLst>
          </p:cNvPr>
          <p:cNvSpPr>
            <a:spLocks noGrp="1"/>
          </p:cNvSpPr>
          <p:nvPr/>
        </p:nvSpPr>
        <p:spPr>
          <a:xfrm>
            <a:off x="5191125" y="2495550"/>
            <a:ext cx="1809750" cy="323850"/>
          </a:xfrm>
          <a:prstGeom prst="rect">
            <a:avLst/>
          </a:prstGeom>
          <a:noFill/>
          <a:ln w="0">
            <a:noFill/>
          </a:ln>
        </p:spPr>
        <p:txBody>
          <a:bodyPr anchor="t">
            <a:normAutofit fontScale="99924" lnSpcReduction="10000"/>
          </a:bodyPr>
          <a:lstStyle/>
          <a:p>
            <a:pPr algn="ctr">
              <a:buNone/>
              <a:defRPr sz="1650" b="1">
                <a:solidFill>
                  <a:srgbClr val="2DAA5F"/>
                </a:solidFill>
                <a:latin typeface="CiscoSansTT Medium"/>
                <a:ea typeface="CiscoSansTT Medium"/>
                <a:cs typeface="CiscoSansTT Medium"/>
              </a:defRPr>
            </a:pPr>
            <a:r>
              <a:rPr sz="1650" b="1">
                <a:solidFill>
                  <a:srgbClr val="2DAA5F"/>
                </a:solidFill>
                <a:latin typeface="CiscoSansTT Medium"/>
                <a:ea typeface="CiscoSansTT Medium"/>
                <a:cs typeface="CiscoSansTT Medium"/>
              </a:rPr>
              <a:t>Safe order</a:t>
            </a:r>
          </a:p>
        </p:txBody>
      </p:sp>
      <p:sp>
        <p:nvSpPr>
          <p:cNvPr id="7" name="Rounded Rectangle 6">
            <a:extLst>
              <a:ext uri="{FF2B5EF4-FFF2-40B4-BE49-F238E27FC236}">
                <a16:creationId xmlns:a16="http://schemas.microsoft.com/office/drawing/2014/main" id="{B2ACBA55-06AE-437C-82A4-3A7F2047B29D}"/>
              </a:ext>
            </a:extLst>
          </p:cNvPr>
          <p:cNvSpPr>
            <a:spLocks noGrp="1"/>
          </p:cNvSpPr>
          <p:nvPr/>
        </p:nvSpPr>
        <p:spPr>
          <a:xfrm>
            <a:off x="1714500" y="4191000"/>
            <a:ext cx="8763000" cy="895350"/>
          </a:xfrm>
          <a:prstGeom prst="roundRect">
            <a:avLst>
              <a:gd name="adj" fmla="val 8511"/>
            </a:avLst>
          </a:prstGeom>
          <a:solidFill>
            <a:srgbClr val="FDEDEF"/>
          </a:solidFill>
          <a:ln w="14288">
            <a:solidFill>
              <a:srgbClr val="E84551"/>
            </a:solidFill>
          </a:ln>
        </p:spPr>
        <p:txBody>
          <a:bodyPr/>
          <a:lstStyle/>
          <a:p>
            <a:endParaRPr/>
          </a:p>
        </p:txBody>
      </p:sp>
      <p:sp>
        <p:nvSpPr>
          <p:cNvPr id="8" name="Rectangle 7">
            <a:extLst>
              <a:ext uri="{FF2B5EF4-FFF2-40B4-BE49-F238E27FC236}">
                <a16:creationId xmlns:a16="http://schemas.microsoft.com/office/drawing/2014/main" id="{9822725E-E431-4615-AF0C-451355CBF45D}"/>
              </a:ext>
            </a:extLst>
          </p:cNvPr>
          <p:cNvSpPr>
            <a:spLocks noGrp="1"/>
          </p:cNvSpPr>
          <p:nvPr/>
        </p:nvSpPr>
        <p:spPr>
          <a:xfrm>
            <a:off x="2114550" y="4381500"/>
            <a:ext cx="7962900" cy="381000"/>
          </a:xfrm>
          <a:prstGeom prst="rect">
            <a:avLst/>
          </a:prstGeom>
          <a:noFill/>
          <a:ln w="0">
            <a:noFill/>
          </a:ln>
        </p:spPr>
        <p:txBody>
          <a:bodyPr anchor="t">
            <a:normAutofit fontScale="89563"/>
          </a:bodyPr>
          <a:lstStyle/>
          <a:p>
            <a:pPr algn="ctr">
              <a:buNone/>
              <a:defRPr sz="2175" b="1">
                <a:solidFill>
                  <a:srgbClr val="E84551"/>
                </a:solidFill>
                <a:latin typeface="CiscoSansTT Medium"/>
                <a:ea typeface="CiscoSansTT Medium"/>
                <a:cs typeface="CiscoSansTT Medium"/>
              </a:defRPr>
            </a:pPr>
            <a:r>
              <a:rPr sz="2175" b="1">
                <a:solidFill>
                  <a:srgbClr val="E84551"/>
                </a:solidFill>
                <a:latin typeface="CiscoSansTT Medium"/>
                <a:ea typeface="CiscoSansTT Medium"/>
                <a:cs typeface="CiscoSansTT Medium"/>
              </a:rPr>
              <a:t>OBI TC flow mode rejects Cilium priority 1</a:t>
            </a:r>
          </a:p>
        </p:txBody>
      </p:sp>
      <p:sp>
        <p:nvSpPr>
          <p:cNvPr id="30" name="Rectangle 29">
            <a:extLst>
              <a:ext uri="{FF2B5EF4-FFF2-40B4-BE49-F238E27FC236}">
                <a16:creationId xmlns:a16="http://schemas.microsoft.com/office/drawing/2014/main" id="{5D41BDE8-8302-49E9-B1E5-5C3AC5F420C4}"/>
              </a:ext>
            </a:extLst>
          </p:cNvPr>
          <p:cNvSpPr>
            <a:spLocks noGrp="1"/>
          </p:cNvSpPr>
          <p:nvPr/>
        </p:nvSpPr>
        <p:spPr>
          <a:xfrm>
            <a:off x="11144250" y="6629400"/>
            <a:ext cx="1047750" cy="228600"/>
          </a:xfrm>
          <a:prstGeom prst="rect">
            <a:avLst/>
          </a:prstGeom>
          <a:solidFill>
            <a:srgbClr val="FFFFFF"/>
          </a:solidFill>
          <a:ln w="0">
            <a:noFill/>
          </a:ln>
        </p:spPr>
        <p:txBody>
          <a:bodyPr/>
          <a:lstStyle/>
          <a:p>
            <a:endParaRPr lang="en-ES"/>
          </a:p>
        </p:txBody>
      </p:sp>
      <p:sp>
        <p:nvSpPr>
          <p:cNvPr id="31" name="Rectangle 30">
            <a:extLst>
              <a:ext uri="{FF2B5EF4-FFF2-40B4-BE49-F238E27FC236}">
                <a16:creationId xmlns:a16="http://schemas.microsoft.com/office/drawing/2014/main" id="{125222E2-1BD0-45FD-A671-C4C40F2B3E00}"/>
              </a:ext>
            </a:extLst>
          </p:cNvPr>
          <p:cNvSpPr>
            <a:spLocks noGrp="1"/>
          </p:cNvSpPr>
          <p:nvPr/>
        </p:nvSpPr>
        <p:spPr>
          <a:xfrm>
            <a:off x="11144250" y="6696075"/>
            <a:ext cx="1009650" cy="133350"/>
          </a:xfrm>
          <a:prstGeom prst="rect">
            <a:avLst/>
          </a:prstGeom>
          <a:noFill/>
          <a:ln w="0">
            <a:noFill/>
          </a:ln>
        </p:spPr>
        <p:txBody>
          <a:bodyPr anchor="ctr">
            <a:noAutofit/>
          </a:bodyPr>
          <a:lstStyle/>
          <a:p>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735774523"/>
      </p:ext>
    </p:extLst>
  </p:cSld>
  <p:clrMapOvr>
    <a:masterClrMapping/>
  </p:clrMapOvr>
  <p:transition advClick="1"/>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Attachment demo: TC priority changes the outcome</a:t>
            </a:r>
          </a:p>
        </p:txBody>
      </p:sp>
      <p:pic>
        <p:nvPicPr>
          <p:cNvPr id="6" name="cilium-obi-demo-4-legacy-priority.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524000" y="1200150"/>
            <a:ext cx="9144000" cy="5143500"/>
          </a:xfrm>
          <a:prstGeom prst="roundRect">
            <a:avLst>
              <a:gd name="adj" fmla="val 1852"/>
            </a:avLst>
          </a:prstGeom>
        </p:spPr>
      </p:pic>
    </p:spTree>
    <p:extLst>
      <p:ext uri="{BB962C8B-B14F-4D97-AF65-F5344CB8AC3E}">
        <p14:creationId xmlns:p14="http://schemas.microsoft.com/office/powerpoint/2010/main" val="1840908267"/>
      </p:ext>
    </p:extLst>
  </p:cSld>
  <p:clrMapOvr>
    <a:masterClrMapping/>
  </p:clrMapOvr>
  <p:transition advClick="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612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rPr dirty="0"/>
              <a:t>Live demo </a:t>
            </a:r>
            <a:br>
              <a:rPr lang="en-US" dirty="0"/>
            </a:br>
            <a:r>
              <a:rPr lang="en-US" dirty="0"/>
              <a:t>O</a:t>
            </a:r>
            <a:r>
              <a:rPr dirty="0"/>
              <a:t>ne request, two views</a:t>
            </a:r>
          </a:p>
        </p:txBody>
      </p:sp>
      <p:sp>
        <p:nvSpPr>
          <p:cNvPr id="2" name="Rectangle 1">
            <a:extLst>
              <a:ext uri="{FF2B5EF4-FFF2-40B4-BE49-F238E27FC236}">
                <a16:creationId xmlns:a16="http://schemas.microsoft.com/office/drawing/2014/main" id="{05D5A808-F0EE-4B26-867B-7A6125AF667F}"/>
              </a:ext>
            </a:extLst>
          </p:cNvPr>
          <p:cNvSpPr>
            <a:spLocks noGrp="1"/>
          </p:cNvSpPr>
          <p:nvPr/>
        </p:nvSpPr>
        <p:spPr>
          <a:xfrm>
            <a:off x="342900" y="41719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68886093"/>
      </p:ext>
    </p:extLst>
  </p:cSld>
  <p:clrMapOvr>
    <a:masterClrMapping/>
  </p:clrMapOvr>
  <p:transition advClick="1"/>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1D9519B1-DD3C-456B-88F7-9C043015AC45}"/>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3000" b="1">
                <a:solidFill>
                  <a:srgbClr val="07182A"/>
                </a:solidFill>
                <a:latin typeface="CiscoSansTT Medium"/>
                <a:ea typeface="CiscoSansTT Medium"/>
                <a:cs typeface="CiscoSansTT Medium"/>
              </a:defRPr>
            </a:defPPr>
            <a:lvl1pPr algn="l">
              <a:buNone/>
              <a:defRPr sz="3000" b="1">
                <a:solidFill>
                  <a:srgbClr val="07182A"/>
                </a:solidFill>
                <a:latin typeface="CiscoSansTT Medium"/>
                <a:ea typeface="CiscoSansTT Medium"/>
                <a:cs typeface="CiscoSansTT Medium"/>
              </a:defRPr>
            </a:lvl1pPr>
            <a:lvl2pPr algn="l">
              <a:buNone/>
              <a:defRPr sz="3000" b="1">
                <a:solidFill>
                  <a:srgbClr val="07182A"/>
                </a:solidFill>
                <a:latin typeface="CiscoSansTT Medium"/>
                <a:ea typeface="CiscoSansTT Medium"/>
                <a:cs typeface="CiscoSansTT Medium"/>
              </a:defRPr>
            </a:lvl2pPr>
            <a:lvl3pPr algn="l">
              <a:buNone/>
              <a:defRPr sz="3000" b="1">
                <a:solidFill>
                  <a:srgbClr val="07182A"/>
                </a:solidFill>
                <a:latin typeface="CiscoSansTT Medium"/>
                <a:ea typeface="CiscoSansTT Medium"/>
                <a:cs typeface="CiscoSansTT Medium"/>
              </a:defRPr>
            </a:lvl3pPr>
            <a:lvl4pPr algn="l">
              <a:buNone/>
              <a:defRPr sz="3000" b="1">
                <a:solidFill>
                  <a:srgbClr val="07182A"/>
                </a:solidFill>
                <a:latin typeface="CiscoSansTT Medium"/>
                <a:ea typeface="CiscoSansTT Medium"/>
                <a:cs typeface="CiscoSansTT Medium"/>
              </a:defRPr>
            </a:lvl4pPr>
            <a:lvl5pPr algn="l">
              <a:buNone/>
              <a:defRPr sz="3000" b="1">
                <a:solidFill>
                  <a:srgbClr val="07182A"/>
                </a:solidFill>
                <a:latin typeface="CiscoSansTT Medium"/>
                <a:ea typeface="CiscoSansTT Medium"/>
                <a:cs typeface="CiscoSansTT Medium"/>
              </a:defRPr>
            </a:lvl5pPr>
            <a:lvl6pPr algn="l">
              <a:buNone/>
              <a:defRPr sz="3000" b="1">
                <a:solidFill>
                  <a:srgbClr val="07182A"/>
                </a:solidFill>
                <a:latin typeface="CiscoSansTT Medium"/>
                <a:ea typeface="CiscoSansTT Medium"/>
                <a:cs typeface="CiscoSansTT Medium"/>
              </a:defRPr>
            </a:lvl6pPr>
            <a:lvl7pPr algn="l">
              <a:buNone/>
              <a:defRPr sz="3000" b="1">
                <a:solidFill>
                  <a:srgbClr val="07182A"/>
                </a:solidFill>
                <a:latin typeface="CiscoSansTT Medium"/>
                <a:ea typeface="CiscoSansTT Medium"/>
                <a:cs typeface="CiscoSansTT Medium"/>
              </a:defRPr>
            </a:lvl7pPr>
            <a:lvl8pPr algn="l">
              <a:buNone/>
              <a:defRPr sz="3000" b="1">
                <a:solidFill>
                  <a:srgbClr val="07182A"/>
                </a:solidFill>
                <a:latin typeface="CiscoSansTT Medium"/>
                <a:ea typeface="CiscoSansTT Medium"/>
                <a:cs typeface="CiscoSansTT Medium"/>
              </a:defRPr>
            </a:lvl8pPr>
            <a:lvl9pPr algn="l">
              <a:buNone/>
              <a:defRPr sz="3000" b="1">
                <a:solidFill>
                  <a:srgbClr val="07182A"/>
                </a:solidFill>
                <a:latin typeface="CiscoSansTT Medium"/>
                <a:ea typeface="CiscoSansTT Medium"/>
                <a:cs typeface="CiscoSansTT Medium"/>
              </a:defRPr>
            </a:lvl9pPr>
          </a:lstStyle>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traffic and telemetry paths</a:t>
            </a:r>
          </a:p>
        </p:txBody>
      </p:sp>
      <p:sp>
        <p:nvSpPr>
          <p:cNvPr id="22" name="traffic-generator">
            <a:extLst xmlns:a="http://schemas.openxmlformats.org/drawingml/2006/main">
              <a:ext uri="{FF2B5EF4-FFF2-40B4-BE49-F238E27FC236}">
                <a16:creationId xmlns:a16="http://schemas.microsoft.com/office/drawing/2014/main" id="{B2013DE7-A00A-46FB-9D6E-381B133F5F7D}"/>
              </a:ext>
            </a:extLst>
          </p:cNvPr>
          <p:cNvSpPr>
            <a:spLocks xmlns:a="http://schemas.openxmlformats.org/drawingml/2006/main" noGrp="1"/>
          </p:cNvSpPr>
          <p:nvPr/>
        </p:nvSpPr>
        <p:spPr>
          <a:xfrm xmlns:a="http://schemas.openxmlformats.org/drawingml/2006/main">
            <a:off x="476250" y="1885950"/>
            <a:ext cx="1428750" cy="723900"/>
          </a:xfrm>
          <a:prstGeom xmlns:a="http://schemas.openxmlformats.org/drawingml/2006/main" prst="roundRect">
            <a:avLst>
              <a:gd name="adj" fmla="val 9211"/>
            </a:avLst>
          </a:prstGeom>
          <a:solidFill xmlns:a="http://schemas.openxmlformats.org/drawingml/2006/main">
            <a:srgbClr val="F4F6F7"/>
          </a:solidFill>
          <a:ln xmlns:a="http://schemas.openxmlformats.org/drawingml/2006/main" w="11906">
            <a:solidFill>
              <a:srgbClr val="686B6B"/>
            </a:solidFill>
          </a:ln>
        </p:spPr>
        <p:txBody>
          <a:bodyPr xmlns:a="http://schemas.openxmlformats.org/drawingml/2006/main" anchor="ctr">
            <a:noAutofit/>
          </a:bodyPr>
          <a:lstStyle xmlns:a="http://schemas.openxmlformats.org/drawingml/2006/main">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xmlns:a="http://schemas.openxmlformats.org/drawingml/2006/main">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traffic</a:t>
            </a:r>
          </a:p>
          <a:p xmlns:a="http://schemas.openxmlformats.org/drawingml/2006/main">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generator</a:t>
            </a:r>
          </a:p>
        </p:txBody>
      </p:sp>
      <p:sp>
        <p:nvSpPr>
          <p:cNvPr id="23" name="edge-nginx">
            <a:extLst xmlns:a="http://schemas.openxmlformats.org/drawingml/2006/main">
              <a:ext uri="{FF2B5EF4-FFF2-40B4-BE49-F238E27FC236}">
                <a16:creationId xmlns:a16="http://schemas.microsoft.com/office/drawing/2014/main" id="{79A1E394-24BB-4C32-B7A7-6794D977F69F}"/>
              </a:ext>
            </a:extLst>
          </p:cNvPr>
          <p:cNvSpPr>
            <a:spLocks xmlns:a="http://schemas.openxmlformats.org/drawingml/2006/main" noGrp="1"/>
          </p:cNvSpPr>
          <p:nvPr/>
        </p:nvSpPr>
        <p:spPr>
          <a:xfrm xmlns:a="http://schemas.openxmlformats.org/drawingml/2006/main">
            <a:off x="2571750" y="1885950"/>
            <a:ext cx="1905000" cy="723900"/>
          </a:xfrm>
          <a:prstGeom xmlns:a="http://schemas.openxmlformats.org/drawingml/2006/main" prst="roundRect">
            <a:avLst>
              <a:gd name="adj" fmla="val 9211"/>
            </a:avLst>
          </a:prstGeom>
          <a:solidFill xmlns:a="http://schemas.openxmlformats.org/drawingml/2006/main">
            <a:srgbClr val="FFFFFF"/>
          </a:solidFill>
          <a:ln xmlns:a="http://schemas.openxmlformats.org/drawingml/2006/main" w="11906">
            <a:solidFill>
              <a:srgbClr val="02C8FF"/>
            </a:solidFill>
          </a:ln>
        </p:spPr>
        <p:txBody>
          <a:bodyPr xmlns:a="http://schemas.openxmlformats.org/drawingml/2006/main" anchor="ctr">
            <a:noAutofit/>
          </a:bodyPr>
          <a:lstStyle xmlns:a="http://schemas.openxmlformats.org/drawingml/2006/main">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xmlns:a="http://schemas.openxmlformats.org/drawingml/2006/main">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edge-nginx</a:t>
            </a:r>
          </a:p>
          <a:p xmlns:a="http://schemas.openxmlformats.org/drawingml/2006/main">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entry proxy</a:t>
            </a:r>
          </a:p>
        </p:txBody>
      </p:sp>
      <p:sp>
        <p:nvSpPr>
          <p:cNvPr id="24" name="recommendations-v2">
            <a:extLst xmlns:a="http://schemas.openxmlformats.org/drawingml/2006/main">
              <a:ext uri="{FF2B5EF4-FFF2-40B4-BE49-F238E27FC236}">
                <a16:creationId xmlns:a16="http://schemas.microsoft.com/office/drawing/2014/main" id="{018165D8-0175-4909-947E-574496E1811A}"/>
              </a:ext>
            </a:extLst>
          </p:cNvPr>
          <p:cNvSpPr>
            <a:spLocks xmlns:a="http://schemas.openxmlformats.org/drawingml/2006/main" noGrp="1"/>
          </p:cNvSpPr>
          <p:nvPr/>
        </p:nvSpPr>
        <p:spPr>
          <a:xfrm xmlns:a="http://schemas.openxmlformats.org/drawingml/2006/main">
            <a:off x="5524500" y="1885950"/>
            <a:ext cx="2571750" cy="723900"/>
          </a:xfrm>
          <a:prstGeom xmlns:a="http://schemas.openxmlformats.org/drawingml/2006/main" prst="roundRect">
            <a:avLst>
              <a:gd name="adj" fmla="val 9211"/>
            </a:avLst>
          </a:prstGeom>
          <a:solidFill xmlns:a="http://schemas.openxmlformats.org/drawingml/2006/main">
            <a:srgbClr val="FFFFFF"/>
          </a:solidFill>
          <a:ln xmlns:a="http://schemas.openxmlformats.org/drawingml/2006/main" w="11906">
            <a:solidFill>
              <a:srgbClr val="02C8FF"/>
            </a:solidFill>
          </a:ln>
        </p:spPr>
        <p:txBody>
          <a:bodyPr xmlns:a="http://schemas.openxmlformats.org/drawingml/2006/main" anchor="ctr">
            <a:noAutofit/>
          </a:bodyPr>
          <a:lstStyle xmlns:a="http://schemas.openxmlformats.org/drawingml/2006/main">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xmlns:a="http://schemas.openxmlformats.org/drawingml/2006/main">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recommendations-v2</a:t>
            </a:r>
          </a:p>
          <a:p xmlns:a="http://schemas.openxmlformats.org/drawingml/2006/main">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newer tier</a:t>
            </a:r>
          </a:p>
        </p:txBody>
      </p:sp>
      <p:sp>
        <p:nvSpPr>
          <p:cNvPr id="25" name="recommendations-v1">
            <a:extLst xmlns:a="http://schemas.openxmlformats.org/drawingml/2006/main">
              <a:ext uri="{FF2B5EF4-FFF2-40B4-BE49-F238E27FC236}">
                <a16:creationId xmlns:a16="http://schemas.microsoft.com/office/drawing/2014/main" id="{B2DF36A6-DCA1-49DD-9757-0C200CD1CF32}"/>
              </a:ext>
            </a:extLst>
          </p:cNvPr>
          <p:cNvSpPr>
            <a:spLocks xmlns:a="http://schemas.openxmlformats.org/drawingml/2006/main" noGrp="1"/>
          </p:cNvSpPr>
          <p:nvPr/>
        </p:nvSpPr>
        <p:spPr>
          <a:xfrm xmlns:a="http://schemas.openxmlformats.org/drawingml/2006/main">
            <a:off x="8953500" y="1885950"/>
            <a:ext cx="2667000" cy="723900"/>
          </a:xfrm>
          <a:prstGeom xmlns:a="http://schemas.openxmlformats.org/drawingml/2006/main" prst="roundRect">
            <a:avLst>
              <a:gd name="adj" fmla="val 9211"/>
            </a:avLst>
          </a:prstGeom>
          <a:solidFill xmlns:a="http://schemas.openxmlformats.org/drawingml/2006/main">
            <a:srgbClr val="FFFFFF"/>
          </a:solidFill>
          <a:ln xmlns:a="http://schemas.openxmlformats.org/drawingml/2006/main" w="11906">
            <a:solidFill>
              <a:srgbClr val="02C8FF"/>
            </a:solidFill>
          </a:ln>
        </p:spPr>
        <p:txBody>
          <a:bodyPr xmlns:a="http://schemas.openxmlformats.org/drawingml/2006/main" anchor="ctr">
            <a:noAutofit/>
          </a:bodyPr>
          <a:lstStyle xmlns:a="http://schemas.openxmlformats.org/drawingml/2006/main">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xmlns:a="http://schemas.openxmlformats.org/drawingml/2006/main">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recommendations-v1</a:t>
            </a:r>
          </a:p>
          <a:p xmlns:a="http://schemas.openxmlformats.org/drawingml/2006/main">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legacy backend</a:t>
            </a:r>
          </a:p>
        </p:txBody>
      </p:sp>
      <p:sp>
        <p:nvSpPr>
          <p:cNvPr id="34" name="observation-scope">
            <a:extLst xmlns:a="http://schemas.openxmlformats.org/drawingml/2006/main">
              <a:ext uri="{FF2B5EF4-FFF2-40B4-BE49-F238E27FC236}">
                <a16:creationId xmlns:a16="http://schemas.microsoft.com/office/drawing/2014/main" id="{47F7DE59-9BE9-4EF6-B38F-97B0FA0597B4}"/>
              </a:ext>
            </a:extLst>
          </p:cNvPr>
          <p:cNvSpPr>
            <a:spLocks xmlns:a="http://schemas.openxmlformats.org/drawingml/2006/main" noGrp="1"/>
          </p:cNvSpPr>
          <p:nvPr/>
        </p:nvSpPr>
        <p:spPr>
          <a:xfrm xmlns:a="http://schemas.openxmlformats.org/drawingml/2006/main">
            <a:off x="619125" y="3571875"/>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800" b="1">
                <a:solidFill>
                  <a:srgbClr val="07182A"/>
                </a:solidFill>
                <a:latin typeface="CiscoSansTT Medium"/>
                <a:ea typeface="CiscoSansTT Medium"/>
                <a:cs typeface="CiscoSansTT Medium"/>
              </a:defRPr>
            </a:defPPr>
            <a:lvl1pPr algn="ctr">
              <a:buNone/>
              <a:defRPr sz="1800" b="1">
                <a:solidFill>
                  <a:srgbClr val="07182A"/>
                </a:solidFill>
                <a:latin typeface="CiscoSansTT Medium"/>
                <a:ea typeface="CiscoSansTT Medium"/>
                <a:cs typeface="CiscoSansTT Medium"/>
              </a:defRPr>
            </a:lvl1pPr>
            <a:lvl2pPr algn="ctr">
              <a:buNone/>
              <a:defRPr sz="1800" b="1">
                <a:solidFill>
                  <a:srgbClr val="07182A"/>
                </a:solidFill>
                <a:latin typeface="CiscoSansTT Medium"/>
                <a:ea typeface="CiscoSansTT Medium"/>
                <a:cs typeface="CiscoSansTT Medium"/>
              </a:defRPr>
            </a:lvl2pPr>
            <a:lvl3pPr algn="ctr">
              <a:buNone/>
              <a:defRPr sz="1800" b="1">
                <a:solidFill>
                  <a:srgbClr val="07182A"/>
                </a:solidFill>
                <a:latin typeface="CiscoSansTT Medium"/>
                <a:ea typeface="CiscoSansTT Medium"/>
                <a:cs typeface="CiscoSansTT Medium"/>
              </a:defRPr>
            </a:lvl3pPr>
            <a:lvl4pPr algn="ctr">
              <a:buNone/>
              <a:defRPr sz="1800" b="1">
                <a:solidFill>
                  <a:srgbClr val="07182A"/>
                </a:solidFill>
                <a:latin typeface="CiscoSansTT Medium"/>
                <a:ea typeface="CiscoSansTT Medium"/>
                <a:cs typeface="CiscoSansTT Medium"/>
              </a:defRPr>
            </a:lvl4pPr>
            <a:lvl5pPr algn="ctr">
              <a:buNone/>
              <a:defRPr sz="1800" b="1">
                <a:solidFill>
                  <a:srgbClr val="07182A"/>
                </a:solidFill>
                <a:latin typeface="CiscoSansTT Medium"/>
                <a:ea typeface="CiscoSansTT Medium"/>
                <a:cs typeface="CiscoSansTT Medium"/>
              </a:defRPr>
            </a:lvl5pPr>
            <a:lvl6pPr algn="ctr">
              <a:buNone/>
              <a:defRPr sz="1800" b="1">
                <a:solidFill>
                  <a:srgbClr val="07182A"/>
                </a:solidFill>
                <a:latin typeface="CiscoSansTT Medium"/>
                <a:ea typeface="CiscoSansTT Medium"/>
                <a:cs typeface="CiscoSansTT Medium"/>
              </a:defRPr>
            </a:lvl6pPr>
            <a:lvl7pPr algn="ctr">
              <a:buNone/>
              <a:defRPr sz="1800" b="1">
                <a:solidFill>
                  <a:srgbClr val="07182A"/>
                </a:solidFill>
                <a:latin typeface="CiscoSansTT Medium"/>
                <a:ea typeface="CiscoSansTT Medium"/>
                <a:cs typeface="CiscoSansTT Medium"/>
              </a:defRPr>
            </a:lvl7pPr>
            <a:lvl8pPr algn="ctr">
              <a:buNone/>
              <a:defRPr sz="1800" b="1">
                <a:solidFill>
                  <a:srgbClr val="07182A"/>
                </a:solidFill>
                <a:latin typeface="CiscoSansTT Medium"/>
                <a:ea typeface="CiscoSansTT Medium"/>
                <a:cs typeface="CiscoSansTT Medium"/>
              </a:defRPr>
            </a:lvl8pPr>
            <a:lvl9pPr algn="ctr">
              <a:buNone/>
              <a:defRPr sz="1800" b="1">
                <a:solidFill>
                  <a:srgbClr val="07182A"/>
                </a:solidFill>
                <a:latin typeface="CiscoSansTT Medium"/>
                <a:ea typeface="CiscoSansTT Medium"/>
                <a:cs typeface="CiscoSansTT Medium"/>
              </a:defRPr>
            </a:lvl9pPr>
          </a:lstStyle>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observes all three services. Hubble observes their traffic.</a:t>
            </a:r>
          </a:p>
        </p:txBody>
      </p:sp>
      <p:sp>
        <p:nvSpPr>
          <p:cNvPr id="35" name="obi-export">
            <a:extLst xmlns:a="http://schemas.openxmlformats.org/drawingml/2006/main">
              <a:ext uri="{FF2B5EF4-FFF2-40B4-BE49-F238E27FC236}">
                <a16:creationId xmlns:a16="http://schemas.microsoft.com/office/drawing/2014/main" id="{1EAADB6A-C90D-4C28-A778-DCCA3FBA54A3}"/>
              </a:ext>
            </a:extLst>
          </p:cNvPr>
          <p:cNvSpPr>
            <a:spLocks xmlns:a="http://schemas.openxmlformats.org/drawingml/2006/main" noGrp="1"/>
          </p:cNvSpPr>
          <p:nvPr/>
        </p:nvSpPr>
        <p:spPr>
          <a:xfrm xmlns:a="http://schemas.openxmlformats.org/drawingml/2006/main">
            <a:off x="666750" y="4095750"/>
            <a:ext cx="3238500" cy="495300"/>
          </a:xfrm>
          <a:prstGeom xmlns:a="http://schemas.openxmlformats.org/drawingml/2006/main" prst="roundRect">
            <a:avLst>
              <a:gd name="adj" fmla="val 13462"/>
            </a:avLst>
          </a:prstGeom>
          <a:solidFill xmlns:a="http://schemas.openxmlformats.org/drawingml/2006/main">
            <a:srgbClr val="F6ECF5"/>
          </a:solidFill>
          <a:ln xmlns:a="http://schemas.openxmlformats.org/drawingml/2006/main" w="11906">
            <a:solidFill>
              <a:srgbClr val="FF007F"/>
            </a:solidFill>
          </a:ln>
        </p:spPr>
        <p:txBody>
          <a:bodyPr xmlns:a="http://schemas.openxmlformats.org/drawingml/2006/main" anchor="ctr">
            <a:noAutofit/>
          </a:bodyPr>
          <a:lstStyle xmlns:a="http://schemas.openxmlformats.org/drawingml/2006/main">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xmlns:a="http://schemas.openxmlformats.org/drawingml/2006/main">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OBI: </a:t>
            </a:r>
            <a:r>
              <a:rPr sz="1650" b="0">
                <a:solidFill>
                  <a:srgbClr val="07182A"/>
                </a:solidFill>
                <a:latin typeface="CiscoSansTT"/>
                <a:ea typeface="CiscoSansTT"/>
                <a:cs typeface="CiscoSansTT"/>
              </a:rPr>
              <a:t>traces</a:t>
            </a:r>
            <a:r>
              <a:rPr sz="1650" b="0">
                <a:solidFill>
                  <a:srgbClr val="07182A"/>
                </a:solidFill>
                <a:latin typeface="CiscoSansTT"/>
                <a:ea typeface="CiscoSansTT"/>
                <a:cs typeface="CiscoSansTT"/>
              </a:rPr>
              <a:t> + RED metrics</a:t>
            </a:r>
          </a:p>
        </p:txBody>
      </p:sp>
      <p:sp>
        <p:nvSpPr>
          <p:cNvPr id="36" name="hubble-metrics-export">
            <a:extLst xmlns:a="http://schemas.openxmlformats.org/drawingml/2006/main">
              <a:ext uri="{FF2B5EF4-FFF2-40B4-BE49-F238E27FC236}">
                <a16:creationId xmlns:a16="http://schemas.microsoft.com/office/drawing/2014/main" id="{88C21540-6E3B-4709-AC82-8BAA7B5FCB66}"/>
              </a:ext>
            </a:extLst>
          </p:cNvPr>
          <p:cNvSpPr>
            <a:spLocks xmlns:a="http://schemas.openxmlformats.org/drawingml/2006/main" noGrp="1"/>
          </p:cNvSpPr>
          <p:nvPr/>
        </p:nvSpPr>
        <p:spPr>
          <a:xfrm xmlns:a="http://schemas.openxmlformats.org/drawingml/2006/main">
            <a:off x="666750" y="4857750"/>
            <a:ext cx="3238500" cy="495300"/>
          </a:xfrm>
          <a:prstGeom xmlns:a="http://schemas.openxmlformats.org/drawingml/2006/main" prst="roundRect">
            <a:avLst>
              <a:gd name="adj" fmla="val 13462"/>
            </a:avLst>
          </a:prstGeom>
          <a:solidFill xmlns:a="http://schemas.openxmlformats.org/drawingml/2006/main">
            <a:srgbClr val="EAF8FC"/>
          </a:solidFill>
          <a:ln xmlns:a="http://schemas.openxmlformats.org/drawingml/2006/main" w="11906">
            <a:solidFill>
              <a:srgbClr val="0860FE"/>
            </a:solidFill>
          </a:ln>
        </p:spPr>
        <p:txBody>
          <a:bodyPr xmlns:a="http://schemas.openxmlformats.org/drawingml/2006/main" anchor="ctr">
            <a:noAutofit/>
          </a:bodyPr>
          <a:lstStyle xmlns:a="http://schemas.openxmlformats.org/drawingml/2006/main">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xmlns:a="http://schemas.openxmlformats.org/drawingml/2006/main">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Cilium + Hubble metrics</a:t>
            </a:r>
          </a:p>
        </p:txBody>
      </p:sp>
      <p:sp>
        <p:nvSpPr>
          <p:cNvPr id="37" name="hubble-flow-export">
            <a:extLst xmlns:a="http://schemas.openxmlformats.org/drawingml/2006/main">
              <a:ext uri="{FF2B5EF4-FFF2-40B4-BE49-F238E27FC236}">
                <a16:creationId xmlns:a16="http://schemas.microsoft.com/office/drawing/2014/main" id="{BD3F4742-71FC-43B3-8587-FAE799739BBD}"/>
              </a:ext>
            </a:extLst>
          </p:cNvPr>
          <p:cNvSpPr>
            <a:spLocks xmlns:a="http://schemas.openxmlformats.org/drawingml/2006/main" noGrp="1"/>
          </p:cNvSpPr>
          <p:nvPr/>
        </p:nvSpPr>
        <p:spPr>
          <a:xfrm xmlns:a="http://schemas.openxmlformats.org/drawingml/2006/main">
            <a:off x="666750" y="5619750"/>
            <a:ext cx="3238500" cy="495300"/>
          </a:xfrm>
          <a:prstGeom xmlns:a="http://schemas.openxmlformats.org/drawingml/2006/main" prst="roundRect">
            <a:avLst>
              <a:gd name="adj" fmla="val 13462"/>
            </a:avLst>
          </a:prstGeom>
          <a:solidFill xmlns:a="http://schemas.openxmlformats.org/drawingml/2006/main">
            <a:srgbClr val="EAF8FC"/>
          </a:solidFill>
          <a:ln xmlns:a="http://schemas.openxmlformats.org/drawingml/2006/main" w="11906">
            <a:solidFill>
              <a:srgbClr val="0860FE"/>
            </a:solidFill>
          </a:ln>
        </p:spPr>
        <p:txBody>
          <a:bodyPr xmlns:a="http://schemas.openxmlformats.org/drawingml/2006/main" anchor="ctr">
            <a:noAutofit/>
          </a:bodyPr>
          <a:lstStyle xmlns:a="http://schemas.openxmlformats.org/drawingml/2006/main">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xmlns:a="http://schemas.openxmlformats.org/drawingml/2006/main">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flow records</a:t>
            </a:r>
          </a:p>
        </p:txBody>
      </p:sp>
      <p:sp>
        <p:nvSpPr>
          <p:cNvPr id="38" name="collector">
            <a:extLst xmlns:a="http://schemas.openxmlformats.org/drawingml/2006/main">
              <a:ext uri="{FF2B5EF4-FFF2-40B4-BE49-F238E27FC236}">
                <a16:creationId xmlns:a16="http://schemas.microsoft.com/office/drawing/2014/main" id="{F80404ED-2315-4A13-AD67-564A35FBF9AA}"/>
              </a:ext>
            </a:extLst>
          </p:cNvPr>
          <p:cNvSpPr>
            <a:spLocks xmlns:a="http://schemas.openxmlformats.org/drawingml/2006/main" noGrp="1"/>
          </p:cNvSpPr>
          <p:nvPr/>
        </p:nvSpPr>
        <p:spPr>
          <a:xfrm xmlns:a="http://schemas.openxmlformats.org/drawingml/2006/main">
            <a:off x="5715000" y="4857750"/>
            <a:ext cx="1905000" cy="495300"/>
          </a:xfrm>
          <a:prstGeom xmlns:a="http://schemas.openxmlformats.org/drawingml/2006/main" prst="roundRect">
            <a:avLst>
              <a:gd name="adj" fmla="val 13462"/>
            </a:avLst>
          </a:prstGeom>
          <a:solidFill xmlns:a="http://schemas.openxmlformats.org/drawingml/2006/main">
            <a:srgbClr val="FFFFFF"/>
          </a:solidFill>
          <a:ln xmlns:a="http://schemas.openxmlformats.org/drawingml/2006/main" w="11906">
            <a:solidFill>
              <a:srgbClr val="0860FE"/>
            </a:solidFill>
          </a:ln>
        </p:spPr>
        <p:txBody>
          <a:bodyPr xmlns:a="http://schemas.openxmlformats.org/drawingml/2006/main" anchor="ctr">
            <a:noAutofit/>
          </a:bodyPr>
          <a:lstStyle xmlns:a="http://schemas.openxmlformats.org/drawingml/2006/main">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xmlns:a="http://schemas.openxmlformats.org/drawingml/2006/main">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OTel</a:t>
            </a:r>
            <a:r>
              <a:rPr sz="1650" b="0">
                <a:solidFill>
                  <a:srgbClr val="07182A"/>
                </a:solidFill>
                <a:latin typeface="CiscoSansTT"/>
                <a:ea typeface="CiscoSansTT"/>
                <a:cs typeface="CiscoSansTT"/>
              </a:rPr>
              <a:t> </a:t>
            </a:r>
            <a:r>
              <a:rPr sz="1650" b="0">
                <a:solidFill>
                  <a:srgbClr val="07182A"/>
                </a:solidFill>
                <a:latin typeface="CiscoSansTT"/>
                <a:ea typeface="CiscoSansTT"/>
                <a:cs typeface="CiscoSansTT"/>
              </a:rPr>
              <a:t>Collector</a:t>
            </a:r>
          </a:p>
        </p:txBody>
      </p:sp>
      <p:sp>
        <p:nvSpPr>
          <p:cNvPr id="39" name="grafana">
            <a:extLst xmlns:a="http://schemas.openxmlformats.org/drawingml/2006/main">
              <a:ext uri="{FF2B5EF4-FFF2-40B4-BE49-F238E27FC236}">
                <a16:creationId xmlns:a16="http://schemas.microsoft.com/office/drawing/2014/main" id="{100D82A6-2AC9-46C6-BBD3-B701D082BBE5}"/>
              </a:ext>
            </a:extLst>
          </p:cNvPr>
          <p:cNvSpPr>
            <a:spLocks xmlns:a="http://schemas.openxmlformats.org/drawingml/2006/main" noGrp="1"/>
          </p:cNvSpPr>
          <p:nvPr/>
        </p:nvSpPr>
        <p:spPr>
          <a:xfrm xmlns:a="http://schemas.openxmlformats.org/drawingml/2006/main">
            <a:off x="9525000" y="4095750"/>
            <a:ext cx="2095500" cy="1257300"/>
          </a:xfrm>
          <a:prstGeom xmlns:a="http://schemas.openxmlformats.org/drawingml/2006/main" prst="roundRect">
            <a:avLst>
              <a:gd name="adj" fmla="val 5303"/>
            </a:avLst>
          </a:prstGeom>
          <a:solidFill xmlns:a="http://schemas.openxmlformats.org/drawingml/2006/main">
            <a:srgbClr val="F4F6F7"/>
          </a:solidFill>
          <a:ln xmlns:a="http://schemas.openxmlformats.org/drawingml/2006/main" w="11906">
            <a:solidFill>
              <a:srgbClr val="686B6B"/>
            </a:solidFill>
          </a:ln>
        </p:spPr>
        <p:txBody>
          <a:bodyPr xmlns:a="http://schemas.openxmlformats.org/drawingml/2006/main" anchor="ctr">
            <a:noAutofit/>
          </a:bodyPr>
          <a:lstStyle xmlns:a="http://schemas.openxmlformats.org/drawingml/2006/main">
            <a:defPPr algn="ctr">
              <a:defRPr sz="1725" b="0">
                <a:solidFill>
                  <a:srgbClr val="07182A"/>
                </a:solidFill>
                <a:latin typeface="CiscoSansTT"/>
                <a:ea typeface="CiscoSansTT"/>
                <a:cs typeface="CiscoSansTT"/>
              </a:defRPr>
            </a:defPPr>
            <a:lvl1pPr algn="ctr">
              <a:buNone/>
              <a:defRPr sz="1725" b="0">
                <a:solidFill>
                  <a:srgbClr val="07182A"/>
                </a:solidFill>
                <a:latin typeface="CiscoSansTT"/>
                <a:ea typeface="CiscoSansTT"/>
                <a:cs typeface="CiscoSansTT"/>
              </a:defRPr>
            </a:lvl1pPr>
            <a:lvl2pPr algn="ctr">
              <a:buNone/>
              <a:defRPr sz="1725" b="0">
                <a:solidFill>
                  <a:srgbClr val="07182A"/>
                </a:solidFill>
                <a:latin typeface="CiscoSansTT"/>
                <a:ea typeface="CiscoSansTT"/>
                <a:cs typeface="CiscoSansTT"/>
              </a:defRPr>
            </a:lvl2pPr>
            <a:lvl3pPr algn="ctr">
              <a:buNone/>
              <a:defRPr sz="1725" b="0">
                <a:solidFill>
                  <a:srgbClr val="07182A"/>
                </a:solidFill>
                <a:latin typeface="CiscoSansTT"/>
                <a:ea typeface="CiscoSansTT"/>
                <a:cs typeface="CiscoSansTT"/>
              </a:defRPr>
            </a:lvl3pPr>
            <a:lvl4pPr algn="ctr">
              <a:buNone/>
              <a:defRPr sz="1725" b="0">
                <a:solidFill>
                  <a:srgbClr val="07182A"/>
                </a:solidFill>
                <a:latin typeface="CiscoSansTT"/>
                <a:ea typeface="CiscoSansTT"/>
                <a:cs typeface="CiscoSansTT"/>
              </a:defRPr>
            </a:lvl4pPr>
            <a:lvl5pPr algn="ctr">
              <a:buNone/>
              <a:defRPr sz="1725" b="0">
                <a:solidFill>
                  <a:srgbClr val="07182A"/>
                </a:solidFill>
                <a:latin typeface="CiscoSansTT"/>
                <a:ea typeface="CiscoSansTT"/>
                <a:cs typeface="CiscoSansTT"/>
              </a:defRPr>
            </a:lvl5pPr>
            <a:lvl6pPr algn="ctr">
              <a:buNone/>
              <a:defRPr sz="1725" b="0">
                <a:solidFill>
                  <a:srgbClr val="07182A"/>
                </a:solidFill>
                <a:latin typeface="CiscoSansTT"/>
                <a:ea typeface="CiscoSansTT"/>
                <a:cs typeface="CiscoSansTT"/>
              </a:defRPr>
            </a:lvl6pPr>
            <a:lvl7pPr algn="ctr">
              <a:buNone/>
              <a:defRPr sz="1725" b="0">
                <a:solidFill>
                  <a:srgbClr val="07182A"/>
                </a:solidFill>
                <a:latin typeface="CiscoSansTT"/>
                <a:ea typeface="CiscoSansTT"/>
                <a:cs typeface="CiscoSansTT"/>
              </a:defRPr>
            </a:lvl7pPr>
            <a:lvl8pPr algn="ctr">
              <a:buNone/>
              <a:defRPr sz="1725" b="0">
                <a:solidFill>
                  <a:srgbClr val="07182A"/>
                </a:solidFill>
                <a:latin typeface="CiscoSansTT"/>
                <a:ea typeface="CiscoSansTT"/>
                <a:cs typeface="CiscoSansTT"/>
              </a:defRPr>
            </a:lvl8pPr>
            <a:lvl9pPr algn="ctr">
              <a:buNone/>
              <a:defRPr sz="1725" b="0">
                <a:solidFill>
                  <a:srgbClr val="07182A"/>
                </a:solidFill>
                <a:latin typeface="CiscoSansTT"/>
                <a:ea typeface="CiscoSansTT"/>
                <a:cs typeface="CiscoSansTT"/>
              </a:defRPr>
            </a:lvl9pPr>
          </a:lstStyle>
          <a:p xmlns:a="http://schemas.openxmlformats.org/drawingml/2006/main">
            <a:pPr algn="ctr">
              <a:buNone/>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Grafana</a:t>
            </a:r>
          </a:p>
          <a:p xmlns:a="http://schemas.openxmlformats.org/drawingml/2006/main">
            <a:pPr algn="ctr">
              <a:buNone/>
              <a:defRPr sz="1725" b="0">
                <a:solidFill>
                  <a:srgbClr val="07182A"/>
                </a:solidFill>
                <a:latin typeface="CiscoSansTT"/>
                <a:ea typeface="CiscoSansTT"/>
                <a:cs typeface="CiscoSansTT"/>
              </a:defRPr>
            </a:pPr>
            <a:r>
              <a:rPr sz="1725" b="0">
                <a:solidFill>
                  <a:srgbClr val="07182A"/>
                </a:solidFill>
                <a:latin typeface="CiscoSansTT"/>
                <a:ea typeface="CiscoSansTT"/>
                <a:cs typeface="CiscoSansTT"/>
              </a:rPr>
              <a:t>traces + metrics</a:t>
            </a:r>
          </a:p>
        </p:txBody>
      </p:sp>
      <p:sp>
        <p:nvSpPr>
          <p:cNvPr id="40" name="hubble-cli-ui">
            <a:extLst xmlns:a="http://schemas.openxmlformats.org/drawingml/2006/main">
              <a:ext uri="{FF2B5EF4-FFF2-40B4-BE49-F238E27FC236}">
                <a16:creationId xmlns:a16="http://schemas.microsoft.com/office/drawing/2014/main" id="{7B9348D4-B364-49AC-A11D-7C853FE2500F}"/>
              </a:ext>
            </a:extLst>
          </p:cNvPr>
          <p:cNvSpPr>
            <a:spLocks xmlns:a="http://schemas.openxmlformats.org/drawingml/2006/main" noGrp="1"/>
          </p:cNvSpPr>
          <p:nvPr/>
        </p:nvSpPr>
        <p:spPr>
          <a:xfrm xmlns:a="http://schemas.openxmlformats.org/drawingml/2006/main">
            <a:off x="9525000" y="5619750"/>
            <a:ext cx="2095500" cy="495300"/>
          </a:xfrm>
          <a:prstGeom xmlns:a="http://schemas.openxmlformats.org/drawingml/2006/main" prst="roundRect">
            <a:avLst>
              <a:gd name="adj" fmla="val 13462"/>
            </a:avLst>
          </a:prstGeom>
          <a:solidFill xmlns:a="http://schemas.openxmlformats.org/drawingml/2006/main">
            <a:srgbClr val="EAF8FC"/>
          </a:solidFill>
          <a:ln xmlns:a="http://schemas.openxmlformats.org/drawingml/2006/main" w="11906">
            <a:solidFill>
              <a:srgbClr val="0860FE"/>
            </a:solidFill>
          </a:ln>
        </p:spPr>
        <p:txBody>
          <a:bodyPr xmlns:a="http://schemas.openxmlformats.org/drawingml/2006/main" anchor="ctr">
            <a:noAutofit/>
          </a:bodyPr>
          <a:lstStyle xmlns:a="http://schemas.openxmlformats.org/drawingml/2006/main">
            <a:defPPr algn="ctr">
              <a:defRPr sz="1650" b="0">
                <a:solidFill>
                  <a:srgbClr val="07182A"/>
                </a:solidFill>
                <a:latin typeface="CiscoSansTT"/>
                <a:ea typeface="CiscoSansTT"/>
                <a:cs typeface="CiscoSansTT"/>
              </a:defRPr>
            </a:defPPr>
            <a:lvl1pPr algn="ctr">
              <a:buNone/>
              <a:defRPr sz="1650" b="0">
                <a:solidFill>
                  <a:srgbClr val="07182A"/>
                </a:solidFill>
                <a:latin typeface="CiscoSansTT"/>
                <a:ea typeface="CiscoSansTT"/>
                <a:cs typeface="CiscoSansTT"/>
              </a:defRPr>
            </a:lvl1pPr>
            <a:lvl2pPr algn="ctr">
              <a:buNone/>
              <a:defRPr sz="1650" b="0">
                <a:solidFill>
                  <a:srgbClr val="07182A"/>
                </a:solidFill>
                <a:latin typeface="CiscoSansTT"/>
                <a:ea typeface="CiscoSansTT"/>
                <a:cs typeface="CiscoSansTT"/>
              </a:defRPr>
            </a:lvl2pPr>
            <a:lvl3pPr algn="ctr">
              <a:buNone/>
              <a:defRPr sz="1650" b="0">
                <a:solidFill>
                  <a:srgbClr val="07182A"/>
                </a:solidFill>
                <a:latin typeface="CiscoSansTT"/>
                <a:ea typeface="CiscoSansTT"/>
                <a:cs typeface="CiscoSansTT"/>
              </a:defRPr>
            </a:lvl3pPr>
            <a:lvl4pPr algn="ctr">
              <a:buNone/>
              <a:defRPr sz="1650" b="0">
                <a:solidFill>
                  <a:srgbClr val="07182A"/>
                </a:solidFill>
                <a:latin typeface="CiscoSansTT"/>
                <a:ea typeface="CiscoSansTT"/>
                <a:cs typeface="CiscoSansTT"/>
              </a:defRPr>
            </a:lvl4pPr>
            <a:lvl5pPr algn="ctr">
              <a:buNone/>
              <a:defRPr sz="1650" b="0">
                <a:solidFill>
                  <a:srgbClr val="07182A"/>
                </a:solidFill>
                <a:latin typeface="CiscoSansTT"/>
                <a:ea typeface="CiscoSansTT"/>
                <a:cs typeface="CiscoSansTT"/>
              </a:defRPr>
            </a:lvl5pPr>
            <a:lvl6pPr algn="ctr">
              <a:buNone/>
              <a:defRPr sz="1650" b="0">
                <a:solidFill>
                  <a:srgbClr val="07182A"/>
                </a:solidFill>
                <a:latin typeface="CiscoSansTT"/>
                <a:ea typeface="CiscoSansTT"/>
                <a:cs typeface="CiscoSansTT"/>
              </a:defRPr>
            </a:lvl6pPr>
            <a:lvl7pPr algn="ctr">
              <a:buNone/>
              <a:defRPr sz="1650" b="0">
                <a:solidFill>
                  <a:srgbClr val="07182A"/>
                </a:solidFill>
                <a:latin typeface="CiscoSansTT"/>
                <a:ea typeface="CiscoSansTT"/>
                <a:cs typeface="CiscoSansTT"/>
              </a:defRPr>
            </a:lvl7pPr>
            <a:lvl8pPr algn="ctr">
              <a:buNone/>
              <a:defRPr sz="1650" b="0">
                <a:solidFill>
                  <a:srgbClr val="07182A"/>
                </a:solidFill>
                <a:latin typeface="CiscoSansTT"/>
                <a:ea typeface="CiscoSansTT"/>
                <a:cs typeface="CiscoSansTT"/>
              </a:defRPr>
            </a:lvl8pPr>
            <a:lvl9pPr algn="ctr">
              <a:buNone/>
              <a:defRPr sz="1650" b="0">
                <a:solidFill>
                  <a:srgbClr val="07182A"/>
                </a:solidFill>
                <a:latin typeface="CiscoSansTT"/>
                <a:ea typeface="CiscoSansTT"/>
                <a:cs typeface="CiscoSansTT"/>
              </a:defRPr>
            </a:lvl9pPr>
          </a:lstStyle>
          <a:p xmlns:a="http://schemas.openxmlformats.org/drawingml/2006/main">
            <a:pPr algn="ctr">
              <a:buNone/>
              <a:defRPr sz="1650" b="0">
                <a:solidFill>
                  <a:srgbClr val="07182A"/>
                </a:solidFill>
                <a:latin typeface="CiscoSansTT"/>
                <a:ea typeface="CiscoSansTT"/>
                <a:cs typeface="CiscoSansTT"/>
              </a:defRPr>
            </a:pPr>
            <a:r>
              <a:rPr sz="1650" b="0">
                <a:solidFill>
                  <a:srgbClr val="07182A"/>
                </a:solidFill>
                <a:latin typeface="CiscoSansTT"/>
                <a:ea typeface="CiscoSansTT"/>
                <a:cs typeface="CiscoSansTT"/>
              </a:rPr>
              <a:t>Hubble UI</a:t>
            </a:r>
          </a:p>
        </p:txBody>
      </p:sp>
      <p:cxnSp>
        <p:nvCxnSpPr>
          <p:cNvPr id="41" name="obi-to-grafana">
            <a:extLst xmlns:a="http://schemas.openxmlformats.org/drawingml/2006/main">
              <a:ext uri="{FF2B5EF4-FFF2-40B4-BE49-F238E27FC236}">
                <a16:creationId xmlns:a16="http://schemas.microsoft.com/office/drawing/2014/main" id="{8B4B15AC-3DCF-44DD-A9BD-574ED9D70F2A}"/>
              </a:ext>
            </a:extLst>
          </p:cNvPr>
          <p:cNvCxnSpPr/>
          <p:nvPr/>
        </p:nvCxnSpPr>
        <p:spPr>
          <a:xfrm xmlns:a="http://schemas.openxmlformats.org/drawingml/2006/main">
            <a:off x="3905250" y="4343400"/>
            <a:ext cx="5619750" cy="0"/>
          </a:xfrm>
          <a:prstGeom xmlns:a="http://schemas.openxmlformats.org/drawingml/2006/main" prst="straightConnector1">
            <a:avLst/>
          </a:prstGeom>
          <a:ln xmlns:a="http://schemas.openxmlformats.org/drawingml/2006/main" w="19050">
            <a:solidFill>
              <a:srgbClr val="FF007F"/>
            </a:solidFill>
            <a:prstDash val="solid"/>
            <a:tailEnd type="arrow" w="med" len="med"/>
          </a:ln>
        </p:spPr>
      </p:cxnSp>
      <p:cxnSp>
        <p:nvCxnSpPr>
          <p:cNvPr id="42" name="metrics-to-collector">
            <a:extLst xmlns:a="http://schemas.openxmlformats.org/drawingml/2006/main">
              <a:ext uri="{FF2B5EF4-FFF2-40B4-BE49-F238E27FC236}">
                <a16:creationId xmlns:a16="http://schemas.microsoft.com/office/drawing/2014/main" id="{E2120A30-7D9B-4192-BD06-1659272AE903}"/>
              </a:ext>
            </a:extLst>
          </p:cNvPr>
          <p:cNvCxnSpPr/>
          <p:nvPr/>
        </p:nvCxnSpPr>
        <p:spPr>
          <a:xfrm xmlns:a="http://schemas.openxmlformats.org/drawingml/2006/main">
            <a:off x="3905250" y="5105400"/>
            <a:ext cx="1809750" cy="0"/>
          </a:xfrm>
          <a:prstGeom xmlns:a="http://schemas.openxmlformats.org/drawingml/2006/main" prst="straightConnector1">
            <a:avLst/>
          </a:prstGeom>
          <a:ln xmlns:a="http://schemas.openxmlformats.org/drawingml/2006/main" w="19050">
            <a:solidFill>
              <a:srgbClr val="0860FE"/>
            </a:solidFill>
            <a:prstDash val="solid"/>
            <a:tailEnd type="arrow" w="med" len="med"/>
          </a:ln>
        </p:spPr>
      </p:cxnSp>
      <p:cxnSp>
        <p:nvCxnSpPr>
          <p:cNvPr id="43" name="collector-to-grafana">
            <a:extLst xmlns:a="http://schemas.openxmlformats.org/drawingml/2006/main">
              <a:ext uri="{FF2B5EF4-FFF2-40B4-BE49-F238E27FC236}">
                <a16:creationId xmlns:a16="http://schemas.microsoft.com/office/drawing/2014/main" id="{85349D30-0D5D-432E-83C7-AAB474BC4990}"/>
              </a:ext>
            </a:extLst>
          </p:cNvPr>
          <p:cNvCxnSpPr/>
          <p:nvPr/>
        </p:nvCxnSpPr>
        <p:spPr>
          <a:xfrm xmlns:a="http://schemas.openxmlformats.org/drawingml/2006/main">
            <a:off x="7620000" y="5105400"/>
            <a:ext cx="1905000" cy="0"/>
          </a:xfrm>
          <a:prstGeom xmlns:a="http://schemas.openxmlformats.org/drawingml/2006/main" prst="straightConnector1">
            <a:avLst/>
          </a:prstGeom>
          <a:ln xmlns:a="http://schemas.openxmlformats.org/drawingml/2006/main" w="19050">
            <a:solidFill>
              <a:srgbClr val="0860FE"/>
            </a:solidFill>
            <a:prstDash val="solid"/>
            <a:tailEnd type="arrow" w="med" len="med"/>
          </a:ln>
        </p:spPr>
      </p:cxnSp>
      <p:cxnSp>
        <p:nvCxnSpPr>
          <p:cNvPr id="44" name="flows-to-ui">
            <a:extLst xmlns:a="http://schemas.openxmlformats.org/drawingml/2006/main">
              <a:ext uri="{FF2B5EF4-FFF2-40B4-BE49-F238E27FC236}">
                <a16:creationId xmlns:a16="http://schemas.microsoft.com/office/drawing/2014/main" id="{FD8B1710-CB3A-433D-8434-1DC83819AA22}"/>
              </a:ext>
            </a:extLst>
          </p:cNvPr>
          <p:cNvCxnSpPr/>
          <p:nvPr/>
        </p:nvCxnSpPr>
        <p:spPr>
          <a:xfrm xmlns:a="http://schemas.openxmlformats.org/drawingml/2006/main">
            <a:off x="3905250" y="5867400"/>
            <a:ext cx="5619750" cy="0"/>
          </a:xfrm>
          <a:prstGeom xmlns:a="http://schemas.openxmlformats.org/drawingml/2006/main" prst="straightConnector1">
            <a:avLst/>
          </a:prstGeom>
          <a:ln xmlns:a="http://schemas.openxmlformats.org/drawingml/2006/main" w="19050">
            <a:solidFill>
              <a:srgbClr val="0860FE"/>
            </a:solidFill>
            <a:prstDash val="solid"/>
            <a:tailEnd type="arrow" w="med" len="med"/>
          </a:ln>
        </p:spPr>
      </p:cxnSp>
      <p:sp>
        <p:nvSpPr>
          <p:cNvPr id="45" name="rollout-route">
            <a:extLst xmlns:a="http://schemas.openxmlformats.org/drawingml/2006/main">
              <a:ext uri="{FF2B5EF4-FFF2-40B4-BE49-F238E27FC236}">
                <a16:creationId xmlns:a16="http://schemas.microsoft.com/office/drawing/2014/main" id="{4B4B4BAE-D60A-4F3B-A61A-6FC626E30F50}"/>
              </a:ext>
            </a:extLst>
          </p:cNvPr>
          <p:cNvSpPr>
            <a:spLocks xmlns:a="http://schemas.openxmlformats.org/drawingml/2006/main" noGrp="1"/>
          </p:cNvSpPr>
          <p:nvPr/>
        </p:nvSpPr>
        <p:spPr>
          <a:xfrm xmlns:a="http://schemas.openxmlformats.org/drawingml/2006/main">
            <a:off x="5476875" y="1438275"/>
            <a:ext cx="6096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575" b="0">
                <a:solidFill>
                  <a:srgbClr val="0860FE"/>
                </a:solidFill>
                <a:latin typeface="CiscoSansTT"/>
                <a:ea typeface="CiscoSansTT"/>
                <a:cs typeface="CiscoSansTT"/>
              </a:defRPr>
            </a:defPPr>
            <a:lvl1pPr algn="ctr">
              <a:defRPr sz="1575" b="0">
                <a:solidFill>
                  <a:srgbClr val="0860FE"/>
                </a:solidFill>
                <a:latin typeface="CiscoSansTT"/>
                <a:ea typeface="CiscoSansTT"/>
                <a:cs typeface="CiscoSansTT"/>
              </a:defRPr>
            </a:lvl1pPr>
            <a:lvl2pPr algn="ctr">
              <a:defRPr sz="1575" b="0">
                <a:solidFill>
                  <a:srgbClr val="0860FE"/>
                </a:solidFill>
                <a:latin typeface="CiscoSansTT"/>
                <a:ea typeface="CiscoSansTT"/>
                <a:cs typeface="CiscoSansTT"/>
              </a:defRPr>
            </a:lvl2pPr>
            <a:lvl3pPr algn="ctr">
              <a:defRPr sz="1575" b="0">
                <a:solidFill>
                  <a:srgbClr val="0860FE"/>
                </a:solidFill>
                <a:latin typeface="CiscoSansTT"/>
                <a:ea typeface="CiscoSansTT"/>
                <a:cs typeface="CiscoSansTT"/>
              </a:defRPr>
            </a:lvl3pPr>
            <a:lvl4pPr algn="ctr">
              <a:defRPr sz="1575" b="0">
                <a:solidFill>
                  <a:srgbClr val="0860FE"/>
                </a:solidFill>
                <a:latin typeface="CiscoSansTT"/>
                <a:ea typeface="CiscoSansTT"/>
                <a:cs typeface="CiscoSansTT"/>
              </a:defRPr>
            </a:lvl4pPr>
            <a:lvl5pPr algn="ctr">
              <a:defRPr sz="1575" b="0">
                <a:solidFill>
                  <a:srgbClr val="0860FE"/>
                </a:solidFill>
                <a:latin typeface="CiscoSansTT"/>
                <a:ea typeface="CiscoSansTT"/>
                <a:cs typeface="CiscoSansTT"/>
              </a:defRPr>
            </a:lvl5pPr>
            <a:lvl6pPr algn="ctr">
              <a:defRPr sz="1575" b="0">
                <a:solidFill>
                  <a:srgbClr val="0860FE"/>
                </a:solidFill>
                <a:latin typeface="CiscoSansTT"/>
                <a:ea typeface="CiscoSansTT"/>
                <a:cs typeface="CiscoSansTT"/>
              </a:defRPr>
            </a:lvl6pPr>
            <a:lvl7pPr algn="ctr">
              <a:defRPr sz="1575" b="0">
                <a:solidFill>
                  <a:srgbClr val="0860FE"/>
                </a:solidFill>
                <a:latin typeface="CiscoSansTT"/>
                <a:ea typeface="CiscoSansTT"/>
                <a:cs typeface="CiscoSansTT"/>
              </a:defRPr>
            </a:lvl7pPr>
            <a:lvl8pPr algn="ctr">
              <a:defRPr sz="1575" b="0">
                <a:solidFill>
                  <a:srgbClr val="0860FE"/>
                </a:solidFill>
                <a:latin typeface="CiscoSansTT"/>
                <a:ea typeface="CiscoSansTT"/>
                <a:cs typeface="CiscoSansTT"/>
              </a:defRPr>
            </a:lvl8pPr>
            <a:lvl9pPr algn="ctr">
              <a:defRPr sz="1575" b="0">
                <a:solidFill>
                  <a:srgbClr val="0860FE"/>
                </a:solidFill>
                <a:latin typeface="CiscoSansTT"/>
                <a:ea typeface="CiscoSansTT"/>
                <a:cs typeface="CiscoSansTT"/>
              </a:defRPr>
            </a:lvl9pPr>
          </a:lstStyle>
          <a:p xmlns:a="http://schemas.openxmlformats.org/drawingml/2006/main">
            <a:pPr algn="ctr">
              <a:defRPr sz="1575" b="0">
                <a:solidFill>
                  <a:srgbClr val="0860FE"/>
                </a:solidFill>
                <a:latin typeface="CiscoSansTT"/>
                <a:ea typeface="CiscoSansTT"/>
                <a:cs typeface="CiscoSansTT"/>
              </a:defRPr>
            </a:pPr>
            <a:r>
              <a:rPr sz="1575" b="0">
                <a:solidFill>
                  <a:srgbClr val="0860FE"/>
                </a:solidFill>
                <a:latin typeface="CiscoSansTT"/>
                <a:ea typeface="CiscoSansTT"/>
                <a:cs typeface="CiscoSansTT"/>
              </a:rPr>
              <a:t>Rollout request</a:t>
            </a:r>
          </a:p>
        </p:txBody>
      </p:sp>
      <p:cxnSp>
        <p:nvCxnSpPr>
          <p:cNvPr id="46" name="generator-to-edge">
            <a:extLst xmlns:a="http://schemas.openxmlformats.org/drawingml/2006/main">
              <a:ext uri="{FF2B5EF4-FFF2-40B4-BE49-F238E27FC236}">
                <a16:creationId xmlns:a16="http://schemas.microsoft.com/office/drawing/2014/main" id="{C1752FA4-1A6C-4F0A-9305-70936FAFF8A5}"/>
              </a:ext>
            </a:extLst>
          </p:cNvPr>
          <p:cNvCxnSpPr/>
          <p:nvPr/>
        </p:nvCxnSpPr>
        <p:spPr>
          <a:xfrm xmlns:a="http://schemas.openxmlformats.org/drawingml/2006/main">
            <a:off x="1905000" y="2247900"/>
            <a:ext cx="666750" cy="0"/>
          </a:xfrm>
          <a:prstGeom xmlns:a="http://schemas.openxmlformats.org/drawingml/2006/main" prst="straightConnector1">
            <a:avLst/>
          </a:prstGeom>
          <a:ln xmlns:a="http://schemas.openxmlformats.org/drawingml/2006/main" w="19050">
            <a:solidFill>
              <a:srgbClr val="686B6B"/>
            </a:solidFill>
            <a:tailEnd type="arrow" w="med" len="med"/>
          </a:ln>
        </p:spPr>
      </p:cxnSp>
      <p:cxnSp>
        <p:nvCxnSpPr>
          <p:cNvPr id="47" name="edge-to-v2">
            <a:extLst xmlns:a="http://schemas.openxmlformats.org/drawingml/2006/main">
              <a:ext uri="{FF2B5EF4-FFF2-40B4-BE49-F238E27FC236}">
                <a16:creationId xmlns:a16="http://schemas.microsoft.com/office/drawing/2014/main" id="{4EE3E7E5-D667-41CC-B365-7B0034F8BA6D}"/>
              </a:ext>
            </a:extLst>
          </p:cNvPr>
          <p:cNvCxnSpPr/>
          <p:nvPr/>
        </p:nvCxnSpPr>
        <p:spPr>
          <a:xfrm xmlns:a="http://schemas.openxmlformats.org/drawingml/2006/main">
            <a:off x="4476750" y="2247900"/>
            <a:ext cx="1047750" cy="0"/>
          </a:xfrm>
          <a:prstGeom xmlns:a="http://schemas.openxmlformats.org/drawingml/2006/main" prst="straightConnector1">
            <a:avLst/>
          </a:prstGeom>
          <a:ln xmlns:a="http://schemas.openxmlformats.org/drawingml/2006/main" w="19050">
            <a:solidFill>
              <a:srgbClr val="0860FE"/>
            </a:solidFill>
            <a:tailEnd type="arrow" w="med" len="med"/>
          </a:ln>
        </p:spPr>
      </p:cxnSp>
      <p:cxnSp>
        <p:nvCxnSpPr>
          <p:cNvPr id="48" name="v2-to-v1">
            <a:extLst xmlns:a="http://schemas.openxmlformats.org/drawingml/2006/main">
              <a:ext uri="{FF2B5EF4-FFF2-40B4-BE49-F238E27FC236}">
                <a16:creationId xmlns:a16="http://schemas.microsoft.com/office/drawing/2014/main" id="{8816EF8F-63BD-4288-98FD-203A932107B8}"/>
              </a:ext>
            </a:extLst>
          </p:cNvPr>
          <p:cNvCxnSpPr/>
          <p:nvPr/>
        </p:nvCxnSpPr>
        <p:spPr>
          <a:xfrm xmlns:a="http://schemas.openxmlformats.org/drawingml/2006/main">
            <a:off x="8096250" y="2247900"/>
            <a:ext cx="857250" cy="0"/>
          </a:xfrm>
          <a:prstGeom xmlns:a="http://schemas.openxmlformats.org/drawingml/2006/main" prst="straightConnector1">
            <a:avLst/>
          </a:prstGeom>
          <a:ln xmlns:a="http://schemas.openxmlformats.org/drawingml/2006/main" w="19050">
            <a:solidFill>
              <a:srgbClr val="0860FE"/>
            </a:solidFill>
            <a:tailEnd type="arrow" w="med" len="med"/>
          </a:ln>
        </p:spPr>
      </p:cxnSp>
      <p:cxnSp>
        <p:nvCxnSpPr>
          <p:cNvPr id="49" name="direct-v1-down">
            <a:extLst xmlns:a="http://schemas.openxmlformats.org/drawingml/2006/main">
              <a:ext uri="{FF2B5EF4-FFF2-40B4-BE49-F238E27FC236}">
                <a16:creationId xmlns:a16="http://schemas.microsoft.com/office/drawing/2014/main" id="{B0D77129-90AF-48F7-A6CF-649FB49AE727}"/>
              </a:ext>
            </a:extLst>
          </p:cNvPr>
          <p:cNvCxnSpPr/>
          <p:nvPr/>
        </p:nvCxnSpPr>
        <p:spPr>
          <a:xfrm xmlns:a="http://schemas.openxmlformats.org/drawingml/2006/main">
            <a:off x="3524250" y="2609850"/>
            <a:ext cx="0" cy="466725"/>
          </a:xfrm>
          <a:prstGeom xmlns:a="http://schemas.openxmlformats.org/drawingml/2006/main" prst="straightConnector1">
            <a:avLst/>
          </a:prstGeom>
          <a:ln xmlns:a="http://schemas.openxmlformats.org/drawingml/2006/main" w="19050">
            <a:solidFill>
              <a:srgbClr val="FF8A00"/>
            </a:solidFill>
          </a:ln>
        </p:spPr>
      </p:cxnSp>
      <p:cxnSp>
        <p:nvCxnSpPr>
          <p:cNvPr id="50" name="direct-v1-across">
            <a:extLst xmlns:a="http://schemas.openxmlformats.org/drawingml/2006/main">
              <a:ext uri="{FF2B5EF4-FFF2-40B4-BE49-F238E27FC236}">
                <a16:creationId xmlns:a16="http://schemas.microsoft.com/office/drawing/2014/main" id="{4BBD4F43-2FDD-4479-80DB-2E8C771F427A}"/>
              </a:ext>
            </a:extLst>
          </p:cNvPr>
          <p:cNvCxnSpPr/>
          <p:nvPr/>
        </p:nvCxnSpPr>
        <p:spPr>
          <a:xfrm xmlns:a="http://schemas.openxmlformats.org/drawingml/2006/main">
            <a:off x="3524250" y="3076575"/>
            <a:ext cx="6762750" cy="0"/>
          </a:xfrm>
          <a:prstGeom xmlns:a="http://schemas.openxmlformats.org/drawingml/2006/main" prst="straightConnector1">
            <a:avLst/>
          </a:prstGeom>
          <a:ln xmlns:a="http://schemas.openxmlformats.org/drawingml/2006/main" w="19050">
            <a:solidFill>
              <a:srgbClr val="FF8A00"/>
            </a:solidFill>
          </a:ln>
        </p:spPr>
      </p:cxnSp>
      <p:cxnSp>
        <p:nvCxnSpPr>
          <p:cNvPr id="51" name="direct-v1-up">
            <a:extLst xmlns:a="http://schemas.openxmlformats.org/drawingml/2006/main">
              <a:ext uri="{FF2B5EF4-FFF2-40B4-BE49-F238E27FC236}">
                <a16:creationId xmlns:a16="http://schemas.microsoft.com/office/drawing/2014/main" id="{7C026934-6D92-4E7C-B8C3-A12DCA5434B8}"/>
              </a:ext>
            </a:extLst>
          </p:cNvPr>
          <p:cNvCxnSpPr/>
          <p:nvPr/>
        </p:nvCxnSpPr>
        <p:spPr>
          <a:xfrm xmlns:a="http://schemas.openxmlformats.org/drawingml/2006/main">
            <a:off x="10287000" y="2609850"/>
            <a:ext cx="0" cy="466725"/>
          </a:xfrm>
          <a:prstGeom xmlns:a="http://schemas.openxmlformats.org/drawingml/2006/main" prst="straightConnector1">
            <a:avLst/>
          </a:prstGeom>
          <a:ln xmlns:a="http://schemas.openxmlformats.org/drawingml/2006/main" w="19050">
            <a:solidFill>
              <a:srgbClr val="FF8A00"/>
            </a:solidFill>
            <a:headEnd type="arrow" w="med" len="med"/>
          </a:ln>
        </p:spPr>
      </p:cxnSp>
      <p:sp>
        <p:nvSpPr>
          <p:cNvPr id="52" name="direct-route-label">
            <a:extLst xmlns:a="http://schemas.openxmlformats.org/drawingml/2006/main">
              <a:ext uri="{FF2B5EF4-FFF2-40B4-BE49-F238E27FC236}">
                <a16:creationId xmlns:a16="http://schemas.microsoft.com/office/drawing/2014/main" id="{5577A973-472B-46EB-90B8-B85789CC3886}"/>
              </a:ext>
            </a:extLst>
          </p:cNvPr>
          <p:cNvSpPr>
            <a:spLocks xmlns:a="http://schemas.openxmlformats.org/drawingml/2006/main" noGrp="1"/>
          </p:cNvSpPr>
          <p:nvPr/>
        </p:nvSpPr>
        <p:spPr>
          <a:xfrm xmlns:a="http://schemas.openxmlformats.org/drawingml/2006/main">
            <a:off x="4095750" y="3162300"/>
            <a:ext cx="6191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500" b="0">
                <a:solidFill>
                  <a:srgbClr val="FF8A00"/>
                </a:solidFill>
                <a:latin typeface="CiscoSansTT"/>
                <a:ea typeface="CiscoSansTT"/>
                <a:cs typeface="CiscoSansTT"/>
              </a:defRPr>
            </a:defPPr>
            <a:lvl1pPr algn="ctr">
              <a:defRPr sz="1500" b="0">
                <a:solidFill>
                  <a:srgbClr val="FF8A00"/>
                </a:solidFill>
                <a:latin typeface="CiscoSansTT"/>
                <a:ea typeface="CiscoSansTT"/>
                <a:cs typeface="CiscoSansTT"/>
              </a:defRPr>
            </a:lvl1pPr>
            <a:lvl2pPr algn="ctr">
              <a:defRPr sz="1500" b="0">
                <a:solidFill>
                  <a:srgbClr val="FF8A00"/>
                </a:solidFill>
                <a:latin typeface="CiscoSansTT"/>
                <a:ea typeface="CiscoSansTT"/>
                <a:cs typeface="CiscoSansTT"/>
              </a:defRPr>
            </a:lvl2pPr>
            <a:lvl3pPr algn="ctr">
              <a:defRPr sz="1500" b="0">
                <a:solidFill>
                  <a:srgbClr val="FF8A00"/>
                </a:solidFill>
                <a:latin typeface="CiscoSansTT"/>
                <a:ea typeface="CiscoSansTT"/>
                <a:cs typeface="CiscoSansTT"/>
              </a:defRPr>
            </a:lvl3pPr>
            <a:lvl4pPr algn="ctr">
              <a:defRPr sz="1500" b="0">
                <a:solidFill>
                  <a:srgbClr val="FF8A00"/>
                </a:solidFill>
                <a:latin typeface="CiscoSansTT"/>
                <a:ea typeface="CiscoSansTT"/>
                <a:cs typeface="CiscoSansTT"/>
              </a:defRPr>
            </a:lvl4pPr>
            <a:lvl5pPr algn="ctr">
              <a:defRPr sz="1500" b="0">
                <a:solidFill>
                  <a:srgbClr val="FF8A00"/>
                </a:solidFill>
                <a:latin typeface="CiscoSansTT"/>
                <a:ea typeface="CiscoSansTT"/>
                <a:cs typeface="CiscoSansTT"/>
              </a:defRPr>
            </a:lvl5pPr>
            <a:lvl6pPr algn="ctr">
              <a:defRPr sz="1500" b="0">
                <a:solidFill>
                  <a:srgbClr val="FF8A00"/>
                </a:solidFill>
                <a:latin typeface="CiscoSansTT"/>
                <a:ea typeface="CiscoSansTT"/>
                <a:cs typeface="CiscoSansTT"/>
              </a:defRPr>
            </a:lvl6pPr>
            <a:lvl7pPr algn="ctr">
              <a:defRPr sz="1500" b="0">
                <a:solidFill>
                  <a:srgbClr val="FF8A00"/>
                </a:solidFill>
                <a:latin typeface="CiscoSansTT"/>
                <a:ea typeface="CiscoSansTT"/>
                <a:cs typeface="CiscoSansTT"/>
              </a:defRPr>
            </a:lvl7pPr>
            <a:lvl8pPr algn="ctr">
              <a:defRPr sz="1500" b="0">
                <a:solidFill>
                  <a:srgbClr val="FF8A00"/>
                </a:solidFill>
                <a:latin typeface="CiscoSansTT"/>
                <a:ea typeface="CiscoSansTT"/>
                <a:cs typeface="CiscoSansTT"/>
              </a:defRPr>
            </a:lvl8pPr>
            <a:lvl9pPr algn="ctr">
              <a:defRPr sz="1500" b="0">
                <a:solidFill>
                  <a:srgbClr val="FF8A00"/>
                </a:solidFill>
                <a:latin typeface="CiscoSansTT"/>
                <a:ea typeface="CiscoSansTT"/>
                <a:cs typeface="CiscoSansTT"/>
              </a:defRPr>
            </a:lvl9pPr>
          </a:lstStyle>
          <a:p xmlns:a="http://schemas.openxmlformats.org/drawingml/2006/main">
            <a:pPr algn="ctr">
              <a:defRPr sz="1500" b="0">
                <a:solidFill>
                  <a:srgbClr val="FF8A00"/>
                </a:solidFill>
                <a:latin typeface="CiscoSansTT"/>
                <a:ea typeface="CiscoSansTT"/>
                <a:cs typeface="CiscoSansTT"/>
              </a:defRPr>
            </a:pPr>
            <a:r>
              <a:rPr sz="1500" b="0">
                <a:solidFill>
                  <a:srgbClr val="FF8A00"/>
                </a:solidFill>
                <a:latin typeface="CiscoSansTT"/>
                <a:ea typeface="CiscoSansTT"/>
                <a:cs typeface="CiscoSansTT"/>
              </a:rPr>
              <a:t>Direct request to v1, used in the denial demo</a:t>
            </a:r>
          </a:p>
        </p:txBody>
      </p:sp>
    </p:spTree>
    <p:extLst>
      <p:ext uri="{BB962C8B-B14F-4D97-AF65-F5344CB8AC3E}">
        <p14:creationId xmlns:p14="http://schemas.microsoft.com/office/powerpoint/2010/main" val="300991157"/>
      </p:ext>
    </p:extLst>
  </p:cSld>
  <p:clrMapOvr>
    <a:masterClrMapping/>
  </p:clrMapOvr>
  <p:transition advClick="1"/>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3A30ADA3-E6FC-41FC-B753-CDCCABFEFD8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dirty="0">
                <a:solidFill>
                  <a:srgbClr val="07182A"/>
                </a:solidFill>
                <a:latin typeface="CiscoSansTT Medium"/>
                <a:ea typeface="CiscoSansTT Medium"/>
                <a:cs typeface="CiscoSansTT Medium"/>
              </a:rPr>
              <a:t>Demo 1: prove coexistence</a:t>
            </a:r>
          </a:p>
        </p:txBody>
      </p:sp>
      <p:pic>
        <p:nvPicPr>
          <p:cNvPr id="6" name="cilium-obi-demo-1-coexistence.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40908267"/>
      </p:ext>
    </p:extLst>
  </p:cSld>
  <p:clrMapOvr>
    <a:masterClrMapping/>
  </p:clrMapOvr>
  <p:transition advClick="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444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1FA760BB-E05C-48FA-A99F-779C746673E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2: compare the same successful request</a:t>
            </a:r>
          </a:p>
        </p:txBody>
      </p:sp>
      <p:pic>
        <p:nvPicPr>
          <p:cNvPr id="6" name="cilium-obi-demo-2-success.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799601030"/>
      </p:ext>
    </p:extLst>
  </p:cSld>
  <p:clrMapOvr>
    <a:masterClrMapping/>
  </p:clrMapOvr>
  <p:transition advClick="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976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5350C15A-FCE4-4DE8-B47E-D55C68DF89D9}"/>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metrics in one view</a:t>
            </a: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1871583921"/>
      </p:ext>
    </p:extLst>
  </p:cSld>
  <p:clrMapOvr>
    <a:masterClrMapping/>
  </p:clrMapOvr>
  <p:transition advClick="1"/>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title">
            <a:extLst>
              <a:ext uri="{FF2B5EF4-FFF2-40B4-BE49-F238E27FC236}">
                <a16:creationId xmlns:a16="http://schemas.microsoft.com/office/drawing/2014/main" id="{682A6B35-0096-4A47-842C-C23DCA99A97C}"/>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reconstructs the three-service request</a:t>
            </a:r>
          </a:p>
        </p:txBody>
      </p:sp>
      <p:pic>
        <p:nvPicPr>
          <p:cNvPr id="6" name="Picture 3"/>
          <p:cNvPicPr>
            <a:picLocks noChangeAspect="1"/>
          </p:cNvPicPr>
          <p:nvPr/>
        </p:nvPicPr>
        <p:blipFill>
          <a:blip r:embed="rId3"/>
          <a:stretch/>
        </p:blipFill>
        <p:spPr>
          <a:xfrm>
            <a:off x="1101328" y="717500"/>
            <a:ext cx="9989344" cy="5619006"/>
          </a:xfrm>
          <a:prstGeom prst="roundRect">
            <a:avLst>
              <a:gd name="adj" fmla="val 1852"/>
            </a:avLst>
          </a:prstGeom>
        </p:spPr>
      </p:pic>
    </p:spTree>
    <p:extLst>
      <p:ext uri="{BB962C8B-B14F-4D97-AF65-F5344CB8AC3E}">
        <p14:creationId xmlns:p14="http://schemas.microsoft.com/office/powerpoint/2010/main" val="539454399"/>
      </p:ext>
    </p:extLst>
  </p:cSld>
  <p:clrMapOvr>
    <a:masterClrMapping/>
  </p:clrMapOvr>
  <p:transition advClick="1"/>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ilium-obi-demo-3-policy-denial.mp4">
            <a:hlinkClick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p:blipFill>
        <p:spPr>
          <a:xfrm>
            <a:off x="476250" y="1809750"/>
            <a:ext cx="6468534" cy="3638550"/>
          </a:xfrm>
          <a:prstGeom prst="roundRect">
            <a:avLst>
              <a:gd name="adj" fmla="val 1852"/>
            </a:avLst>
          </a:prstGeom>
        </p:spPr>
      </p:pic>
      <p:sp>
        <p:nvSpPr>
          <p:cNvPr id="1001" name="slide-title">
            <a:extLst>
              <a:ext uri="{FF2B5EF4-FFF2-40B4-BE49-F238E27FC236}">
                <a16:creationId xmlns:a16="http://schemas.microsoft.com/office/drawing/2014/main" id="{08AB1C87-B595-4FE4-A7EF-B320D1DB7812}"/>
              </a:ext>
            </a:extLst>
          </p:cNvPr>
          <p:cNvSpPr>
            <a:spLocks noGrp="1"/>
          </p:cNvSpPr>
          <p:nvPr/>
        </p:nvSpPr>
        <p:spPr>
          <a:xfrm>
            <a:off x="533400" y="361950"/>
            <a:ext cx="10763250" cy="6477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Policy denial: what each view shows</a:t>
            </a:r>
          </a:p>
        </p:txBody>
      </p:sp>
      <p:sp>
        <p:nvSpPr>
          <p:cNvPr id="1002" name="denial-route">
            <a:extLst>
              <a:ext uri="{FF2B5EF4-FFF2-40B4-BE49-F238E27FC236}">
                <a16:creationId xmlns:a16="http://schemas.microsoft.com/office/drawing/2014/main" id="{3795B665-5D7D-4C68-9291-CD86A7E442D5}"/>
              </a:ext>
            </a:extLst>
          </p:cNvPr>
          <p:cNvSpPr>
            <a:spLocks noGrp="1"/>
          </p:cNvSpPr>
          <p:nvPr/>
        </p:nvSpPr>
        <p:spPr>
          <a:xfrm>
            <a:off x="571500" y="1066800"/>
            <a:ext cx="11049000" cy="41910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The policy allows v2 to call v1. It blocks direct edge-nginx calls to v1.</a:t>
            </a:r>
          </a:p>
        </p:txBody>
      </p:sp>
      <p:sp>
        <p:nvSpPr>
          <p:cNvPr id="1004" name="grafana-drop-caption">
            <a:extLst>
              <a:ext uri="{FF2B5EF4-FFF2-40B4-BE49-F238E27FC236}">
                <a16:creationId xmlns:a16="http://schemas.microsoft.com/office/drawing/2014/main" id="{372632C0-3BBC-44F0-A646-621952DAA9B6}"/>
              </a:ext>
            </a:extLst>
          </p:cNvPr>
          <p:cNvSpPr>
            <a:spLocks noGrp="1"/>
          </p:cNvSpPr>
          <p:nvPr/>
        </p:nvSpPr>
        <p:spPr>
          <a:xfrm>
            <a:off x="7143750" y="3762375"/>
            <a:ext cx="4572000" cy="514350"/>
          </a:xfrm>
          <a:prstGeom prst="rect">
            <a:avLst/>
          </a:prstGeom>
          <a:noFill/>
          <a:ln w="0">
            <a:noFill/>
          </a:ln>
        </p:spPr>
        <p:txBody>
          <a:bodyPr anchor="ctr">
            <a:noAutofit/>
          </a:bodyPr>
          <a:lstStyle>
            <a:defPPr algn="l">
              <a:defRPr sz="1725" b="1">
                <a:solidFill>
                  <a:srgbClr val="07182A"/>
                </a:solidFill>
                <a:latin typeface="CiscoSansTT Medium"/>
                <a:ea typeface="CiscoSansTT Medium"/>
                <a:cs typeface="CiscoSansTT Medium"/>
              </a:defRPr>
            </a:defPPr>
            <a:lvl1pPr algn="l">
              <a:defRPr sz="1725" b="1">
                <a:solidFill>
                  <a:srgbClr val="07182A"/>
                </a:solidFill>
                <a:latin typeface="CiscoSansTT Medium"/>
                <a:ea typeface="CiscoSansTT Medium"/>
                <a:cs typeface="CiscoSansTT Medium"/>
              </a:defRPr>
            </a:lvl1pPr>
            <a:lvl2pPr algn="l">
              <a:defRPr sz="1725" b="1">
                <a:solidFill>
                  <a:srgbClr val="07182A"/>
                </a:solidFill>
                <a:latin typeface="CiscoSansTT Medium"/>
                <a:ea typeface="CiscoSansTT Medium"/>
                <a:cs typeface="CiscoSansTT Medium"/>
              </a:defRPr>
            </a:lvl2pPr>
            <a:lvl3pPr algn="l">
              <a:defRPr sz="1725" b="1">
                <a:solidFill>
                  <a:srgbClr val="07182A"/>
                </a:solidFill>
                <a:latin typeface="CiscoSansTT Medium"/>
                <a:ea typeface="CiscoSansTT Medium"/>
                <a:cs typeface="CiscoSansTT Medium"/>
              </a:defRPr>
            </a:lvl3pPr>
            <a:lvl4pPr algn="l">
              <a:defRPr sz="1725" b="1">
                <a:solidFill>
                  <a:srgbClr val="07182A"/>
                </a:solidFill>
                <a:latin typeface="CiscoSansTT Medium"/>
                <a:ea typeface="CiscoSansTT Medium"/>
                <a:cs typeface="CiscoSansTT Medium"/>
              </a:defRPr>
            </a:lvl4pPr>
            <a:lvl5pPr algn="l">
              <a:defRPr sz="1725" b="1">
                <a:solidFill>
                  <a:srgbClr val="07182A"/>
                </a:solidFill>
                <a:latin typeface="CiscoSansTT Medium"/>
                <a:ea typeface="CiscoSansTT Medium"/>
                <a:cs typeface="CiscoSansTT Medium"/>
              </a:defRPr>
            </a:lvl5pPr>
            <a:lvl6pPr algn="l">
              <a:defRPr sz="1725" b="1">
                <a:solidFill>
                  <a:srgbClr val="07182A"/>
                </a:solidFill>
                <a:latin typeface="CiscoSansTT Medium"/>
                <a:ea typeface="CiscoSansTT Medium"/>
                <a:cs typeface="CiscoSansTT Medium"/>
              </a:defRPr>
            </a:lvl6pPr>
            <a:lvl7pPr algn="l">
              <a:defRPr sz="1725" b="1">
                <a:solidFill>
                  <a:srgbClr val="07182A"/>
                </a:solidFill>
                <a:latin typeface="CiscoSansTT Medium"/>
                <a:ea typeface="CiscoSansTT Medium"/>
                <a:cs typeface="CiscoSansTT Medium"/>
              </a:defRPr>
            </a:lvl7pPr>
            <a:lvl8pPr algn="l">
              <a:defRPr sz="1725" b="1">
                <a:solidFill>
                  <a:srgbClr val="07182A"/>
                </a:solidFill>
                <a:latin typeface="CiscoSansTT Medium"/>
                <a:ea typeface="CiscoSansTT Medium"/>
                <a:cs typeface="CiscoSansTT Medium"/>
              </a:defRPr>
            </a:lvl8pPr>
            <a:lvl9pPr algn="l">
              <a:defRPr sz="1725" b="1">
                <a:solidFill>
                  <a:srgbClr val="07182A"/>
                </a:solidFill>
                <a:latin typeface="CiscoSansTT Medium"/>
                <a:ea typeface="CiscoSansTT Medium"/>
                <a:cs typeface="CiscoSansTT Medium"/>
              </a:defRPr>
            </a:lvl9pPr>
          </a:lstStyle>
          <a:p>
            <a:pPr algn="l">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Grafana: aggregate drop spike</a:t>
            </a:r>
          </a:p>
        </p:txBody>
      </p:sp>
      <p:sp>
        <p:nvSpPr>
          <p:cNvPr id="1005" name="hubble-proof">
            <a:extLst>
              <a:ext uri="{FF2B5EF4-FFF2-40B4-BE49-F238E27FC236}">
                <a16:creationId xmlns:a16="http://schemas.microsoft.com/office/drawing/2014/main" id="{0724876A-175F-4E78-850C-8F380A591ABE}"/>
              </a:ext>
            </a:extLst>
          </p:cNvPr>
          <p:cNvSpPr>
            <a:spLocks noGrp="1"/>
          </p:cNvSpPr>
          <p:nvPr/>
        </p:nvSpPr>
        <p:spPr>
          <a:xfrm>
            <a:off x="7143750" y="4276725"/>
            <a:ext cx="4572000" cy="428625"/>
          </a:xfrm>
          <a:prstGeom prst="rect">
            <a:avLst/>
          </a:prstGeom>
          <a:noFill/>
          <a:ln w="0">
            <a:noFill/>
          </a:ln>
        </p:spPr>
        <p:txBody>
          <a:bodyPr anchor="ctr">
            <a:noAutofit/>
          </a:bodyPr>
          <a:lstStyle>
            <a:defPPr algn="l">
              <a:defRPr sz="1650" b="1">
                <a:solidFill>
                  <a:srgbClr val="0860FE"/>
                </a:solidFill>
                <a:latin typeface="CiscoSansTT Medium"/>
                <a:ea typeface="CiscoSansTT Medium"/>
                <a:cs typeface="CiscoSansTT Medium"/>
              </a:defRPr>
            </a:defPPr>
            <a:lvl1pPr algn="l">
              <a:defRPr sz="1650" b="1">
                <a:solidFill>
                  <a:srgbClr val="0860FE"/>
                </a:solidFill>
                <a:latin typeface="CiscoSansTT Medium"/>
                <a:ea typeface="CiscoSansTT Medium"/>
                <a:cs typeface="CiscoSansTT Medium"/>
              </a:defRPr>
            </a:lvl1pPr>
            <a:lvl2pPr algn="l">
              <a:defRPr sz="1650" b="1">
                <a:solidFill>
                  <a:srgbClr val="0860FE"/>
                </a:solidFill>
                <a:latin typeface="CiscoSansTT Medium"/>
                <a:ea typeface="CiscoSansTT Medium"/>
                <a:cs typeface="CiscoSansTT Medium"/>
              </a:defRPr>
            </a:lvl2pPr>
            <a:lvl3pPr algn="l">
              <a:defRPr sz="1650" b="1">
                <a:solidFill>
                  <a:srgbClr val="0860FE"/>
                </a:solidFill>
                <a:latin typeface="CiscoSansTT Medium"/>
                <a:ea typeface="CiscoSansTT Medium"/>
                <a:cs typeface="CiscoSansTT Medium"/>
              </a:defRPr>
            </a:lvl3pPr>
            <a:lvl4pPr algn="l">
              <a:defRPr sz="1650" b="1">
                <a:solidFill>
                  <a:srgbClr val="0860FE"/>
                </a:solidFill>
                <a:latin typeface="CiscoSansTT Medium"/>
                <a:ea typeface="CiscoSansTT Medium"/>
                <a:cs typeface="CiscoSansTT Medium"/>
              </a:defRPr>
            </a:lvl4pPr>
            <a:lvl5pPr algn="l">
              <a:defRPr sz="1650" b="1">
                <a:solidFill>
                  <a:srgbClr val="0860FE"/>
                </a:solidFill>
                <a:latin typeface="CiscoSansTT Medium"/>
                <a:ea typeface="CiscoSansTT Medium"/>
                <a:cs typeface="CiscoSansTT Medium"/>
              </a:defRPr>
            </a:lvl5pPr>
            <a:lvl6pPr algn="l">
              <a:defRPr sz="1650" b="1">
                <a:solidFill>
                  <a:srgbClr val="0860FE"/>
                </a:solidFill>
                <a:latin typeface="CiscoSansTT Medium"/>
                <a:ea typeface="CiscoSansTT Medium"/>
                <a:cs typeface="CiscoSansTT Medium"/>
              </a:defRPr>
            </a:lvl6pPr>
            <a:lvl7pPr algn="l">
              <a:defRPr sz="1650" b="1">
                <a:solidFill>
                  <a:srgbClr val="0860FE"/>
                </a:solidFill>
                <a:latin typeface="CiscoSansTT Medium"/>
                <a:ea typeface="CiscoSansTT Medium"/>
                <a:cs typeface="CiscoSansTT Medium"/>
              </a:defRPr>
            </a:lvl7pPr>
            <a:lvl8pPr algn="l">
              <a:defRPr sz="1650" b="1">
                <a:solidFill>
                  <a:srgbClr val="0860FE"/>
                </a:solidFill>
                <a:latin typeface="CiscoSansTT Medium"/>
                <a:ea typeface="CiscoSansTT Medium"/>
                <a:cs typeface="CiscoSansTT Medium"/>
              </a:defRPr>
            </a:lvl8pPr>
            <a:lvl9pPr algn="l">
              <a:defRPr sz="1650" b="1">
                <a:solidFill>
                  <a:srgbClr val="0860FE"/>
                </a:solidFill>
                <a:latin typeface="CiscoSansTT Medium"/>
                <a:ea typeface="CiscoSansTT Medium"/>
                <a:cs typeface="CiscoSansTT Medium"/>
              </a:defRPr>
            </a:lvl9pPr>
          </a:lstStyle>
          <a:p>
            <a:pPr algn="l">
              <a:defRPr sz="1650" b="1">
                <a:solidFill>
                  <a:srgbClr val="0860FE"/>
                </a:solidFill>
                <a:latin typeface="CiscoSansTT Medium"/>
                <a:ea typeface="CiscoSansTT Medium"/>
                <a:cs typeface="CiscoSansTT Medium"/>
              </a:defRPr>
            </a:pPr>
            <a:r>
              <a:rPr sz="1650" b="1" dirty="0">
                <a:solidFill>
                  <a:srgbClr val="0860FE"/>
                </a:solidFill>
                <a:latin typeface="CiscoSansTT Medium"/>
                <a:ea typeface="CiscoSansTT Medium"/>
                <a:cs typeface="CiscoSansTT Medium"/>
              </a:rPr>
              <a:t>Hubble: Policy denied / DROPPED</a:t>
            </a:r>
          </a:p>
        </p:txBody>
      </p:sp>
      <p:pic>
        <p:nvPicPr>
          <p:cNvPr id="2" name="Picture 1">
            <a:extLst>
              <a:ext uri="{FF2B5EF4-FFF2-40B4-BE49-F238E27FC236}">
                <a16:creationId xmlns:a16="http://schemas.microsoft.com/office/drawing/2014/main" id="{B0652DC0-27FC-2737-BB52-E712ADDAF3DC}"/>
              </a:ext>
            </a:extLst>
          </p:cNvPr>
          <p:cNvPicPr>
            <a:picLocks noChangeAspect="1"/>
          </p:cNvPicPr>
          <p:nvPr/>
        </p:nvPicPr>
        <p:blipFill>
          <a:blip r:embed="rId6"/>
          <a:stretch>
            <a:fillRect/>
          </a:stretch>
        </p:blipFill>
        <p:spPr>
          <a:xfrm>
            <a:off x="7198414" y="1828800"/>
            <a:ext cx="4517336" cy="1948101"/>
          </a:xfrm>
          <a:prstGeom prst="rect">
            <a:avLst/>
          </a:prstGeom>
        </p:spPr>
      </p:pic>
    </p:spTree>
    <p:extLst>
      <p:ext uri="{BB962C8B-B14F-4D97-AF65-F5344CB8AC3E}">
        <p14:creationId xmlns:p14="http://schemas.microsoft.com/office/powerpoint/2010/main" val="1923459705"/>
      </p:ext>
    </p:extLst>
  </p:cSld>
  <p:clrMapOvr>
    <a:masterClrMapping/>
  </p:clrMapOvr>
  <p:transition advClick="1"/>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8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Live telemetry playground</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3"/>
              </a:rPr>
              <a:t>App metrics</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3"/>
              </a:rPr>
              <a:t>Grafana: request rate, p95, flows and drops</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4"/>
              </a:rPr>
              <a:t>Pipeline health</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4"/>
              </a:rPr>
              <a:t>Grafana: Cilium, Hubble and Collector health</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5"/>
              </a:rPr>
              <a:t>Tempo traces</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5"/>
              </a:rPr>
              <a:t>Grafana Explore: inspect a three-service trace</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t">
            <a:normAutofit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hlinkClick r:id="rId6"/>
              </a:rPr>
              <a:t>Hubble flows</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hlinkClick r:id="rId6"/>
              </a:rPr>
              <a:t>Hubble UI: workloads, ports and verdicts</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t">
            <a:normAutofit fontScale="86776"/>
          </a:bodyPr>
          <a:lstStyle/>
          <a:p>
            <a:pPr algn="ctr">
              <a:buNone/>
              <a:defRPr sz="1650" b="1">
                <a:solidFill>
                  <a:srgbClr val="FFFFFF"/>
                </a:solidFill>
                <a:latin typeface="CiscoSansTT Medium"/>
                <a:ea typeface="CiscoSansTT Medium"/>
                <a:cs typeface="CiscoSansTT Medium"/>
              </a:defRPr>
            </a:pPr>
            <a:r>
              <a:rPr sz="1650" b="1" dirty="0">
                <a:solidFill>
                  <a:srgbClr val="FFFFFF"/>
                </a:solidFill>
                <a:latin typeface="CiscoSansTT Medium"/>
                <a:ea typeface="CiscoSansTT Medium"/>
                <a:cs typeface="CiscoSansTT Medium"/>
              </a:rPr>
              <a:t>Click a row. Live links require local port-forwards.</a:t>
            </a:r>
          </a:p>
        </p:txBody>
      </p:sp>
    </p:spTree>
    <p:extLst>
      <p:ext uri="{BB962C8B-B14F-4D97-AF65-F5344CB8AC3E}">
        <p14:creationId xmlns:p14="http://schemas.microsoft.com/office/powerpoint/2010/main" val="1882857912"/>
      </p:ext>
    </p:extLst>
  </p:cSld>
  <p:clrMapOvr>
    <a:masterClrMapping/>
  </p:clrMapOvr>
  <p:transition advClick="1"/>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Measure the combined system</a:t>
            </a:r>
          </a:p>
        </p:txBody>
      </p:sp>
    </p:spTree>
    <p:extLst>
      <p:ext uri="{BB962C8B-B14F-4D97-AF65-F5344CB8AC3E}">
        <p14:creationId xmlns:p14="http://schemas.microsoft.com/office/powerpoint/2010/main" val="142554401"/>
      </p:ext>
    </p:extLst>
  </p:cSld>
  <p:clrMapOvr>
    <a:masterClrMapping/>
  </p:clrMapOvr>
  <p:transition advClick="1"/>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lide-title">
            <a:extLst>
              <a:ext uri="{FF2B5EF4-FFF2-40B4-BE49-F238E27FC236}">
                <a16:creationId xmlns:a16="http://schemas.microsoft.com/office/drawing/2014/main" id="{43AEE9E5-8F08-4B77-B756-AC329ED94EA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Benchmark scenarios and controls</a:t>
            </a:r>
          </a:p>
        </p:txBody>
      </p:sp>
      <p:sp>
        <p:nvSpPr>
          <p:cNvPr id="2" name="Rounded Rectangle 1">
            <a:extLst>
              <a:ext uri="{FF2B5EF4-FFF2-40B4-BE49-F238E27FC236}">
                <a16:creationId xmlns:a16="http://schemas.microsoft.com/office/drawing/2014/main" id="{C57F3861-4686-4855-A5F6-163934D70F39}"/>
              </a:ext>
            </a:extLst>
          </p:cNvPr>
          <p:cNvSpPr>
            <a:spLocks noGrp="1"/>
          </p:cNvSpPr>
          <p:nvPr/>
        </p:nvSpPr>
        <p:spPr>
          <a:xfrm>
            <a:off x="1209675" y="2000250"/>
            <a:ext cx="704850" cy="381000"/>
          </a:xfrm>
          <a:prstGeom prst="roundRect">
            <a:avLst>
              <a:gd name="adj" fmla="val 20000"/>
            </a:avLst>
          </a:prstGeom>
          <a:solidFill>
            <a:srgbClr val="686B6B"/>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A</a:t>
            </a:r>
          </a:p>
        </p:txBody>
      </p:sp>
      <p:sp>
        <p:nvSpPr>
          <p:cNvPr id="3" name="Rounded Rectangle 2">
            <a:extLst>
              <a:ext uri="{FF2B5EF4-FFF2-40B4-BE49-F238E27FC236}">
                <a16:creationId xmlns:a16="http://schemas.microsoft.com/office/drawing/2014/main" id="{43DA1D42-5150-46B7-A997-2EA04A6FE5E7}"/>
              </a:ext>
            </a:extLst>
          </p:cNvPr>
          <p:cNvSpPr>
            <a:spLocks noGrp="1"/>
          </p:cNvSpPr>
          <p:nvPr/>
        </p:nvSpPr>
        <p:spPr>
          <a:xfrm>
            <a:off x="666750" y="2571750"/>
            <a:ext cx="1790700" cy="1352550"/>
          </a:xfrm>
          <a:prstGeom prst="roundRect">
            <a:avLst>
              <a:gd name="adj" fmla="val 5634"/>
            </a:avLst>
          </a:prstGeom>
          <a:solidFill>
            <a:srgbClr val="F4F6F8"/>
          </a:solidFill>
          <a:ln w="14288">
            <a:solidFill>
              <a:srgbClr val="686B6B"/>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Cilium</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baseline</a:t>
            </a:r>
          </a:p>
        </p:txBody>
      </p:sp>
      <p:sp>
        <p:nvSpPr>
          <p:cNvPr id="4" name="Rounded Rectangle 3">
            <a:extLst>
              <a:ext uri="{FF2B5EF4-FFF2-40B4-BE49-F238E27FC236}">
                <a16:creationId xmlns:a16="http://schemas.microsoft.com/office/drawing/2014/main" id="{A0DAE3A5-7A9B-486F-A790-57C2532D53BF}"/>
              </a:ext>
            </a:extLst>
          </p:cNvPr>
          <p:cNvSpPr>
            <a:spLocks noGrp="1"/>
          </p:cNvSpPr>
          <p:nvPr/>
        </p:nvSpPr>
        <p:spPr>
          <a:xfrm>
            <a:off x="3476625" y="2000250"/>
            <a:ext cx="7048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B</a:t>
            </a:r>
          </a:p>
        </p:txBody>
      </p:sp>
      <p:sp>
        <p:nvSpPr>
          <p:cNvPr id="5" name="Rounded Rectangle 4">
            <a:extLst>
              <a:ext uri="{FF2B5EF4-FFF2-40B4-BE49-F238E27FC236}">
                <a16:creationId xmlns:a16="http://schemas.microsoft.com/office/drawing/2014/main" id="{A2D31BC7-2580-481F-BFF6-E5D5FE1EF90C}"/>
              </a:ext>
            </a:extLst>
          </p:cNvPr>
          <p:cNvSpPr>
            <a:spLocks noGrp="1"/>
          </p:cNvSpPr>
          <p:nvPr/>
        </p:nvSpPr>
        <p:spPr>
          <a:xfrm>
            <a:off x="2933700" y="2571750"/>
            <a:ext cx="1790700" cy="1352550"/>
          </a:xfrm>
          <a:prstGeom prst="roundRect">
            <a:avLst>
              <a:gd name="adj" fmla="val 5634"/>
            </a:avLst>
          </a:prstGeom>
          <a:solidFill>
            <a:srgbClr val="EAF7FC"/>
          </a:solidFill>
          <a:ln w="14288">
            <a:solidFill>
              <a:srgbClr val="0860FE"/>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L3/L4</a:t>
            </a:r>
          </a:p>
        </p:txBody>
      </p:sp>
      <p:sp>
        <p:nvSpPr>
          <p:cNvPr id="6" name="Rounded Rectangle 5">
            <a:extLst>
              <a:ext uri="{FF2B5EF4-FFF2-40B4-BE49-F238E27FC236}">
                <a16:creationId xmlns:a16="http://schemas.microsoft.com/office/drawing/2014/main" id="{B5CC0480-58B6-481F-A0E6-4B4442B486FA}"/>
              </a:ext>
            </a:extLst>
          </p:cNvPr>
          <p:cNvSpPr>
            <a:spLocks noGrp="1"/>
          </p:cNvSpPr>
          <p:nvPr/>
        </p:nvSpPr>
        <p:spPr>
          <a:xfrm>
            <a:off x="5743575" y="2000250"/>
            <a:ext cx="704850" cy="381000"/>
          </a:xfrm>
          <a:prstGeom prst="roundRect">
            <a:avLst>
              <a:gd name="adj" fmla="val 20000"/>
            </a:avLst>
          </a:prstGeom>
          <a:solidFill>
            <a:srgbClr val="FF007F"/>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a:t>
            </a:r>
          </a:p>
        </p:txBody>
      </p:sp>
      <p:sp>
        <p:nvSpPr>
          <p:cNvPr id="7" name="Rounded Rectangle 6">
            <a:extLst>
              <a:ext uri="{FF2B5EF4-FFF2-40B4-BE49-F238E27FC236}">
                <a16:creationId xmlns:a16="http://schemas.microsoft.com/office/drawing/2014/main" id="{249A79A0-91CC-421C-BF6B-235A6CEA09E1}"/>
              </a:ext>
            </a:extLst>
          </p:cNvPr>
          <p:cNvSpPr>
            <a:spLocks noGrp="1"/>
          </p:cNvSpPr>
          <p:nvPr/>
        </p:nvSpPr>
        <p:spPr>
          <a:xfrm>
            <a:off x="5200650" y="2571750"/>
            <a:ext cx="1790700" cy="1352550"/>
          </a:xfrm>
          <a:prstGeom prst="roundRect">
            <a:avLst>
              <a:gd name="adj" fmla="val 5634"/>
            </a:avLst>
          </a:prstGeom>
          <a:solidFill>
            <a:srgbClr val="F4EAF4"/>
          </a:solidFill>
          <a:ln w="14288">
            <a:solidFill>
              <a:srgbClr val="FF007F"/>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metrics</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no propagation</a:t>
            </a:r>
          </a:p>
        </p:txBody>
      </p:sp>
      <p:sp>
        <p:nvSpPr>
          <p:cNvPr id="8" name="Rounded Rectangle 7">
            <a:extLst>
              <a:ext uri="{FF2B5EF4-FFF2-40B4-BE49-F238E27FC236}">
                <a16:creationId xmlns:a16="http://schemas.microsoft.com/office/drawing/2014/main" id="{6079DEF9-F700-4121-AB14-6C19F5737C35}"/>
              </a:ext>
            </a:extLst>
          </p:cNvPr>
          <p:cNvSpPr>
            <a:spLocks noGrp="1"/>
          </p:cNvSpPr>
          <p:nvPr/>
        </p:nvSpPr>
        <p:spPr>
          <a:xfrm>
            <a:off x="8010525" y="2000250"/>
            <a:ext cx="704850" cy="381000"/>
          </a:xfrm>
          <a:prstGeom prst="roundRect">
            <a:avLst>
              <a:gd name="adj" fmla="val 20000"/>
            </a:avLst>
          </a:prstGeom>
          <a:solidFill>
            <a:srgbClr val="FF007F"/>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D</a:t>
            </a:r>
          </a:p>
        </p:txBody>
      </p:sp>
      <p:sp>
        <p:nvSpPr>
          <p:cNvPr id="9" name="Rounded Rectangle 8">
            <a:extLst>
              <a:ext uri="{FF2B5EF4-FFF2-40B4-BE49-F238E27FC236}">
                <a16:creationId xmlns:a16="http://schemas.microsoft.com/office/drawing/2014/main" id="{AC5F954D-00D8-4D33-A7F6-923DE12E6AD9}"/>
              </a:ext>
            </a:extLst>
          </p:cNvPr>
          <p:cNvSpPr>
            <a:spLocks noGrp="1"/>
          </p:cNvSpPr>
          <p:nvPr/>
        </p:nvSpPr>
        <p:spPr>
          <a:xfrm>
            <a:off x="7467600" y="2571750"/>
            <a:ext cx="1790700" cy="1352550"/>
          </a:xfrm>
          <a:prstGeom prst="roundRect">
            <a:avLst>
              <a:gd name="adj" fmla="val 5634"/>
            </a:avLst>
          </a:prstGeom>
          <a:solidFill>
            <a:srgbClr val="F4EAF4"/>
          </a:solidFill>
          <a:ln w="14288">
            <a:solidFill>
              <a:srgbClr val="FF007F"/>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traces</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TCX propagation</a:t>
            </a:r>
          </a:p>
        </p:txBody>
      </p:sp>
      <p:sp>
        <p:nvSpPr>
          <p:cNvPr id="10" name="Rounded Rectangle 9">
            <a:extLst>
              <a:ext uri="{FF2B5EF4-FFF2-40B4-BE49-F238E27FC236}">
                <a16:creationId xmlns:a16="http://schemas.microsoft.com/office/drawing/2014/main" id="{4FEFADD7-1B50-4BB3-8599-47FACAE44ED4}"/>
              </a:ext>
            </a:extLst>
          </p:cNvPr>
          <p:cNvSpPr>
            <a:spLocks noGrp="1"/>
          </p:cNvSpPr>
          <p:nvPr/>
        </p:nvSpPr>
        <p:spPr>
          <a:xfrm>
            <a:off x="10277475" y="2000250"/>
            <a:ext cx="7048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E</a:t>
            </a:r>
          </a:p>
        </p:txBody>
      </p:sp>
      <p:sp>
        <p:nvSpPr>
          <p:cNvPr id="11" name="Rounded Rectangle 10">
            <a:extLst>
              <a:ext uri="{FF2B5EF4-FFF2-40B4-BE49-F238E27FC236}">
                <a16:creationId xmlns:a16="http://schemas.microsoft.com/office/drawing/2014/main" id="{82E7F45A-14F9-47B8-94BC-1FD3A9870B5A}"/>
              </a:ext>
            </a:extLst>
          </p:cNvPr>
          <p:cNvSpPr>
            <a:spLocks noGrp="1"/>
          </p:cNvSpPr>
          <p:nvPr/>
        </p:nvSpPr>
        <p:spPr>
          <a:xfrm>
            <a:off x="9734550" y="2571750"/>
            <a:ext cx="1790700" cy="1352550"/>
          </a:xfrm>
          <a:prstGeom prst="roundRect">
            <a:avLst>
              <a:gd name="adj" fmla="val 5634"/>
            </a:avLst>
          </a:prstGeom>
          <a:solidFill>
            <a:srgbClr val="EAF7FC"/>
          </a:solidFill>
          <a:ln w="14288">
            <a:solidFill>
              <a:srgbClr val="0860FE"/>
            </a:solidFill>
          </a:ln>
        </p:spPr>
        <p:txBody>
          <a:bodyPr anchor="ctr">
            <a:normAutofit/>
          </a:bodyPr>
          <a:lstStyle/>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 L7</a:t>
            </a:r>
          </a:p>
          <a:p>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Envoy redirect</a:t>
            </a:r>
          </a:p>
        </p:txBody>
      </p:sp>
      <p:sp>
        <p:nvSpPr>
          <p:cNvPr id="14" name="Rectangle 13">
            <a:extLst>
              <a:ext uri="{FF2B5EF4-FFF2-40B4-BE49-F238E27FC236}">
                <a16:creationId xmlns:a16="http://schemas.microsoft.com/office/drawing/2014/main" id="{D75E356C-92AC-4938-8ABE-810420048C00}"/>
              </a:ext>
            </a:extLst>
          </p:cNvPr>
          <p:cNvSpPr>
            <a:spLocks noGrp="1"/>
          </p:cNvSpPr>
          <p:nvPr/>
        </p:nvSpPr>
        <p:spPr>
          <a:xfrm>
            <a:off x="762000" y="4476750"/>
            <a:ext cx="10668000" cy="457200"/>
          </a:xfrm>
          <a:prstGeom prst="rect">
            <a:avLst/>
          </a:prstGeom>
          <a:noFill/>
          <a:ln w="0">
            <a:noFill/>
          </a:ln>
        </p:spPr>
        <p:txBody>
          <a:bodyPr anchor="t">
            <a:normAutofit/>
          </a:bodyPr>
          <a:lstStyle/>
          <a:p>
            <a:pPr algn="ctr">
              <a:buNone/>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Same Cilium cluster, route, load, placement and backend</a:t>
            </a:r>
          </a:p>
        </p:txBody>
      </p:sp>
    </p:spTree>
    <p:extLst>
      <p:ext uri="{BB962C8B-B14F-4D97-AF65-F5344CB8AC3E}">
        <p14:creationId xmlns:p14="http://schemas.microsoft.com/office/powerpoint/2010/main" val="617371277"/>
      </p:ext>
    </p:extLst>
  </p:cSld>
  <p:clrMapOvr>
    <a:masterClrMapping/>
  </p:clrMapOvr>
  <p:transition advClick="1"/>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43AEE9E5-8F08-4B77-B756-AC329ED94E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 versus D: measured rehearsal results</a:t>
            </a:r>
          </a:p>
        </p:txBody>
      </p:sp>
      <p:sp>
        <p:nvSpPr>
          <p:cNvPr id="20" name="Rectangle 19">
            <a:extLst xmlns:a="http://schemas.openxmlformats.org/drawingml/2006/main">
              <a:ext uri="{FF2B5EF4-FFF2-40B4-BE49-F238E27FC236}">
                <a16:creationId xmlns:a16="http://schemas.microsoft.com/office/drawing/2014/main" id="{6E890BCB-BEDF-4A21-BC9C-E03C004765D8}"/>
              </a:ext>
            </a:extLst>
          </p:cNvPr>
          <p:cNvSpPr>
            <a:spLocks xmlns:a="http://schemas.openxmlformats.org/drawingml/2006/main" noGrp="1"/>
          </p:cNvSpPr>
          <p:nvPr/>
        </p:nvSpPr>
        <p:spPr>
          <a:xfrm xmlns:a="http://schemas.openxmlformats.org/drawingml/2006/main">
            <a:off x="762000" y="121920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Same cluster, route and load. B ran before D.</a:t>
            </a:r>
          </a:p>
        </p:txBody>
      </p:sp>
      <p:graphicFrame>
        <p:nvGraphicFramePr>
          <p:cNvPr id="26" name="Table 25">
            <a:extLst xmlns:a="http://schemas.openxmlformats.org/drawingml/2006/main">
              <a:ext uri="{FF2B5EF4-FFF2-40B4-BE49-F238E27FC236}">
                <a16:creationId xmlns:a16="http://schemas.microsoft.com/office/drawing/2014/main" id="{5F6B783C-A950-4497-A579-B6230CCFE40D}"/>
              </a:ext>
            </a:extLst>
          </p:cNvPr>
          <p:cNvGraphicFramePr/>
          <p:nvPr/>
        </p:nvGraphicFramePr>
        <p:xfrm>
          <a:off xmlns:a="http://schemas.openxmlformats.org/drawingml/2006/main" x="762000" y="1847850"/>
          <a:ext xmlns:a="http://schemas.openxmlformats.org/drawingml/2006/main" cx="10668000" cy="3200400"/>
        </p:xfrm>
        <a:graphic xmlns:a="http://schemas.openxmlformats.org/drawingml/2006/main">
          <a:graphicData uri="http://schemas.openxmlformats.org/drawingml/2006/table">
            <a:tbl>
              <a:tblPr/>
              <a:tblGrid>
                <a:gridCol w="3429000"/>
                <a:gridCol w="2476500"/>
                <a:gridCol w="2476500"/>
                <a:gridCol w="2286000"/>
              </a:tblGrid>
              <a:tr h="533400">
                <a:tc>
                  <a:txBody>
                    <a:bodyPr/>
                    <a:lstStyle/>
                    <a:p>
                      <a:r>
                        <a:rPr sz="1575" b="1">
                          <a:solidFill>
                            <a:srgbClr val="07182A"/>
                          </a:solidFill>
                          <a:latin typeface="CiscoSansTT Medium"/>
                          <a:ea typeface="CiscoSansTT Medium"/>
                          <a:cs typeface="CiscoSansTT Medium"/>
                        </a:rPr>
                        <a:t>Metric</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860FE"/>
                          </a:solidFill>
                          <a:latin typeface="CiscoSansTT Medium"/>
                          <a:ea typeface="CiscoSansTT Medium"/>
                          <a:cs typeface="CiscoSansTT Medium"/>
                        </a:rPr>
                        <a:t>B: OBI off</a:t>
                      </a:r>
                      <a:endParaRPr sz="1575" b="1">
                        <a:solidFill>
                          <a:srgbClr val="0860FE"/>
                        </a:solidFill>
                        <a:latin typeface="CiscoSansTT Medium"/>
                        <a:ea typeface="CiscoSansTT Medium"/>
                        <a:cs typeface="CiscoSansTT Medium"/>
                      </a:endParaRP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FF007F"/>
                          </a:solidFill>
                          <a:latin typeface="CiscoSansTT Medium"/>
                          <a:ea typeface="CiscoSansTT Medium"/>
                          <a:cs typeface="CiscoSansTT Medium"/>
                        </a:rPr>
                        <a:t>D: OBI on (TCX)</a:t>
                      </a:r>
                      <a:endParaRPr sz="1575" b="1">
                        <a:solidFill>
                          <a:srgbClr val="FF007F"/>
                        </a:solidFill>
                        <a:latin typeface="CiscoSansTT Medium"/>
                        <a:ea typeface="CiscoSansTT Medium"/>
                        <a:cs typeface="CiscoSansTT Medium"/>
                      </a:endParaRP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575" b="1">
                          <a:solidFill>
                            <a:srgbClr val="07182A"/>
                          </a:solidFill>
                          <a:latin typeface="CiscoSansTT Medium"/>
                          <a:ea typeface="CiscoSansTT Medium"/>
                          <a:cs typeface="CiscoSansTT Medium"/>
                        </a:rPr>
                        <a:t>Change</a:t>
                      </a:r>
                    </a:p>
                  </a:txBody>
                  <a:tcPr marL="91440" marR="91440" marT="45720" marB="45720">
                    <a:lnL w="0">
                      <a:noFill/>
                    </a:lnL>
                    <a:lnR w="0">
                      <a:noFill/>
                    </a:lnR>
                    <a:lnT w="6350">
                      <a:solidFill>
                        <a:srgbClr val="D6DDE3"/>
                      </a:solidFill>
                    </a:lnT>
                    <a:lnB w="6350">
                      <a:solidFill>
                        <a:srgbClr val="D6DDE3"/>
                      </a:solidFill>
                    </a:lnB>
                    <a:solidFill>
                      <a:srgbClr val="FFFFFF"/>
                    </a:solidFill>
                  </a:tcPr>
                </a:tc>
              </a:tr>
              <a:tr h="533400">
                <a:tc>
                  <a:txBody>
                    <a:bodyPr/>
                    <a:lstStyle/>
                    <a:p>
                      <a:r>
                        <a:rPr sz="1650" b="0">
                          <a:solidFill>
                            <a:srgbClr val="07182A"/>
                          </a:solidFill>
                          <a:latin typeface="CiscoSansTT"/>
                          <a:ea typeface="CiscoSansTT"/>
                          <a:cs typeface="CiscoSansTT"/>
                        </a:rPr>
                        <a:t>Throughput (median)</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19.77 req/s</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19.73 req/s</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−0.2%</a:t>
                      </a:r>
                    </a:p>
                  </a:txBody>
                  <a:tcPr marL="91440" marR="91440" marT="45720" marB="45720">
                    <a:lnL w="0">
                      <a:noFill/>
                    </a:lnL>
                    <a:lnR w="0">
                      <a:noFill/>
                    </a:lnR>
                    <a:lnT w="6350">
                      <a:solidFill>
                        <a:srgbClr val="D6DDE3"/>
                      </a:solidFill>
                    </a:lnT>
                    <a:lnB w="6350">
                      <a:solidFill>
                        <a:srgbClr val="D6DDE3"/>
                      </a:solidFill>
                    </a:lnB>
                    <a:solidFill>
                      <a:srgbClr val="FFFFFF"/>
                    </a:solidFill>
                  </a:tcPr>
                </a:tc>
              </a:tr>
              <a:tr h="533400">
                <a:tc>
                  <a:txBody>
                    <a:bodyPr/>
                    <a:lstStyle/>
                    <a:p>
                      <a:r>
                        <a:rPr sz="1650" b="0">
                          <a:solidFill>
                            <a:srgbClr val="07182A"/>
                          </a:solidFill>
                          <a:latin typeface="CiscoSansTT"/>
                          <a:ea typeface="CiscoSansTT"/>
                          <a:cs typeface="CiscoSansTT"/>
                        </a:rPr>
                        <a:t>p95 latency (median)</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1,018 ms</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1,020 ms</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 ms</a:t>
                      </a:r>
                    </a:p>
                  </a:txBody>
                  <a:tcPr marL="91440" marR="91440" marT="45720" marB="45720">
                    <a:lnL w="0">
                      <a:noFill/>
                    </a:lnL>
                    <a:lnR w="0">
                      <a:noFill/>
                    </a:lnR>
                    <a:lnT w="6350">
                      <a:solidFill>
                        <a:srgbClr val="D6DDE3"/>
                      </a:solidFill>
                    </a:lnT>
                    <a:lnB w="6350">
                      <a:solidFill>
                        <a:srgbClr val="D6DDE3"/>
                      </a:solidFill>
                    </a:lnB>
                    <a:solidFill>
                      <a:srgbClr val="FFFFFF"/>
                    </a:solidFill>
                  </a:tcPr>
                </a:tc>
              </a:tr>
              <a:tr h="533400">
                <a:tc>
                  <a:txBody>
                    <a:bodyPr/>
                    <a:lstStyle/>
                    <a:p>
                      <a:r>
                        <a:rPr sz="1650" b="0">
                          <a:solidFill>
                            <a:srgbClr val="07182A"/>
                          </a:solidFill>
                          <a:latin typeface="CiscoSansTT"/>
                          <a:ea typeface="CiscoSansTT"/>
                          <a:cs typeface="CiscoSansTT"/>
                        </a:rPr>
                        <a:t>Failed requests</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 / 1,000</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No change</a:t>
                      </a:r>
                    </a:p>
                  </a:txBody>
                  <a:tcPr marL="91440" marR="91440" marT="45720" marB="45720">
                    <a:lnL w="0">
                      <a:noFill/>
                    </a:lnL>
                    <a:lnR w="0">
                      <a:noFill/>
                    </a:lnR>
                    <a:lnT w="6350">
                      <a:solidFill>
                        <a:srgbClr val="D6DDE3"/>
                      </a:solidFill>
                    </a:lnT>
                    <a:lnB w="6350">
                      <a:solidFill>
                        <a:srgbClr val="D6DDE3"/>
                      </a:solidFill>
                    </a:lnB>
                    <a:solidFill>
                      <a:srgbClr val="FFFFFF"/>
                    </a:solidFill>
                  </a:tcPr>
                </a:tc>
              </a:tr>
              <a:tr h="533400">
                <a:tc>
                  <a:txBody>
                    <a:bodyPr/>
                    <a:lstStyle/>
                    <a:p>
                      <a:r>
                        <a:rPr sz="1650" b="0">
                          <a:solidFill>
                            <a:srgbClr val="07182A"/>
                          </a:solidFill>
                          <a:latin typeface="CiscoSansTT"/>
                          <a:ea typeface="CiscoSansTT"/>
                          <a:cs typeface="CiscoSansTT"/>
                        </a:rPr>
                        <a:t>OBI CPU (median)</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0.013 cores</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marL="91440" marR="91440" marT="45720" marB="45720">
                    <a:lnL w="0">
                      <a:noFill/>
                    </a:lnL>
                    <a:lnR w="0">
                      <a:noFill/>
                    </a:lnR>
                    <a:lnT w="6350">
                      <a:solidFill>
                        <a:srgbClr val="D6DDE3"/>
                      </a:solidFill>
                    </a:lnT>
                    <a:lnB w="6350">
                      <a:solidFill>
                        <a:srgbClr val="D6DDE3"/>
                      </a:solidFill>
                    </a:lnB>
                    <a:solidFill>
                      <a:srgbClr val="FFFFFF"/>
                    </a:solidFill>
                  </a:tcPr>
                </a:tc>
              </a:tr>
              <a:tr h="533400">
                <a:tc>
                  <a:txBody>
                    <a:bodyPr/>
                    <a:lstStyle/>
                    <a:p>
                      <a:r>
                        <a:rPr sz="1650" b="0">
                          <a:solidFill>
                            <a:srgbClr val="07182A"/>
                          </a:solidFill>
                          <a:latin typeface="CiscoSansTT"/>
                          <a:ea typeface="CiscoSansTT"/>
                          <a:cs typeface="CiscoSansTT"/>
                        </a:rPr>
                        <a:t>OBI working set (median)</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0</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253 MiB</a:t>
                      </a:r>
                    </a:p>
                  </a:txBody>
                  <a:tcPr marL="91440" marR="91440" marT="45720" marB="45720">
                    <a:lnL w="0">
                      <a:noFill/>
                    </a:lnL>
                    <a:lnR w="0">
                      <a:noFill/>
                    </a:lnR>
                    <a:lnT w="6350">
                      <a:solidFill>
                        <a:srgbClr val="D6DDE3"/>
                      </a:solidFill>
                    </a:lnT>
                    <a:lnB w="6350">
                      <a:solidFill>
                        <a:srgbClr val="D6DDE3"/>
                      </a:solidFill>
                    </a:lnB>
                    <a:solidFill>
                      <a:srgbClr val="FFFFFF"/>
                    </a:solidFill>
                  </a:tcPr>
                </a:tc>
                <a:tc>
                  <a:txBody>
                    <a:bodyPr/>
                    <a:lstStyle/>
                    <a:p>
                      <a:r>
                        <a:rPr sz="1650" b="0">
                          <a:solidFill>
                            <a:srgbClr val="07182A"/>
                          </a:solidFill>
                          <a:latin typeface="CiscoSansTT"/>
                          <a:ea typeface="CiscoSansTT"/>
                          <a:cs typeface="CiscoSansTT"/>
                        </a:rPr>
                        <a:t>Added</a:t>
                      </a:r>
                    </a:p>
                  </a:txBody>
                  <a:tcPr marL="91440" marR="91440" marT="45720" marB="45720">
                    <a:lnL w="0">
                      <a:noFill/>
                    </a:lnL>
                    <a:lnR w="0">
                      <a:noFill/>
                    </a:lnR>
                    <a:lnT w="6350">
                      <a:solidFill>
                        <a:srgbClr val="D6DDE3"/>
                      </a:solidFill>
                    </a:lnT>
                    <a:lnB w="6350">
                      <a:solidFill>
                        <a:srgbClr val="D6DDE3"/>
                      </a:solidFill>
                    </a:lnB>
                    <a:solidFill>
                      <a:srgbClr val="FFFFFF"/>
                    </a:solidFill>
                  </a:tcPr>
                </a:tc>
              </a:tr>
            </a:tbl>
          </a:graphicData>
        </a:graphic>
      </p:graphicFrame>
      <p:sp>
        <p:nvSpPr>
          <p:cNvPr id="22" name="Rectangle 21">
            <a:extLst xmlns:a="http://schemas.openxmlformats.org/drawingml/2006/main">
              <a:ext uri="{FF2B5EF4-FFF2-40B4-BE49-F238E27FC236}">
                <a16:creationId xmlns:a16="http://schemas.microsoft.com/office/drawing/2014/main" id="{7E4A5844-4C7E-4BBD-A8D9-FF29BB2E0634}"/>
              </a:ext>
            </a:extLst>
          </p:cNvPr>
          <p:cNvSpPr>
            <a:spLocks xmlns:a="http://schemas.openxmlformats.org/drawingml/2006/main" noGrp="1"/>
          </p:cNvSpPr>
          <p:nvPr/>
        </p:nvSpPr>
        <p:spPr>
          <a:xfrm xmlns:a="http://schemas.openxmlformats.org/drawingml/2006/main">
            <a:off x="762000" y="52387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D exported 7,210 spans. Hubble loss remains unverified until a matched-window rerun.</a:t>
            </a:r>
          </a:p>
        </p:txBody>
      </p:sp>
      <p:sp>
        <p:nvSpPr>
          <p:cNvPr id="23" name="Rectangle 22">
            <a:extLst xmlns:a="http://schemas.openxmlformats.org/drawingml/2006/main">
              <a:ext uri="{FF2B5EF4-FFF2-40B4-BE49-F238E27FC236}">
                <a16:creationId xmlns:a16="http://schemas.microsoft.com/office/drawing/2014/main" id="{ACEAF919-558E-452B-89A0-A05DEBBE4D1E}"/>
              </a:ext>
            </a:extLst>
          </p:cNvPr>
          <p:cNvSpPr>
            <a:spLocks xmlns:a="http://schemas.openxmlformats.org/drawingml/2006/main" noGrp="1"/>
          </p:cNvSpPr>
          <p:nvPr/>
        </p:nvSpPr>
        <p:spPr>
          <a:xfrm xmlns:a="http://schemas.openxmlformats.org/drawingml/2006/main">
            <a:off x="762000" y="5772150"/>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l">
              <a:buNone/>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Local kind rehearsal: five 200-request samples per condition at concurrency 20. OBI resource totals cover two pods.</a:t>
            </a:r>
          </a:p>
        </p:txBody>
      </p:sp>
    </p:spTree>
    <p:extLst>
      <p:ext uri="{BB962C8B-B14F-4D97-AF65-F5344CB8AC3E}">
        <p14:creationId xmlns:p14="http://schemas.microsoft.com/office/powerpoint/2010/main" val="617371277"/>
      </p:ext>
    </p:extLst>
  </p:cSld>
  <p:clrMapOvr>
    <a:masterClrMapping/>
  </p:clrMapOvr>
  <p:transition advClick="1"/>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lide-title">
            <a:extLst>
              <a:ext uri="{FF2B5EF4-FFF2-40B4-BE49-F238E27FC236}">
                <a16:creationId xmlns:a16="http://schemas.microsoft.com/office/drawing/2014/main" id="{2CE621AC-689C-42C7-AF0D-CE910FEEF15A}"/>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Beyond latency: checks before a wider rollout</a:t>
            </a:r>
          </a:p>
        </p:txBody>
      </p:sp>
      <p:sp>
        <p:nvSpPr>
          <p:cNvPr id="2" name="Rectangle 1">
            <a:extLst>
              <a:ext uri="{FF2B5EF4-FFF2-40B4-BE49-F238E27FC236}">
                <a16:creationId xmlns:a16="http://schemas.microsoft.com/office/drawing/2014/main" id="{6BC11B03-7BE7-440C-9D01-D6F8181DB50D}"/>
              </a:ext>
            </a:extLst>
          </p:cNvPr>
          <p:cNvSpPr>
            <a:spLocks noGrp="1"/>
          </p:cNvSpPr>
          <p:nvPr/>
        </p:nvSpPr>
        <p:spPr>
          <a:xfrm>
            <a:off x="742950" y="1504950"/>
            <a:ext cx="647700" cy="495300"/>
          </a:xfrm>
          <a:prstGeom prst="rect">
            <a:avLst/>
          </a:prstGeom>
          <a:noFill/>
          <a:ln w="0">
            <a:noFill/>
          </a:ln>
        </p:spPr>
        <p:txBody>
          <a:bodyPr anchor="t">
            <a:normAutofit/>
          </a:bodyPr>
          <a:lstStyle/>
          <a:p>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a:ext uri="{FF2B5EF4-FFF2-40B4-BE49-F238E27FC236}">
                <a16:creationId xmlns:a16="http://schemas.microsoft.com/office/drawing/2014/main" id="{DDCBFEAA-5905-4F17-AEEA-5ADAAA8DAC87}"/>
              </a:ext>
            </a:extLst>
          </p:cNvPr>
          <p:cNvSpPr>
            <a:spLocks noGrp="1"/>
          </p:cNvSpPr>
          <p:nvPr/>
        </p:nvSpPr>
        <p:spPr>
          <a:xfrm>
            <a:off x="1619250" y="15049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CPU</a:t>
            </a:r>
          </a:p>
        </p:txBody>
      </p:sp>
      <p:sp>
        <p:nvSpPr>
          <p:cNvPr id="4" name="Rectangle 3">
            <a:extLst>
              <a:ext uri="{FF2B5EF4-FFF2-40B4-BE49-F238E27FC236}">
                <a16:creationId xmlns:a16="http://schemas.microsoft.com/office/drawing/2014/main" id="{4225EF06-7A29-4D46-B6F9-1770A01BF3B8}"/>
              </a:ext>
            </a:extLst>
          </p:cNvPr>
          <p:cNvSpPr>
            <a:spLocks noGrp="1"/>
          </p:cNvSpPr>
          <p:nvPr/>
        </p:nvSpPr>
        <p:spPr>
          <a:xfrm>
            <a:off x="4286250" y="15240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extra CPU do apps and agents use?</a:t>
            </a:r>
          </a:p>
        </p:txBody>
      </p:sp>
      <p:sp>
        <p:nvSpPr>
          <p:cNvPr id="5" name="Rectangle 4">
            <a:extLst>
              <a:ext uri="{FF2B5EF4-FFF2-40B4-BE49-F238E27FC236}">
                <a16:creationId xmlns:a16="http://schemas.microsoft.com/office/drawing/2014/main" id="{824E722C-C9BD-4B15-92A9-BD0218D7F638}"/>
              </a:ext>
            </a:extLst>
          </p:cNvPr>
          <p:cNvSpPr>
            <a:spLocks noGrp="1"/>
          </p:cNvSpPr>
          <p:nvPr/>
        </p:nvSpPr>
        <p:spPr>
          <a:xfrm>
            <a:off x="1619250" y="2133600"/>
            <a:ext cx="9429750" cy="9525"/>
          </a:xfrm>
          <a:prstGeom prst="rect">
            <a:avLst/>
          </a:prstGeom>
          <a:solidFill>
            <a:srgbClr val="D6D6D6"/>
          </a:solidFill>
          <a:ln w="0">
            <a:noFill/>
          </a:ln>
        </p:spPr>
        <p:txBody>
          <a:bodyPr/>
          <a:lstStyle/>
          <a:p>
            <a:endParaRPr/>
          </a:p>
        </p:txBody>
      </p:sp>
      <p:sp>
        <p:nvSpPr>
          <p:cNvPr id="6" name="Rectangle 5">
            <a:extLst>
              <a:ext uri="{FF2B5EF4-FFF2-40B4-BE49-F238E27FC236}">
                <a16:creationId xmlns:a16="http://schemas.microsoft.com/office/drawing/2014/main" id="{F0AD0635-664F-43EF-9FDD-B91796271779}"/>
              </a:ext>
            </a:extLst>
          </p:cNvPr>
          <p:cNvSpPr>
            <a:spLocks noGrp="1"/>
          </p:cNvSpPr>
          <p:nvPr/>
        </p:nvSpPr>
        <p:spPr>
          <a:xfrm>
            <a:off x="742950" y="2571750"/>
            <a:ext cx="647700" cy="495300"/>
          </a:xfrm>
          <a:prstGeom prst="rect">
            <a:avLst/>
          </a:prstGeom>
          <a:noFill/>
          <a:ln w="0">
            <a:noFill/>
          </a:ln>
        </p:spPr>
        <p:txBody>
          <a:bodyPr anchor="t">
            <a:normAutofit/>
          </a:bodyPr>
          <a:lstStyle/>
          <a:p>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a:ext uri="{FF2B5EF4-FFF2-40B4-BE49-F238E27FC236}">
                <a16:creationId xmlns:a16="http://schemas.microsoft.com/office/drawing/2014/main" id="{821AE919-C864-46A3-99EC-CB2F9C3CB7C5}"/>
              </a:ext>
            </a:extLst>
          </p:cNvPr>
          <p:cNvSpPr>
            <a:spLocks noGrp="1"/>
          </p:cNvSpPr>
          <p:nvPr/>
        </p:nvSpPr>
        <p:spPr>
          <a:xfrm>
            <a:off x="1619250" y="2571750"/>
            <a:ext cx="2381250" cy="438150"/>
          </a:xfrm>
          <a:prstGeom prst="rect">
            <a:avLst/>
          </a:prstGeom>
          <a:noFill/>
          <a:ln w="0">
            <a:noFill/>
          </a:ln>
        </p:spPr>
        <p:txBody>
          <a:bodyPr anchor="t">
            <a:normAutofit fontScale="97849" lnSpcReduction="10000"/>
          </a:bodyPr>
          <a:lstStyle/>
          <a:p>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Memory</a:t>
            </a:r>
          </a:p>
        </p:txBody>
      </p:sp>
      <p:sp>
        <p:nvSpPr>
          <p:cNvPr id="8" name="Rectangle 7">
            <a:extLst>
              <a:ext uri="{FF2B5EF4-FFF2-40B4-BE49-F238E27FC236}">
                <a16:creationId xmlns:a16="http://schemas.microsoft.com/office/drawing/2014/main" id="{AA5A7CAF-881E-4B9A-9212-812ECF094684}"/>
              </a:ext>
            </a:extLst>
          </p:cNvPr>
          <p:cNvSpPr>
            <a:spLocks noGrp="1"/>
          </p:cNvSpPr>
          <p:nvPr/>
        </p:nvSpPr>
        <p:spPr>
          <a:xfrm>
            <a:off x="4286250" y="25908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How much memory do agents and kernel BPF data use?</a:t>
            </a:r>
          </a:p>
        </p:txBody>
      </p:sp>
      <p:sp>
        <p:nvSpPr>
          <p:cNvPr id="9" name="Rectangle 8">
            <a:extLst>
              <a:ext uri="{FF2B5EF4-FFF2-40B4-BE49-F238E27FC236}">
                <a16:creationId xmlns:a16="http://schemas.microsoft.com/office/drawing/2014/main" id="{0459F131-9FA3-4773-B4CE-90991C1FEC15}"/>
              </a:ext>
            </a:extLst>
          </p:cNvPr>
          <p:cNvSpPr>
            <a:spLocks noGrp="1"/>
          </p:cNvSpPr>
          <p:nvPr/>
        </p:nvSpPr>
        <p:spPr>
          <a:xfrm>
            <a:off x="1619250" y="3200400"/>
            <a:ext cx="9429750" cy="9525"/>
          </a:xfrm>
          <a:prstGeom prst="rect">
            <a:avLst/>
          </a:prstGeom>
          <a:solidFill>
            <a:srgbClr val="D6D6D6"/>
          </a:solidFill>
          <a:ln w="0">
            <a:noFill/>
          </a:ln>
        </p:spPr>
        <p:txBody>
          <a:bodyPr/>
          <a:lstStyle/>
          <a:p>
            <a:endParaRPr/>
          </a:p>
        </p:txBody>
      </p:sp>
      <p:sp>
        <p:nvSpPr>
          <p:cNvPr id="10" name="Rectangle 9">
            <a:extLst>
              <a:ext uri="{FF2B5EF4-FFF2-40B4-BE49-F238E27FC236}">
                <a16:creationId xmlns:a16="http://schemas.microsoft.com/office/drawing/2014/main" id="{FEA221D4-7B46-40AD-9652-A2BF4CF49050}"/>
              </a:ext>
            </a:extLst>
          </p:cNvPr>
          <p:cNvSpPr>
            <a:spLocks noGrp="1"/>
          </p:cNvSpPr>
          <p:nvPr/>
        </p:nvSpPr>
        <p:spPr>
          <a:xfrm>
            <a:off x="742950" y="3638550"/>
            <a:ext cx="647700" cy="495300"/>
          </a:xfrm>
          <a:prstGeom prst="rect">
            <a:avLst/>
          </a:prstGeom>
          <a:noFill/>
          <a:ln w="0">
            <a:noFill/>
          </a:ln>
        </p:spPr>
        <p:txBody>
          <a:bodyPr anchor="t">
            <a:normAutofit/>
          </a:bodyPr>
          <a:lstStyle/>
          <a:p>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a:ext uri="{FF2B5EF4-FFF2-40B4-BE49-F238E27FC236}">
                <a16:creationId xmlns:a16="http://schemas.microsoft.com/office/drawing/2014/main" id="{485A77C8-B4A2-41C9-9E95-9E1328DFE742}"/>
              </a:ext>
            </a:extLst>
          </p:cNvPr>
          <p:cNvSpPr>
            <a:spLocks noGrp="1"/>
          </p:cNvSpPr>
          <p:nvPr/>
        </p:nvSpPr>
        <p:spPr>
          <a:xfrm>
            <a:off x="1619250" y="36385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Missing data</a:t>
            </a:r>
          </a:p>
        </p:txBody>
      </p:sp>
      <p:sp>
        <p:nvSpPr>
          <p:cNvPr id="12" name="Rectangle 11">
            <a:extLst>
              <a:ext uri="{FF2B5EF4-FFF2-40B4-BE49-F238E27FC236}">
                <a16:creationId xmlns:a16="http://schemas.microsoft.com/office/drawing/2014/main" id="{7956BC91-69D7-43C9-9CFD-E1743AA19FB5}"/>
              </a:ext>
            </a:extLst>
          </p:cNvPr>
          <p:cNvSpPr>
            <a:spLocks noGrp="1"/>
          </p:cNvSpPr>
          <p:nvPr/>
        </p:nvSpPr>
        <p:spPr>
          <a:xfrm>
            <a:off x="4286250" y="3657600"/>
            <a:ext cx="6762750" cy="400050"/>
          </a:xfrm>
          <a:prstGeom prst="rect">
            <a:avLst/>
          </a:prstGeom>
          <a:noFill/>
          <a:ln w="0">
            <a:noFill/>
          </a:ln>
        </p:spPr>
        <p:txBody>
          <a:bodyPr anchor="ctr">
            <a:noAutofit/>
          </a:bodyPr>
          <a:lstStyle>
            <a:defPPr algn="l">
              <a:defRPr sz="1800" b="0">
                <a:solidFill>
                  <a:srgbClr val="686B6B"/>
                </a:solidFill>
                <a:latin typeface="CiscoSansTT"/>
                <a:ea typeface="CiscoSansTT"/>
                <a:cs typeface="CiscoSansTT"/>
              </a:defRPr>
            </a:defPPr>
            <a:lvl1pPr algn="l">
              <a:defRPr sz="1800" b="0">
                <a:solidFill>
                  <a:srgbClr val="686B6B"/>
                </a:solidFill>
                <a:latin typeface="CiscoSansTT"/>
                <a:ea typeface="CiscoSansTT"/>
                <a:cs typeface="CiscoSansTT"/>
              </a:defRPr>
            </a:lvl1pPr>
            <a:lvl2pPr algn="l">
              <a:defRPr sz="1800" b="0">
                <a:solidFill>
                  <a:srgbClr val="686B6B"/>
                </a:solidFill>
                <a:latin typeface="CiscoSansTT"/>
                <a:ea typeface="CiscoSansTT"/>
                <a:cs typeface="CiscoSansTT"/>
              </a:defRPr>
            </a:lvl2pPr>
            <a:lvl3pPr algn="l">
              <a:defRPr sz="1800" b="0">
                <a:solidFill>
                  <a:srgbClr val="686B6B"/>
                </a:solidFill>
                <a:latin typeface="CiscoSansTT"/>
                <a:ea typeface="CiscoSansTT"/>
                <a:cs typeface="CiscoSansTT"/>
              </a:defRPr>
            </a:lvl3pPr>
            <a:lvl4pPr algn="l">
              <a:defRPr sz="1800" b="0">
                <a:solidFill>
                  <a:srgbClr val="686B6B"/>
                </a:solidFill>
                <a:latin typeface="CiscoSansTT"/>
                <a:ea typeface="CiscoSansTT"/>
                <a:cs typeface="CiscoSansTT"/>
              </a:defRPr>
            </a:lvl4pPr>
            <a:lvl5pPr algn="l">
              <a:defRPr sz="1800" b="0">
                <a:solidFill>
                  <a:srgbClr val="686B6B"/>
                </a:solidFill>
                <a:latin typeface="CiscoSansTT"/>
                <a:ea typeface="CiscoSansTT"/>
                <a:cs typeface="CiscoSansTT"/>
              </a:defRPr>
            </a:lvl5pPr>
            <a:lvl6pPr algn="l">
              <a:defRPr sz="1800" b="0">
                <a:solidFill>
                  <a:srgbClr val="686B6B"/>
                </a:solidFill>
                <a:latin typeface="CiscoSansTT"/>
                <a:ea typeface="CiscoSansTT"/>
                <a:cs typeface="CiscoSansTT"/>
              </a:defRPr>
            </a:lvl6pPr>
            <a:lvl7pPr algn="l">
              <a:defRPr sz="1800" b="0">
                <a:solidFill>
                  <a:srgbClr val="686B6B"/>
                </a:solidFill>
                <a:latin typeface="CiscoSansTT"/>
                <a:ea typeface="CiscoSansTT"/>
                <a:cs typeface="CiscoSansTT"/>
              </a:defRPr>
            </a:lvl7pPr>
            <a:lvl8pPr algn="l">
              <a:defRPr sz="1800" b="0">
                <a:solidFill>
                  <a:srgbClr val="686B6B"/>
                </a:solidFill>
                <a:latin typeface="CiscoSansTT"/>
                <a:ea typeface="CiscoSansTT"/>
                <a:cs typeface="CiscoSansTT"/>
              </a:defRPr>
            </a:lvl8pPr>
            <a:lvl9pPr algn="l">
              <a:defRPr sz="1800" b="0">
                <a:solidFill>
                  <a:srgbClr val="686B6B"/>
                </a:solidFill>
                <a:latin typeface="CiscoSansTT"/>
                <a:ea typeface="CiscoSansTT"/>
                <a:cs typeface="CiscoSansTT"/>
              </a:defRPr>
            </a:lvl9pPr>
          </a:lstStyle>
          <a:p>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Are Hubble events or exported signals being lost?</a:t>
            </a:r>
          </a:p>
        </p:txBody>
      </p:sp>
      <p:sp>
        <p:nvSpPr>
          <p:cNvPr id="13" name="Rectangle 12">
            <a:extLst>
              <a:ext uri="{FF2B5EF4-FFF2-40B4-BE49-F238E27FC236}">
                <a16:creationId xmlns:a16="http://schemas.microsoft.com/office/drawing/2014/main" id="{7F2D22A6-1C48-4B19-A882-918FF2DE750E}"/>
              </a:ext>
            </a:extLst>
          </p:cNvPr>
          <p:cNvSpPr>
            <a:spLocks noGrp="1"/>
          </p:cNvSpPr>
          <p:nvPr/>
        </p:nvSpPr>
        <p:spPr>
          <a:xfrm>
            <a:off x="1619250" y="4267200"/>
            <a:ext cx="94297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0A0D56B-FDB0-4971-B2B3-C265324ACDCB}"/>
              </a:ext>
            </a:extLst>
          </p:cNvPr>
          <p:cNvSpPr>
            <a:spLocks noGrp="1"/>
          </p:cNvSpPr>
          <p:nvPr/>
        </p:nvSpPr>
        <p:spPr>
          <a:xfrm>
            <a:off x="742950" y="4705350"/>
            <a:ext cx="647700" cy="495300"/>
          </a:xfrm>
          <a:prstGeom prst="rect">
            <a:avLst/>
          </a:prstGeom>
          <a:noFill/>
          <a:ln w="0">
            <a:noFill/>
          </a:ln>
        </p:spPr>
        <p:txBody>
          <a:bodyPr anchor="t">
            <a:normAutofit/>
          </a:bodyPr>
          <a:lstStyle/>
          <a:p>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a:ext uri="{FF2B5EF4-FFF2-40B4-BE49-F238E27FC236}">
                <a16:creationId xmlns:a16="http://schemas.microsoft.com/office/drawing/2014/main" id="{69592A17-1663-4A01-9986-49CA13FA2E89}"/>
              </a:ext>
            </a:extLst>
          </p:cNvPr>
          <p:cNvSpPr>
            <a:spLocks noGrp="1"/>
          </p:cNvSpPr>
          <p:nvPr/>
        </p:nvSpPr>
        <p:spPr>
          <a:xfrm>
            <a:off x="1619250" y="4705350"/>
            <a:ext cx="2381250" cy="438150"/>
          </a:xfrm>
          <a:prstGeom prst="rect">
            <a:avLst/>
          </a:prstGeom>
          <a:noFill/>
          <a:ln w="0">
            <a:noFill/>
          </a:ln>
        </p:spPr>
        <p:txBody>
          <a:bodyPr anchor="ctr">
            <a:noAutofit/>
          </a:bodyPr>
          <a:lstStyle>
            <a:defPPr algn="l">
              <a:defRPr sz="2175" b="1">
                <a:solidFill>
                  <a:srgbClr val="07182A"/>
                </a:solidFill>
                <a:latin typeface="CiscoSansTT Medium"/>
                <a:ea typeface="CiscoSansTT Medium"/>
                <a:cs typeface="CiscoSansTT Medium"/>
              </a:defRPr>
            </a:defPPr>
            <a:lvl1pPr algn="l">
              <a:defRPr sz="2175" b="1">
                <a:solidFill>
                  <a:srgbClr val="07182A"/>
                </a:solidFill>
                <a:latin typeface="CiscoSansTT Medium"/>
                <a:ea typeface="CiscoSansTT Medium"/>
                <a:cs typeface="CiscoSansTT Medium"/>
              </a:defRPr>
            </a:lvl1pPr>
            <a:lvl2pPr algn="l">
              <a:defRPr sz="2175" b="1">
                <a:solidFill>
                  <a:srgbClr val="07182A"/>
                </a:solidFill>
                <a:latin typeface="CiscoSansTT Medium"/>
                <a:ea typeface="CiscoSansTT Medium"/>
                <a:cs typeface="CiscoSansTT Medium"/>
              </a:defRPr>
            </a:lvl2pPr>
            <a:lvl3pPr algn="l">
              <a:defRPr sz="2175" b="1">
                <a:solidFill>
                  <a:srgbClr val="07182A"/>
                </a:solidFill>
                <a:latin typeface="CiscoSansTT Medium"/>
                <a:ea typeface="CiscoSansTT Medium"/>
                <a:cs typeface="CiscoSansTT Medium"/>
              </a:defRPr>
            </a:lvl3pPr>
            <a:lvl4pPr algn="l">
              <a:defRPr sz="2175" b="1">
                <a:solidFill>
                  <a:srgbClr val="07182A"/>
                </a:solidFill>
                <a:latin typeface="CiscoSansTT Medium"/>
                <a:ea typeface="CiscoSansTT Medium"/>
                <a:cs typeface="CiscoSansTT Medium"/>
              </a:defRPr>
            </a:lvl4pPr>
            <a:lvl5pPr algn="l">
              <a:defRPr sz="2175" b="1">
                <a:solidFill>
                  <a:srgbClr val="07182A"/>
                </a:solidFill>
                <a:latin typeface="CiscoSansTT Medium"/>
                <a:ea typeface="CiscoSansTT Medium"/>
                <a:cs typeface="CiscoSansTT Medium"/>
              </a:defRPr>
            </a:lvl5pPr>
            <a:lvl6pPr algn="l">
              <a:defRPr sz="2175" b="1">
                <a:solidFill>
                  <a:srgbClr val="07182A"/>
                </a:solidFill>
                <a:latin typeface="CiscoSansTT Medium"/>
                <a:ea typeface="CiscoSansTT Medium"/>
                <a:cs typeface="CiscoSansTT Medium"/>
              </a:defRPr>
            </a:lvl6pPr>
            <a:lvl7pPr algn="l">
              <a:defRPr sz="2175" b="1">
                <a:solidFill>
                  <a:srgbClr val="07182A"/>
                </a:solidFill>
                <a:latin typeface="CiscoSansTT Medium"/>
                <a:ea typeface="CiscoSansTT Medium"/>
                <a:cs typeface="CiscoSansTT Medium"/>
              </a:defRPr>
            </a:lvl7pPr>
            <a:lvl8pPr algn="l">
              <a:defRPr sz="2175" b="1">
                <a:solidFill>
                  <a:srgbClr val="07182A"/>
                </a:solidFill>
                <a:latin typeface="CiscoSansTT Medium"/>
                <a:ea typeface="CiscoSansTT Medium"/>
                <a:cs typeface="CiscoSansTT Medium"/>
              </a:defRPr>
            </a:lvl8pPr>
            <a:lvl9pPr algn="l">
              <a:defRPr sz="2175" b="1">
                <a:solidFill>
                  <a:srgbClr val="07182A"/>
                </a:solidFill>
                <a:latin typeface="CiscoSansTT Medium"/>
                <a:ea typeface="CiscoSansTT Medium"/>
                <a:cs typeface="CiscoSansTT Medium"/>
              </a:defRPr>
            </a:lvl9pPr>
          </a:lstStyle>
          <a:p>
            <a:pPr algn="l">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Data volume</a:t>
            </a:r>
          </a:p>
        </p:txBody>
      </p:sp>
      <p:sp>
        <p:nvSpPr>
          <p:cNvPr id="16" name="Rectangle 15">
            <a:extLst>
              <a:ext uri="{FF2B5EF4-FFF2-40B4-BE49-F238E27FC236}">
                <a16:creationId xmlns:a16="http://schemas.microsoft.com/office/drawing/2014/main" id="{EC182D77-4817-46E5-B999-4E8BF56AE275}"/>
              </a:ext>
            </a:extLst>
          </p:cNvPr>
          <p:cNvSpPr>
            <a:spLocks noGrp="1"/>
          </p:cNvSpPr>
          <p:nvPr/>
        </p:nvSpPr>
        <p:spPr>
          <a:xfrm>
            <a:off x="4286250" y="4724400"/>
            <a:ext cx="6762750" cy="400050"/>
          </a:xfrm>
          <a:prstGeom prst="rect">
            <a:avLst/>
          </a:prstGeom>
          <a:noFill/>
          <a:ln w="0">
            <a:noFill/>
          </a:ln>
        </p:spPr>
        <p:txBody>
          <a:bodyPr anchor="ctr">
            <a:noAutofit/>
          </a:bodyPr>
          <a:lstStyle>
            <a:defPPr algn="l">
              <a:defRPr sz="1875" b="0">
                <a:solidFill>
                  <a:srgbClr val="686B6B"/>
                </a:solidFill>
                <a:latin typeface="CiscoSansTT"/>
                <a:ea typeface="CiscoSansTT"/>
                <a:cs typeface="CiscoSansTT"/>
              </a:defRPr>
            </a:defPPr>
            <a:lvl1pPr algn="l">
              <a:defRPr sz="1875" b="0">
                <a:solidFill>
                  <a:srgbClr val="686B6B"/>
                </a:solidFill>
                <a:latin typeface="CiscoSansTT"/>
                <a:ea typeface="CiscoSansTT"/>
                <a:cs typeface="CiscoSansTT"/>
              </a:defRPr>
            </a:lvl1pPr>
            <a:lvl2pPr algn="l">
              <a:defRPr sz="1875" b="0">
                <a:solidFill>
                  <a:srgbClr val="686B6B"/>
                </a:solidFill>
                <a:latin typeface="CiscoSansTT"/>
                <a:ea typeface="CiscoSansTT"/>
                <a:cs typeface="CiscoSansTT"/>
              </a:defRPr>
            </a:lvl2pPr>
            <a:lvl3pPr algn="l">
              <a:defRPr sz="1875" b="0">
                <a:solidFill>
                  <a:srgbClr val="686B6B"/>
                </a:solidFill>
                <a:latin typeface="CiscoSansTT"/>
                <a:ea typeface="CiscoSansTT"/>
                <a:cs typeface="CiscoSansTT"/>
              </a:defRPr>
            </a:lvl3pPr>
            <a:lvl4pPr algn="l">
              <a:defRPr sz="1875" b="0">
                <a:solidFill>
                  <a:srgbClr val="686B6B"/>
                </a:solidFill>
                <a:latin typeface="CiscoSansTT"/>
                <a:ea typeface="CiscoSansTT"/>
                <a:cs typeface="CiscoSansTT"/>
              </a:defRPr>
            </a:lvl4pPr>
            <a:lvl5pPr algn="l">
              <a:defRPr sz="1875" b="0">
                <a:solidFill>
                  <a:srgbClr val="686B6B"/>
                </a:solidFill>
                <a:latin typeface="CiscoSansTT"/>
                <a:ea typeface="CiscoSansTT"/>
                <a:cs typeface="CiscoSansTT"/>
              </a:defRPr>
            </a:lvl5pPr>
            <a:lvl6pPr algn="l">
              <a:defRPr sz="1875" b="0">
                <a:solidFill>
                  <a:srgbClr val="686B6B"/>
                </a:solidFill>
                <a:latin typeface="CiscoSansTT"/>
                <a:ea typeface="CiscoSansTT"/>
                <a:cs typeface="CiscoSansTT"/>
              </a:defRPr>
            </a:lvl6pPr>
            <a:lvl7pPr algn="l">
              <a:defRPr sz="1875" b="0">
                <a:solidFill>
                  <a:srgbClr val="686B6B"/>
                </a:solidFill>
                <a:latin typeface="CiscoSansTT"/>
                <a:ea typeface="CiscoSansTT"/>
                <a:cs typeface="CiscoSansTT"/>
              </a:defRPr>
            </a:lvl7pPr>
            <a:lvl8pPr algn="l">
              <a:defRPr sz="1875" b="0">
                <a:solidFill>
                  <a:srgbClr val="686B6B"/>
                </a:solidFill>
                <a:latin typeface="CiscoSansTT"/>
                <a:ea typeface="CiscoSansTT"/>
                <a:cs typeface="CiscoSansTT"/>
              </a:defRPr>
            </a:lvl8pPr>
            <a:lvl9pPr algn="l">
              <a:defRPr sz="1875" b="0">
                <a:solidFill>
                  <a:srgbClr val="686B6B"/>
                </a:solidFill>
                <a:latin typeface="CiscoSansTT"/>
                <a:ea typeface="CiscoSansTT"/>
                <a:cs typeface="CiscoSansTT"/>
              </a:defRPr>
            </a:lvl9pPr>
          </a:lstStyle>
          <a:p>
            <a:pPr algn="l">
              <a:buNone/>
              <a:defRPr sz="1875" b="0">
                <a:solidFill>
                  <a:srgbClr val="686B6B"/>
                </a:solidFill>
                <a:latin typeface="CiscoSansTT"/>
                <a:ea typeface="CiscoSansTT"/>
                <a:cs typeface="CiscoSansTT"/>
              </a:defRPr>
            </a:pPr>
            <a:r>
              <a:rPr sz="1875" b="0">
                <a:solidFill>
                  <a:srgbClr val="686B6B"/>
                </a:solidFill>
                <a:latin typeface="CiscoSansTT"/>
                <a:ea typeface="CiscoSansTT"/>
                <a:cs typeface="CiscoSansTT"/>
              </a:rPr>
              <a:t>How much telemetry do you send and store?</a:t>
            </a:r>
          </a:p>
        </p:txBody>
      </p:sp>
      <p:sp>
        <p:nvSpPr>
          <p:cNvPr id="17" name="Rectangle 16">
            <a:extLst>
              <a:ext uri="{FF2B5EF4-FFF2-40B4-BE49-F238E27FC236}">
                <a16:creationId xmlns:a16="http://schemas.microsoft.com/office/drawing/2014/main" id="{B22D68FA-8D4A-4E44-A997-C6CD8B29C3E3}"/>
              </a:ext>
            </a:extLst>
          </p:cNvPr>
          <p:cNvSpPr>
            <a:spLocks noGrp="1"/>
          </p:cNvSpPr>
          <p:nvPr/>
        </p:nvSpPr>
        <p:spPr>
          <a:xfrm>
            <a:off x="1619250" y="5334000"/>
            <a:ext cx="9429750" cy="9525"/>
          </a:xfrm>
          <a:prstGeom prst="rect">
            <a:avLst/>
          </a:prstGeom>
          <a:solidFill>
            <a:srgbClr val="D6D6D6"/>
          </a:solidFill>
          <a:ln w="0">
            <a:noFill/>
          </a:ln>
        </p:spPr>
        <p:txBody>
          <a:bodyPr/>
          <a:lstStyle/>
          <a:p>
            <a:endParaRPr/>
          </a:p>
        </p:txBody>
      </p:sp>
      <p:sp>
        <p:nvSpPr>
          <p:cNvPr id="18" name="Rounded Rectangle 17">
            <a:extLst>
              <a:ext uri="{FF2B5EF4-FFF2-40B4-BE49-F238E27FC236}">
                <a16:creationId xmlns:a16="http://schemas.microsoft.com/office/drawing/2014/main" id="{B2A1EB50-E968-4E50-A168-D3F4D32BBD54}"/>
              </a:ext>
            </a:extLst>
          </p:cNvPr>
          <p:cNvSpPr>
            <a:spLocks noGrp="1"/>
          </p:cNvSpPr>
          <p:nvPr/>
        </p:nvSpPr>
        <p:spPr>
          <a:xfrm>
            <a:off x="1619250" y="5734050"/>
            <a:ext cx="9429750" cy="457200"/>
          </a:xfrm>
          <a:prstGeom prst="roundRect">
            <a:avLst>
              <a:gd name="adj" fmla="val 16667"/>
            </a:avLst>
          </a:prstGeom>
          <a:solidFill>
            <a:srgbClr val="07182A"/>
          </a:solidFill>
          <a:ln w="0">
            <a:noFill/>
          </a:ln>
        </p:spPr>
        <p:txBody>
          <a:bodyPr/>
          <a:lstStyle/>
          <a:p>
            <a:endParaRPr/>
          </a:p>
        </p:txBody>
      </p:sp>
      <p:sp>
        <p:nvSpPr>
          <p:cNvPr id="19" name="Rectangle 18">
            <a:extLst>
              <a:ext uri="{FF2B5EF4-FFF2-40B4-BE49-F238E27FC236}">
                <a16:creationId xmlns:a16="http://schemas.microsoft.com/office/drawing/2014/main" id="{585865DE-64D1-4422-A0F9-E558EA8A8F88}"/>
              </a:ext>
            </a:extLst>
          </p:cNvPr>
          <p:cNvSpPr>
            <a:spLocks noGrp="1"/>
          </p:cNvSpPr>
          <p:nvPr/>
        </p:nvSpPr>
        <p:spPr>
          <a:xfrm>
            <a:off x="1905000" y="5810250"/>
            <a:ext cx="8858250" cy="304800"/>
          </a:xfrm>
          <a:prstGeom prst="rect">
            <a:avLst/>
          </a:prstGeom>
          <a:noFill/>
          <a:ln w="0">
            <a:noFill/>
          </a:ln>
        </p:spPr>
        <p:txBody>
          <a:bodyPr anchor="ctr">
            <a:noAutofit/>
          </a:bodyPr>
          <a:lstStyle>
            <a:defPPr algn="ctr">
              <a:defRPr sz="1725" b="1">
                <a:solidFill>
                  <a:srgbClr val="FFFFFF"/>
                </a:solidFill>
                <a:latin typeface="CiscoSansTT Medium"/>
                <a:ea typeface="CiscoSansTT Medium"/>
                <a:cs typeface="CiscoSansTT Medium"/>
              </a:defRPr>
            </a:defPPr>
            <a:lvl1pPr algn="ctr">
              <a:defRPr sz="1725" b="1">
                <a:solidFill>
                  <a:srgbClr val="FFFFFF"/>
                </a:solidFill>
                <a:latin typeface="CiscoSansTT Medium"/>
                <a:ea typeface="CiscoSansTT Medium"/>
                <a:cs typeface="CiscoSansTT Medium"/>
              </a:defRPr>
            </a:lvl1pPr>
            <a:lvl2pPr algn="ctr">
              <a:defRPr sz="1725" b="1">
                <a:solidFill>
                  <a:srgbClr val="FFFFFF"/>
                </a:solidFill>
                <a:latin typeface="CiscoSansTT Medium"/>
                <a:ea typeface="CiscoSansTT Medium"/>
                <a:cs typeface="CiscoSansTT Medium"/>
              </a:defRPr>
            </a:lvl2pPr>
            <a:lvl3pPr algn="ctr">
              <a:defRPr sz="1725" b="1">
                <a:solidFill>
                  <a:srgbClr val="FFFFFF"/>
                </a:solidFill>
                <a:latin typeface="CiscoSansTT Medium"/>
                <a:ea typeface="CiscoSansTT Medium"/>
                <a:cs typeface="CiscoSansTT Medium"/>
              </a:defRPr>
            </a:lvl3pPr>
            <a:lvl4pPr algn="ctr">
              <a:defRPr sz="1725" b="1">
                <a:solidFill>
                  <a:srgbClr val="FFFFFF"/>
                </a:solidFill>
                <a:latin typeface="CiscoSansTT Medium"/>
                <a:ea typeface="CiscoSansTT Medium"/>
                <a:cs typeface="CiscoSansTT Medium"/>
              </a:defRPr>
            </a:lvl4pPr>
            <a:lvl5pPr algn="ctr">
              <a:defRPr sz="1725" b="1">
                <a:solidFill>
                  <a:srgbClr val="FFFFFF"/>
                </a:solidFill>
                <a:latin typeface="CiscoSansTT Medium"/>
                <a:ea typeface="CiscoSansTT Medium"/>
                <a:cs typeface="CiscoSansTT Medium"/>
              </a:defRPr>
            </a:lvl5pPr>
            <a:lvl6pPr algn="ctr">
              <a:defRPr sz="1725" b="1">
                <a:solidFill>
                  <a:srgbClr val="FFFFFF"/>
                </a:solidFill>
                <a:latin typeface="CiscoSansTT Medium"/>
                <a:ea typeface="CiscoSansTT Medium"/>
                <a:cs typeface="CiscoSansTT Medium"/>
              </a:defRPr>
            </a:lvl6pPr>
            <a:lvl7pPr algn="ctr">
              <a:defRPr sz="1725" b="1">
                <a:solidFill>
                  <a:srgbClr val="FFFFFF"/>
                </a:solidFill>
                <a:latin typeface="CiscoSansTT Medium"/>
                <a:ea typeface="CiscoSansTT Medium"/>
                <a:cs typeface="CiscoSansTT Medium"/>
              </a:defRPr>
            </a:lvl7pPr>
            <a:lvl8pPr algn="ctr">
              <a:defRPr sz="1725" b="1">
                <a:solidFill>
                  <a:srgbClr val="FFFFFF"/>
                </a:solidFill>
                <a:latin typeface="CiscoSansTT Medium"/>
                <a:ea typeface="CiscoSansTT Medium"/>
                <a:cs typeface="CiscoSansTT Medium"/>
              </a:defRPr>
            </a:lvl8pPr>
            <a:lvl9pPr algn="ctr">
              <a:defRPr sz="1725" b="1">
                <a:solidFill>
                  <a:srgbClr val="FFFFFF"/>
                </a:solidFill>
                <a:latin typeface="CiscoSansTT Medium"/>
                <a:ea typeface="CiscoSansTT Medium"/>
                <a:cs typeface="CiscoSansTT Medium"/>
              </a:defRPr>
            </a:lvl9pPr>
          </a:lstStyle>
          <a:p>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Set acceptable limits, then compare OBI off with OBI on.</a:t>
            </a:r>
          </a:p>
        </p:txBody>
      </p:sp>
    </p:spTree>
    <p:extLst>
      <p:ext uri="{BB962C8B-B14F-4D97-AF65-F5344CB8AC3E}">
        <p14:creationId xmlns:p14="http://schemas.microsoft.com/office/powerpoint/2010/main" val="1882857912"/>
      </p:ext>
    </p:extLst>
  </p:cSld>
  <p:clrMapOvr>
    <a:masterClrMapping/>
  </p:clrMapOvr>
  <p:transition advClick="1"/>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Production rollout</a:t>
            </a:r>
          </a:p>
        </p:txBody>
      </p:sp>
    </p:spTree>
    <p:extLst>
      <p:ext uri="{BB962C8B-B14F-4D97-AF65-F5344CB8AC3E}">
        <p14:creationId xmlns:p14="http://schemas.microsoft.com/office/powerpoint/2010/main" val="1590252307"/>
      </p:ext>
    </p:extLst>
  </p:cSld>
  <p:clrMapOvr>
    <a:masterClrMapping/>
  </p:clrMapOvr>
  <p:transition advClick="1"/>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lide-title">
            <a:extLst>
              <a:ext uri="{FF2B5EF4-FFF2-40B4-BE49-F238E27FC236}">
                <a16:creationId xmlns:a16="http://schemas.microsoft.com/office/drawing/2014/main" id="{0804FCC2-7680-4AC0-BBC5-FBB9F3E982E3}"/>
              </a:ext>
            </a:extLst>
          </p:cNvPr>
          <p:cNvSpPr>
            <a:spLocks noGrp="1"/>
          </p:cNvSpPr>
          <p:nvPr/>
        </p:nvSpPr>
        <p:spPr>
          <a:xfrm>
            <a:off x="323850" y="228600"/>
            <a:ext cx="11049000" cy="685800"/>
          </a:xfrm>
          <a:prstGeom prst="rect">
            <a:avLst/>
          </a:prstGeom>
          <a:noFill/>
          <a:ln w="0">
            <a:noFill/>
          </a:ln>
        </p:spPr>
        <p:txBody>
          <a:bodyPr anchor="ctr">
            <a:noAutofit/>
          </a:bodyPr>
          <a:lstStyle>
            <a:defPPr algn="l">
              <a:defRPr sz="3000" b="1">
                <a:solidFill>
                  <a:srgbClr val="07182A"/>
                </a:solidFill>
                <a:latin typeface="CiscoSansTT Medium"/>
                <a:ea typeface="CiscoSansTT Medium"/>
                <a:cs typeface="CiscoSansTT Medium"/>
              </a:defRPr>
            </a:defPPr>
            <a:lvl1pPr algn="l">
              <a:defRPr sz="3000" b="1">
                <a:solidFill>
                  <a:srgbClr val="07182A"/>
                </a:solidFill>
                <a:latin typeface="CiscoSansTT Medium"/>
                <a:ea typeface="CiscoSansTT Medium"/>
                <a:cs typeface="CiscoSansTT Medium"/>
              </a:defRPr>
            </a:lvl1pPr>
            <a:lvl2pPr algn="l">
              <a:defRPr sz="3000" b="1">
                <a:solidFill>
                  <a:srgbClr val="07182A"/>
                </a:solidFill>
                <a:latin typeface="CiscoSansTT Medium"/>
                <a:ea typeface="CiscoSansTT Medium"/>
                <a:cs typeface="CiscoSansTT Medium"/>
              </a:defRPr>
            </a:lvl2pPr>
            <a:lvl3pPr algn="l">
              <a:defRPr sz="3000" b="1">
                <a:solidFill>
                  <a:srgbClr val="07182A"/>
                </a:solidFill>
                <a:latin typeface="CiscoSansTT Medium"/>
                <a:ea typeface="CiscoSansTT Medium"/>
                <a:cs typeface="CiscoSansTT Medium"/>
              </a:defRPr>
            </a:lvl3pPr>
            <a:lvl4pPr algn="l">
              <a:defRPr sz="3000" b="1">
                <a:solidFill>
                  <a:srgbClr val="07182A"/>
                </a:solidFill>
                <a:latin typeface="CiscoSansTT Medium"/>
                <a:ea typeface="CiscoSansTT Medium"/>
                <a:cs typeface="CiscoSansTT Medium"/>
              </a:defRPr>
            </a:lvl4pPr>
            <a:lvl5pPr algn="l">
              <a:defRPr sz="3000" b="1">
                <a:solidFill>
                  <a:srgbClr val="07182A"/>
                </a:solidFill>
                <a:latin typeface="CiscoSansTT Medium"/>
                <a:ea typeface="CiscoSansTT Medium"/>
                <a:cs typeface="CiscoSansTT Medium"/>
              </a:defRPr>
            </a:lvl5pPr>
            <a:lvl6pPr algn="l">
              <a:defRPr sz="3000" b="1">
                <a:solidFill>
                  <a:srgbClr val="07182A"/>
                </a:solidFill>
                <a:latin typeface="CiscoSansTT Medium"/>
                <a:ea typeface="CiscoSansTT Medium"/>
                <a:cs typeface="CiscoSansTT Medium"/>
              </a:defRPr>
            </a:lvl6pPr>
            <a:lvl7pPr algn="l">
              <a:defRPr sz="3000" b="1">
                <a:solidFill>
                  <a:srgbClr val="07182A"/>
                </a:solidFill>
                <a:latin typeface="CiscoSansTT Medium"/>
                <a:ea typeface="CiscoSansTT Medium"/>
                <a:cs typeface="CiscoSansTT Medium"/>
              </a:defRPr>
            </a:lvl7pPr>
            <a:lvl8pPr algn="l">
              <a:defRPr sz="3000" b="1">
                <a:solidFill>
                  <a:srgbClr val="07182A"/>
                </a:solidFill>
                <a:latin typeface="CiscoSansTT Medium"/>
                <a:ea typeface="CiscoSansTT Medium"/>
                <a:cs typeface="CiscoSansTT Medium"/>
              </a:defRPr>
            </a:lvl8pPr>
            <a:lvl9pPr algn="l">
              <a:defRPr sz="3000" b="1">
                <a:solidFill>
                  <a:srgbClr val="07182A"/>
                </a:solidFill>
                <a:latin typeface="CiscoSansTT Medium"/>
                <a:ea typeface="CiscoSansTT Medium"/>
                <a:cs typeface="CiscoSansTT Medium"/>
              </a:defRPr>
            </a:lvl9p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How to roll out OBI gradually</a:t>
            </a:r>
          </a:p>
        </p:txBody>
      </p:sp>
      <p:sp>
        <p:nvSpPr>
          <p:cNvPr id="2" name="Rounded Rectangle 1">
            <a:extLst>
              <a:ext uri="{FF2B5EF4-FFF2-40B4-BE49-F238E27FC236}">
                <a16:creationId xmlns:a16="http://schemas.microsoft.com/office/drawing/2014/main" id="{698BD03A-070E-4088-91CA-DC458B098F6D}"/>
              </a:ext>
            </a:extLst>
          </p:cNvPr>
          <p:cNvSpPr>
            <a:spLocks noGrp="1"/>
          </p:cNvSpPr>
          <p:nvPr/>
        </p:nvSpPr>
        <p:spPr>
          <a:xfrm>
            <a:off x="1181100" y="1571625"/>
            <a:ext cx="5905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1</a:t>
            </a:r>
          </a:p>
        </p:txBody>
      </p:sp>
      <p:sp>
        <p:nvSpPr>
          <p:cNvPr id="3" name="Rounded Rectangle 2">
            <a:extLst>
              <a:ext uri="{FF2B5EF4-FFF2-40B4-BE49-F238E27FC236}">
                <a16:creationId xmlns:a16="http://schemas.microsoft.com/office/drawing/2014/main" id="{FB3120F1-0ED1-469F-BDF9-CC7EF00E3199}"/>
              </a:ext>
            </a:extLst>
          </p:cNvPr>
          <p:cNvSpPr>
            <a:spLocks noGrp="1"/>
          </p:cNvSpPr>
          <p:nvPr/>
        </p:nvSpPr>
        <p:spPr>
          <a:xfrm>
            <a:off x="495300" y="2238375"/>
            <a:ext cx="2000250" cy="838200"/>
          </a:xfrm>
          <a:prstGeom prst="roundRect">
            <a:avLst>
              <a:gd name="adj" fmla="val 9091"/>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Check nodes</a:t>
            </a:r>
          </a:p>
        </p:txBody>
      </p:sp>
      <p:sp>
        <p:nvSpPr>
          <p:cNvPr id="4" name="Rectangle 3">
            <a:extLst>
              <a:ext uri="{FF2B5EF4-FFF2-40B4-BE49-F238E27FC236}">
                <a16:creationId xmlns:a16="http://schemas.microsoft.com/office/drawing/2014/main" id="{9F1B11C9-9418-4A97-BB8C-E47A9A7B6BFF}"/>
              </a:ext>
            </a:extLst>
          </p:cNvPr>
          <p:cNvSpPr>
            <a:spLocks noGrp="1"/>
          </p:cNvSpPr>
          <p:nvPr/>
        </p:nvSpPr>
        <p:spPr>
          <a:xfrm>
            <a:off x="495300"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Kernel support,</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agent versions,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Cilium datapath</a:t>
            </a:r>
          </a:p>
        </p:txBody>
      </p:sp>
      <p:sp>
        <p:nvSpPr>
          <p:cNvPr id="5" name="Rounded Rectangle 4">
            <a:extLst>
              <a:ext uri="{FF2B5EF4-FFF2-40B4-BE49-F238E27FC236}">
                <a16:creationId xmlns:a16="http://schemas.microsoft.com/office/drawing/2014/main" id="{77283EF9-0DA7-4352-AC2C-4A111427C91E}"/>
              </a:ext>
            </a:extLst>
          </p:cNvPr>
          <p:cNvSpPr>
            <a:spLocks noGrp="1"/>
          </p:cNvSpPr>
          <p:nvPr/>
        </p:nvSpPr>
        <p:spPr>
          <a:xfrm>
            <a:off x="3514725" y="1571625"/>
            <a:ext cx="5905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2</a:t>
            </a:r>
          </a:p>
        </p:txBody>
      </p:sp>
      <p:sp>
        <p:nvSpPr>
          <p:cNvPr id="6" name="Rounded Rectangle 5">
            <a:extLst>
              <a:ext uri="{FF2B5EF4-FFF2-40B4-BE49-F238E27FC236}">
                <a16:creationId xmlns:a16="http://schemas.microsoft.com/office/drawing/2014/main" id="{31AE3182-7279-498E-A7D7-EB92A540F69D}"/>
              </a:ext>
            </a:extLst>
          </p:cNvPr>
          <p:cNvSpPr>
            <a:spLocks noGrp="1"/>
          </p:cNvSpPr>
          <p:nvPr/>
        </p:nvSpPr>
        <p:spPr>
          <a:xfrm>
            <a:off x="2828925" y="2238375"/>
            <a:ext cx="2000250" cy="838200"/>
          </a:xfrm>
          <a:prstGeom prst="roundRect">
            <a:avLst>
              <a:gd name="adj" fmla="val 9091"/>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Check config</a:t>
            </a:r>
          </a:p>
        </p:txBody>
      </p:sp>
      <p:sp>
        <p:nvSpPr>
          <p:cNvPr id="7" name="Rectangle 6">
            <a:extLst>
              <a:ext uri="{FF2B5EF4-FFF2-40B4-BE49-F238E27FC236}">
                <a16:creationId xmlns:a16="http://schemas.microsoft.com/office/drawing/2014/main" id="{35476832-7A0A-4A45-8FA2-5A422CB7CAA0}"/>
              </a:ext>
            </a:extLst>
          </p:cNvPr>
          <p:cNvSpPr>
            <a:spLocks noGrp="1"/>
          </p:cNvSpPr>
          <p:nvPr/>
        </p:nvSpPr>
        <p:spPr>
          <a:xfrm>
            <a:off x="2828925"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Permissions,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mounts,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attachment order</a:t>
            </a:r>
          </a:p>
        </p:txBody>
      </p:sp>
      <p:sp>
        <p:nvSpPr>
          <p:cNvPr id="8" name="Rounded Rectangle 7">
            <a:extLst>
              <a:ext uri="{FF2B5EF4-FFF2-40B4-BE49-F238E27FC236}">
                <a16:creationId xmlns:a16="http://schemas.microsoft.com/office/drawing/2014/main" id="{8D81A81D-A030-4FCD-806D-F92FD6797A24}"/>
              </a:ext>
            </a:extLst>
          </p:cNvPr>
          <p:cNvSpPr>
            <a:spLocks noGrp="1"/>
          </p:cNvSpPr>
          <p:nvPr/>
        </p:nvSpPr>
        <p:spPr>
          <a:xfrm>
            <a:off x="5848350" y="1571625"/>
            <a:ext cx="5905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3</a:t>
            </a:r>
          </a:p>
        </p:txBody>
      </p:sp>
      <p:sp>
        <p:nvSpPr>
          <p:cNvPr id="9" name="Rounded Rectangle 8">
            <a:extLst>
              <a:ext uri="{FF2B5EF4-FFF2-40B4-BE49-F238E27FC236}">
                <a16:creationId xmlns:a16="http://schemas.microsoft.com/office/drawing/2014/main" id="{B4BF8A64-F1F8-496B-AD30-EFFA1E22F3C1}"/>
              </a:ext>
            </a:extLst>
          </p:cNvPr>
          <p:cNvSpPr>
            <a:spLocks noGrp="1"/>
          </p:cNvSpPr>
          <p:nvPr/>
        </p:nvSpPr>
        <p:spPr>
          <a:xfrm>
            <a:off x="5162550" y="2238375"/>
            <a:ext cx="2000250" cy="838200"/>
          </a:xfrm>
          <a:prstGeom prst="roundRect">
            <a:avLst>
              <a:gd name="adj" fmla="val 9091"/>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Start small</a:t>
            </a:r>
          </a:p>
        </p:txBody>
      </p:sp>
      <p:sp>
        <p:nvSpPr>
          <p:cNvPr id="10" name="Rectangle 9">
            <a:extLst>
              <a:ext uri="{FF2B5EF4-FFF2-40B4-BE49-F238E27FC236}">
                <a16:creationId xmlns:a16="http://schemas.microsoft.com/office/drawing/2014/main" id="{B7354191-4C68-4286-B0CB-A2CBCAE7A6DE}"/>
              </a:ext>
            </a:extLst>
          </p:cNvPr>
          <p:cNvSpPr>
            <a:spLocks noGrp="1"/>
          </p:cNvSpPr>
          <p:nvPr/>
        </p:nvSpPr>
        <p:spPr>
          <a:xfrm>
            <a:off x="5162550"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 few selected nodes.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Keep rollback</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ready.</a:t>
            </a:r>
          </a:p>
        </p:txBody>
      </p:sp>
      <p:sp>
        <p:nvSpPr>
          <p:cNvPr id="11" name="Rounded Rectangle 10">
            <a:extLst>
              <a:ext uri="{FF2B5EF4-FFF2-40B4-BE49-F238E27FC236}">
                <a16:creationId xmlns:a16="http://schemas.microsoft.com/office/drawing/2014/main" id="{A718CAF2-5121-49EA-A878-4287C411D3DF}"/>
              </a:ext>
            </a:extLst>
          </p:cNvPr>
          <p:cNvSpPr>
            <a:spLocks noGrp="1"/>
          </p:cNvSpPr>
          <p:nvPr/>
        </p:nvSpPr>
        <p:spPr>
          <a:xfrm>
            <a:off x="8181975" y="1571625"/>
            <a:ext cx="590550" cy="381000"/>
          </a:xfrm>
          <a:prstGeom prst="roundRect">
            <a:avLst>
              <a:gd name="adj" fmla="val 20000"/>
            </a:avLst>
          </a:prstGeom>
          <a:solidFill>
            <a:srgbClr val="0860FE"/>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4</a:t>
            </a:r>
          </a:p>
        </p:txBody>
      </p:sp>
      <p:sp>
        <p:nvSpPr>
          <p:cNvPr id="12" name="Rounded Rectangle 11">
            <a:extLst>
              <a:ext uri="{FF2B5EF4-FFF2-40B4-BE49-F238E27FC236}">
                <a16:creationId xmlns:a16="http://schemas.microsoft.com/office/drawing/2014/main" id="{89DAFA5E-F22D-49BF-BDA0-446E1721FD8C}"/>
              </a:ext>
            </a:extLst>
          </p:cNvPr>
          <p:cNvSpPr>
            <a:spLocks noGrp="1"/>
          </p:cNvSpPr>
          <p:nvPr/>
        </p:nvSpPr>
        <p:spPr>
          <a:xfrm>
            <a:off x="7496175" y="2238375"/>
            <a:ext cx="2000250" cy="838200"/>
          </a:xfrm>
          <a:prstGeom prst="roundRect">
            <a:avLst>
              <a:gd name="adj" fmla="val 9091"/>
            </a:avLst>
          </a:prstGeom>
          <a:solidFill>
            <a:srgbClr val="EAF7FC"/>
          </a:solidFill>
          <a:ln w="14288">
            <a:solidFill>
              <a:srgbClr val="0860FE"/>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Test traffic</a:t>
            </a:r>
          </a:p>
        </p:txBody>
      </p:sp>
      <p:sp>
        <p:nvSpPr>
          <p:cNvPr id="13" name="Rectangle 12">
            <a:extLst>
              <a:ext uri="{FF2B5EF4-FFF2-40B4-BE49-F238E27FC236}">
                <a16:creationId xmlns:a16="http://schemas.microsoft.com/office/drawing/2014/main" id="{D82F6F63-443B-4774-81BA-BBEF0877C882}"/>
              </a:ext>
            </a:extLst>
          </p:cNvPr>
          <p:cNvSpPr>
            <a:spLocks noGrp="1"/>
          </p:cNvSpPr>
          <p:nvPr/>
        </p:nvSpPr>
        <p:spPr>
          <a:xfrm>
            <a:off x="7496175"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Same-node and</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cross-node calls,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allowed and denied</a:t>
            </a:r>
          </a:p>
        </p:txBody>
      </p:sp>
      <p:sp>
        <p:nvSpPr>
          <p:cNvPr id="14" name="Rounded Rectangle 13">
            <a:extLst>
              <a:ext uri="{FF2B5EF4-FFF2-40B4-BE49-F238E27FC236}">
                <a16:creationId xmlns:a16="http://schemas.microsoft.com/office/drawing/2014/main" id="{D2175F4C-7525-4FBF-BE5C-D89327EC2625}"/>
              </a:ext>
            </a:extLst>
          </p:cNvPr>
          <p:cNvSpPr>
            <a:spLocks noGrp="1"/>
          </p:cNvSpPr>
          <p:nvPr/>
        </p:nvSpPr>
        <p:spPr>
          <a:xfrm>
            <a:off x="10515600" y="1571625"/>
            <a:ext cx="590550" cy="381000"/>
          </a:xfrm>
          <a:prstGeom prst="roundRect">
            <a:avLst>
              <a:gd name="adj" fmla="val 20000"/>
            </a:avLst>
          </a:prstGeom>
          <a:solidFill>
            <a:srgbClr val="2DAA5F"/>
          </a:solidFill>
          <a:ln w="0">
            <a:noFill/>
          </a:ln>
        </p:spPr>
        <p:txBody>
          <a:bodyPr anchor="ctr">
            <a:normAutofit fontScale="97401"/>
          </a:bodyPr>
          <a:lstStyle/>
          <a:p>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5</a:t>
            </a:r>
          </a:p>
        </p:txBody>
      </p:sp>
      <p:sp>
        <p:nvSpPr>
          <p:cNvPr id="15" name="Rounded Rectangle 14">
            <a:extLst>
              <a:ext uri="{FF2B5EF4-FFF2-40B4-BE49-F238E27FC236}">
                <a16:creationId xmlns:a16="http://schemas.microsoft.com/office/drawing/2014/main" id="{6CE53DC2-CA77-4D57-BF19-1957B258B104}"/>
              </a:ext>
            </a:extLst>
          </p:cNvPr>
          <p:cNvSpPr>
            <a:spLocks noGrp="1"/>
          </p:cNvSpPr>
          <p:nvPr/>
        </p:nvSpPr>
        <p:spPr>
          <a:xfrm>
            <a:off x="9829800" y="2238375"/>
            <a:ext cx="2000250" cy="838200"/>
          </a:xfrm>
          <a:prstGeom prst="roundRect">
            <a:avLst>
              <a:gd name="adj" fmla="val 9091"/>
            </a:avLst>
          </a:prstGeom>
          <a:solidFill>
            <a:srgbClr val="EAF7EF"/>
          </a:solidFill>
          <a:ln w="14288">
            <a:solidFill>
              <a:srgbClr val="2DAA5F"/>
            </a:solidFill>
          </a:ln>
        </p:spPr>
        <p:txBody>
          <a:bodyPr anchor="ctr">
            <a:noAutofit/>
          </a:bodyPr>
          <a:lstStyle>
            <a:defPPr algn="ctr">
              <a:defRPr sz="2025" b="1">
                <a:solidFill>
                  <a:srgbClr val="07182A"/>
                </a:solidFill>
                <a:latin typeface="CiscoSansTT Medium"/>
                <a:ea typeface="CiscoSansTT Medium"/>
                <a:cs typeface="CiscoSansTT Medium"/>
              </a:defRPr>
            </a:defPPr>
            <a:lvl1pPr algn="ctr">
              <a:defRPr sz="2025" b="1">
                <a:solidFill>
                  <a:srgbClr val="07182A"/>
                </a:solidFill>
                <a:latin typeface="CiscoSansTT Medium"/>
                <a:ea typeface="CiscoSansTT Medium"/>
                <a:cs typeface="CiscoSansTT Medium"/>
              </a:defRPr>
            </a:lvl1pPr>
            <a:lvl2pPr algn="ctr">
              <a:defRPr sz="2025" b="1">
                <a:solidFill>
                  <a:srgbClr val="07182A"/>
                </a:solidFill>
                <a:latin typeface="CiscoSansTT Medium"/>
                <a:ea typeface="CiscoSansTT Medium"/>
                <a:cs typeface="CiscoSansTT Medium"/>
              </a:defRPr>
            </a:lvl2pPr>
            <a:lvl3pPr algn="ctr">
              <a:defRPr sz="2025" b="1">
                <a:solidFill>
                  <a:srgbClr val="07182A"/>
                </a:solidFill>
                <a:latin typeface="CiscoSansTT Medium"/>
                <a:ea typeface="CiscoSansTT Medium"/>
                <a:cs typeface="CiscoSansTT Medium"/>
              </a:defRPr>
            </a:lvl3pPr>
            <a:lvl4pPr algn="ctr">
              <a:defRPr sz="2025" b="1">
                <a:solidFill>
                  <a:srgbClr val="07182A"/>
                </a:solidFill>
                <a:latin typeface="CiscoSansTT Medium"/>
                <a:ea typeface="CiscoSansTT Medium"/>
                <a:cs typeface="CiscoSansTT Medium"/>
              </a:defRPr>
            </a:lvl4pPr>
            <a:lvl5pPr algn="ctr">
              <a:defRPr sz="2025" b="1">
                <a:solidFill>
                  <a:srgbClr val="07182A"/>
                </a:solidFill>
                <a:latin typeface="CiscoSansTT Medium"/>
                <a:ea typeface="CiscoSansTT Medium"/>
                <a:cs typeface="CiscoSansTT Medium"/>
              </a:defRPr>
            </a:lvl5pPr>
            <a:lvl6pPr algn="ctr">
              <a:defRPr sz="2025" b="1">
                <a:solidFill>
                  <a:srgbClr val="07182A"/>
                </a:solidFill>
                <a:latin typeface="CiscoSansTT Medium"/>
                <a:ea typeface="CiscoSansTT Medium"/>
                <a:cs typeface="CiscoSansTT Medium"/>
              </a:defRPr>
            </a:lvl6pPr>
            <a:lvl7pPr algn="ctr">
              <a:defRPr sz="2025" b="1">
                <a:solidFill>
                  <a:srgbClr val="07182A"/>
                </a:solidFill>
                <a:latin typeface="CiscoSansTT Medium"/>
                <a:ea typeface="CiscoSansTT Medium"/>
                <a:cs typeface="CiscoSansTT Medium"/>
              </a:defRPr>
            </a:lvl7pPr>
            <a:lvl8pPr algn="ctr">
              <a:defRPr sz="2025" b="1">
                <a:solidFill>
                  <a:srgbClr val="07182A"/>
                </a:solidFill>
                <a:latin typeface="CiscoSansTT Medium"/>
                <a:ea typeface="CiscoSansTT Medium"/>
                <a:cs typeface="CiscoSansTT Medium"/>
              </a:defRPr>
            </a:lvl8pPr>
            <a:lvl9pPr algn="ctr">
              <a:defRPr sz="2025" b="1">
                <a:solidFill>
                  <a:srgbClr val="07182A"/>
                </a:solidFill>
                <a:latin typeface="CiscoSansTT Medium"/>
                <a:ea typeface="CiscoSansTT Medium"/>
                <a:cs typeface="CiscoSansTT Medium"/>
              </a:defRPr>
            </a:lvl9pPr>
          </a:lstStyle>
          <a:p>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Expand</a:t>
            </a:r>
          </a:p>
        </p:txBody>
      </p:sp>
      <p:sp>
        <p:nvSpPr>
          <p:cNvPr id="16" name="Rectangle 15">
            <a:extLst>
              <a:ext uri="{FF2B5EF4-FFF2-40B4-BE49-F238E27FC236}">
                <a16:creationId xmlns:a16="http://schemas.microsoft.com/office/drawing/2014/main" id="{2490163B-5B41-454E-B471-3248BDB5BC0B}"/>
              </a:ext>
            </a:extLst>
          </p:cNvPr>
          <p:cNvSpPr>
            <a:spLocks noGrp="1"/>
          </p:cNvSpPr>
          <p:nvPr/>
        </p:nvSpPr>
        <p:spPr>
          <a:xfrm>
            <a:off x="9829800" y="3276600"/>
            <a:ext cx="2000250" cy="1181100"/>
          </a:xfrm>
          <a:prstGeom prst="rect">
            <a:avLst/>
          </a:prstGeom>
          <a:noFill/>
          <a:ln w="0">
            <a:noFill/>
          </a:ln>
        </p:spPr>
        <p:txBody>
          <a:bodyPr anchor="ctr">
            <a:noAutofit/>
          </a:bodyPr>
          <a:lstStyle>
            <a:defPPr algn="ctr">
              <a:defRPr sz="1650" b="0">
                <a:solidFill>
                  <a:srgbClr val="686B6B"/>
                </a:solidFill>
                <a:latin typeface="CiscoSansTT"/>
                <a:ea typeface="CiscoSansTT"/>
                <a:cs typeface="CiscoSansTT"/>
              </a:defRPr>
            </a:defPPr>
            <a:lvl1pPr algn="ctr">
              <a:defRPr sz="1650" b="0">
                <a:solidFill>
                  <a:srgbClr val="686B6B"/>
                </a:solidFill>
                <a:latin typeface="CiscoSansTT"/>
                <a:ea typeface="CiscoSansTT"/>
                <a:cs typeface="CiscoSansTT"/>
              </a:defRPr>
            </a:lvl1pPr>
            <a:lvl2pPr algn="ctr">
              <a:defRPr sz="1650" b="0">
                <a:solidFill>
                  <a:srgbClr val="686B6B"/>
                </a:solidFill>
                <a:latin typeface="CiscoSansTT"/>
                <a:ea typeface="CiscoSansTT"/>
                <a:cs typeface="CiscoSansTT"/>
              </a:defRPr>
            </a:lvl2pPr>
            <a:lvl3pPr algn="ctr">
              <a:defRPr sz="1650" b="0">
                <a:solidFill>
                  <a:srgbClr val="686B6B"/>
                </a:solidFill>
                <a:latin typeface="CiscoSansTT"/>
                <a:ea typeface="CiscoSansTT"/>
                <a:cs typeface="CiscoSansTT"/>
              </a:defRPr>
            </a:lvl3pPr>
            <a:lvl4pPr algn="ctr">
              <a:defRPr sz="1650" b="0">
                <a:solidFill>
                  <a:srgbClr val="686B6B"/>
                </a:solidFill>
                <a:latin typeface="CiscoSansTT"/>
                <a:ea typeface="CiscoSansTT"/>
                <a:cs typeface="CiscoSansTT"/>
              </a:defRPr>
            </a:lvl4pPr>
            <a:lvl5pPr algn="ctr">
              <a:defRPr sz="1650" b="0">
                <a:solidFill>
                  <a:srgbClr val="686B6B"/>
                </a:solidFill>
                <a:latin typeface="CiscoSansTT"/>
                <a:ea typeface="CiscoSansTT"/>
                <a:cs typeface="CiscoSansTT"/>
              </a:defRPr>
            </a:lvl5pPr>
            <a:lvl6pPr algn="ctr">
              <a:defRPr sz="1650" b="0">
                <a:solidFill>
                  <a:srgbClr val="686B6B"/>
                </a:solidFill>
                <a:latin typeface="CiscoSansTT"/>
                <a:ea typeface="CiscoSansTT"/>
                <a:cs typeface="CiscoSansTT"/>
              </a:defRPr>
            </a:lvl6pPr>
            <a:lvl7pPr algn="ctr">
              <a:defRPr sz="1650" b="0">
                <a:solidFill>
                  <a:srgbClr val="686B6B"/>
                </a:solidFill>
                <a:latin typeface="CiscoSansTT"/>
                <a:ea typeface="CiscoSansTT"/>
                <a:cs typeface="CiscoSansTT"/>
              </a:defRPr>
            </a:lvl7pPr>
            <a:lvl8pPr algn="ctr">
              <a:defRPr sz="1650" b="0">
                <a:solidFill>
                  <a:srgbClr val="686B6B"/>
                </a:solidFill>
                <a:latin typeface="CiscoSansTT"/>
                <a:ea typeface="CiscoSansTT"/>
                <a:cs typeface="CiscoSansTT"/>
              </a:defRPr>
            </a:lvl8pPr>
            <a:lvl9pPr algn="ctr">
              <a:defRPr sz="1650" b="0">
                <a:solidFill>
                  <a:srgbClr val="686B6B"/>
                </a:solidFill>
                <a:latin typeface="CiscoSansTT"/>
                <a:ea typeface="CiscoSansTT"/>
                <a:cs typeface="CiscoSansTT"/>
              </a:defRPr>
            </a:lvl9pPr>
          </a:lstStyle>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Compare requests,</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resources, and</a:t>
            </a:r>
          </a:p>
          <a:p>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telemetry quality</a:t>
            </a:r>
          </a:p>
        </p:txBody>
      </p:sp>
      <p:cxnSp>
        <p:nvCxnSpPr>
          <p:cNvPr id="299" name="Straight Arrow Connector 38">
            <a:extLst>
              <a:ext uri="{FF2B5EF4-FFF2-40B4-BE49-F238E27FC236}">
                <a16:creationId xmlns:a16="http://schemas.microsoft.com/office/drawing/2014/main" id="{7B3B69E5-442B-4BA3-BEE9-E4D0B7DB7B99}"/>
              </a:ext>
            </a:extLst>
          </p:cNvPr>
          <p:cNvCxnSpPr>
            <a:stCxn id="3" idx="3"/>
            <a:endCxn id="6" idx="1"/>
          </p:cNvCxnSpPr>
          <p:nvPr/>
        </p:nvCxnSpPr>
        <p:spPr>
          <a:xfrm>
            <a:off x="2495550" y="2657475"/>
            <a:ext cx="333375" cy="0"/>
          </a:xfrm>
          <a:prstGeom prst="straightConnector1">
            <a:avLst/>
          </a:prstGeom>
          <a:ln w="19050">
            <a:solidFill>
              <a:srgbClr val="07182A"/>
            </a:solidFill>
            <a:prstDash val="solid"/>
            <a:tailEnd type="arrow" w="med" len="med"/>
          </a:ln>
        </p:spPr>
      </p:cxnSp>
      <p:cxnSp>
        <p:nvCxnSpPr>
          <p:cNvPr id="300" name="Straight Arrow Connector 39">
            <a:extLst>
              <a:ext uri="{FF2B5EF4-FFF2-40B4-BE49-F238E27FC236}">
                <a16:creationId xmlns:a16="http://schemas.microsoft.com/office/drawing/2014/main" id="{74D0A627-ABD3-4683-81CB-A3B63367B664}"/>
              </a:ext>
            </a:extLst>
          </p:cNvPr>
          <p:cNvCxnSpPr>
            <a:stCxn id="6" idx="3"/>
            <a:endCxn id="9" idx="1"/>
          </p:cNvCxnSpPr>
          <p:nvPr/>
        </p:nvCxnSpPr>
        <p:spPr>
          <a:xfrm>
            <a:off x="4829175" y="2657475"/>
            <a:ext cx="333375" cy="0"/>
          </a:xfrm>
          <a:prstGeom prst="straightConnector1">
            <a:avLst/>
          </a:prstGeom>
          <a:ln w="19050">
            <a:solidFill>
              <a:srgbClr val="07182A"/>
            </a:solidFill>
            <a:prstDash val="solid"/>
            <a:tailEnd type="arrow" w="med" len="med"/>
          </a:ln>
        </p:spPr>
      </p:cxnSp>
      <p:cxnSp>
        <p:nvCxnSpPr>
          <p:cNvPr id="301" name="Straight Arrow Connector 40">
            <a:extLst>
              <a:ext uri="{FF2B5EF4-FFF2-40B4-BE49-F238E27FC236}">
                <a16:creationId xmlns:a16="http://schemas.microsoft.com/office/drawing/2014/main" id="{51C97834-FDF8-45DD-91AD-89E6EC92F5C7}"/>
              </a:ext>
            </a:extLst>
          </p:cNvPr>
          <p:cNvCxnSpPr>
            <a:stCxn id="9" idx="3"/>
            <a:endCxn id="12" idx="1"/>
          </p:cNvCxnSpPr>
          <p:nvPr/>
        </p:nvCxnSpPr>
        <p:spPr>
          <a:xfrm>
            <a:off x="7162800" y="2657475"/>
            <a:ext cx="333375" cy="0"/>
          </a:xfrm>
          <a:prstGeom prst="straightConnector1">
            <a:avLst/>
          </a:prstGeom>
          <a:ln w="19050">
            <a:solidFill>
              <a:srgbClr val="07182A"/>
            </a:solidFill>
            <a:prstDash val="solid"/>
            <a:tailEnd type="arrow" w="med" len="med"/>
          </a:ln>
        </p:spPr>
      </p:cxnSp>
      <p:cxnSp>
        <p:nvCxnSpPr>
          <p:cNvPr id="302" name="Straight Arrow Connector 41">
            <a:extLst>
              <a:ext uri="{FF2B5EF4-FFF2-40B4-BE49-F238E27FC236}">
                <a16:creationId xmlns:a16="http://schemas.microsoft.com/office/drawing/2014/main" id="{B42F02B1-EA9D-4BB4-943C-B83A31595EA2}"/>
              </a:ext>
            </a:extLst>
          </p:cNvPr>
          <p:cNvCxnSpPr>
            <a:stCxn id="12" idx="3"/>
            <a:endCxn id="15" idx="1"/>
          </p:cNvCxnSpPr>
          <p:nvPr/>
        </p:nvCxnSpPr>
        <p:spPr>
          <a:xfrm>
            <a:off x="9496425" y="2657475"/>
            <a:ext cx="333375" cy="0"/>
          </a:xfrm>
          <a:prstGeom prst="straightConnector1">
            <a:avLst/>
          </a:prstGeom>
          <a:ln w="19050">
            <a:solidFill>
              <a:srgbClr val="07182A"/>
            </a:solidFill>
            <a:prstDash val="solid"/>
            <a:tailEnd type="arrow" w="med" len="med"/>
          </a:ln>
        </p:spPr>
      </p:cxnSp>
      <p:sp>
        <p:nvSpPr>
          <p:cNvPr id="21" name="Rounded Rectangle 20">
            <a:extLst>
              <a:ext uri="{FF2B5EF4-FFF2-40B4-BE49-F238E27FC236}">
                <a16:creationId xmlns:a16="http://schemas.microsoft.com/office/drawing/2014/main" id="{A8E5CA0D-8A5D-4BD3-A93D-56E4A51883CE}"/>
              </a:ext>
            </a:extLst>
          </p:cNvPr>
          <p:cNvSpPr>
            <a:spLocks noGrp="1"/>
          </p:cNvSpPr>
          <p:nvPr/>
        </p:nvSpPr>
        <p:spPr>
          <a:xfrm>
            <a:off x="1219200" y="4838700"/>
            <a:ext cx="9753600" cy="857250"/>
          </a:xfrm>
          <a:prstGeom prst="roundRect">
            <a:avLst>
              <a:gd name="adj" fmla="val 8889"/>
            </a:avLst>
          </a:prstGeom>
          <a:solidFill>
            <a:srgbClr val="F4F6F8"/>
          </a:solidFill>
          <a:ln w="14288">
            <a:solidFill>
              <a:srgbClr val="D6D6D6"/>
            </a:solidFill>
          </a:ln>
        </p:spPr>
        <p:txBody>
          <a:bodyPr/>
          <a:lstStyle/>
          <a:p>
            <a:endParaRPr/>
          </a:p>
        </p:txBody>
      </p:sp>
      <p:sp>
        <p:nvSpPr>
          <p:cNvPr id="22" name="Rectangle 21">
            <a:extLst>
              <a:ext uri="{FF2B5EF4-FFF2-40B4-BE49-F238E27FC236}">
                <a16:creationId xmlns:a16="http://schemas.microsoft.com/office/drawing/2014/main" id="{BFD370B6-619A-467A-BD71-9857194631E6}"/>
              </a:ext>
            </a:extLst>
          </p:cNvPr>
          <p:cNvSpPr>
            <a:spLocks noGrp="1"/>
          </p:cNvSpPr>
          <p:nvPr/>
        </p:nvSpPr>
        <p:spPr>
          <a:xfrm>
            <a:off x="1619250" y="5048250"/>
            <a:ext cx="8953500" cy="476250"/>
          </a:xfrm>
          <a:prstGeom prst="rect">
            <a:avLst/>
          </a:prstGeom>
          <a:noFill/>
          <a:ln w="0">
            <a:noFill/>
          </a:ln>
        </p:spPr>
        <p:txBody>
          <a:bodyPr anchor="ctr">
            <a:noAutofit/>
          </a:bodyPr>
          <a:lstStyle>
            <a:defPPr algn="ctr">
              <a:defRPr sz="1800" b="1">
                <a:solidFill>
                  <a:srgbClr val="07182A"/>
                </a:solidFill>
                <a:latin typeface="CiscoSansTT Medium"/>
                <a:ea typeface="CiscoSansTT Medium"/>
                <a:cs typeface="CiscoSansTT Medium"/>
              </a:defRPr>
            </a:defPPr>
            <a:lvl1pPr algn="ctr">
              <a:defRPr sz="1800" b="1">
                <a:solidFill>
                  <a:srgbClr val="07182A"/>
                </a:solidFill>
                <a:latin typeface="CiscoSansTT Medium"/>
                <a:ea typeface="CiscoSansTT Medium"/>
                <a:cs typeface="CiscoSansTT Medium"/>
              </a:defRPr>
            </a:lvl1pPr>
            <a:lvl2pPr algn="ctr">
              <a:defRPr sz="1800" b="1">
                <a:solidFill>
                  <a:srgbClr val="07182A"/>
                </a:solidFill>
                <a:latin typeface="CiscoSansTT Medium"/>
                <a:ea typeface="CiscoSansTT Medium"/>
                <a:cs typeface="CiscoSansTT Medium"/>
              </a:defRPr>
            </a:lvl2pPr>
            <a:lvl3pPr algn="ctr">
              <a:defRPr sz="1800" b="1">
                <a:solidFill>
                  <a:srgbClr val="07182A"/>
                </a:solidFill>
                <a:latin typeface="CiscoSansTT Medium"/>
                <a:ea typeface="CiscoSansTT Medium"/>
                <a:cs typeface="CiscoSansTT Medium"/>
              </a:defRPr>
            </a:lvl3pPr>
            <a:lvl4pPr algn="ctr">
              <a:defRPr sz="1800" b="1">
                <a:solidFill>
                  <a:srgbClr val="07182A"/>
                </a:solidFill>
                <a:latin typeface="CiscoSansTT Medium"/>
                <a:ea typeface="CiscoSansTT Medium"/>
                <a:cs typeface="CiscoSansTT Medium"/>
              </a:defRPr>
            </a:lvl4pPr>
            <a:lvl5pPr algn="ctr">
              <a:defRPr sz="1800" b="1">
                <a:solidFill>
                  <a:srgbClr val="07182A"/>
                </a:solidFill>
                <a:latin typeface="CiscoSansTT Medium"/>
                <a:ea typeface="CiscoSansTT Medium"/>
                <a:cs typeface="CiscoSansTT Medium"/>
              </a:defRPr>
            </a:lvl5pPr>
            <a:lvl6pPr algn="ctr">
              <a:defRPr sz="1800" b="1">
                <a:solidFill>
                  <a:srgbClr val="07182A"/>
                </a:solidFill>
                <a:latin typeface="CiscoSansTT Medium"/>
                <a:ea typeface="CiscoSansTT Medium"/>
                <a:cs typeface="CiscoSansTT Medium"/>
              </a:defRPr>
            </a:lvl6pPr>
            <a:lvl7pPr algn="ctr">
              <a:defRPr sz="1800" b="1">
                <a:solidFill>
                  <a:srgbClr val="07182A"/>
                </a:solidFill>
                <a:latin typeface="CiscoSansTT Medium"/>
                <a:ea typeface="CiscoSansTT Medium"/>
                <a:cs typeface="CiscoSansTT Medium"/>
              </a:defRPr>
            </a:lvl7pPr>
            <a:lvl8pPr algn="ctr">
              <a:defRPr sz="1800" b="1">
                <a:solidFill>
                  <a:srgbClr val="07182A"/>
                </a:solidFill>
                <a:latin typeface="CiscoSansTT Medium"/>
                <a:ea typeface="CiscoSansTT Medium"/>
                <a:cs typeface="CiscoSansTT Medium"/>
              </a:defRPr>
            </a:lvl8pPr>
            <a:lvl9pPr algn="ctr">
              <a:defRPr sz="1800" b="1">
                <a:solidFill>
                  <a:srgbClr val="07182A"/>
                </a:solidFill>
                <a:latin typeface="CiscoSansTT Medium"/>
                <a:ea typeface="CiscoSansTT Medium"/>
                <a:cs typeface="CiscoSansTT Medium"/>
              </a:defRPr>
            </a:lvl9pPr>
          </a:lstStyle>
          <a:p>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Expand when the checks pass. If they fail, pause and restore the previous setup.</a:t>
            </a:r>
          </a:p>
        </p:txBody>
      </p:sp>
    </p:spTree>
    <p:extLst>
      <p:ext uri="{BB962C8B-B14F-4D97-AF65-F5344CB8AC3E}">
        <p14:creationId xmlns:p14="http://schemas.microsoft.com/office/powerpoint/2010/main" val="315884920"/>
      </p:ext>
    </p:extLst>
  </p:cSld>
  <p:clrMapOvr>
    <a:masterClrMapping/>
  </p:clrMapOvr>
  <p:transition advClick="1"/>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99C880A8-3582-4338-BB63-C79554C56E94}"/>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Three rules for running both</a:t>
            </a:r>
          </a:p>
        </p:txBody>
      </p:sp>
      <p:sp>
        <p:nvSpPr>
          <p:cNvPr id="2" name="Rectangle 1">
            <a:extLst xmlns:a="http://schemas.openxmlformats.org/drawingml/2006/main">
              <a:ext uri="{FF2B5EF4-FFF2-40B4-BE49-F238E27FC236}">
                <a16:creationId xmlns:a16="http://schemas.microsoft.com/office/drawing/2014/main" id="{CEC07943-9C3B-4328-9CA2-532BB469DBA6}"/>
              </a:ext>
            </a:extLst>
          </p:cNvPr>
          <p:cNvSpPr>
            <a:spLocks xmlns:a="http://schemas.openxmlformats.org/drawingml/2006/main" noGrp="1"/>
          </p:cNvSpPr>
          <p:nvPr/>
        </p:nvSpPr>
        <p:spPr>
          <a:xfrm xmlns:a="http://schemas.openxmlformats.org/drawingml/2006/main">
            <a:off x="781050" y="1524000"/>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0860FE"/>
                </a:solidFill>
                <a:latin typeface="CiscoSansTT Medium"/>
                <a:ea typeface="CiscoSansTT Medium"/>
                <a:cs typeface="CiscoSansTT Medium"/>
              </a:defRPr>
            </a:pPr>
            <a:r>
              <a:rPr sz="2925"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909DFF60-89E5-4A12-A77D-719A2348DAA4}"/>
              </a:ext>
            </a:extLst>
          </p:cNvPr>
          <p:cNvSpPr>
            <a:spLocks xmlns:a="http://schemas.openxmlformats.org/drawingml/2006/main" noGrp="1"/>
          </p:cNvSpPr>
          <p:nvPr/>
        </p:nvSpPr>
        <p:spPr>
          <a:xfrm xmlns:a="http://schemas.openxmlformats.org/drawingml/2006/main">
            <a:off x="1905000" y="1524000"/>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Verify traffic + order</a:t>
            </a:r>
          </a:p>
        </p:txBody>
      </p:sp>
      <p:sp>
        <p:nvSpPr>
          <p:cNvPr id="4" name="Rectangle 3">
            <a:extLst xmlns:a="http://schemas.openxmlformats.org/drawingml/2006/main">
              <a:ext uri="{FF2B5EF4-FFF2-40B4-BE49-F238E27FC236}">
                <a16:creationId xmlns:a16="http://schemas.microsoft.com/office/drawing/2014/main" id="{1DED608B-AA10-4F56-83D1-A47EE6CD188F}"/>
              </a:ext>
            </a:extLst>
          </p:cNvPr>
          <p:cNvSpPr>
            <a:spLocks xmlns:a="http://schemas.openxmlformats.org/drawingml/2006/main" noGrp="1"/>
          </p:cNvSpPr>
          <p:nvPr/>
        </p:nvSpPr>
        <p:spPr>
          <a:xfrm xmlns:a="http://schemas.openxmlformats.org/drawingml/2006/main">
            <a:off x="5953125" y="1543050"/>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Check allowed and denied traffic.</a:t>
            </a:r>
          </a:p>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Verify TCX or legacy priorities.</a:t>
            </a:r>
          </a:p>
        </p:txBody>
      </p:sp>
      <p:sp>
        <p:nvSpPr>
          <p:cNvPr id="5" name="Rectangle 4">
            <a:extLst xmlns:a="http://schemas.openxmlformats.org/drawingml/2006/main">
              <a:ext uri="{FF2B5EF4-FFF2-40B4-BE49-F238E27FC236}">
                <a16:creationId xmlns:a16="http://schemas.microsoft.com/office/drawing/2014/main" id="{B063BBC9-28E7-4543-A22D-F34BBD91DF39}"/>
              </a:ext>
            </a:extLst>
          </p:cNvPr>
          <p:cNvSpPr>
            <a:spLocks xmlns:a="http://schemas.openxmlformats.org/drawingml/2006/main" noGrp="1"/>
          </p:cNvSpPr>
          <p:nvPr/>
        </p:nvSpPr>
        <p:spPr>
          <a:xfrm xmlns:a="http://schemas.openxmlformats.org/drawingml/2006/main">
            <a:off x="1905000" y="2333625"/>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7744041E-5BE1-4917-AB80-60DE28645E6A}"/>
              </a:ext>
            </a:extLst>
          </p:cNvPr>
          <p:cNvSpPr>
            <a:spLocks xmlns:a="http://schemas.openxmlformats.org/drawingml/2006/main" noGrp="1"/>
          </p:cNvSpPr>
          <p:nvPr/>
        </p:nvSpPr>
        <p:spPr>
          <a:xfrm xmlns:a="http://schemas.openxmlformats.org/drawingml/2006/main">
            <a:off x="781050" y="2905125"/>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FF007F"/>
                </a:solidFill>
                <a:latin typeface="CiscoSansTT Medium"/>
                <a:ea typeface="CiscoSansTT Medium"/>
                <a:cs typeface="CiscoSansTT Medium"/>
              </a:defRPr>
            </a:pPr>
            <a:r>
              <a:rPr sz="2925"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FE853C3F-C124-4539-A207-DDBFF83B7A34}"/>
              </a:ext>
            </a:extLst>
          </p:cNvPr>
          <p:cNvSpPr>
            <a:spLocks xmlns:a="http://schemas.openxmlformats.org/drawingml/2006/main" noGrp="1"/>
          </p:cNvSpPr>
          <p:nvPr/>
        </p:nvSpPr>
        <p:spPr>
          <a:xfrm xmlns:a="http://schemas.openxmlformats.org/drawingml/2006/main">
            <a:off x="1905000" y="2905125"/>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Correlate the signals</a:t>
            </a:r>
          </a:p>
        </p:txBody>
      </p:sp>
      <p:sp>
        <p:nvSpPr>
          <p:cNvPr id="8" name="Rectangle 7">
            <a:extLst xmlns:a="http://schemas.openxmlformats.org/drawingml/2006/main">
              <a:ext uri="{FF2B5EF4-FFF2-40B4-BE49-F238E27FC236}">
                <a16:creationId xmlns:a16="http://schemas.microsoft.com/office/drawing/2014/main" id="{FC46DB99-40F6-4A65-86C7-09E7DE84F08A}"/>
              </a:ext>
            </a:extLst>
          </p:cNvPr>
          <p:cNvSpPr>
            <a:spLocks xmlns:a="http://schemas.openxmlformats.org/drawingml/2006/main" noGrp="1"/>
          </p:cNvSpPr>
          <p:nvPr/>
        </p:nvSpPr>
        <p:spPr>
          <a:xfrm xmlns:a="http://schemas.openxmlformats.org/drawingml/2006/main">
            <a:off x="5953125" y="2924175"/>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Match time, workloads, direction, and port.</a:t>
            </a:r>
          </a:p>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Use OBI traces with Hubble flow evidence.</a:t>
            </a:r>
          </a:p>
        </p:txBody>
      </p:sp>
      <p:sp>
        <p:nvSpPr>
          <p:cNvPr id="9" name="Rectangle 8">
            <a:extLst xmlns:a="http://schemas.openxmlformats.org/drawingml/2006/main">
              <a:ext uri="{FF2B5EF4-FFF2-40B4-BE49-F238E27FC236}">
                <a16:creationId xmlns:a16="http://schemas.microsoft.com/office/drawing/2014/main" id="{06E77A3C-525A-4F41-9208-7530006142A6}"/>
              </a:ext>
            </a:extLst>
          </p:cNvPr>
          <p:cNvSpPr>
            <a:spLocks xmlns:a="http://schemas.openxmlformats.org/drawingml/2006/main" noGrp="1"/>
          </p:cNvSpPr>
          <p:nvPr/>
        </p:nvSpPr>
        <p:spPr>
          <a:xfrm xmlns:a="http://schemas.openxmlformats.org/drawingml/2006/main">
            <a:off x="1905000" y="3714750"/>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0733A2E0-4853-430E-B861-8F608C46153F}"/>
              </a:ext>
            </a:extLst>
          </p:cNvPr>
          <p:cNvSpPr>
            <a:spLocks xmlns:a="http://schemas.openxmlformats.org/drawingml/2006/main" noGrp="1"/>
          </p:cNvSpPr>
          <p:nvPr/>
        </p:nvSpPr>
        <p:spPr>
          <a:xfrm xmlns:a="http://schemas.openxmlformats.org/drawingml/2006/main">
            <a:off x="781050" y="4286250"/>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FF9000"/>
                </a:solidFill>
                <a:latin typeface="CiscoSansTT Medium"/>
                <a:ea typeface="CiscoSansTT Medium"/>
                <a:cs typeface="CiscoSansTT Medium"/>
              </a:defRPr>
            </a:pPr>
            <a:r>
              <a:rPr sz="2925"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5C6F9620-6253-4E71-BDCC-B3879164F272}"/>
              </a:ext>
            </a:extLst>
          </p:cNvPr>
          <p:cNvSpPr>
            <a:spLocks xmlns:a="http://schemas.openxmlformats.org/drawingml/2006/main" noGrp="1"/>
          </p:cNvSpPr>
          <p:nvPr/>
        </p:nvSpPr>
        <p:spPr>
          <a:xfrm xmlns:a="http://schemas.openxmlformats.org/drawingml/2006/main">
            <a:off x="1905000" y="4286250"/>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1">
                <a:solidFill>
                  <a:srgbClr val="07182A"/>
                </a:solidFill>
                <a:latin typeface="CiscoSansTT Medium"/>
                <a:ea typeface="CiscoSansTT Medium"/>
                <a:cs typeface="CiscoSansTT Medium"/>
              </a:defRPr>
            </a:defPPr>
            <a:lvl1pPr algn="l">
              <a:defRPr sz="2100" b="1">
                <a:solidFill>
                  <a:srgbClr val="07182A"/>
                </a:solidFill>
                <a:latin typeface="CiscoSansTT Medium"/>
                <a:ea typeface="CiscoSansTT Medium"/>
                <a:cs typeface="CiscoSansTT Medium"/>
              </a:defRPr>
            </a:lvl1pPr>
            <a:lvl2pPr algn="l">
              <a:defRPr sz="2100" b="1">
                <a:solidFill>
                  <a:srgbClr val="07182A"/>
                </a:solidFill>
                <a:latin typeface="CiscoSansTT Medium"/>
                <a:ea typeface="CiscoSansTT Medium"/>
                <a:cs typeface="CiscoSansTT Medium"/>
              </a:defRPr>
            </a:lvl2pPr>
            <a:lvl3pPr algn="l">
              <a:defRPr sz="2100" b="1">
                <a:solidFill>
                  <a:srgbClr val="07182A"/>
                </a:solidFill>
                <a:latin typeface="CiscoSansTT Medium"/>
                <a:ea typeface="CiscoSansTT Medium"/>
                <a:cs typeface="CiscoSansTT Medium"/>
              </a:defRPr>
            </a:lvl3pPr>
            <a:lvl4pPr algn="l">
              <a:defRPr sz="2100" b="1">
                <a:solidFill>
                  <a:srgbClr val="07182A"/>
                </a:solidFill>
                <a:latin typeface="CiscoSansTT Medium"/>
                <a:ea typeface="CiscoSansTT Medium"/>
                <a:cs typeface="CiscoSansTT Medium"/>
              </a:defRPr>
            </a:lvl4pPr>
            <a:lvl5pPr algn="l">
              <a:defRPr sz="2100" b="1">
                <a:solidFill>
                  <a:srgbClr val="07182A"/>
                </a:solidFill>
                <a:latin typeface="CiscoSansTT Medium"/>
                <a:ea typeface="CiscoSansTT Medium"/>
                <a:cs typeface="CiscoSansTT Medium"/>
              </a:defRPr>
            </a:lvl5pPr>
            <a:lvl6pPr algn="l">
              <a:defRPr sz="2100" b="1">
                <a:solidFill>
                  <a:srgbClr val="07182A"/>
                </a:solidFill>
                <a:latin typeface="CiscoSansTT Medium"/>
                <a:ea typeface="CiscoSansTT Medium"/>
                <a:cs typeface="CiscoSansTT Medium"/>
              </a:defRPr>
            </a:lvl6pPr>
            <a:lvl7pPr algn="l">
              <a:defRPr sz="2100" b="1">
                <a:solidFill>
                  <a:srgbClr val="07182A"/>
                </a:solidFill>
                <a:latin typeface="CiscoSansTT Medium"/>
                <a:ea typeface="CiscoSansTT Medium"/>
                <a:cs typeface="CiscoSansTT Medium"/>
              </a:defRPr>
            </a:lvl7pPr>
            <a:lvl8pPr algn="l">
              <a:defRPr sz="2100" b="1">
                <a:solidFill>
                  <a:srgbClr val="07182A"/>
                </a:solidFill>
                <a:latin typeface="CiscoSansTT Medium"/>
                <a:ea typeface="CiscoSansTT Medium"/>
                <a:cs typeface="CiscoSansTT Medium"/>
              </a:defRPr>
            </a:lvl8pPr>
            <a:lvl9pPr algn="l">
              <a:defRPr sz="2100" b="1">
                <a:solidFill>
                  <a:srgbClr val="07182A"/>
                </a:solidFill>
                <a:latin typeface="CiscoSansTT Medium"/>
                <a:ea typeface="CiscoSansTT Medium"/>
                <a:cs typeface="CiscoSansTT Medium"/>
              </a:defRPr>
            </a:lvl9pPr>
          </a:lstStyle>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Measure before rollout</a:t>
            </a:r>
          </a:p>
        </p:txBody>
      </p:sp>
      <p:sp>
        <p:nvSpPr>
          <p:cNvPr id="12" name="Rectangle 11">
            <a:extLst xmlns:a="http://schemas.openxmlformats.org/drawingml/2006/main">
              <a:ext uri="{FF2B5EF4-FFF2-40B4-BE49-F238E27FC236}">
                <a16:creationId xmlns:a16="http://schemas.microsoft.com/office/drawing/2014/main" id="{042175F6-EADD-46D7-BB92-94092EF9F2DD}"/>
              </a:ext>
            </a:extLst>
          </p:cNvPr>
          <p:cNvSpPr>
            <a:spLocks xmlns:a="http://schemas.openxmlformats.org/drawingml/2006/main" noGrp="1"/>
          </p:cNvSpPr>
          <p:nvPr/>
        </p:nvSpPr>
        <p:spPr>
          <a:xfrm xmlns:a="http://schemas.openxmlformats.org/drawingml/2006/main">
            <a:off x="5953125" y="4305300"/>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725" b="0">
                <a:solidFill>
                  <a:srgbClr val="686B6B"/>
                </a:solidFill>
                <a:latin typeface="CiscoSansTT"/>
                <a:ea typeface="CiscoSansTT"/>
                <a:cs typeface="CiscoSansTT"/>
              </a:defRPr>
            </a:defPPr>
            <a:lvl1pPr algn="l">
              <a:defRPr sz="1725" b="0">
                <a:solidFill>
                  <a:srgbClr val="686B6B"/>
                </a:solidFill>
                <a:latin typeface="CiscoSansTT"/>
                <a:ea typeface="CiscoSansTT"/>
                <a:cs typeface="CiscoSansTT"/>
              </a:defRPr>
            </a:lvl1pPr>
            <a:lvl2pPr algn="l">
              <a:defRPr sz="1725" b="0">
                <a:solidFill>
                  <a:srgbClr val="686B6B"/>
                </a:solidFill>
                <a:latin typeface="CiscoSansTT"/>
                <a:ea typeface="CiscoSansTT"/>
                <a:cs typeface="CiscoSansTT"/>
              </a:defRPr>
            </a:lvl2pPr>
            <a:lvl3pPr algn="l">
              <a:defRPr sz="1725" b="0">
                <a:solidFill>
                  <a:srgbClr val="686B6B"/>
                </a:solidFill>
                <a:latin typeface="CiscoSansTT"/>
                <a:ea typeface="CiscoSansTT"/>
                <a:cs typeface="CiscoSansTT"/>
              </a:defRPr>
            </a:lvl3pPr>
            <a:lvl4pPr algn="l">
              <a:defRPr sz="1725" b="0">
                <a:solidFill>
                  <a:srgbClr val="686B6B"/>
                </a:solidFill>
                <a:latin typeface="CiscoSansTT"/>
                <a:ea typeface="CiscoSansTT"/>
                <a:cs typeface="CiscoSansTT"/>
              </a:defRPr>
            </a:lvl4pPr>
            <a:lvl5pPr algn="l">
              <a:defRPr sz="1725" b="0">
                <a:solidFill>
                  <a:srgbClr val="686B6B"/>
                </a:solidFill>
                <a:latin typeface="CiscoSansTT"/>
                <a:ea typeface="CiscoSansTT"/>
                <a:cs typeface="CiscoSansTT"/>
              </a:defRPr>
            </a:lvl5pPr>
            <a:lvl6pPr algn="l">
              <a:defRPr sz="1725" b="0">
                <a:solidFill>
                  <a:srgbClr val="686B6B"/>
                </a:solidFill>
                <a:latin typeface="CiscoSansTT"/>
                <a:ea typeface="CiscoSansTT"/>
                <a:cs typeface="CiscoSansTT"/>
              </a:defRPr>
            </a:lvl6pPr>
            <a:lvl7pPr algn="l">
              <a:defRPr sz="1725" b="0">
                <a:solidFill>
                  <a:srgbClr val="686B6B"/>
                </a:solidFill>
                <a:latin typeface="CiscoSansTT"/>
                <a:ea typeface="CiscoSansTT"/>
                <a:cs typeface="CiscoSansTT"/>
              </a:defRPr>
            </a:lvl7pPr>
            <a:lvl8pPr algn="l">
              <a:defRPr sz="1725" b="0">
                <a:solidFill>
                  <a:srgbClr val="686B6B"/>
                </a:solidFill>
                <a:latin typeface="CiscoSansTT"/>
                <a:ea typeface="CiscoSansTT"/>
                <a:cs typeface="CiscoSansTT"/>
              </a:defRPr>
            </a:lvl8pPr>
            <a:lvl9pPr algn="l">
              <a:defRPr sz="1725" b="0">
                <a:solidFill>
                  <a:srgbClr val="686B6B"/>
                </a:solidFill>
                <a:latin typeface="CiscoSansTT"/>
                <a:ea typeface="CiscoSansTT"/>
                <a:cs typeface="CiscoSansTT"/>
              </a:defRPr>
            </a:lvl9pPr>
          </a:lstStyle>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Compare CPU, memory, missing telemetry,</a:t>
            </a:r>
          </a:p>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and data volume before expanding.</a:t>
            </a:r>
          </a:p>
        </p:txBody>
      </p:sp>
      <p:sp>
        <p:nvSpPr>
          <p:cNvPr id="13" name="Rectangle 12">
            <a:extLst xmlns:a="http://schemas.openxmlformats.org/drawingml/2006/main">
              <a:ext uri="{FF2B5EF4-FFF2-40B4-BE49-F238E27FC236}">
                <a16:creationId xmlns:a16="http://schemas.microsoft.com/office/drawing/2014/main" id="{6DB2593E-1A84-4909-8DB4-F01E41F71A0B}"/>
              </a:ext>
            </a:extLst>
          </p:cNvPr>
          <p:cNvSpPr>
            <a:spLocks xmlns:a="http://schemas.openxmlformats.org/drawingml/2006/main" noGrp="1"/>
          </p:cNvSpPr>
          <p:nvPr/>
        </p:nvSpPr>
        <p:spPr>
          <a:xfrm xmlns:a="http://schemas.openxmlformats.org/drawingml/2006/main">
            <a:off x="1905000" y="5095875"/>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291055546"/>
      </p:ext>
    </p:extLst>
  </p:cSld>
  <p:clrMapOvr>
    <a:masterClrMapping/>
  </p:clrMapOvr>
  <p:transition advClick="1"/>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Questions?</a:t>
            </a:r>
          </a:p>
        </p:txBody>
      </p:sp>
      <p:sp>
        <p:nvSpPr>
          <p:cNvPr id="2" name="Rectangle 1">
            <a:extLst>
              <a:ext uri="{FF2B5EF4-FFF2-40B4-BE49-F238E27FC236}">
                <a16:creationId xmlns:a16="http://schemas.microsoft.com/office/drawing/2014/main" id="{BC8C757A-EBAE-41DF-8024-5D93DDCB99F8}"/>
              </a:ext>
            </a:extLst>
          </p:cNvPr>
          <p:cNvSpPr>
            <a:spLocks noGrp="1"/>
          </p:cNvSpPr>
          <p:nvPr/>
        </p:nvSpPr>
        <p:spPr>
          <a:xfrm>
            <a:off x="342900" y="4171950"/>
            <a:ext cx="6191250" cy="323850"/>
          </a:xfrm>
          <a:prstGeom prst="rect">
            <a:avLst/>
          </a:prstGeom>
          <a:noFill/>
          <a:ln w="0">
            <a:noFill/>
          </a:ln>
        </p:spPr>
        <p:txBody>
          <a:bodyPr anchor="t">
            <a:normAutofit/>
          </a:bodyPr>
          <a:lstStyle/>
          <a:p>
            <a:pPr algn="l">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Demo, dashboards, benchmark, and slides</a:t>
            </a:r>
          </a:p>
        </p:txBody>
      </p:sp>
      <p:sp>
        <p:nvSpPr>
          <p:cNvPr id="3" name="Rectangle 2">
            <a:extLst>
              <a:ext uri="{FF2B5EF4-FFF2-40B4-BE49-F238E27FC236}">
                <a16:creationId xmlns:a16="http://schemas.microsoft.com/office/drawing/2014/main" id="{5951CB9B-0C39-48E6-A009-6394EAA31EF3}"/>
              </a:ext>
            </a:extLst>
          </p:cNvPr>
          <p:cNvSpPr>
            <a:spLocks noGrp="1"/>
          </p:cNvSpPr>
          <p:nvPr/>
        </p:nvSpPr>
        <p:spPr>
          <a:xfrm>
            <a:off x="342900" y="4591050"/>
            <a:ext cx="6858000" cy="400050"/>
          </a:xfrm>
          <a:prstGeom prst="rect">
            <a:avLst/>
          </a:prstGeom>
          <a:noFill/>
          <a:ln w="0">
            <a:noFill/>
          </a:ln>
        </p:spPr>
        <p:txBody>
          <a:bodyPr anchor="t">
            <a:normAutofit/>
          </a:bodyPr>
          <a:lstStyle/>
          <a:p>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214126218"/>
      </p:ext>
    </p:extLst>
  </p:cSld>
  <p:clrMapOvr>
    <a:masterClrMapping/>
  </p:clrMapOvr>
  <p:transition advClick="1"/>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1885A1-2C43-8640-F232-FC541372805F}"/>
              </a:ext>
            </a:extLst>
          </p:cNvPr>
          <p:cNvSpPr>
            <a:spLocks noGrp="1"/>
          </p:cNvSpPr>
          <p:nvPr>
            <p:ph type="title"/>
          </p:nvPr>
        </p:nvSpPr>
        <p:spPr/>
        <p:txBody>
          <a:bodyPr anchor="ctr"/>
          <a:lstStyle>
            <a:lvl1pPr>
              <a:buNone/>
              <a:defRPr sz="4000">
                <a:solidFill>
                  <a:schemeClr val="bg1"/>
                </a:solidFill>
              </a:defRPr>
            </a:lvl1pPr>
          </a:lstStyle>
          <a:p>
            <a:r>
              <a:t>Appendix</a:t>
            </a:r>
          </a:p>
        </p:txBody>
      </p:sp>
    </p:spTree>
    <p:extLst>
      <p:ext uri="{BB962C8B-B14F-4D97-AF65-F5344CB8AC3E}">
        <p14:creationId xmlns:p14="http://schemas.microsoft.com/office/powerpoint/2010/main" val="1272598672"/>
      </p:ext>
    </p:extLst>
  </p:cSld>
  <p:clrMapOvr>
    <a:masterClrMapping/>
  </p:clrMapOvr>
  <p:transition advClick="1"/>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title">
            <a:extLst>
              <a:ext uri="{FF2B5EF4-FFF2-40B4-BE49-F238E27FC236}">
                <a16:creationId xmlns:a16="http://schemas.microsoft.com/office/drawing/2014/main" id="{55F6433C-CB26-4D0A-AE41-4FF35BCEE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pinned TCX configuration</a:t>
            </a:r>
          </a:p>
        </p:txBody>
      </p:sp>
      <p:sp>
        <p:nvSpPr>
          <p:cNvPr id="2" name="Rectangle 1">
            <a:extLst>
              <a:ext uri="{FF2B5EF4-FFF2-40B4-BE49-F238E27FC236}">
                <a16:creationId xmlns:a16="http://schemas.microsoft.com/office/drawing/2014/main" id="{2BBB1705-8A86-4DED-B223-99D39B18DAC1}"/>
              </a:ext>
            </a:extLst>
          </p:cNvPr>
          <p:cNvSpPr>
            <a:spLocks noGrp="1"/>
          </p:cNvSpPr>
          <p:nvPr/>
        </p:nvSpPr>
        <p:spPr>
          <a:xfrm>
            <a:off x="762000" y="1476375"/>
            <a:ext cx="4381500" cy="361950"/>
          </a:xfrm>
          <a:prstGeom prst="rect">
            <a:avLst/>
          </a:prstGeom>
          <a:noFill/>
          <a:ln w="0">
            <a:noFill/>
          </a:ln>
        </p:spPr>
        <p:txBody>
          <a:bodyPr anchor="t">
            <a:normAutofit fontScale="94667" lnSpcReduction="10000"/>
          </a:bodyPr>
          <a:lstStyle/>
          <a:p>
            <a:pPr algn="l">
              <a:buNone/>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OBI v0.13.0</a:t>
            </a:r>
          </a:p>
        </p:txBody>
      </p:sp>
      <p:sp>
        <p:nvSpPr>
          <p:cNvPr id="3" name="Rounded Rectangle 2">
            <a:extLst>
              <a:ext uri="{FF2B5EF4-FFF2-40B4-BE49-F238E27FC236}">
                <a16:creationId xmlns:a16="http://schemas.microsoft.com/office/drawing/2014/main" id="{36A08832-E9C7-47D2-A011-593E535AAA7B}"/>
              </a:ext>
            </a:extLst>
          </p:cNvPr>
          <p:cNvSpPr>
            <a:spLocks noGrp="1"/>
          </p:cNvSpPr>
          <p:nvPr/>
        </p:nvSpPr>
        <p:spPr>
          <a:xfrm>
            <a:off x="666750" y="1952625"/>
            <a:ext cx="4953000" cy="3238500"/>
          </a:xfrm>
          <a:prstGeom prst="roundRect">
            <a:avLst>
              <a:gd name="adj" fmla="val 2353"/>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6B685953-4679-4CFB-B385-330DB1330E0D}"/>
              </a:ext>
            </a:extLst>
          </p:cNvPr>
          <p:cNvSpPr>
            <a:spLocks noGrp="1"/>
          </p:cNvSpPr>
          <p:nvPr/>
        </p:nvSpPr>
        <p:spPr>
          <a:xfrm>
            <a:off x="9525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contextPropagation:</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config:</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context_propagation: all</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traffic_control_backend: tcx</a:t>
            </a:r>
          </a:p>
        </p:txBody>
      </p:sp>
      <p:sp>
        <p:nvSpPr>
          <p:cNvPr id="5" name="Rectangle 4">
            <a:extLst>
              <a:ext uri="{FF2B5EF4-FFF2-40B4-BE49-F238E27FC236}">
                <a16:creationId xmlns:a16="http://schemas.microsoft.com/office/drawing/2014/main" id="{E9D345F3-1A50-410B-9B68-B7CF81838A24}"/>
              </a:ext>
            </a:extLst>
          </p:cNvPr>
          <p:cNvSpPr>
            <a:spLocks noGrp="1"/>
          </p:cNvSpPr>
          <p:nvPr/>
        </p:nvSpPr>
        <p:spPr>
          <a:xfrm>
            <a:off x="6667500" y="1476375"/>
            <a:ext cx="4381500" cy="361950"/>
          </a:xfrm>
          <a:prstGeom prst="rect">
            <a:avLst/>
          </a:prstGeom>
          <a:noFill/>
          <a:ln w="0">
            <a:noFill/>
          </a:ln>
        </p:spPr>
        <p:txBody>
          <a:bodyPr anchor="t">
            <a:normAutofit fontScale="94667" lnSpcReduction="10000"/>
          </a:bodyPr>
          <a:lstStyle/>
          <a:p>
            <a:pPr algn="l">
              <a:buNone/>
              <a:defRPr sz="1875" b="1">
                <a:solidFill>
                  <a:srgbClr val="0860FE"/>
                </a:solidFill>
                <a:latin typeface="CiscoSansTT Medium"/>
                <a:ea typeface="CiscoSansTT Medium"/>
                <a:cs typeface="CiscoSansTT Medium"/>
              </a:defRPr>
            </a:pPr>
            <a:r>
              <a:rPr sz="1875" b="1">
                <a:solidFill>
                  <a:srgbClr val="0860FE"/>
                </a:solidFill>
                <a:latin typeface="CiscoSansTT Medium"/>
                <a:ea typeface="CiscoSansTT Medium"/>
                <a:cs typeface="CiscoSansTT Medium"/>
              </a:rPr>
              <a:t>Cilium v1.20.2</a:t>
            </a:r>
          </a:p>
        </p:txBody>
      </p:sp>
      <p:sp>
        <p:nvSpPr>
          <p:cNvPr id="6" name="Rounded Rectangle 5">
            <a:extLst>
              <a:ext uri="{FF2B5EF4-FFF2-40B4-BE49-F238E27FC236}">
                <a16:creationId xmlns:a16="http://schemas.microsoft.com/office/drawing/2014/main" id="{D44BA46C-BFED-4D9B-A5F4-F9CD194CBD79}"/>
              </a:ext>
            </a:extLst>
          </p:cNvPr>
          <p:cNvSpPr>
            <a:spLocks noGrp="1"/>
          </p:cNvSpPr>
          <p:nvPr/>
        </p:nvSpPr>
        <p:spPr>
          <a:xfrm>
            <a:off x="6572250" y="1952625"/>
            <a:ext cx="4953000" cy="3238500"/>
          </a:xfrm>
          <a:prstGeom prst="roundRect">
            <a:avLst>
              <a:gd name="adj" fmla="val 2353"/>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0A0F2876-B73E-4290-B890-24B0769B6DB0}"/>
              </a:ext>
            </a:extLst>
          </p:cNvPr>
          <p:cNvSpPr>
            <a:spLocks noGrp="1"/>
          </p:cNvSpPr>
          <p:nvPr/>
        </p:nvSpPr>
        <p:spPr>
          <a:xfrm>
            <a:off x="6858000" y="2238375"/>
            <a:ext cx="4381500" cy="2667000"/>
          </a:xfrm>
          <a:prstGeom prst="rect">
            <a:avLst/>
          </a:prstGeom>
          <a:noFill/>
          <a:ln w="0">
            <a:noFill/>
          </a:ln>
        </p:spPr>
        <p:txBody>
          <a:bodyPr anchor="t">
            <a:normAutofit/>
          </a:bodyPr>
          <a:lstStyle/>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bpf:</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enableTCX: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datapathMode: veth</a:t>
            </a:r>
          </a:p>
          <a:p>
            <a:endParaRPr sz="1650" b="0">
              <a:solidFill>
                <a:srgbClr val="FFFFFF"/>
              </a:solidFill>
              <a:latin typeface="CiscoSansTT"/>
              <a:ea typeface="CiscoSansTT"/>
              <a:cs typeface="CiscoSansTT"/>
            </a:endParaRP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hubble: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relay:</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ui:</a:t>
            </a:r>
          </a:p>
          <a:p>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p:txBody>
      </p:sp>
    </p:spTree>
    <p:extLst>
      <p:ext uri="{BB962C8B-B14F-4D97-AF65-F5344CB8AC3E}">
        <p14:creationId xmlns:p14="http://schemas.microsoft.com/office/powerpoint/2010/main" val="1720076919"/>
      </p:ext>
    </p:extLst>
  </p:cSld>
  <p:clrMapOvr>
    <a:masterClrMapping/>
  </p:clrMapOvr>
  <p:transition advClick="1"/>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title">
            <a:extLst>
              <a:ext uri="{FF2B5EF4-FFF2-40B4-BE49-F238E27FC236}">
                <a16:creationId xmlns:a16="http://schemas.microsoft.com/office/drawing/2014/main" id="{1E704E87-FA42-4867-BF91-1B0EF834CA18}"/>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legacy-safe and legacy-unsafe variants</a:t>
            </a:r>
          </a:p>
        </p:txBody>
      </p:sp>
      <p:sp>
        <p:nvSpPr>
          <p:cNvPr id="2" name="Rectangle 1">
            <a:extLst>
              <a:ext uri="{FF2B5EF4-FFF2-40B4-BE49-F238E27FC236}">
                <a16:creationId xmlns:a16="http://schemas.microsoft.com/office/drawing/2014/main" id="{2CCF09E8-8C11-4F59-A93A-5A3A86356FF3}"/>
              </a:ext>
            </a:extLst>
          </p:cNvPr>
          <p:cNvSpPr>
            <a:spLocks noGrp="1"/>
          </p:cNvSpPr>
          <p:nvPr/>
        </p:nvSpPr>
        <p:spPr>
          <a:xfrm>
            <a:off x="762000" y="1524000"/>
            <a:ext cx="2286000" cy="381000"/>
          </a:xfrm>
          <a:prstGeom prst="rect">
            <a:avLst/>
          </a:prstGeom>
          <a:noFill/>
          <a:ln w="0">
            <a:noFill/>
          </a:ln>
        </p:spPr>
        <p:txBody>
          <a:bodyPr anchor="t">
            <a:normAutofit fontScale="90476"/>
          </a:bodyPr>
          <a:lstStyle/>
          <a:p>
            <a:pPr algn="l">
              <a:buNone/>
              <a:defRPr sz="2100" b="1">
                <a:solidFill>
                  <a:srgbClr val="2DAA5F"/>
                </a:solidFill>
                <a:latin typeface="CiscoSansTT Medium"/>
                <a:ea typeface="CiscoSansTT Medium"/>
                <a:cs typeface="CiscoSansTT Medium"/>
              </a:defRPr>
            </a:pPr>
            <a:r>
              <a:rPr sz="2100" b="1">
                <a:solidFill>
                  <a:srgbClr val="2DAA5F"/>
                </a:solidFill>
                <a:latin typeface="CiscoSansTT Medium"/>
                <a:ea typeface="CiscoSansTT Medium"/>
                <a:cs typeface="CiscoSansTT Medium"/>
              </a:rPr>
              <a:t>Safe</a:t>
            </a:r>
          </a:p>
        </p:txBody>
      </p:sp>
      <p:sp>
        <p:nvSpPr>
          <p:cNvPr id="3" name="Rounded Rectangle 2">
            <a:extLst>
              <a:ext uri="{FF2B5EF4-FFF2-40B4-BE49-F238E27FC236}">
                <a16:creationId xmlns:a16="http://schemas.microsoft.com/office/drawing/2014/main" id="{5907EAE3-6165-4F87-AA66-85E26ACC31D0}"/>
              </a:ext>
            </a:extLst>
          </p:cNvPr>
          <p:cNvSpPr>
            <a:spLocks noGrp="1"/>
          </p:cNvSpPr>
          <p:nvPr/>
        </p:nvSpPr>
        <p:spPr>
          <a:xfrm>
            <a:off x="666750" y="2047875"/>
            <a:ext cx="4953000" cy="2381250"/>
          </a:xfrm>
          <a:prstGeom prst="roundRect">
            <a:avLst>
              <a:gd name="adj" fmla="val 3200"/>
            </a:avLst>
          </a:prstGeom>
          <a:solidFill>
            <a:srgbClr val="07182A"/>
          </a:solidFill>
          <a:ln w="0">
            <a:noFill/>
          </a:ln>
        </p:spPr>
        <p:txBody>
          <a:bodyPr/>
          <a:lstStyle/>
          <a:p>
            <a:endParaRPr/>
          </a:p>
        </p:txBody>
      </p:sp>
      <p:sp>
        <p:nvSpPr>
          <p:cNvPr id="4" name="Rectangle 3">
            <a:extLst>
              <a:ext uri="{FF2B5EF4-FFF2-40B4-BE49-F238E27FC236}">
                <a16:creationId xmlns:a16="http://schemas.microsoft.com/office/drawing/2014/main" id="{13B743AC-83DB-4A26-B67E-90D382AF8A36}"/>
              </a:ext>
            </a:extLst>
          </p:cNvPr>
          <p:cNvSpPr>
            <a:spLocks noGrp="1"/>
          </p:cNvSpPr>
          <p:nvPr/>
        </p:nvSpPr>
        <p:spPr>
          <a:xfrm>
            <a:off x="1000125" y="2381250"/>
            <a:ext cx="4286250" cy="1809750"/>
          </a:xfrm>
          <a:prstGeom prst="rect">
            <a:avLst/>
          </a:prstGeom>
          <a:noFill/>
          <a:ln w="0">
            <a:noFill/>
          </a:ln>
        </p:spPr>
        <p:txBody>
          <a:bodyPr anchor="t">
            <a:normAutofit fontScale="93375"/>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extraConfig:</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"2"</a:t>
            </a:r>
          </a:p>
        </p:txBody>
      </p:sp>
      <p:sp>
        <p:nvSpPr>
          <p:cNvPr id="5" name="Rectangle 4">
            <a:extLst>
              <a:ext uri="{FF2B5EF4-FFF2-40B4-BE49-F238E27FC236}">
                <a16:creationId xmlns:a16="http://schemas.microsoft.com/office/drawing/2014/main" id="{8C3868CB-8EE0-4796-A81A-5A11795DB81E}"/>
              </a:ext>
            </a:extLst>
          </p:cNvPr>
          <p:cNvSpPr>
            <a:spLocks noGrp="1"/>
          </p:cNvSpPr>
          <p:nvPr/>
        </p:nvSpPr>
        <p:spPr>
          <a:xfrm>
            <a:off x="6667500" y="1524000"/>
            <a:ext cx="2286000" cy="381000"/>
          </a:xfrm>
          <a:prstGeom prst="rect">
            <a:avLst/>
          </a:prstGeom>
          <a:noFill/>
          <a:ln w="0">
            <a:noFill/>
          </a:ln>
        </p:spPr>
        <p:txBody>
          <a:bodyPr anchor="t">
            <a:normAutofit fontScale="90476"/>
          </a:bodyPr>
          <a:lstStyle/>
          <a:p>
            <a:pPr algn="l">
              <a:buNone/>
              <a:defRPr sz="2100" b="1">
                <a:solidFill>
                  <a:srgbClr val="E84551"/>
                </a:solidFill>
                <a:latin typeface="CiscoSansTT Medium"/>
                <a:ea typeface="CiscoSansTT Medium"/>
                <a:cs typeface="CiscoSansTT Medium"/>
              </a:defRPr>
            </a:pPr>
            <a:r>
              <a:rPr sz="2100" b="1">
                <a:solidFill>
                  <a:srgbClr val="E84551"/>
                </a:solidFill>
                <a:latin typeface="CiscoSansTT Medium"/>
                <a:ea typeface="CiscoSansTT Medium"/>
                <a:cs typeface="CiscoSansTT Medium"/>
              </a:rPr>
              <a:t>Unsafe</a:t>
            </a:r>
          </a:p>
        </p:txBody>
      </p:sp>
      <p:sp>
        <p:nvSpPr>
          <p:cNvPr id="6" name="Rounded Rectangle 5">
            <a:extLst>
              <a:ext uri="{FF2B5EF4-FFF2-40B4-BE49-F238E27FC236}">
                <a16:creationId xmlns:a16="http://schemas.microsoft.com/office/drawing/2014/main" id="{C8DE72C8-AAE3-4CFB-9DD1-D44B49841286}"/>
              </a:ext>
            </a:extLst>
          </p:cNvPr>
          <p:cNvSpPr>
            <a:spLocks noGrp="1"/>
          </p:cNvSpPr>
          <p:nvPr/>
        </p:nvSpPr>
        <p:spPr>
          <a:xfrm>
            <a:off x="6572250" y="2047875"/>
            <a:ext cx="4953000" cy="2381250"/>
          </a:xfrm>
          <a:prstGeom prst="roundRect">
            <a:avLst>
              <a:gd name="adj" fmla="val 3200"/>
            </a:avLst>
          </a:prstGeom>
          <a:solidFill>
            <a:srgbClr val="07182A"/>
          </a:solidFill>
          <a:ln w="0">
            <a:noFill/>
          </a:ln>
        </p:spPr>
        <p:txBody>
          <a:bodyPr/>
          <a:lstStyle/>
          <a:p>
            <a:endParaRPr/>
          </a:p>
        </p:txBody>
      </p:sp>
      <p:sp>
        <p:nvSpPr>
          <p:cNvPr id="7" name="Rectangle 6">
            <a:extLst>
              <a:ext uri="{FF2B5EF4-FFF2-40B4-BE49-F238E27FC236}">
                <a16:creationId xmlns:a16="http://schemas.microsoft.com/office/drawing/2014/main" id="{6BC613BF-CFBF-4DFA-B6CF-E61E44E183AE}"/>
              </a:ext>
            </a:extLst>
          </p:cNvPr>
          <p:cNvSpPr>
            <a:spLocks noGrp="1"/>
          </p:cNvSpPr>
          <p:nvPr/>
        </p:nvSpPr>
        <p:spPr>
          <a:xfrm>
            <a:off x="6905625" y="2381250"/>
            <a:ext cx="4286250" cy="1809750"/>
          </a:xfrm>
          <a:prstGeom prst="rect">
            <a:avLst/>
          </a:prstGeom>
          <a:noFill/>
          <a:ln w="0">
            <a:noFill/>
          </a:ln>
        </p:spPr>
        <p:txBody>
          <a:bodyPr anchor="t">
            <a:normAutofit/>
          </a:bodyPr>
          <a:lstStyle/>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a:endParaRPr sz="1725" b="0">
              <a:solidFill>
                <a:srgbClr val="FFFFFF"/>
              </a:solidFill>
              <a:latin typeface="CiscoSansTT"/>
              <a:ea typeface="CiscoSansTT"/>
              <a:cs typeface="CiscoSansTT"/>
            </a:endParaRP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1</a:t>
            </a:r>
          </a:p>
        </p:txBody>
      </p:sp>
      <p:sp>
        <p:nvSpPr>
          <p:cNvPr id="8" name="Rounded Rectangle 7">
            <a:extLst>
              <a:ext uri="{FF2B5EF4-FFF2-40B4-BE49-F238E27FC236}">
                <a16:creationId xmlns:a16="http://schemas.microsoft.com/office/drawing/2014/main" id="{18C77665-A3C8-480B-8369-CF2DE41C64A9}"/>
              </a:ext>
            </a:extLst>
          </p:cNvPr>
          <p:cNvSpPr>
            <a:spLocks noGrp="1"/>
          </p:cNvSpPr>
          <p:nvPr/>
        </p:nvSpPr>
        <p:spPr>
          <a:xfrm>
            <a:off x="1381125" y="5000625"/>
            <a:ext cx="9429750" cy="685800"/>
          </a:xfrm>
          <a:prstGeom prst="roundRect">
            <a:avLst>
              <a:gd name="adj" fmla="val 11111"/>
            </a:avLst>
          </a:prstGeom>
          <a:solidFill>
            <a:srgbClr val="FDEDEF"/>
          </a:solidFill>
          <a:ln w="14288">
            <a:solidFill>
              <a:srgbClr val="E84551"/>
            </a:solidFill>
          </a:ln>
        </p:spPr>
        <p:txBody>
          <a:bodyPr/>
          <a:lstStyle/>
          <a:p>
            <a:endParaRPr/>
          </a:p>
        </p:txBody>
      </p:sp>
      <p:sp>
        <p:nvSpPr>
          <p:cNvPr id="9" name="Rectangle 8">
            <a:extLst>
              <a:ext uri="{FF2B5EF4-FFF2-40B4-BE49-F238E27FC236}">
                <a16:creationId xmlns:a16="http://schemas.microsoft.com/office/drawing/2014/main" id="{610201BF-2231-4218-9B64-CF8BA5B9CCE8}"/>
              </a:ext>
            </a:extLst>
          </p:cNvPr>
          <p:cNvSpPr>
            <a:spLocks noGrp="1"/>
          </p:cNvSpPr>
          <p:nvPr/>
        </p:nvSpPr>
        <p:spPr>
          <a:xfrm>
            <a:off x="1714500" y="5172075"/>
            <a:ext cx="8763000" cy="342900"/>
          </a:xfrm>
          <a:prstGeom prst="rect">
            <a:avLst/>
          </a:prstGeom>
          <a:noFill/>
          <a:ln w="0">
            <a:noFill/>
          </a:ln>
        </p:spPr>
        <p:txBody>
          <a:bodyPr anchor="t">
            <a:normAutofit fontScale="91667" lnSpcReduction="10000"/>
          </a:bodyPr>
          <a:lstStyle/>
          <a:p>
            <a:pPr algn="ctr">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Do not change legacy priority live on an existing production cluster.</a:t>
            </a:r>
          </a:p>
        </p:txBody>
      </p:sp>
    </p:spTree>
    <p:extLst>
      <p:ext uri="{BB962C8B-B14F-4D97-AF65-F5344CB8AC3E}">
        <p14:creationId xmlns:p14="http://schemas.microsoft.com/office/powerpoint/2010/main" val="232657216"/>
      </p:ext>
    </p:extLst>
  </p:cSld>
  <p:clrMapOvr>
    <a:masterClrMapping/>
  </p:clrMapOvr>
  <p:transition advClick="1"/>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title">
            <a:extLst>
              <a:ext uri="{FF2B5EF4-FFF2-40B4-BE49-F238E27FC236}">
                <a16:creationId xmlns:a16="http://schemas.microsoft.com/office/drawing/2014/main" id="{BC8DF3A4-C2E0-4887-91E4-22E4D522AD6F}"/>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live verification commands</a:t>
            </a:r>
          </a:p>
        </p:txBody>
      </p:sp>
      <p:sp>
        <p:nvSpPr>
          <p:cNvPr id="2" name="Rounded Rectangle 1">
            <a:extLst>
              <a:ext uri="{FF2B5EF4-FFF2-40B4-BE49-F238E27FC236}">
                <a16:creationId xmlns:a16="http://schemas.microsoft.com/office/drawing/2014/main" id="{891FC69C-2698-4739-9917-0845E190AC3B}"/>
              </a:ext>
            </a:extLst>
          </p:cNvPr>
          <p:cNvSpPr>
            <a:spLocks noGrp="1"/>
          </p:cNvSpPr>
          <p:nvPr/>
        </p:nvSpPr>
        <p:spPr>
          <a:xfrm>
            <a:off x="619125" y="1428750"/>
            <a:ext cx="10953750" cy="4191000"/>
          </a:xfrm>
          <a:prstGeom prst="roundRect">
            <a:avLst>
              <a:gd name="adj" fmla="val 1818"/>
            </a:avLst>
          </a:prstGeom>
          <a:solidFill>
            <a:srgbClr val="07182A"/>
          </a:solidFill>
          <a:ln w="0">
            <a:noFill/>
          </a:ln>
        </p:spPr>
        <p:txBody>
          <a:bodyPr/>
          <a:lstStyle/>
          <a:p>
            <a:endParaRPr/>
          </a:p>
        </p:txBody>
      </p:sp>
      <p:sp>
        <p:nvSpPr>
          <p:cNvPr id="3" name="Rectangle 2">
            <a:extLst>
              <a:ext uri="{FF2B5EF4-FFF2-40B4-BE49-F238E27FC236}">
                <a16:creationId xmlns:a16="http://schemas.microsoft.com/office/drawing/2014/main" id="{83E4496E-97B3-4383-8BB0-D04A4EB4590D}"/>
              </a:ext>
            </a:extLst>
          </p:cNvPr>
          <p:cNvSpPr>
            <a:spLocks noGrp="1"/>
          </p:cNvSpPr>
          <p:nvPr/>
        </p:nvSpPr>
        <p:spPr>
          <a:xfrm>
            <a:off x="904875" y="1695450"/>
            <a:ext cx="10382250" cy="3619500"/>
          </a:xfrm>
          <a:prstGeom prst="rect">
            <a:avLst/>
          </a:prstGeom>
          <a:noFill/>
          <a:ln w="0">
            <a:noFill/>
          </a:ln>
        </p:spPr>
        <p:txBody>
          <a:bodyPr anchor="t">
            <a:normAutofit/>
          </a:bodyPr>
          <a:lstStyle/>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 state</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exec ds/cilium -c cilium-agent --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cilium-dbg status --verbose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get cm cilium-config -o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jsonpath='{.data.enable-tcx}'</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OBI startup decision</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obi-nginx-example logs \</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ds/obi-opentelemetry-ebpf-instrumentation --all-pods=true</a:t>
            </a:r>
          </a:p>
          <a:p>
            <a:endParaRPr sz="1500" b="0">
              <a:solidFill>
                <a:srgbClr val="FFFFFF"/>
              </a:solidFill>
              <a:latin typeface="CiscoSansTT"/>
              <a:ea typeface="CiscoSansTT"/>
              <a:cs typeface="CiscoSansTT"/>
            </a:endParaRP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Flow proof</a:t>
            </a:r>
          </a:p>
          <a:p>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hubble observe --namespace obi-nginx-example --follow</a:t>
            </a:r>
          </a:p>
        </p:txBody>
      </p:sp>
    </p:spTree>
    <p:extLst>
      <p:ext uri="{BB962C8B-B14F-4D97-AF65-F5344CB8AC3E}">
        <p14:creationId xmlns:p14="http://schemas.microsoft.com/office/powerpoint/2010/main" val="1913496625"/>
      </p:ext>
    </p:extLst>
  </p:cSld>
  <p:clrMapOvr>
    <a:masterClrMapping/>
  </p:clrMapOvr>
  <p:transition advClick="1"/>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lide-title">
            <a:extLst>
              <a:ext uri="{FF2B5EF4-FFF2-40B4-BE49-F238E27FC236}">
                <a16:creationId xmlns:a16="http://schemas.microsoft.com/office/drawing/2014/main" id="{3A267A90-7E0F-431B-B01D-79795EFA10F6}"/>
              </a:ext>
            </a:extLst>
          </p:cNvPr>
          <p:cNvSpPr>
            <a:spLocks noGrp="1"/>
          </p:cNvSpPr>
          <p:nvPr/>
        </p:nvSpPr>
        <p:spPr>
          <a:xfrm>
            <a:off x="323850" y="228600"/>
            <a:ext cx="11049000" cy="685800"/>
          </a:xfrm>
          <a:prstGeom prst="rect">
            <a:avLst/>
          </a:prstGeom>
          <a:noFill/>
          <a:ln w="0">
            <a:noFill/>
          </a:ln>
        </p:spPr>
        <p:txBody>
          <a:bodyPr anchor="t">
            <a:normAutofit/>
          </a:bodyPr>
          <a:lstStyle/>
          <a:p>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Fast failure diagnosis</a:t>
            </a:r>
          </a:p>
        </p:txBody>
      </p:sp>
      <p:sp>
        <p:nvSpPr>
          <p:cNvPr id="2" name="Rectangle 1">
            <a:extLst>
              <a:ext uri="{FF2B5EF4-FFF2-40B4-BE49-F238E27FC236}">
                <a16:creationId xmlns:a16="http://schemas.microsoft.com/office/drawing/2014/main" id="{7BC9D01D-F271-48CA-82B5-FD5FEA43234D}"/>
              </a:ext>
            </a:extLst>
          </p:cNvPr>
          <p:cNvSpPr>
            <a:spLocks noGrp="1"/>
          </p:cNvSpPr>
          <p:nvPr/>
        </p:nvSpPr>
        <p:spPr>
          <a:xfrm>
            <a:off x="704850" y="14287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OBI TC mode refuses startup</a:t>
            </a:r>
          </a:p>
        </p:txBody>
      </p:sp>
      <p:sp>
        <p:nvSpPr>
          <p:cNvPr id="3" name="Rectangle 2">
            <a:extLst>
              <a:ext uri="{FF2B5EF4-FFF2-40B4-BE49-F238E27FC236}">
                <a16:creationId xmlns:a16="http://schemas.microsoft.com/office/drawing/2014/main" id="{88C0225C-BB8E-4315-B094-C26C786C1505}"/>
              </a:ext>
            </a:extLst>
          </p:cNvPr>
          <p:cNvSpPr>
            <a:spLocks noGrp="1"/>
          </p:cNvSpPr>
          <p:nvPr/>
        </p:nvSpPr>
        <p:spPr>
          <a:xfrm>
            <a:off x="4762500" y="14287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mixed TCX and legacy, or both priority 1</a:t>
            </a:r>
          </a:p>
        </p:txBody>
      </p:sp>
      <p:sp>
        <p:nvSpPr>
          <p:cNvPr id="4" name="Rectangle 3">
            <a:extLst>
              <a:ext uri="{FF2B5EF4-FFF2-40B4-BE49-F238E27FC236}">
                <a16:creationId xmlns:a16="http://schemas.microsoft.com/office/drawing/2014/main" id="{46F86A9B-7518-477D-8371-09C0FF9DA4C6}"/>
              </a:ext>
            </a:extLst>
          </p:cNvPr>
          <p:cNvSpPr>
            <a:spLocks noGrp="1"/>
          </p:cNvSpPr>
          <p:nvPr/>
        </p:nvSpPr>
        <p:spPr>
          <a:xfrm>
            <a:off x="704850" y="2057400"/>
            <a:ext cx="10725150" cy="9525"/>
          </a:xfrm>
          <a:prstGeom prst="rect">
            <a:avLst/>
          </a:prstGeom>
          <a:solidFill>
            <a:srgbClr val="D6D6D6"/>
          </a:solidFill>
          <a:ln w="0">
            <a:noFill/>
          </a:ln>
        </p:spPr>
        <p:txBody>
          <a:bodyPr/>
          <a:lstStyle/>
          <a:p>
            <a:endParaRPr/>
          </a:p>
        </p:txBody>
      </p:sp>
      <p:sp>
        <p:nvSpPr>
          <p:cNvPr id="5" name="Rectangle 4">
            <a:extLst>
              <a:ext uri="{FF2B5EF4-FFF2-40B4-BE49-F238E27FC236}">
                <a16:creationId xmlns:a16="http://schemas.microsoft.com/office/drawing/2014/main" id="{9CBE9238-6250-458A-B61C-C3B71FCFAB6D}"/>
              </a:ext>
            </a:extLst>
          </p:cNvPr>
          <p:cNvSpPr>
            <a:spLocks noGrp="1"/>
          </p:cNvSpPr>
          <p:nvPr/>
        </p:nvSpPr>
        <p:spPr>
          <a:xfrm>
            <a:off x="704850" y="2343150"/>
            <a:ext cx="3714750" cy="514350"/>
          </a:xfrm>
          <a:prstGeom prst="rect">
            <a:avLst/>
          </a:prstGeom>
          <a:noFill/>
          <a:ln w="0">
            <a:noFill/>
          </a:ln>
        </p:spPr>
        <p:txBody>
          <a:bodyPr anchor="t">
            <a:normAutofit/>
          </a:bodyPr>
          <a:lstStyle/>
          <a:p>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Propagation disabled</a:t>
            </a:r>
          </a:p>
        </p:txBody>
      </p:sp>
      <p:sp>
        <p:nvSpPr>
          <p:cNvPr id="6" name="Rectangle 5">
            <a:extLst>
              <a:ext uri="{FF2B5EF4-FFF2-40B4-BE49-F238E27FC236}">
                <a16:creationId xmlns:a16="http://schemas.microsoft.com/office/drawing/2014/main" id="{391A7F44-41D9-4C2C-88FD-E46616DB2DE7}"/>
              </a:ext>
            </a:extLst>
          </p:cNvPr>
          <p:cNvSpPr>
            <a:spLocks noGrp="1"/>
          </p:cNvSpPr>
          <p:nvPr/>
        </p:nvSpPr>
        <p:spPr>
          <a:xfrm>
            <a:off x="4762500" y="23431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tracefs mount missing on affected kernels</a:t>
            </a:r>
          </a:p>
        </p:txBody>
      </p:sp>
      <p:sp>
        <p:nvSpPr>
          <p:cNvPr id="7" name="Rectangle 6">
            <a:extLst>
              <a:ext uri="{FF2B5EF4-FFF2-40B4-BE49-F238E27FC236}">
                <a16:creationId xmlns:a16="http://schemas.microsoft.com/office/drawing/2014/main" id="{61F7E82D-BB4C-4152-9B59-DE43B3E5835F}"/>
              </a:ext>
            </a:extLst>
          </p:cNvPr>
          <p:cNvSpPr>
            <a:spLocks noGrp="1"/>
          </p:cNvSpPr>
          <p:nvPr/>
        </p:nvSpPr>
        <p:spPr>
          <a:xfrm>
            <a:off x="704850" y="2971800"/>
            <a:ext cx="10725150" cy="9525"/>
          </a:xfrm>
          <a:prstGeom prst="rect">
            <a:avLst/>
          </a:prstGeom>
          <a:solidFill>
            <a:srgbClr val="D6D6D6"/>
          </a:solidFill>
          <a:ln w="0">
            <a:noFill/>
          </a:ln>
        </p:spPr>
        <p:txBody>
          <a:bodyPr/>
          <a:lstStyle/>
          <a:p>
            <a:endParaRPr/>
          </a:p>
        </p:txBody>
      </p:sp>
      <p:sp>
        <p:nvSpPr>
          <p:cNvPr id="8" name="Rectangle 7">
            <a:extLst>
              <a:ext uri="{FF2B5EF4-FFF2-40B4-BE49-F238E27FC236}">
                <a16:creationId xmlns:a16="http://schemas.microsoft.com/office/drawing/2014/main" id="{1A022AE0-D7F1-4657-B87C-172F6A75F1CD}"/>
              </a:ext>
            </a:extLst>
          </p:cNvPr>
          <p:cNvSpPr>
            <a:spLocks noGrp="1"/>
          </p:cNvSpPr>
          <p:nvPr/>
        </p:nvSpPr>
        <p:spPr>
          <a:xfrm>
            <a:off x="704850" y="32575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Traffic healthy, traces missing</a:t>
            </a:r>
          </a:p>
        </p:txBody>
      </p:sp>
      <p:sp>
        <p:nvSpPr>
          <p:cNvPr id="9" name="Rectangle 8">
            <a:extLst>
              <a:ext uri="{FF2B5EF4-FFF2-40B4-BE49-F238E27FC236}">
                <a16:creationId xmlns:a16="http://schemas.microsoft.com/office/drawing/2014/main" id="{029BA163-5567-49D7-B1E2-E102CFE84D6C}"/>
              </a:ext>
            </a:extLst>
          </p:cNvPr>
          <p:cNvSpPr>
            <a:spLocks noGrp="1"/>
          </p:cNvSpPr>
          <p:nvPr/>
        </p:nvSpPr>
        <p:spPr>
          <a:xfrm>
            <a:off x="4762500" y="32575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coverage, loss, exporter, or queue problem</a:t>
            </a:r>
          </a:p>
        </p:txBody>
      </p:sp>
      <p:sp>
        <p:nvSpPr>
          <p:cNvPr id="10" name="Rectangle 9">
            <a:extLst>
              <a:ext uri="{FF2B5EF4-FFF2-40B4-BE49-F238E27FC236}">
                <a16:creationId xmlns:a16="http://schemas.microsoft.com/office/drawing/2014/main" id="{36432816-7270-4F8D-A86B-96323A4C3C64}"/>
              </a:ext>
            </a:extLst>
          </p:cNvPr>
          <p:cNvSpPr>
            <a:spLocks noGrp="1"/>
          </p:cNvSpPr>
          <p:nvPr/>
        </p:nvSpPr>
        <p:spPr>
          <a:xfrm>
            <a:off x="704850" y="3886200"/>
            <a:ext cx="10725150" cy="9525"/>
          </a:xfrm>
          <a:prstGeom prst="rect">
            <a:avLst/>
          </a:prstGeom>
          <a:solidFill>
            <a:srgbClr val="D6D6D6"/>
          </a:solidFill>
          <a:ln w="0">
            <a:noFill/>
          </a:ln>
        </p:spPr>
        <p:txBody>
          <a:bodyPr/>
          <a:lstStyle/>
          <a:p>
            <a:endParaRPr/>
          </a:p>
        </p:txBody>
      </p:sp>
      <p:sp>
        <p:nvSpPr>
          <p:cNvPr id="11" name="Rectangle 10">
            <a:extLst>
              <a:ext uri="{FF2B5EF4-FFF2-40B4-BE49-F238E27FC236}">
                <a16:creationId xmlns:a16="http://schemas.microsoft.com/office/drawing/2014/main" id="{07DEE192-030E-4C63-A9F0-16A01CCC2594}"/>
              </a:ext>
            </a:extLst>
          </p:cNvPr>
          <p:cNvSpPr>
            <a:spLocks noGrp="1"/>
          </p:cNvSpPr>
          <p:nvPr/>
        </p:nvSpPr>
        <p:spPr>
          <a:xfrm>
            <a:off x="704850" y="41719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Hubble lost events rise</a:t>
            </a:r>
          </a:p>
        </p:txBody>
      </p:sp>
      <p:sp>
        <p:nvSpPr>
          <p:cNvPr id="12" name="Rectangle 11">
            <a:extLst>
              <a:ext uri="{FF2B5EF4-FFF2-40B4-BE49-F238E27FC236}">
                <a16:creationId xmlns:a16="http://schemas.microsoft.com/office/drawing/2014/main" id="{7370FFF2-3ED6-4C3A-86B4-746523C00575}"/>
              </a:ext>
            </a:extLst>
          </p:cNvPr>
          <p:cNvSpPr>
            <a:spLocks noGrp="1"/>
          </p:cNvSpPr>
          <p:nvPr/>
        </p:nvSpPr>
        <p:spPr>
          <a:xfrm>
            <a:off x="4762500" y="41719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event volume or consumer capacity problem</a:t>
            </a:r>
          </a:p>
        </p:txBody>
      </p:sp>
      <p:sp>
        <p:nvSpPr>
          <p:cNvPr id="13" name="Rectangle 12">
            <a:extLst>
              <a:ext uri="{FF2B5EF4-FFF2-40B4-BE49-F238E27FC236}">
                <a16:creationId xmlns:a16="http://schemas.microsoft.com/office/drawing/2014/main" id="{DE124862-6752-4B9A-A585-671E22DE93DE}"/>
              </a:ext>
            </a:extLst>
          </p:cNvPr>
          <p:cNvSpPr>
            <a:spLocks noGrp="1"/>
          </p:cNvSpPr>
          <p:nvPr/>
        </p:nvSpPr>
        <p:spPr>
          <a:xfrm>
            <a:off x="704850" y="4800600"/>
            <a:ext cx="10725150" cy="9525"/>
          </a:xfrm>
          <a:prstGeom prst="rect">
            <a:avLst/>
          </a:prstGeom>
          <a:solidFill>
            <a:srgbClr val="D6D6D6"/>
          </a:solidFill>
          <a:ln w="0">
            <a:noFill/>
          </a:ln>
        </p:spPr>
        <p:txBody>
          <a:bodyPr/>
          <a:lstStyle/>
          <a:p>
            <a:endParaRPr/>
          </a:p>
        </p:txBody>
      </p:sp>
      <p:sp>
        <p:nvSpPr>
          <p:cNvPr id="14" name="Rectangle 13">
            <a:extLst>
              <a:ext uri="{FF2B5EF4-FFF2-40B4-BE49-F238E27FC236}">
                <a16:creationId xmlns:a16="http://schemas.microsoft.com/office/drawing/2014/main" id="{D1BC665E-786D-450B-8DA1-41FADD2FE3D9}"/>
              </a:ext>
            </a:extLst>
          </p:cNvPr>
          <p:cNvSpPr>
            <a:spLocks noGrp="1"/>
          </p:cNvSpPr>
          <p:nvPr/>
        </p:nvSpPr>
        <p:spPr>
          <a:xfrm>
            <a:off x="704850" y="5086350"/>
            <a:ext cx="3714750" cy="514350"/>
          </a:xfrm>
          <a:prstGeom prst="rect">
            <a:avLst/>
          </a:prstGeom>
          <a:noFill/>
          <a:ln w="0">
            <a:noFill/>
          </a:ln>
        </p:spPr>
        <p:txBody>
          <a:bodyPr anchor="t">
            <a:normAutofit/>
          </a:bodyPr>
          <a:lstStyle/>
          <a:p>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Series count accelerates</a:t>
            </a:r>
          </a:p>
        </p:txBody>
      </p:sp>
      <p:sp>
        <p:nvSpPr>
          <p:cNvPr id="15" name="Rectangle 14">
            <a:extLst>
              <a:ext uri="{FF2B5EF4-FFF2-40B4-BE49-F238E27FC236}">
                <a16:creationId xmlns:a16="http://schemas.microsoft.com/office/drawing/2014/main" id="{4AABD6C3-BC2A-444C-A465-1CA0388CD24D}"/>
              </a:ext>
            </a:extLst>
          </p:cNvPr>
          <p:cNvSpPr>
            <a:spLocks noGrp="1"/>
          </p:cNvSpPr>
          <p:nvPr/>
        </p:nvSpPr>
        <p:spPr>
          <a:xfrm>
            <a:off x="4762500" y="5086350"/>
            <a:ext cx="6667500" cy="514350"/>
          </a:xfrm>
          <a:prstGeom prst="rect">
            <a:avLst/>
          </a:prstGeom>
          <a:noFill/>
          <a:ln w="0">
            <a:noFill/>
          </a:ln>
        </p:spPr>
        <p:txBody>
          <a:bodyPr anchor="t">
            <a:normAutofit/>
          </a:bodyPr>
          <a:lstStyle/>
          <a:p>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route or workload label cardinality</a:t>
            </a:r>
          </a:p>
        </p:txBody>
      </p:sp>
      <p:sp>
        <p:nvSpPr>
          <p:cNvPr id="16" name="Rectangle 15">
            <a:extLst>
              <a:ext uri="{FF2B5EF4-FFF2-40B4-BE49-F238E27FC236}">
                <a16:creationId xmlns:a16="http://schemas.microsoft.com/office/drawing/2014/main" id="{0E0A2586-884B-46E8-A1F6-A5FA243B5CDC}"/>
              </a:ext>
            </a:extLst>
          </p:cNvPr>
          <p:cNvSpPr>
            <a:spLocks noGrp="1"/>
          </p:cNvSpPr>
          <p:nvPr/>
        </p:nvSpPr>
        <p:spPr>
          <a:xfrm>
            <a:off x="704850" y="5715000"/>
            <a:ext cx="10725150" cy="9525"/>
          </a:xfrm>
          <a:prstGeom prst="rect">
            <a:avLst/>
          </a:prstGeom>
          <a:solidFill>
            <a:srgbClr val="D6D6D6"/>
          </a:solidFill>
          <a:ln w="0">
            <a:noFill/>
          </a:ln>
        </p:spPr>
        <p:txBody>
          <a:bodyPr/>
          <a:lstStyle/>
          <a:p>
            <a:endParaRPr/>
          </a:p>
        </p:txBody>
      </p:sp>
    </p:spTree>
    <p:extLst>
      <p:ext uri="{BB962C8B-B14F-4D97-AF65-F5344CB8AC3E}">
        <p14:creationId xmlns:p14="http://schemas.microsoft.com/office/powerpoint/2010/main" val="2144094207"/>
      </p:ext>
    </p:extLst>
  </p:cSld>
  <p:clrMapOvr>
    <a:masterClrMapping/>
  </p:clrMapOvr>
  <p:transition advClick="1"/>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A138CB-AF2D-4EA0-BDDD-BF610034F744}"/>
              </a:ext>
            </a:extLst>
          </p:cNvPr>
          <p:cNvSpPr>
            <a:spLocks noGrp="1"/>
          </p:cNvSpPr>
          <p:nvPr/>
        </p:nvSpPr>
        <p:spPr>
          <a:xfrm>
            <a:off x="0" y="0"/>
            <a:ext cx="9525" cy="9525"/>
          </a:xfrm>
          <a:prstGeom prst="rect">
            <a:avLst/>
          </a:prstGeom>
          <a:solidFill>
            <a:srgbClr val="FFFFFF"/>
          </a:solidFill>
          <a:ln w="0">
            <a:noFill/>
          </a:ln>
        </p:spPr>
        <p:txBody>
          <a:bodyPr/>
          <a:lstStyle/>
          <a:p>
            <a:endParaRPr/>
          </a:p>
        </p:txBody>
      </p:sp>
    </p:spTree>
    <p:extLst>
      <p:ext uri="{BB962C8B-B14F-4D97-AF65-F5344CB8AC3E}">
        <p14:creationId xmlns:p14="http://schemas.microsoft.com/office/powerpoint/2010/main" val="1900850316"/>
      </p:ext>
    </p:extLst>
  </p:cSld>
  <p:clrMapOvr>
    <a:masterClrMapping/>
  </p:clrMapOvr>
  <p:transition advClick="1"/>
</p:sld>
</file>

<file path=ppt/theme/theme1.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c8f49a32-fde3-48a5-9266-b5b0972a22dc}" enabled="1" method="Standard" siteId="{5ae1af62-9505-4097-a69a-c1553ef7840e}" contentBits="2" removed="0"/>
</clbl:labelList>
</file>

<file path=docProps/app.xml><?xml version="1.0" encoding="utf-8"?>
<Properties xmlns="http://schemas.openxmlformats.org/officeDocument/2006/extended-properties" xmlns:vt="http://schemas.openxmlformats.org/officeDocument/2006/docPropsVTypes">
  <TotalTime>114</TotalTime>
  <Words>7275</Words>
  <Application>Microsoft Macintosh PowerPoint</Application>
  <DocSecurity>0</DocSecurity>
  <PresentationFormat>Widescreen</PresentationFormat>
  <Paragraphs>682</Paragraphs>
  <Slides>36</Slides>
  <Notes>36</Notes>
  <HiddenSlides>2</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Calibri</vt:lpstr>
      <vt:lpstr>CiscoSansTT Medium</vt:lpstr>
      <vt:lpstr>Arial</vt:lpstr>
      <vt:lpstr>CiscoSansTT</vt:lpstr>
      <vt:lpstr>Cisco Light 05-21-2025</vt:lpstr>
      <vt:lpstr>Two eBPF Systems, One Kubernetes Node</vt:lpstr>
      <vt:lpstr>PowerPoint Presentation</vt:lpstr>
      <vt:lpstr>PowerPoint Presentation</vt:lpstr>
      <vt:lpstr>PowerPoint Presentation</vt:lpstr>
      <vt:lpstr>PowerPoint Presentation</vt:lpstr>
      <vt:lpstr>The coexistence problem</vt:lpstr>
      <vt:lpstr>PowerPoint Presentation</vt:lpstr>
      <vt:lpstr>PowerPoint Presentation</vt:lpstr>
      <vt:lpstr>PowerPoint Presentation</vt:lpstr>
      <vt:lpstr>PowerPoint Presentation</vt:lpstr>
      <vt:lpstr>Attachment order</vt:lpstr>
      <vt:lpstr>PowerPoint Presentation</vt:lpstr>
      <vt:lpstr>PowerPoint Presentation</vt:lpstr>
      <vt:lpstr>PowerPoint Presentation</vt:lpstr>
      <vt:lpstr>Live demo  One request, two views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Measure the combined system</vt:lpstr>
      <vt:lpstr>PowerPoint Presentation</vt:lpstr>
      <vt:lpstr>PowerPoint Presentation</vt:lpstr>
      <vt:lpstr>PowerPoint Presentation</vt:lpstr>
      <vt:lpstr>Production rollout</vt:lpstr>
      <vt:lpstr>PowerPoint Presentation</vt:lpstr>
      <vt:lpstr>PowerPoint Presentation</vt:lpstr>
      <vt:lpstr>Questions?</vt:lpstr>
      <vt:lpstr>Appendix</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Antonio Jimenez Martinez (antonjim)</cp:lastModifiedBy>
  <cp:revision>5</cp:revision>
  <dcterms:created xsi:type="dcterms:W3CDTF">2026-09-27T17:17:35Z</dcterms:created>
  <dcterms:modified xsi:type="dcterms:W3CDTF">2026-10-29T16:29:42Z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Cisco Light 05-21-2025:9</vt:lpwstr>
  </property>
  <property fmtid="{D5CDD505-2E9C-101B-9397-08002B2CF9AE}" pid="3" name="ClassificationContentMarkingFooterText">
    <vt:lpwstr>Cisco Confidential</vt:lpwstr>
  </property>
</Properties>
</file>