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0"/>
  </p:notesMasterIdLst>
  <p:sldIdLst>
    <p:sldId id="256" r:id="rId2"/>
    <p:sldId id="257" r:id="rId3"/>
    <p:sldId id="258" r:id="rId4"/>
    <p:sldId id="293" r:id="rId5"/>
    <p:sldId id="263" r:id="rId6"/>
    <p:sldId id="259" r:id="rId7"/>
    <p:sldId id="277" r:id="rId8"/>
    <p:sldId id="260" r:id="rId9"/>
    <p:sldId id="261" r:id="rId10"/>
    <p:sldId id="262" r:id="rId11"/>
    <p:sldId id="292"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8" r:id="rId26"/>
    <p:sldId id="279" r:id="rId27"/>
    <p:sldId id="280" r:id="rId28"/>
    <p:sldId id="281" r:id="rId29"/>
    <p:sldId id="282" r:id="rId30"/>
    <p:sldId id="283" r:id="rId31"/>
    <p:sldId id="284" r:id="rId32"/>
    <p:sldId id="285" r:id="rId33"/>
    <p:sldId id="291" r:id="rId34"/>
    <p:sldId id="286" r:id="rId35"/>
    <p:sldId id="287" r:id="rId36"/>
    <p:sldId id="288" r:id="rId37"/>
    <p:sldId id="289" r:id="rId38"/>
    <p:sldId id="290" r:id="rId39"/>
  </p:sldIdLst>
  <p:sldSz cx="12192000" cy="6858000"/>
  <p:notesSz cx="6858000" cy="9144000"/>
  <p:embeddedFontLst>
    <p:embeddedFont>
      <p:font typeface="CiscoSansTT" panose="020B0503020201020303" pitchFamily="34" charset="0"/>
      <p:regular r:id="rId41"/>
      <p:bold r:id="rId42"/>
      <p:italic r:id="rId43"/>
      <p:boldItalic r:id="rId44"/>
    </p:embeddedFont>
    <p:embeddedFont>
      <p:font typeface="CiscoSansTT Medium" panose="020B0903020201090303" pitchFamily="34" charset="0"/>
      <p:regular r:id="rId45"/>
      <p:italic r:id="rId46"/>
    </p:embeddedFont>
  </p:embeddedFontLst>
  <p:defaultTextStyle>
    <a:defPPr>
      <a:defRPr lang="en-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69"/>
    <p:restoredTop sz="79177"/>
  </p:normalViewPr>
  <p:slideViewPr>
    <p:cSldViewPr snapToGrid="0">
      <p:cViewPr varScale="1">
        <p:scale>
          <a:sx n="177" d="100"/>
          <a:sy n="177" d="100"/>
        </p:scale>
        <p:origin x="28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dk1" tx1="lt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1 minute</a:t>
            </a:r>
          </a:p>
          <a:p>
            <a:endParaRPr dirty="0"/>
          </a:p>
          <a:p>
            <a:r>
              <a:rPr dirty="0"/>
              <a:t>Open with the operator question: We already run Cilium. Can we add zero-code application telemetry without changing network behavior? Set the promise: attachment order, signal boundaries, and measured operational cost.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45 seconds</a:t>
            </a:r>
          </a:p>
          <a:p>
            <a:endParaRPr dirty="0"/>
          </a:p>
          <a:p>
            <a:r>
              <a:rPr dirty="0"/>
              <a:t>First introduce OBI for attendees who have not used it. Then assign application evidence to OBI and network and policy evidence to Cilium and Hubble. The following sections cover coexistence, attachment order, the live demo, measured overhead, and rollout gates. The appendix holds version-specific configuration and troubleshooting details.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OBI stands for OpenTelemetry eBPF Instrumentation. It is a zero-code way to observe supported application requests. In this demo, an OBI DaemonSet runs on the Kubernetes worker nodes. It uses eBPF to observe application behavior from outside the application process, so the demo services do not need an SDK or source-code edits. Zero-code does not mean zero setup: OBI still needs the right node privileges, kernel support, and export configuration.</a:t>
            </a:r>
          </a:p>
          <a:p>
            <a:endParaRPr/>
          </a:p>
          <a:p>
            <a:r>
              <a:t>Explain the output terms. A span records one operation, such as an HTTP server request or a client call to another service. A trace groups related spans into a request path. OBI also emits RED metrics: request rate, errors, and duration. Those signals answer application questions such as which route is slow, which service returned an error, and where the request spent time. Coverage depends on the language, library, and protocol OBI supports. Do not imply that it sees every operation in every application.</a:t>
            </a:r>
          </a:p>
          <a:p>
            <a:endParaRPr/>
          </a:p>
          <a:p>
            <a:r>
              <a:t>Explain the diagram: the application still sends requests to other applications. The arrow to OBI represents observation, not an application call to the agent. OBI creates telemetry and exports it. The OpenTelemetry icon identifies the parent project, and the OBI label identifies this agent.</a:t>
            </a:r>
          </a:p>
          <a:p>
            <a:endParaRPr/>
          </a:p>
          <a:p>
            <a:r>
              <a:t>Transition: OBI has now reached v1.0. The next slide explains what that milestone means for operating and upgrading the agent.</a:t>
            </a:r>
          </a:p>
          <a:p>
            <a:endParaRPr/>
          </a:p>
          <a:p>
            <a:r>
              <a:t>Sources:</a:t>
            </a:r>
          </a:p>
          <a:p>
            <a:r>
              <a:t>- https://opentelemetry.io/docs/zero-code/obi/</a:t>
            </a:r>
          </a:p>
          <a:p>
            <a:r>
              <a:t>- https://opentelemetry.io/docs/zero-code/obi/getting-started/</a:t>
            </a:r>
          </a:p>
          <a:p>
            <a:endParaRPr/>
          </a:p>
          <a:p>
            <a:r>
              <a:t>Documentation and source code:</a:t>
            </a:r>
          </a:p>
          <a:p>
            <a:r>
              <a:t>- https://opentelemetry.io/docs/zero-code/obi/</a:t>
            </a:r>
          </a:p>
          <a:p>
            <a:r>
              <a:t>- https://github.com/open-telemetry/opentelemetry-ebpf-instrumentation</a:t>
            </a:r>
          </a:p>
          <a:p>
            <a:endParaRPr/>
          </a:p>
          <a:p>
            <a:r>
              <a:t>OpenTelemetry icon source:</a:t>
            </a:r>
          </a:p>
          <a:p>
            <a:r>
              <a:t>- https://github.com/cncf/artwork/blob/main/projects/opentelemetry/icon/color/opentelemetry-icon-color.svg</a:t>
            </a:r>
          </a:p>
          <a:p>
            <a:r>
              <a:t>- https://github.com/cncf/artwork/blob/main/LICENSE.md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does the 1.0 milestone mean? OBI now makes documented compatibility commitments for declared stable parts of the product. Explain the three areas on this slide.</a:t>
            </a:r>
          </a:p>
          <a:p xmlns:a="http://schemas.openxmlformats.org/drawingml/2006/main">
            <a:r>
              <a:t/>
            </a:r>
            <a:endParaRPr/>
          </a:p>
          <a:p xmlns:a="http://schemas.openxmlformats.org/drawingml/2006/main">
            <a:r>
              <a:t>Configuration and deployment: Config v2, its generated schema, documented deployment interfaces, and supported environments form a compatibility contract. Compatible additions can arrive within the v1 major release. Incompatible changes to declared stable surfaces follow the documented major-version and deprecation rules. The contract covers documented public behavior. Internal implementation details and the root Go API have different guarantees.</a:t>
            </a:r>
          </a:p>
          <a:p xmlns:a="http://schemas.openxmlformats.org/drawingml/2006/main">
            <a:r>
              <a:t/>
            </a:r>
            <a:endParaRPr/>
          </a:p>
          <a:p xmlns:a="http://schemas.openxmlformats.org/drawingml/2006/main">
            <a:r>
              <a:t>Stable telemetry: a signal is a metric or span. Attributes describe it. Signals and attributes have their own maturity levels. For entries marked stable, the contract covers documented names, types, units, and meaning when emitted through supported exporters. Bug fixes can correct output that fails to follow its documented convention. Avoid promising that every emitted field will remain identical forever.</a:t>
            </a:r>
          </a:p>
          <a:p xmlns:a="http://schemas.openxmlformats.org/drawingml/2006/main">
            <a:r>
              <a:t/>
            </a:r>
            <a:endParaRPr/>
          </a:p>
          <a:p xmlns:a="http://schemas.openxmlformats.org/drawingml/2006/main">
            <a:r>
              <a:t>Support and feature maturity: the support matrix describes the available runtimes, protocols, and environments. Emission also depends on enabled features and available metadata. A stable definition can coexist with a documented coverage limitation or known emission bug.</a:t>
            </a:r>
          </a:p>
          <a:p xmlns:a="http://schemas.openxmlformats.org/drawingml/2006/main">
            <a:r>
              <a:t/>
            </a:r>
            <a:endParaRPr/>
          </a:p>
          <a:p xmlns:a="http://schemas.openxmlformats.org/drawingml/2006/main">
            <a:r>
              <a:t>Runtime metrics remain experimental. Network-flow attribute names are outside the stable telemetry contract while their semantic conventions develop. The OBI Collector receiver also has a separate v0 release line. The v1 milestone applies to the declared stable core surfaces.</a:t>
            </a:r>
          </a:p>
          <a:p xmlns:a="http://schemas.openxmlformats.org/drawingml/2006/main">
            <a:r>
              <a:t/>
            </a:r>
            <a:endParaRPr/>
          </a:p>
          <a:p xmlns:a="http://schemas.openxmlformats.org/drawingml/2006/main">
            <a:r>
              <a:t>Sources:</a:t>
            </a:r>
          </a:p>
          <a:p xmlns:a="http://schemas.openxmlformats.org/drawingml/2006/main">
            <a:r>
              <a:t>- https://opentelemetry.io/blog/2026/obi-v1-release/</a:t>
            </a:r>
          </a:p>
          <a:p xmlns:a="http://schemas.openxmlformats.org/drawingml/2006/main">
            <a:r>
              <a:t>- https://github.com/open-telemetry/opentelemetry-ebpf-instrumentation/releases/tag/v1.0.0</a:t>
            </a:r>
          </a:p>
          <a:p xmlns:a="http://schemas.openxmlformats.org/drawingml/2006/main">
            <a:r>
              <a:t>- https://github.com/open-telemetry/opentelemetry-ebpf-instrumentation/blob/v1.0.0/VERSIONING.md</a:t>
            </a:r>
          </a:p>
          <a:p xmlns:a="http://schemas.openxmlformats.org/drawingml/2006/main">
            <a:r>
              <a:t>- https://github.com/open-telemetry/opentelemetry-ebpf-instrumentation/blob/v1.0.0/TELEMETRY.md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service box represents one operation, or span. A trace groups related operations across services.</a:t>
            </a:r>
          </a:p>
          <a:p>
            <a:endParaRPr/>
          </a:p>
          <a:p>
            <a:r>
              <a:t>At the top, each operation sits in its own trace frame. Trace A, B, and C are example IDs. The backend has no shared context that connects these separate records into the intended request journey.</a:t>
            </a:r>
          </a:p>
          <a:p>
            <a:endParaRPr/>
          </a:p>
          <a:p>
            <a:r>
              <a:t>At the bottom, the three operations sit inside one Trace A frame. Propagation carries the trace ID and parent information to downstream services. The arrows show the service-call sequence.</a:t>
            </a:r>
          </a:p>
          <a:p>
            <a:endParaRPr/>
          </a:p>
          <a:p>
            <a:r>
              <a:t>This is a conceptual example with one operation per service. The boxes and spacing do not represent measured durations. Real traces can contain more client and server spans.</a:t>
            </a:r>
          </a:p>
          <a:p>
            <a:endParaRPr/>
          </a:p>
          <a:p>
            <a:r>
              <a:t>The default application demo propagates context through socket hooks. The next kernel diagrams explain a separate feature: optional OBI network-flow collection through TC, which can share Cilium hooks.</a:t>
            </a:r>
          </a:p>
          <a:p>
            <a:endParaRPr/>
          </a:p>
          <a:p>
            <a:r>
              <a:t>Sources:</a:t>
            </a:r>
          </a:p>
          <a:p>
            <a:r>
              <a:t>- https://opentelemetry.io/docs/concepts/context-propagation/</a:t>
            </a:r>
          </a:p>
          <a:p>
            <a:r>
              <a:t>- https://opentelemetry.io/docs/zero-code/obi/distributed-traces/</a:t>
            </a:r>
          </a:p>
          <a:p>
            <a:endParaRPr/>
          </a:p>
          <a:p>
            <a:r>
              <a:t>Sources:</a:t>
            </a:r>
          </a:p>
          <a:p>
            <a:r>
              <a:t>- https://github.com/open-telemetry/opentelemetry-ebpf-instrumentation/blob/v1.0.0/pkg/appolly/discover/finder.go</a:t>
            </a:r>
          </a:p>
          <a:p>
            <a:r>
              <a:t>- https://github.com/open-telemetry/opentelemetry-ebpf-instrumentation/blob/v1.0.0/pkg/internal/ebpf/tpinjector/tpinjector.go</a:t>
            </a:r>
          </a:p>
          <a:p>
            <a:r>
              <a:t>- https://github.com/open-telemetry/opentelemetry-ebpf-instrumentation/blob/v1.0.0/pkg/internal/netolly/ebpf/tracer.go</a:t>
            </a:r>
          </a:p>
          <a:p>
            <a:r>
              <a:t>- https://github.com/open-telemetry/opentelemetry-ebpf-instrumentation/blob/v1.0.0/pkg/obi/config.go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This slide divides the operational questions. OBI owns application-request evidence in this demo: route, status, latency, spans, and RED metrics. Cilium connects workloads and enforces network policy. Hubble, Cilium's observability layer, shows flows between workload identities, direction, ports, verdicts, and drop reasons. A Hubble flow and an OBI span are different records. Do not imply a one-to-one event match or a shared trace ID by default.</a:t>
            </a:r>
          </a:p>
          <a:p>
            <a:endParaRPr/>
          </a:p>
          <a:p>
            <a:r>
              <a:t>For a practical correlation, choose a bounded time window and compare source and destination workloads, direction, and port. Use OBI to locate the slow or failed request, then use Hubble to check the corresponding network path and policy decision. Hubble can expose optional HTTP information when the relevant L7 visibility is enabled. OBI also offers optional network metrics. The ownership split here is a deliberate choice for the demo, not a claim that either project has only one type of telemetry.</a:t>
            </a:r>
          </a:p>
          <a:p>
            <a:endParaRPr/>
          </a:p>
          <a:p>
            <a:r>
              <a:t>Transition: both products use eBPF, so the next section examines what happens when they attach on the same node.</a:t>
            </a:r>
          </a:p>
          <a:p>
            <a:endParaRPr/>
          </a:p>
          <a:p>
            <a:r>
              <a:t>Sources:</a:t>
            </a:r>
          </a:p>
          <a:p>
            <a:r>
              <a:t>- https://opentelemetry.io/docs/zero-code/obi/</a:t>
            </a:r>
          </a:p>
          <a:p>
            <a:r>
              <a:t>- https://docs.cilium.io/en/stable/overview/intro/</a:t>
            </a:r>
          </a:p>
          <a:p>
            <a:r>
              <a:t>- https://docs.cilium.io/en/stable/observability/hubble/</a:t>
            </a:r>
          </a:p>
          <a:p>
            <a:r>
              <a:t>- https://docs.cilium.io/en/stable/observability/visibility/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about 2 minutes</a:t>
            </a:r>
          </a:p>
          <a:p>
            <a:endParaRPr dirty="0"/>
          </a:p>
          <a:p>
            <a:r>
              <a:rPr dirty="0"/>
              <a:t>OBI has an optional network collector as well as application instrumentation. It counts bytes and packets between endpoints. Kubernetes metadata can identify the source and destination workloads.</a:t>
            </a:r>
          </a:p>
          <a:p>
            <a:endParaRPr dirty="0"/>
          </a:p>
          <a:p>
            <a:r>
              <a:rPr dirty="0"/>
              <a:t>Use these metrics to find services that send the most traffic, or to export traffic volume through an </a:t>
            </a:r>
            <a:r>
              <a:rPr dirty="0" err="1"/>
              <a:t>OpenTelemetry</a:t>
            </a:r>
            <a:r>
              <a:rPr dirty="0"/>
              <a:t> pipeline.</a:t>
            </a:r>
          </a:p>
          <a:p>
            <a:endParaRPr dirty="0"/>
          </a:p>
          <a:p>
            <a:r>
              <a:rPr dirty="0"/>
              <a:t>These network-volume counters do not provide the Cilium policy record that says Policy denied. Hubble and OBI may also count traffic differently because they observe and aggregate it at different points.</a:t>
            </a:r>
          </a:p>
          <a:p>
            <a:endParaRPr dirty="0"/>
          </a:p>
          <a:p>
            <a:r>
              <a:rPr dirty="0"/>
              <a:t>When enabling OBI network collection alongside Cilium, choose </a:t>
            </a:r>
            <a:r>
              <a:rPr dirty="0" err="1"/>
              <a:t>network.source</a:t>
            </a:r>
            <a:r>
              <a:rPr dirty="0"/>
              <a:t>: </a:t>
            </a:r>
            <a:r>
              <a:rPr dirty="0" err="1"/>
              <a:t>socket_filter</a:t>
            </a:r>
            <a:r>
              <a:rPr dirty="0"/>
              <a:t>. Limit labels to the dimensions you need, because many endpoint and port combinations can create many metric series.</a:t>
            </a:r>
          </a:p>
          <a:p>
            <a:endParaRPr dirty="0"/>
          </a:p>
          <a:p>
            <a:r>
              <a:rPr dirty="0"/>
              <a:t>Optional network-volume collection is separate from application tracing and TCP trace-context propagation. Disabling the network-volume collector does not disable those application features.</a:t>
            </a:r>
          </a:p>
          <a:p>
            <a:endParaRPr dirty="0"/>
          </a:p>
          <a:p>
            <a:r>
              <a:rPr dirty="0"/>
              <a:t>Transition: the next section explains the shared kernel hooks and why attachment order matters.</a:t>
            </a:r>
          </a:p>
          <a:p>
            <a:endParaRPr dirty="0"/>
          </a:p>
          <a:p>
            <a:r>
              <a:rPr dirty="0"/>
              <a:t>Sources:</a:t>
            </a:r>
          </a:p>
          <a:p>
            <a:r>
              <a:rPr dirty="0"/>
              <a:t>- https://</a:t>
            </a:r>
            <a:r>
              <a:rPr dirty="0" err="1"/>
              <a:t>opentelemetry.io</a:t>
            </a:r>
            <a:r>
              <a:rPr dirty="0"/>
              <a:t>/docs/zero-code/obi/network/</a:t>
            </a:r>
          </a:p>
          <a:p>
            <a:r>
              <a:rPr dirty="0"/>
              <a:t>- https://</a:t>
            </a:r>
            <a:r>
              <a:rPr dirty="0" err="1"/>
              <a:t>opentelemetry.io</a:t>
            </a:r>
            <a:r>
              <a:rPr dirty="0"/>
              <a:t>/docs/zero-code/obi/network/config/</a:t>
            </a:r>
          </a:p>
          <a:p>
            <a:endParaRPr dirty="0"/>
          </a:p>
          <a:p>
            <a:r>
              <a:rPr dirty="0"/>
              <a:t>OBI v1.0 scope: optional network measurements are separate from application telemetry. Network-flow attribute names remain outside the stable telemetry contract. The default demo keeps optional OBI network collection disabled.</a:t>
            </a:r>
          </a:p>
          <a:p>
            <a:r>
              <a:rPr dirty="0"/>
              <a:t>Source: https://</a:t>
            </a:r>
            <a:r>
              <a:rPr dirty="0" err="1"/>
              <a:t>github.com</a:t>
            </a:r>
            <a:r>
              <a:rPr dirty="0"/>
              <a:t>/open-telemetry/</a:t>
            </a:r>
            <a:r>
              <a:rPr dirty="0" err="1"/>
              <a:t>opentelemetry</a:t>
            </a:r>
            <a:r>
              <a:rPr dirty="0"/>
              <a:t>-</a:t>
            </a:r>
            <a:r>
              <a:rPr dirty="0" err="1"/>
              <a:t>ebpf</a:t>
            </a:r>
            <a:r>
              <a:rPr dirty="0"/>
              <a:t>-instrumentation/blob/v1.0.0/</a:t>
            </a:r>
            <a:r>
              <a:rPr dirty="0" err="1"/>
              <a:t>TELEMETRY.md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30 seconds</a:t>
            </a:r>
          </a:p>
          <a:p>
            <a:endParaRPr/>
          </a:p>
          <a:p>
            <a:r>
              <a:t>Section transition: The coexistence problem.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Both agents run on the same Kubernetes worker node. OBI observes supported application requests and produces traces and metrics. Cilium provides networking and policy. Hubble adds visibility into network flows.</a:t>
            </a:r>
          </a:p>
          <a:p>
            <a:endParaRPr dirty="0"/>
          </a:p>
          <a:p>
            <a:r>
              <a:rPr dirty="0"/>
              <a:t>The first check is traffic behavior. Can applications still reach the services they should reach? Are connections that policy should deny still denied? We require correct behavior, rather than an identical internal packet path in every configuration.</a:t>
            </a:r>
          </a:p>
          <a:p>
            <a:endParaRPr dirty="0"/>
          </a:p>
          <a:p>
            <a:r>
              <a:rPr dirty="0"/>
              <a:t>The second check is visibility. OBI and Hubble should each capture the evidence we need. An agent that starts successfully can still have a visibility gap.</a:t>
            </a:r>
          </a:p>
          <a:p>
            <a:endParaRPr dirty="0"/>
          </a:p>
          <a:p>
            <a:r>
              <a:rPr dirty="0"/>
              <a:t>The third check is added cost. Measure CPU, memory, and the amount of telemetry generated. Include the collection and storage pipeline when assessing the full cost.</a:t>
            </a:r>
          </a:p>
          <a:p>
            <a:endParaRPr dirty="0"/>
          </a:p>
          <a:p>
            <a:r>
              <a:rPr dirty="0"/>
              <a:t>The next slides follow one request through the application and kernel, then explain why attachment order can affect visibility.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Application spans, pod interfaces, Cilium networking, and optional OBI network collection are different observation points. A hook is a checkpoint where Linux runs an eBPF program.</a:t>
            </a:r>
          </a:p>
          <a:p>
            <a:endParaRPr/>
          </a:p>
          <a:p>
            <a:r>
              <a:t>OBI application telemetry and context propagation use application, kernel, and socket hooks. In these pinned versions, HTTP-header propagation uses SK_MSG and TCP-option propagation uses BPF_SOCK_OPS. Do not describe those propagation programs as TC classifiers.</a:t>
            </a:r>
          </a:p>
          <a:p>
            <a:endParaRPr/>
          </a:p>
          <a:p>
            <a:r>
              <a:t>The shared TC case appears when optional OBI network collection is enabled with source tc. That collector can share host-interface ingress and egress hooks with Cilium. The default application demo leaves this network collector disabled.</a:t>
            </a:r>
          </a:p>
          <a:p>
            <a:endParaRPr/>
          </a:p>
          <a:p>
            <a:r>
              <a:t>The next diagram zooms into this optional shared TC case.</a:t>
            </a:r>
          </a:p>
          <a:p>
            <a:endParaRPr/>
          </a:p>
          <a:p>
            <a:r>
              <a:t>Sources:</a:t>
            </a:r>
          </a:p>
          <a:p>
            <a:r>
              <a:t>- https://github.com/open-telemetry/opentelemetry-ebpf-instrumentation/blob/v1.0.0/pkg/appolly/discover/finder.go</a:t>
            </a:r>
          </a:p>
          <a:p>
            <a:r>
              <a:t>- https://github.com/open-telemetry/opentelemetry-ebpf-instrumentation/blob/v1.0.0/pkg/internal/ebpf/tpinjector/tpinjector.go</a:t>
            </a:r>
          </a:p>
          <a:p>
            <a:r>
              <a:t>- https://github.com/open-telemetry/opentelemetry-ebpf-instrumentation/blob/v1.0.0/pkg/internal/netolly/ebpf/tracer.go</a:t>
            </a:r>
          </a:p>
          <a:p>
            <a:r>
              <a:t>- https://github.com/open-telemetry/opentelemetry-ebpf-instrumentation/blob/v1.0.0/pkg/obi/config.go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application sends traffic through a veth pair between the pod and node. TC ingress and egress are relative to the host-side interface shown here.</a:t>
            </a:r>
          </a:p>
          <a:p>
            <a:endParaRPr/>
          </a:p>
          <a:p>
            <a:r>
              <a:t>This diagram applies to optional OBI network-flow capture using source tc. Its flow-parser programs can share these TC hooks with Cilium. Their purpose here is collecting network-flow metrics, rather than injecting trace context.</a:t>
            </a:r>
          </a:p>
          <a:p>
            <a:endParaRPr/>
          </a:p>
          <a:p>
            <a:r>
              <a:t>The default demo uses application telemetry and socket-based propagation. Its optional OBI network collector is off, so the v1 smoke test does not exercise an OBI/Cilium shared TC chain. The later historical priority experiment explicitly enables TC network collection.</a:t>
            </a:r>
          </a:p>
          <a:p>
            <a:endParaRPr/>
          </a:p>
          <a:p>
            <a:r>
              <a:t>Next, we examine order within that optional shared chain.</a:t>
            </a:r>
          </a:p>
          <a:p>
            <a:endParaRPr/>
          </a:p>
          <a:p>
            <a:r>
              <a:t>Sources:</a:t>
            </a:r>
          </a:p>
          <a:p>
            <a:r>
              <a:t>- https://github.com/open-telemetry/opentelemetry-ebpf-instrumentation/blob/v1.0.0/pkg/appolly/discover/finder.go</a:t>
            </a:r>
          </a:p>
          <a:p>
            <a:r>
              <a:t>- https://github.com/open-telemetry/opentelemetry-ebpf-instrumentation/blob/v1.0.0/pkg/internal/ebpf/tpinjector/tpinjector.go</a:t>
            </a:r>
          </a:p>
          <a:p>
            <a:r>
              <a:t>- https://github.com/open-telemetry/opentelemetry-ebpf-instrumentation/blob/v1.0.0/pkg/internal/netolly/ebpf/tracer.go</a:t>
            </a:r>
          </a:p>
          <a:p>
            <a:r>
              <a:t>- https://github.com/open-telemetry/opentelemetry-ebpf-instrumentation/blob/v1.0.0/pkg/obi/config.go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sequence applies when optional OBI TC network-flow collection is enabled. OBI observes the packet for flow metrics before Cilium applies networking and policy. Application trace propagation uses separate socket hooks in v0.13.0 and v1.0.0.</a:t>
            </a:r>
          </a:p>
          <a:p>
            <a:endParaRPr/>
          </a:p>
          <a:p>
            <a:r>
              <a:t>Cilium can forward, redirect, or drop a packet. Those outcomes belong to Cilium logic. If a TC action ends processing before the OBI collector runs, OBI can miss the flow observation at this hook. That is the reason to order this optional collector before Cilium.</a:t>
            </a:r>
          </a:p>
          <a:p>
            <a:endParaRPr/>
          </a:p>
          <a:p>
            <a:r>
              <a:t>TCX manages relative order using first and last positions. Traditional Netlink TC uses numeric filter priorities. The next slides explain those mechanisms for the same optional network-collection case.</a:t>
            </a:r>
          </a:p>
          <a:p>
            <a:endParaRPr/>
          </a:p>
          <a:p>
            <a:r>
              <a:t>Sources:</a:t>
            </a:r>
          </a:p>
          <a:p>
            <a:r>
              <a:t>- https://github.com/open-telemetry/opentelemetry-ebpf-instrumentation/blob/v1.0.0/pkg/appolly/discover/finder.go</a:t>
            </a:r>
          </a:p>
          <a:p>
            <a:r>
              <a:t>- https://github.com/open-telemetry/opentelemetry-ebpf-instrumentation/blob/v1.0.0/pkg/internal/ebpf/tpinjector/tpinjector.go</a:t>
            </a:r>
          </a:p>
          <a:p>
            <a:r>
              <a:t>- https://github.com/open-telemetry/opentelemetry-ebpf-instrumentation/blob/v1.0.0/pkg/internal/netolly/ebpf/tracer.go</a:t>
            </a:r>
          </a:p>
          <a:p>
            <a:r>
              <a:t>- https://github.com/open-telemetry/opentelemetry-ebpf-instrumentation/blob/v1.0.0/pkg/obi/config.go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30 seconds</a:t>
            </a:r>
          </a:p>
          <a:p>
            <a:endParaRPr/>
          </a:p>
          <a:p>
            <a:r>
              <a:t>Section transition: Attachment order.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TC is the traffic-control subsystem. TCX is an API for attaching eBPF programs at TC ingress and egress checkpoints.</a:t>
            </a:r>
          </a:p>
          <a:p>
            <a:endParaRPr/>
          </a:p>
          <a:p>
            <a:r>
              <a:t>When optional OBI network capture uses source tc, its TCX manager requests link.Head(). Cilium requests link.Tail(). This gives the OBI flow collector an observation before Cilium may redirect or drop the packet. This is not the mechanism used by OBI application trace-context propagation in these pinned versions.</a:t>
            </a:r>
          </a:p>
          <a:p>
            <a:endParaRPr/>
          </a:p>
          <a:p>
            <a:r>
              <a:t>Check actual attachments on the running node. A configured backend and a Cilium TCX status line do not prove that OBI attached a TC program. In our v1 application-only smoke test, the node showed Cilium TCX programs and OBI socket hooks. The optional OBI TC flow collector was disabled.</a:t>
            </a:r>
          </a:p>
          <a:p>
            <a:endParaRPr/>
          </a:p>
          <a:p>
            <a:r>
              <a:t>Send a known request and confirm its behavior and telemetry. For a shared-chain test, enable the optional TC network collector in a separate experiment and inspect both programs and their order.</a:t>
            </a:r>
          </a:p>
          <a:p>
            <a:endParaRPr/>
          </a:p>
          <a:p>
            <a:r>
              <a:t>Sources:</a:t>
            </a:r>
          </a:p>
          <a:p>
            <a:r>
              <a:t>- https://github.com/open-telemetry/opentelemetry-ebpf-instrumentation/blob/v1.0.0/pkg/internal/ebpf/tcmanager/tcxmanager.go</a:t>
            </a:r>
          </a:p>
          <a:p>
            <a:r>
              <a:t>- https://github.com/cilium/cilium/blob/v1.20.2/pkg/datapath/loader/tcx.go</a:t>
            </a:r>
          </a:p>
          <a:p>
            <a:endParaRPr/>
          </a:p>
          <a:p>
            <a:r>
              <a:t>Sources:</a:t>
            </a:r>
          </a:p>
          <a:p>
            <a:r>
              <a:t>- https://github.com/open-telemetry/opentelemetry-ebpf-instrumentation/blob/v1.0.0/pkg/appolly/discover/finder.go</a:t>
            </a:r>
          </a:p>
          <a:p>
            <a:r>
              <a:t>- https://github.com/open-telemetry/opentelemetry-ebpf-instrumentation/blob/v1.0.0/pkg/internal/ebpf/tpinjector/tpinjector.go</a:t>
            </a:r>
          </a:p>
          <a:p>
            <a:r>
              <a:t>- https://github.com/open-telemetry/opentelemetry-ebpf-instrumentation/blob/v1.0.0/pkg/internal/netolly/ebpf/tracer.go</a:t>
            </a:r>
          </a:p>
          <a:p>
            <a:r>
              <a:t>- https://github.com/open-telemetry/opentelemetry-ebpf-instrumentation/blob/v1.0.0/pkg/obi/config.go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2 minutes</a:t>
            </a:r>
          </a:p>
          <a:p>
            <a:endParaRPr/>
          </a:p>
          <a:p>
            <a:r>
              <a:t>Legacy TC here means the older attachment method through Netlink. The packet checkpoint is still TC. Order comes from numeric priorities: priority 1 runs before priority 2. TCX achieves relative ordering through first and last positions instead.</a:t>
            </a:r>
          </a:p>
          <a:p>
            <a:endParaRPr/>
          </a:p>
          <a:p>
            <a:r>
              <a:t>On legacy Netlink TC, lower numeric priority runs first. In the recorded run, OBI v0.13.0 had optional network-flow collection enabled with network.source: tc. When Cilium also used priority 1, OBI's compatibility guard stopped OBI startup and logged that Cilium may clobber OBI. Do not generalize that result to app-only OBI: in this pinned version, the app-only run remained ready at Cilium priority 1. The guard is called when the optional TC network-flow feature is enabled.</a:t>
            </a:r>
          </a:p>
          <a:p>
            <a:endParaRPr/>
          </a:p>
          <a:p>
            <a:r>
              <a:t>In a fresh safe cluster, Cilium used bpf-filter-priority 2 and OBI used priority 1. The node's tc filter output showed OBI's ingress flow parser at pref 1 and Cilium's cil_from_container program at pref 2. OBI was ready and emitted an HTTP span for the nginx request. The next slide replays these actual outputs.</a:t>
            </a:r>
          </a:p>
          <a:p>
            <a:endParaRPr/>
          </a:p>
          <a:p>
            <a:r>
              <a:t>Always pin versions, render configuration, and inspect the live attachment order on a Linux node. This experiment does not measure packet overhead or prove every application path.</a:t>
            </a:r>
          </a:p>
          <a:p>
            <a:endParaRPr/>
          </a:p>
          <a:p>
            <a:r>
              <a:t>Sources:</a:t>
            </a:r>
          </a:p>
          <a:p>
            <a:r>
              <a:t>- https://opentelemetry.io/docs/zero-code/obi/cilium-compatibility/</a:t>
            </a:r>
          </a:p>
          <a:p>
            <a:r>
              <a:t>- https://github.com/open-telemetry/opentelemetry-ebpf-instrumentation/blob/v0.13.0/pkg/obi/config.go</a:t>
            </a:r>
          </a:p>
          <a:p>
            <a:r>
              <a:t>- https://github.com/open-telemetry/opentelemetry-ebpf-instrumentation/blob/v0.13.0/pkg/ebpf/tcmanager/cilium_support.go</a:t>
            </a:r>
          </a:p>
          <a:p>
            <a:endParaRPr/>
          </a:p>
          <a:p>
            <a:r>
              <a:t>Experiment scope: the recorded startup conflict uses OBI v0.13.0 with optional network.source: tc collection enabled. That collector activates the compatibility guard in this experiment. Our application-only configuration remained ready at Cilium priority 1. Treat the observed startup failure as a result for this pinned feature combination.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2 minutes. Play the video.</a:t>
            </a:r>
          </a:p>
          <a:p>
            <a:endParaRPr/>
          </a:p>
          <a:p>
            <a:r>
              <a:t>This compares two separate test clusters. Both use Cilium 1.20.2 and OBI v0.13.0. TCX is off, so the older TC mechanism uses priority numbers. A lower number runs earlier.</a:t>
            </a:r>
          </a:p>
          <a:p>
            <a:endParaRPr/>
          </a:p>
          <a:p>
            <a:r>
              <a:t>LEFT: Cilium uses priority 1. OBI detects that conflict and stops itself. That is why OBI shows 0/1 ready. The nginx request still returns HTTP 200: the application network continues to work while OBI is unavailable.</a:t>
            </a:r>
          </a:p>
          <a:p>
            <a:endParaRPr/>
          </a:p>
          <a:p>
            <a:r>
              <a:t>RIGHT: a fresh cluster uses Cilium priority 2. OBI can install its filter at priority 1, ahead of Cilium. OBI shows 1/1 ready and prints an HTTP span. The nginx request also returns HTTP 200.</a:t>
            </a:r>
          </a:p>
          <a:p>
            <a:endParaRPr/>
          </a:p>
          <a:p>
            <a:r>
              <a:t>What this teaches: check application health AND observability health. A successful request does not tell us that OBI is running or producing data.</a:t>
            </a:r>
          </a:p>
          <a:p>
            <a:endParaRPr/>
          </a:p>
          <a:p>
            <a:r>
              <a:t>Scope: this recording enables OBI's optional network.source: tc mode. Our application-only OBI configuration did not trigger this startup guard. The two sides are saved outputs from separate runs, replayed for the talk.</a:t>
            </a:r>
          </a:p>
          <a:p>
            <a:endParaRPr/>
          </a:p>
          <a:p>
            <a:r>
              <a:t>Sources:</a:t>
            </a:r>
          </a:p>
          <a:p>
            <a:r>
              <a:t>- https://github.com/ajimenez1503/cilium-obi-demo/blob/main/demo/legacy-priority-recording.md</a:t>
            </a:r>
          </a:p>
          <a:p>
            <a:r>
              <a:t>- https://github.com/ajimenez1503/cilium-obi-demo/tree/main/evidence/legacy-priority-2026-09-27</a:t>
            </a:r>
          </a:p>
          <a:p>
            <a:r>
              <a:t>- https://opentelemetry.io/docs/zero-code/obi/cilium-compatibility/</a:t>
            </a:r>
          </a:p>
          <a:p>
            <a:endParaRPr/>
          </a:p>
          <a:p>
            <a:r>
              <a:t>Experiment scope: the recorded startup conflict uses OBI v0.13.0 with optional network.source: tc collection enabled. That collector activates the compatibility guard in this experiment. Our application-only configuration remained ready at Cilium priority 1. Treat the observed startup failure as a result for this pinned feature combination.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30 seconds</a:t>
            </a:r>
          </a:p>
          <a:p>
            <a:endParaRPr/>
          </a:p>
          <a:p>
            <a:r>
              <a:t>Introduce the runnable demo repository before showing the environment. The repository contains the kind setup, pinned Cilium and OBI values, Grafana dashboards, verification scripts, recordings, benchmark evidence, and the latest presentation deck.</a:t>
            </a:r>
          </a:p>
          <a:p>
            <a:endParaRPr/>
          </a:p>
          <a:p>
            <a:r>
              <a:t>Sources:</a:t>
            </a:r>
          </a:p>
          <a:p>
            <a:r>
              <a:t>- https://github.com/ajimenez1503/cilium-obi-demo</a:t>
            </a:r>
          </a:p>
          <a:p>
            <a:endParaRPr/>
          </a:p>
          <a:p>
            <a:r>
              <a:t>The default live demo now targets OBI v1.0.0 with Config v2. The embedded recordings retain their v0.13.0 telemetry and are labelled with that version.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3 minutes</a:t>
            </a:r>
          </a:p>
          <a:p>
            <a:endParaRPr/>
          </a:p>
          <a:p>
            <a:r>
              <a:t>Start with the upper diagram. Follow the blue rollout route: edge-nginx calls v2, then v2 calls v1. The orange route is an alternative direct call from edge-nginx to v1. Only the orange direct route is exercised in the denial demo. These are three NGINX processes simulating application services. edge-nginx is the entry proxy. recommendations-v1 is the legacy service. recommendations-v2 represents a newer tier that still delegates some requests to v1. The version names make that migration scenario visible.</a:t>
            </a:r>
          </a:p>
          <a:p>
            <a:endParaRPr/>
          </a:p>
          <a:p>
            <a:r>
              <a:t>There are two routes used in the demos. A direct v1 URL sends the request from edge-nginx straight to v1. A rollout URL sends it from edge-nginx to v2 and then from v2 to v1. NGINX chooses the route from the requested URL. One request does not fan out to both versions. The configuration also has a v2-only example, where v2 returns a redirect itself.</a:t>
            </a:r>
          </a:p>
          <a:p>
            <a:endParaRPr/>
          </a:p>
          <a:p>
            <a:r>
              <a:t>Both versions, plus edge-nginx, are selected by the OBI discovery configuration. OBI watches their supported operations and creates spans and RED metrics. The applications do not call OBI as an application dependency.</a:t>
            </a:r>
          </a:p>
          <a:p>
            <a:endParaRPr/>
          </a:p>
          <a:p>
            <a:r>
              <a:t>Cilium and Hubble also cover traffic for all three services. Hubble is not connected only to v1. The diagram's lower arrows represent telemetry exports, not application calls.</a:t>
            </a:r>
          </a:p>
          <a:p>
            <a:endParaRPr/>
          </a:p>
          <a:p>
            <a:r>
              <a:t>OBI exports application traces and metrics to the local LGTM backend. Tempo stores traces and the metric backend provides the dashboard data. A Collector scrapes the Cilium and Hubble metric endpoints and exports those metrics to the same LGTM backend. Hubble Relay, the CLI, and Hubble UI expose individual flow records and verdicts.</a:t>
            </a:r>
          </a:p>
          <a:p>
            <a:endParaRPr/>
          </a:p>
          <a:p>
            <a:r>
              <a:t>For the denial demo, the policy allows v2 to call v1 on port 8081. It blocks edge-nginx from calling v1 directly. That is why the orange direct route is the one we exercise during the failure.</a:t>
            </a:r>
          </a:p>
          <a:p>
            <a:endParaRPr/>
          </a:p>
          <a:p>
            <a:r>
              <a:t>Sources:</a:t>
            </a:r>
          </a:p>
          <a:p>
            <a:r>
              <a:t>- https://github.com/ajimenez1503/cilium-obi-demo/blob/main/demo/obi-values.yaml</a:t>
            </a:r>
          </a:p>
          <a:p>
            <a:r>
              <a:t>- https://github.com/ajimenez1503/cilium-obi-demo/blob/main/demo/policy-deny.yaml</a:t>
            </a:r>
          </a:p>
          <a:p>
            <a:r>
              <a:t>- https://github.com/open-telemetry/opentelemetry-ebpf-instrumentation/tree/main/examples/nginx</a:t>
            </a:r>
          </a:p>
          <a:p>
            <a:r>
              <a:t>- https://docs.cilium.io/en/stable/observability/metrics/</a:t>
            </a:r>
          </a:p>
          <a:p>
            <a:endParaRPr/>
          </a:p>
          <a:p>
            <a:r>
              <a:t>Current repository pins: OBI v1.0.0, Helm chart 0.15.2, Config v2, Cilium 1.20.2. The architecture is the same, while recorded evidence was collected with OBI v0.13.0.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Historical evidence: this capture used OBI v0.13.0. The default repository demo now uses v1.0.0 with Config v2. Use the upgrade guide for the current validation result.</a:t>
            </a:r>
          </a:p>
          <a:p>
            <a:endParaRPr dirty="0"/>
          </a:p>
          <a:p>
            <a:r>
              <a:rPr dirty="0"/>
              <a:t>Timing: 2 minutes</a:t>
            </a:r>
          </a:p>
          <a:p>
            <a:endParaRPr dirty="0"/>
          </a:p>
          <a:p>
            <a:r>
              <a:rPr dirty="0"/>
              <a:t>Click the video to play. This is a recorded run of demo/</a:t>
            </a:r>
            <a:r>
              <a:rPr dirty="0" err="1"/>
              <a:t>verify.sh</a:t>
            </a:r>
            <a:r>
              <a:rPr dirty="0"/>
              <a:t> against the local kind cluster. Pause on four checks: Cilium reports TCX, the cilium-config readback says enable-</a:t>
            </a:r>
            <a:r>
              <a:rPr dirty="0" err="1"/>
              <a:t>tcx</a:t>
            </a:r>
            <a:r>
              <a:rPr dirty="0"/>
              <a:t>=true, OBI v0.13.0 is ready on both workers, and the startup logs contain no attachment, capability, </a:t>
            </a:r>
            <a:r>
              <a:rPr dirty="0" err="1"/>
              <a:t>tracefs</a:t>
            </a:r>
            <a:r>
              <a:rPr dirty="0"/>
              <a:t>, or context-propagation errors. The point is that a Running </a:t>
            </a:r>
            <a:r>
              <a:rPr dirty="0" err="1"/>
              <a:t>DaemonSet</a:t>
            </a:r>
            <a:r>
              <a:rPr dirty="0"/>
              <a:t> is not enough. Verify the actual attachment decision before trusting either telemetry stream.</a:t>
            </a:r>
          </a:p>
          <a:p>
            <a:endParaRPr dirty="0"/>
          </a:p>
          <a:p>
            <a:r>
              <a:rPr dirty="0"/>
              <a:t>Sources:</a:t>
            </a:r>
          </a:p>
          <a:p>
            <a:r>
              <a:rPr dirty="0"/>
              <a:t>- https://</a:t>
            </a:r>
            <a:r>
              <a:rPr dirty="0" err="1"/>
              <a:t>opentelemetry.io</a:t>
            </a:r>
            <a:r>
              <a:rPr dirty="0"/>
              <a:t>/docs/zero-code/obi/cilium-compatibility/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evidence: this capture used OBI v0.13.0. The default repository demo now uses v1.0.0 with Config v2. Use the upgrade guide for the current validation result.</a:t>
            </a:r>
          </a:p>
          <a:p>
            <a:endParaRPr/>
          </a:p>
          <a:p>
            <a:r>
              <a:t>Timing: about 2 minutes. Click the video to play. The clip plays at 1.5 times the previous speed and lasts about 20 seconds.</a:t>
            </a:r>
          </a:p>
          <a:p>
            <a:endParaRPr/>
          </a:p>
          <a:p>
            <a:r>
              <a:t>Start in Grafana: application and network metrics share one dashboard and time window. The final Hubble view adds individual flow records to the investigation.</a:t>
            </a:r>
          </a:p>
          <a:p>
            <a:endParaRPr/>
          </a:p>
          <a:p>
            <a:r>
              <a:t>00:00 to about 00:05.3: upper Grafana view. Point to OBI request rate, errors, and latency beside the network flow and verdict panels. These totals cover the selected workloads and time window.</a:t>
            </a:r>
          </a:p>
          <a:p>
            <a:endParaRPr/>
          </a:p>
          <a:p>
            <a:r>
              <a:t>About 00:05.3 to 00:13.3: lower Grafana view. Point to the service edges and the network metrics. The existing reading holds are shorter at this playback speed.</a:t>
            </a:r>
          </a:p>
          <a:p>
            <a:endParaRPr/>
          </a:p>
          <a:p>
            <a:r>
              <a:t>About 00:13.3 to 00:19.8: Hubble UI. Follow edge-nginx to recommendations-v2 and recommendations-v2 to recommendations-v1. Point to workload identity, direction, port, and the FORWARDED verdict.</a:t>
            </a:r>
          </a:p>
          <a:p>
            <a:endParaRPr/>
          </a:p>
          <a:p>
            <a:r>
              <a:t>Correlate the views by time window, namespace, source and destination workload, direction, and port. Grafana shows aggregated metrics. Hubble UI shows flow records. These fields provide investigative context and do not establish a unique flow-to-trace-ID join.</a:t>
            </a:r>
          </a:p>
          <a:p>
            <a:endParaRPr/>
          </a:p>
          <a:p>
            <a:r>
              <a:t>The acceleration changes presentation timing only. It preserves the recorded sequence and telemetry values.</a:t>
            </a:r>
          </a:p>
          <a:p>
            <a:endParaRPr/>
          </a:p>
          <a:p>
            <a:r>
              <a:t>Sources:</a:t>
            </a:r>
          </a:p>
          <a:p>
            <a:r>
              <a:t>- https://docs.cilium.io/en/stable/observability/hubble/</a:t>
            </a:r>
          </a:p>
          <a:p>
            <a:r>
              <a:t>- https://opentelemetry.io/docs/zero-code/obi/</a:t>
            </a:r>
          </a:p>
          <a:p>
            <a:r>
              <a:t>- https://github.com/ajimenez1503/cilium-obi-demo/blob/main/slides/recordings/presentation-edits.json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Fresh capture from the running local kind cluster on 26 September 2026. Start at the top: OBI reports request rate, 5xx rate, and server p95. Then move to the lower panels: the same time window contains OBI server requests, Hubble flows, Cilium forwarded packets, and flow verdicts. The dashboard aligns the signals by time and workload. It does not claim a one-to-one event match. Treat these values as live demo evidence, not benchmark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evidence: this capture used OBI v0.13.0. The default repository demo now uses v1.0.0 with Config v2. Use the upgrade guide for the current validation result.</a:t>
            </a:r>
          </a:p>
          <a:p>
            <a:endParaRPr/>
          </a:p>
          <a:p>
            <a:r>
              <a:t>Timing: 2 minutes</a:t>
            </a:r>
          </a:p>
          <a:p>
            <a:endParaRPr/>
          </a:p>
          <a:p>
            <a:r>
              <a:t>Historical Tempo capture from the running local kind cluster on 26 September 2026. The trace begins at edge-nginx, continues to recommendations-v2, and reaches recommendations-v1. Point out the normalized route, HTTP 200 result, three participating services, and the nested client and server spans. OBI generated this request path without application code changes. Compare it with Demo 2's Hubble view: Tempo explains request semantics and latency, while Hubble explains workload identity, direction, ports, and verdicts.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evidence: this capture used OBI v0.13.0. The default repository demo now uses v1.0.0 with Config v2. Use the upgrade guide for the current validation result.</a:t>
            </a:r>
          </a:p>
          <a:p>
            <a:endParaRPr/>
          </a:p>
          <a:p>
            <a:r>
              <a:t>Timing: about 3 minutes. The video on the left is terminal-only and lasts about 20 seconds.</a:t>
            </a:r>
          </a:p>
          <a:p>
            <a:endParaRPr/>
          </a:p>
          <a:p>
            <a:r>
              <a:t>The policy permits recommendations-v2 to call recommendations-v1 on TCP port 8081. It blocks direct calls from edge-nginx to v1. We send that direct request, and curl times out with HTTP 000.</a:t>
            </a:r>
          </a:p>
          <a:p>
            <a:endParaRPr/>
          </a:p>
          <a:p>
            <a:r>
              <a:t>At about 00:18, point to the Hubble output in the terminal. It names edge-nginx and recommendations-v1:8081, then says INGRESS DENIED and Policy denied DROPPED. That is the exact evidence of the policy decision. The clip ends on this terminal evidence and does not switch to Grafana.</a:t>
            </a:r>
          </a:p>
          <a:p>
            <a:endParaRPr/>
          </a:p>
          <a:p>
            <a:r>
              <a:t>The separate Grafana still on the right shows an aggregate drop spike from the original recording. Its Policy denied / DROPPED label was added for explanation and is marked Illustrative label. It is not a label captured from Grafana. Use the graph to show an increase in drops and the Hubble record to confirm the policy reason.</a:t>
            </a:r>
          </a:p>
          <a:p>
            <a:endParaRPr/>
          </a:p>
          <a:p>
            <a:r>
              <a:t>OBI is where we would inspect a caller timeout or upstream error, if the relevant span is available. This clip shows curl and Hubble, not a failed OBI span. A blocked request can fail before the destination creates a server span. The recording does not show policy removal or HTTP 200 recovery.</a:t>
            </a:r>
          </a:p>
          <a:p>
            <a:endParaRPr/>
          </a:p>
          <a:p>
            <a:r>
              <a:t>Sources:</a:t>
            </a:r>
          </a:p>
          <a:p>
            <a:r>
              <a:t>- https://github.com/ajimenez1503/cilium-obi-demo/blob/main/demo/policy-deny.yaml</a:t>
            </a:r>
          </a:p>
          <a:p>
            <a:r>
              <a:t>- https://github.com/ajimenez1503/cilium-obi-demo/blob/main/slides/recordings/demo-3-policy-denial.mp4</a:t>
            </a:r>
          </a:p>
          <a:p>
            <a:r>
              <a:t>- https://docs.cilium.io/en/stable/observability/metrics/#hubble-exported-metrics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 to 5 minutes, flexible. This is the optional live playground after the recorded demos. The four rows are clickable in Slide Show mode. All links use localhost on the presenting laptop.</a:t>
            </a:r>
          </a:p>
          <a:p>
            <a:endParaRPr/>
          </a:p>
          <a:p>
            <a:r>
              <a:t>Before presenting, verify the kind cluster and keep these port-forwards open in separate terminals:</a:t>
            </a:r>
          </a:p>
          <a:p>
            <a:r>
              <a:t>kubectl --context kind-obi-cilium-talk -n obi-nginx-example port-forward svc/edge-nginx 8080:8080</a:t>
            </a:r>
          </a:p>
          <a:p>
            <a:r>
              <a:t>kubectl --context kind-obi-cilium-talk -n obi-nginx-example port-forward svc/lgtm 3000:3000</a:t>
            </a:r>
          </a:p>
          <a:p>
            <a:r>
              <a:t>kubectl --context kind-obi-cilium-talk -n kube-system port-forward svc/hubble-ui 12000:80</a:t>
            </a:r>
          </a:p>
          <a:p>
            <a:r>
              <a:t>Import dashboards with ./demo/import-dashboards.sh after Grafana is reachable. Grafana credentials in the demo are admin / admin. Keep the traffic generator running, or run the one-shot nginx traffic generator from README.md against http://127.0.0.1:8080. Use the same recent time window across views.</a:t>
            </a:r>
          </a:p>
          <a:p>
            <a:endParaRPr/>
          </a:p>
          <a:p>
            <a:r>
              <a:t>Click Request metrics: http://localhost:3000/d/cilium-obi-app-network. Show OBI request rate, 5xx rate, and p95 latency beside Hubble flows, verdicts, and Cilium drops. Explain that these are aggregated Prometheus metrics, so the two panels share a time window and workload but do not represent one-to-one events.</a:t>
            </a:r>
          </a:p>
          <a:p>
            <a:endParaRPr/>
          </a:p>
          <a:p>
            <a:r>
              <a:t>Click Pipeline health: http://localhost:3000/d/cilium-obi-platform. Show Cilium forwarding and drops, CPU and memory, Hubble lost events by source, and Collector accepted, exported, refused, or failed telemetry. This view helps distinguish a healthy request path from a healthy telemetry pipeline. Do not use the old 36-versus-1,083 rehearsal counters as a comparison.</a:t>
            </a:r>
          </a:p>
          <a:p>
            <a:endParaRPr/>
          </a:p>
          <a:p>
            <a:r>
              <a:t>Click Tempo traces: http://localhost:3000/explore. Select the Tempo data source, search a recent trace for edge-nginx, and open one that reaches recommendations-v2 and recommendations-v1. Point out the route, status, nested client/server spans, and where latency accumulates. OBI supplies this application request view.</a:t>
            </a:r>
          </a:p>
          <a:p>
            <a:endParaRPr/>
          </a:p>
          <a:p>
            <a:r>
              <a:t>Click Hubble flows: http://localhost:12000/. Filter to namespace obi-nginx-example and the same time window. Follow edge-nginx to recommendations-v2 and recommendations-v2 to recommendations-v1. Inspect source and destination workload, port, and FORWARDED verdict. For a policy denial, show DROPPED and the policy reason. Hubble UI holds per-flow records; Grafana holds aggregated Hubble metrics. Correlate by time, workload, direction, and port rather than claiming a shared trace ID.</a:t>
            </a:r>
          </a:p>
          <a:p>
            <a:endParaRPr/>
          </a:p>
          <a:p>
            <a:r>
              <a:t>If a live view is unavailable, use the recorded demos and the following dashboard and Tempo screenshots. Avoid delaying the talk to repair the cluster on stage.</a:t>
            </a:r>
          </a:p>
          <a:p>
            <a:endParaRPr/>
          </a:p>
          <a:p>
            <a:r>
              <a:t>Sources:</a:t>
            </a:r>
          </a:p>
          <a:p>
            <a:r>
              <a:t>- /Users/antonjim/Documents/Playground/cilium-obi-demo/README.md</a:t>
            </a:r>
          </a:p>
          <a:p>
            <a:r>
              <a:t>- /Users/antonjim/Documents/Playground/cilium-obi-demo/demo/dashboards/application-network.json</a:t>
            </a:r>
          </a:p>
          <a:p>
            <a:r>
              <a:t>- /Users/antonjim/Documents/Playground/cilium-obi-demo/demo/dashboards/platform-pipeline.json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30 seconds</a:t>
            </a:r>
          </a:p>
          <a:p>
            <a:endParaRPr/>
          </a:p>
          <a:p>
            <a:r>
              <a:t>Section transition: Measure the combined 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Version scope: B and D were measured with OBI v0.13.0 in September 2026. These are historical scenarios. A, C, and E remain planned. The default demo now uses v1.0.0, which requires a new matched benchmark before claiming v1 performance.</a:t>
            </a:r>
          </a:p>
          <a:p>
            <a:endParaRPr dirty="0"/>
          </a:p>
          <a:p>
            <a:r>
              <a:rPr dirty="0"/>
              <a:t>Read each row as a complete setup. The first column names the scenario and whether we have measured it. The other columns show what Hubble and OBI collect. Cilium networking runs in all five scenarios.</a:t>
            </a:r>
          </a:p>
          <a:p>
            <a:endParaRPr dirty="0"/>
          </a:p>
          <a:p>
            <a:r>
              <a:rPr dirty="0"/>
              <a:t>A is the planned Cilium baseline. Hubble and OBI are off. B adds Hubble L3/L4 flows and keeps OBI off. C keeps Hubble flows and adds OBI application RED metrics, with traces and TCP propagation off.</a:t>
            </a:r>
          </a:p>
          <a:p>
            <a:endParaRPr dirty="0"/>
          </a:p>
          <a:p>
            <a:r>
              <a:rPr dirty="0"/>
              <a:t>D keeps Hubble flows and enables OBI RED metrics, traces, and TCP context propagation. E keeps these OBI features and adds selected Hubble L7 visibility through Envoy.</a:t>
            </a:r>
          </a:p>
          <a:p>
            <a:endParaRPr dirty="0"/>
          </a:p>
          <a:p>
            <a:r>
              <a:rPr dirty="0"/>
              <a:t>Only B and D have recorded measurements. A, C, and E remain planned. The planned E setup has no compatibility or overhead result in this deck.</a:t>
            </a:r>
          </a:p>
          <a:p>
            <a:endParaRPr dirty="0"/>
          </a:p>
          <a:p>
            <a:r>
              <a:rPr dirty="0"/>
              <a:t>RED means request rate, errors, and duration. These are application metrics. Optional OBI network-volume collection is a separate feature. The TCX backend was selected in configuration, while optional OBI TC network collection was off. Application context propagation uses socket hooks in these pinned versions.</a:t>
            </a:r>
          </a:p>
          <a:p>
            <a:endParaRPr dirty="0"/>
          </a:p>
          <a:p>
            <a:r>
              <a:rPr dirty="0"/>
              <a:t>Keep the cluster, request route, load, pod placement, and backend constant. Comparing B and D measures the addition of the configured OBI features together. It does not isolate the cost of TCX itself.</a:t>
            </a:r>
          </a:p>
          <a:p>
            <a:endParaRPr dirty="0"/>
          </a:p>
          <a:p>
            <a:r>
              <a:rPr dirty="0"/>
              <a:t>The next slide shows the local rehearsal results for B and D.</a:t>
            </a:r>
          </a:p>
          <a:p>
            <a:endParaRPr dirty="0"/>
          </a:p>
          <a:p>
            <a:r>
              <a:rPr dirty="0"/>
              <a:t>Sources:</a:t>
            </a:r>
          </a:p>
          <a:p>
            <a:r>
              <a:rPr dirty="0"/>
              <a:t>- https://</a:t>
            </a:r>
            <a:r>
              <a:rPr dirty="0" err="1"/>
              <a:t>github.com</a:t>
            </a:r>
            <a:r>
              <a:rPr dirty="0"/>
              <a:t>/ajimenez1503/cilium-obi-demo/blob/main/demo/obi-</a:t>
            </a:r>
            <a:r>
              <a:rPr dirty="0" err="1"/>
              <a:t>values.yaml</a:t>
            </a:r>
            <a:endParaRPr dirty="0"/>
          </a:p>
          <a:p>
            <a:r>
              <a:rPr dirty="0"/>
              <a:t>- https://</a:t>
            </a:r>
            <a:r>
              <a:rPr dirty="0" err="1"/>
              <a:t>github.com</a:t>
            </a:r>
            <a:r>
              <a:rPr dirty="0"/>
              <a:t>/ajimenez1503/cilium-obi-demo/blob/main/evidence/benchmark-2026-09-26/</a:t>
            </a:r>
            <a:r>
              <a:rPr dirty="0" err="1"/>
              <a:t>results.md</a:t>
            </a:r>
            <a:endParaRPr dirty="0"/>
          </a:p>
          <a:p>
            <a:r>
              <a:rPr dirty="0"/>
              <a:t>- https://</a:t>
            </a:r>
            <a:r>
              <a:rPr dirty="0" err="1"/>
              <a:t>docs.cilium.io</a:t>
            </a:r>
            <a:r>
              <a:rPr dirty="0"/>
              <a:t>/</a:t>
            </a:r>
            <a:r>
              <a:rPr dirty="0" err="1"/>
              <a:t>en</a:t>
            </a:r>
            <a:r>
              <a:rPr dirty="0"/>
              <a:t>/stable/operations/performance/benchmark/</a:t>
            </a:r>
          </a:p>
          <a:p>
            <a:endParaRPr dirty="0"/>
          </a:p>
          <a:p>
            <a:r>
              <a:rPr dirty="0"/>
              <a:t>Sources:</a:t>
            </a:r>
          </a:p>
          <a:p>
            <a:r>
              <a:rPr dirty="0"/>
              <a:t>- https://</a:t>
            </a:r>
            <a:r>
              <a:rPr dirty="0" err="1"/>
              <a:t>github.com</a:t>
            </a:r>
            <a:r>
              <a:rPr dirty="0"/>
              <a:t>/open-telemetry/</a:t>
            </a:r>
            <a:r>
              <a:rPr dirty="0" err="1"/>
              <a:t>opentelemetry</a:t>
            </a:r>
            <a:r>
              <a:rPr dirty="0"/>
              <a:t>-</a:t>
            </a:r>
            <a:r>
              <a:rPr dirty="0" err="1"/>
              <a:t>ebpf</a:t>
            </a:r>
            <a:r>
              <a:rPr dirty="0"/>
              <a:t>-instrumentation/blob/v1.0.0/pkg/</a:t>
            </a:r>
            <a:r>
              <a:rPr dirty="0" err="1"/>
              <a:t>appolly</a:t>
            </a:r>
            <a:r>
              <a:rPr dirty="0"/>
              <a:t>/discover/</a:t>
            </a:r>
            <a:r>
              <a:rPr dirty="0" err="1"/>
              <a:t>finder.go</a:t>
            </a:r>
            <a:endParaRPr dirty="0"/>
          </a:p>
          <a:p>
            <a:r>
              <a:rPr dirty="0"/>
              <a:t>- https://</a:t>
            </a:r>
            <a:r>
              <a:rPr dirty="0" err="1"/>
              <a:t>github.com</a:t>
            </a:r>
            <a:r>
              <a:rPr dirty="0"/>
              <a:t>/open-telemetry/</a:t>
            </a:r>
            <a:r>
              <a:rPr dirty="0" err="1"/>
              <a:t>opentelemetry</a:t>
            </a:r>
            <a:r>
              <a:rPr dirty="0"/>
              <a:t>-</a:t>
            </a:r>
            <a:r>
              <a:rPr dirty="0" err="1"/>
              <a:t>ebpf</a:t>
            </a:r>
            <a:r>
              <a:rPr dirty="0"/>
              <a:t>-instrumentation/blob/v1.0.0/pkg/internal/</a:t>
            </a:r>
            <a:r>
              <a:rPr dirty="0" err="1"/>
              <a:t>ebpf</a:t>
            </a:r>
            <a:r>
              <a:rPr dirty="0"/>
              <a:t>/</a:t>
            </a:r>
            <a:r>
              <a:rPr dirty="0" err="1"/>
              <a:t>tpinjector</a:t>
            </a:r>
            <a:r>
              <a:rPr dirty="0"/>
              <a:t>/</a:t>
            </a:r>
            <a:r>
              <a:rPr dirty="0" err="1"/>
              <a:t>tpinjector.go</a:t>
            </a:r>
            <a:endParaRPr dirty="0"/>
          </a:p>
          <a:p>
            <a:r>
              <a:rPr dirty="0"/>
              <a:t>- https://</a:t>
            </a:r>
            <a:r>
              <a:rPr dirty="0" err="1"/>
              <a:t>github.com</a:t>
            </a:r>
            <a:r>
              <a:rPr dirty="0"/>
              <a:t>/open-telemetry/</a:t>
            </a:r>
            <a:r>
              <a:rPr dirty="0" err="1"/>
              <a:t>opentelemetry</a:t>
            </a:r>
            <a:r>
              <a:rPr dirty="0"/>
              <a:t>-</a:t>
            </a:r>
            <a:r>
              <a:rPr dirty="0" err="1"/>
              <a:t>ebpf</a:t>
            </a:r>
            <a:r>
              <a:rPr dirty="0"/>
              <a:t>-instrumentation/blob/v1.0.0/pkg/internal/</a:t>
            </a:r>
            <a:r>
              <a:rPr dirty="0" err="1"/>
              <a:t>netolly</a:t>
            </a:r>
            <a:r>
              <a:rPr dirty="0"/>
              <a:t>/</a:t>
            </a:r>
            <a:r>
              <a:rPr dirty="0" err="1"/>
              <a:t>ebpf</a:t>
            </a:r>
            <a:r>
              <a:rPr dirty="0"/>
              <a:t>/</a:t>
            </a:r>
            <a:r>
              <a:rPr dirty="0" err="1"/>
              <a:t>tracer.go</a:t>
            </a:r>
            <a:endParaRPr dirty="0"/>
          </a:p>
          <a:p>
            <a:r>
              <a:rPr dirty="0"/>
              <a:t>- https://</a:t>
            </a:r>
            <a:r>
              <a:rPr dirty="0" err="1"/>
              <a:t>github.com</a:t>
            </a:r>
            <a:r>
              <a:rPr dirty="0"/>
              <a:t>/open-telemetry/</a:t>
            </a:r>
            <a:r>
              <a:rPr dirty="0" err="1"/>
              <a:t>opentelemetry</a:t>
            </a:r>
            <a:r>
              <a:rPr dirty="0"/>
              <a:t>-</a:t>
            </a:r>
            <a:r>
              <a:rPr dirty="0" err="1"/>
              <a:t>ebpf</a:t>
            </a:r>
            <a:r>
              <a:rPr dirty="0"/>
              <a:t>-instrumentation/blob/v1.0.0/pkg/obi/</a:t>
            </a:r>
            <a:r>
              <a:rPr dirty="0" err="1"/>
              <a:t>config.go</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 scope: these measurements used OBI v0.13.0. Numerical results are retained unchanged and are not OBI v1.0.0 measurements. D enabled OBI application telemetry and context propagation. A configured TCX backend does not establish an OBI TCX attachment; optional TC network collection was disabled.</a:t>
            </a:r>
          </a:p>
          <a:p>
            <a:endParaRPr/>
          </a:p>
          <a:p>
            <a:r>
              <a:t>Timing: 3 minutes</a:t>
            </a:r>
          </a:p>
          <a:p>
            <a:endParaRPr/>
          </a:p>
          <a:p>
            <a:r>
              <a:t>Click once after introducing B and D. A magenta outline and caption appear together around the +2 ms p95 change. The increase from 1,018 ms to 1,020 ms is about 0.2%. Describe it as minimal in this local rehearsal. This observation does not prove that OBI caused the difference, that it is statistically significant, or that the same result will hold in production. CPU and memory were added separately, as shown in the table.</a:t>
            </a:r>
          </a:p>
          <a:p>
            <a:endParaRPr/>
          </a:p>
          <a:p>
            <a:r>
              <a:t>These are local kind rehearsal observations for B (Cilium and Hubble, OBI off) and D (Cilium and Hubble plus OBI application telemetry). They are not production capacity results. Conditions A, C, and E remain unmeasured.</a:t>
            </a:r>
          </a:p>
          <a:p>
            <a:endParaRPr/>
          </a:p>
          <a:p>
            <a:r>
              <a:t>Both conditions used the same three-node cluster and route. Background demo traffic was paused. Each condition had a 40-request warm-up and five samples of 200 requests at concurrency 20 through kubectl port-forward. B ran before D, so time-order effects remain possible. Throughput median: B 19.77 req/s; D 19.73 req/s. p95 median: B 1,018 ms; D 1,020 ms. There were zero failed requests across 1,000 requests in each condition. OBI used a median 0.0128 CPU cores and 253.2 MiB working set across two pods. The Collector accepted and exported 7,210 spans during D. These numbers describe this single rehearsal only.</a:t>
            </a:r>
          </a:p>
          <a:p>
            <a:endParaRPr/>
          </a:p>
          <a:p>
            <a:r>
              <a:t>Important correction: do not compare or quote the old Hubble loss counters of 36 and 1,083 as a B-versus-D result. D's final Hubble counter was read after an additional 65-second wait. B's was read immediately. The windows are unequal. The old script also summed across nodes and loss sources, which hides whether the perf-event ring buffer, observer queue, or Hubble ring buffer dropped events. The old counters cannot establish that OBI caused an increase or that a loss gate failed.</a:t>
            </a:r>
          </a:p>
          <a:p>
            <a:endParaRPr/>
          </a:p>
          <a:p>
            <a:r>
              <a:t>The updated benchmark reads Hubble counters immediately after the final request in each run, waits separately for Collector and Prometheus span counters, records the workload-window duration, and retains node and source labels. It reports losses per second and per processed flow and alternates B, D, B, D. Those corrected results are not yet available. Until the rerun, describe Hubble loss as unverified.</a:t>
            </a:r>
          </a:p>
          <a:p>
            <a:endParaRPr/>
          </a:p>
          <a:p>
            <a:r>
              <a:t>Sources:</a:t>
            </a:r>
          </a:p>
          <a:p>
            <a:r>
              <a:t>- /Users/antonjim/Documents/Playground/cilium-obi-demo/evidence/benchmark-2026-09-26/results.md</a:t>
            </a:r>
          </a:p>
          <a:p>
            <a:r>
              <a:t>- https://docs.cilium.io/en/latest/observability/metrics/#lost-events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2 minutes</a:t>
            </a:r>
          </a:p>
          <a:p>
            <a:endParaRPr/>
          </a:p>
          <a:p>
            <a:r>
              <a:t>Why this slide is here: the previous slide reports one local rehearsal. Similar request throughput and latency do not yet tell us whether we can afford to enable OBI across the cluster. This slide lists the other checks needed for that rollout decision.</a:t>
            </a:r>
          </a:p>
          <a:p>
            <a:endParaRPr/>
          </a:p>
          <a:p>
            <a:r>
              <a:t>CPU: measure the extra CPU used by applications, Cilium, Hubble, OBI, and the Collector, as well as the whole node. Memory: count agent memory and the memory used by BPF programs and maps in the kernel.</a:t>
            </a:r>
          </a:p>
          <a:p>
            <a:endParaRPr/>
          </a:p>
          <a:p>
            <a:r>
              <a:t>Missing data: check for lost Hubble events, refused spans, exporter failures, and dropped telemetry. Here, loss means missing monitoring records. A packet deliberately denied by network policy is a separate traffic outcome.</a:t>
            </a:r>
          </a:p>
          <a:p>
            <a:endParaRPr/>
          </a:p>
          <a:p>
            <a:r>
              <a:t>Data volume: count spans, metric samples, flow records, and active metric series. More data creates processing and storage costs even when application latency barely changes.</a:t>
            </a:r>
          </a:p>
          <a:p>
            <a:endParaRPr/>
          </a:p>
          <a:p>
            <a:r>
              <a:t>Choose acceptable limits for your own environment before expanding. Compare the same workload with OBI off and on. In our rehearsal, the Hubble-loss comparison still needs a valid run with matching time windows.</a:t>
            </a:r>
          </a:p>
          <a:p>
            <a:endParaRPr/>
          </a:p>
          <a:p>
            <a:r>
              <a:t>Transition: the next section turns these checks into a gradual production rollout.</a:t>
            </a:r>
          </a:p>
          <a:p>
            <a:endParaRPr/>
          </a:p>
          <a:p>
            <a:r>
              <a:t>Sources:</a:t>
            </a:r>
          </a:p>
          <a:p>
            <a:r>
              <a:t>- https://opentelemetry.io/docs/collector/internal-telemetry/</a:t>
            </a:r>
          </a:p>
          <a:p>
            <a:r>
              <a:t>- https://docs.cilium.io/en/stable/observability/metrics/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30 seconds</a:t>
            </a:r>
          </a:p>
          <a:p>
            <a:endParaRPr/>
          </a:p>
          <a:p>
            <a:r>
              <a:t>Section transition: Production rollout.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2 minutes</a:t>
            </a:r>
          </a:p>
          <a:p>
            <a:endParaRPr/>
          </a:p>
          <a:p>
            <a:r>
              <a:t>The idea is to try OBI on a few nodes, check the result, and then expand.</a:t>
            </a:r>
          </a:p>
          <a:p>
            <a:endParaRPr/>
          </a:p>
          <a:p>
            <a:r>
              <a:t>1. Start small. Enable OBI on a few selected nodes first. Before starting, confirm the node requirements, permissions, and attachment settings covered earlier.</a:t>
            </a:r>
          </a:p>
          <a:p>
            <a:endParaRPr/>
          </a:p>
          <a:p>
            <a:r>
              <a:t>2. Check the results. Confirm that normal requests still work and policy still blocks the requests it should block. Check that OBI and Hubble provide the expected telemetry. Compare CPU, memory, missing telemetry, and data volume with the baseline.</a:t>
            </a:r>
          </a:p>
          <a:p>
            <a:endParaRPr/>
          </a:p>
          <a:p>
            <a:r>
              <a:t>3. Expand gradually. If the checks pass, add more nodes and repeat them. If a check fails, stop expanding and restore the previous setup.</a:t>
            </a:r>
          </a:p>
          <a:p>
            <a:endParaRPr/>
          </a:p>
          <a:p>
            <a:r>
              <a:t>Transition: the next slide summarizes the three rules for running both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 minute</a:t>
            </a:r>
          </a:p>
          <a:p>
            <a:endParaRPr/>
          </a:p>
          <a:p>
            <a:r>
              <a:t>Close by answering the three questions from the opening: does traffic still behave correctly, do we have the evidence we need, and what does the extra telemetry cost?</a:t>
            </a:r>
          </a:p>
          <a:p>
            <a:endParaRPr/>
          </a:p>
          <a:p>
            <a:r>
              <a:t>1. Verify traffic and order. Send an allowed request and a request that policy should deny. Check that both outcomes are correct. Inspect the actual attachments on the node. Use TCX when the node and both agents support it; otherwise configure and verify the legacy priorities.</a:t>
            </a:r>
          </a:p>
          <a:p>
            <a:endParaRPr/>
          </a:p>
          <a:p>
            <a:r>
              <a:t>The former heading Prefer TCX meant use the newer attachment API where supported. TC provides the ingress and egress packet checkpoints. TCX lets agents ask for a position in an ordered list at those same checkpoints. In this setup, OBI asks for the head and Cilium for the tail. Legacy TC uses numeric priorities instead: lower numbers run earlier.</a:t>
            </a:r>
          </a:p>
          <a:p>
            <a:endParaRPr/>
          </a:p>
          <a:p>
            <a:r>
              <a:t>2. Correlate the signals. Use OBI for the application request and Hubble for network and policy evidence. Match a bounded time window, source and destination workloads, direction, and port. These fields provide investigative context; they do not create a unique trace-ID join by themselves.</a:t>
            </a:r>
          </a:p>
          <a:p>
            <a:endParaRPr/>
          </a:p>
          <a:p>
            <a:r>
              <a:t>3. Measure before rollout. Compare CPU, memory, missing telemetry, and exported data volume with the baseline. Expand when those checks meet the limits chosen for the environment.</a:t>
            </a:r>
          </a:p>
          <a:p>
            <a:endParaRPr/>
          </a:p>
          <a:p>
            <a:r>
              <a:t>Source:</a:t>
            </a:r>
          </a:p>
          <a:p>
            <a:r>
              <a:t>- https://opentelemetry.io/docs/zero-code/obi/cilium-compatibility/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5 minutes</a:t>
            </a:r>
          </a:p>
          <a:p>
            <a:endParaRPr/>
          </a:p>
          <a:p>
            <a:r>
              <a:t>Keep the demo repository visible during questions so attendees can find the setup, dashboards, benchmark evidence, and latest deck.</a:t>
            </a:r>
          </a:p>
          <a:p>
            <a:endParaRPr/>
          </a:p>
          <a:p>
            <a:r>
              <a:t>Sources:</a:t>
            </a:r>
          </a:p>
          <a:p>
            <a:r>
              <a:t>- https://github.com/ajimenez1503/cilium-obi-demo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End</a:t>
            </a:r>
          </a:p>
          <a:p>
            <a:endParaRPr/>
          </a:p>
          <a:p>
            <a:r>
              <a:t>Finish on the required Cisco closing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Optional</a:t>
            </a:r>
          </a:p>
          <a:p>
            <a:endParaRPr/>
          </a:p>
          <a:p>
            <a:r>
              <a:t>Section transition: Appendix.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fragments match the default demo/obi-values.yaml and demo/cilium-values.yaml. The chart is 0.15.2, and its image is explicitly overridden to v1.0.0. In Config v2, the engine fragment is under config.data.extensions.obi.capture. The full file has file_format: "1.0" for the declarative SDK envelope and extensions.obi.version: "2.0" for the OBI configuration.</a:t>
            </a:r>
          </a:p>
          <a:p>
            <a:endParaRPr/>
          </a:p>
          <a:p>
            <a:r>
              <a:t>The chart-level contextPropagation.enabled setting supplies the deployment privileges. It does not replace the Config v2 propagation and traffic backend settings shown here. The demo exports both signals using OTLP/gRPC to lgtm:4317. Optional OBI network collection remains disabled.</a:t>
            </a:r>
          </a:p>
          <a:p>
            <a:endParaRPr/>
          </a:p>
          <a:p>
            <a:r>
              <a:t>Keep the recorded legacy experiment on its separate v0.13.0 image and chart 0.14.0. It demonstrates the behavior of that pinned historical configuration.</a:t>
            </a:r>
          </a:p>
          <a:p>
            <a:endParaRPr/>
          </a:p>
          <a:p>
            <a:r>
              <a:t>Sources:</a:t>
            </a:r>
          </a:p>
          <a:p>
            <a:r>
              <a:t>- https://github.com/ajimenez1503/cilium-obi-demo/blob/main/demo/obi-values.yaml</a:t>
            </a:r>
          </a:p>
          <a:p>
            <a:r>
              <a:t>- https://github.com/ajimenez1503/cilium-obi-demo/blob/main/docs/obi-v1-upgrade.md</a:t>
            </a:r>
          </a:p>
          <a:p>
            <a:r>
              <a:t>- https://github.com/open-telemetry/opentelemetry-ebpf-instrumentation/blob/v1.0.0/devdocs/config/version-2.0/config-v2.md</a:t>
            </a:r>
          </a:p>
          <a:p>
            <a:endParaRPr/>
          </a:p>
          <a:p>
            <a:r>
              <a:t>In this application-only smoke test, Cilium used TCX and OBI used socket hooks. The control_backend setting applies if an OBI TC collector is activated. It does not activate that collector. This socket-based propagation behavior also existed in v0.13.0.</a:t>
            </a:r>
          </a:p>
          <a:p>
            <a:endParaRPr/>
          </a:p>
          <a:p>
            <a:r>
              <a:t>Sources:</a:t>
            </a:r>
          </a:p>
          <a:p>
            <a:r>
              <a:t>- https://github.com/open-telemetry/opentelemetry-ebpf-instrumentation/blob/v1.0.0/pkg/appolly/discover/finder.go</a:t>
            </a:r>
          </a:p>
          <a:p>
            <a:r>
              <a:t>- https://github.com/open-telemetry/opentelemetry-ebpf-instrumentation/blob/v1.0.0/pkg/internal/ebpf/tpinjector/tpinjector.go</a:t>
            </a:r>
          </a:p>
          <a:p>
            <a:r>
              <a:t>- https://github.com/open-telemetry/opentelemetry-ebpf-instrumentation/blob/v1.0.0/pkg/internal/netolly/ebpf/tracer.go</a:t>
            </a:r>
          </a:p>
          <a:p>
            <a:r>
              <a:t>- https://github.com/open-telemetry/opentelemetry-ebpf-instrumentation/blob/v1.0.0/pkg/obi/config.go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Appendix</a:t>
            </a:r>
          </a:p>
          <a:p>
            <a:endParaRPr/>
          </a:p>
          <a:p>
            <a:r>
              <a:t>Use demo/cilium-values-legacy-recording.yaml plus demo/cilium-values-legacy-safe.yaml for the safe side, and demo/obi-values-legacy-recording.yaml in both runs. The OBI guard in v0.13.0 is triggered here because optional network flow collection uses network.source: tc. The visible configuration is abbreviated; use the repository files, not the slide, for the complete values. Build each variant on a fresh cluster because stale filters can break connectivity. Inspect tc filter show on the actual node.</a:t>
            </a:r>
          </a:p>
          <a:p>
            <a:endParaRPr/>
          </a:p>
          <a:p>
            <a:r>
              <a:t>Sources:</a:t>
            </a:r>
          </a:p>
          <a:p>
            <a:r>
              <a:t>- https://opentelemetry.io/docs/zero-code/obi/cilium-compatibility/</a:t>
            </a:r>
          </a:p>
          <a:p>
            <a:r>
              <a:t>- https://github.com/ajimenez1503/cilium-obi-demo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Appendix</a:t>
            </a:r>
          </a:p>
          <a:p>
            <a:endParaRPr/>
          </a:p>
          <a:p>
            <a:r>
              <a:t>Run these read-only checks before the talk. Save clean output for the backup recording.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Appendix</a:t>
            </a:r>
          </a:p>
          <a:p>
            <a:endParaRPr/>
          </a:p>
          <a:p>
            <a:r>
              <a:t>Use this slide to handle operational questions without turning the main talk into a troubleshooting checklist. Detailed failure modes are in research.md.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871345"/>
            <a:ext cx="5048063" cy="1555148"/>
          </a:xfrm>
        </p:spPr>
        <p:txBody>
          <a:bodyPr anchor="b"/>
          <a:lstStyle>
            <a:lvl1pPr>
              <a:buNone/>
              <a:defRPr sz="3600"/>
            </a:lvl1pPr>
          </a:lstStyle>
          <a:p>
            <a:r>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idx="13" hasCustomPrompt="1"/>
          </p:nvPr>
        </p:nvSpPr>
        <p:spPr>
          <a:xfrm>
            <a:off x="323850" y="3512820"/>
            <a:ext cx="5048063" cy="228600"/>
          </a:xfrm>
          <a:prstGeom prst="rect">
            <a:avLst/>
          </a:prstGeom>
          <a:noFill/>
        </p:spPr>
        <p:txBody>
          <a:bodyPr/>
          <a:lstStyle>
            <a:lvl1pPr marL="0" indent="0">
              <a:buNone/>
              <a:defRPr sz="1600" b="0"/>
            </a:lvl1pPr>
          </a:lstStyle>
          <a:p>
            <a:pPr lvl="0">
              <a:buNone/>
            </a:pPr>
            <a:r>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idx="16" hasCustomPrompt="1"/>
          </p:nvPr>
        </p:nvSpPr>
        <p:spPr>
          <a:xfrm>
            <a:off x="323851" y="4061400"/>
            <a:ext cx="5048090" cy="457200"/>
          </a:xfrm>
        </p:spPr>
        <p:txBody>
          <a:bodyPr anchor="t"/>
          <a:lstStyle>
            <a:lvl1pPr marL="0" indent="0">
              <a:spcBef>
                <a:spcPts val="0"/>
              </a:spcBef>
              <a:spcAft>
                <a:spcPts val="0"/>
              </a:spcAft>
              <a:buNone/>
              <a:defRPr sz="1400" kern="1200">
                <a:solidFill>
                  <a:schemeClr val="bg1"/>
                </a:solidFill>
                <a:latin typeface="+mn-lt"/>
                <a:ea typeface="+mn-lt"/>
                <a:cs typeface="+mn-lt"/>
              </a:defRPr>
            </a:lvl1pPr>
          </a:lstStyle>
          <a:p>
            <a:pPr marL="182880" lvl="0" indent="-182880" algn="l" defTabSz="912276">
              <a:lnSpc>
                <a:spcPct val="100000"/>
              </a:lnSpc>
              <a:spcBef>
                <a:spcPts val="0"/>
              </a:spcBef>
              <a:spcAft>
                <a:spcPts val="0"/>
              </a:spcAft>
              <a:buClr>
                <a:schemeClr val="bg1"/>
              </a:buClr>
              <a:buSzPct val="100000"/>
              <a:buNone/>
            </a:pPr>
            <a:r>
              <a:t>Speaker Name</a:t>
            </a:r>
          </a:p>
          <a:p>
            <a:pPr marL="182880" lvl="0" indent="-182880" algn="l" defTabSz="912276">
              <a:lnSpc>
                <a:spcPct val="100000"/>
              </a:lnSpc>
              <a:spcBef>
                <a:spcPts val="0"/>
              </a:spcBef>
              <a:spcAft>
                <a:spcPts val="0"/>
              </a:spcAft>
              <a:buClr>
                <a:schemeClr val="bg1"/>
              </a:buClr>
              <a:buSzPct val="100000"/>
              <a:buNone/>
            </a:pPr>
            <a:r>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idx="14" hasCustomPrompt="1"/>
          </p:nvPr>
        </p:nvSpPr>
        <p:spPr>
          <a:xfrm>
            <a:off x="323850" y="4676458"/>
            <a:ext cx="5047270" cy="459455"/>
          </a:xfrm>
          <a:prstGeom prst="rect">
            <a:avLst/>
          </a:prstGeom>
          <a:noFill/>
        </p:spPr>
        <p:txBody>
          <a:bodyPr anchor="t"/>
          <a:lstStyle>
            <a:lvl1pPr marL="0" indent="0">
              <a:spcAft>
                <a:spcPts val="0"/>
              </a:spcAft>
              <a:buNone/>
              <a:defRPr sz="1400"/>
            </a:lvl1pPr>
          </a:lstStyle>
          <a:p>
            <a:pPr lvl="0">
              <a:buNone/>
            </a:pPr>
            <a:r>
              <a:t>Speaker Name</a:t>
            </a:r>
          </a:p>
          <a:p>
            <a:pPr lvl="0">
              <a:buNone/>
            </a:pPr>
            <a:r>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idx="12" hasCustomPrompt="1"/>
          </p:nvPr>
        </p:nvSpPr>
        <p:spPr>
          <a:xfrm>
            <a:off x="324643" y="6360518"/>
            <a:ext cx="3906838" cy="497482"/>
          </a:xfrm>
          <a:prstGeom prst="rect">
            <a:avLst/>
          </a:prstGeom>
          <a:noFill/>
        </p:spPr>
        <p:txBody>
          <a:bodyPr/>
          <a:lstStyle>
            <a:lvl1pPr marL="0" indent="0" algn="l">
              <a:buNone/>
              <a:defRPr sz="1400">
                <a:solidFill>
                  <a:schemeClr val="bg2"/>
                </a:solidFill>
              </a:defRPr>
            </a:lvl1pPr>
          </a:lstStyle>
          <a:p>
            <a:pPr lvl="0">
              <a:buNone/>
            </a:pPr>
            <a:r>
              <a:t>Date</a:t>
            </a:r>
          </a:p>
        </p:txBody>
      </p:sp>
      <p:sp>
        <p:nvSpPr>
          <p:cNvPr id="23" name="Graphic 21">
            <a:extLst>
              <a:ext uri="{FF2B5EF4-FFF2-40B4-BE49-F238E27FC236}">
                <a16:creationId xmlns:a16="http://schemas.microsoft.com/office/drawing/2014/main" id="{0B51E088-9CCC-0F69-112A-CEC9A65FADC5}"/>
              </a:ext>
            </a:extLst>
          </p:cNvPr>
          <p:cNvSpPr>
            <a:spLocks noGrp="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a:gradFill rotWithShape="1">
              <a:gsLst>
                <a:gs pos="0">
                  <a:srgbClr val="3070E5"/>
                </a:gs>
                <a:gs pos="35000">
                  <a:srgbClr val="1ABBE9"/>
                </a:gs>
                <a:gs pos="43000">
                  <a:srgbClr val="1ABBE9"/>
                </a:gs>
                <a:gs pos="60000">
                  <a:srgbClr val="FD017F"/>
                </a:gs>
                <a:gs pos="100000">
                  <a:srgbClr val="FCA601"/>
                </a:gs>
              </a:gsLst>
              <a:lin ang="0" scaled="1"/>
              <a:tileRect/>
            </a:gradFill>
            <a:prstDash val="solid"/>
          </a:ln>
        </p:spPr>
        <p:txBody>
          <a:bodyPr anchor="ctr"/>
          <a:lstStyle/>
          <a:p>
            <a:endParaRPr/>
          </a:p>
        </p:txBody>
      </p:sp>
      <p:pic>
        <p:nvPicPr>
          <p:cNvPr id="31" name="Picture 7"/>
          <p:cNvPicPr>
            <a:picLocks noChangeAspect="1"/>
          </p:cNvPicPr>
          <p:nvPr/>
        </p:nvPicPr>
        <p:blipFill>
          <a:blip>
            <a:extLst>
              <a:ext uri="{96DAC541-7B7A-43D3-8B79-37D633B846F1}">
                <asvg:svgBlip xmlns:asvg="http://schemas.microsoft.com/office/drawing/2016/SVG/main" r:embed="rId2"/>
              </a:ext>
            </a:extLst>
          </a:blip>
          <a:srcRect/>
          <a:stretch/>
        </p:blipFill>
        <p:spPr>
          <a:xfrm>
            <a:off x="8281171" y="3181936"/>
            <a:ext cx="955675" cy="50213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Two Speaker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Lst>
          </p:cNvPr>
          <p:cNvSpPr>
            <a:spLocks noGrp="1"/>
          </p:cNvSpPr>
          <p:nvPr/>
        </p:nvSpPr>
        <p:spPr>
          <a:xfrm>
            <a:off x="0" y="1260471"/>
            <a:ext cx="10888663" cy="4351342"/>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anchor="ctr"/>
          <a:lstStyle/>
          <a:p>
            <a:pPr algn="ctr">
              <a:buNone/>
            </a:pPr>
            <a:endParaRPr sz="1600">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lstStyle>
            <a:lvl1pPr>
              <a:buNone/>
              <a:defRPr sz="3600"/>
            </a:lvl1pPr>
          </a:lstStyle>
          <a:p>
            <a:r>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idx="13" hasCustomPrompt="1"/>
          </p:nvPr>
        </p:nvSpPr>
        <p:spPr>
          <a:xfrm>
            <a:off x="323850" y="3827463"/>
            <a:ext cx="6656388" cy="223837"/>
          </a:xfrm>
          <a:prstGeom prst="rect">
            <a:avLst/>
          </a:prstGeom>
          <a:noFill/>
        </p:spPr>
        <p:txBody>
          <a:bodyPr/>
          <a:lstStyle>
            <a:lvl1pPr marL="0" indent="0">
              <a:buNone/>
              <a:defRPr sz="1600" b="0" kern="1200">
                <a:solidFill>
                  <a:schemeClr val="bg1"/>
                </a:solidFill>
                <a:latin typeface="+mn-lt"/>
                <a:ea typeface="+mn-lt"/>
                <a:cs typeface="+mn-lt"/>
              </a:defRPr>
            </a:lvl1pPr>
          </a:lstStyle>
          <a:p>
            <a:pPr marL="0" lvl="0" indent="0" algn="l" defTabSz="912276">
              <a:lnSpc>
                <a:spcPct val="100000"/>
              </a:lnSpc>
              <a:spcBef>
                <a:spcPts val="0"/>
              </a:spcBef>
              <a:spcAft>
                <a:spcPts val="1000"/>
              </a:spcAft>
              <a:buClr>
                <a:schemeClr val="bg1"/>
              </a:buClr>
              <a:buSzPct val="100000"/>
              <a:buFont typeface="Arial"/>
              <a:buNone/>
            </a:pPr>
            <a:r>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idx="11" hasCustomPrompt="1"/>
          </p:nvPr>
        </p:nvSpPr>
        <p:spPr>
          <a:xfrm>
            <a:off x="323850" y="4360866"/>
            <a:ext cx="3725863" cy="457200"/>
          </a:xfrm>
          <a:prstGeom prst="rect">
            <a:avLst/>
          </a:prstGeom>
          <a:noFill/>
        </p:spPr>
        <p:txBody>
          <a:bodyPr/>
          <a:lstStyle>
            <a:lvl1pPr marL="0" indent="0">
              <a:spcAft>
                <a:spcPts val="0"/>
              </a:spcAft>
              <a:buNone/>
              <a:defRPr sz="1400"/>
            </a:lvl1pPr>
          </a:lstStyle>
          <a:p>
            <a:pPr lvl="0">
              <a:buNone/>
            </a:pPr>
            <a:r>
              <a:t>Speaker Name</a:t>
            </a:r>
          </a:p>
          <a:p>
            <a:pPr lvl="0">
              <a:buNone/>
            </a:pPr>
            <a:r>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idx="14" hasCustomPrompt="1"/>
          </p:nvPr>
        </p:nvSpPr>
        <p:spPr>
          <a:xfrm>
            <a:off x="4230687" y="4360866"/>
            <a:ext cx="3727451" cy="457200"/>
          </a:xfrm>
        </p:spPr>
        <p:txBody>
          <a:bodyPr/>
          <a:lstStyle>
            <a:lvl1pPr marL="0" indent="0">
              <a:spcAft>
                <a:spcPts val="0"/>
              </a:spcAft>
              <a:buNone/>
              <a:defRPr sz="1400" kern="1200">
                <a:solidFill>
                  <a:schemeClr val="bg1"/>
                </a:solidFill>
                <a:latin typeface="+mn-lt"/>
                <a:ea typeface="+mn-lt"/>
                <a:cs typeface="+mn-lt"/>
              </a:defRPr>
            </a:lvl1pPr>
            <a:lvl2pPr>
              <a:buNone/>
              <a:defRPr/>
            </a:lvl2pPr>
            <a:lvl3pPr>
              <a:buNone/>
              <a:defRPr/>
            </a:lvl3pPr>
            <a:lvl4pPr>
              <a:buNone/>
              <a:defRPr/>
            </a:lvl4pPr>
            <a:lvl5pPr>
              <a:buNone/>
              <a:defRPr/>
            </a:lvl5pPr>
          </a:lstStyle>
          <a:p>
            <a:pPr lvl="0">
              <a:buNone/>
            </a:pPr>
            <a:r>
              <a:t>Speaker Name</a:t>
            </a:r>
          </a:p>
          <a:p>
            <a:pPr lvl="0">
              <a:buNone/>
            </a:pPr>
            <a:r>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idx="12" hasCustomPrompt="1"/>
          </p:nvPr>
        </p:nvSpPr>
        <p:spPr>
          <a:xfrm>
            <a:off x="323850" y="6364224"/>
            <a:ext cx="3906838" cy="493776"/>
          </a:xfrm>
          <a:prstGeom prst="rect">
            <a:avLst/>
          </a:prstGeom>
          <a:noFill/>
        </p:spPr>
        <p:txBody>
          <a:bodyPr/>
          <a:lstStyle>
            <a:lvl1pPr marL="0" indent="0">
              <a:buNone/>
              <a:defRPr sz="1400">
                <a:solidFill>
                  <a:schemeClr val="bg2"/>
                </a:solidFill>
              </a:defRPr>
            </a:lvl1pPr>
          </a:lstStyle>
          <a:p>
            <a:pPr lvl="0">
              <a:buNone/>
            </a:pPr>
            <a:r>
              <a:t>Date</a:t>
            </a:r>
          </a:p>
        </p:txBody>
      </p:sp>
      <p:pic>
        <p:nvPicPr>
          <p:cNvPr id="19" name="Picture 7"/>
          <p:cNvPicPr>
            <a:picLocks noChangeAspect="1"/>
          </p:cNvPicPr>
          <p:nvPr/>
        </p:nvPicPr>
        <p:blipFill>
          <a:blip>
            <a:extLs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1,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244600"/>
            <a:ext cx="5048063" cy="1555148"/>
          </a:xfrm>
        </p:spPr>
        <p:txBody>
          <a:bodyPr anchor="b"/>
          <a:lstStyle>
            <a:lvl1pPr>
              <a:buNone/>
              <a:defRPr sz="3600"/>
            </a:lvl1pPr>
          </a:lstStyle>
          <a:p>
            <a:r>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idx="13" hasCustomPrompt="1"/>
          </p:nvPr>
        </p:nvSpPr>
        <p:spPr>
          <a:xfrm>
            <a:off x="323850" y="2886075"/>
            <a:ext cx="5048063" cy="228600"/>
          </a:xfrm>
          <a:prstGeom prst="rect">
            <a:avLst/>
          </a:prstGeom>
          <a:noFill/>
        </p:spPr>
        <p:txBody>
          <a:bodyPr/>
          <a:lstStyle>
            <a:lvl1pPr marL="0" indent="0">
              <a:buNone/>
              <a:defRPr sz="1600" b="0"/>
            </a:lvl1pPr>
          </a:lstStyle>
          <a:p>
            <a:pPr lvl="0">
              <a:buNone/>
            </a:pPr>
            <a:r>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idx="16" hasCustomPrompt="1"/>
          </p:nvPr>
        </p:nvSpPr>
        <p:spPr>
          <a:xfrm>
            <a:off x="323851" y="3428789"/>
            <a:ext cx="5048090" cy="457200"/>
          </a:xfrm>
        </p:spPr>
        <p:txBody>
          <a:bodyPr anchor="b"/>
          <a:lstStyle>
            <a:lvl1pPr marL="0" indent="0">
              <a:spcBef>
                <a:spcPts val="0"/>
              </a:spcBef>
              <a:spcAft>
                <a:spcPts val="0"/>
              </a:spcAft>
              <a:buNone/>
              <a:defRPr sz="1400" kern="1200">
                <a:solidFill>
                  <a:schemeClr val="bg1"/>
                </a:solidFill>
                <a:latin typeface="+mn-lt"/>
                <a:ea typeface="+mn-lt"/>
                <a:cs typeface="+mn-lt"/>
              </a:defRPr>
            </a:lvl1pPr>
          </a:lstStyle>
          <a:p>
            <a:pPr marL="182880" lvl="0" indent="-182880" algn="l" defTabSz="912276">
              <a:lnSpc>
                <a:spcPct val="100000"/>
              </a:lnSpc>
              <a:spcBef>
                <a:spcPts val="0"/>
              </a:spcBef>
              <a:spcAft>
                <a:spcPts val="0"/>
              </a:spcAft>
              <a:buClr>
                <a:schemeClr val="bg1"/>
              </a:buClr>
              <a:buSzPct val="100000"/>
              <a:buNone/>
            </a:pPr>
            <a:r>
              <a:t>Speaker Name</a:t>
            </a:r>
          </a:p>
          <a:p>
            <a:pPr marL="182880" lvl="0" indent="-182880" algn="l" defTabSz="912276">
              <a:lnSpc>
                <a:spcPct val="100000"/>
              </a:lnSpc>
              <a:spcBef>
                <a:spcPts val="0"/>
              </a:spcBef>
              <a:spcAft>
                <a:spcPts val="0"/>
              </a:spcAft>
              <a:buClr>
                <a:schemeClr val="bg1"/>
              </a:buClr>
              <a:buSzPct val="100000"/>
              <a:buNone/>
            </a:pPr>
            <a:r>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idx="14" hasCustomPrompt="1"/>
          </p:nvPr>
        </p:nvSpPr>
        <p:spPr>
          <a:xfrm>
            <a:off x="323850" y="4051300"/>
            <a:ext cx="5047270" cy="459455"/>
          </a:xfrm>
          <a:prstGeom prst="rect">
            <a:avLst/>
          </a:prstGeom>
          <a:noFill/>
        </p:spPr>
        <p:txBody>
          <a:bodyPr anchor="b"/>
          <a:lstStyle>
            <a:lvl1pPr marL="0" indent="0">
              <a:spcAft>
                <a:spcPts val="0"/>
              </a:spcAft>
              <a:buNone/>
              <a:defRPr sz="1400"/>
            </a:lvl1pPr>
          </a:lstStyle>
          <a:p>
            <a:pPr lvl="0">
              <a:buNone/>
            </a:pPr>
            <a:r>
              <a:t>Speaker Name</a:t>
            </a:r>
          </a:p>
          <a:p>
            <a:pPr lvl="0">
              <a:buNone/>
            </a:pPr>
            <a:r>
              <a:t>Speaker Title placeholder, @social</a:t>
            </a:r>
          </a:p>
        </p:txBody>
      </p:sp>
      <p:sp>
        <p:nvSpPr>
          <p:cNvPr id="5" name="Text Placeholder 4">
            <a:extLst>
              <a:ext uri="{FF2B5EF4-FFF2-40B4-BE49-F238E27FC236}">
                <a16:creationId xmlns:a16="http://schemas.microsoft.com/office/drawing/2014/main" id="{1C0E61D1-59EB-7A86-0D12-9388193F45D9}"/>
              </a:ext>
            </a:extLst>
          </p:cNvPr>
          <p:cNvSpPr>
            <a:spLocks noGrp="1"/>
          </p:cNvSpPr>
          <p:nvPr>
            <p:ph type="body" idx="17" hasCustomPrompt="1"/>
          </p:nvPr>
        </p:nvSpPr>
        <p:spPr>
          <a:xfrm>
            <a:off x="323849" y="4681134"/>
            <a:ext cx="5046663" cy="457200"/>
          </a:xfrm>
        </p:spPr>
        <p:txBody>
          <a:bodyPr anchor="b"/>
          <a:lstStyle>
            <a:lvl1pPr marL="0" indent="0">
              <a:spcAft>
                <a:spcPts val="0"/>
              </a:spcAft>
              <a:buNone/>
              <a:defRPr sz="1400" kern="1200">
                <a:solidFill>
                  <a:schemeClr val="bg1"/>
                </a:solidFill>
                <a:latin typeface="+mn-lt"/>
                <a:ea typeface="+mn-lt"/>
                <a:cs typeface="+mn-lt"/>
              </a:defRPr>
            </a:lvl1pPr>
            <a:lvl2pPr marL="182880" indent="0">
              <a:spcAft>
                <a:spcPts val="0"/>
              </a:spcAft>
              <a:buNone/>
              <a:defRPr sz="1400"/>
            </a:lvl2pPr>
            <a:lvl3pPr marL="365760" indent="0">
              <a:spcAft>
                <a:spcPts val="0"/>
              </a:spcAft>
              <a:buNone/>
              <a:defRPr sz="1200"/>
            </a:lvl3pPr>
            <a:lvl4pPr marL="548640" indent="0">
              <a:spcAft>
                <a:spcPts val="0"/>
              </a:spcAft>
              <a:buNone/>
              <a:defRPr sz="1100"/>
            </a:lvl4pPr>
            <a:lvl5pPr marL="731520" indent="0">
              <a:spcAft>
                <a:spcPts val="0"/>
              </a:spcAft>
              <a:buNone/>
              <a:defRPr sz="1050"/>
            </a:lvl5pPr>
          </a:lstStyle>
          <a:p>
            <a:pPr marL="0" lvl="0" indent="0" algn="l" defTabSz="912276">
              <a:lnSpc>
                <a:spcPct val="100000"/>
              </a:lnSpc>
              <a:spcBef>
                <a:spcPts val="0"/>
              </a:spcBef>
              <a:spcAft>
                <a:spcPts val="0"/>
              </a:spcAft>
              <a:buClr>
                <a:schemeClr val="bg1"/>
              </a:buClr>
              <a:buSzPct val="100000"/>
              <a:buFont typeface="Arial"/>
              <a:buNone/>
            </a:pPr>
            <a:r>
              <a:t>Speaker Name</a:t>
            </a:r>
          </a:p>
          <a:p>
            <a:pPr marL="0" lvl="0" indent="0" algn="l" defTabSz="912276">
              <a:lnSpc>
                <a:spcPct val="100000"/>
              </a:lnSpc>
              <a:spcBef>
                <a:spcPts val="0"/>
              </a:spcBef>
              <a:spcAft>
                <a:spcPts val="0"/>
              </a:spcAft>
              <a:buClr>
                <a:schemeClr val="bg1"/>
              </a:buClr>
              <a:buSzPct val="100000"/>
              <a:buFont typeface="Arial"/>
              <a:buNone/>
            </a:pPr>
            <a:r>
              <a:t>Speaker Title placeholder, @social</a:t>
            </a:r>
          </a:p>
        </p:txBody>
      </p:sp>
      <p:sp>
        <p:nvSpPr>
          <p:cNvPr id="7" name="Text Placeholder 6">
            <a:extLst>
              <a:ext uri="{FF2B5EF4-FFF2-40B4-BE49-F238E27FC236}">
                <a16:creationId xmlns:a16="http://schemas.microsoft.com/office/drawing/2014/main" id="{D175C0FC-DD02-0704-8A17-1B3037F861D2}"/>
              </a:ext>
            </a:extLst>
          </p:cNvPr>
          <p:cNvSpPr>
            <a:spLocks noGrp="1"/>
          </p:cNvSpPr>
          <p:nvPr>
            <p:ph type="body" idx="18" hasCustomPrompt="1"/>
          </p:nvPr>
        </p:nvSpPr>
        <p:spPr>
          <a:xfrm>
            <a:off x="323848" y="5306439"/>
            <a:ext cx="5046663" cy="457200"/>
          </a:xfrm>
        </p:spPr>
        <p:txBody>
          <a:bodyPr anchor="b"/>
          <a:lstStyle>
            <a:lvl1pPr marL="0" indent="0">
              <a:spcAft>
                <a:spcPts val="0"/>
              </a:spcAft>
              <a:buNone/>
              <a:defRPr sz="1400"/>
            </a:lvl1pPr>
            <a:lvl2pPr marL="182880" indent="0">
              <a:buNone/>
              <a:defRPr sz="1200"/>
            </a:lvl2pPr>
            <a:lvl3pPr marL="365760" indent="0">
              <a:buNone/>
              <a:defRPr sz="1100"/>
            </a:lvl3pPr>
            <a:lvl4pPr marL="548640" indent="0">
              <a:buNone/>
              <a:defRPr sz="1050"/>
            </a:lvl4pPr>
            <a:lvl5pPr marL="731520" indent="0">
              <a:buNone/>
              <a:defRPr sz="1000"/>
            </a:lvl5pPr>
          </a:lstStyle>
          <a:p>
            <a:pPr lvl="0">
              <a:buNone/>
            </a:pPr>
            <a:r>
              <a:t>Speaker Name</a:t>
            </a:r>
          </a:p>
          <a:p>
            <a:pPr lvl="0">
              <a:buNone/>
            </a:pPr>
            <a:r>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idx="12" hasCustomPrompt="1"/>
          </p:nvPr>
        </p:nvSpPr>
        <p:spPr>
          <a:xfrm>
            <a:off x="324643" y="6360518"/>
            <a:ext cx="3906838" cy="497482"/>
          </a:xfrm>
          <a:prstGeom prst="rect">
            <a:avLst/>
          </a:prstGeom>
          <a:noFill/>
        </p:spPr>
        <p:txBody>
          <a:bodyPr/>
          <a:lstStyle>
            <a:lvl1pPr marL="0" indent="0" algn="l">
              <a:buNone/>
              <a:defRPr sz="1400">
                <a:solidFill>
                  <a:schemeClr val="bg2"/>
                </a:solidFill>
              </a:defRPr>
            </a:lvl1pPr>
          </a:lstStyle>
          <a:p>
            <a:pPr lvl="0">
              <a:buNone/>
            </a:pPr>
            <a:r>
              <a:t>Date</a:t>
            </a:r>
          </a:p>
        </p:txBody>
      </p:sp>
      <p:sp>
        <p:nvSpPr>
          <p:cNvPr id="23" name="Graphic 21">
            <a:extLst>
              <a:ext uri="{FF2B5EF4-FFF2-40B4-BE49-F238E27FC236}">
                <a16:creationId xmlns:a16="http://schemas.microsoft.com/office/drawing/2014/main" id="{0B51E088-9CCC-0F69-112A-CEC9A65FADC5}"/>
              </a:ext>
            </a:extLst>
          </p:cNvPr>
          <p:cNvSpPr>
            <a:spLocks noGrp="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a:gradFill rotWithShape="1">
              <a:gsLst>
                <a:gs pos="0">
                  <a:srgbClr val="3070E5"/>
                </a:gs>
                <a:gs pos="35000">
                  <a:srgbClr val="1ABBE9"/>
                </a:gs>
                <a:gs pos="43000">
                  <a:srgbClr val="1ABBE9"/>
                </a:gs>
                <a:gs pos="60000">
                  <a:srgbClr val="FD017F"/>
                </a:gs>
                <a:gs pos="100000">
                  <a:srgbClr val="FCA601"/>
                </a:gs>
              </a:gsLst>
              <a:lin ang="0" scaled="1"/>
              <a:tileRect/>
            </a:gradFill>
            <a:prstDash val="solid"/>
          </a:ln>
        </p:spPr>
        <p:txBody>
          <a:bodyPr anchor="ctr"/>
          <a:lstStyle/>
          <a:p>
            <a:pPr lvl="0">
              <a:buNone/>
            </a:pPr>
            <a:endParaRPr/>
          </a:p>
        </p:txBody>
      </p:sp>
      <p:pic>
        <p:nvPicPr>
          <p:cNvPr id="33" name="Picture 7"/>
          <p:cNvPicPr>
            <a:picLocks noChangeAspect="1"/>
          </p:cNvPicPr>
          <p:nvPr/>
        </p:nvPicPr>
        <p:blipFill>
          <a:blip>
            <a:extLst>
              <a:ext uri="{96DAC541-7B7A-43D3-8B79-37D633B846F1}">
                <asvg:svgBlip xmlns:asvg="http://schemas.microsoft.com/office/drawing/2016/SVG/main" r:embed="rId2"/>
              </a:ext>
            </a:extLst>
          </a:blip>
          <a:srcRect/>
          <a:stretch/>
        </p:blipFill>
        <p:spPr>
          <a:xfrm>
            <a:off x="8281171" y="3181936"/>
            <a:ext cx="955675" cy="50213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Four Speaker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Lst>
          </p:cNvPr>
          <p:cNvSpPr>
            <a:spLocks noGrp="1"/>
          </p:cNvSpPr>
          <p:nvPr/>
        </p:nvSpPr>
        <p:spPr>
          <a:xfrm>
            <a:off x="0" y="1260471"/>
            <a:ext cx="10888663" cy="4351342"/>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anchor="ctr"/>
          <a:lstStyle/>
          <a:p>
            <a:pPr algn="ctr">
              <a:buNone/>
            </a:pPr>
            <a:endParaRPr sz="1600">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lstStyle>
            <a:lvl1pPr>
              <a:buNone/>
              <a:defRPr sz="3600"/>
            </a:lvl1pPr>
          </a:lstStyle>
          <a:p>
            <a:r>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idx="13" hasCustomPrompt="1"/>
          </p:nvPr>
        </p:nvSpPr>
        <p:spPr>
          <a:xfrm>
            <a:off x="323850" y="3203123"/>
            <a:ext cx="6656388" cy="223837"/>
          </a:xfrm>
          <a:prstGeom prst="rect">
            <a:avLst/>
          </a:prstGeom>
          <a:noFill/>
        </p:spPr>
        <p:txBody>
          <a:bodyPr/>
          <a:lstStyle>
            <a:lvl1pPr marL="0" indent="0">
              <a:buNone/>
              <a:defRPr sz="1600" b="0" kern="1200">
                <a:solidFill>
                  <a:schemeClr val="bg1"/>
                </a:solidFill>
                <a:latin typeface="+mn-lt"/>
                <a:ea typeface="+mn-lt"/>
                <a:cs typeface="+mn-lt"/>
              </a:defRPr>
            </a:lvl1pPr>
          </a:lstStyle>
          <a:p>
            <a:pPr marL="0" lvl="0" indent="0" algn="l" defTabSz="912276">
              <a:lnSpc>
                <a:spcPct val="100000"/>
              </a:lnSpc>
              <a:spcBef>
                <a:spcPts val="0"/>
              </a:spcBef>
              <a:spcAft>
                <a:spcPts val="1000"/>
              </a:spcAft>
              <a:buClr>
                <a:schemeClr val="bg1"/>
              </a:buClr>
              <a:buSzPct val="100000"/>
              <a:buFont typeface="Arial"/>
              <a:buNone/>
            </a:pPr>
            <a:r>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idx="11" hasCustomPrompt="1"/>
          </p:nvPr>
        </p:nvSpPr>
        <p:spPr>
          <a:xfrm>
            <a:off x="323850" y="3736526"/>
            <a:ext cx="3725863" cy="457200"/>
          </a:xfrm>
          <a:prstGeom prst="rect">
            <a:avLst/>
          </a:prstGeom>
          <a:noFill/>
        </p:spPr>
        <p:txBody>
          <a:bodyPr/>
          <a:lstStyle>
            <a:lvl1pPr marL="0" indent="0">
              <a:spcAft>
                <a:spcPts val="0"/>
              </a:spcAft>
              <a:buNone/>
              <a:defRPr sz="1400"/>
            </a:lvl1pPr>
          </a:lstStyle>
          <a:p>
            <a:pPr lvl="0">
              <a:buNone/>
            </a:pPr>
            <a:r>
              <a:t>Speaker Name</a:t>
            </a:r>
          </a:p>
          <a:p>
            <a:pPr lvl="0">
              <a:buNone/>
            </a:pPr>
            <a:r>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idx="14" hasCustomPrompt="1"/>
          </p:nvPr>
        </p:nvSpPr>
        <p:spPr>
          <a:xfrm>
            <a:off x="4230687" y="3736526"/>
            <a:ext cx="3727451" cy="457200"/>
          </a:xfrm>
        </p:spPr>
        <p:txBody>
          <a:bodyPr/>
          <a:lstStyle>
            <a:lvl1pPr marL="0" indent="0">
              <a:spcAft>
                <a:spcPts val="0"/>
              </a:spcAft>
              <a:buNone/>
              <a:defRPr sz="1400" kern="1200">
                <a:solidFill>
                  <a:schemeClr val="bg1"/>
                </a:solidFill>
                <a:latin typeface="+mn-lt"/>
                <a:ea typeface="+mn-lt"/>
                <a:cs typeface="+mn-lt"/>
              </a:defRPr>
            </a:lvl1pPr>
            <a:lvl2pPr>
              <a:buNone/>
              <a:defRPr/>
            </a:lvl2pPr>
            <a:lvl3pPr>
              <a:buNone/>
              <a:defRPr/>
            </a:lvl3pPr>
            <a:lvl4pPr>
              <a:buNone/>
              <a:defRPr/>
            </a:lvl4pPr>
            <a:lvl5pPr>
              <a:buNone/>
              <a:defRPr/>
            </a:lvl5pPr>
          </a:lstStyle>
          <a:p>
            <a:pPr lvl="0">
              <a:buNone/>
            </a:pPr>
            <a:r>
              <a:t>Speaker Name</a:t>
            </a:r>
          </a:p>
          <a:p>
            <a:pPr lvl="0">
              <a:buNone/>
            </a:pPr>
            <a:r>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idx="15" hasCustomPrompt="1"/>
          </p:nvPr>
        </p:nvSpPr>
        <p:spPr>
          <a:xfrm>
            <a:off x="323850" y="4363133"/>
            <a:ext cx="3725863" cy="457200"/>
          </a:xfrm>
          <a:prstGeom prst="rect">
            <a:avLst/>
          </a:prstGeom>
          <a:noFill/>
        </p:spPr>
        <p:txBody>
          <a:bodyPr/>
          <a:lstStyle>
            <a:lvl1pPr marL="0" indent="0">
              <a:spcAft>
                <a:spcPts val="0"/>
              </a:spcAft>
              <a:buNone/>
              <a:defRPr sz="1400"/>
            </a:lvl1pPr>
          </a:lstStyle>
          <a:p>
            <a:pPr lvl="0">
              <a:buNone/>
            </a:pPr>
            <a:r>
              <a:t>Speaker Name</a:t>
            </a:r>
          </a:p>
          <a:p>
            <a:pPr lvl="0">
              <a:buNone/>
            </a:pPr>
            <a:r>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idx="16" hasCustomPrompt="1"/>
          </p:nvPr>
        </p:nvSpPr>
        <p:spPr>
          <a:xfrm>
            <a:off x="4230687" y="4363133"/>
            <a:ext cx="3727451" cy="457200"/>
          </a:xfrm>
        </p:spPr>
        <p:txBody>
          <a:bodyPr/>
          <a:lstStyle>
            <a:lvl1pPr marL="0" indent="0">
              <a:spcAft>
                <a:spcPts val="0"/>
              </a:spcAft>
              <a:buNone/>
              <a:defRPr sz="1400" kern="1200">
                <a:solidFill>
                  <a:schemeClr val="bg1"/>
                </a:solidFill>
                <a:latin typeface="+mn-lt"/>
                <a:ea typeface="+mn-lt"/>
                <a:cs typeface="+mn-lt"/>
              </a:defRPr>
            </a:lvl1pPr>
            <a:lvl2pPr>
              <a:buNone/>
              <a:defRPr/>
            </a:lvl2pPr>
            <a:lvl3pPr>
              <a:buNone/>
              <a:defRPr/>
            </a:lvl3pPr>
            <a:lvl4pPr>
              <a:buNone/>
              <a:defRPr/>
            </a:lvl4pPr>
            <a:lvl5pPr>
              <a:buNone/>
              <a:defRPr/>
            </a:lvl5pPr>
          </a:lstStyle>
          <a:p>
            <a:pPr lvl="0">
              <a:buNone/>
            </a:pPr>
            <a:r>
              <a:t>Speaker Name</a:t>
            </a:r>
          </a:p>
          <a:p>
            <a:pPr lvl="0">
              <a:buNone/>
            </a:pPr>
            <a:r>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idx="12" hasCustomPrompt="1"/>
          </p:nvPr>
        </p:nvSpPr>
        <p:spPr>
          <a:xfrm>
            <a:off x="323850" y="6364224"/>
            <a:ext cx="3906838" cy="493776"/>
          </a:xfrm>
          <a:prstGeom prst="rect">
            <a:avLst/>
          </a:prstGeom>
          <a:noFill/>
        </p:spPr>
        <p:txBody>
          <a:bodyPr/>
          <a:lstStyle>
            <a:lvl1pPr marL="0" indent="0">
              <a:buNone/>
              <a:defRPr sz="1400">
                <a:solidFill>
                  <a:schemeClr val="bg2"/>
                </a:solidFill>
              </a:defRPr>
            </a:lvl1pPr>
          </a:lstStyle>
          <a:p>
            <a:pPr lvl="0">
              <a:buNone/>
            </a:pPr>
            <a:r>
              <a:t>Date</a:t>
            </a:r>
          </a:p>
        </p:txBody>
      </p:sp>
      <p:pic>
        <p:nvPicPr>
          <p:cNvPr id="21" name="Picture 7"/>
          <p:cNvPicPr>
            <a:picLocks noChangeAspect="1"/>
          </p:cNvPicPr>
          <p:nvPr/>
        </p:nvPicPr>
        <p:blipFill>
          <a:blip>
            <a:extLs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Four Speakers">
    <p:bg>
      <p:bgPr>
        <a:solidFill>
          <a:schemeClr val="tx1"/>
        </a:solidFill>
        <a:effectLst/>
      </p:bgPr>
    </p:bg>
    <p:spTree>
      <p:nvGrpSpPr>
        <p:cNvPr id="1" name=""/>
        <p:cNvGrpSpPr/>
        <p:nvPr/>
      </p:nvGrpSpPr>
      <p:grpSpPr>
        <a:xfrm>
          <a:off x="0" y="0"/>
          <a:ext cx="0" cy="0"/>
          <a:chOff x="0" y="0"/>
          <a:chExt cx="0" cy="0"/>
        </a:xfrm>
      </p:grpSpPr>
      <p:pic>
        <p:nvPicPr>
          <p:cNvPr id="15" name="Picture 7"/>
          <p:cNvPicPr>
            <a:picLocks noChangeAspect="1"/>
          </p:cNvPicPr>
          <p:nvPr/>
        </p:nvPicPr>
        <p:blipFill>
          <a:blip>
            <a:extLst>
              <a:ext uri="{96DAC541-7B7A-43D3-8B79-37D633B846F1}">
                <asvg:svgBlip xmlns:asvg="http://schemas.microsoft.com/office/drawing/2016/SVG/main" r:embed="rId2"/>
              </a:ext>
            </a:extLst>
          </a:blip>
          <a:srcRect/>
          <a:stretch/>
        </p:blipFill>
        <p:spPr>
          <a:xfrm>
            <a:off x="323850" y="320675"/>
            <a:ext cx="792163" cy="416221"/>
          </a:xfrm>
          <a:prstGeom prst="rect">
            <a:avLst/>
          </a:prstGeom>
        </p:spPr>
      </p:pic>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492374"/>
            <a:ext cx="10167938" cy="1243019"/>
          </a:xfrm>
        </p:spPr>
        <p:txBody>
          <a:bodyPr anchor="b"/>
          <a:lstStyle>
            <a:lvl1pPr>
              <a:buNone/>
              <a:defRPr sz="3600">
                <a:solidFill>
                  <a:schemeClr val="bg1"/>
                </a:solidFill>
              </a:defRPr>
            </a:lvl1pPr>
          </a:lstStyle>
          <a:p>
            <a:r>
              <a:t>Presentation Slide Title Layout 3</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idx="13" hasCustomPrompt="1"/>
          </p:nvPr>
        </p:nvSpPr>
        <p:spPr>
          <a:xfrm>
            <a:off x="323849" y="3827463"/>
            <a:ext cx="10167938" cy="223837"/>
          </a:xfrm>
          <a:prstGeom prst="rect">
            <a:avLst/>
          </a:prstGeom>
          <a:noFill/>
        </p:spPr>
        <p:txBody>
          <a:bodyPr/>
          <a:lstStyle>
            <a:lvl1pPr marL="0" indent="0">
              <a:buNone/>
              <a:defRPr sz="1600" b="0" kern="1200">
                <a:solidFill>
                  <a:schemeClr val="bg1"/>
                </a:solidFill>
                <a:latin typeface="+mn-lt"/>
                <a:ea typeface="+mn-lt"/>
                <a:cs typeface="+mn-lt"/>
              </a:defRPr>
            </a:lvl1pPr>
          </a:lstStyle>
          <a:p>
            <a:pPr marL="0" lvl="0" indent="0" algn="l" defTabSz="912276">
              <a:lnSpc>
                <a:spcPct val="100000"/>
              </a:lnSpc>
              <a:spcBef>
                <a:spcPts val="0"/>
              </a:spcBef>
              <a:spcAft>
                <a:spcPts val="1000"/>
              </a:spcAft>
              <a:buClr>
                <a:schemeClr val="bg1"/>
              </a:buClr>
              <a:buSzPct val="100000"/>
              <a:buFont typeface="Arial"/>
              <a:buNone/>
            </a:pPr>
            <a:r>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idx="11" hasCustomPrompt="1"/>
          </p:nvPr>
        </p:nvSpPr>
        <p:spPr>
          <a:xfrm>
            <a:off x="323850" y="4360863"/>
            <a:ext cx="3725863" cy="457200"/>
          </a:xfrm>
          <a:prstGeom prst="rect">
            <a:avLst/>
          </a:prstGeom>
          <a:noFill/>
        </p:spPr>
        <p:txBody>
          <a:bodyPr/>
          <a:lstStyle>
            <a:lvl1pPr marL="0" indent="0">
              <a:spcAft>
                <a:spcPts val="0"/>
              </a:spcAft>
              <a:buNone/>
              <a:defRPr sz="1400"/>
            </a:lvl1pPr>
          </a:lstStyle>
          <a:p>
            <a:pPr lvl="0">
              <a:buNone/>
            </a:pPr>
            <a:r>
              <a:t>Speaker Name</a:t>
            </a:r>
          </a:p>
          <a:p>
            <a:pPr lvl="0">
              <a:buNone/>
            </a:pPr>
            <a:r>
              <a:t>Speaker Title placeholder, @social</a:t>
            </a:r>
          </a:p>
        </p:txBody>
      </p:sp>
      <p:sp>
        <p:nvSpPr>
          <p:cNvPr id="7" name="Text Placeholder 6">
            <a:extLst>
              <a:ext uri="{FF2B5EF4-FFF2-40B4-BE49-F238E27FC236}">
                <a16:creationId xmlns:a16="http://schemas.microsoft.com/office/drawing/2014/main" id="{872EFECA-80DB-74BA-813F-3952A15A5022}"/>
              </a:ext>
            </a:extLst>
          </p:cNvPr>
          <p:cNvSpPr>
            <a:spLocks noGrp="1"/>
          </p:cNvSpPr>
          <p:nvPr>
            <p:ph type="body" idx="15" hasCustomPrompt="1"/>
          </p:nvPr>
        </p:nvSpPr>
        <p:spPr>
          <a:xfrm>
            <a:off x="4230688" y="4360863"/>
            <a:ext cx="4886325" cy="457200"/>
          </a:xfrm>
        </p:spPr>
        <p:txBody>
          <a:bodyPr/>
          <a:lstStyle>
            <a:lvl1pPr marL="0" indent="0">
              <a:spcAft>
                <a:spcPts val="0"/>
              </a:spcAft>
              <a:buNone/>
              <a:defRPr sz="1400"/>
            </a:lvl1pPr>
            <a:lvl2pPr>
              <a:buNone/>
              <a:defRPr sz="1400"/>
            </a:lvl2pPr>
            <a:lvl3pPr>
              <a:buNone/>
              <a:defRPr sz="1200"/>
            </a:lvl3pPr>
            <a:lvl4pPr>
              <a:buNone/>
              <a:defRPr sz="1100"/>
            </a:lvl4pPr>
            <a:lvl5pPr>
              <a:buNone/>
              <a:defRPr sz="1050"/>
            </a:lvl5pPr>
          </a:lstStyle>
          <a:p>
            <a:pPr lvl="0">
              <a:buNone/>
            </a:pPr>
            <a:r>
              <a:t>Speaker Name</a:t>
            </a:r>
          </a:p>
          <a:p>
            <a:pPr lvl="0">
              <a:buNone/>
            </a:pPr>
            <a:r>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idx="14" hasCustomPrompt="1"/>
          </p:nvPr>
        </p:nvSpPr>
        <p:spPr>
          <a:xfrm>
            <a:off x="323850" y="4990779"/>
            <a:ext cx="3725863" cy="457200"/>
          </a:xfrm>
        </p:spPr>
        <p:txBody>
          <a:bodyPr/>
          <a:lstStyle>
            <a:lvl1pPr marL="0" indent="0">
              <a:spcAft>
                <a:spcPts val="0"/>
              </a:spcAft>
              <a:buNone/>
              <a:defRPr sz="1400" kern="1200">
                <a:solidFill>
                  <a:schemeClr val="bg1"/>
                </a:solidFill>
                <a:latin typeface="+mn-lt"/>
                <a:ea typeface="+mn-lt"/>
                <a:cs typeface="+mn-lt"/>
              </a:defRPr>
            </a:lvl1pPr>
            <a:lvl2pPr>
              <a:buNone/>
              <a:defRPr/>
            </a:lvl2pPr>
            <a:lvl3pPr>
              <a:buNone/>
              <a:defRPr/>
            </a:lvl3pPr>
            <a:lvl4pPr>
              <a:buNone/>
              <a:defRPr/>
            </a:lvl4pPr>
            <a:lvl5pPr>
              <a:buNone/>
              <a:defRPr/>
            </a:lvl5pPr>
          </a:lstStyle>
          <a:p>
            <a:pPr lvl="0">
              <a:buNone/>
            </a:pPr>
            <a:r>
              <a:t>Speaker Name</a:t>
            </a:r>
          </a:p>
          <a:p>
            <a:pPr lvl="0">
              <a:buNone/>
            </a:pPr>
            <a:r>
              <a:t>Speaker Title placeholder, @social</a:t>
            </a:r>
          </a:p>
        </p:txBody>
      </p:sp>
      <p:sp>
        <p:nvSpPr>
          <p:cNvPr id="13" name="Text Placeholder 12">
            <a:extLst>
              <a:ext uri="{FF2B5EF4-FFF2-40B4-BE49-F238E27FC236}">
                <a16:creationId xmlns:a16="http://schemas.microsoft.com/office/drawing/2014/main" id="{2BBB47F0-F6D2-5FD5-1C2D-8963A9B280F8}"/>
              </a:ext>
            </a:extLst>
          </p:cNvPr>
          <p:cNvSpPr>
            <a:spLocks noGrp="1"/>
          </p:cNvSpPr>
          <p:nvPr>
            <p:ph type="body" idx="16" hasCustomPrompt="1"/>
          </p:nvPr>
        </p:nvSpPr>
        <p:spPr>
          <a:xfrm>
            <a:off x="4230688" y="4990779"/>
            <a:ext cx="4886325" cy="457200"/>
          </a:xfrm>
        </p:spPr>
        <p:txBody>
          <a:bodyPr/>
          <a:lstStyle>
            <a:lvl1pPr marL="0" indent="0">
              <a:spcAft>
                <a:spcPts val="0"/>
              </a:spcAft>
              <a:buNone/>
              <a:defRPr sz="1400"/>
            </a:lvl1pPr>
            <a:lvl2pPr>
              <a:buNone/>
              <a:defRPr sz="1400"/>
            </a:lvl2pPr>
            <a:lvl3pPr>
              <a:buNone/>
              <a:defRPr sz="1200"/>
            </a:lvl3pPr>
            <a:lvl4pPr>
              <a:buNone/>
              <a:defRPr sz="1100"/>
            </a:lvl4pPr>
            <a:lvl5pPr>
              <a:buNone/>
              <a:defRPr sz="1050"/>
            </a:lvl5pPr>
          </a:lstStyle>
          <a:p>
            <a:pPr lvl="0">
              <a:buNone/>
            </a:pPr>
            <a:r>
              <a:t>Speaker Name</a:t>
            </a:r>
          </a:p>
          <a:p>
            <a:pPr lvl="0">
              <a:buNone/>
            </a:pPr>
            <a:r>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idx="12" hasCustomPrompt="1"/>
          </p:nvPr>
        </p:nvSpPr>
        <p:spPr>
          <a:xfrm>
            <a:off x="323850" y="6364224"/>
            <a:ext cx="3906838" cy="493776"/>
          </a:xfrm>
          <a:prstGeom prst="rect">
            <a:avLst/>
          </a:prstGeom>
          <a:noFill/>
        </p:spPr>
        <p:txBody>
          <a:bodyPr/>
          <a:lstStyle>
            <a:lvl1pPr marL="0" indent="0">
              <a:buNone/>
              <a:defRPr sz="1400">
                <a:solidFill>
                  <a:schemeClr val="bg2"/>
                </a:solidFill>
              </a:defRPr>
            </a:lvl1pPr>
          </a:lstStyle>
          <a:p>
            <a:pPr lvl="0">
              <a:buNone/>
            </a:pPr>
            <a:r>
              <a:t>Date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lstStyle>
            <a:lvl1pPr>
              <a:buNone/>
              <a:defRPr sz="3600"/>
            </a:lvl1pPr>
          </a:lstStyle>
          <a:p>
            <a:r>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idx="13" hasCustomPrompt="1"/>
          </p:nvPr>
        </p:nvSpPr>
        <p:spPr>
          <a:xfrm>
            <a:off x="323850" y="3827463"/>
            <a:ext cx="6656388" cy="223837"/>
          </a:xfrm>
          <a:prstGeom prst="rect">
            <a:avLst/>
          </a:prstGeom>
          <a:noFill/>
        </p:spPr>
        <p:txBody>
          <a:bodyPr/>
          <a:lstStyle>
            <a:lvl1pPr marL="0" indent="0">
              <a:buNone/>
              <a:defRPr sz="1600" b="0" kern="1200">
                <a:solidFill>
                  <a:schemeClr val="bg1"/>
                </a:solidFill>
                <a:latin typeface="+mn-lt"/>
                <a:ea typeface="+mn-lt"/>
                <a:cs typeface="+mn-lt"/>
              </a:defRPr>
            </a:lvl1pPr>
          </a:lstStyle>
          <a:p>
            <a:pPr marL="0" lvl="0" indent="0" algn="l" defTabSz="912276">
              <a:lnSpc>
                <a:spcPct val="100000"/>
              </a:lnSpc>
              <a:spcBef>
                <a:spcPts val="0"/>
              </a:spcBef>
              <a:spcAft>
                <a:spcPts val="1000"/>
              </a:spcAft>
              <a:buClr>
                <a:schemeClr val="bg1"/>
              </a:buClr>
              <a:buSzPct val="100000"/>
              <a:buFont typeface="Arial"/>
              <a:buNone/>
            </a:pPr>
            <a:r>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idx="11" hasCustomPrompt="1"/>
          </p:nvPr>
        </p:nvSpPr>
        <p:spPr>
          <a:xfrm>
            <a:off x="323850" y="4360866"/>
            <a:ext cx="3725863" cy="457200"/>
          </a:xfrm>
          <a:prstGeom prst="rect">
            <a:avLst/>
          </a:prstGeom>
          <a:noFill/>
        </p:spPr>
        <p:txBody>
          <a:bodyPr/>
          <a:lstStyle>
            <a:lvl1pPr marL="0" indent="0">
              <a:spcAft>
                <a:spcPts val="0"/>
              </a:spcAft>
              <a:buNone/>
              <a:defRPr sz="1400"/>
            </a:lvl1pPr>
          </a:lstStyle>
          <a:p>
            <a:pPr lvl="0">
              <a:buNone/>
            </a:pPr>
            <a:r>
              <a:t>Speaker Name</a:t>
            </a:r>
          </a:p>
          <a:p>
            <a:pPr lvl="0">
              <a:buNone/>
            </a:pPr>
            <a:r>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idx="14" hasCustomPrompt="1"/>
          </p:nvPr>
        </p:nvSpPr>
        <p:spPr>
          <a:xfrm>
            <a:off x="4230687" y="4360866"/>
            <a:ext cx="3727451" cy="457200"/>
          </a:xfrm>
        </p:spPr>
        <p:txBody>
          <a:bodyPr/>
          <a:lstStyle>
            <a:lvl1pPr marL="0" indent="0">
              <a:spcAft>
                <a:spcPts val="0"/>
              </a:spcAft>
              <a:buNone/>
              <a:defRPr sz="1400" kern="1200">
                <a:solidFill>
                  <a:schemeClr val="bg1"/>
                </a:solidFill>
                <a:latin typeface="+mn-lt"/>
                <a:ea typeface="+mn-lt"/>
                <a:cs typeface="+mn-lt"/>
              </a:defRPr>
            </a:lvl1pPr>
            <a:lvl2pPr>
              <a:buNone/>
              <a:defRPr/>
            </a:lvl2pPr>
            <a:lvl3pPr>
              <a:buNone/>
              <a:defRPr/>
            </a:lvl3pPr>
            <a:lvl4pPr>
              <a:buNone/>
              <a:defRPr/>
            </a:lvl4pPr>
            <a:lvl5pPr>
              <a:buNone/>
              <a:defRPr/>
            </a:lvl5pPr>
          </a:lstStyle>
          <a:p>
            <a:pPr lvl="0">
              <a:buNone/>
            </a:pPr>
            <a:r>
              <a:t>Speaker Name</a:t>
            </a:r>
          </a:p>
          <a:p>
            <a:pPr lvl="0">
              <a:buNone/>
            </a:pPr>
            <a:r>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idx="12" hasCustomPrompt="1"/>
          </p:nvPr>
        </p:nvSpPr>
        <p:spPr>
          <a:xfrm>
            <a:off x="323850" y="6364224"/>
            <a:ext cx="3906838" cy="493776"/>
          </a:xfrm>
          <a:prstGeom prst="rect">
            <a:avLst/>
          </a:prstGeom>
          <a:noFill/>
        </p:spPr>
        <p:txBody>
          <a:bodyPr/>
          <a:lstStyle>
            <a:lvl1pPr marL="0" indent="0">
              <a:buNone/>
              <a:defRPr sz="1400">
                <a:solidFill>
                  <a:schemeClr val="bg2"/>
                </a:solidFill>
              </a:defRPr>
            </a:lvl1pPr>
          </a:lstStyle>
          <a:p>
            <a:pPr lvl="0">
              <a:buNone/>
            </a:pPr>
            <a:r>
              <a:t>Date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2,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lstStyle>
            <a:lvl1pPr>
              <a:buNone/>
              <a:defRPr sz="3600"/>
            </a:lvl1pPr>
          </a:lstStyle>
          <a:p>
            <a:r>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idx="13" hasCustomPrompt="1"/>
          </p:nvPr>
        </p:nvSpPr>
        <p:spPr>
          <a:xfrm>
            <a:off x="323850" y="3203123"/>
            <a:ext cx="6656388" cy="223837"/>
          </a:xfrm>
          <a:prstGeom prst="rect">
            <a:avLst/>
          </a:prstGeom>
          <a:noFill/>
        </p:spPr>
        <p:txBody>
          <a:bodyPr/>
          <a:lstStyle>
            <a:lvl1pPr marL="0" indent="0">
              <a:buNone/>
              <a:defRPr sz="1600" b="0" kern="1200">
                <a:solidFill>
                  <a:schemeClr val="bg1"/>
                </a:solidFill>
                <a:latin typeface="+mn-lt"/>
                <a:ea typeface="+mn-lt"/>
                <a:cs typeface="+mn-lt"/>
              </a:defRPr>
            </a:lvl1pPr>
          </a:lstStyle>
          <a:p>
            <a:pPr marL="0" lvl="0" indent="0" algn="l" defTabSz="912276">
              <a:lnSpc>
                <a:spcPct val="100000"/>
              </a:lnSpc>
              <a:spcBef>
                <a:spcPts val="0"/>
              </a:spcBef>
              <a:spcAft>
                <a:spcPts val="1000"/>
              </a:spcAft>
              <a:buClr>
                <a:schemeClr val="bg1"/>
              </a:buClr>
              <a:buSzPct val="100000"/>
              <a:buFont typeface="Arial"/>
              <a:buNone/>
            </a:pPr>
            <a:r>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idx="11" hasCustomPrompt="1"/>
          </p:nvPr>
        </p:nvSpPr>
        <p:spPr>
          <a:xfrm>
            <a:off x="323850" y="3736526"/>
            <a:ext cx="3725863" cy="457200"/>
          </a:xfrm>
          <a:prstGeom prst="rect">
            <a:avLst/>
          </a:prstGeom>
          <a:noFill/>
        </p:spPr>
        <p:txBody>
          <a:bodyPr/>
          <a:lstStyle>
            <a:lvl1pPr marL="0" indent="0">
              <a:spcAft>
                <a:spcPts val="0"/>
              </a:spcAft>
              <a:buNone/>
              <a:defRPr sz="1400"/>
            </a:lvl1pPr>
          </a:lstStyle>
          <a:p>
            <a:pPr lvl="0">
              <a:buNone/>
            </a:pPr>
            <a:r>
              <a:t>Speaker Name</a:t>
            </a:r>
          </a:p>
          <a:p>
            <a:pPr lvl="0">
              <a:buNone/>
            </a:pPr>
            <a:r>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idx="14" hasCustomPrompt="1"/>
          </p:nvPr>
        </p:nvSpPr>
        <p:spPr>
          <a:xfrm>
            <a:off x="4230687" y="3736526"/>
            <a:ext cx="3727451" cy="457200"/>
          </a:xfrm>
        </p:spPr>
        <p:txBody>
          <a:bodyPr/>
          <a:lstStyle>
            <a:lvl1pPr marL="0" indent="0">
              <a:spcAft>
                <a:spcPts val="0"/>
              </a:spcAft>
              <a:buNone/>
              <a:defRPr sz="1400" kern="1200">
                <a:solidFill>
                  <a:schemeClr val="bg1"/>
                </a:solidFill>
                <a:latin typeface="+mn-lt"/>
                <a:ea typeface="+mn-lt"/>
                <a:cs typeface="+mn-lt"/>
              </a:defRPr>
            </a:lvl1pPr>
            <a:lvl2pPr>
              <a:buNone/>
              <a:defRPr/>
            </a:lvl2pPr>
            <a:lvl3pPr>
              <a:buNone/>
              <a:defRPr/>
            </a:lvl3pPr>
            <a:lvl4pPr>
              <a:buNone/>
              <a:defRPr/>
            </a:lvl4pPr>
            <a:lvl5pPr>
              <a:buNone/>
              <a:defRPr/>
            </a:lvl5pPr>
          </a:lstStyle>
          <a:p>
            <a:pPr lvl="0">
              <a:buNone/>
            </a:pPr>
            <a:r>
              <a:t>Speaker Name</a:t>
            </a:r>
          </a:p>
          <a:p>
            <a:pPr lvl="0">
              <a:buNone/>
            </a:pPr>
            <a:r>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idx="15" hasCustomPrompt="1"/>
          </p:nvPr>
        </p:nvSpPr>
        <p:spPr>
          <a:xfrm>
            <a:off x="323850" y="4363133"/>
            <a:ext cx="3725863" cy="457200"/>
          </a:xfrm>
          <a:prstGeom prst="rect">
            <a:avLst/>
          </a:prstGeom>
          <a:noFill/>
        </p:spPr>
        <p:txBody>
          <a:bodyPr/>
          <a:lstStyle>
            <a:lvl1pPr marL="0" indent="0">
              <a:spcAft>
                <a:spcPts val="0"/>
              </a:spcAft>
              <a:buNone/>
              <a:defRPr sz="1400"/>
            </a:lvl1pPr>
          </a:lstStyle>
          <a:p>
            <a:pPr lvl="0">
              <a:buNone/>
            </a:pPr>
            <a:r>
              <a:t>Speaker Name</a:t>
            </a:r>
          </a:p>
          <a:p>
            <a:pPr lvl="0">
              <a:buNone/>
            </a:pPr>
            <a:r>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idx="16" hasCustomPrompt="1"/>
          </p:nvPr>
        </p:nvSpPr>
        <p:spPr>
          <a:xfrm>
            <a:off x="4230687" y="4363133"/>
            <a:ext cx="3727451" cy="457200"/>
          </a:xfrm>
        </p:spPr>
        <p:txBody>
          <a:bodyPr/>
          <a:lstStyle>
            <a:lvl1pPr marL="0" indent="0">
              <a:spcAft>
                <a:spcPts val="0"/>
              </a:spcAft>
              <a:buNone/>
              <a:defRPr sz="1400" kern="1200">
                <a:solidFill>
                  <a:schemeClr val="bg1"/>
                </a:solidFill>
                <a:latin typeface="+mn-lt"/>
                <a:ea typeface="+mn-lt"/>
                <a:cs typeface="+mn-lt"/>
              </a:defRPr>
            </a:lvl1pPr>
            <a:lvl2pPr>
              <a:buNone/>
              <a:defRPr/>
            </a:lvl2pPr>
            <a:lvl3pPr>
              <a:buNone/>
              <a:defRPr/>
            </a:lvl3pPr>
            <a:lvl4pPr>
              <a:buNone/>
              <a:defRPr/>
            </a:lvl4pPr>
            <a:lvl5pPr>
              <a:buNone/>
              <a:defRPr/>
            </a:lvl5pPr>
          </a:lstStyle>
          <a:p>
            <a:pPr lvl="0">
              <a:buNone/>
            </a:pPr>
            <a:r>
              <a:t>Speaker Name</a:t>
            </a:r>
          </a:p>
          <a:p>
            <a:pPr lvl="0">
              <a:buNone/>
            </a:pPr>
            <a:r>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idx="12" hasCustomPrompt="1"/>
          </p:nvPr>
        </p:nvSpPr>
        <p:spPr>
          <a:xfrm>
            <a:off x="323850" y="6364224"/>
            <a:ext cx="3906838" cy="493776"/>
          </a:xfrm>
          <a:prstGeom prst="rect">
            <a:avLst/>
          </a:prstGeom>
          <a:noFill/>
        </p:spPr>
        <p:txBody>
          <a:bodyPr/>
          <a:lstStyle>
            <a:lvl1pPr marL="0" indent="0">
              <a:buNone/>
              <a:defRPr sz="1400">
                <a:solidFill>
                  <a:schemeClr val="bg2"/>
                </a:solidFill>
              </a:defRPr>
            </a:lvl1pPr>
          </a:lstStyle>
          <a:p>
            <a:pPr lvl="0">
              <a:buNone/>
            </a:pPr>
            <a:r>
              <a:t>Date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3, Six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lstStyle>
            <a:lvl1pPr>
              <a:buNone/>
              <a:defRPr sz="3600"/>
            </a:lvl1pPr>
          </a:lstStyle>
          <a:p>
            <a:r>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idx="13" hasCustomPrompt="1"/>
          </p:nvPr>
        </p:nvSpPr>
        <p:spPr>
          <a:xfrm>
            <a:off x="323850" y="3203123"/>
            <a:ext cx="6656388" cy="223837"/>
          </a:xfrm>
          <a:prstGeom prst="rect">
            <a:avLst/>
          </a:prstGeom>
          <a:noFill/>
        </p:spPr>
        <p:txBody>
          <a:bodyPr/>
          <a:lstStyle>
            <a:lvl1pPr marL="0" indent="0">
              <a:buNone/>
              <a:defRPr sz="1600" b="0" kern="1200">
                <a:solidFill>
                  <a:schemeClr val="bg1"/>
                </a:solidFill>
                <a:latin typeface="+mn-lt"/>
                <a:ea typeface="+mn-lt"/>
                <a:cs typeface="+mn-lt"/>
              </a:defRPr>
            </a:lvl1pPr>
          </a:lstStyle>
          <a:p>
            <a:pPr marL="0" lvl="0" indent="0" algn="l" defTabSz="912276">
              <a:lnSpc>
                <a:spcPct val="100000"/>
              </a:lnSpc>
              <a:spcBef>
                <a:spcPts val="0"/>
              </a:spcBef>
              <a:spcAft>
                <a:spcPts val="1000"/>
              </a:spcAft>
              <a:buClr>
                <a:schemeClr val="bg1"/>
              </a:buClr>
              <a:buSzPct val="100000"/>
              <a:buFont typeface="Arial"/>
              <a:buNone/>
            </a:pPr>
            <a:r>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idx="11" hasCustomPrompt="1"/>
          </p:nvPr>
        </p:nvSpPr>
        <p:spPr>
          <a:xfrm>
            <a:off x="323850" y="3736526"/>
            <a:ext cx="3725863" cy="457200"/>
          </a:xfrm>
          <a:prstGeom prst="rect">
            <a:avLst/>
          </a:prstGeom>
          <a:noFill/>
        </p:spPr>
        <p:txBody>
          <a:bodyPr/>
          <a:lstStyle>
            <a:lvl1pPr marL="0" indent="0">
              <a:spcAft>
                <a:spcPts val="0"/>
              </a:spcAft>
              <a:buNone/>
              <a:defRPr sz="1400"/>
            </a:lvl1pPr>
          </a:lstStyle>
          <a:p>
            <a:pPr lvl="0">
              <a:buNone/>
            </a:pPr>
            <a:r>
              <a:t>Speaker Name</a:t>
            </a:r>
          </a:p>
          <a:p>
            <a:pPr lvl="0">
              <a:buNone/>
            </a:pPr>
            <a:r>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idx="14" hasCustomPrompt="1"/>
          </p:nvPr>
        </p:nvSpPr>
        <p:spPr>
          <a:xfrm>
            <a:off x="4230687" y="3736526"/>
            <a:ext cx="3727451" cy="457200"/>
          </a:xfrm>
        </p:spPr>
        <p:txBody>
          <a:bodyPr/>
          <a:lstStyle>
            <a:lvl1pPr marL="0" indent="0">
              <a:spcAft>
                <a:spcPts val="0"/>
              </a:spcAft>
              <a:buNone/>
              <a:defRPr sz="1400" kern="1200">
                <a:solidFill>
                  <a:schemeClr val="bg1"/>
                </a:solidFill>
                <a:latin typeface="+mn-lt"/>
                <a:ea typeface="+mn-lt"/>
                <a:cs typeface="+mn-lt"/>
              </a:defRPr>
            </a:lvl1pPr>
            <a:lvl2pPr>
              <a:buNone/>
              <a:defRPr/>
            </a:lvl2pPr>
            <a:lvl3pPr>
              <a:buNone/>
              <a:defRPr/>
            </a:lvl3pPr>
            <a:lvl4pPr>
              <a:buNone/>
              <a:defRPr/>
            </a:lvl4pPr>
            <a:lvl5pPr>
              <a:buNone/>
              <a:defRPr/>
            </a:lvl5pPr>
          </a:lstStyle>
          <a:p>
            <a:pPr lvl="0">
              <a:buNone/>
            </a:pPr>
            <a:r>
              <a:t>Speaker Name</a:t>
            </a:r>
          </a:p>
          <a:p>
            <a:pPr lvl="0">
              <a:buNone/>
            </a:pPr>
            <a:r>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idx="12" hasCustomPrompt="1"/>
          </p:nvPr>
        </p:nvSpPr>
        <p:spPr>
          <a:xfrm>
            <a:off x="323850" y="6364224"/>
            <a:ext cx="3906838" cy="493776"/>
          </a:xfrm>
          <a:prstGeom prst="rect">
            <a:avLst/>
          </a:prstGeom>
          <a:noFill/>
        </p:spPr>
        <p:txBody>
          <a:bodyPr/>
          <a:lstStyle>
            <a:lvl1pPr marL="0" indent="0">
              <a:buNone/>
              <a:defRPr sz="1400">
                <a:solidFill>
                  <a:schemeClr val="bg2"/>
                </a:solidFill>
              </a:defRPr>
            </a:lvl1pPr>
          </a:lstStyle>
          <a:p>
            <a:pPr lvl="0">
              <a:buNone/>
            </a:pPr>
            <a:r>
              <a:t>Date</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idx="15" hasCustomPrompt="1"/>
          </p:nvPr>
        </p:nvSpPr>
        <p:spPr>
          <a:xfrm>
            <a:off x="323850" y="4363133"/>
            <a:ext cx="3725863" cy="457200"/>
          </a:xfrm>
          <a:prstGeom prst="rect">
            <a:avLst/>
          </a:prstGeom>
          <a:noFill/>
        </p:spPr>
        <p:txBody>
          <a:bodyPr/>
          <a:lstStyle>
            <a:lvl1pPr marL="0" indent="0">
              <a:spcAft>
                <a:spcPts val="0"/>
              </a:spcAft>
              <a:buNone/>
              <a:defRPr sz="1400"/>
            </a:lvl1pPr>
          </a:lstStyle>
          <a:p>
            <a:pPr lvl="0">
              <a:buNone/>
            </a:pPr>
            <a:r>
              <a:t>Speaker Name</a:t>
            </a:r>
          </a:p>
          <a:p>
            <a:pPr lvl="0">
              <a:buNone/>
            </a:pPr>
            <a:r>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idx="16" hasCustomPrompt="1"/>
          </p:nvPr>
        </p:nvSpPr>
        <p:spPr>
          <a:xfrm>
            <a:off x="4230687" y="4363133"/>
            <a:ext cx="3727451" cy="457200"/>
          </a:xfrm>
        </p:spPr>
        <p:txBody>
          <a:bodyPr/>
          <a:lstStyle>
            <a:lvl1pPr marL="0" indent="0">
              <a:spcAft>
                <a:spcPts val="0"/>
              </a:spcAft>
              <a:buNone/>
              <a:defRPr sz="1400" kern="1200">
                <a:solidFill>
                  <a:schemeClr val="bg1"/>
                </a:solidFill>
                <a:latin typeface="+mn-lt"/>
                <a:ea typeface="+mn-lt"/>
                <a:cs typeface="+mn-lt"/>
              </a:defRPr>
            </a:lvl1pPr>
            <a:lvl2pPr>
              <a:buNone/>
              <a:defRPr/>
            </a:lvl2pPr>
            <a:lvl3pPr>
              <a:buNone/>
              <a:defRPr/>
            </a:lvl3pPr>
            <a:lvl4pPr>
              <a:buNone/>
              <a:defRPr/>
            </a:lvl4pPr>
            <a:lvl5pPr>
              <a:buNone/>
              <a:defRPr/>
            </a:lvl5pPr>
          </a:lstStyle>
          <a:p>
            <a:pPr lvl="0">
              <a:buNone/>
            </a:pPr>
            <a:r>
              <a:t>Speaker Name</a:t>
            </a:r>
          </a:p>
          <a:p>
            <a:pPr lvl="0">
              <a:buNone/>
            </a:pPr>
            <a:r>
              <a:t>Speaker Title placeholder, @social</a:t>
            </a:r>
          </a:p>
        </p:txBody>
      </p:sp>
      <p:sp>
        <p:nvSpPr>
          <p:cNvPr id="7" name="Text Placeholder 5">
            <a:extLst>
              <a:ext uri="{FF2B5EF4-FFF2-40B4-BE49-F238E27FC236}">
                <a16:creationId xmlns:a16="http://schemas.microsoft.com/office/drawing/2014/main" id="{B989D1F9-5949-EAFF-931D-8121D6A66AA8}"/>
              </a:ext>
            </a:extLst>
          </p:cNvPr>
          <p:cNvSpPr>
            <a:spLocks noGrp="1"/>
          </p:cNvSpPr>
          <p:nvPr>
            <p:ph type="body" idx="17" hasCustomPrompt="1"/>
          </p:nvPr>
        </p:nvSpPr>
        <p:spPr>
          <a:xfrm>
            <a:off x="323850" y="4986338"/>
            <a:ext cx="3725863" cy="457200"/>
          </a:xfrm>
          <a:prstGeom prst="rect">
            <a:avLst/>
          </a:prstGeom>
          <a:noFill/>
        </p:spPr>
        <p:txBody>
          <a:bodyPr/>
          <a:lstStyle>
            <a:lvl1pPr marL="0" indent="0">
              <a:spcAft>
                <a:spcPts val="0"/>
              </a:spcAft>
              <a:buNone/>
              <a:defRPr sz="1400"/>
            </a:lvl1pPr>
          </a:lstStyle>
          <a:p>
            <a:pPr lvl="0">
              <a:buNone/>
            </a:pPr>
            <a:r>
              <a:t>Speaker Name</a:t>
            </a:r>
          </a:p>
          <a:p>
            <a:pPr lvl="0">
              <a:buNone/>
            </a:pPr>
            <a:r>
              <a:t>Speaker Title placeholder, @social</a:t>
            </a:r>
          </a:p>
        </p:txBody>
      </p:sp>
      <p:sp>
        <p:nvSpPr>
          <p:cNvPr id="8" name="Text Placeholder 9">
            <a:extLst>
              <a:ext uri="{FF2B5EF4-FFF2-40B4-BE49-F238E27FC236}">
                <a16:creationId xmlns:a16="http://schemas.microsoft.com/office/drawing/2014/main" id="{3D1ACE7D-3D09-2D50-1C06-DBAD3893A921}"/>
              </a:ext>
            </a:extLst>
          </p:cNvPr>
          <p:cNvSpPr>
            <a:spLocks noGrp="1"/>
          </p:cNvSpPr>
          <p:nvPr>
            <p:ph type="body" idx="18" hasCustomPrompt="1"/>
          </p:nvPr>
        </p:nvSpPr>
        <p:spPr>
          <a:xfrm>
            <a:off x="4230687" y="4986338"/>
            <a:ext cx="3727451" cy="457200"/>
          </a:xfrm>
        </p:spPr>
        <p:txBody>
          <a:bodyPr/>
          <a:lstStyle>
            <a:lvl1pPr marL="0" indent="0">
              <a:spcAft>
                <a:spcPts val="0"/>
              </a:spcAft>
              <a:buNone/>
              <a:defRPr sz="1400" kern="1200">
                <a:solidFill>
                  <a:schemeClr val="bg1"/>
                </a:solidFill>
                <a:latin typeface="+mn-lt"/>
                <a:ea typeface="+mn-lt"/>
                <a:cs typeface="+mn-lt"/>
              </a:defRPr>
            </a:lvl1pPr>
            <a:lvl2pPr>
              <a:buNone/>
              <a:defRPr/>
            </a:lvl2pPr>
            <a:lvl3pPr>
              <a:buNone/>
              <a:defRPr/>
            </a:lvl3pPr>
            <a:lvl4pPr>
              <a:buNone/>
              <a:defRPr/>
            </a:lvl4pPr>
            <a:lvl5pPr>
              <a:buNone/>
              <a:defRPr/>
            </a:lvl5pPr>
          </a:lstStyle>
          <a:p>
            <a:pPr lvl="0">
              <a:buNone/>
            </a:pPr>
            <a:r>
              <a:t>Speaker Name</a:t>
            </a:r>
          </a:p>
          <a:p>
            <a:pPr lvl="0">
              <a:buNone/>
            </a:pPr>
            <a:r>
              <a:t>Speaker Title placeholder, @social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637F1A5-67B6-4A78-7FA7-0860E1B6F9B0}"/>
              </a:ext>
            </a:extLst>
          </p:cNvPr>
          <p:cNvSpPr>
            <a:spLocks noGrp="1"/>
          </p:cNvSpPr>
          <p:nvPr>
            <p:ph type="ftr" idx="21"/>
          </p:nvPr>
        </p:nvSpPr>
        <p:spPr/>
        <p:txBody>
          <a:bodyPr/>
          <a:lstStyle/>
          <a:p>
            <a:pPr defTabSz="814318">
              <a:buNone/>
            </a:pPr>
            <a:r>
              <a:t>Session ID: BRKSEC-XXXX</a:t>
            </a:r>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idx="19"/>
          </p:nvPr>
        </p:nvSpPr>
        <p:spPr/>
        <p:txBody>
          <a:bodyPr/>
          <a:lstStyle/>
          <a:p>
            <a:fld id="{C3C42FAE-7A31-41D3-A712-51D9B15D0B10}"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buNone/>
              <a:defRPr/>
            </a:lvl1pPr>
          </a:lstStyle>
          <a:p>
            <a:r>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buNone/>
            </a:pPr>
            <a:r>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idx="12"/>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t>Click to edit Master title style</a:t>
            </a:r>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buNone/>
            </a:pPr>
            <a:r>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idx="12"/>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idx="12" hasCustomPrompt="1"/>
          </p:nvPr>
        </p:nvSpPr>
        <p:spPr>
          <a:xfrm>
            <a:off x="323850" y="-2"/>
            <a:ext cx="5772150" cy="466344"/>
          </a:xfrm>
        </p:spPr>
        <p:txBody>
          <a:bodyPr anchor="b"/>
          <a:lstStyle>
            <a:lvl1pPr marL="0" indent="0">
              <a:buNone/>
              <a:defRPr sz="1200">
                <a:solidFill>
                  <a:schemeClr val="bg1"/>
                </a:solidFill>
              </a:defRPr>
            </a:lvl1pPr>
          </a:lstStyle>
          <a:p>
            <a:pPr lvl="0">
              <a:buNone/>
            </a:pPr>
            <a:r>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buNone/>
              <a:defRPr/>
            </a:lvl1pPr>
          </a:lstStyle>
          <a:p>
            <a:r>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idx="12" hasCustomPrompt="1"/>
          </p:nvPr>
        </p:nvSpPr>
        <p:spPr>
          <a:xfrm>
            <a:off x="323850" y="-2"/>
            <a:ext cx="5772150" cy="466344"/>
          </a:xfrm>
        </p:spPr>
        <p:txBody>
          <a:bodyPr anchor="b"/>
          <a:lstStyle>
            <a:lvl1pPr marL="0" indent="0">
              <a:buNone/>
              <a:defRPr sz="1200"/>
            </a:lvl1pPr>
          </a:lstStyle>
          <a:p>
            <a:pPr lvl="0">
              <a:buNone/>
            </a:pPr>
            <a:r>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buNone/>
              <a:defRPr/>
            </a:lvl1pPr>
          </a:lstStyle>
          <a:p>
            <a:r>
              <a:t>Click to edit Master title style</a:t>
            </a:r>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buNone/>
            </a:pPr>
            <a:r>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oAutofit/>
          </a:bodyPr>
          <a:lstStyle>
            <a:lvl1pPr>
              <a:buNone/>
              <a:defRPr/>
            </a:lvl1pPr>
          </a:lstStyle>
          <a:p>
            <a:r>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idx="12" hasCustomPrompt="1"/>
          </p:nvPr>
        </p:nvSpPr>
        <p:spPr>
          <a:xfrm>
            <a:off x="323850" y="0"/>
            <a:ext cx="5772150" cy="466342"/>
          </a:xfrm>
        </p:spPr>
        <p:txBody>
          <a:bodyPr anchor="b"/>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buNone/>
            </a:pPr>
            <a:r>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oAutofit/>
          </a:bodyPr>
          <a:lstStyle>
            <a:lvl1pPr>
              <a:buNone/>
              <a:defRPr/>
            </a:lvl1pPr>
          </a:lstStyle>
          <a:p>
            <a:r>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idx="13" hasCustomPrompt="1"/>
          </p:nvPr>
        </p:nvSpPr>
        <p:spPr>
          <a:xfrm>
            <a:off x="323850" y="0"/>
            <a:ext cx="5772150" cy="466344"/>
          </a:xfrm>
        </p:spPr>
        <p:txBody>
          <a:bodyPr anchor="b"/>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buNone/>
            </a:pPr>
            <a:r>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oAutofit/>
          </a:bodyPr>
          <a:lstStyle>
            <a:lvl1pPr>
              <a:buNone/>
              <a:defRPr/>
            </a:lvl1pPr>
          </a:lstStyle>
          <a:p>
            <a:r>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oAutofit/>
          </a:bodyPr>
          <a:lstStyle>
            <a:lvl1pPr>
              <a:buNone/>
              <a:defRPr/>
            </a:lvl1pPr>
          </a:lstStyle>
          <a:p>
            <a:r>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idx="12"/>
          </p:nvPr>
        </p:nvSpPr>
        <p:spPr>
          <a:xfrm>
            <a:off x="6581774" y="1244600"/>
            <a:ext cx="5286375" cy="4367213"/>
          </a:xfrm>
        </p:spPr>
        <p:txBody>
          <a:bodyPr anchor="ct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oAutofit/>
          </a:bodyPr>
          <a:lstStyle>
            <a:lvl1pPr>
              <a:buNone/>
              <a:defRPr/>
            </a:lvl1pPr>
          </a:lstStyle>
          <a:p>
            <a:r>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idx="12"/>
          </p:nvPr>
        </p:nvSpPr>
        <p:spPr>
          <a:xfrm>
            <a:off x="6581774" y="1244600"/>
            <a:ext cx="5286375" cy="4367213"/>
          </a:xfrm>
        </p:spPr>
        <p:txBody>
          <a:bodyPr anchor="ct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idx="14" hasCustomPrompt="1"/>
          </p:nvPr>
        </p:nvSpPr>
        <p:spPr>
          <a:xfrm>
            <a:off x="323850" y="0"/>
            <a:ext cx="5772150" cy="466344"/>
          </a:xfrm>
        </p:spPr>
        <p:txBody>
          <a:bodyPr anchor="b"/>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buNone/>
            </a:pPr>
            <a:r>
              <a:t>Section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buNone/>
              <a:defRPr/>
            </a:lvl1pPr>
          </a:lstStyle>
          <a:p>
            <a:r>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
        <p:nvSpPr>
          <p:cNvPr id="6" name="Text Placeholder 5">
            <a:extLst>
              <a:ext uri="{FF2B5EF4-FFF2-40B4-BE49-F238E27FC236}">
                <a16:creationId xmlns:a16="http://schemas.microsoft.com/office/drawing/2014/main" id="{141A00D0-7712-950D-34B2-5551B85F9E7B}"/>
              </a:ext>
            </a:extLst>
          </p:cNvPr>
          <p:cNvSpPr>
            <a:spLocks noGrp="1"/>
          </p:cNvSpPr>
          <p:nvPr>
            <p:ph type="body" idx="12"/>
          </p:nvPr>
        </p:nvSpPr>
        <p:spPr>
          <a:xfrm>
            <a:off x="323850" y="952500"/>
            <a:ext cx="11544300" cy="5122863"/>
          </a:xfrm>
        </p:spPr>
        <p:txBody>
          <a:bodyPr/>
          <a:lstStyle>
            <a:lvl1pPr>
              <a:buNone/>
              <a:defRPr sz="2000"/>
            </a:lvl1pPr>
            <a:lvl2pPr>
              <a:buNone/>
              <a:defRPr sz="2000"/>
            </a:lvl2pPr>
            <a:lvl3pPr>
              <a:buNone/>
              <a:defRPr sz="2000"/>
            </a:lvl3pPr>
            <a:lvl4pPr>
              <a:buNone/>
              <a:defRPr sz="2000"/>
            </a:lvl4pPr>
            <a:lvl5pPr>
              <a:buNone/>
              <a:defRPr sz="20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idx="12"/>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idx="14"/>
          </p:nvPr>
        </p:nvSpPr>
        <p:spPr>
          <a:xfrm>
            <a:off x="323851" y="2492376"/>
            <a:ext cx="5486400" cy="1868488"/>
          </a:xfrm>
        </p:spPr>
        <p:txBody>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idx="15"/>
          </p:nvPr>
        </p:nvSpPr>
        <p:spPr>
          <a:xfrm>
            <a:off x="6381751" y="2494756"/>
            <a:ext cx="5486400" cy="1868488"/>
          </a:xfrm>
        </p:spPr>
        <p:txBody>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buNone/>
            </a:pPr>
            <a:r>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idx="12"/>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idx="14"/>
          </p:nvPr>
        </p:nvSpPr>
        <p:spPr>
          <a:xfrm>
            <a:off x="323851" y="2492376"/>
            <a:ext cx="5486400" cy="1868488"/>
          </a:xfrm>
        </p:spPr>
        <p:txBody>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idx="15"/>
          </p:nvPr>
        </p:nvSpPr>
        <p:spPr>
          <a:xfrm>
            <a:off x="6381751" y="2494756"/>
            <a:ext cx="5486400" cy="1868488"/>
          </a:xfrm>
        </p:spPr>
        <p:txBody>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buNone/>
            </a:pPr>
            <a:r>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idx="12"/>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idx="13"/>
          </p:nvPr>
        </p:nvSpPr>
        <p:spPr>
          <a:xfrm>
            <a:off x="323848" y="2179638"/>
            <a:ext cx="3474720" cy="2495550"/>
          </a:xfrm>
        </p:spPr>
        <p:txBody>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idx="14"/>
          </p:nvPr>
        </p:nvSpPr>
        <p:spPr>
          <a:xfrm>
            <a:off x="4358639" y="2179638"/>
            <a:ext cx="3474720" cy="2495550"/>
          </a:xfrm>
        </p:spPr>
        <p:txBody>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idx="15"/>
          </p:nvPr>
        </p:nvSpPr>
        <p:spPr>
          <a:xfrm>
            <a:off x="8393430" y="2181225"/>
            <a:ext cx="3474720" cy="2495550"/>
          </a:xfrm>
        </p:spPr>
        <p:txBody>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buNone/>
            </a:pPr>
            <a:r>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idx="12"/>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idx="13"/>
          </p:nvPr>
        </p:nvSpPr>
        <p:spPr>
          <a:xfrm>
            <a:off x="330200" y="2179638"/>
            <a:ext cx="2468880" cy="2495550"/>
          </a:xfrm>
        </p:spPr>
        <p:txBody>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idx="14"/>
          </p:nvPr>
        </p:nvSpPr>
        <p:spPr>
          <a:xfrm>
            <a:off x="3351107" y="2179638"/>
            <a:ext cx="2468880" cy="2495550"/>
          </a:xfrm>
        </p:spPr>
        <p:txBody>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idx="15"/>
          </p:nvPr>
        </p:nvSpPr>
        <p:spPr>
          <a:xfrm>
            <a:off x="6372014" y="2179638"/>
            <a:ext cx="2468880" cy="2495550"/>
          </a:xfrm>
        </p:spPr>
        <p:txBody>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idx="16"/>
          </p:nvPr>
        </p:nvSpPr>
        <p:spPr>
          <a:xfrm>
            <a:off x="9392920" y="2179638"/>
            <a:ext cx="2468880" cy="2495550"/>
          </a:xfrm>
        </p:spPr>
        <p:txBody>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buNone/>
            </a:pPr>
            <a:r>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idx="12"/>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idx="13"/>
          </p:nvPr>
        </p:nvSpPr>
        <p:spPr>
          <a:xfrm>
            <a:off x="330200" y="2179638"/>
            <a:ext cx="2011680" cy="2495550"/>
          </a:xfrm>
        </p:spPr>
        <p:txBody>
          <a:bodyPr/>
          <a:lstStyle>
            <a:lvl1pPr>
              <a:buNone/>
              <a:defRPr sz="1400"/>
            </a:lvl1pPr>
            <a:lvl2pPr>
              <a:buNone/>
              <a:defRPr sz="1400"/>
            </a:lvl2pPr>
            <a:lvl3pPr>
              <a:buNone/>
              <a:defRPr sz="1400"/>
            </a:lvl3pPr>
            <a:lvl4pPr>
              <a:buNone/>
              <a:defRPr sz="1400"/>
            </a:lvl4pPr>
            <a:lvl5pPr>
              <a:buNone/>
              <a:defRPr sz="14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idx="14"/>
          </p:nvPr>
        </p:nvSpPr>
        <p:spPr>
          <a:xfrm>
            <a:off x="2710180" y="2179638"/>
            <a:ext cx="2011680" cy="2495550"/>
          </a:xfrm>
        </p:spPr>
        <p:txBody>
          <a:bodyPr/>
          <a:lstStyle>
            <a:lvl1pPr>
              <a:buNone/>
              <a:defRPr sz="1400"/>
            </a:lvl1pPr>
            <a:lvl2pPr>
              <a:buNone/>
              <a:defRPr sz="1400"/>
            </a:lvl2pPr>
            <a:lvl3pPr>
              <a:buNone/>
              <a:defRPr sz="1400"/>
            </a:lvl3pPr>
            <a:lvl4pPr>
              <a:buNone/>
              <a:defRPr sz="1400"/>
            </a:lvl4pPr>
            <a:lvl5pPr>
              <a:buNone/>
              <a:defRPr sz="14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idx="15"/>
          </p:nvPr>
        </p:nvSpPr>
        <p:spPr>
          <a:xfrm>
            <a:off x="5090160" y="2179638"/>
            <a:ext cx="2011680" cy="2495550"/>
          </a:xfrm>
        </p:spPr>
        <p:txBody>
          <a:bodyPr/>
          <a:lstStyle>
            <a:lvl1pPr>
              <a:buNone/>
              <a:defRPr sz="1400"/>
            </a:lvl1pPr>
            <a:lvl2pPr>
              <a:buNone/>
              <a:defRPr sz="1400"/>
            </a:lvl2pPr>
            <a:lvl3pPr>
              <a:buNone/>
              <a:defRPr sz="1400"/>
            </a:lvl3pPr>
            <a:lvl4pPr>
              <a:buNone/>
              <a:defRPr sz="1400"/>
            </a:lvl4pPr>
            <a:lvl5pPr>
              <a:buNone/>
              <a:defRPr sz="14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idx="16"/>
          </p:nvPr>
        </p:nvSpPr>
        <p:spPr>
          <a:xfrm>
            <a:off x="7470140" y="2179638"/>
            <a:ext cx="2011680" cy="2495550"/>
          </a:xfrm>
        </p:spPr>
        <p:txBody>
          <a:bodyPr/>
          <a:lstStyle>
            <a:lvl1pPr>
              <a:buNone/>
              <a:defRPr sz="1400"/>
            </a:lvl1pPr>
            <a:lvl2pPr>
              <a:buNone/>
              <a:defRPr sz="1400"/>
            </a:lvl2pPr>
            <a:lvl3pPr>
              <a:buNone/>
              <a:defRPr sz="1400"/>
            </a:lvl3pPr>
            <a:lvl4pPr>
              <a:buNone/>
              <a:defRPr sz="1400"/>
            </a:lvl4pPr>
            <a:lvl5pPr>
              <a:buNone/>
              <a:defRPr sz="14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idx="17"/>
          </p:nvPr>
        </p:nvSpPr>
        <p:spPr>
          <a:xfrm>
            <a:off x="9850120" y="2181225"/>
            <a:ext cx="2011680" cy="2493963"/>
          </a:xfrm>
        </p:spPr>
        <p:txBody>
          <a:bodyPr/>
          <a:lstStyle>
            <a:lvl1pPr>
              <a:buNone/>
              <a:defRPr sz="1400"/>
            </a:lvl1pPr>
            <a:lvl2pPr>
              <a:buNone/>
              <a:defRPr sz="1400"/>
            </a:lvl2pPr>
            <a:lvl3pPr>
              <a:buNone/>
              <a:defRPr sz="1400"/>
            </a:lvl3pPr>
            <a:lvl4pPr>
              <a:buNone/>
              <a:defRPr sz="1400"/>
            </a:lvl4pPr>
            <a:lvl5pPr>
              <a:buNone/>
              <a:defRPr sz="14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oAutofit/>
          </a:bodyPr>
          <a:lstStyle>
            <a:lvl1pPr>
              <a:buNone/>
              <a:defRPr/>
            </a:lvl1pPr>
          </a:lstStyle>
          <a:p>
            <a:r>
              <a:t>Click to edit Master title style</a:t>
            </a:r>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idx="13" hasCustomPrompt="1"/>
          </p:nvPr>
        </p:nvSpPr>
        <p:spPr>
          <a:xfrm>
            <a:off x="6107430" y="320675"/>
            <a:ext cx="5760720" cy="5759451"/>
          </a:xfrm>
          <a:prstGeom prst="roundRect">
            <a:avLst>
              <a:gd name="adj" fmla="val 1618"/>
            </a:avLst>
          </a:prstGeom>
          <a:solidFill>
            <a:schemeClr val="bg1">
              <a:alpha val="10000"/>
            </a:schemeClr>
          </a:solidFill>
        </p:spPr>
        <p:txBody>
          <a:bodyPr tIns="1737360"/>
          <a:lstStyle>
            <a:lvl1pPr marL="0" indent="0" algn="ctr">
              <a:buNone/>
              <a:defRPr/>
            </a:lvl1pPr>
          </a:lstStyle>
          <a:p>
            <a:r>
              <a:t>To add your image, drag and drop it here </a:t>
            </a:r>
            <a:br/>
            <a:r>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oAutofit/>
          </a:bodyPr>
          <a:lstStyle>
            <a:lvl1pPr>
              <a:buNone/>
              <a:defRPr/>
            </a:lvl1pPr>
          </a:lstStyle>
          <a:p>
            <a:r>
              <a:t>Click to edit Master title style</a:t>
            </a:r>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idx="13" hasCustomPrompt="1"/>
          </p:nvPr>
        </p:nvSpPr>
        <p:spPr>
          <a:xfrm>
            <a:off x="8140700" y="320675"/>
            <a:ext cx="3727450" cy="5759451"/>
          </a:xfrm>
          <a:prstGeom prst="roundRect">
            <a:avLst>
              <a:gd name="adj" fmla="val 1618"/>
            </a:avLst>
          </a:prstGeom>
          <a:solidFill>
            <a:schemeClr val="bg1">
              <a:alpha val="10000"/>
            </a:schemeClr>
          </a:solidFill>
        </p:spPr>
        <p:txBody>
          <a:bodyPr tIns="1554480"/>
          <a:lstStyle>
            <a:lvl1pPr marL="0" indent="0" algn="ctr">
              <a:buNone/>
              <a:defRPr/>
            </a:lvl1pPr>
          </a:lstStyle>
          <a:p>
            <a:r>
              <a:t>To add your image, drag and drop it here </a:t>
            </a:r>
            <a:br/>
            <a:r>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oAutofit/>
          </a:bodyPr>
          <a:lstStyle>
            <a:lvl1pPr>
              <a:buNone/>
              <a:defRPr/>
            </a:lvl1pPr>
          </a:lstStyle>
          <a:p>
            <a:r>
              <a:t>Click to edit Master title style</a:t>
            </a:r>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idx="13" hasCustomPrompt="1"/>
          </p:nvPr>
        </p:nvSpPr>
        <p:spPr>
          <a:xfrm>
            <a:off x="4049713" y="320676"/>
            <a:ext cx="7818436" cy="5754688"/>
          </a:xfrm>
          <a:prstGeom prst="roundRect">
            <a:avLst>
              <a:gd name="adj" fmla="val 1618"/>
            </a:avLst>
          </a:prstGeom>
          <a:solidFill>
            <a:schemeClr val="bg1">
              <a:alpha val="10000"/>
            </a:schemeClr>
          </a:solidFill>
        </p:spPr>
        <p:txBody>
          <a:bodyPr tIns="1737360"/>
          <a:lstStyle>
            <a:lvl1pPr marL="0" indent="0" algn="ctr">
              <a:buNone/>
              <a:defRPr/>
            </a:lvl1pPr>
          </a:lstStyle>
          <a:p>
            <a:r>
              <a:t>To add your image, drag and drop it here </a:t>
            </a:r>
            <a:br/>
            <a:r>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oAutofit/>
          </a:bodyPr>
          <a:lstStyle>
            <a:lvl1pPr>
              <a:buNone/>
              <a:defRPr/>
            </a:lvl1pPr>
          </a:lstStyle>
          <a:p>
            <a:r>
              <a:t>Click to edit Master title style</a:t>
            </a:r>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idx="12" hasCustomPrompt="1"/>
          </p:nvPr>
        </p:nvSpPr>
        <p:spPr>
          <a:xfrm>
            <a:off x="6184901" y="795338"/>
            <a:ext cx="5284788" cy="5284788"/>
          </a:xfrm>
          <a:prstGeom prst="roundRect">
            <a:avLst>
              <a:gd name="adj" fmla="val 1618"/>
            </a:avLst>
          </a:prstGeom>
          <a:solidFill>
            <a:schemeClr val="bg1">
              <a:alpha val="10000"/>
            </a:schemeClr>
          </a:solidFill>
        </p:spPr>
        <p:txBody>
          <a:bodyPr tIns="1737360"/>
          <a:lstStyle>
            <a:lvl1pPr marL="0" indent="0" algn="ctr">
              <a:buNone/>
              <a:defRPr/>
            </a:lvl1pPr>
          </a:lstStyle>
          <a:p>
            <a:r>
              <a:t>To add your image, drag and drop it here </a:t>
            </a:r>
            <a:br/>
            <a:r>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idx="12" hasCustomPrompt="1"/>
          </p:nvPr>
        </p:nvSpPr>
        <p:spPr>
          <a:xfrm>
            <a:off x="323850" y="-2"/>
            <a:ext cx="5772150" cy="466344"/>
          </a:xfrm>
        </p:spPr>
        <p:txBody>
          <a:bodyPr anchor="b"/>
          <a:lstStyle>
            <a:lvl1pPr marL="0" indent="0">
              <a:buNone/>
              <a:defRPr sz="1200">
                <a:solidFill>
                  <a:schemeClr val="bg1"/>
                </a:solidFill>
              </a:defRPr>
            </a:lvl1pPr>
          </a:lstStyle>
          <a:p>
            <a:pPr lvl="0">
              <a:buNone/>
            </a:pPr>
            <a:r>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buNone/>
              <a:defRPr/>
            </a:lvl1pPr>
          </a:lstStyle>
          <a:p>
            <a:r>
              <a:t>Click to edit Master title style</a:t>
            </a:r>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idx="13"/>
          </p:nvPr>
        </p:nvSpPr>
        <p:spPr>
          <a:xfrm>
            <a:off x="323851" y="3429000"/>
            <a:ext cx="3328988" cy="2646363"/>
          </a:xfrm>
        </p:spPr>
        <p:txBody>
          <a:bodyPr anchor="b"/>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idx="14" hasCustomPrompt="1"/>
          </p:nvPr>
        </p:nvSpPr>
        <p:spPr>
          <a:xfrm>
            <a:off x="4049713" y="622300"/>
            <a:ext cx="7818436" cy="5453063"/>
          </a:xfrm>
          <a:prstGeom prst="roundRect">
            <a:avLst>
              <a:gd name="adj" fmla="val 1618"/>
            </a:avLst>
          </a:prstGeom>
          <a:solidFill>
            <a:schemeClr val="bg1">
              <a:alpha val="10000"/>
            </a:schemeClr>
          </a:solidFill>
        </p:spPr>
        <p:txBody>
          <a:bodyPr tIns="1737360"/>
          <a:lstStyle>
            <a:lvl1pPr marL="0" indent="0" algn="ctr">
              <a:buNone/>
              <a:defRPr/>
            </a:lvl1pPr>
          </a:lstStyle>
          <a:p>
            <a:r>
              <a:t>To add your image, drag and drop it here </a:t>
            </a:r>
            <a:br/>
            <a:r>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idx="12" hasCustomPrompt="1"/>
          </p:nvPr>
        </p:nvSpPr>
        <p:spPr>
          <a:xfrm>
            <a:off x="323850" y="0"/>
            <a:ext cx="5772150" cy="466342"/>
          </a:xfrm>
        </p:spPr>
        <p:txBody>
          <a:bodyPr anchor="b"/>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buNone/>
            </a:pPr>
            <a:r>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oAutofit/>
          </a:bodyPr>
          <a:lstStyle>
            <a:lvl1pPr>
              <a:buNone/>
              <a:defRPr/>
            </a:lvl1pPr>
          </a:lstStyle>
          <a:p>
            <a:r>
              <a:t>Click to edit Master title style</a:t>
            </a:r>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a:noAutofit/>
          </a:bodyPr>
          <a:lstStyle>
            <a:lvl1pPr>
              <a:buNone/>
              <a:defRPr/>
            </a:lvl1pPr>
          </a:lstStyle>
          <a:p>
            <a:pPr marL="0" lvl="0" indent="0" algn="ctr">
              <a:buNone/>
            </a:pPr>
            <a:r>
              <a:t>To add your image, </a:t>
            </a:r>
            <a:br/>
            <a:r>
              <a:t>drag and drop it here </a:t>
            </a:r>
            <a:br/>
            <a:r>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buNone/>
              <a:defRPr/>
            </a:lvl1pPr>
          </a:lstStyle>
          <a:p>
            <a:r>
              <a:t>Click to edit Master title style</a:t>
            </a:r>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463040" rIns="0" bIns="0">
            <a:noAutofit/>
          </a:bodyPr>
          <a:lstStyle>
            <a:lvl1pPr>
              <a:buNone/>
              <a:defRPr/>
            </a:lvl1pPr>
          </a:lstStyle>
          <a:p>
            <a:pPr marL="0" lvl="0" indent="0" algn="ctr">
              <a:buNone/>
            </a:pPr>
            <a:r>
              <a:t>To add your image, drag and drop it here </a:t>
            </a:r>
            <a:br/>
            <a:r>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buNone/>
            </a:pPr>
            <a:r>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a:noAutofit/>
          </a:bodyPr>
          <a:lstStyle>
            <a:lvl1pPr>
              <a:buNone/>
              <a:defRPr/>
            </a:lvl1pPr>
          </a:lstStyle>
          <a:p>
            <a:pPr marL="0" lvl="0" indent="0" algn="ctr">
              <a:buNone/>
            </a:pPr>
            <a:r>
              <a:t>To add your image, drag and drop it here </a:t>
            </a:r>
            <a:br/>
            <a:r>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idx="12"/>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idx="12" hasCustomPrompt="1"/>
          </p:nvPr>
        </p:nvSpPr>
        <p:spPr>
          <a:xfrm>
            <a:off x="323850" y="-2"/>
            <a:ext cx="5772150" cy="466344"/>
          </a:xfrm>
        </p:spPr>
        <p:txBody>
          <a:bodyPr anchor="b"/>
          <a:lstStyle>
            <a:lvl1pPr marL="0" indent="0">
              <a:buNone/>
              <a:defRPr sz="1200"/>
            </a:lvl1pPr>
          </a:lstStyle>
          <a:p>
            <a:pPr lvl="0">
              <a:buNone/>
            </a:pPr>
            <a:r>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buNone/>
              <a:defRPr/>
            </a:lvl1pPr>
          </a:lstStyle>
          <a:p>
            <a:r>
              <a:t>Click to edit Master title style</a:t>
            </a:r>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a:noAutofit/>
          </a:bodyPr>
          <a:lstStyle>
            <a:lvl1pPr>
              <a:buNone/>
              <a:defRPr/>
            </a:lvl1pPr>
          </a:lstStyle>
          <a:p>
            <a:pPr marL="0" lvl="0" indent="0" algn="ctr">
              <a:buNone/>
            </a:pPr>
            <a:r>
              <a:t>To add your image, drag and drop it here </a:t>
            </a:r>
            <a:br/>
            <a:r>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t>To add your image, drag and drop it here </a:t>
            </a:r>
            <a:br/>
            <a:r>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buNone/>
              <a:defRPr/>
            </a:lvl1pPr>
          </a:lstStyle>
          <a:p>
            <a:r>
              <a:t>Click to edit Master title style</a:t>
            </a:r>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idx="13"/>
          </p:nvPr>
        </p:nvSpPr>
        <p:spPr/>
        <p:txBody>
          <a:bodyPr/>
          <a:lstStyle/>
          <a:p>
            <a:pPr defTabSz="814318">
              <a:buNone/>
            </a:pPr>
            <a:r>
              <a:t>Session ID: BRKSEC-XXXX</a:t>
            </a:r>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idx="14"/>
          </p:nvPr>
        </p:nvSpPr>
        <p:spPr/>
        <p:txBody>
          <a:bodyPr/>
          <a:lstStyle/>
          <a:p>
            <a:fld id="{C3C42FAE-7A31-41D3-A712-51D9B15D0B10}" type="slidenum">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t>To add your image, drag and drop it here </a:t>
            </a:r>
            <a:br/>
            <a:r>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lstStyle>
            <a:lvl1pPr algn="ctr">
              <a:buNone/>
              <a:defRPr/>
            </a:lvl1pPr>
          </a:lstStyle>
          <a:p>
            <a:r>
              <a:t>Click to edit Master title style</a:t>
            </a:r>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idx="14"/>
          </p:nvPr>
        </p:nvSpPr>
        <p:spPr/>
        <p:txBody>
          <a:bodyPr/>
          <a:lstStyle/>
          <a:p>
            <a:pPr defTabSz="814318">
              <a:buNone/>
            </a:pPr>
            <a:r>
              <a:t>Session ID: BRKSEC-XXXX</a:t>
            </a:r>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idx="15"/>
          </p:nvPr>
        </p:nvSpPr>
        <p:spPr/>
        <p:txBody>
          <a:bodyPr/>
          <a:lstStyle/>
          <a:p>
            <a:fld id="{C3C42FAE-7A31-41D3-A712-51D9B15D0B10}" type="slidenum">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t>To add your image, drag and drop it here </a:t>
            </a:r>
            <a:br/>
            <a:r>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idx="13" hasCustomPrompt="1"/>
          </p:nvPr>
        </p:nvSpPr>
        <p:spPr>
          <a:xfrm>
            <a:off x="1697038" y="-7937"/>
            <a:ext cx="8794750" cy="466344"/>
          </a:xfrm>
        </p:spPr>
        <p:txBody>
          <a:bodyPr anchor="b"/>
          <a:lstStyle>
            <a:lvl1pPr marL="0" indent="0" algn="ctr">
              <a:buNone/>
              <a:defRPr sz="1200"/>
            </a:lvl1pPr>
            <a:lvl2pPr algn="ctr">
              <a:buNone/>
              <a:defRPr sz="1400"/>
            </a:lvl2pPr>
            <a:lvl3pPr algn="ctr">
              <a:buNone/>
              <a:defRPr sz="1200"/>
            </a:lvl3pPr>
            <a:lvl4pPr algn="ctr">
              <a:buNone/>
              <a:defRPr sz="1100"/>
            </a:lvl4pPr>
            <a:lvl5pPr algn="ctr">
              <a:buNone/>
              <a:defRPr sz="1050"/>
            </a:lvl5pPr>
          </a:lstStyle>
          <a:p>
            <a:pPr lvl="0">
              <a:buNone/>
            </a:pPr>
            <a:r>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buNone/>
              <a:defRPr/>
            </a:lvl1pPr>
          </a:lstStyle>
          <a:p>
            <a:r>
              <a:t>Click to edit Master title style</a:t>
            </a:r>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idx="14"/>
          </p:nvPr>
        </p:nvSpPr>
        <p:spPr/>
        <p:txBody>
          <a:bodyPr/>
          <a:lstStyle/>
          <a:p>
            <a:pPr defTabSz="814318">
              <a:buNone/>
            </a:pPr>
            <a:r>
              <a:t>Session ID: BRKSEC-XXXX</a:t>
            </a:r>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idx="15"/>
          </p:nvPr>
        </p:nvSpPr>
        <p:spPr/>
        <p:txBody>
          <a:bodyPr/>
          <a:lstStyle/>
          <a:p>
            <a:fld id="{C3C42FAE-7A31-41D3-A712-51D9B15D0B10}" type="slidenum">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bleed Photo, Section, Title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idx="13" hasCustomPrompt="1"/>
          </p:nvPr>
        </p:nvSpPr>
        <p:spPr>
          <a:xfrm>
            <a:off x="1697038" y="-7937"/>
            <a:ext cx="8794750" cy="466344"/>
          </a:xfrm>
        </p:spPr>
        <p:txBody>
          <a:bodyPr anchor="b"/>
          <a:lstStyle>
            <a:lvl1pPr marL="0" indent="0" algn="ctr">
              <a:buNone/>
              <a:defRPr sz="1200"/>
            </a:lvl1pPr>
            <a:lvl2pPr algn="ctr">
              <a:buNone/>
              <a:defRPr sz="1400"/>
            </a:lvl2pPr>
            <a:lvl3pPr algn="ctr">
              <a:buNone/>
              <a:defRPr sz="1200"/>
            </a:lvl3pPr>
            <a:lvl4pPr algn="ctr">
              <a:buNone/>
              <a:defRPr sz="1100"/>
            </a:lvl4pPr>
            <a:lvl5pPr algn="ctr">
              <a:buNone/>
              <a:defRPr sz="1050"/>
            </a:lvl5pPr>
          </a:lstStyle>
          <a:p>
            <a:pPr lvl="0">
              <a:buNone/>
            </a:pPr>
            <a:r>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buNone/>
              <a:defRPr/>
            </a:lvl1pPr>
          </a:lstStyle>
          <a:p>
            <a:r>
              <a:t>Click to edit Master title style</a:t>
            </a:r>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idx="14"/>
          </p:nvPr>
        </p:nvSpPr>
        <p:spPr/>
        <p:txBody>
          <a:bodyPr/>
          <a:lstStyle/>
          <a:p>
            <a:pPr defTabSz="814318">
              <a:buNone/>
            </a:pPr>
            <a:r>
              <a:t>Session ID: BRKSEC-XXXX</a:t>
            </a:r>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idx="15"/>
          </p:nvPr>
        </p:nvSpPr>
        <p:spPr/>
        <p:txBody>
          <a:bodyPr/>
          <a:lstStyle/>
          <a:p>
            <a:fld id="{C3C42FAE-7A31-41D3-A712-51D9B15D0B10}" type="slidenum">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idx="12" hasCustomPrompt="1"/>
          </p:nvPr>
        </p:nvSpPr>
        <p:spPr>
          <a:xfrm>
            <a:off x="0" y="0"/>
            <a:ext cx="12192000" cy="4675188"/>
          </a:xfrm>
          <a:prstGeom prst="roundRect">
            <a:avLst>
              <a:gd name="adj" fmla="val 0"/>
            </a:avLst>
          </a:prstGeom>
          <a:solidFill>
            <a:schemeClr val="bg1">
              <a:alpha val="10000"/>
            </a:schemeClr>
          </a:solidFill>
        </p:spPr>
        <p:txBody>
          <a:bodyPr vert="horz" lIns="0" tIns="1463040" rIns="0" bIns="0">
            <a:noAutofit/>
          </a:bodyPr>
          <a:lstStyle>
            <a:lvl1pPr>
              <a:buNone/>
              <a:defRPr/>
            </a:lvl1pPr>
          </a:lstStyle>
          <a:p>
            <a:pPr marL="0" lvl="0" indent="0" algn="ctr">
              <a:buNone/>
            </a:pPr>
            <a:r>
              <a:t>To add your image, drag and drop it here </a:t>
            </a:r>
            <a:br/>
            <a:r>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idx="13" hasCustomPrompt="1"/>
          </p:nvPr>
        </p:nvSpPr>
        <p:spPr>
          <a:xfrm>
            <a:off x="323850" y="-7937"/>
            <a:ext cx="8612188" cy="466344"/>
          </a:xfrm>
        </p:spPr>
        <p:txBody>
          <a:bodyPr anchor="b"/>
          <a:lstStyle>
            <a:lvl1pPr marL="0" indent="0" algn="l">
              <a:buNone/>
              <a:defRPr sz="1200"/>
            </a:lvl1pPr>
            <a:lvl2pPr algn="ctr">
              <a:buNone/>
              <a:defRPr sz="1400"/>
            </a:lvl2pPr>
            <a:lvl3pPr algn="ctr">
              <a:buNone/>
              <a:defRPr sz="1200"/>
            </a:lvl3pPr>
            <a:lvl4pPr algn="ctr">
              <a:buNone/>
              <a:defRPr sz="1100"/>
            </a:lvl4pPr>
            <a:lvl5pPr algn="ctr">
              <a:buNone/>
              <a:defRPr sz="1050"/>
            </a:lvl5pPr>
          </a:lstStyle>
          <a:p>
            <a:pPr lvl="0">
              <a:buNone/>
            </a:pPr>
            <a:r>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buNone/>
              <a:defRPr/>
            </a:lvl1pPr>
          </a:lstStyle>
          <a:p>
            <a:r>
              <a:t>Click to edit Master title style</a:t>
            </a:r>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idx="14"/>
          </p:nvPr>
        </p:nvSpPr>
        <p:spPr/>
        <p:txBody>
          <a:bodyPr/>
          <a:lstStyle/>
          <a:p>
            <a:pPr defTabSz="814318">
              <a:buNone/>
            </a:pPr>
            <a:r>
              <a:t>Session ID: BRKSEC-XXXX</a:t>
            </a:r>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idx="15"/>
          </p:nvPr>
        </p:nvSpPr>
        <p:spPr/>
        <p:txBody>
          <a:bodyPr/>
          <a:lstStyle/>
          <a:p>
            <a:fld id="{C3C42FAE-7A31-41D3-A712-51D9B15D0B10}" type="slidenum">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6" name="Graphic 4">
            <a:extLst>
              <a:ext uri="{FF2B5EF4-FFF2-40B4-BE49-F238E27FC236}">
                <a16:creationId xmlns:a16="http://schemas.microsoft.com/office/drawing/2014/main" id="{4B52BC46-48EA-B916-39B5-C5FF3FB612BC}"/>
              </a:ext>
            </a:extLst>
          </p:cNvPr>
          <p:cNvSpPr>
            <a:spLocks noGrp="1"/>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a:gradFill rotWithShape="1">
              <a:gsLst>
                <a:gs pos="0">
                  <a:schemeClr val="accent1"/>
                </a:gs>
                <a:gs pos="100000">
                  <a:schemeClr val="accent2"/>
                </a:gs>
              </a:gsLst>
              <a:lin ang="2700000" scaled="1"/>
              <a:tileRect/>
            </a:gradFill>
            <a:prstDash val="solid"/>
          </a:ln>
        </p:spPr>
        <p:txBody>
          <a:bodyPr anchor="ctr"/>
          <a:lstStyle/>
          <a:p>
            <a:endParaRPr>
              <a:gradFill>
                <a:gsLst>
                  <a:gs pos="0">
                    <a:srgbClr val="009DE2"/>
                  </a:gs>
                  <a:gs pos="100000">
                    <a:schemeClr val="accent2"/>
                  </a:gs>
                </a:gsLst>
                <a:lin ang="2700000" scaled="1"/>
              </a:gradFill>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buNone/>
              <a:defRPr sz="4000"/>
            </a:lvl1pPr>
          </a:lstStyle>
          <a:p>
            <a:r>
              <a:t>Quote slide 1, Lorem ipsum dolor sit amet, consectetuer adipiscing elit, sed diam nonummy nibh euismod tincidunt ut laoreet dolore</a:t>
            </a:r>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buNone/>
            </a:pPr>
            <a:r>
              <a:t>Speaker Name</a:t>
            </a:r>
          </a:p>
          <a:p>
            <a:pPr lvl="0">
              <a:buNone/>
            </a:pPr>
            <a:r>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idx="10"/>
          </p:nvPr>
        </p:nvSpPr>
        <p:spPr/>
        <p:txBody>
          <a:bodyPr/>
          <a:lstStyle/>
          <a:p>
            <a:pPr defTabSz="814318">
              <a:buNone/>
            </a:pPr>
            <a:r>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idx="11"/>
          </p:nvPr>
        </p:nvSpPr>
        <p:spPr/>
        <p:txBody>
          <a:bodyPr/>
          <a:lstStyle/>
          <a:p>
            <a:fld id="{C3C42FAE-7A31-41D3-A712-51D9B15D0B10}" type="slidenum">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a:extLst>
              <a:ext uri="{FF2B5EF4-FFF2-40B4-BE49-F238E27FC236}">
                <a16:creationId xmlns:a16="http://schemas.microsoft.com/office/drawing/2014/main" id="{4B52BC46-48EA-B916-39B5-C5FF3FB612BC}"/>
              </a:ext>
            </a:extLst>
          </p:cNvPr>
          <p:cNvSpPr>
            <a:spLocks noGrp="1"/>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a:solidFill>
              <a:schemeClr val="bg1"/>
            </a:solidFill>
            <a:prstDash val="solid"/>
          </a:ln>
        </p:spPr>
        <p:txBody>
          <a:bodyPr anchor="ctr"/>
          <a:lstStyle/>
          <a:p>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buNone/>
              <a:defRPr sz="4000"/>
            </a:lvl1pPr>
          </a:lstStyle>
          <a:p>
            <a:r>
              <a:t>Quote slide 1, Lorem ipsum dolor sit amet, consectetuer adipiscing elit, sed diam nonummy nibh euismod tincidunt ut laoreet dolore</a:t>
            </a:r>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buNone/>
            </a:pPr>
            <a:r>
              <a:t>Speaker Name</a:t>
            </a:r>
          </a:p>
          <a:p>
            <a:pPr lvl="0">
              <a:buNone/>
            </a:pPr>
            <a:r>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idx="10"/>
          </p:nvPr>
        </p:nvSpPr>
        <p:spPr/>
        <p:txBody>
          <a:bodyPr/>
          <a:lstStyle/>
          <a:p>
            <a:pPr defTabSz="814318">
              <a:buNone/>
            </a:pPr>
            <a:r>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idx="11"/>
          </p:nvPr>
        </p:nvSpPr>
        <p:spPr/>
        <p:txBody>
          <a:bodyPr/>
          <a:lstStyle/>
          <a:p>
            <a:fld id="{C3C42FAE-7A31-41D3-A712-51D9B15D0B10}" type="slidenum">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buNone/>
              <a:defRPr sz="4000"/>
            </a:lvl1pPr>
          </a:lstStyle>
          <a:p>
            <a:r>
              <a:t>“Quote slide 1, Lorem ipsum dolor sit amet, consect adipiscing elit, sed diam no nummy nibh euismod tincidunt ut laoreet”</a:t>
            </a:r>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idx="12" hasCustomPrompt="1"/>
          </p:nvPr>
        </p:nvSpPr>
        <p:spPr>
          <a:xfrm>
            <a:off x="6096000" y="4726305"/>
            <a:ext cx="5373688" cy="673417"/>
          </a:xfrm>
        </p:spPr>
        <p:txBody>
          <a:bodyPr/>
          <a:lstStyle>
            <a:lvl1pPr marL="0" indent="0" algn="l">
              <a:spcAft>
                <a:spcPts val="0"/>
              </a:spcAft>
              <a:buNone/>
              <a:defRPr sz="2000"/>
            </a:lvl1pPr>
          </a:lstStyle>
          <a:p>
            <a:pPr lvl="0">
              <a:buNone/>
            </a:pPr>
            <a:r>
              <a:t>Speaker Name</a:t>
            </a:r>
          </a:p>
          <a:p>
            <a:pPr lvl="0">
              <a:buNone/>
            </a:pPr>
            <a:r>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idx="10"/>
          </p:nvPr>
        </p:nvSpPr>
        <p:spPr/>
        <p:txBody>
          <a:bodyPr/>
          <a:lstStyle/>
          <a:p>
            <a:pPr defTabSz="814318">
              <a:buNone/>
            </a:pPr>
            <a:r>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idx="11"/>
          </p:nvPr>
        </p:nvSpPr>
        <p:spPr/>
        <p:txBody>
          <a:bodyPr/>
          <a:lstStyle/>
          <a:p>
            <a:fld id="{C3C42FAE-7A31-41D3-A712-51D9B15D0B10}" type="slidenum">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2 Slide, Title, Body Copy, Graphic">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t>Click to edit Master title style</a:t>
            </a:r>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idx="11" hasCustomPrompt="1"/>
          </p:nvPr>
        </p:nvSpPr>
        <p:spPr>
          <a:xfrm>
            <a:off x="323850" y="1555750"/>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buNone/>
            </a:pPr>
            <a:r>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idx="12"/>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idx="10"/>
          </p:nvPr>
        </p:nvSpPr>
        <p:spPr/>
        <p:txBody>
          <a:bodyPr/>
          <a:lstStyle/>
          <a:p>
            <a:fld id="{C3C42FAE-7A31-41D3-A712-51D9B15D0B10}" type="slidenum">
              <a:t>‹#›</a:t>
            </a:fld>
            <a:endParaRPr/>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idx="11"/>
          </p:nvPr>
        </p:nvSpPr>
        <p:spPr/>
        <p:txBody>
          <a:bodyPr/>
          <a:lstStyle/>
          <a:p>
            <a:pPr defTabSz="814318">
              <a:buNone/>
            </a:pPr>
            <a:r>
              <a:t>Session ID: BRKSEC-XXXX</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buNone/>
            </a:pPr>
            <a:r>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idx="13" hasCustomPrompt="1"/>
          </p:nvPr>
        </p:nvSpPr>
        <p:spPr>
          <a:xfrm>
            <a:off x="722313" y="1555750"/>
            <a:ext cx="10747375" cy="4519613"/>
          </a:xfrm>
        </p:spPr>
        <p:txBody>
          <a:bodyPr tIns="914400"/>
          <a:lstStyle>
            <a:lvl1pPr marL="0" indent="0" algn="ctr">
              <a:buNone/>
              <a:defRPr/>
            </a:lvl1pPr>
          </a:lstStyle>
          <a:p>
            <a:r>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idx="12"/>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buNone/>
            </a:pPr>
            <a:r>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idx="13" hasCustomPrompt="1"/>
          </p:nvPr>
        </p:nvSpPr>
        <p:spPr>
          <a:xfrm>
            <a:off x="323850" y="1555750"/>
            <a:ext cx="11544300" cy="4519613"/>
          </a:xfrm>
        </p:spPr>
        <p:txBody>
          <a:bodyPr tIns="914400"/>
          <a:lstStyle>
            <a:lvl1pPr marL="0" indent="0" algn="ctr">
              <a:buNone/>
              <a:defRPr/>
            </a:lvl1pPr>
          </a:lstStyle>
          <a:p>
            <a:r>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idx="12"/>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oAutofit/>
          </a:bodyPr>
          <a:lstStyle>
            <a:lvl1pPr>
              <a:buNone/>
              <a:defRPr/>
            </a:lvl1pPr>
          </a:lstStyle>
          <a:p>
            <a:r>
              <a:t>Click to edit Master title style</a:t>
            </a:r>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idx="12" hasCustomPrompt="1"/>
          </p:nvPr>
        </p:nvSpPr>
        <p:spPr>
          <a:xfrm>
            <a:off x="6581775" y="952500"/>
            <a:ext cx="4887913" cy="4968875"/>
          </a:xfrm>
        </p:spPr>
        <p:txBody>
          <a:bodyPr tIns="914400"/>
          <a:lstStyle>
            <a:lvl1pPr marL="0" indent="0" algn="ctr">
              <a:buNone/>
              <a:defRPr/>
            </a:lvl1pPr>
          </a:lstStyle>
          <a:p>
            <a:r>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idx="11"/>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tatement 1, Title, Subtit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lstStyle>
            <a:lvl1pPr algn="ctr">
              <a:buNone/>
              <a:defRPr sz="4000"/>
            </a:lvl1pPr>
          </a:lstStyle>
          <a:p>
            <a:r>
              <a:t>Click to edit Master title style</a:t>
            </a:r>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idx="12"/>
          </p:nvPr>
        </p:nvSpPr>
        <p:spPr/>
        <p:txBody>
          <a:bodyPr/>
          <a:lstStyle/>
          <a:p>
            <a:pPr defTabSz="814318">
              <a:buNone/>
            </a:pPr>
            <a:r>
              <a:t>Session ID: BRKSEC-XXXX</a:t>
            </a:r>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idx="10"/>
          </p:nvPr>
        </p:nvSpPr>
        <p:spPr/>
        <p:txBody>
          <a:bodyPr/>
          <a:lstStyle/>
          <a:p>
            <a:fld id="{C3C42FAE-7A31-41D3-A712-51D9B15D0B10}" type="slidenum">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Statement 1, Title, Sub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Lst>
          </p:cNvPr>
          <p:cNvSpPr>
            <a:spLocks noGrp="1"/>
          </p:cNvSpPr>
          <p:nvPr>
            <p:ph type="pic" idx="13" hasCustomPrompt="1"/>
          </p:nvPr>
        </p:nvSpPr>
        <p:spPr>
          <a:xfrm>
            <a:off x="0" y="0"/>
            <a:ext cx="12192000" cy="6858000"/>
          </a:xfrm>
        </p:spPr>
        <p:txBody>
          <a:bodyPr tIns="274320"/>
          <a:lstStyle>
            <a:lvl1pPr marL="0" indent="0" algn="ctr">
              <a:buNone/>
              <a:defRPr/>
            </a:lvl1pPr>
          </a:lstStyle>
          <a:p>
            <a:r>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lstStyle>
            <a:lvl1pPr algn="ctr">
              <a:buNone/>
              <a:defRPr sz="4000"/>
            </a:lvl1pPr>
          </a:lstStyle>
          <a:p>
            <a:r>
              <a:t>Click to edit Master title style</a:t>
            </a:r>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buNone/>
            </a:pPr>
            <a:r>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idx="14"/>
          </p:nvPr>
        </p:nvSpPr>
        <p:spPr/>
        <p:txBody>
          <a:bodyPr/>
          <a:lstStyle/>
          <a:p>
            <a:pPr defTabSz="814318">
              <a:buNone/>
            </a:pPr>
            <a:r>
              <a:t>Session ID: BRKSEC-XXXX</a:t>
            </a:r>
          </a:p>
        </p:txBody>
      </p:sp>
      <p:sp>
        <p:nvSpPr>
          <p:cNvPr id="4" name="Slide Number Placeholder 3">
            <a:extLst>
              <a:ext uri="{FF2B5EF4-FFF2-40B4-BE49-F238E27FC236}">
                <a16:creationId xmlns:a16="http://schemas.microsoft.com/office/drawing/2014/main" id="{D6CFB270-12CC-4B92-85FD-B7710644F26B}"/>
              </a:ext>
            </a:extLst>
          </p:cNvPr>
          <p:cNvSpPr>
            <a:spLocks noGrp="1"/>
          </p:cNvSpPr>
          <p:nvPr>
            <p:ph type="sldNum" idx="12"/>
          </p:nvPr>
        </p:nvSpPr>
        <p:spPr/>
        <p:txBody>
          <a:bodyPr/>
          <a:lstStyle/>
          <a:p>
            <a:fld id="{C3C42FAE-7A31-41D3-A712-51D9B15D0B10}" type="slidenum">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gue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a:xfrm>
            <a:off x="323850" y="2492231"/>
            <a:ext cx="7634288" cy="1870075"/>
          </a:xfrm>
        </p:spPr>
        <p:txBody>
          <a:bodyPr anchor="ctr"/>
          <a:lstStyle>
            <a:lvl1pPr>
              <a:buNone/>
              <a:defRPr sz="4000">
                <a:solidFill>
                  <a:schemeClr val="bg1"/>
                </a:solidFill>
              </a:defRPr>
            </a:lvl1pPr>
          </a:lstStyle>
          <a:p>
            <a:r>
              <a:t>Click to edit Master title style</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gue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oAutofit/>
          </a:bodyPr>
          <a:lstStyle>
            <a:lvl1pPr>
              <a:buNone/>
              <a:defRPr sz="4000"/>
            </a:lvl1pPr>
          </a:lstStyle>
          <a:p>
            <a:r>
              <a:t>Click to edit Master title style</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egu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lstStyle>
            <a:lvl1pPr>
              <a:buNone/>
              <a:defRPr sz="4000">
                <a:solidFill>
                  <a:schemeClr val="bg1"/>
                </a:solidFill>
              </a:defRPr>
            </a:lvl1pPr>
          </a:lstStyle>
          <a:p>
            <a:r>
              <a:t>Click to edit Master title style</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egue 4">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235825" cy="1868487"/>
          </a:xfrm>
        </p:spPr>
        <p:txBody>
          <a:bodyPr anchor="ctr"/>
          <a:lstStyle>
            <a:lvl1pPr>
              <a:buNone/>
              <a:defRPr sz="4000">
                <a:solidFill>
                  <a:schemeClr val="bg1"/>
                </a:solidFill>
              </a:defRPr>
            </a:lvl1pPr>
          </a:lstStyle>
          <a:p>
            <a:r>
              <a:t>Click to edit Master title style</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5412D7-A614-E163-F131-6847698E7759}"/>
              </a:ext>
            </a:extLst>
          </p:cNvPr>
          <p:cNvSpPr>
            <a:spLocks noGrp="1"/>
          </p:cNvSpPr>
          <p:nvPr/>
        </p:nvSpPr>
        <p:spPr>
          <a:xfrm>
            <a:off x="0" y="1244601"/>
            <a:ext cx="10888663" cy="4367212"/>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anchor="ctr"/>
          <a:lstStyle/>
          <a:p>
            <a:pPr algn="ctr">
              <a:buNone/>
            </a:pPr>
            <a:endParaRPr sz="1600">
              <a:solidFill>
                <a:schemeClr val="bg1"/>
              </a:solidFill>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lstStyle>
            <a:lvl1pPr>
              <a:buNone/>
              <a:defRPr/>
            </a:lvl1pPr>
          </a:lstStyle>
          <a:p>
            <a:r>
              <a:t>Thank you</a:t>
            </a:r>
          </a:p>
        </p:txBody>
      </p:sp>
      <p:pic>
        <p:nvPicPr>
          <p:cNvPr id="7" name="Picture 7"/>
          <p:cNvPicPr>
            <a:picLocks noChangeAspect="1"/>
          </p:cNvPicPr>
          <p:nvPr/>
        </p:nvPicPr>
        <p:blipFill>
          <a:blip>
            <a:extLs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hank you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lstStyle>
            <a:lvl1pPr>
              <a:buNone/>
              <a:defRPr/>
            </a:lvl1pPr>
          </a:lstStyle>
          <a:p>
            <a:r>
              <a:t>Thank you</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 1">
    <p:spTree>
      <p:nvGrpSpPr>
        <p:cNvPr id="1" name=""/>
        <p:cNvGrpSpPr/>
        <p:nvPr/>
      </p:nvGrpSpPr>
      <p:grpSpPr>
        <a:xfrm>
          <a:off x="0" y="0"/>
          <a:ext cx="0" cy="0"/>
          <a:chOff x="0" y="0"/>
          <a:chExt cx="0" cy="0"/>
        </a:xfrm>
      </p:grpSpPr>
      <p:sp>
        <p:nvSpPr>
          <p:cNvPr id="4" name="Freeform 24">
            <a:extLst>
              <a:ext uri="{FF2B5EF4-FFF2-40B4-BE49-F238E27FC236}">
                <a16:creationId xmlns:a16="http://schemas.microsoft.com/office/drawing/2014/main" id="{0848F511-CD0C-4E21-1411-CA7D0F6E3A43}"/>
              </a:ext>
            </a:extLst>
          </p:cNvPr>
          <p:cNvSpPr>
            <a:spLocks noGrp="1"/>
          </p:cNvSpPr>
          <p:nvPr/>
        </p:nvSpPr>
        <p:spPr>
          <a:xfrm>
            <a:off x="5831690" y="3403715"/>
            <a:ext cx="53378" cy="210276"/>
          </a:xfrm>
          <a:custGeom>
            <a:avLst/>
            <a:gdLst>
              <a:gd name="connsiteX0" fmla="*/ 0 w 44467"/>
              <a:gd name="connsiteY0" fmla="*/ 0 h 175170"/>
              <a:gd name="connsiteX1" fmla="*/ 44467 w 44467"/>
              <a:gd name="connsiteY1" fmla="*/ 0 h 175170"/>
              <a:gd name="connsiteX2" fmla="*/ 44467 w 44467"/>
              <a:gd name="connsiteY2" fmla="*/ 175170 h 175170"/>
              <a:gd name="connsiteX3" fmla="*/ 0 w 44467"/>
              <a:gd name="connsiteY3" fmla="*/ 175170 h 175170"/>
            </a:gdLst>
            <a:ahLst/>
            <a:cxnLst/>
            <a:rect l="l" t="t" r="r" b="b"/>
            <a:pathLst>
              <a:path w="44467" h="175170">
                <a:moveTo>
                  <a:pt x="0" y="0"/>
                </a:moveTo>
                <a:lnTo>
                  <a:pt x="44467" y="0"/>
                </a:lnTo>
                <a:lnTo>
                  <a:pt x="44467" y="175170"/>
                </a:lnTo>
                <a:lnTo>
                  <a:pt x="0" y="175170"/>
                </a:lnTo>
                <a:close/>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5" name="Freeform 25">
            <a:extLst>
              <a:ext uri="{FF2B5EF4-FFF2-40B4-BE49-F238E27FC236}">
                <a16:creationId xmlns:a16="http://schemas.microsoft.com/office/drawing/2014/main" id="{CE7BD058-D0FF-047D-F5E7-7A0A610E086D}"/>
              </a:ext>
            </a:extLst>
          </p:cNvPr>
          <p:cNvSpPr>
            <a:spLocks noGrp="1"/>
          </p:cNvSpPr>
          <p:nvPr/>
        </p:nvSpPr>
        <p:spPr>
          <a:xfrm>
            <a:off x="6154144" y="3400033"/>
            <a:ext cx="161334" cy="217748"/>
          </a:xfrm>
          <a:custGeom>
            <a:avLst/>
            <a:gdLst>
              <a:gd name="connsiteX0" fmla="*/ 0 w 134399"/>
              <a:gd name="connsiteY0" fmla="*/ 90652 h 181394"/>
              <a:gd name="connsiteX1" fmla="*/ 93835 w 134399"/>
              <a:gd name="connsiteY1" fmla="*/ 181394 h 181394"/>
              <a:gd name="connsiteX2" fmla="*/ 134400 w 134399"/>
              <a:gd name="connsiteY2" fmla="*/ 175170 h 181394"/>
              <a:gd name="connsiteX3" fmla="*/ 134400 w 134399"/>
              <a:gd name="connsiteY3" fmla="*/ 128176 h 181394"/>
              <a:gd name="connsiteX4" fmla="*/ 97011 w 134399"/>
              <a:gd name="connsiteY4" fmla="*/ 137196 h 181394"/>
              <a:gd name="connsiteX5" fmla="*/ 50003 w 134399"/>
              <a:gd name="connsiteY5" fmla="*/ 90472 h 181394"/>
              <a:gd name="connsiteX6" fmla="*/ 97011 w 134399"/>
              <a:gd name="connsiteY6" fmla="*/ 43747 h 181394"/>
              <a:gd name="connsiteX7" fmla="*/ 134400 w 134399"/>
              <a:gd name="connsiteY7" fmla="*/ 52768 h 181394"/>
              <a:gd name="connsiteX8" fmla="*/ 134400 w 134399"/>
              <a:gd name="connsiteY8" fmla="*/ 6314 h 181394"/>
              <a:gd name="connsiteX9" fmla="*/ 93835 w 134399"/>
              <a:gd name="connsiteY9" fmla="*/ 0 h 181394"/>
              <a:gd name="connsiteX10" fmla="*/ 0 w 134399"/>
              <a:gd name="connsiteY10" fmla="*/ 90652 h 181394"/>
            </a:gdLst>
            <a:ahLst/>
            <a:cxnLst/>
            <a:rect l="l" t="t" r="r" b="b"/>
            <a:pathLst>
              <a:path w="134399" h="181394">
                <a:moveTo>
                  <a:pt x="0" y="90652"/>
                </a:moveTo>
                <a:cubicBezTo>
                  <a:pt x="0" y="147118"/>
                  <a:pt x="43832" y="181394"/>
                  <a:pt x="93835" y="181394"/>
                </a:cubicBezTo>
                <a:cubicBezTo>
                  <a:pt x="107583" y="181261"/>
                  <a:pt x="121250" y="179165"/>
                  <a:pt x="134400" y="175170"/>
                </a:cubicBezTo>
                <a:lnTo>
                  <a:pt x="134400" y="128176"/>
                </a:lnTo>
                <a:cubicBezTo>
                  <a:pt x="122893" y="134240"/>
                  <a:pt x="110034" y="137341"/>
                  <a:pt x="97011" y="137196"/>
                </a:cubicBezTo>
                <a:cubicBezTo>
                  <a:pt x="71048" y="137196"/>
                  <a:pt x="50003" y="116276"/>
                  <a:pt x="50003" y="90472"/>
                </a:cubicBezTo>
                <a:cubicBezTo>
                  <a:pt x="50003" y="64667"/>
                  <a:pt x="71048" y="43747"/>
                  <a:pt x="97011" y="43747"/>
                </a:cubicBezTo>
                <a:cubicBezTo>
                  <a:pt x="110034" y="43598"/>
                  <a:pt x="122893" y="46700"/>
                  <a:pt x="134400" y="52768"/>
                </a:cubicBezTo>
                <a:lnTo>
                  <a:pt x="134400" y="6314"/>
                </a:lnTo>
                <a:cubicBezTo>
                  <a:pt x="121287" y="2146"/>
                  <a:pt x="107602" y="15"/>
                  <a:pt x="93835" y="0"/>
                </a:cubicBezTo>
                <a:cubicBezTo>
                  <a:pt x="39385" y="0"/>
                  <a:pt x="0" y="38335"/>
                  <a:pt x="0" y="90652"/>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6" name="Freeform 26">
            <a:extLst>
              <a:ext uri="{FF2B5EF4-FFF2-40B4-BE49-F238E27FC236}">
                <a16:creationId xmlns:a16="http://schemas.microsoft.com/office/drawing/2014/main" id="{83623A44-0F0F-1370-66F6-0846CAF90985}"/>
              </a:ext>
            </a:extLst>
          </p:cNvPr>
          <p:cNvSpPr>
            <a:spLocks noGrp="1"/>
          </p:cNvSpPr>
          <p:nvPr/>
        </p:nvSpPr>
        <p:spPr>
          <a:xfrm>
            <a:off x="5597040" y="3400033"/>
            <a:ext cx="161553" cy="217748"/>
          </a:xfrm>
          <a:custGeom>
            <a:avLst/>
            <a:gdLst>
              <a:gd name="connsiteX0" fmla="*/ 0 w 134581"/>
              <a:gd name="connsiteY0" fmla="*/ 90652 h 181394"/>
              <a:gd name="connsiteX1" fmla="*/ 93926 w 134581"/>
              <a:gd name="connsiteY1" fmla="*/ 181394 h 181394"/>
              <a:gd name="connsiteX2" fmla="*/ 134581 w 134581"/>
              <a:gd name="connsiteY2" fmla="*/ 175170 h 181394"/>
              <a:gd name="connsiteX3" fmla="*/ 134581 w 134581"/>
              <a:gd name="connsiteY3" fmla="*/ 128176 h 181394"/>
              <a:gd name="connsiteX4" fmla="*/ 97193 w 134581"/>
              <a:gd name="connsiteY4" fmla="*/ 137196 h 181394"/>
              <a:gd name="connsiteX5" fmla="*/ 50184 w 134581"/>
              <a:gd name="connsiteY5" fmla="*/ 90472 h 181394"/>
              <a:gd name="connsiteX6" fmla="*/ 97193 w 134581"/>
              <a:gd name="connsiteY6" fmla="*/ 43747 h 181394"/>
              <a:gd name="connsiteX7" fmla="*/ 134581 w 134581"/>
              <a:gd name="connsiteY7" fmla="*/ 52768 h 181394"/>
              <a:gd name="connsiteX8" fmla="*/ 134581 w 134581"/>
              <a:gd name="connsiteY8" fmla="*/ 6314 h 181394"/>
              <a:gd name="connsiteX9" fmla="*/ 93926 w 134581"/>
              <a:gd name="connsiteY9" fmla="*/ 0 h 181394"/>
              <a:gd name="connsiteX10" fmla="*/ 181 w 134581"/>
              <a:gd name="connsiteY10" fmla="*/ 90652 h 181394"/>
            </a:gdLst>
            <a:ahLst/>
            <a:cxnLst/>
            <a:rect l="l" t="t" r="r" b="b"/>
            <a:pathLst>
              <a:path w="134581" h="181394">
                <a:moveTo>
                  <a:pt x="0" y="90652"/>
                </a:moveTo>
                <a:cubicBezTo>
                  <a:pt x="0" y="147118"/>
                  <a:pt x="43832" y="181394"/>
                  <a:pt x="93926" y="181394"/>
                </a:cubicBezTo>
                <a:cubicBezTo>
                  <a:pt x="107708" y="181268"/>
                  <a:pt x="121400" y="179172"/>
                  <a:pt x="134581" y="175170"/>
                </a:cubicBezTo>
                <a:lnTo>
                  <a:pt x="134581" y="128176"/>
                </a:lnTo>
                <a:cubicBezTo>
                  <a:pt x="123065" y="134222"/>
                  <a:pt x="110216" y="137322"/>
                  <a:pt x="97193" y="137196"/>
                </a:cubicBezTo>
                <a:cubicBezTo>
                  <a:pt x="71231" y="137196"/>
                  <a:pt x="50184" y="116276"/>
                  <a:pt x="50184" y="90472"/>
                </a:cubicBezTo>
                <a:cubicBezTo>
                  <a:pt x="50184" y="64667"/>
                  <a:pt x="71231" y="43747"/>
                  <a:pt x="97193" y="43747"/>
                </a:cubicBezTo>
                <a:cubicBezTo>
                  <a:pt x="110217" y="43613"/>
                  <a:pt x="123068" y="46714"/>
                  <a:pt x="134581" y="52768"/>
                </a:cubicBezTo>
                <a:lnTo>
                  <a:pt x="134581" y="6314"/>
                </a:lnTo>
                <a:cubicBezTo>
                  <a:pt x="121434" y="2159"/>
                  <a:pt x="107722" y="30"/>
                  <a:pt x="93926" y="0"/>
                </a:cubicBezTo>
                <a:cubicBezTo>
                  <a:pt x="39476" y="0"/>
                  <a:pt x="181" y="38335"/>
                  <a:pt x="181" y="90652"/>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7" name="Freeform 27">
            <a:extLst>
              <a:ext uri="{FF2B5EF4-FFF2-40B4-BE49-F238E27FC236}">
                <a16:creationId xmlns:a16="http://schemas.microsoft.com/office/drawing/2014/main" id="{8ABAB402-379C-A6D8-AF39-B22717AC8652}"/>
              </a:ext>
            </a:extLst>
          </p:cNvPr>
          <p:cNvSpPr>
            <a:spLocks noGrp="1"/>
          </p:cNvSpPr>
          <p:nvPr/>
        </p:nvSpPr>
        <p:spPr>
          <a:xfrm>
            <a:off x="6375724" y="3399999"/>
            <a:ext cx="219185" cy="218412"/>
          </a:xfrm>
          <a:custGeom>
            <a:avLst/>
            <a:gdLst>
              <a:gd name="connsiteX0" fmla="*/ 89568 w 182591"/>
              <a:gd name="connsiteY0" fmla="*/ 137224 h 181947"/>
              <a:gd name="connsiteX1" fmla="*/ 42832 w 182591"/>
              <a:gd name="connsiteY1" fmla="*/ 91494 h 181947"/>
              <a:gd name="connsiteX2" fmla="*/ 88842 w 182591"/>
              <a:gd name="connsiteY2" fmla="*/ 45041 h 181947"/>
              <a:gd name="connsiteX3" fmla="*/ 135578 w 182591"/>
              <a:gd name="connsiteY3" fmla="*/ 90772 h 181947"/>
              <a:gd name="connsiteX4" fmla="*/ 135578 w 182591"/>
              <a:gd name="connsiteY4" fmla="*/ 91131 h 181947"/>
              <a:gd name="connsiteX5" fmla="*/ 91220 w 182591"/>
              <a:gd name="connsiteY5" fmla="*/ 137218 h 181947"/>
              <a:gd name="connsiteX6" fmla="*/ 89568 w 182591"/>
              <a:gd name="connsiteY6" fmla="*/ 137224 h 181947"/>
              <a:gd name="connsiteX7" fmla="*/ 89568 w 182591"/>
              <a:gd name="connsiteY7" fmla="*/ 479 h 181947"/>
              <a:gd name="connsiteX8" fmla="*/ 17 w 182591"/>
              <a:gd name="connsiteY8" fmla="*/ 92919 h 181947"/>
              <a:gd name="connsiteX9" fmla="*/ 93017 w 182591"/>
              <a:gd name="connsiteY9" fmla="*/ 181931 h 181947"/>
              <a:gd name="connsiteX10" fmla="*/ 182586 w 182591"/>
              <a:gd name="connsiteY10" fmla="*/ 91131 h 181947"/>
              <a:gd name="connsiteX11" fmla="*/ 92781 w 182591"/>
              <a:gd name="connsiteY11" fmla="*/ 5 h 181947"/>
              <a:gd name="connsiteX12" fmla="*/ 89568 w 182591"/>
              <a:gd name="connsiteY12" fmla="*/ 28 h 181947"/>
            </a:gdLst>
            <a:ahLst/>
            <a:cxnLst/>
            <a:rect l="l" t="t" r="r" b="b"/>
            <a:pathLst>
              <a:path w="182591" h="181947">
                <a:moveTo>
                  <a:pt x="89568" y="137224"/>
                </a:moveTo>
                <a:cubicBezTo>
                  <a:pt x="63959" y="137423"/>
                  <a:pt x="43032" y="116949"/>
                  <a:pt x="42832" y="91494"/>
                </a:cubicBezTo>
                <a:cubicBezTo>
                  <a:pt x="42633" y="66038"/>
                  <a:pt x="63233" y="45241"/>
                  <a:pt x="88842" y="45041"/>
                </a:cubicBezTo>
                <a:cubicBezTo>
                  <a:pt x="114452" y="44842"/>
                  <a:pt x="135378" y="65317"/>
                  <a:pt x="135578" y="90772"/>
                </a:cubicBezTo>
                <a:cubicBezTo>
                  <a:pt x="135578" y="90891"/>
                  <a:pt x="135578" y="91011"/>
                  <a:pt x="135578" y="91131"/>
                </a:cubicBezTo>
                <a:cubicBezTo>
                  <a:pt x="136132" y="116033"/>
                  <a:pt x="116267" y="136667"/>
                  <a:pt x="91220" y="137218"/>
                </a:cubicBezTo>
                <a:cubicBezTo>
                  <a:pt x="90666" y="137229"/>
                  <a:pt x="90122" y="137232"/>
                  <a:pt x="89568" y="137224"/>
                </a:cubicBezTo>
                <a:moveTo>
                  <a:pt x="89568" y="479"/>
                </a:moveTo>
                <a:cubicBezTo>
                  <a:pt x="39157" y="1425"/>
                  <a:pt x="-936" y="42812"/>
                  <a:pt x="17" y="92919"/>
                </a:cubicBezTo>
                <a:cubicBezTo>
                  <a:pt x="969" y="143026"/>
                  <a:pt x="42605" y="182877"/>
                  <a:pt x="93017" y="181931"/>
                </a:cubicBezTo>
                <a:cubicBezTo>
                  <a:pt x="142784" y="180997"/>
                  <a:pt x="182623" y="140607"/>
                  <a:pt x="182586" y="91131"/>
                </a:cubicBezTo>
                <a:cubicBezTo>
                  <a:pt x="183104" y="41317"/>
                  <a:pt x="142893" y="519"/>
                  <a:pt x="92781" y="5"/>
                </a:cubicBezTo>
                <a:cubicBezTo>
                  <a:pt x="91710" y="-6"/>
                  <a:pt x="90639" y="1"/>
                  <a:pt x="89568" y="28"/>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8" name="Freeform 28">
            <a:extLst>
              <a:ext uri="{FF2B5EF4-FFF2-40B4-BE49-F238E27FC236}">
                <a16:creationId xmlns:a16="http://schemas.microsoft.com/office/drawing/2014/main" id="{A0F49F63-D861-23D0-7A32-6898EA38AA9E}"/>
              </a:ext>
            </a:extLst>
          </p:cNvPr>
          <p:cNvSpPr>
            <a:spLocks noGrp="1"/>
          </p:cNvSpPr>
          <p:nvPr/>
        </p:nvSpPr>
        <p:spPr>
          <a:xfrm>
            <a:off x="5956314" y="3399925"/>
            <a:ext cx="145321" cy="217856"/>
          </a:xfrm>
          <a:custGeom>
            <a:avLst/>
            <a:gdLst>
              <a:gd name="connsiteX0" fmla="*/ 79678 w 121059"/>
              <a:gd name="connsiteY0" fmla="*/ 72612 h 181484"/>
              <a:gd name="connsiteX1" fmla="*/ 67427 w 121059"/>
              <a:gd name="connsiteY1" fmla="*/ 68733 h 181484"/>
              <a:gd name="connsiteX2" fmla="*/ 47099 w 121059"/>
              <a:gd name="connsiteY2" fmla="*/ 52046 h 181484"/>
              <a:gd name="connsiteX3" fmla="*/ 74324 w 121059"/>
              <a:gd name="connsiteY3" fmla="*/ 37614 h 181484"/>
              <a:gd name="connsiteX4" fmla="*/ 109081 w 121059"/>
              <a:gd name="connsiteY4" fmla="*/ 43026 h 181484"/>
              <a:gd name="connsiteX5" fmla="*/ 109081 w 121059"/>
              <a:gd name="connsiteY5" fmla="*/ 5592 h 181484"/>
              <a:gd name="connsiteX6" fmla="*/ 65703 w 121059"/>
              <a:gd name="connsiteY6" fmla="*/ 0 h 181484"/>
              <a:gd name="connsiteX7" fmla="*/ 0 w 121059"/>
              <a:gd name="connsiteY7" fmla="*/ 54752 h 181484"/>
              <a:gd name="connsiteX8" fmla="*/ 45375 w 121059"/>
              <a:gd name="connsiteY8" fmla="*/ 105986 h 181484"/>
              <a:gd name="connsiteX9" fmla="*/ 54994 w 121059"/>
              <a:gd name="connsiteY9" fmla="*/ 109143 h 181484"/>
              <a:gd name="connsiteX10" fmla="*/ 74778 w 121059"/>
              <a:gd name="connsiteY10" fmla="*/ 126462 h 181484"/>
              <a:gd name="connsiteX11" fmla="*/ 42471 w 121059"/>
              <a:gd name="connsiteY11" fmla="*/ 142878 h 181484"/>
              <a:gd name="connsiteX12" fmla="*/ 454 w 121059"/>
              <a:gd name="connsiteY12" fmla="*/ 136384 h 181484"/>
              <a:gd name="connsiteX13" fmla="*/ 454 w 121059"/>
              <a:gd name="connsiteY13" fmla="*/ 176704 h 181484"/>
              <a:gd name="connsiteX14" fmla="*/ 48460 w 121059"/>
              <a:gd name="connsiteY14" fmla="*/ 181484 h 181484"/>
              <a:gd name="connsiteX15" fmla="*/ 121060 w 121059"/>
              <a:gd name="connsiteY15" fmla="*/ 122673 h 181484"/>
              <a:gd name="connsiteX16" fmla="*/ 79043 w 121059"/>
              <a:gd name="connsiteY16" fmla="*/ 72612 h 181484"/>
            </a:gdLst>
            <a:ahLst/>
            <a:cxnLst/>
            <a:rect l="l" t="t" r="r" b="b"/>
            <a:pathLst>
              <a:path w="121059" h="181484">
                <a:moveTo>
                  <a:pt x="79678" y="72612"/>
                </a:moveTo>
                <a:lnTo>
                  <a:pt x="67427" y="68733"/>
                </a:lnTo>
                <a:cubicBezTo>
                  <a:pt x="60167" y="66388"/>
                  <a:pt x="47099" y="62690"/>
                  <a:pt x="47099" y="52046"/>
                </a:cubicBezTo>
                <a:cubicBezTo>
                  <a:pt x="47099" y="43567"/>
                  <a:pt x="56718" y="37614"/>
                  <a:pt x="74324" y="37614"/>
                </a:cubicBezTo>
                <a:cubicBezTo>
                  <a:pt x="86085" y="38079"/>
                  <a:pt x="97746" y="39896"/>
                  <a:pt x="109081" y="43026"/>
                </a:cubicBezTo>
                <a:lnTo>
                  <a:pt x="109081" y="5592"/>
                </a:lnTo>
                <a:cubicBezTo>
                  <a:pt x="94888" y="2071"/>
                  <a:pt x="80331" y="194"/>
                  <a:pt x="65703" y="0"/>
                </a:cubicBezTo>
                <a:cubicBezTo>
                  <a:pt x="24684" y="0"/>
                  <a:pt x="0" y="22009"/>
                  <a:pt x="0" y="54752"/>
                </a:cubicBezTo>
                <a:cubicBezTo>
                  <a:pt x="0" y="83797"/>
                  <a:pt x="20691" y="98229"/>
                  <a:pt x="45375" y="105986"/>
                </a:cubicBezTo>
                <a:cubicBezTo>
                  <a:pt x="48188" y="106888"/>
                  <a:pt x="52272" y="108151"/>
                  <a:pt x="54994" y="109143"/>
                </a:cubicBezTo>
                <a:cubicBezTo>
                  <a:pt x="65975" y="112571"/>
                  <a:pt x="74778" y="117622"/>
                  <a:pt x="74778" y="126462"/>
                </a:cubicBezTo>
                <a:cubicBezTo>
                  <a:pt x="74778" y="135301"/>
                  <a:pt x="64614" y="142878"/>
                  <a:pt x="42471" y="142878"/>
                </a:cubicBezTo>
                <a:cubicBezTo>
                  <a:pt x="28250" y="142457"/>
                  <a:pt x="14130" y="140275"/>
                  <a:pt x="454" y="136384"/>
                </a:cubicBezTo>
                <a:lnTo>
                  <a:pt x="454" y="176704"/>
                </a:lnTo>
                <a:cubicBezTo>
                  <a:pt x="16281" y="179724"/>
                  <a:pt x="32343" y="181324"/>
                  <a:pt x="48460" y="181484"/>
                </a:cubicBezTo>
                <a:cubicBezTo>
                  <a:pt x="82491" y="181484"/>
                  <a:pt x="121060" y="166691"/>
                  <a:pt x="121060" y="122673"/>
                </a:cubicBezTo>
                <a:cubicBezTo>
                  <a:pt x="121060" y="101296"/>
                  <a:pt x="107901" y="81632"/>
                  <a:pt x="79043" y="72612"/>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9" name="Freeform 29">
            <a:extLst>
              <a:ext uri="{FF2B5EF4-FFF2-40B4-BE49-F238E27FC236}">
                <a16:creationId xmlns:a16="http://schemas.microsoft.com/office/drawing/2014/main" id="{62CA1BBC-594E-0B3B-ACB5-5180E647EB68}"/>
              </a:ext>
            </a:extLst>
          </p:cNvPr>
          <p:cNvSpPr>
            <a:spLocks noGrp="1"/>
          </p:cNvSpPr>
          <p:nvPr/>
        </p:nvSpPr>
        <p:spPr>
          <a:xfrm>
            <a:off x="5487122" y="3151534"/>
            <a:ext cx="53051" cy="106155"/>
          </a:xfrm>
          <a:custGeom>
            <a:avLst/>
            <a:gdLst>
              <a:gd name="connsiteX0" fmla="*/ 22143 w 44194"/>
              <a:gd name="connsiteY0" fmla="*/ 0 h 88432"/>
              <a:gd name="connsiteX1" fmla="*/ 0 w 44194"/>
              <a:gd name="connsiteY1" fmla="*/ 21919 h 88432"/>
              <a:gd name="connsiteX2" fmla="*/ 0 w 44194"/>
              <a:gd name="connsiteY2" fmla="*/ 67831 h 88432"/>
              <a:gd name="connsiteX3" fmla="*/ 23514 w 44194"/>
              <a:gd name="connsiteY3" fmla="*/ 88387 h 88432"/>
              <a:gd name="connsiteX4" fmla="*/ 44195 w 44194"/>
              <a:gd name="connsiteY4" fmla="*/ 67831 h 88432"/>
              <a:gd name="connsiteX5" fmla="*/ 44195 w 44194"/>
              <a:gd name="connsiteY5" fmla="*/ 21919 h 88432"/>
              <a:gd name="connsiteX6" fmla="*/ 22143 w 44194"/>
              <a:gd name="connsiteY6" fmla="*/ 0 h 88432"/>
            </a:gdLst>
            <a:ahLst/>
            <a:cxnLst/>
            <a:rect l="l" t="t" r="r" b="b"/>
            <a:pathLst>
              <a:path w="44194" h="88432">
                <a:moveTo>
                  <a:pt x="22143" y="0"/>
                </a:moveTo>
                <a:cubicBezTo>
                  <a:pt x="9949" y="0"/>
                  <a:pt x="50" y="9799"/>
                  <a:pt x="0" y="21919"/>
                </a:cubicBezTo>
                <a:lnTo>
                  <a:pt x="0" y="67831"/>
                </a:lnTo>
                <a:cubicBezTo>
                  <a:pt x="782" y="79961"/>
                  <a:pt x="11310" y="89165"/>
                  <a:pt x="23514" y="88387"/>
                </a:cubicBezTo>
                <a:cubicBezTo>
                  <a:pt x="34627" y="87679"/>
                  <a:pt x="43483" y="78877"/>
                  <a:pt x="44195" y="67831"/>
                </a:cubicBezTo>
                <a:lnTo>
                  <a:pt x="44195" y="21919"/>
                </a:lnTo>
                <a:cubicBezTo>
                  <a:pt x="44195" y="9813"/>
                  <a:pt x="34321" y="0"/>
                  <a:pt x="22143" y="0"/>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10" name="Freeform 30">
            <a:extLst>
              <a:ext uri="{FF2B5EF4-FFF2-40B4-BE49-F238E27FC236}">
                <a16:creationId xmlns:a16="http://schemas.microsoft.com/office/drawing/2014/main" id="{51B57147-07A3-179D-3B44-669E31BA0779}"/>
              </a:ext>
            </a:extLst>
          </p:cNvPr>
          <p:cNvSpPr>
            <a:spLocks noGrp="1"/>
          </p:cNvSpPr>
          <p:nvPr/>
        </p:nvSpPr>
        <p:spPr>
          <a:xfrm>
            <a:off x="5632989" y="3079095"/>
            <a:ext cx="52943" cy="180175"/>
          </a:xfrm>
          <a:custGeom>
            <a:avLst/>
            <a:gdLst>
              <a:gd name="connsiteX0" fmla="*/ 22052 w 44104"/>
              <a:gd name="connsiteY0" fmla="*/ 150094 h 150094"/>
              <a:gd name="connsiteX1" fmla="*/ 44104 w 44104"/>
              <a:gd name="connsiteY1" fmla="*/ 128176 h 150094"/>
              <a:gd name="connsiteX2" fmla="*/ 44104 w 44104"/>
              <a:gd name="connsiteY2" fmla="*/ 21919 h 150094"/>
              <a:gd name="connsiteX3" fmla="*/ 22052 w 44104"/>
              <a:gd name="connsiteY3" fmla="*/ 0 h 150094"/>
              <a:gd name="connsiteX4" fmla="*/ 0 w 44104"/>
              <a:gd name="connsiteY4" fmla="*/ 21919 h 150094"/>
              <a:gd name="connsiteX5" fmla="*/ 0 w 44104"/>
              <a:gd name="connsiteY5" fmla="*/ 128176 h 150094"/>
              <a:gd name="connsiteX6" fmla="*/ 22052 w 44104"/>
              <a:gd name="connsiteY6" fmla="*/ 150094 h 150094"/>
            </a:gdLst>
            <a:ahLst/>
            <a:cxnLst/>
            <a:rect l="l" t="t" r="r" b="b"/>
            <a:pathLst>
              <a:path w="44104" h="150094">
                <a:moveTo>
                  <a:pt x="22052" y="150094"/>
                </a:moveTo>
                <a:cubicBezTo>
                  <a:pt x="34231" y="150094"/>
                  <a:pt x="44104" y="140281"/>
                  <a:pt x="44104" y="128176"/>
                </a:cubicBezTo>
                <a:lnTo>
                  <a:pt x="44104" y="21919"/>
                </a:lnTo>
                <a:cubicBezTo>
                  <a:pt x="44104" y="9813"/>
                  <a:pt x="34231" y="0"/>
                  <a:pt x="22052" y="0"/>
                </a:cubicBezTo>
                <a:cubicBezTo>
                  <a:pt x="9873" y="0"/>
                  <a:pt x="0" y="9813"/>
                  <a:pt x="0" y="21919"/>
                </a:cubicBezTo>
                <a:lnTo>
                  <a:pt x="0" y="128176"/>
                </a:lnTo>
                <a:cubicBezTo>
                  <a:pt x="0" y="140281"/>
                  <a:pt x="9873" y="150094"/>
                  <a:pt x="22052" y="150094"/>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11" name="Freeform 31">
            <a:extLst>
              <a:ext uri="{FF2B5EF4-FFF2-40B4-BE49-F238E27FC236}">
                <a16:creationId xmlns:a16="http://schemas.microsoft.com/office/drawing/2014/main" id="{D2F4977B-6C3A-1749-28D3-74067758D800}"/>
              </a:ext>
            </a:extLst>
          </p:cNvPr>
          <p:cNvSpPr>
            <a:spLocks noGrp="1"/>
          </p:cNvSpPr>
          <p:nvPr/>
        </p:nvSpPr>
        <p:spPr>
          <a:xfrm>
            <a:off x="5778528" y="2980021"/>
            <a:ext cx="52943" cy="331765"/>
          </a:xfrm>
          <a:custGeom>
            <a:avLst/>
            <a:gdLst>
              <a:gd name="connsiteX0" fmla="*/ 22052 w 44104"/>
              <a:gd name="connsiteY0" fmla="*/ 0 h 276375"/>
              <a:gd name="connsiteX1" fmla="*/ 0 w 44104"/>
              <a:gd name="connsiteY1" fmla="*/ 21919 h 276375"/>
              <a:gd name="connsiteX2" fmla="*/ 0 w 44104"/>
              <a:gd name="connsiteY2" fmla="*/ 254457 h 276375"/>
              <a:gd name="connsiteX3" fmla="*/ 22052 w 44104"/>
              <a:gd name="connsiteY3" fmla="*/ 276376 h 276375"/>
              <a:gd name="connsiteX4" fmla="*/ 44104 w 44104"/>
              <a:gd name="connsiteY4" fmla="*/ 254457 h 276375"/>
              <a:gd name="connsiteX5" fmla="*/ 44104 w 44104"/>
              <a:gd name="connsiteY5" fmla="*/ 21919 h 276375"/>
              <a:gd name="connsiteX6" fmla="*/ 22052 w 44104"/>
              <a:gd name="connsiteY6" fmla="*/ 0 h 276375"/>
            </a:gdLst>
            <a:ahLst/>
            <a:cxnLst/>
            <a:rect l="l" t="t" r="r" b="b"/>
            <a:pathLst>
              <a:path w="44104" h="276375">
                <a:moveTo>
                  <a:pt x="22052" y="0"/>
                </a:moveTo>
                <a:cubicBezTo>
                  <a:pt x="9873" y="0"/>
                  <a:pt x="0" y="9813"/>
                  <a:pt x="0" y="21919"/>
                </a:cubicBezTo>
                <a:lnTo>
                  <a:pt x="0" y="254457"/>
                </a:lnTo>
                <a:cubicBezTo>
                  <a:pt x="0" y="266563"/>
                  <a:pt x="9873" y="276376"/>
                  <a:pt x="22052" y="276376"/>
                </a:cubicBezTo>
                <a:cubicBezTo>
                  <a:pt x="34231" y="276376"/>
                  <a:pt x="44104" y="266563"/>
                  <a:pt x="44104" y="254457"/>
                </a:cubicBezTo>
                <a:lnTo>
                  <a:pt x="44104" y="21919"/>
                </a:lnTo>
                <a:cubicBezTo>
                  <a:pt x="44104" y="9813"/>
                  <a:pt x="34231" y="0"/>
                  <a:pt x="22052" y="0"/>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12" name="Freeform 32">
            <a:extLst>
              <a:ext uri="{FF2B5EF4-FFF2-40B4-BE49-F238E27FC236}">
                <a16:creationId xmlns:a16="http://schemas.microsoft.com/office/drawing/2014/main" id="{7539BE40-6861-0AFB-E72A-25B2630122C7}"/>
              </a:ext>
            </a:extLst>
          </p:cNvPr>
          <p:cNvSpPr>
            <a:spLocks noGrp="1"/>
          </p:cNvSpPr>
          <p:nvPr/>
        </p:nvSpPr>
        <p:spPr>
          <a:xfrm>
            <a:off x="5924177" y="3079095"/>
            <a:ext cx="52943" cy="180175"/>
          </a:xfrm>
          <a:custGeom>
            <a:avLst/>
            <a:gdLst>
              <a:gd name="connsiteX0" fmla="*/ 44104 w 44104"/>
              <a:gd name="connsiteY0" fmla="*/ 128176 h 150094"/>
              <a:gd name="connsiteX1" fmla="*/ 44104 w 44104"/>
              <a:gd name="connsiteY1" fmla="*/ 21919 h 150094"/>
              <a:gd name="connsiteX2" fmla="*/ 22052 w 44104"/>
              <a:gd name="connsiteY2" fmla="*/ 0 h 150094"/>
              <a:gd name="connsiteX3" fmla="*/ 0 w 44104"/>
              <a:gd name="connsiteY3" fmla="*/ 21919 h 150094"/>
              <a:gd name="connsiteX4" fmla="*/ 0 w 44104"/>
              <a:gd name="connsiteY4" fmla="*/ 128176 h 150094"/>
              <a:gd name="connsiteX5" fmla="*/ 22052 w 44104"/>
              <a:gd name="connsiteY5" fmla="*/ 150094 h 150094"/>
              <a:gd name="connsiteX6" fmla="*/ 44104 w 44104"/>
              <a:gd name="connsiteY6" fmla="*/ 128176 h 150094"/>
            </a:gdLst>
            <a:ahLst/>
            <a:cxnLst/>
            <a:rect l="l" t="t" r="r" b="b"/>
            <a:pathLst>
              <a:path w="44104" h="150094">
                <a:moveTo>
                  <a:pt x="44104" y="128176"/>
                </a:moveTo>
                <a:lnTo>
                  <a:pt x="44104" y="21919"/>
                </a:lnTo>
                <a:cubicBezTo>
                  <a:pt x="44104" y="9813"/>
                  <a:pt x="34231" y="0"/>
                  <a:pt x="22052" y="0"/>
                </a:cubicBezTo>
                <a:cubicBezTo>
                  <a:pt x="9874" y="0"/>
                  <a:pt x="0" y="9813"/>
                  <a:pt x="0" y="21919"/>
                </a:cubicBezTo>
                <a:lnTo>
                  <a:pt x="0" y="128176"/>
                </a:lnTo>
                <a:cubicBezTo>
                  <a:pt x="0" y="140281"/>
                  <a:pt x="9874" y="150094"/>
                  <a:pt x="22052" y="150094"/>
                </a:cubicBezTo>
                <a:cubicBezTo>
                  <a:pt x="34231" y="150094"/>
                  <a:pt x="44104" y="140281"/>
                  <a:pt x="44104" y="128176"/>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13" name="Freeform 33">
            <a:extLst>
              <a:ext uri="{FF2B5EF4-FFF2-40B4-BE49-F238E27FC236}">
                <a16:creationId xmlns:a16="http://schemas.microsoft.com/office/drawing/2014/main" id="{8726BE87-6F3D-1887-CD70-E89DF7FE7BFC}"/>
              </a:ext>
            </a:extLst>
          </p:cNvPr>
          <p:cNvSpPr>
            <a:spLocks noGrp="1"/>
          </p:cNvSpPr>
          <p:nvPr/>
        </p:nvSpPr>
        <p:spPr>
          <a:xfrm>
            <a:off x="6069283" y="3151531"/>
            <a:ext cx="52943" cy="107738"/>
          </a:xfrm>
          <a:custGeom>
            <a:avLst/>
            <a:gdLst>
              <a:gd name="connsiteX0" fmla="*/ 22415 w 44104"/>
              <a:gd name="connsiteY0" fmla="*/ 2 h 89751"/>
              <a:gd name="connsiteX1" fmla="*/ 0 w 44104"/>
              <a:gd name="connsiteY1" fmla="*/ 21738 h 89751"/>
              <a:gd name="connsiteX2" fmla="*/ 0 w 44104"/>
              <a:gd name="connsiteY2" fmla="*/ 21921 h 89751"/>
              <a:gd name="connsiteX3" fmla="*/ 0 w 44104"/>
              <a:gd name="connsiteY3" fmla="*/ 67833 h 89751"/>
              <a:gd name="connsiteX4" fmla="*/ 22052 w 44104"/>
              <a:gd name="connsiteY4" fmla="*/ 89752 h 89751"/>
              <a:gd name="connsiteX5" fmla="*/ 44104 w 44104"/>
              <a:gd name="connsiteY5" fmla="*/ 67833 h 89751"/>
              <a:gd name="connsiteX6" fmla="*/ 44104 w 44104"/>
              <a:gd name="connsiteY6" fmla="*/ 21921 h 89751"/>
              <a:gd name="connsiteX7" fmla="*/ 22143 w 44104"/>
              <a:gd name="connsiteY7" fmla="*/ 2 h 89751"/>
            </a:gdLst>
            <a:ahLst/>
            <a:cxnLst/>
            <a:rect l="l" t="t" r="r" b="b"/>
            <a:pathLst>
              <a:path w="44104" h="89751">
                <a:moveTo>
                  <a:pt x="22415" y="2"/>
                </a:moveTo>
                <a:cubicBezTo>
                  <a:pt x="10191" y="-148"/>
                  <a:pt x="154" y="9584"/>
                  <a:pt x="0" y="21738"/>
                </a:cubicBezTo>
                <a:cubicBezTo>
                  <a:pt x="0" y="21799"/>
                  <a:pt x="0" y="21860"/>
                  <a:pt x="0" y="21921"/>
                </a:cubicBezTo>
                <a:lnTo>
                  <a:pt x="0" y="67833"/>
                </a:lnTo>
                <a:cubicBezTo>
                  <a:pt x="0" y="79939"/>
                  <a:pt x="9874" y="89752"/>
                  <a:pt x="22052" y="89752"/>
                </a:cubicBezTo>
                <a:cubicBezTo>
                  <a:pt x="34231" y="89752"/>
                  <a:pt x="44104" y="79939"/>
                  <a:pt x="44104" y="67833"/>
                </a:cubicBezTo>
                <a:lnTo>
                  <a:pt x="44104" y="21921"/>
                </a:lnTo>
                <a:cubicBezTo>
                  <a:pt x="44104" y="9850"/>
                  <a:pt x="34285" y="51"/>
                  <a:pt x="22143" y="2"/>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14" name="Freeform 34">
            <a:extLst>
              <a:ext uri="{FF2B5EF4-FFF2-40B4-BE49-F238E27FC236}">
                <a16:creationId xmlns:a16="http://schemas.microsoft.com/office/drawing/2014/main" id="{EB3564BA-B2F9-645B-AD4D-30EC3199A221}"/>
              </a:ext>
            </a:extLst>
          </p:cNvPr>
          <p:cNvSpPr>
            <a:spLocks noGrp="1"/>
          </p:cNvSpPr>
          <p:nvPr/>
        </p:nvSpPr>
        <p:spPr>
          <a:xfrm>
            <a:off x="6215310" y="3077407"/>
            <a:ext cx="52946" cy="181863"/>
          </a:xfrm>
          <a:custGeom>
            <a:avLst/>
            <a:gdLst>
              <a:gd name="connsiteX0" fmla="*/ 22009 w 44107"/>
              <a:gd name="connsiteY0" fmla="*/ 151500 h 151500"/>
              <a:gd name="connsiteX1" fmla="*/ 44061 w 44107"/>
              <a:gd name="connsiteY1" fmla="*/ 129582 h 151500"/>
              <a:gd name="connsiteX2" fmla="*/ 44061 w 44107"/>
              <a:gd name="connsiteY2" fmla="*/ 23325 h 151500"/>
              <a:gd name="connsiteX3" fmla="*/ 23470 w 44107"/>
              <a:gd name="connsiteY3" fmla="*/ 46 h 151500"/>
              <a:gd name="connsiteX4" fmla="*/ 48 w 44107"/>
              <a:gd name="connsiteY4" fmla="*/ 20514 h 151500"/>
              <a:gd name="connsiteX5" fmla="*/ 48 w 44107"/>
              <a:gd name="connsiteY5" fmla="*/ 23325 h 151500"/>
              <a:gd name="connsiteX6" fmla="*/ 48 w 44107"/>
              <a:gd name="connsiteY6" fmla="*/ 129582 h 151500"/>
              <a:gd name="connsiteX7" fmla="*/ 21918 w 44107"/>
              <a:gd name="connsiteY7" fmla="*/ 151500 h 151500"/>
              <a:gd name="connsiteX8" fmla="*/ 22009 w 44107"/>
              <a:gd name="connsiteY8" fmla="*/ 151500 h 151500"/>
            </a:gdLst>
            <a:ahLst/>
            <a:cxnLst/>
            <a:rect l="l" t="t" r="r" b="b"/>
            <a:pathLst>
              <a:path w="44107" h="151500">
                <a:moveTo>
                  <a:pt x="22009" y="151500"/>
                </a:moveTo>
                <a:cubicBezTo>
                  <a:pt x="34188" y="151500"/>
                  <a:pt x="44061" y="141688"/>
                  <a:pt x="44061" y="129582"/>
                </a:cubicBezTo>
                <a:lnTo>
                  <a:pt x="44061" y="23325"/>
                </a:lnTo>
                <a:cubicBezTo>
                  <a:pt x="44841" y="11244"/>
                  <a:pt x="35621" y="822"/>
                  <a:pt x="23470" y="46"/>
                </a:cubicBezTo>
                <a:cubicBezTo>
                  <a:pt x="11319" y="-730"/>
                  <a:pt x="828" y="8434"/>
                  <a:pt x="48" y="20514"/>
                </a:cubicBezTo>
                <a:cubicBezTo>
                  <a:pt x="-16" y="21451"/>
                  <a:pt x="-16" y="22389"/>
                  <a:pt x="48" y="23325"/>
                </a:cubicBezTo>
                <a:lnTo>
                  <a:pt x="48" y="129582"/>
                </a:lnTo>
                <a:cubicBezTo>
                  <a:pt x="-7" y="141637"/>
                  <a:pt x="9785" y="151451"/>
                  <a:pt x="21918" y="151500"/>
                </a:cubicBezTo>
                <a:cubicBezTo>
                  <a:pt x="21945" y="151500"/>
                  <a:pt x="21982" y="151500"/>
                  <a:pt x="22009" y="151500"/>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15" name="Freeform 35">
            <a:extLst>
              <a:ext uri="{FF2B5EF4-FFF2-40B4-BE49-F238E27FC236}">
                <a16:creationId xmlns:a16="http://schemas.microsoft.com/office/drawing/2014/main" id="{0B4EEF7D-1D1F-7611-2AD6-3168E2EE165C}"/>
              </a:ext>
            </a:extLst>
          </p:cNvPr>
          <p:cNvSpPr>
            <a:spLocks noGrp="1"/>
          </p:cNvSpPr>
          <p:nvPr/>
        </p:nvSpPr>
        <p:spPr>
          <a:xfrm>
            <a:off x="6360959" y="2978332"/>
            <a:ext cx="52948" cy="335140"/>
          </a:xfrm>
          <a:custGeom>
            <a:avLst/>
            <a:gdLst>
              <a:gd name="connsiteX0" fmla="*/ 44061 w 44108"/>
              <a:gd name="connsiteY0" fmla="*/ 255863 h 279187"/>
              <a:gd name="connsiteX1" fmla="*/ 44061 w 44108"/>
              <a:gd name="connsiteY1" fmla="*/ 23325 h 279187"/>
              <a:gd name="connsiteX2" fmla="*/ 23470 w 44108"/>
              <a:gd name="connsiteY2" fmla="*/ 46 h 279187"/>
              <a:gd name="connsiteX3" fmla="*/ 48 w 44108"/>
              <a:gd name="connsiteY3" fmla="*/ 20514 h 279187"/>
              <a:gd name="connsiteX4" fmla="*/ 48 w 44108"/>
              <a:gd name="connsiteY4" fmla="*/ 23325 h 279187"/>
              <a:gd name="connsiteX5" fmla="*/ 48 w 44108"/>
              <a:gd name="connsiteY5" fmla="*/ 255863 h 279187"/>
              <a:gd name="connsiteX6" fmla="*/ 20639 w 44108"/>
              <a:gd name="connsiteY6" fmla="*/ 279142 h 279187"/>
              <a:gd name="connsiteX7" fmla="*/ 44061 w 44108"/>
              <a:gd name="connsiteY7" fmla="*/ 258674 h 279187"/>
              <a:gd name="connsiteX8" fmla="*/ 44061 w 44108"/>
              <a:gd name="connsiteY8" fmla="*/ 255863 h 279187"/>
            </a:gdLst>
            <a:ahLst/>
            <a:cxnLst/>
            <a:rect l="l" t="t" r="r" b="b"/>
            <a:pathLst>
              <a:path w="44108" h="279187">
                <a:moveTo>
                  <a:pt x="44061" y="255863"/>
                </a:moveTo>
                <a:lnTo>
                  <a:pt x="44061" y="23325"/>
                </a:lnTo>
                <a:cubicBezTo>
                  <a:pt x="44842" y="11244"/>
                  <a:pt x="35621" y="822"/>
                  <a:pt x="23470" y="46"/>
                </a:cubicBezTo>
                <a:cubicBezTo>
                  <a:pt x="11319" y="-730"/>
                  <a:pt x="828" y="8434"/>
                  <a:pt x="48" y="20514"/>
                </a:cubicBezTo>
                <a:cubicBezTo>
                  <a:pt x="-16" y="21450"/>
                  <a:pt x="-16" y="22389"/>
                  <a:pt x="48" y="23325"/>
                </a:cubicBezTo>
                <a:lnTo>
                  <a:pt x="48" y="255863"/>
                </a:lnTo>
                <a:cubicBezTo>
                  <a:pt x="-733" y="267944"/>
                  <a:pt x="8487" y="278366"/>
                  <a:pt x="20639" y="279142"/>
                </a:cubicBezTo>
                <a:cubicBezTo>
                  <a:pt x="32790" y="279919"/>
                  <a:pt x="43281" y="270754"/>
                  <a:pt x="44061" y="258674"/>
                </a:cubicBezTo>
                <a:cubicBezTo>
                  <a:pt x="44125" y="257737"/>
                  <a:pt x="44125" y="256799"/>
                  <a:pt x="44061" y="255863"/>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16" name="Freeform 36">
            <a:extLst>
              <a:ext uri="{FF2B5EF4-FFF2-40B4-BE49-F238E27FC236}">
                <a16:creationId xmlns:a16="http://schemas.microsoft.com/office/drawing/2014/main" id="{9A55B643-50C9-ECA1-F047-7AF4A01DADB7}"/>
              </a:ext>
            </a:extLst>
          </p:cNvPr>
          <p:cNvSpPr>
            <a:spLocks noGrp="1"/>
          </p:cNvSpPr>
          <p:nvPr/>
        </p:nvSpPr>
        <p:spPr>
          <a:xfrm>
            <a:off x="6506338" y="3078987"/>
            <a:ext cx="53160" cy="180286"/>
          </a:xfrm>
          <a:custGeom>
            <a:avLst/>
            <a:gdLst>
              <a:gd name="connsiteX0" fmla="*/ 21961 w 44285"/>
              <a:gd name="connsiteY0" fmla="*/ 150185 h 150187"/>
              <a:gd name="connsiteX1" fmla="*/ 44286 w 44285"/>
              <a:gd name="connsiteY1" fmla="*/ 128720 h 150187"/>
              <a:gd name="connsiteX2" fmla="*/ 44286 w 44285"/>
              <a:gd name="connsiteY2" fmla="*/ 128266 h 150187"/>
              <a:gd name="connsiteX3" fmla="*/ 44286 w 44285"/>
              <a:gd name="connsiteY3" fmla="*/ 22009 h 150187"/>
              <a:gd name="connsiteX4" fmla="*/ 22143 w 44285"/>
              <a:gd name="connsiteY4" fmla="*/ 0 h 150187"/>
              <a:gd name="connsiteX5" fmla="*/ 0 w 44285"/>
              <a:gd name="connsiteY5" fmla="*/ 22009 h 150187"/>
              <a:gd name="connsiteX6" fmla="*/ 0 w 44285"/>
              <a:gd name="connsiteY6" fmla="*/ 128266 h 150187"/>
              <a:gd name="connsiteX7" fmla="*/ 22052 w 44285"/>
              <a:gd name="connsiteY7" fmla="*/ 150185 h 150187"/>
            </a:gdLst>
            <a:ahLst/>
            <a:cxnLst/>
            <a:rect l="l" t="t" r="r" b="b"/>
            <a:pathLst>
              <a:path w="44285" h="150187">
                <a:moveTo>
                  <a:pt x="21961" y="150185"/>
                </a:moveTo>
                <a:cubicBezTo>
                  <a:pt x="34086" y="150384"/>
                  <a:pt x="44086" y="140774"/>
                  <a:pt x="44286" y="128720"/>
                </a:cubicBezTo>
                <a:cubicBezTo>
                  <a:pt x="44286" y="128569"/>
                  <a:pt x="44286" y="128417"/>
                  <a:pt x="44286" y="128266"/>
                </a:cubicBezTo>
                <a:lnTo>
                  <a:pt x="44286" y="22009"/>
                </a:lnTo>
                <a:cubicBezTo>
                  <a:pt x="44286" y="9854"/>
                  <a:pt x="34376" y="0"/>
                  <a:pt x="22143" y="0"/>
                </a:cubicBezTo>
                <a:cubicBezTo>
                  <a:pt x="9910" y="0"/>
                  <a:pt x="0" y="9854"/>
                  <a:pt x="0" y="22009"/>
                </a:cubicBezTo>
                <a:lnTo>
                  <a:pt x="0" y="128266"/>
                </a:lnTo>
                <a:cubicBezTo>
                  <a:pt x="0" y="140372"/>
                  <a:pt x="9874" y="150185"/>
                  <a:pt x="22052" y="150185"/>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
        <p:nvSpPr>
          <p:cNvPr id="17" name="Freeform 37">
            <a:extLst>
              <a:ext uri="{FF2B5EF4-FFF2-40B4-BE49-F238E27FC236}">
                <a16:creationId xmlns:a16="http://schemas.microsoft.com/office/drawing/2014/main" id="{46A6ACD1-E596-9055-243C-B9CF5CFB813D}"/>
              </a:ext>
            </a:extLst>
          </p:cNvPr>
          <p:cNvSpPr>
            <a:spLocks noGrp="1"/>
          </p:cNvSpPr>
          <p:nvPr/>
        </p:nvSpPr>
        <p:spPr>
          <a:xfrm>
            <a:off x="6651932" y="3151534"/>
            <a:ext cx="52946" cy="109425"/>
          </a:xfrm>
          <a:custGeom>
            <a:avLst/>
            <a:gdLst>
              <a:gd name="connsiteX0" fmla="*/ 22007 w 44107"/>
              <a:gd name="connsiteY0" fmla="*/ 0 h 91156"/>
              <a:gd name="connsiteX1" fmla="*/ 46 w 44107"/>
              <a:gd name="connsiteY1" fmla="*/ 21829 h 91156"/>
              <a:gd name="connsiteX2" fmla="*/ 46 w 44107"/>
              <a:gd name="connsiteY2" fmla="*/ 21919 h 91156"/>
              <a:gd name="connsiteX3" fmla="*/ 46 w 44107"/>
              <a:gd name="connsiteY3" fmla="*/ 67831 h 91156"/>
              <a:gd name="connsiteX4" fmla="*/ 20637 w 44107"/>
              <a:gd name="connsiteY4" fmla="*/ 91110 h 91156"/>
              <a:gd name="connsiteX5" fmla="*/ 44059 w 44107"/>
              <a:gd name="connsiteY5" fmla="*/ 70642 h 91156"/>
              <a:gd name="connsiteX6" fmla="*/ 44059 w 44107"/>
              <a:gd name="connsiteY6" fmla="*/ 67831 h 91156"/>
              <a:gd name="connsiteX7" fmla="*/ 44059 w 44107"/>
              <a:gd name="connsiteY7" fmla="*/ 21919 h 91156"/>
              <a:gd name="connsiteX8" fmla="*/ 22007 w 44107"/>
              <a:gd name="connsiteY8" fmla="*/ 0 h 91156"/>
            </a:gdLst>
            <a:ahLst/>
            <a:cxnLst/>
            <a:rect l="l" t="t" r="r" b="b"/>
            <a:pathLst>
              <a:path w="44107" h="91156">
                <a:moveTo>
                  <a:pt x="22007" y="0"/>
                </a:moveTo>
                <a:cubicBezTo>
                  <a:pt x="9874" y="0"/>
                  <a:pt x="46" y="9773"/>
                  <a:pt x="46" y="21829"/>
                </a:cubicBezTo>
                <a:cubicBezTo>
                  <a:pt x="46" y="21858"/>
                  <a:pt x="46" y="21889"/>
                  <a:pt x="46" y="21919"/>
                </a:cubicBezTo>
                <a:lnTo>
                  <a:pt x="46" y="67831"/>
                </a:lnTo>
                <a:cubicBezTo>
                  <a:pt x="-734" y="79912"/>
                  <a:pt x="8486" y="90334"/>
                  <a:pt x="20637" y="91110"/>
                </a:cubicBezTo>
                <a:cubicBezTo>
                  <a:pt x="32789" y="91887"/>
                  <a:pt x="43279" y="82722"/>
                  <a:pt x="44059" y="70642"/>
                </a:cubicBezTo>
                <a:cubicBezTo>
                  <a:pt x="44123" y="69705"/>
                  <a:pt x="44123" y="68767"/>
                  <a:pt x="44059" y="67831"/>
                </a:cubicBezTo>
                <a:lnTo>
                  <a:pt x="44059" y="21919"/>
                </a:lnTo>
                <a:cubicBezTo>
                  <a:pt x="44059" y="9813"/>
                  <a:pt x="34186" y="0"/>
                  <a:pt x="22007" y="0"/>
                </a:cubicBezTo>
              </a:path>
            </a:pathLst>
          </a:custGeom>
          <a:solidFill>
            <a:schemeClr val="bg1"/>
          </a:solidFill>
          <a:ln w="9034">
            <a:noFill/>
            <a:prstDash val="solid"/>
          </a:ln>
        </p:spPr>
        <p:txBody>
          <a:bodyPr anchor="ctr"/>
          <a:lstStyle/>
          <a:p>
            <a:pPr marL="0" marR="0" lvl="0" indent="0" algn="l" defTabSz="609559">
              <a:lnSpc>
                <a:spcPct val="100000"/>
              </a:lnSpc>
              <a:spcBef>
                <a:spcPct val="0"/>
              </a:spcBef>
              <a:spcAft>
                <a:spcPct val="0"/>
              </a:spcAft>
              <a:buClrTx/>
              <a:buSzTx/>
              <a:buFontTx/>
              <a:buNone/>
            </a:pPr>
            <a:endParaRPr sz="1800" b="0" i="0" u="none" kern="1200" cap="none" spc="0" baseline="0">
              <a:ln>
                <a:noFill/>
              </a:ln>
              <a:solidFill>
                <a:srgbClr val="07182D"/>
              </a:solidFill>
              <a:latin typeface="CiscoSansTT"/>
              <a:ea typeface="CiscoSansTT"/>
              <a:cs typeface="CiscoSansTT"/>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anchor="t">
            <a:noAutofit/>
          </a:bodyPr>
          <a:lstStyle/>
          <a:p>
            <a:r>
              <a:t>Click to edit Master title style</a:t>
            </a:r>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a:no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Rectangle 4">
            <a:extLst>
              <a:ext uri="{FF2B5EF4-FFF2-40B4-BE49-F238E27FC236}">
                <a16:creationId xmlns:a16="http://schemas.microsoft.com/office/drawing/2014/main" id="{239B4362-70A2-3ADC-C4AA-ADA6E4E09C94}"/>
              </a:ext>
            </a:extLst>
          </p:cNvPr>
          <p:cNvSpPr>
            <a:spLocks noGrp="1"/>
          </p:cNvSpPr>
          <p:nvPr/>
        </p:nvSpPr>
        <p:spPr>
          <a:xfrm>
            <a:off x="323850" y="6448930"/>
            <a:ext cx="3285935" cy="409069"/>
          </a:xfrm>
          <a:prstGeom prst="rect">
            <a:avLst/>
          </a:prstGeom>
          <a:noFill/>
          <a:ln w="9525">
            <a:noFill/>
          </a:ln>
        </p:spPr>
        <p:txBody>
          <a:bodyPr wrap="square" lIns="0" tIns="0" rIns="0" bIns="0" anchor="t">
            <a:noAutofit/>
          </a:bodyPr>
          <a:lstStyle/>
          <a:p>
            <a:pPr marL="0" marR="0" lvl="0" indent="0" algn="l" defTabSz="814318">
              <a:lnSpc>
                <a:spcPct val="100000"/>
              </a:lnSpc>
              <a:spcBef>
                <a:spcPts val="0"/>
              </a:spcBef>
              <a:spcAft>
                <a:spcPts val="0"/>
              </a:spcAft>
              <a:buClrTx/>
              <a:buSzTx/>
              <a:buFontTx/>
              <a:buNone/>
            </a:pPr>
            <a:r>
              <a:rPr sz="700" b="0" i="0" u="none" cap="none" spc="0">
                <a:ln>
                  <a:noFill/>
                </a:ln>
                <a:solidFill>
                  <a:schemeClr val="bg1"/>
                </a:solidFill>
                <a:latin typeface="+mn-lt"/>
                <a:ea typeface="+mn-lt"/>
                <a:cs typeface="+mn-lt"/>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idx="3"/>
          </p:nvPr>
        </p:nvSpPr>
        <p:spPr>
          <a:xfrm>
            <a:off x="4230688" y="6445885"/>
            <a:ext cx="3727450" cy="411480"/>
          </a:xfrm>
          <a:prstGeom prst="rect">
            <a:avLst/>
          </a:prstGeom>
        </p:spPr>
        <p:txBody>
          <a:bodyPr vert="horz" lIns="0" tIns="0" rIns="0" bIns="0" anchor="t"/>
          <a:lstStyle>
            <a:lvl1pPr algn="ctr">
              <a:buNone/>
              <a:defRPr sz="700" b="0" i="0" u="none" kern="1200" cap="none" spc="0" baseline="0">
                <a:ln>
                  <a:noFill/>
                </a:ln>
                <a:solidFill>
                  <a:schemeClr val="bg1"/>
                </a:solidFill>
                <a:latin typeface="+mn-lt"/>
                <a:ea typeface="+mn-lt"/>
                <a:cs typeface="+mn-lt"/>
              </a:defRPr>
            </a:lvl1pPr>
          </a:lstStyle>
          <a:p>
            <a:pPr defTabSz="814318">
              <a:buNone/>
            </a:pPr>
            <a:r>
              <a:t>Session ID: BRKSEC-XXXX</a:t>
            </a:r>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idx="4"/>
          </p:nvPr>
        </p:nvSpPr>
        <p:spPr>
          <a:xfrm>
            <a:off x="9115425" y="6448929"/>
            <a:ext cx="1773238" cy="411480"/>
          </a:xfrm>
          <a:prstGeom prst="rect">
            <a:avLst/>
          </a:prstGeom>
        </p:spPr>
        <p:txBody>
          <a:bodyPr vert="horz" lIns="0" tIns="0" rIns="0" bIns="0" anchor="t"/>
          <a:lstStyle>
            <a:lvl1pPr algn="r">
              <a:buNone/>
              <a:defRPr sz="700" b="0" i="0" u="none" kern="1200" cap="none" spc="0" baseline="0">
                <a:ln>
                  <a:noFill/>
                </a:ln>
                <a:solidFill>
                  <a:schemeClr val="bg1"/>
                </a:solidFill>
                <a:latin typeface="+mn-lt"/>
                <a:ea typeface="+mn-lt"/>
                <a:cs typeface="+mn-lt"/>
              </a:defRPr>
            </a:lvl1pPr>
          </a:lstStyle>
          <a:p>
            <a:fld id="{C3C42FAE-7A31-41D3-A712-51D9B15D0B10}" type="slidenum">
              <a:t>‹#›</a:t>
            </a:fld>
            <a:endParaRPr/>
          </a:p>
        </p:txBody>
      </p:sp>
      <p:pic>
        <p:nvPicPr>
          <p:cNvPr id="16" name="Picture 7"/>
          <p:cNvPicPr>
            <a:picLocks noChangeAspect="1"/>
          </p:cNvPicPr>
          <p:nvPr/>
        </p:nvPicPr>
        <p:blipFill>
          <a:blip>
            <a:extLst>
              <a:ext uri="{96DAC541-7B7A-43D3-8B79-37D633B846F1}">
                <asvg:svgBlip xmlns:asvg="http://schemas.microsoft.com/office/drawing/2016/SVG/main" r:embed="rId58"/>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a:spLocks noGrp="1"/>
          </p:cNvSpPr>
          <p:nvPr/>
        </p:nvSpPr>
        <p:spPr>
          <a:xfrm>
            <a:off x="11385550" y="6672580"/>
            <a:ext cx="765175" cy="107722"/>
          </a:xfrm>
          <a:prstGeom prst="rect">
            <a:avLst/>
          </a:prstGeom>
        </p:spPr>
        <p:txBody>
          <a:bodyPr lIns="0" tIns="0" rIns="0" bIns="0">
            <a:spAutoFit/>
          </a:bodyPr>
          <a:lstStyle/>
          <a:p>
            <a:pPr algn="l">
              <a:buNone/>
            </a:pPr>
            <a:r>
              <a:rPr sz="700">
                <a:solidFill>
                  <a:schemeClr val="bg2"/>
                </a:solidFill>
                <a:latin typeface="Calibri"/>
                <a:ea typeface="Calibri"/>
                <a:cs typeface="Calibri"/>
              </a:rPr>
              <a:t>Cisco Confidential</a:t>
            </a: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Lst>
  <p:hf sldNum="0" hdr="0" ftr="0" dt="0"/>
  <p:txStyles>
    <p:titleStyle>
      <a:lvl1pPr marL="0" indent="0" algn="l" defTabSz="912276">
        <a:lnSpc>
          <a:spcPct val="90000"/>
        </a:lnSpc>
        <a:spcBef>
          <a:spcPct val="0"/>
        </a:spcBef>
        <a:spcAft>
          <a:spcPct val="0"/>
        </a:spcAft>
        <a:buClrTx/>
        <a:buSzPct val="70000"/>
        <a:buFont typeface="Arial"/>
        <a:buNone/>
        <a:defRPr sz="3200" b="0" i="0" u="none" kern="1200">
          <a:solidFill>
            <a:schemeClr val="bg1"/>
          </a:solidFill>
          <a:latin typeface="+mj-lt"/>
          <a:ea typeface="+mj-lt"/>
          <a:cs typeface="+mj-lt"/>
        </a:defRPr>
      </a:lvl1pPr>
      <a:lvl2pPr algn="l" defTabSz="912276">
        <a:lnSpc>
          <a:spcPct val="80000"/>
        </a:lnSpc>
        <a:spcBef>
          <a:spcPct val="0"/>
        </a:spcBef>
        <a:spcAft>
          <a:spcPct val="0"/>
        </a:spcAft>
        <a:buNone/>
        <a:defRPr sz="4267">
          <a:solidFill>
            <a:srgbClr val="676767"/>
          </a:solidFill>
          <a:latin typeface="Arial"/>
          <a:ea typeface="Arial"/>
          <a:cs typeface="Arial"/>
        </a:defRPr>
      </a:lvl2pPr>
      <a:lvl3pPr algn="l" defTabSz="912276">
        <a:lnSpc>
          <a:spcPct val="80000"/>
        </a:lnSpc>
        <a:spcBef>
          <a:spcPct val="0"/>
        </a:spcBef>
        <a:spcAft>
          <a:spcPct val="0"/>
        </a:spcAft>
        <a:buNone/>
        <a:defRPr sz="4267">
          <a:solidFill>
            <a:srgbClr val="676767"/>
          </a:solidFill>
          <a:latin typeface="Arial"/>
          <a:ea typeface="Arial"/>
          <a:cs typeface="Arial"/>
        </a:defRPr>
      </a:lvl3pPr>
      <a:lvl4pPr algn="l" defTabSz="912276">
        <a:lnSpc>
          <a:spcPct val="80000"/>
        </a:lnSpc>
        <a:spcBef>
          <a:spcPct val="0"/>
        </a:spcBef>
        <a:spcAft>
          <a:spcPct val="0"/>
        </a:spcAft>
        <a:buNone/>
        <a:defRPr sz="4267">
          <a:solidFill>
            <a:srgbClr val="676767"/>
          </a:solidFill>
          <a:latin typeface="Arial"/>
          <a:ea typeface="Arial"/>
          <a:cs typeface="Arial"/>
        </a:defRPr>
      </a:lvl4pPr>
      <a:lvl5pPr algn="l" defTabSz="912276">
        <a:lnSpc>
          <a:spcPct val="80000"/>
        </a:lnSpc>
        <a:spcBef>
          <a:spcPct val="0"/>
        </a:spcBef>
        <a:spcAft>
          <a:spcPct val="0"/>
        </a:spcAft>
        <a:buNone/>
        <a:defRPr sz="4267">
          <a:solidFill>
            <a:srgbClr val="676767"/>
          </a:solidFill>
          <a:latin typeface="Arial"/>
          <a:ea typeface="Arial"/>
          <a:cs typeface="Arial"/>
        </a:defRPr>
      </a:lvl5pPr>
      <a:lvl6pPr marL="609595" algn="l" defTabSz="912276">
        <a:lnSpc>
          <a:spcPct val="80000"/>
        </a:lnSpc>
        <a:spcBef>
          <a:spcPct val="0"/>
        </a:spcBef>
        <a:spcAft>
          <a:spcPct val="0"/>
        </a:spcAft>
        <a:buNone/>
        <a:defRPr sz="4267">
          <a:solidFill>
            <a:srgbClr val="676767"/>
          </a:solidFill>
          <a:latin typeface="Arial"/>
          <a:ea typeface="Arial"/>
          <a:cs typeface="Arial"/>
        </a:defRPr>
      </a:lvl6pPr>
      <a:lvl7pPr marL="1219190" algn="l" defTabSz="912276">
        <a:lnSpc>
          <a:spcPct val="80000"/>
        </a:lnSpc>
        <a:spcBef>
          <a:spcPct val="0"/>
        </a:spcBef>
        <a:spcAft>
          <a:spcPct val="0"/>
        </a:spcAft>
        <a:buNone/>
        <a:defRPr sz="4267">
          <a:solidFill>
            <a:srgbClr val="676767"/>
          </a:solidFill>
          <a:latin typeface="Arial"/>
          <a:ea typeface="Arial"/>
          <a:cs typeface="Arial"/>
        </a:defRPr>
      </a:lvl7pPr>
      <a:lvl8pPr marL="1828785" algn="l" defTabSz="912276">
        <a:lnSpc>
          <a:spcPct val="80000"/>
        </a:lnSpc>
        <a:spcBef>
          <a:spcPct val="0"/>
        </a:spcBef>
        <a:spcAft>
          <a:spcPct val="0"/>
        </a:spcAft>
        <a:buNone/>
        <a:defRPr sz="4267">
          <a:solidFill>
            <a:srgbClr val="676767"/>
          </a:solidFill>
          <a:latin typeface="Arial"/>
          <a:ea typeface="Arial"/>
          <a:cs typeface="Arial"/>
        </a:defRPr>
      </a:lvl8pPr>
      <a:lvl9pPr marL="2438379" algn="l" defTabSz="912276">
        <a:lnSpc>
          <a:spcPct val="80000"/>
        </a:lnSpc>
        <a:spcBef>
          <a:spcPct val="0"/>
        </a:spcBef>
        <a:spcAft>
          <a:spcPct val="0"/>
        </a:spcAft>
        <a:buNone/>
        <a:defRPr sz="4267">
          <a:solidFill>
            <a:srgbClr val="676767"/>
          </a:solidFill>
          <a:latin typeface="Arial"/>
          <a:ea typeface="Arial"/>
          <a:cs typeface="Arial"/>
        </a:defRPr>
      </a:lvl9pPr>
    </p:titleStyle>
    <p:bodyStyle>
      <a:lvl1pPr marL="182880" indent="-182880" algn="l" defTabSz="912276">
        <a:lnSpc>
          <a:spcPct val="100000"/>
        </a:lnSpc>
        <a:spcBef>
          <a:spcPts val="0"/>
        </a:spcBef>
        <a:spcAft>
          <a:spcPts val="1000"/>
        </a:spcAft>
        <a:buClr>
          <a:schemeClr val="bg1"/>
        </a:buClr>
        <a:buSzPct val="100000"/>
        <a:buFont typeface="Arial"/>
        <a:buChar char="•"/>
        <a:defRPr sz="2000" kern="1200">
          <a:solidFill>
            <a:schemeClr val="bg1"/>
          </a:solidFill>
          <a:latin typeface="+mn-lt"/>
          <a:ea typeface="+mn-lt"/>
          <a:cs typeface="+mn-lt"/>
        </a:defRPr>
      </a:lvl1pPr>
      <a:lvl2pPr marL="365760" indent="-182880" algn="l" defTabSz="912276">
        <a:lnSpc>
          <a:spcPct val="100000"/>
        </a:lnSpc>
        <a:spcBef>
          <a:spcPts val="0"/>
        </a:spcBef>
        <a:spcAft>
          <a:spcPts val="1000"/>
        </a:spcAft>
        <a:buClr>
          <a:schemeClr val="bg1"/>
        </a:buClr>
        <a:buSzPct val="100000"/>
        <a:buFont typeface="Arial"/>
        <a:buChar char="•"/>
        <a:defRPr sz="1800" kern="1200">
          <a:solidFill>
            <a:schemeClr val="bg1"/>
          </a:solidFill>
          <a:latin typeface="+mn-lt"/>
          <a:ea typeface="+mn-lt"/>
          <a:cs typeface="+mn-lt"/>
        </a:defRPr>
      </a:lvl2pPr>
      <a:lvl3pPr marL="548640" indent="-182880" algn="l" defTabSz="912276">
        <a:lnSpc>
          <a:spcPct val="100000"/>
        </a:lnSpc>
        <a:spcBef>
          <a:spcPts val="0"/>
        </a:spcBef>
        <a:spcAft>
          <a:spcPts val="1000"/>
        </a:spcAft>
        <a:buClr>
          <a:schemeClr val="bg1"/>
        </a:buClr>
        <a:buSzPct val="100000"/>
        <a:buFont typeface="Arial"/>
        <a:buChar char="•"/>
        <a:defRPr sz="1600" kern="1200">
          <a:solidFill>
            <a:schemeClr val="bg1"/>
          </a:solidFill>
          <a:latin typeface="+mn-lt"/>
          <a:ea typeface="+mn-lt"/>
          <a:cs typeface="+mn-lt"/>
        </a:defRPr>
      </a:lvl3pPr>
      <a:lvl4pPr marL="731520" indent="-182880" algn="l" defTabSz="912276">
        <a:lnSpc>
          <a:spcPct val="100000"/>
        </a:lnSpc>
        <a:spcBef>
          <a:spcPts val="0"/>
        </a:spcBef>
        <a:spcAft>
          <a:spcPts val="1000"/>
        </a:spcAft>
        <a:buClr>
          <a:schemeClr val="bg1"/>
        </a:buClr>
        <a:buSzPct val="100000"/>
        <a:buFont typeface="Arial"/>
        <a:buChar char="•"/>
        <a:defRPr sz="1400" kern="1200">
          <a:solidFill>
            <a:schemeClr val="bg1"/>
          </a:solidFill>
          <a:latin typeface="+mn-lt"/>
          <a:ea typeface="+mn-lt"/>
          <a:cs typeface="+mn-lt"/>
        </a:defRPr>
      </a:lvl4pPr>
      <a:lvl5pPr marL="914400" indent="-182880" algn="l" defTabSz="912276">
        <a:lnSpc>
          <a:spcPct val="100000"/>
        </a:lnSpc>
        <a:spcBef>
          <a:spcPts val="0"/>
        </a:spcBef>
        <a:spcAft>
          <a:spcPts val="1000"/>
        </a:spcAft>
        <a:buClr>
          <a:schemeClr val="bg1"/>
        </a:buClr>
        <a:buSzPct val="100000"/>
        <a:buFont typeface="Arial"/>
        <a:buChar char="•"/>
        <a:defRPr sz="1200" kern="1200">
          <a:solidFill>
            <a:schemeClr val="bg1"/>
          </a:solidFill>
          <a:latin typeface="+mn-lt"/>
          <a:ea typeface="+mn-lt"/>
          <a:cs typeface="+mn-lt"/>
        </a:defRPr>
      </a:lvl5pPr>
      <a:lvl6pPr marL="1151798" indent="-228592" algn="l" defTabSz="914362">
        <a:spcBef>
          <a:spcPts val="800"/>
        </a:spcBef>
        <a:buFont typeface="Arial"/>
        <a:buChar char="•"/>
        <a:defRPr sz="1200" kern="1200" baseline="0">
          <a:solidFill>
            <a:schemeClr val="tx1"/>
          </a:solidFill>
          <a:latin typeface="+mn-lt"/>
          <a:ea typeface="+mn-lt"/>
          <a:cs typeface="+mn-lt"/>
        </a:defRPr>
      </a:lvl6pPr>
      <a:lvl7pPr marL="1247781" indent="-228561" algn="l" defTabSz="914362">
        <a:spcBef>
          <a:spcPts val="800"/>
        </a:spcBef>
        <a:buFont typeface="Arial"/>
        <a:buChar char="•"/>
        <a:defRPr sz="1067" kern="1200" baseline="0">
          <a:solidFill>
            <a:schemeClr val="tx1"/>
          </a:solidFill>
          <a:latin typeface="+mn-lt"/>
          <a:ea typeface="+mn-lt"/>
          <a:cs typeface="+mn-lt"/>
        </a:defRPr>
      </a:lvl7pPr>
      <a:lvl8pPr marL="3200267" indent="0" algn="l" defTabSz="914362">
        <a:spcBef>
          <a:spcPct val="20000"/>
        </a:spcBef>
        <a:buFont typeface="Arial"/>
        <a:buNone/>
        <a:defRPr sz="2000" kern="1200">
          <a:solidFill>
            <a:schemeClr val="tx1"/>
          </a:solidFill>
          <a:latin typeface="+mn-lt"/>
          <a:ea typeface="+mn-lt"/>
          <a:cs typeface="+mn-lt"/>
        </a:defRPr>
      </a:lvl8pPr>
      <a:lvl9pPr marL="3886038" indent="-228592" algn="l" defTabSz="914362">
        <a:spcBef>
          <a:spcPct val="20000"/>
        </a:spcBef>
        <a:buFont typeface="Arial"/>
        <a:buChar char="•"/>
        <a:defRPr sz="2000" kern="1200">
          <a:solidFill>
            <a:schemeClr val="tx1"/>
          </a:solidFill>
          <a:latin typeface="+mn-lt"/>
          <a:ea typeface="+mn-lt"/>
          <a:cs typeface="+mn-lt"/>
        </a:defRPr>
      </a:lvl9pPr>
    </p:bodyStyle>
    <p:otherStyle>
      <a:lvl1pPr marL="0" algn="l" defTabSz="914362">
        <a:buNone/>
        <a:defRPr sz="1867" kern="1200">
          <a:solidFill>
            <a:schemeClr val="tx1"/>
          </a:solidFill>
          <a:latin typeface="+mn-lt"/>
          <a:ea typeface="+mn-lt"/>
          <a:cs typeface="+mn-lt"/>
        </a:defRPr>
      </a:lvl1pPr>
      <a:lvl2pPr marL="457178" algn="l" defTabSz="914362">
        <a:buNone/>
        <a:defRPr sz="1867" kern="1200">
          <a:solidFill>
            <a:schemeClr val="tx1"/>
          </a:solidFill>
          <a:latin typeface="+mn-lt"/>
          <a:ea typeface="+mn-lt"/>
          <a:cs typeface="+mn-lt"/>
        </a:defRPr>
      </a:lvl2pPr>
      <a:lvl3pPr marL="914362" algn="l" defTabSz="914362">
        <a:buNone/>
        <a:defRPr sz="1867" kern="1200">
          <a:solidFill>
            <a:schemeClr val="tx1"/>
          </a:solidFill>
          <a:latin typeface="+mn-lt"/>
          <a:ea typeface="+mn-lt"/>
          <a:cs typeface="+mn-lt"/>
        </a:defRPr>
      </a:lvl3pPr>
      <a:lvl4pPr marL="1371542" algn="l" defTabSz="914362">
        <a:buNone/>
        <a:defRPr sz="1867" kern="1200">
          <a:solidFill>
            <a:schemeClr val="tx1"/>
          </a:solidFill>
          <a:latin typeface="+mn-lt"/>
          <a:ea typeface="+mn-lt"/>
          <a:cs typeface="+mn-lt"/>
        </a:defRPr>
      </a:lvl4pPr>
      <a:lvl5pPr marL="1828725" algn="l" defTabSz="914362">
        <a:buNone/>
        <a:defRPr sz="1867" kern="1200">
          <a:solidFill>
            <a:schemeClr val="tx1"/>
          </a:solidFill>
          <a:latin typeface="+mn-lt"/>
          <a:ea typeface="+mn-lt"/>
          <a:cs typeface="+mn-lt"/>
        </a:defRPr>
      </a:lvl5pPr>
      <a:lvl6pPr marL="2285903" algn="l" defTabSz="914362">
        <a:buNone/>
        <a:defRPr sz="1867" kern="1200">
          <a:solidFill>
            <a:schemeClr val="tx1"/>
          </a:solidFill>
          <a:latin typeface="+mn-lt"/>
          <a:ea typeface="+mn-lt"/>
          <a:cs typeface="+mn-lt"/>
        </a:defRPr>
      </a:lvl6pPr>
      <a:lvl7pPr marL="2743086" algn="l" defTabSz="914362">
        <a:buNone/>
        <a:defRPr sz="1867" kern="1200">
          <a:solidFill>
            <a:schemeClr val="tx1"/>
          </a:solidFill>
          <a:latin typeface="+mn-lt"/>
          <a:ea typeface="+mn-lt"/>
          <a:cs typeface="+mn-lt"/>
        </a:defRPr>
      </a:lvl7pPr>
      <a:lvl8pPr marL="3200267" algn="l" defTabSz="914362">
        <a:buNone/>
        <a:defRPr sz="1867" kern="1200">
          <a:solidFill>
            <a:schemeClr val="tx1"/>
          </a:solidFill>
          <a:latin typeface="+mn-lt"/>
          <a:ea typeface="+mn-lt"/>
          <a:cs typeface="+mn-lt"/>
        </a:defRPr>
      </a:lvl8pPr>
      <a:lvl9pPr marL="3657450" algn="l" defTabSz="914362">
        <a:buNone/>
        <a:defRPr sz="1867" kern="1200">
          <a:solidFill>
            <a:schemeClr val="tx1"/>
          </a:solidFill>
          <a:latin typeface="+mn-lt"/>
          <a:ea typeface="+mn-lt"/>
          <a:cs typeface="+mn-lt"/>
        </a:defRPr>
      </a:lvl9pPr>
    </p:otherStyle>
  </p:txStyles>
  <p:extLst>
    <p:ext uri="{27BBF7A9-308A-43DC-89C8-2F10F3537804}">
      <p15:sldGuideLst xmlns:p15="http://schemas.microsoft.com/office/powerpoint/2012/main">
        <p15:guide id="2" pos="204" userDrawn="1">
          <p15:clr>
            <a:srgbClr val="F26B43"/>
          </p15:clr>
        </p15:guide>
        <p15:guide id="3" pos="7476" userDrawn="1">
          <p15:clr>
            <a:srgbClr val="F26B43"/>
          </p15:clr>
        </p15:guide>
        <p15:guide id="6" pos="3840" userDrawn="1">
          <p15:clr>
            <a:srgbClr val="F26B43"/>
          </p15:clr>
        </p15:guide>
        <p15:guide id="9" orient="horz" pos="3827" userDrawn="1">
          <p15:clr>
            <a:srgbClr val="9FCC3B"/>
          </p15:clr>
        </p15:guide>
        <p15:guide id="10" orient="horz" pos="202" userDrawn="1">
          <p15:clr>
            <a:srgbClr val="F26B43"/>
          </p15:clr>
        </p15:guide>
        <p15:guide id="11" orient="horz" pos="2160">
          <p15:clr>
            <a:srgbClr val="F26B43"/>
          </p15:clr>
        </p15:guide>
        <p15:guide id="12" orient="horz" pos="392" userDrawn="1">
          <p15:clr>
            <a:srgbClr val="A4A3A4"/>
          </p15:clr>
        </p15:guide>
        <p15:guide id="13" orient="horz" pos="2552" userDrawn="1">
          <p15:clr>
            <a:srgbClr val="A4A3A4"/>
          </p15:clr>
        </p15:guide>
        <p15:guide id="14" orient="horz" pos="600" userDrawn="1">
          <p15:clr>
            <a:srgbClr val="A4A3A4"/>
          </p15:clr>
        </p15:guide>
        <p15:guide id="15" orient="horz" pos="1766" userDrawn="1">
          <p15:clr>
            <a:srgbClr val="A4A3A4"/>
          </p15:clr>
        </p15:guide>
        <p15:guide id="16" orient="horz" pos="2355" userDrawn="1">
          <p15:clr>
            <a:srgbClr val="A4A3A4"/>
          </p15:clr>
        </p15:guide>
        <p15:guide id="18" orient="horz" pos="4118" userDrawn="1">
          <p15:clr>
            <a:srgbClr val="F26B43"/>
          </p15:clr>
        </p15:guide>
        <p15:guide id="19" orient="horz" pos="1178" userDrawn="1">
          <p15:clr>
            <a:srgbClr val="A4A3A4"/>
          </p15:clr>
        </p15:guide>
        <p15:guide id="20" orient="horz" pos="1374" userDrawn="1">
          <p15:clr>
            <a:srgbClr val="A4A3A4"/>
          </p15:clr>
        </p15:guide>
        <p15:guide id="21" orient="horz" pos="1570" userDrawn="1">
          <p15:clr>
            <a:srgbClr val="A4A3A4"/>
          </p15:clr>
        </p15:guide>
        <p15:guide id="22" pos="703" userDrawn="1">
          <p15:clr>
            <a:srgbClr val="A4A3A4"/>
          </p15:clr>
        </p15:guide>
        <p15:guide id="23" pos="820" userDrawn="1">
          <p15:clr>
            <a:srgbClr val="A4A3A4"/>
          </p15:clr>
        </p15:guide>
        <p15:guide id="24" pos="1321" userDrawn="1">
          <p15:clr>
            <a:srgbClr val="A4A3A4"/>
          </p15:clr>
        </p15:guide>
        <p15:guide id="25" pos="1435" userDrawn="1">
          <p15:clr>
            <a:srgbClr val="A4A3A4"/>
          </p15:clr>
        </p15:guide>
        <p15:guide id="26" pos="1936" userDrawn="1">
          <p15:clr>
            <a:srgbClr val="A4A3A4"/>
          </p15:clr>
        </p15:guide>
        <p15:guide id="27" pos="2051" userDrawn="1">
          <p15:clr>
            <a:srgbClr val="A4A3A4"/>
          </p15:clr>
        </p15:guide>
        <p15:guide id="28" pos="2551" userDrawn="1">
          <p15:clr>
            <a:srgbClr val="A4A3A4"/>
          </p15:clr>
        </p15:guide>
        <p15:guide id="29" pos="2665" userDrawn="1">
          <p15:clr>
            <a:srgbClr val="A4A3A4"/>
          </p15:clr>
        </p15:guide>
        <p15:guide id="30" pos="3167" userDrawn="1">
          <p15:clr>
            <a:srgbClr val="A4A3A4"/>
          </p15:clr>
        </p15:guide>
        <p15:guide id="31" pos="3281" userDrawn="1">
          <p15:clr>
            <a:srgbClr val="A4A3A4"/>
          </p15:clr>
        </p15:guide>
        <p15:guide id="32" pos="3783" userDrawn="1">
          <p15:clr>
            <a:srgbClr val="A4A3A4"/>
          </p15:clr>
        </p15:guide>
        <p15:guide id="33" pos="3896" userDrawn="1">
          <p15:clr>
            <a:srgbClr val="A4A3A4"/>
          </p15:clr>
        </p15:guide>
        <p15:guide id="34" pos="4397" userDrawn="1">
          <p15:clr>
            <a:srgbClr val="A4A3A4"/>
          </p15:clr>
        </p15:guide>
        <p15:guide id="35" pos="4512" userDrawn="1">
          <p15:clr>
            <a:srgbClr val="A4A3A4"/>
          </p15:clr>
        </p15:guide>
        <p15:guide id="36" pos="5013" userDrawn="1">
          <p15:clr>
            <a:srgbClr val="A4A3A4"/>
          </p15:clr>
        </p15:guide>
        <p15:guide id="37" pos="5128" userDrawn="1">
          <p15:clr>
            <a:srgbClr val="A4A3A4"/>
          </p15:clr>
        </p15:guide>
        <p15:guide id="38" pos="5629" userDrawn="1">
          <p15:clr>
            <a:srgbClr val="A4A3A4"/>
          </p15:clr>
        </p15:guide>
        <p15:guide id="39" pos="5742" userDrawn="1">
          <p15:clr>
            <a:srgbClr val="A4A3A4"/>
          </p15:clr>
        </p15:guide>
        <p15:guide id="40" pos="6244" userDrawn="1">
          <p15:clr>
            <a:srgbClr val="A4A3A4"/>
          </p15:clr>
        </p15:guide>
        <p15:guide id="41" pos="6359" userDrawn="1">
          <p15:clr>
            <a:srgbClr val="A4A3A4"/>
          </p15:clr>
        </p15:guide>
        <p15:guide id="42" pos="6859" userDrawn="1">
          <p15:clr>
            <a:srgbClr val="A4A3A4"/>
          </p15:clr>
        </p15:guide>
        <p15:guide id="43" pos="6975" userDrawn="1">
          <p15:clr>
            <a:srgbClr val="A4A3A4"/>
          </p15:clr>
        </p15:guide>
        <p15:guide id="44" orient="horz" pos="784" userDrawn="1">
          <p15:clr>
            <a:srgbClr val="A4A3A4"/>
          </p15:clr>
        </p15:guide>
        <p15:guide id="45" orient="horz" pos="980" userDrawn="1">
          <p15:clr>
            <a:srgbClr val="A4A3A4"/>
          </p15:clr>
        </p15:guide>
        <p15:guide id="46" orient="horz" pos="1962" userDrawn="1">
          <p15:clr>
            <a:srgbClr val="A4A3A4"/>
          </p15:clr>
        </p15:guide>
        <p15:guide id="47" orient="horz" pos="2747" userDrawn="1">
          <p15:clr>
            <a:srgbClr val="A4A3A4"/>
          </p15:clr>
        </p15:guide>
        <p15:guide id="48" orient="horz" pos="2945" userDrawn="1">
          <p15:clr>
            <a:srgbClr val="A4A3A4"/>
          </p15:clr>
        </p15:guide>
        <p15:guide id="49" orient="horz" pos="3141" userDrawn="1">
          <p15:clr>
            <a:srgbClr val="A4A3A4"/>
          </p15:clr>
        </p15:guide>
        <p15:guide id="50" orient="horz" pos="3337" userDrawn="1">
          <p15:clr>
            <a:srgbClr val="A4A3A4"/>
          </p15:clr>
        </p15:guide>
        <p15:guide id="51" orient="horz" pos="3535" userDrawn="1">
          <p15:clr>
            <a:srgbClr val="A4A3A4"/>
          </p15:clr>
        </p15:guide>
        <p15:guide id="52" orient="horz" pos="3730" userDrawn="1">
          <p15:clr>
            <a:srgbClr val="A4A3A4"/>
          </p15:clr>
        </p15:guide>
        <p15:guide id="53" orient="horz" pos="3936" userDrawn="1">
          <p15:clr>
            <a:srgbClr val="A4A3A4"/>
          </p15:clr>
        </p15:guide>
        <p15:guide id="54" orient="horz" pos="187" userDrawn="1">
          <p15:clr>
            <a:srgbClr val="9FCC3B"/>
          </p15:clr>
        </p15:guide>
        <p15:guide id="55" pos="455" userDrawn="1">
          <p15:clr>
            <a:srgbClr val="9FCC3B"/>
          </p15:clr>
        </p15:guide>
        <p15:guide id="56" pos="1069" userDrawn="1">
          <p15:clr>
            <a:srgbClr val="9FCC3B"/>
          </p15:clr>
        </p15:guide>
        <p15:guide id="57" pos="1685" userDrawn="1">
          <p15:clr>
            <a:srgbClr val="9FCC3B"/>
          </p15:clr>
        </p15:guide>
        <p15:guide id="58" pos="2301" userDrawn="1">
          <p15:clr>
            <a:srgbClr val="9FCC3B"/>
          </p15:clr>
        </p15:guide>
        <p15:guide id="59" pos="2915" userDrawn="1">
          <p15:clr>
            <a:srgbClr val="9FCC3B"/>
          </p15:clr>
        </p15:guide>
        <p15:guide id="60" pos="3531" userDrawn="1">
          <p15:clr>
            <a:srgbClr val="9FCC3B"/>
          </p15:clr>
        </p15:guide>
        <p15:guide id="61" pos="4146" userDrawn="1">
          <p15:clr>
            <a:srgbClr val="9FCC3B"/>
          </p15:clr>
        </p15:guide>
        <p15:guide id="62" pos="4762" userDrawn="1">
          <p15:clr>
            <a:srgbClr val="9FCC3B"/>
          </p15:clr>
        </p15:guide>
        <p15:guide id="63" pos="5378" userDrawn="1">
          <p15:clr>
            <a:srgbClr val="9FCC3B"/>
          </p15:clr>
        </p15:guide>
        <p15:guide id="64" pos="5992" userDrawn="1">
          <p15:clr>
            <a:srgbClr val="9FCC3B"/>
          </p15:clr>
        </p15:guide>
        <p15:guide id="65" pos="6609" userDrawn="1">
          <p15:clr>
            <a:srgbClr val="9FCC3B"/>
          </p15:clr>
        </p15:guide>
        <p15:guide id="66" pos="7225"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4.xml"/><Relationship Id="rId5" Type="http://schemas.openxmlformats.org/officeDocument/2006/relationships/hyperlink" Target="https://github.com/open-telemetry/opentelemetry-ebpf-instrumentation" TargetMode="External"/><Relationship Id="rId4" Type="http://schemas.openxmlformats.org/officeDocument/2006/relationships/hyperlink" Target="https://opentelemetry.io/docs/zero-code/obi/"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0.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localhost:3000/d/cilium-obi-app-network" TargetMode="External"/><Relationship Id="rId2" Type="http://schemas.openxmlformats.org/officeDocument/2006/relationships/notesSlide" Target="../notesSlides/notesSlide24.xml"/><Relationship Id="rId1" Type="http://schemas.openxmlformats.org/officeDocument/2006/relationships/slideLayout" Target="../slideLayouts/slideLayout10.xml"/><Relationship Id="rId6" Type="http://schemas.openxmlformats.org/officeDocument/2006/relationships/hyperlink" Target="http://localhost:12000/" TargetMode="External"/><Relationship Id="rId5" Type="http://schemas.openxmlformats.org/officeDocument/2006/relationships/hyperlink" Target="http://localhost:3000/explore" TargetMode="External"/><Relationship Id="rId4" Type="http://schemas.openxmlformats.org/officeDocument/2006/relationships/hyperlink" Target="http://localhost:3000/d/cilium-obi-platform"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8E202DE-F0C4-F38B-E5D9-3EDB75497747}"/>
              </a:ext>
            </a:extLst>
          </p:cNvPr>
          <p:cNvSpPr>
            <a:spLocks noGrp="1"/>
          </p:cNvSpPr>
          <p:nvPr>
            <p:ph type="title"/>
          </p:nvPr>
        </p:nvSpPr>
        <p:spPr>
          <a:xfrm>
            <a:off x="323850" y="2181225"/>
            <a:ext cx="5204883" cy="1554163"/>
          </a:xfrm>
        </p:spPr>
        <p:txBody>
          <a:bodyPr/>
          <a:lstStyle/>
          <a:p>
            <a:r>
              <a:t>Two eBPF Systems,</a:t>
            </a:r>
          </a:p>
          <a:p>
            <a:r>
              <a:t>One Kubernetes Node</a:t>
            </a:r>
          </a:p>
        </p:txBody>
      </p:sp>
      <p:sp>
        <p:nvSpPr>
          <p:cNvPr id="11" name="Text Placeholder 10">
            <a:extLst>
              <a:ext uri="{FF2B5EF4-FFF2-40B4-BE49-F238E27FC236}">
                <a16:creationId xmlns:a16="http://schemas.microsoft.com/office/drawing/2014/main" id="{BF2F44CF-ACFF-5B47-1E65-5DC0E344BBF1}"/>
              </a:ext>
            </a:extLst>
          </p:cNvPr>
          <p:cNvSpPr>
            <a:spLocks noGrp="1"/>
          </p:cNvSpPr>
          <p:nvPr>
            <p:ph type="body" idx="13"/>
          </p:nvPr>
        </p:nvSpPr>
        <p:spPr/>
        <p:txBody>
          <a:bodyPr/>
          <a:lstStyle/>
          <a:p>
            <a:r>
              <a:t>Running OpenTelemetry OBI and Cilium together</a:t>
            </a:r>
          </a:p>
        </p:txBody>
      </p:sp>
      <p:sp>
        <p:nvSpPr>
          <p:cNvPr id="16" name="Text Placeholder 15">
            <a:extLst>
              <a:ext uri="{FF2B5EF4-FFF2-40B4-BE49-F238E27FC236}">
                <a16:creationId xmlns:a16="http://schemas.microsoft.com/office/drawing/2014/main" id="{224B78CB-A350-22C0-F50A-644022F70AA5}"/>
              </a:ext>
            </a:extLst>
          </p:cNvPr>
          <p:cNvSpPr>
            <a:spLocks noGrp="1"/>
          </p:cNvSpPr>
          <p:nvPr>
            <p:ph type="body" idx="12"/>
          </p:nvPr>
        </p:nvSpPr>
        <p:spPr>
          <a:xfrm>
            <a:off x="323850" y="6364224"/>
            <a:ext cx="3906838" cy="493776"/>
          </a:xfrm>
        </p:spPr>
        <p:txBody>
          <a:bodyPr/>
          <a:lstStyle/>
          <a:p>
            <a:r>
              <a:t>Anton Jimenez · KubeCon + CloudNativeCon NA 2026</a:t>
            </a:r>
          </a:p>
        </p:txBody>
      </p:sp>
    </p:spTree>
    <p:extLst>
      <p:ext uri="{BB962C8B-B14F-4D97-AF65-F5344CB8AC3E}">
        <p14:creationId xmlns:p14="http://schemas.microsoft.com/office/powerpoint/2010/main" val="236623710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B7D396CA-1E8D-4AC0-BB33-1CC88795277A}"/>
              </a:ext>
            </a:extLst>
          </p:cNvPr>
          <p:cNvSpPr>
            <a:spLocks xmlns:a="http://schemas.openxmlformats.org/drawingml/2006/main" noGrp="1"/>
          </p:cNvSpPr>
          <p:nvPr/>
        </p:nvSpPr>
        <p:spPr>
          <a:xfrm xmlns:a="http://schemas.openxmlformats.org/drawingml/2006/main">
            <a:off x="323850" y="22860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3150" b="0">
                <a:solidFill>
                  <a:srgbClr val="07182A"/>
                </a:solidFill>
                <a:latin typeface="CiscoSansTT"/>
                <a:ea typeface="CiscoSansTT"/>
                <a:cs typeface="CiscoSansTT"/>
              </a:defRPr>
            </a:defPPr>
            <a:lvl1pPr algn="l">
              <a:defRPr sz="3150" b="0">
                <a:solidFill>
                  <a:srgbClr val="07182A"/>
                </a:solidFill>
                <a:latin typeface="CiscoSansTT"/>
                <a:ea typeface="CiscoSansTT"/>
                <a:cs typeface="CiscoSansTT"/>
              </a:defRPr>
            </a:lvl1pPr>
            <a:lvl2pPr algn="l">
              <a:defRPr sz="3150" b="0">
                <a:solidFill>
                  <a:srgbClr val="07182A"/>
                </a:solidFill>
                <a:latin typeface="CiscoSansTT"/>
                <a:ea typeface="CiscoSansTT"/>
                <a:cs typeface="CiscoSansTT"/>
              </a:defRPr>
            </a:lvl2pPr>
            <a:lvl3pPr algn="l">
              <a:defRPr sz="3150" b="0">
                <a:solidFill>
                  <a:srgbClr val="07182A"/>
                </a:solidFill>
                <a:latin typeface="CiscoSansTT"/>
                <a:ea typeface="CiscoSansTT"/>
                <a:cs typeface="CiscoSansTT"/>
              </a:defRPr>
            </a:lvl3pPr>
            <a:lvl4pPr algn="l">
              <a:defRPr sz="3150" b="0">
                <a:solidFill>
                  <a:srgbClr val="07182A"/>
                </a:solidFill>
                <a:latin typeface="CiscoSansTT"/>
                <a:ea typeface="CiscoSansTT"/>
                <a:cs typeface="CiscoSansTT"/>
              </a:defRPr>
            </a:lvl4pPr>
            <a:lvl5pPr algn="l">
              <a:defRPr sz="3150" b="0">
                <a:solidFill>
                  <a:srgbClr val="07182A"/>
                </a:solidFill>
                <a:latin typeface="CiscoSansTT"/>
                <a:ea typeface="CiscoSansTT"/>
                <a:cs typeface="CiscoSansTT"/>
              </a:defRPr>
            </a:lvl5pPr>
            <a:lvl6pPr algn="l">
              <a:defRPr sz="3150" b="0">
                <a:solidFill>
                  <a:srgbClr val="07182A"/>
                </a:solidFill>
                <a:latin typeface="CiscoSansTT"/>
                <a:ea typeface="CiscoSansTT"/>
                <a:cs typeface="CiscoSansTT"/>
              </a:defRPr>
            </a:lvl6pPr>
            <a:lvl7pPr algn="l">
              <a:defRPr sz="3150" b="0">
                <a:solidFill>
                  <a:srgbClr val="07182A"/>
                </a:solidFill>
                <a:latin typeface="CiscoSansTT"/>
                <a:ea typeface="CiscoSansTT"/>
                <a:cs typeface="CiscoSansTT"/>
              </a:defRPr>
            </a:lvl7pPr>
            <a:lvl8pPr algn="l">
              <a:defRPr sz="3150" b="0">
                <a:solidFill>
                  <a:srgbClr val="07182A"/>
                </a:solidFill>
                <a:latin typeface="CiscoSansTT"/>
                <a:ea typeface="CiscoSansTT"/>
                <a:cs typeface="CiscoSansTT"/>
              </a:defRPr>
            </a:lvl8pPr>
            <a:lvl9pPr algn="l">
              <a:defRPr sz="3150" b="0">
                <a:solidFill>
                  <a:srgbClr val="07182A"/>
                </a:solidFill>
                <a:latin typeface="CiscoSansTT"/>
                <a:ea typeface="CiscoSansTT"/>
                <a:cs typeface="CiscoSansTT"/>
              </a:defRPr>
            </a:lvl9pPr>
          </a:lstStyle>
          <a:p xmlns:a="http://schemas.openxmlformats.org/drawingml/2006/main">
            <a:pPr algn="l">
              <a:buNone/>
              <a:defRPr sz="3150" b="0">
                <a:solidFill>
                  <a:srgbClr val="07182A"/>
                </a:solidFill>
                <a:latin typeface="CiscoSansTT"/>
                <a:ea typeface="CiscoSansTT"/>
                <a:cs typeface="CiscoSansTT"/>
              </a:defRPr>
            </a:pPr>
            <a:r>
              <a:rPr sz="3150" b="0">
                <a:solidFill>
                  <a:srgbClr val="07182A"/>
                </a:solidFill>
                <a:latin typeface="CiscoSansTT"/>
                <a:ea typeface="CiscoSansTT"/>
                <a:cs typeface="CiscoSansTT"/>
              </a:rPr>
              <a:t>Agenda</a:t>
            </a:r>
          </a:p>
        </p:txBody>
      </p:sp>
      <p:sp>
        <p:nvSpPr>
          <p:cNvPr id="22" name="Rectangle 21">
            <a:extLst xmlns:a="http://schemas.openxmlformats.org/drawingml/2006/main">
              <a:ext uri="{FF2B5EF4-FFF2-40B4-BE49-F238E27FC236}">
                <a16:creationId xmlns:a16="http://schemas.microsoft.com/office/drawing/2014/main" id="{F2410DE7-62AD-405F-867D-87290CCEF6A7}"/>
              </a:ext>
            </a:extLst>
          </p:cNvPr>
          <p:cNvSpPr>
            <a:spLocks xmlns:a="http://schemas.openxmlformats.org/drawingml/2006/main" noGrp="1"/>
          </p:cNvSpPr>
          <p:nvPr/>
        </p:nvSpPr>
        <p:spPr>
          <a:xfrm xmlns:a="http://schemas.openxmlformats.org/drawingml/2006/main">
            <a:off x="11144250" y="6629400"/>
            <a:ext cx="1047750" cy="2286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2A65D56C-4C1B-45E5-BEA1-03C8866212B3}"/>
              </a:ext>
            </a:extLst>
          </p:cNvPr>
          <p:cNvSpPr>
            <a:spLocks xmlns:a="http://schemas.openxmlformats.org/drawingml/2006/main" noGrp="1"/>
          </p:cNvSpPr>
          <p:nvPr/>
        </p:nvSpPr>
        <p:spPr>
          <a:xfrm xmlns:a="http://schemas.openxmlformats.org/drawingml/2006/main">
            <a:off x="11144250" y="6696075"/>
            <a:ext cx="1009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600">
                <a:solidFill>
                  <a:srgbClr val="686B6B"/>
                </a:solidFill>
                <a:latin typeface="CiscoSansTT"/>
                <a:ea typeface="CiscoSansTT"/>
                <a:cs typeface="CiscoSansTT"/>
              </a:defRPr>
            </a:pPr>
            <a:r>
              <a:rPr sz="600">
                <a:solidFill>
                  <a:srgbClr val="686B6B"/>
                </a:solidFill>
                <a:latin typeface="CiscoSansTT"/>
                <a:ea typeface="CiscoSansTT"/>
                <a:cs typeface="CiscoSansTT"/>
              </a:rPr>
              <a:t>Cisco Confidential</a:t>
            </a:r>
          </a:p>
        </p:txBody>
      </p:sp>
      <p:sp>
        <p:nvSpPr>
          <p:cNvPr id="24" name="agenda-number-1">
            <a:extLst xmlns:a="http://schemas.openxmlformats.org/drawingml/2006/main">
              <a:ext uri="{FF2B5EF4-FFF2-40B4-BE49-F238E27FC236}">
                <a16:creationId xmlns:a16="http://schemas.microsoft.com/office/drawing/2014/main" id="{3E6C33D2-BC2A-4DB6-8A9C-E248044FAE61}"/>
              </a:ext>
            </a:extLst>
          </p:cNvPr>
          <p:cNvSpPr>
            <a:spLocks xmlns:a="http://schemas.openxmlformats.org/drawingml/2006/main" noGrp="1"/>
          </p:cNvSpPr>
          <p:nvPr/>
        </p:nvSpPr>
        <p:spPr>
          <a:xfrm xmlns:a="http://schemas.openxmlformats.org/drawingml/2006/main">
            <a:off x="5334000" y="323850"/>
            <a:ext cx="619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a:solidFill>
                  <a:srgbClr val="0860FE"/>
                </a:solidFill>
                <a:latin typeface="CiscoSansTT"/>
                <a:ea typeface="CiscoSansTT"/>
                <a:cs typeface="CiscoSansTT"/>
              </a:defRPr>
            </a:defPPr>
            <a:lvl1pPr algn="l">
              <a:defRPr sz="2325">
                <a:solidFill>
                  <a:srgbClr val="0860FE"/>
                </a:solidFill>
                <a:latin typeface="CiscoSansTT"/>
                <a:ea typeface="CiscoSansTT"/>
                <a:cs typeface="CiscoSansTT"/>
              </a:defRPr>
            </a:lvl1pPr>
            <a:lvl2pPr algn="l">
              <a:defRPr sz="2325">
                <a:solidFill>
                  <a:srgbClr val="0860FE"/>
                </a:solidFill>
                <a:latin typeface="CiscoSansTT"/>
                <a:ea typeface="CiscoSansTT"/>
                <a:cs typeface="CiscoSansTT"/>
              </a:defRPr>
            </a:lvl2pPr>
            <a:lvl3pPr algn="l">
              <a:defRPr sz="2325">
                <a:solidFill>
                  <a:srgbClr val="0860FE"/>
                </a:solidFill>
                <a:latin typeface="CiscoSansTT"/>
                <a:ea typeface="CiscoSansTT"/>
                <a:cs typeface="CiscoSansTT"/>
              </a:defRPr>
            </a:lvl3pPr>
            <a:lvl4pPr algn="l">
              <a:defRPr sz="2325">
                <a:solidFill>
                  <a:srgbClr val="0860FE"/>
                </a:solidFill>
                <a:latin typeface="CiscoSansTT"/>
                <a:ea typeface="CiscoSansTT"/>
                <a:cs typeface="CiscoSansTT"/>
              </a:defRPr>
            </a:lvl4pPr>
            <a:lvl5pPr algn="l">
              <a:defRPr sz="2325">
                <a:solidFill>
                  <a:srgbClr val="0860FE"/>
                </a:solidFill>
                <a:latin typeface="CiscoSansTT"/>
                <a:ea typeface="CiscoSansTT"/>
                <a:cs typeface="CiscoSansTT"/>
              </a:defRPr>
            </a:lvl5pPr>
            <a:lvl6pPr algn="l">
              <a:defRPr sz="2325">
                <a:solidFill>
                  <a:srgbClr val="0860FE"/>
                </a:solidFill>
                <a:latin typeface="CiscoSansTT"/>
                <a:ea typeface="CiscoSansTT"/>
                <a:cs typeface="CiscoSansTT"/>
              </a:defRPr>
            </a:lvl6pPr>
            <a:lvl7pPr algn="l">
              <a:defRPr sz="2325">
                <a:solidFill>
                  <a:srgbClr val="0860FE"/>
                </a:solidFill>
                <a:latin typeface="CiscoSansTT"/>
                <a:ea typeface="CiscoSansTT"/>
                <a:cs typeface="CiscoSansTT"/>
              </a:defRPr>
            </a:lvl7pPr>
            <a:lvl8pPr algn="l">
              <a:defRPr sz="2325">
                <a:solidFill>
                  <a:srgbClr val="0860FE"/>
                </a:solidFill>
                <a:latin typeface="CiscoSansTT"/>
                <a:ea typeface="CiscoSansTT"/>
                <a:cs typeface="CiscoSansTT"/>
              </a:defRPr>
            </a:lvl8pPr>
            <a:lvl9pPr algn="l">
              <a:defRPr sz="2325">
                <a:solidFill>
                  <a:srgbClr val="0860FE"/>
                </a:solidFill>
                <a:latin typeface="CiscoSansTT"/>
                <a:ea typeface="CiscoSansTT"/>
                <a:cs typeface="CiscoSansTT"/>
              </a:defRPr>
            </a:lvl9pPr>
          </a:lstStyle>
          <a:p xmlns:a="http://schemas.openxmlformats.org/drawingml/2006/main">
            <a:pPr algn="l">
              <a:defRPr sz="2325">
                <a:solidFill>
                  <a:srgbClr val="0860FE"/>
                </a:solidFill>
                <a:latin typeface="CiscoSansTT"/>
                <a:ea typeface="CiscoSansTT"/>
                <a:cs typeface="CiscoSansTT"/>
              </a:defRPr>
            </a:pPr>
            <a:r>
              <a:rPr sz="2325">
                <a:solidFill>
                  <a:srgbClr val="0860FE"/>
                </a:solidFill>
                <a:latin typeface="CiscoSansTT"/>
                <a:ea typeface="CiscoSansTT"/>
                <a:cs typeface="CiscoSansTT"/>
              </a:rPr>
              <a:t>01</a:t>
            </a:r>
          </a:p>
        </p:txBody>
      </p:sp>
      <p:sp>
        <p:nvSpPr>
          <p:cNvPr id="25" name="agenda-topic-1">
            <a:extLst xmlns:a="http://schemas.openxmlformats.org/drawingml/2006/main">
              <a:ext uri="{FF2B5EF4-FFF2-40B4-BE49-F238E27FC236}">
                <a16:creationId xmlns:a16="http://schemas.microsoft.com/office/drawing/2014/main" id="{C475854E-9652-45BB-BA83-A7EF3A0CDE41}"/>
              </a:ext>
            </a:extLst>
          </p:cNvPr>
          <p:cNvSpPr>
            <a:spLocks xmlns:a="http://schemas.openxmlformats.org/drawingml/2006/main" noGrp="1"/>
          </p:cNvSpPr>
          <p:nvPr/>
        </p:nvSpPr>
        <p:spPr>
          <a:xfrm xmlns:a="http://schemas.openxmlformats.org/drawingml/2006/main">
            <a:off x="6334125" y="32385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a:solidFill>
                  <a:srgbClr val="07182A"/>
                </a:solidFill>
                <a:latin typeface="CiscoSansTT"/>
                <a:ea typeface="CiscoSansTT"/>
                <a:cs typeface="CiscoSansTT"/>
              </a:defRPr>
            </a:defPPr>
            <a:lvl1pPr algn="l">
              <a:defRPr sz="2400">
                <a:solidFill>
                  <a:srgbClr val="07182A"/>
                </a:solidFill>
                <a:latin typeface="CiscoSansTT"/>
                <a:ea typeface="CiscoSansTT"/>
                <a:cs typeface="CiscoSansTT"/>
              </a:defRPr>
            </a:lvl1pPr>
            <a:lvl2pPr algn="l">
              <a:defRPr sz="2400">
                <a:solidFill>
                  <a:srgbClr val="07182A"/>
                </a:solidFill>
                <a:latin typeface="CiscoSansTT"/>
                <a:ea typeface="CiscoSansTT"/>
                <a:cs typeface="CiscoSansTT"/>
              </a:defRPr>
            </a:lvl2pPr>
            <a:lvl3pPr algn="l">
              <a:defRPr sz="2400">
                <a:solidFill>
                  <a:srgbClr val="07182A"/>
                </a:solidFill>
                <a:latin typeface="CiscoSansTT"/>
                <a:ea typeface="CiscoSansTT"/>
                <a:cs typeface="CiscoSansTT"/>
              </a:defRPr>
            </a:lvl3pPr>
            <a:lvl4pPr algn="l">
              <a:defRPr sz="2400">
                <a:solidFill>
                  <a:srgbClr val="07182A"/>
                </a:solidFill>
                <a:latin typeface="CiscoSansTT"/>
                <a:ea typeface="CiscoSansTT"/>
                <a:cs typeface="CiscoSansTT"/>
              </a:defRPr>
            </a:lvl4pPr>
            <a:lvl5pPr algn="l">
              <a:defRPr sz="2400">
                <a:solidFill>
                  <a:srgbClr val="07182A"/>
                </a:solidFill>
                <a:latin typeface="CiscoSansTT"/>
                <a:ea typeface="CiscoSansTT"/>
                <a:cs typeface="CiscoSansTT"/>
              </a:defRPr>
            </a:lvl5pPr>
            <a:lvl6pPr algn="l">
              <a:defRPr sz="2400">
                <a:solidFill>
                  <a:srgbClr val="07182A"/>
                </a:solidFill>
                <a:latin typeface="CiscoSansTT"/>
                <a:ea typeface="CiscoSansTT"/>
                <a:cs typeface="CiscoSansTT"/>
              </a:defRPr>
            </a:lvl6pPr>
            <a:lvl7pPr algn="l">
              <a:defRPr sz="2400">
                <a:solidFill>
                  <a:srgbClr val="07182A"/>
                </a:solidFill>
                <a:latin typeface="CiscoSansTT"/>
                <a:ea typeface="CiscoSansTT"/>
                <a:cs typeface="CiscoSansTT"/>
              </a:defRPr>
            </a:lvl7pPr>
            <a:lvl8pPr algn="l">
              <a:defRPr sz="2400">
                <a:solidFill>
                  <a:srgbClr val="07182A"/>
                </a:solidFill>
                <a:latin typeface="CiscoSansTT"/>
                <a:ea typeface="CiscoSansTT"/>
                <a:cs typeface="CiscoSansTT"/>
              </a:defRPr>
            </a:lvl8pPr>
            <a:lvl9pPr algn="l">
              <a:defRPr sz="2400">
                <a:solidFill>
                  <a:srgbClr val="07182A"/>
                </a:solidFill>
                <a:latin typeface="CiscoSansTT"/>
                <a:ea typeface="CiscoSansTT"/>
                <a:cs typeface="CiscoSansTT"/>
              </a:defRPr>
            </a:lvl9pPr>
          </a:lstStyle>
          <a:p xmlns:a="http://schemas.openxmlformats.org/drawingml/2006/main">
            <a:pPr algn="l">
              <a:defRPr sz="2400">
                <a:solidFill>
                  <a:srgbClr val="07182A"/>
                </a:solidFill>
                <a:latin typeface="CiscoSansTT"/>
                <a:ea typeface="CiscoSansTT"/>
                <a:cs typeface="CiscoSansTT"/>
              </a:defRPr>
            </a:pPr>
            <a:r>
              <a:rPr sz="2400">
                <a:solidFill>
                  <a:srgbClr val="07182A"/>
                </a:solidFill>
                <a:latin typeface="CiscoSansTT"/>
                <a:ea typeface="CiscoSansTT"/>
                <a:cs typeface="CiscoSansTT"/>
              </a:rPr>
              <a:t>OBI vs Cilium + Hubble</a:t>
            </a:r>
          </a:p>
        </p:txBody>
      </p:sp>
      <p:sp>
        <p:nvSpPr>
          <p:cNvPr id="26" name="agenda-number-2">
            <a:extLst xmlns:a="http://schemas.openxmlformats.org/drawingml/2006/main">
              <a:ext uri="{FF2B5EF4-FFF2-40B4-BE49-F238E27FC236}">
                <a16:creationId xmlns:a16="http://schemas.microsoft.com/office/drawing/2014/main" id="{A91151FB-E001-4E25-9158-F9877349CD23}"/>
              </a:ext>
            </a:extLst>
          </p:cNvPr>
          <p:cNvSpPr>
            <a:spLocks xmlns:a="http://schemas.openxmlformats.org/drawingml/2006/main" noGrp="1"/>
          </p:cNvSpPr>
          <p:nvPr/>
        </p:nvSpPr>
        <p:spPr>
          <a:xfrm xmlns:a="http://schemas.openxmlformats.org/drawingml/2006/main">
            <a:off x="5334000" y="1171575"/>
            <a:ext cx="619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a:solidFill>
                  <a:srgbClr val="0860FE"/>
                </a:solidFill>
                <a:latin typeface="CiscoSansTT"/>
                <a:ea typeface="CiscoSansTT"/>
                <a:cs typeface="CiscoSansTT"/>
              </a:defRPr>
            </a:defPPr>
            <a:lvl1pPr algn="l">
              <a:defRPr sz="2325">
                <a:solidFill>
                  <a:srgbClr val="0860FE"/>
                </a:solidFill>
                <a:latin typeface="CiscoSansTT"/>
                <a:ea typeface="CiscoSansTT"/>
                <a:cs typeface="CiscoSansTT"/>
              </a:defRPr>
            </a:lvl1pPr>
            <a:lvl2pPr algn="l">
              <a:defRPr sz="2325">
                <a:solidFill>
                  <a:srgbClr val="0860FE"/>
                </a:solidFill>
                <a:latin typeface="CiscoSansTT"/>
                <a:ea typeface="CiscoSansTT"/>
                <a:cs typeface="CiscoSansTT"/>
              </a:defRPr>
            </a:lvl2pPr>
            <a:lvl3pPr algn="l">
              <a:defRPr sz="2325">
                <a:solidFill>
                  <a:srgbClr val="0860FE"/>
                </a:solidFill>
                <a:latin typeface="CiscoSansTT"/>
                <a:ea typeface="CiscoSansTT"/>
                <a:cs typeface="CiscoSansTT"/>
              </a:defRPr>
            </a:lvl3pPr>
            <a:lvl4pPr algn="l">
              <a:defRPr sz="2325">
                <a:solidFill>
                  <a:srgbClr val="0860FE"/>
                </a:solidFill>
                <a:latin typeface="CiscoSansTT"/>
                <a:ea typeface="CiscoSansTT"/>
                <a:cs typeface="CiscoSansTT"/>
              </a:defRPr>
            </a:lvl4pPr>
            <a:lvl5pPr algn="l">
              <a:defRPr sz="2325">
                <a:solidFill>
                  <a:srgbClr val="0860FE"/>
                </a:solidFill>
                <a:latin typeface="CiscoSansTT"/>
                <a:ea typeface="CiscoSansTT"/>
                <a:cs typeface="CiscoSansTT"/>
              </a:defRPr>
            </a:lvl5pPr>
            <a:lvl6pPr algn="l">
              <a:defRPr sz="2325">
                <a:solidFill>
                  <a:srgbClr val="0860FE"/>
                </a:solidFill>
                <a:latin typeface="CiscoSansTT"/>
                <a:ea typeface="CiscoSansTT"/>
                <a:cs typeface="CiscoSansTT"/>
              </a:defRPr>
            </a:lvl6pPr>
            <a:lvl7pPr algn="l">
              <a:defRPr sz="2325">
                <a:solidFill>
                  <a:srgbClr val="0860FE"/>
                </a:solidFill>
                <a:latin typeface="CiscoSansTT"/>
                <a:ea typeface="CiscoSansTT"/>
                <a:cs typeface="CiscoSansTT"/>
              </a:defRPr>
            </a:lvl7pPr>
            <a:lvl8pPr algn="l">
              <a:defRPr sz="2325">
                <a:solidFill>
                  <a:srgbClr val="0860FE"/>
                </a:solidFill>
                <a:latin typeface="CiscoSansTT"/>
                <a:ea typeface="CiscoSansTT"/>
                <a:cs typeface="CiscoSansTT"/>
              </a:defRPr>
            </a:lvl8pPr>
            <a:lvl9pPr algn="l">
              <a:defRPr sz="2325">
                <a:solidFill>
                  <a:srgbClr val="0860FE"/>
                </a:solidFill>
                <a:latin typeface="CiscoSansTT"/>
                <a:ea typeface="CiscoSansTT"/>
                <a:cs typeface="CiscoSansTT"/>
              </a:defRPr>
            </a:lvl9pPr>
          </a:lstStyle>
          <a:p xmlns:a="http://schemas.openxmlformats.org/drawingml/2006/main">
            <a:pPr algn="l">
              <a:defRPr sz="2325">
                <a:solidFill>
                  <a:srgbClr val="0860FE"/>
                </a:solidFill>
                <a:latin typeface="CiscoSansTT"/>
                <a:ea typeface="CiscoSansTT"/>
                <a:cs typeface="CiscoSansTT"/>
              </a:defRPr>
            </a:pPr>
            <a:r>
              <a:rPr sz="2325">
                <a:solidFill>
                  <a:srgbClr val="0860FE"/>
                </a:solidFill>
                <a:latin typeface="CiscoSansTT"/>
                <a:ea typeface="CiscoSansTT"/>
                <a:cs typeface="CiscoSansTT"/>
              </a:rPr>
              <a:t>02</a:t>
            </a:r>
          </a:p>
        </p:txBody>
      </p:sp>
      <p:sp>
        <p:nvSpPr>
          <p:cNvPr id="27" name="agenda-topic-2">
            <a:extLst xmlns:a="http://schemas.openxmlformats.org/drawingml/2006/main">
              <a:ext uri="{FF2B5EF4-FFF2-40B4-BE49-F238E27FC236}">
                <a16:creationId xmlns:a16="http://schemas.microsoft.com/office/drawing/2014/main" id="{7AC5632C-345D-4706-B0FF-B0E1D7A0DC7E}"/>
              </a:ext>
            </a:extLst>
          </p:cNvPr>
          <p:cNvSpPr>
            <a:spLocks xmlns:a="http://schemas.openxmlformats.org/drawingml/2006/main" noGrp="1"/>
          </p:cNvSpPr>
          <p:nvPr/>
        </p:nvSpPr>
        <p:spPr>
          <a:xfrm xmlns:a="http://schemas.openxmlformats.org/drawingml/2006/main">
            <a:off x="6334125" y="1171575"/>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a:solidFill>
                  <a:srgbClr val="07182A"/>
                </a:solidFill>
                <a:latin typeface="CiscoSansTT"/>
                <a:ea typeface="CiscoSansTT"/>
                <a:cs typeface="CiscoSansTT"/>
              </a:defRPr>
            </a:defPPr>
            <a:lvl1pPr algn="l">
              <a:defRPr sz="2400">
                <a:solidFill>
                  <a:srgbClr val="07182A"/>
                </a:solidFill>
                <a:latin typeface="CiscoSansTT"/>
                <a:ea typeface="CiscoSansTT"/>
                <a:cs typeface="CiscoSansTT"/>
              </a:defRPr>
            </a:lvl1pPr>
            <a:lvl2pPr algn="l">
              <a:defRPr sz="2400">
                <a:solidFill>
                  <a:srgbClr val="07182A"/>
                </a:solidFill>
                <a:latin typeface="CiscoSansTT"/>
                <a:ea typeface="CiscoSansTT"/>
                <a:cs typeface="CiscoSansTT"/>
              </a:defRPr>
            </a:lvl2pPr>
            <a:lvl3pPr algn="l">
              <a:defRPr sz="2400">
                <a:solidFill>
                  <a:srgbClr val="07182A"/>
                </a:solidFill>
                <a:latin typeface="CiscoSansTT"/>
                <a:ea typeface="CiscoSansTT"/>
                <a:cs typeface="CiscoSansTT"/>
              </a:defRPr>
            </a:lvl3pPr>
            <a:lvl4pPr algn="l">
              <a:defRPr sz="2400">
                <a:solidFill>
                  <a:srgbClr val="07182A"/>
                </a:solidFill>
                <a:latin typeface="CiscoSansTT"/>
                <a:ea typeface="CiscoSansTT"/>
                <a:cs typeface="CiscoSansTT"/>
              </a:defRPr>
            </a:lvl4pPr>
            <a:lvl5pPr algn="l">
              <a:defRPr sz="2400">
                <a:solidFill>
                  <a:srgbClr val="07182A"/>
                </a:solidFill>
                <a:latin typeface="CiscoSansTT"/>
                <a:ea typeface="CiscoSansTT"/>
                <a:cs typeface="CiscoSansTT"/>
              </a:defRPr>
            </a:lvl5pPr>
            <a:lvl6pPr algn="l">
              <a:defRPr sz="2400">
                <a:solidFill>
                  <a:srgbClr val="07182A"/>
                </a:solidFill>
                <a:latin typeface="CiscoSansTT"/>
                <a:ea typeface="CiscoSansTT"/>
                <a:cs typeface="CiscoSansTT"/>
              </a:defRPr>
            </a:lvl6pPr>
            <a:lvl7pPr algn="l">
              <a:defRPr sz="2400">
                <a:solidFill>
                  <a:srgbClr val="07182A"/>
                </a:solidFill>
                <a:latin typeface="CiscoSansTT"/>
                <a:ea typeface="CiscoSansTT"/>
                <a:cs typeface="CiscoSansTT"/>
              </a:defRPr>
            </a:lvl7pPr>
            <a:lvl8pPr algn="l">
              <a:defRPr sz="2400">
                <a:solidFill>
                  <a:srgbClr val="07182A"/>
                </a:solidFill>
                <a:latin typeface="CiscoSansTT"/>
                <a:ea typeface="CiscoSansTT"/>
                <a:cs typeface="CiscoSansTT"/>
              </a:defRPr>
            </a:lvl8pPr>
            <a:lvl9pPr algn="l">
              <a:defRPr sz="2400">
                <a:solidFill>
                  <a:srgbClr val="07182A"/>
                </a:solidFill>
                <a:latin typeface="CiscoSansTT"/>
                <a:ea typeface="CiscoSansTT"/>
                <a:cs typeface="CiscoSansTT"/>
              </a:defRPr>
            </a:lvl9pPr>
          </a:lstStyle>
          <a:p xmlns:a="http://schemas.openxmlformats.org/drawingml/2006/main">
            <a:pPr algn="l">
              <a:defRPr sz="2400">
                <a:solidFill>
                  <a:srgbClr val="07182A"/>
                </a:solidFill>
                <a:latin typeface="CiscoSansTT"/>
                <a:ea typeface="CiscoSansTT"/>
                <a:cs typeface="CiscoSansTT"/>
              </a:defRPr>
            </a:pPr>
            <a:r>
              <a:rPr sz="2400">
                <a:solidFill>
                  <a:srgbClr val="07182A"/>
                </a:solidFill>
                <a:latin typeface="CiscoSansTT"/>
                <a:ea typeface="CiscoSansTT"/>
                <a:cs typeface="CiscoSansTT"/>
              </a:rPr>
              <a:t>Coexistence problem</a:t>
            </a:r>
          </a:p>
        </p:txBody>
      </p:sp>
      <p:sp>
        <p:nvSpPr>
          <p:cNvPr id="28" name="agenda-number-3">
            <a:extLst xmlns:a="http://schemas.openxmlformats.org/drawingml/2006/main">
              <a:ext uri="{FF2B5EF4-FFF2-40B4-BE49-F238E27FC236}">
                <a16:creationId xmlns:a16="http://schemas.microsoft.com/office/drawing/2014/main" id="{54EC1303-6A66-4C2C-8298-0004A4D943CC}"/>
              </a:ext>
            </a:extLst>
          </p:cNvPr>
          <p:cNvSpPr>
            <a:spLocks xmlns:a="http://schemas.openxmlformats.org/drawingml/2006/main" noGrp="1"/>
          </p:cNvSpPr>
          <p:nvPr/>
        </p:nvSpPr>
        <p:spPr>
          <a:xfrm xmlns:a="http://schemas.openxmlformats.org/drawingml/2006/main">
            <a:off x="5334000" y="2019300"/>
            <a:ext cx="619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a:solidFill>
                  <a:srgbClr val="0860FE"/>
                </a:solidFill>
                <a:latin typeface="CiscoSansTT"/>
                <a:ea typeface="CiscoSansTT"/>
                <a:cs typeface="CiscoSansTT"/>
              </a:defRPr>
            </a:defPPr>
            <a:lvl1pPr algn="l">
              <a:defRPr sz="2325">
                <a:solidFill>
                  <a:srgbClr val="0860FE"/>
                </a:solidFill>
                <a:latin typeface="CiscoSansTT"/>
                <a:ea typeface="CiscoSansTT"/>
                <a:cs typeface="CiscoSansTT"/>
              </a:defRPr>
            </a:lvl1pPr>
            <a:lvl2pPr algn="l">
              <a:defRPr sz="2325">
                <a:solidFill>
                  <a:srgbClr val="0860FE"/>
                </a:solidFill>
                <a:latin typeface="CiscoSansTT"/>
                <a:ea typeface="CiscoSansTT"/>
                <a:cs typeface="CiscoSansTT"/>
              </a:defRPr>
            </a:lvl2pPr>
            <a:lvl3pPr algn="l">
              <a:defRPr sz="2325">
                <a:solidFill>
                  <a:srgbClr val="0860FE"/>
                </a:solidFill>
                <a:latin typeface="CiscoSansTT"/>
                <a:ea typeface="CiscoSansTT"/>
                <a:cs typeface="CiscoSansTT"/>
              </a:defRPr>
            </a:lvl3pPr>
            <a:lvl4pPr algn="l">
              <a:defRPr sz="2325">
                <a:solidFill>
                  <a:srgbClr val="0860FE"/>
                </a:solidFill>
                <a:latin typeface="CiscoSansTT"/>
                <a:ea typeface="CiscoSansTT"/>
                <a:cs typeface="CiscoSansTT"/>
              </a:defRPr>
            </a:lvl4pPr>
            <a:lvl5pPr algn="l">
              <a:defRPr sz="2325">
                <a:solidFill>
                  <a:srgbClr val="0860FE"/>
                </a:solidFill>
                <a:latin typeface="CiscoSansTT"/>
                <a:ea typeface="CiscoSansTT"/>
                <a:cs typeface="CiscoSansTT"/>
              </a:defRPr>
            </a:lvl5pPr>
            <a:lvl6pPr algn="l">
              <a:defRPr sz="2325">
                <a:solidFill>
                  <a:srgbClr val="0860FE"/>
                </a:solidFill>
                <a:latin typeface="CiscoSansTT"/>
                <a:ea typeface="CiscoSansTT"/>
                <a:cs typeface="CiscoSansTT"/>
              </a:defRPr>
            </a:lvl6pPr>
            <a:lvl7pPr algn="l">
              <a:defRPr sz="2325">
                <a:solidFill>
                  <a:srgbClr val="0860FE"/>
                </a:solidFill>
                <a:latin typeface="CiscoSansTT"/>
                <a:ea typeface="CiscoSansTT"/>
                <a:cs typeface="CiscoSansTT"/>
              </a:defRPr>
            </a:lvl7pPr>
            <a:lvl8pPr algn="l">
              <a:defRPr sz="2325">
                <a:solidFill>
                  <a:srgbClr val="0860FE"/>
                </a:solidFill>
                <a:latin typeface="CiscoSansTT"/>
                <a:ea typeface="CiscoSansTT"/>
                <a:cs typeface="CiscoSansTT"/>
              </a:defRPr>
            </a:lvl8pPr>
            <a:lvl9pPr algn="l">
              <a:defRPr sz="2325">
                <a:solidFill>
                  <a:srgbClr val="0860FE"/>
                </a:solidFill>
                <a:latin typeface="CiscoSansTT"/>
                <a:ea typeface="CiscoSansTT"/>
                <a:cs typeface="CiscoSansTT"/>
              </a:defRPr>
            </a:lvl9pPr>
          </a:lstStyle>
          <a:p xmlns:a="http://schemas.openxmlformats.org/drawingml/2006/main">
            <a:pPr algn="l">
              <a:defRPr sz="2325">
                <a:solidFill>
                  <a:srgbClr val="0860FE"/>
                </a:solidFill>
                <a:latin typeface="CiscoSansTT"/>
                <a:ea typeface="CiscoSansTT"/>
                <a:cs typeface="CiscoSansTT"/>
              </a:defRPr>
            </a:pPr>
            <a:r>
              <a:rPr sz="2325">
                <a:solidFill>
                  <a:srgbClr val="0860FE"/>
                </a:solidFill>
                <a:latin typeface="CiscoSansTT"/>
                <a:ea typeface="CiscoSansTT"/>
                <a:cs typeface="CiscoSansTT"/>
              </a:rPr>
              <a:t>03</a:t>
            </a:r>
          </a:p>
        </p:txBody>
      </p:sp>
      <p:sp>
        <p:nvSpPr>
          <p:cNvPr id="29" name="agenda-topic-3">
            <a:extLst xmlns:a="http://schemas.openxmlformats.org/drawingml/2006/main">
              <a:ext uri="{FF2B5EF4-FFF2-40B4-BE49-F238E27FC236}">
                <a16:creationId xmlns:a16="http://schemas.microsoft.com/office/drawing/2014/main" id="{5F146CD2-202A-4795-A55E-48E8EA629ADE}"/>
              </a:ext>
            </a:extLst>
          </p:cNvPr>
          <p:cNvSpPr>
            <a:spLocks xmlns:a="http://schemas.openxmlformats.org/drawingml/2006/main" noGrp="1"/>
          </p:cNvSpPr>
          <p:nvPr/>
        </p:nvSpPr>
        <p:spPr>
          <a:xfrm xmlns:a="http://schemas.openxmlformats.org/drawingml/2006/main">
            <a:off x="6334125" y="20193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a:solidFill>
                  <a:srgbClr val="07182A"/>
                </a:solidFill>
                <a:latin typeface="CiscoSansTT"/>
                <a:ea typeface="CiscoSansTT"/>
                <a:cs typeface="CiscoSansTT"/>
              </a:defRPr>
            </a:defPPr>
            <a:lvl1pPr algn="l">
              <a:defRPr sz="2400">
                <a:solidFill>
                  <a:srgbClr val="07182A"/>
                </a:solidFill>
                <a:latin typeface="CiscoSansTT"/>
                <a:ea typeface="CiscoSansTT"/>
                <a:cs typeface="CiscoSansTT"/>
              </a:defRPr>
            </a:lvl1pPr>
            <a:lvl2pPr algn="l">
              <a:defRPr sz="2400">
                <a:solidFill>
                  <a:srgbClr val="07182A"/>
                </a:solidFill>
                <a:latin typeface="CiscoSansTT"/>
                <a:ea typeface="CiscoSansTT"/>
                <a:cs typeface="CiscoSansTT"/>
              </a:defRPr>
            </a:lvl2pPr>
            <a:lvl3pPr algn="l">
              <a:defRPr sz="2400">
                <a:solidFill>
                  <a:srgbClr val="07182A"/>
                </a:solidFill>
                <a:latin typeface="CiscoSansTT"/>
                <a:ea typeface="CiscoSansTT"/>
                <a:cs typeface="CiscoSansTT"/>
              </a:defRPr>
            </a:lvl3pPr>
            <a:lvl4pPr algn="l">
              <a:defRPr sz="2400">
                <a:solidFill>
                  <a:srgbClr val="07182A"/>
                </a:solidFill>
                <a:latin typeface="CiscoSansTT"/>
                <a:ea typeface="CiscoSansTT"/>
                <a:cs typeface="CiscoSansTT"/>
              </a:defRPr>
            </a:lvl4pPr>
            <a:lvl5pPr algn="l">
              <a:defRPr sz="2400">
                <a:solidFill>
                  <a:srgbClr val="07182A"/>
                </a:solidFill>
                <a:latin typeface="CiscoSansTT"/>
                <a:ea typeface="CiscoSansTT"/>
                <a:cs typeface="CiscoSansTT"/>
              </a:defRPr>
            </a:lvl5pPr>
            <a:lvl6pPr algn="l">
              <a:defRPr sz="2400">
                <a:solidFill>
                  <a:srgbClr val="07182A"/>
                </a:solidFill>
                <a:latin typeface="CiscoSansTT"/>
                <a:ea typeface="CiscoSansTT"/>
                <a:cs typeface="CiscoSansTT"/>
              </a:defRPr>
            </a:lvl6pPr>
            <a:lvl7pPr algn="l">
              <a:defRPr sz="2400">
                <a:solidFill>
                  <a:srgbClr val="07182A"/>
                </a:solidFill>
                <a:latin typeface="CiscoSansTT"/>
                <a:ea typeface="CiscoSansTT"/>
                <a:cs typeface="CiscoSansTT"/>
              </a:defRPr>
            </a:lvl7pPr>
            <a:lvl8pPr algn="l">
              <a:defRPr sz="2400">
                <a:solidFill>
                  <a:srgbClr val="07182A"/>
                </a:solidFill>
                <a:latin typeface="CiscoSansTT"/>
                <a:ea typeface="CiscoSansTT"/>
                <a:cs typeface="CiscoSansTT"/>
              </a:defRPr>
            </a:lvl8pPr>
            <a:lvl9pPr algn="l">
              <a:defRPr sz="2400">
                <a:solidFill>
                  <a:srgbClr val="07182A"/>
                </a:solidFill>
                <a:latin typeface="CiscoSansTT"/>
                <a:ea typeface="CiscoSansTT"/>
                <a:cs typeface="CiscoSansTT"/>
              </a:defRPr>
            </a:lvl9pPr>
          </a:lstStyle>
          <a:p xmlns:a="http://schemas.openxmlformats.org/drawingml/2006/main">
            <a:pPr algn="l">
              <a:defRPr sz="2400">
                <a:solidFill>
                  <a:srgbClr val="07182A"/>
                </a:solidFill>
                <a:latin typeface="CiscoSansTT"/>
                <a:ea typeface="CiscoSansTT"/>
                <a:cs typeface="CiscoSansTT"/>
              </a:defRPr>
            </a:pPr>
            <a:r>
              <a:rPr sz="2400">
                <a:solidFill>
                  <a:srgbClr val="07182A"/>
                </a:solidFill>
                <a:latin typeface="CiscoSansTT"/>
                <a:ea typeface="CiscoSansTT"/>
                <a:cs typeface="CiscoSansTT"/>
              </a:rPr>
              <a:t>Attachment order</a:t>
            </a:r>
          </a:p>
        </p:txBody>
      </p:sp>
      <p:sp>
        <p:nvSpPr>
          <p:cNvPr id="30" name="agenda-number-4">
            <a:extLst xmlns:a="http://schemas.openxmlformats.org/drawingml/2006/main">
              <a:ext uri="{FF2B5EF4-FFF2-40B4-BE49-F238E27FC236}">
                <a16:creationId xmlns:a16="http://schemas.microsoft.com/office/drawing/2014/main" id="{35DB472C-1A24-47F8-817A-459B22ACA0D9}"/>
              </a:ext>
            </a:extLst>
          </p:cNvPr>
          <p:cNvSpPr>
            <a:spLocks xmlns:a="http://schemas.openxmlformats.org/drawingml/2006/main" noGrp="1"/>
          </p:cNvSpPr>
          <p:nvPr/>
        </p:nvSpPr>
        <p:spPr>
          <a:xfrm xmlns:a="http://schemas.openxmlformats.org/drawingml/2006/main">
            <a:off x="5334000" y="2867025"/>
            <a:ext cx="619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a:solidFill>
                  <a:srgbClr val="0860FE"/>
                </a:solidFill>
                <a:latin typeface="CiscoSansTT"/>
                <a:ea typeface="CiscoSansTT"/>
                <a:cs typeface="CiscoSansTT"/>
              </a:defRPr>
            </a:defPPr>
            <a:lvl1pPr algn="l">
              <a:defRPr sz="2325">
                <a:solidFill>
                  <a:srgbClr val="0860FE"/>
                </a:solidFill>
                <a:latin typeface="CiscoSansTT"/>
                <a:ea typeface="CiscoSansTT"/>
                <a:cs typeface="CiscoSansTT"/>
              </a:defRPr>
            </a:lvl1pPr>
            <a:lvl2pPr algn="l">
              <a:defRPr sz="2325">
                <a:solidFill>
                  <a:srgbClr val="0860FE"/>
                </a:solidFill>
                <a:latin typeface="CiscoSansTT"/>
                <a:ea typeface="CiscoSansTT"/>
                <a:cs typeface="CiscoSansTT"/>
              </a:defRPr>
            </a:lvl2pPr>
            <a:lvl3pPr algn="l">
              <a:defRPr sz="2325">
                <a:solidFill>
                  <a:srgbClr val="0860FE"/>
                </a:solidFill>
                <a:latin typeface="CiscoSansTT"/>
                <a:ea typeface="CiscoSansTT"/>
                <a:cs typeface="CiscoSansTT"/>
              </a:defRPr>
            </a:lvl3pPr>
            <a:lvl4pPr algn="l">
              <a:defRPr sz="2325">
                <a:solidFill>
                  <a:srgbClr val="0860FE"/>
                </a:solidFill>
                <a:latin typeface="CiscoSansTT"/>
                <a:ea typeface="CiscoSansTT"/>
                <a:cs typeface="CiscoSansTT"/>
              </a:defRPr>
            </a:lvl4pPr>
            <a:lvl5pPr algn="l">
              <a:defRPr sz="2325">
                <a:solidFill>
                  <a:srgbClr val="0860FE"/>
                </a:solidFill>
                <a:latin typeface="CiscoSansTT"/>
                <a:ea typeface="CiscoSansTT"/>
                <a:cs typeface="CiscoSansTT"/>
              </a:defRPr>
            </a:lvl5pPr>
            <a:lvl6pPr algn="l">
              <a:defRPr sz="2325">
                <a:solidFill>
                  <a:srgbClr val="0860FE"/>
                </a:solidFill>
                <a:latin typeface="CiscoSansTT"/>
                <a:ea typeface="CiscoSansTT"/>
                <a:cs typeface="CiscoSansTT"/>
              </a:defRPr>
            </a:lvl6pPr>
            <a:lvl7pPr algn="l">
              <a:defRPr sz="2325">
                <a:solidFill>
                  <a:srgbClr val="0860FE"/>
                </a:solidFill>
                <a:latin typeface="CiscoSansTT"/>
                <a:ea typeface="CiscoSansTT"/>
                <a:cs typeface="CiscoSansTT"/>
              </a:defRPr>
            </a:lvl7pPr>
            <a:lvl8pPr algn="l">
              <a:defRPr sz="2325">
                <a:solidFill>
                  <a:srgbClr val="0860FE"/>
                </a:solidFill>
                <a:latin typeface="CiscoSansTT"/>
                <a:ea typeface="CiscoSansTT"/>
                <a:cs typeface="CiscoSansTT"/>
              </a:defRPr>
            </a:lvl8pPr>
            <a:lvl9pPr algn="l">
              <a:defRPr sz="2325">
                <a:solidFill>
                  <a:srgbClr val="0860FE"/>
                </a:solidFill>
                <a:latin typeface="CiscoSansTT"/>
                <a:ea typeface="CiscoSansTT"/>
                <a:cs typeface="CiscoSansTT"/>
              </a:defRPr>
            </a:lvl9pPr>
          </a:lstStyle>
          <a:p xmlns:a="http://schemas.openxmlformats.org/drawingml/2006/main">
            <a:pPr algn="l">
              <a:defRPr sz="2325">
                <a:solidFill>
                  <a:srgbClr val="0860FE"/>
                </a:solidFill>
                <a:latin typeface="CiscoSansTT"/>
                <a:ea typeface="CiscoSansTT"/>
                <a:cs typeface="CiscoSansTT"/>
              </a:defRPr>
            </a:pPr>
            <a:r>
              <a:rPr sz="2325">
                <a:solidFill>
                  <a:srgbClr val="0860FE"/>
                </a:solidFill>
                <a:latin typeface="CiscoSansTT"/>
                <a:ea typeface="CiscoSansTT"/>
                <a:cs typeface="CiscoSansTT"/>
              </a:rPr>
              <a:t>04</a:t>
            </a:r>
          </a:p>
        </p:txBody>
      </p:sp>
      <p:sp>
        <p:nvSpPr>
          <p:cNvPr id="31" name="agenda-topic-4">
            <a:extLst xmlns:a="http://schemas.openxmlformats.org/drawingml/2006/main">
              <a:ext uri="{FF2B5EF4-FFF2-40B4-BE49-F238E27FC236}">
                <a16:creationId xmlns:a16="http://schemas.microsoft.com/office/drawing/2014/main" id="{A669B35E-B874-469E-AD03-2554211067DF}"/>
              </a:ext>
            </a:extLst>
          </p:cNvPr>
          <p:cNvSpPr>
            <a:spLocks xmlns:a="http://schemas.openxmlformats.org/drawingml/2006/main" noGrp="1"/>
          </p:cNvSpPr>
          <p:nvPr/>
        </p:nvSpPr>
        <p:spPr>
          <a:xfrm xmlns:a="http://schemas.openxmlformats.org/drawingml/2006/main">
            <a:off x="6334125" y="2867025"/>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a:solidFill>
                  <a:srgbClr val="07182A"/>
                </a:solidFill>
                <a:latin typeface="CiscoSansTT"/>
                <a:ea typeface="CiscoSansTT"/>
                <a:cs typeface="CiscoSansTT"/>
              </a:defRPr>
            </a:defPPr>
            <a:lvl1pPr algn="l">
              <a:defRPr sz="2400">
                <a:solidFill>
                  <a:srgbClr val="07182A"/>
                </a:solidFill>
                <a:latin typeface="CiscoSansTT"/>
                <a:ea typeface="CiscoSansTT"/>
                <a:cs typeface="CiscoSansTT"/>
              </a:defRPr>
            </a:lvl1pPr>
            <a:lvl2pPr algn="l">
              <a:defRPr sz="2400">
                <a:solidFill>
                  <a:srgbClr val="07182A"/>
                </a:solidFill>
                <a:latin typeface="CiscoSansTT"/>
                <a:ea typeface="CiscoSansTT"/>
                <a:cs typeface="CiscoSansTT"/>
              </a:defRPr>
            </a:lvl2pPr>
            <a:lvl3pPr algn="l">
              <a:defRPr sz="2400">
                <a:solidFill>
                  <a:srgbClr val="07182A"/>
                </a:solidFill>
                <a:latin typeface="CiscoSansTT"/>
                <a:ea typeface="CiscoSansTT"/>
                <a:cs typeface="CiscoSansTT"/>
              </a:defRPr>
            </a:lvl3pPr>
            <a:lvl4pPr algn="l">
              <a:defRPr sz="2400">
                <a:solidFill>
                  <a:srgbClr val="07182A"/>
                </a:solidFill>
                <a:latin typeface="CiscoSansTT"/>
                <a:ea typeface="CiscoSansTT"/>
                <a:cs typeface="CiscoSansTT"/>
              </a:defRPr>
            </a:lvl4pPr>
            <a:lvl5pPr algn="l">
              <a:defRPr sz="2400">
                <a:solidFill>
                  <a:srgbClr val="07182A"/>
                </a:solidFill>
                <a:latin typeface="CiscoSansTT"/>
                <a:ea typeface="CiscoSansTT"/>
                <a:cs typeface="CiscoSansTT"/>
              </a:defRPr>
            </a:lvl5pPr>
            <a:lvl6pPr algn="l">
              <a:defRPr sz="2400">
                <a:solidFill>
                  <a:srgbClr val="07182A"/>
                </a:solidFill>
                <a:latin typeface="CiscoSansTT"/>
                <a:ea typeface="CiscoSansTT"/>
                <a:cs typeface="CiscoSansTT"/>
              </a:defRPr>
            </a:lvl6pPr>
            <a:lvl7pPr algn="l">
              <a:defRPr sz="2400">
                <a:solidFill>
                  <a:srgbClr val="07182A"/>
                </a:solidFill>
                <a:latin typeface="CiscoSansTT"/>
                <a:ea typeface="CiscoSansTT"/>
                <a:cs typeface="CiscoSansTT"/>
              </a:defRPr>
            </a:lvl7pPr>
            <a:lvl8pPr algn="l">
              <a:defRPr sz="2400">
                <a:solidFill>
                  <a:srgbClr val="07182A"/>
                </a:solidFill>
                <a:latin typeface="CiscoSansTT"/>
                <a:ea typeface="CiscoSansTT"/>
                <a:cs typeface="CiscoSansTT"/>
              </a:defRPr>
            </a:lvl8pPr>
            <a:lvl9pPr algn="l">
              <a:defRPr sz="2400">
                <a:solidFill>
                  <a:srgbClr val="07182A"/>
                </a:solidFill>
                <a:latin typeface="CiscoSansTT"/>
                <a:ea typeface="CiscoSansTT"/>
                <a:cs typeface="CiscoSansTT"/>
              </a:defRPr>
            </a:lvl9pPr>
          </a:lstStyle>
          <a:p xmlns:a="http://schemas.openxmlformats.org/drawingml/2006/main">
            <a:pPr algn="l">
              <a:defRPr sz="2400">
                <a:solidFill>
                  <a:srgbClr val="07182A"/>
                </a:solidFill>
                <a:latin typeface="CiscoSansTT"/>
                <a:ea typeface="CiscoSansTT"/>
                <a:cs typeface="CiscoSansTT"/>
              </a:defRPr>
            </a:pPr>
            <a:r>
              <a:rPr sz="2400">
                <a:solidFill>
                  <a:srgbClr val="07182A"/>
                </a:solidFill>
                <a:latin typeface="CiscoSansTT"/>
                <a:ea typeface="CiscoSansTT"/>
                <a:cs typeface="CiscoSansTT"/>
              </a:rPr>
              <a:t>Demo</a:t>
            </a:r>
          </a:p>
        </p:txBody>
      </p:sp>
      <p:sp>
        <p:nvSpPr>
          <p:cNvPr id="32" name="agenda-number-5">
            <a:extLst xmlns:a="http://schemas.openxmlformats.org/drawingml/2006/main">
              <a:ext uri="{FF2B5EF4-FFF2-40B4-BE49-F238E27FC236}">
                <a16:creationId xmlns:a16="http://schemas.microsoft.com/office/drawing/2014/main" id="{1298CB08-0CBF-49DC-8A7C-58C41909D35D}"/>
              </a:ext>
            </a:extLst>
          </p:cNvPr>
          <p:cNvSpPr>
            <a:spLocks xmlns:a="http://schemas.openxmlformats.org/drawingml/2006/main" noGrp="1"/>
          </p:cNvSpPr>
          <p:nvPr/>
        </p:nvSpPr>
        <p:spPr>
          <a:xfrm xmlns:a="http://schemas.openxmlformats.org/drawingml/2006/main">
            <a:off x="5334000" y="3714750"/>
            <a:ext cx="619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a:solidFill>
                  <a:srgbClr val="0860FE"/>
                </a:solidFill>
                <a:latin typeface="CiscoSansTT"/>
                <a:ea typeface="CiscoSansTT"/>
                <a:cs typeface="CiscoSansTT"/>
              </a:defRPr>
            </a:defPPr>
            <a:lvl1pPr algn="l">
              <a:defRPr sz="2325">
                <a:solidFill>
                  <a:srgbClr val="0860FE"/>
                </a:solidFill>
                <a:latin typeface="CiscoSansTT"/>
                <a:ea typeface="CiscoSansTT"/>
                <a:cs typeface="CiscoSansTT"/>
              </a:defRPr>
            </a:lvl1pPr>
            <a:lvl2pPr algn="l">
              <a:defRPr sz="2325">
                <a:solidFill>
                  <a:srgbClr val="0860FE"/>
                </a:solidFill>
                <a:latin typeface="CiscoSansTT"/>
                <a:ea typeface="CiscoSansTT"/>
                <a:cs typeface="CiscoSansTT"/>
              </a:defRPr>
            </a:lvl2pPr>
            <a:lvl3pPr algn="l">
              <a:defRPr sz="2325">
                <a:solidFill>
                  <a:srgbClr val="0860FE"/>
                </a:solidFill>
                <a:latin typeface="CiscoSansTT"/>
                <a:ea typeface="CiscoSansTT"/>
                <a:cs typeface="CiscoSansTT"/>
              </a:defRPr>
            </a:lvl3pPr>
            <a:lvl4pPr algn="l">
              <a:defRPr sz="2325">
                <a:solidFill>
                  <a:srgbClr val="0860FE"/>
                </a:solidFill>
                <a:latin typeface="CiscoSansTT"/>
                <a:ea typeface="CiscoSansTT"/>
                <a:cs typeface="CiscoSansTT"/>
              </a:defRPr>
            </a:lvl4pPr>
            <a:lvl5pPr algn="l">
              <a:defRPr sz="2325">
                <a:solidFill>
                  <a:srgbClr val="0860FE"/>
                </a:solidFill>
                <a:latin typeface="CiscoSansTT"/>
                <a:ea typeface="CiscoSansTT"/>
                <a:cs typeface="CiscoSansTT"/>
              </a:defRPr>
            </a:lvl5pPr>
            <a:lvl6pPr algn="l">
              <a:defRPr sz="2325">
                <a:solidFill>
                  <a:srgbClr val="0860FE"/>
                </a:solidFill>
                <a:latin typeface="CiscoSansTT"/>
                <a:ea typeface="CiscoSansTT"/>
                <a:cs typeface="CiscoSansTT"/>
              </a:defRPr>
            </a:lvl6pPr>
            <a:lvl7pPr algn="l">
              <a:defRPr sz="2325">
                <a:solidFill>
                  <a:srgbClr val="0860FE"/>
                </a:solidFill>
                <a:latin typeface="CiscoSansTT"/>
                <a:ea typeface="CiscoSansTT"/>
                <a:cs typeface="CiscoSansTT"/>
              </a:defRPr>
            </a:lvl7pPr>
            <a:lvl8pPr algn="l">
              <a:defRPr sz="2325">
                <a:solidFill>
                  <a:srgbClr val="0860FE"/>
                </a:solidFill>
                <a:latin typeface="CiscoSansTT"/>
                <a:ea typeface="CiscoSansTT"/>
                <a:cs typeface="CiscoSansTT"/>
              </a:defRPr>
            </a:lvl8pPr>
            <a:lvl9pPr algn="l">
              <a:defRPr sz="2325">
                <a:solidFill>
                  <a:srgbClr val="0860FE"/>
                </a:solidFill>
                <a:latin typeface="CiscoSansTT"/>
                <a:ea typeface="CiscoSansTT"/>
                <a:cs typeface="CiscoSansTT"/>
              </a:defRPr>
            </a:lvl9pPr>
          </a:lstStyle>
          <a:p xmlns:a="http://schemas.openxmlformats.org/drawingml/2006/main">
            <a:pPr algn="l">
              <a:defRPr sz="2325">
                <a:solidFill>
                  <a:srgbClr val="0860FE"/>
                </a:solidFill>
                <a:latin typeface="CiscoSansTT"/>
                <a:ea typeface="CiscoSansTT"/>
                <a:cs typeface="CiscoSansTT"/>
              </a:defRPr>
            </a:pPr>
            <a:r>
              <a:rPr sz="2325">
                <a:solidFill>
                  <a:srgbClr val="0860FE"/>
                </a:solidFill>
                <a:latin typeface="CiscoSansTT"/>
                <a:ea typeface="CiscoSansTT"/>
                <a:cs typeface="CiscoSansTT"/>
              </a:rPr>
              <a:t>05</a:t>
            </a:r>
          </a:p>
        </p:txBody>
      </p:sp>
      <p:sp>
        <p:nvSpPr>
          <p:cNvPr id="33" name="agenda-topic-5">
            <a:extLst xmlns:a="http://schemas.openxmlformats.org/drawingml/2006/main">
              <a:ext uri="{FF2B5EF4-FFF2-40B4-BE49-F238E27FC236}">
                <a16:creationId xmlns:a16="http://schemas.microsoft.com/office/drawing/2014/main" id="{BE7763BF-8AEE-468C-9472-17E4A857F24E}"/>
              </a:ext>
            </a:extLst>
          </p:cNvPr>
          <p:cNvSpPr>
            <a:spLocks xmlns:a="http://schemas.openxmlformats.org/drawingml/2006/main" noGrp="1"/>
          </p:cNvSpPr>
          <p:nvPr/>
        </p:nvSpPr>
        <p:spPr>
          <a:xfrm xmlns:a="http://schemas.openxmlformats.org/drawingml/2006/main">
            <a:off x="6334125" y="371475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a:solidFill>
                  <a:srgbClr val="07182A"/>
                </a:solidFill>
                <a:latin typeface="CiscoSansTT"/>
                <a:ea typeface="CiscoSansTT"/>
                <a:cs typeface="CiscoSansTT"/>
              </a:defRPr>
            </a:defPPr>
            <a:lvl1pPr algn="l">
              <a:defRPr sz="2400">
                <a:solidFill>
                  <a:srgbClr val="07182A"/>
                </a:solidFill>
                <a:latin typeface="CiscoSansTT"/>
                <a:ea typeface="CiscoSansTT"/>
                <a:cs typeface="CiscoSansTT"/>
              </a:defRPr>
            </a:lvl1pPr>
            <a:lvl2pPr algn="l">
              <a:defRPr sz="2400">
                <a:solidFill>
                  <a:srgbClr val="07182A"/>
                </a:solidFill>
                <a:latin typeface="CiscoSansTT"/>
                <a:ea typeface="CiscoSansTT"/>
                <a:cs typeface="CiscoSansTT"/>
              </a:defRPr>
            </a:lvl2pPr>
            <a:lvl3pPr algn="l">
              <a:defRPr sz="2400">
                <a:solidFill>
                  <a:srgbClr val="07182A"/>
                </a:solidFill>
                <a:latin typeface="CiscoSansTT"/>
                <a:ea typeface="CiscoSansTT"/>
                <a:cs typeface="CiscoSansTT"/>
              </a:defRPr>
            </a:lvl3pPr>
            <a:lvl4pPr algn="l">
              <a:defRPr sz="2400">
                <a:solidFill>
                  <a:srgbClr val="07182A"/>
                </a:solidFill>
                <a:latin typeface="CiscoSansTT"/>
                <a:ea typeface="CiscoSansTT"/>
                <a:cs typeface="CiscoSansTT"/>
              </a:defRPr>
            </a:lvl4pPr>
            <a:lvl5pPr algn="l">
              <a:defRPr sz="2400">
                <a:solidFill>
                  <a:srgbClr val="07182A"/>
                </a:solidFill>
                <a:latin typeface="CiscoSansTT"/>
                <a:ea typeface="CiscoSansTT"/>
                <a:cs typeface="CiscoSansTT"/>
              </a:defRPr>
            </a:lvl5pPr>
            <a:lvl6pPr algn="l">
              <a:defRPr sz="2400">
                <a:solidFill>
                  <a:srgbClr val="07182A"/>
                </a:solidFill>
                <a:latin typeface="CiscoSansTT"/>
                <a:ea typeface="CiscoSansTT"/>
                <a:cs typeface="CiscoSansTT"/>
              </a:defRPr>
            </a:lvl6pPr>
            <a:lvl7pPr algn="l">
              <a:defRPr sz="2400">
                <a:solidFill>
                  <a:srgbClr val="07182A"/>
                </a:solidFill>
                <a:latin typeface="CiscoSansTT"/>
                <a:ea typeface="CiscoSansTT"/>
                <a:cs typeface="CiscoSansTT"/>
              </a:defRPr>
            </a:lvl7pPr>
            <a:lvl8pPr algn="l">
              <a:defRPr sz="2400">
                <a:solidFill>
                  <a:srgbClr val="07182A"/>
                </a:solidFill>
                <a:latin typeface="CiscoSansTT"/>
                <a:ea typeface="CiscoSansTT"/>
                <a:cs typeface="CiscoSansTT"/>
              </a:defRPr>
            </a:lvl8pPr>
            <a:lvl9pPr algn="l">
              <a:defRPr sz="2400">
                <a:solidFill>
                  <a:srgbClr val="07182A"/>
                </a:solidFill>
                <a:latin typeface="CiscoSansTT"/>
                <a:ea typeface="CiscoSansTT"/>
                <a:cs typeface="CiscoSansTT"/>
              </a:defRPr>
            </a:lvl9pPr>
          </a:lstStyle>
          <a:p xmlns:a="http://schemas.openxmlformats.org/drawingml/2006/main">
            <a:pPr algn="l">
              <a:defRPr sz="2400">
                <a:solidFill>
                  <a:srgbClr val="07182A"/>
                </a:solidFill>
                <a:latin typeface="CiscoSansTT"/>
                <a:ea typeface="CiscoSansTT"/>
                <a:cs typeface="CiscoSansTT"/>
              </a:defRPr>
            </a:pPr>
            <a:r>
              <a:rPr sz="2400">
                <a:solidFill>
                  <a:srgbClr val="07182A"/>
                </a:solidFill>
                <a:latin typeface="CiscoSansTT"/>
                <a:ea typeface="CiscoSansTT"/>
                <a:cs typeface="CiscoSansTT"/>
              </a:rPr>
              <a:t>Benchmark</a:t>
            </a:r>
          </a:p>
        </p:txBody>
      </p:sp>
      <p:sp>
        <p:nvSpPr>
          <p:cNvPr id="34" name="agenda-number-6">
            <a:extLst xmlns:a="http://schemas.openxmlformats.org/drawingml/2006/main">
              <a:ext uri="{FF2B5EF4-FFF2-40B4-BE49-F238E27FC236}">
                <a16:creationId xmlns:a16="http://schemas.microsoft.com/office/drawing/2014/main" id="{00503365-0CC5-4A87-837A-02AA90C4DE01}"/>
              </a:ext>
            </a:extLst>
          </p:cNvPr>
          <p:cNvSpPr>
            <a:spLocks xmlns:a="http://schemas.openxmlformats.org/drawingml/2006/main" noGrp="1"/>
          </p:cNvSpPr>
          <p:nvPr/>
        </p:nvSpPr>
        <p:spPr>
          <a:xfrm xmlns:a="http://schemas.openxmlformats.org/drawingml/2006/main">
            <a:off x="5334000" y="4562475"/>
            <a:ext cx="619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a:solidFill>
                  <a:srgbClr val="0860FE"/>
                </a:solidFill>
                <a:latin typeface="CiscoSansTT"/>
                <a:ea typeface="CiscoSansTT"/>
                <a:cs typeface="CiscoSansTT"/>
              </a:defRPr>
            </a:defPPr>
            <a:lvl1pPr algn="l">
              <a:defRPr sz="2325">
                <a:solidFill>
                  <a:srgbClr val="0860FE"/>
                </a:solidFill>
                <a:latin typeface="CiscoSansTT"/>
                <a:ea typeface="CiscoSansTT"/>
                <a:cs typeface="CiscoSansTT"/>
              </a:defRPr>
            </a:lvl1pPr>
            <a:lvl2pPr algn="l">
              <a:defRPr sz="2325">
                <a:solidFill>
                  <a:srgbClr val="0860FE"/>
                </a:solidFill>
                <a:latin typeface="CiscoSansTT"/>
                <a:ea typeface="CiscoSansTT"/>
                <a:cs typeface="CiscoSansTT"/>
              </a:defRPr>
            </a:lvl2pPr>
            <a:lvl3pPr algn="l">
              <a:defRPr sz="2325">
                <a:solidFill>
                  <a:srgbClr val="0860FE"/>
                </a:solidFill>
                <a:latin typeface="CiscoSansTT"/>
                <a:ea typeface="CiscoSansTT"/>
                <a:cs typeface="CiscoSansTT"/>
              </a:defRPr>
            </a:lvl3pPr>
            <a:lvl4pPr algn="l">
              <a:defRPr sz="2325">
                <a:solidFill>
                  <a:srgbClr val="0860FE"/>
                </a:solidFill>
                <a:latin typeface="CiscoSansTT"/>
                <a:ea typeface="CiscoSansTT"/>
                <a:cs typeface="CiscoSansTT"/>
              </a:defRPr>
            </a:lvl4pPr>
            <a:lvl5pPr algn="l">
              <a:defRPr sz="2325">
                <a:solidFill>
                  <a:srgbClr val="0860FE"/>
                </a:solidFill>
                <a:latin typeface="CiscoSansTT"/>
                <a:ea typeface="CiscoSansTT"/>
                <a:cs typeface="CiscoSansTT"/>
              </a:defRPr>
            </a:lvl5pPr>
            <a:lvl6pPr algn="l">
              <a:defRPr sz="2325">
                <a:solidFill>
                  <a:srgbClr val="0860FE"/>
                </a:solidFill>
                <a:latin typeface="CiscoSansTT"/>
                <a:ea typeface="CiscoSansTT"/>
                <a:cs typeface="CiscoSansTT"/>
              </a:defRPr>
            </a:lvl6pPr>
            <a:lvl7pPr algn="l">
              <a:defRPr sz="2325">
                <a:solidFill>
                  <a:srgbClr val="0860FE"/>
                </a:solidFill>
                <a:latin typeface="CiscoSansTT"/>
                <a:ea typeface="CiscoSansTT"/>
                <a:cs typeface="CiscoSansTT"/>
              </a:defRPr>
            </a:lvl7pPr>
            <a:lvl8pPr algn="l">
              <a:defRPr sz="2325">
                <a:solidFill>
                  <a:srgbClr val="0860FE"/>
                </a:solidFill>
                <a:latin typeface="CiscoSansTT"/>
                <a:ea typeface="CiscoSansTT"/>
                <a:cs typeface="CiscoSansTT"/>
              </a:defRPr>
            </a:lvl8pPr>
            <a:lvl9pPr algn="l">
              <a:defRPr sz="2325">
                <a:solidFill>
                  <a:srgbClr val="0860FE"/>
                </a:solidFill>
                <a:latin typeface="CiscoSansTT"/>
                <a:ea typeface="CiscoSansTT"/>
                <a:cs typeface="CiscoSansTT"/>
              </a:defRPr>
            </a:lvl9pPr>
          </a:lstStyle>
          <a:p xmlns:a="http://schemas.openxmlformats.org/drawingml/2006/main">
            <a:pPr algn="l">
              <a:defRPr sz="2325">
                <a:solidFill>
                  <a:srgbClr val="0860FE"/>
                </a:solidFill>
                <a:latin typeface="CiscoSansTT"/>
                <a:ea typeface="CiscoSansTT"/>
                <a:cs typeface="CiscoSansTT"/>
              </a:defRPr>
            </a:pPr>
            <a:r>
              <a:rPr sz="2325">
                <a:solidFill>
                  <a:srgbClr val="0860FE"/>
                </a:solidFill>
                <a:latin typeface="CiscoSansTT"/>
                <a:ea typeface="CiscoSansTT"/>
                <a:cs typeface="CiscoSansTT"/>
              </a:rPr>
              <a:t>06</a:t>
            </a:r>
          </a:p>
        </p:txBody>
      </p:sp>
      <p:sp>
        <p:nvSpPr>
          <p:cNvPr id="35" name="agenda-topic-6">
            <a:extLst xmlns:a="http://schemas.openxmlformats.org/drawingml/2006/main">
              <a:ext uri="{FF2B5EF4-FFF2-40B4-BE49-F238E27FC236}">
                <a16:creationId xmlns:a16="http://schemas.microsoft.com/office/drawing/2014/main" id="{53E929CA-C6EC-41A2-B4D4-05CED04A9E0D}"/>
              </a:ext>
            </a:extLst>
          </p:cNvPr>
          <p:cNvSpPr>
            <a:spLocks xmlns:a="http://schemas.openxmlformats.org/drawingml/2006/main" noGrp="1"/>
          </p:cNvSpPr>
          <p:nvPr/>
        </p:nvSpPr>
        <p:spPr>
          <a:xfrm xmlns:a="http://schemas.openxmlformats.org/drawingml/2006/main">
            <a:off x="6334125" y="4562475"/>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a:solidFill>
                  <a:srgbClr val="07182A"/>
                </a:solidFill>
                <a:latin typeface="CiscoSansTT"/>
                <a:ea typeface="CiscoSansTT"/>
                <a:cs typeface="CiscoSansTT"/>
              </a:defRPr>
            </a:defPPr>
            <a:lvl1pPr algn="l">
              <a:defRPr sz="2400">
                <a:solidFill>
                  <a:srgbClr val="07182A"/>
                </a:solidFill>
                <a:latin typeface="CiscoSansTT"/>
                <a:ea typeface="CiscoSansTT"/>
                <a:cs typeface="CiscoSansTT"/>
              </a:defRPr>
            </a:lvl1pPr>
            <a:lvl2pPr algn="l">
              <a:defRPr sz="2400">
                <a:solidFill>
                  <a:srgbClr val="07182A"/>
                </a:solidFill>
                <a:latin typeface="CiscoSansTT"/>
                <a:ea typeface="CiscoSansTT"/>
                <a:cs typeface="CiscoSansTT"/>
              </a:defRPr>
            </a:lvl2pPr>
            <a:lvl3pPr algn="l">
              <a:defRPr sz="2400">
                <a:solidFill>
                  <a:srgbClr val="07182A"/>
                </a:solidFill>
                <a:latin typeface="CiscoSansTT"/>
                <a:ea typeface="CiscoSansTT"/>
                <a:cs typeface="CiscoSansTT"/>
              </a:defRPr>
            </a:lvl3pPr>
            <a:lvl4pPr algn="l">
              <a:defRPr sz="2400">
                <a:solidFill>
                  <a:srgbClr val="07182A"/>
                </a:solidFill>
                <a:latin typeface="CiscoSansTT"/>
                <a:ea typeface="CiscoSansTT"/>
                <a:cs typeface="CiscoSansTT"/>
              </a:defRPr>
            </a:lvl4pPr>
            <a:lvl5pPr algn="l">
              <a:defRPr sz="2400">
                <a:solidFill>
                  <a:srgbClr val="07182A"/>
                </a:solidFill>
                <a:latin typeface="CiscoSansTT"/>
                <a:ea typeface="CiscoSansTT"/>
                <a:cs typeface="CiscoSansTT"/>
              </a:defRPr>
            </a:lvl5pPr>
            <a:lvl6pPr algn="l">
              <a:defRPr sz="2400">
                <a:solidFill>
                  <a:srgbClr val="07182A"/>
                </a:solidFill>
                <a:latin typeface="CiscoSansTT"/>
                <a:ea typeface="CiscoSansTT"/>
                <a:cs typeface="CiscoSansTT"/>
              </a:defRPr>
            </a:lvl6pPr>
            <a:lvl7pPr algn="l">
              <a:defRPr sz="2400">
                <a:solidFill>
                  <a:srgbClr val="07182A"/>
                </a:solidFill>
                <a:latin typeface="CiscoSansTT"/>
                <a:ea typeface="CiscoSansTT"/>
                <a:cs typeface="CiscoSansTT"/>
              </a:defRPr>
            </a:lvl7pPr>
            <a:lvl8pPr algn="l">
              <a:defRPr sz="2400">
                <a:solidFill>
                  <a:srgbClr val="07182A"/>
                </a:solidFill>
                <a:latin typeface="CiscoSansTT"/>
                <a:ea typeface="CiscoSansTT"/>
                <a:cs typeface="CiscoSansTT"/>
              </a:defRPr>
            </a:lvl8pPr>
            <a:lvl9pPr algn="l">
              <a:defRPr sz="2400">
                <a:solidFill>
                  <a:srgbClr val="07182A"/>
                </a:solidFill>
                <a:latin typeface="CiscoSansTT"/>
                <a:ea typeface="CiscoSansTT"/>
                <a:cs typeface="CiscoSansTT"/>
              </a:defRPr>
            </a:lvl9pPr>
          </a:lstStyle>
          <a:p xmlns:a="http://schemas.openxmlformats.org/drawingml/2006/main">
            <a:pPr algn="l">
              <a:defRPr sz="2400">
                <a:solidFill>
                  <a:srgbClr val="07182A"/>
                </a:solidFill>
                <a:latin typeface="CiscoSansTT"/>
                <a:ea typeface="CiscoSansTT"/>
                <a:cs typeface="CiscoSansTT"/>
              </a:defRPr>
            </a:pPr>
            <a:r>
              <a:rPr sz="2400">
                <a:solidFill>
                  <a:srgbClr val="07182A"/>
                </a:solidFill>
                <a:latin typeface="CiscoSansTT"/>
                <a:ea typeface="CiscoSansTT"/>
                <a:cs typeface="CiscoSansTT"/>
              </a:rPr>
              <a:t>Production rollout</a:t>
            </a:r>
          </a:p>
        </p:txBody>
      </p:sp>
    </p:spTree>
    <p:extLst>
      <p:ext uri="{BB962C8B-B14F-4D97-AF65-F5344CB8AC3E}">
        <p14:creationId xmlns:p14="http://schemas.microsoft.com/office/powerpoint/2010/main" val="143819386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AF91CE5A-64FB-4F8E-8356-F072CCB34E86}"/>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OpenTelemetry eBPF Instrumentation (OBI)</a:t>
            </a:r>
          </a:p>
        </p:txBody>
      </p:sp>
      <p:sp>
        <p:nvSpPr>
          <p:cNvPr id="15" name="Rectangle 14">
            <a:extLst>
              <a:ext uri="{FF2B5EF4-FFF2-40B4-BE49-F238E27FC236}">
                <a16:creationId xmlns:a16="http://schemas.microsoft.com/office/drawing/2014/main" id="{A8D5C6D2-82FF-4317-A141-ECBC8D49B59B}"/>
              </a:ext>
            </a:extLst>
          </p:cNvPr>
          <p:cNvSpPr>
            <a:spLocks noGrp="1"/>
          </p:cNvSpPr>
          <p:nvPr/>
        </p:nvSpPr>
        <p:spPr>
          <a:xfrm>
            <a:off x="11144250" y="6629400"/>
            <a:ext cx="1047750" cy="228600"/>
          </a:xfrm>
          <a:prstGeom prst="rect">
            <a:avLst/>
          </a:prstGeom>
          <a:solidFill>
            <a:srgbClr val="FFFFFF"/>
          </a:solidFill>
          <a:ln w="0">
            <a:noFill/>
          </a:ln>
        </p:spPr>
        <p:txBody>
          <a:bodyPr/>
          <a:lstStyle/>
          <a:p>
            <a:endParaRPr/>
          </a:p>
        </p:txBody>
      </p:sp>
      <p:sp>
        <p:nvSpPr>
          <p:cNvPr id="16" name="Rectangle 15">
            <a:extLst>
              <a:ext uri="{FF2B5EF4-FFF2-40B4-BE49-F238E27FC236}">
                <a16:creationId xmlns:a16="http://schemas.microsoft.com/office/drawing/2014/main" id="{7A2396CF-EA53-4DF6-BF9F-D013733D3D64}"/>
              </a:ext>
            </a:extLst>
          </p:cNvPr>
          <p:cNvSpPr>
            <a:spLocks noGrp="1"/>
          </p:cNvSpPr>
          <p:nvPr/>
        </p:nvSpPr>
        <p:spPr>
          <a:xfrm>
            <a:off x="11144250" y="6696075"/>
            <a:ext cx="1009650" cy="133350"/>
          </a:xfrm>
          <a:prstGeom prst="rect">
            <a:avLst/>
          </a:prstGeom>
          <a:noFill/>
          <a:ln w="0">
            <a:noFill/>
          </a:ln>
        </p:spPr>
        <p:txBody>
          <a:bodyPr anchor="t">
            <a:normAutofit fontScale="53333" lnSpcReduction="20000"/>
          </a:bodyPr>
          <a:lstStyle/>
          <a:p>
            <a:pPr algn="r">
              <a:buNone/>
              <a:defRPr sz="600" b="0">
                <a:solidFill>
                  <a:srgbClr val="686B6B"/>
                </a:solidFill>
                <a:latin typeface="CiscoSansTT"/>
                <a:ea typeface="CiscoSansTT"/>
                <a:cs typeface="CiscoSansTT"/>
              </a:defRPr>
            </a:pPr>
            <a:r>
              <a:rPr sz="600" b="0">
                <a:solidFill>
                  <a:srgbClr val="686B6B"/>
                </a:solidFill>
                <a:latin typeface="CiscoSansTT"/>
                <a:ea typeface="CiscoSansTT"/>
                <a:cs typeface="CiscoSansTT"/>
              </a:rPr>
              <a:t>Cisco Confidential</a:t>
            </a:r>
          </a:p>
        </p:txBody>
      </p:sp>
      <p:sp>
        <p:nvSpPr>
          <p:cNvPr id="17" name="Rectangle 16">
            <a:extLst>
              <a:ext uri="{FF2B5EF4-FFF2-40B4-BE49-F238E27FC236}">
                <a16:creationId xmlns:a16="http://schemas.microsoft.com/office/drawing/2014/main" id="{A334CE78-A7CE-48FF-8708-F87B568CB332}"/>
              </a:ext>
            </a:extLst>
          </p:cNvPr>
          <p:cNvSpPr>
            <a:spLocks noGrp="1"/>
          </p:cNvSpPr>
          <p:nvPr/>
        </p:nvSpPr>
        <p:spPr>
          <a:xfrm>
            <a:off x="723900" y="1343025"/>
            <a:ext cx="10572750" cy="457200"/>
          </a:xfrm>
          <a:prstGeom prst="rect">
            <a:avLst/>
          </a:prstGeom>
          <a:noFill/>
          <a:ln w="0">
            <a:noFill/>
          </a:ln>
        </p:spPr>
        <p:txBody>
          <a:bodyPr anchor="ctr">
            <a:noAutofit/>
          </a:bodyPr>
          <a:lstStyle>
            <a:defPPr algn="l">
              <a:defRPr sz="2100" b="0">
                <a:solidFill>
                  <a:srgbClr val="686B6B"/>
                </a:solidFill>
                <a:latin typeface="CiscoSansTT"/>
                <a:ea typeface="CiscoSansTT"/>
                <a:cs typeface="CiscoSansTT"/>
              </a:defRPr>
            </a:defPPr>
            <a:lvl1pPr algn="l">
              <a:defRPr sz="2100" b="0">
                <a:solidFill>
                  <a:srgbClr val="686B6B"/>
                </a:solidFill>
                <a:latin typeface="CiscoSansTT"/>
                <a:ea typeface="CiscoSansTT"/>
                <a:cs typeface="CiscoSansTT"/>
              </a:defRPr>
            </a:lvl1pPr>
            <a:lvl2pPr algn="l">
              <a:defRPr sz="2100" b="0">
                <a:solidFill>
                  <a:srgbClr val="686B6B"/>
                </a:solidFill>
                <a:latin typeface="CiscoSansTT"/>
                <a:ea typeface="CiscoSansTT"/>
                <a:cs typeface="CiscoSansTT"/>
              </a:defRPr>
            </a:lvl2pPr>
            <a:lvl3pPr algn="l">
              <a:defRPr sz="2100" b="0">
                <a:solidFill>
                  <a:srgbClr val="686B6B"/>
                </a:solidFill>
                <a:latin typeface="CiscoSansTT"/>
                <a:ea typeface="CiscoSansTT"/>
                <a:cs typeface="CiscoSansTT"/>
              </a:defRPr>
            </a:lvl3pPr>
            <a:lvl4pPr algn="l">
              <a:defRPr sz="2100" b="0">
                <a:solidFill>
                  <a:srgbClr val="686B6B"/>
                </a:solidFill>
                <a:latin typeface="CiscoSansTT"/>
                <a:ea typeface="CiscoSansTT"/>
                <a:cs typeface="CiscoSansTT"/>
              </a:defRPr>
            </a:lvl4pPr>
            <a:lvl5pPr algn="l">
              <a:defRPr sz="2100" b="0">
                <a:solidFill>
                  <a:srgbClr val="686B6B"/>
                </a:solidFill>
                <a:latin typeface="CiscoSansTT"/>
                <a:ea typeface="CiscoSansTT"/>
                <a:cs typeface="CiscoSansTT"/>
              </a:defRPr>
            </a:lvl5pPr>
            <a:lvl6pPr algn="l">
              <a:defRPr sz="2100" b="0">
                <a:solidFill>
                  <a:srgbClr val="686B6B"/>
                </a:solidFill>
                <a:latin typeface="CiscoSansTT"/>
                <a:ea typeface="CiscoSansTT"/>
                <a:cs typeface="CiscoSansTT"/>
              </a:defRPr>
            </a:lvl6pPr>
            <a:lvl7pPr algn="l">
              <a:defRPr sz="2100" b="0">
                <a:solidFill>
                  <a:srgbClr val="686B6B"/>
                </a:solidFill>
                <a:latin typeface="CiscoSansTT"/>
                <a:ea typeface="CiscoSansTT"/>
                <a:cs typeface="CiscoSansTT"/>
              </a:defRPr>
            </a:lvl7pPr>
            <a:lvl8pPr algn="l">
              <a:defRPr sz="2100" b="0">
                <a:solidFill>
                  <a:srgbClr val="686B6B"/>
                </a:solidFill>
                <a:latin typeface="CiscoSansTT"/>
                <a:ea typeface="CiscoSansTT"/>
                <a:cs typeface="CiscoSansTT"/>
              </a:defRPr>
            </a:lvl8pPr>
            <a:lvl9pPr algn="l">
              <a:defRPr sz="2100" b="0">
                <a:solidFill>
                  <a:srgbClr val="686B6B"/>
                </a:solidFill>
                <a:latin typeface="CiscoSansTT"/>
                <a:ea typeface="CiscoSansTT"/>
                <a:cs typeface="CiscoSansTT"/>
              </a:defRPr>
            </a:lvl9pPr>
          </a:lstStyle>
          <a:p>
            <a:pPr algn="l">
              <a:buNone/>
              <a:defRPr sz="2100" b="0">
                <a:solidFill>
                  <a:srgbClr val="686B6B"/>
                </a:solidFill>
                <a:latin typeface="CiscoSansTT"/>
                <a:ea typeface="CiscoSansTT"/>
                <a:cs typeface="CiscoSansTT"/>
              </a:defRPr>
            </a:pPr>
            <a:r>
              <a:rPr sz="2100" b="0">
                <a:solidFill>
                  <a:srgbClr val="686B6B"/>
                </a:solidFill>
                <a:latin typeface="CiscoSansTT"/>
                <a:ea typeface="CiscoSansTT"/>
                <a:cs typeface="CiscoSansTT"/>
              </a:rPr>
              <a:t>One application request becomes traces and metrics</a:t>
            </a:r>
          </a:p>
        </p:txBody>
      </p:sp>
      <p:sp>
        <p:nvSpPr>
          <p:cNvPr id="18" name="Rectangle 17">
            <a:extLst>
              <a:ext uri="{FF2B5EF4-FFF2-40B4-BE49-F238E27FC236}">
                <a16:creationId xmlns:a16="http://schemas.microsoft.com/office/drawing/2014/main" id="{D9A99B0B-3915-46AB-9DF7-9A6093270C98}"/>
              </a:ext>
            </a:extLst>
          </p:cNvPr>
          <p:cNvSpPr>
            <a:spLocks noGrp="1"/>
          </p:cNvSpPr>
          <p:nvPr/>
        </p:nvSpPr>
        <p:spPr>
          <a:xfrm>
            <a:off x="742950" y="2076450"/>
            <a:ext cx="723900" cy="504825"/>
          </a:xfrm>
          <a:prstGeom prst="rect">
            <a:avLst/>
          </a:prstGeom>
          <a:noFill/>
          <a:ln w="0">
            <a:noFill/>
          </a:ln>
        </p:spPr>
        <p:txBody>
          <a:bodyPr anchor="t">
            <a:noAutofit/>
          </a:bodyPr>
          <a:lstStyle/>
          <a:p>
            <a:pPr algn="l">
              <a:buNone/>
              <a:defRPr sz="2700" b="1">
                <a:solidFill>
                  <a:srgbClr val="FF007F"/>
                </a:solidFill>
                <a:latin typeface="CiscoSansTT Medium"/>
                <a:ea typeface="CiscoSansTT Medium"/>
                <a:cs typeface="CiscoSansTT Medium"/>
              </a:defRPr>
            </a:pPr>
            <a:r>
              <a:rPr sz="2700" b="1">
                <a:solidFill>
                  <a:srgbClr val="FF007F"/>
                </a:solidFill>
                <a:latin typeface="CiscoSansTT Medium"/>
                <a:ea typeface="CiscoSansTT Medium"/>
                <a:cs typeface="CiscoSansTT Medium"/>
              </a:rPr>
              <a:t>01</a:t>
            </a:r>
          </a:p>
        </p:txBody>
      </p:sp>
      <p:sp>
        <p:nvSpPr>
          <p:cNvPr id="19" name="Rectangle 18">
            <a:extLst>
              <a:ext uri="{FF2B5EF4-FFF2-40B4-BE49-F238E27FC236}">
                <a16:creationId xmlns:a16="http://schemas.microsoft.com/office/drawing/2014/main" id="{8D9D5781-19F1-4B23-A7A1-3479877C9FE1}"/>
              </a:ext>
            </a:extLst>
          </p:cNvPr>
          <p:cNvSpPr>
            <a:spLocks noGrp="1"/>
          </p:cNvSpPr>
          <p:nvPr/>
        </p:nvSpPr>
        <p:spPr>
          <a:xfrm>
            <a:off x="1638300" y="2085975"/>
            <a:ext cx="6096000" cy="419100"/>
          </a:xfrm>
          <a:prstGeom prst="rect">
            <a:avLst/>
          </a:prstGeom>
          <a:noFill/>
          <a:ln w="0">
            <a:noFill/>
          </a:ln>
        </p:spPr>
        <p:txBody>
          <a:bodyPr anchor="ctr">
            <a:noAutofit/>
          </a:bodyPr>
          <a:lstStyle>
            <a:defPPr algn="l">
              <a:defRPr sz="2100" b="1">
                <a:solidFill>
                  <a:srgbClr val="07182A"/>
                </a:solidFill>
                <a:latin typeface="CiscoSansTT Medium"/>
                <a:ea typeface="CiscoSansTT Medium"/>
                <a:cs typeface="CiscoSansTT Medium"/>
              </a:defRPr>
            </a:defPPr>
            <a:lvl1pPr algn="l">
              <a:defRPr sz="2100" b="1">
                <a:solidFill>
                  <a:srgbClr val="07182A"/>
                </a:solidFill>
                <a:latin typeface="CiscoSansTT Medium"/>
                <a:ea typeface="CiscoSansTT Medium"/>
                <a:cs typeface="CiscoSansTT Medium"/>
              </a:defRPr>
            </a:lvl1pPr>
            <a:lvl2pPr algn="l">
              <a:defRPr sz="2100" b="1">
                <a:solidFill>
                  <a:srgbClr val="07182A"/>
                </a:solidFill>
                <a:latin typeface="CiscoSansTT Medium"/>
                <a:ea typeface="CiscoSansTT Medium"/>
                <a:cs typeface="CiscoSansTT Medium"/>
              </a:defRPr>
            </a:lvl2pPr>
            <a:lvl3pPr algn="l">
              <a:defRPr sz="2100" b="1">
                <a:solidFill>
                  <a:srgbClr val="07182A"/>
                </a:solidFill>
                <a:latin typeface="CiscoSansTT Medium"/>
                <a:ea typeface="CiscoSansTT Medium"/>
                <a:cs typeface="CiscoSansTT Medium"/>
              </a:defRPr>
            </a:lvl3pPr>
            <a:lvl4pPr algn="l">
              <a:defRPr sz="2100" b="1">
                <a:solidFill>
                  <a:srgbClr val="07182A"/>
                </a:solidFill>
                <a:latin typeface="CiscoSansTT Medium"/>
                <a:ea typeface="CiscoSansTT Medium"/>
                <a:cs typeface="CiscoSansTT Medium"/>
              </a:defRPr>
            </a:lvl4pPr>
            <a:lvl5pPr algn="l">
              <a:defRPr sz="2100" b="1">
                <a:solidFill>
                  <a:srgbClr val="07182A"/>
                </a:solidFill>
                <a:latin typeface="CiscoSansTT Medium"/>
                <a:ea typeface="CiscoSansTT Medium"/>
                <a:cs typeface="CiscoSansTT Medium"/>
              </a:defRPr>
            </a:lvl5pPr>
            <a:lvl6pPr algn="l">
              <a:defRPr sz="2100" b="1">
                <a:solidFill>
                  <a:srgbClr val="07182A"/>
                </a:solidFill>
                <a:latin typeface="CiscoSansTT Medium"/>
                <a:ea typeface="CiscoSansTT Medium"/>
                <a:cs typeface="CiscoSansTT Medium"/>
              </a:defRPr>
            </a:lvl6pPr>
            <a:lvl7pPr algn="l">
              <a:defRPr sz="2100" b="1">
                <a:solidFill>
                  <a:srgbClr val="07182A"/>
                </a:solidFill>
                <a:latin typeface="CiscoSansTT Medium"/>
                <a:ea typeface="CiscoSansTT Medium"/>
                <a:cs typeface="CiscoSansTT Medium"/>
              </a:defRPr>
            </a:lvl7pPr>
            <a:lvl8pPr algn="l">
              <a:defRPr sz="2100" b="1">
                <a:solidFill>
                  <a:srgbClr val="07182A"/>
                </a:solidFill>
                <a:latin typeface="CiscoSansTT Medium"/>
                <a:ea typeface="CiscoSansTT Medium"/>
                <a:cs typeface="CiscoSansTT Medium"/>
              </a:defRPr>
            </a:lvl8pPr>
            <a:lvl9pPr algn="l">
              <a:defRPr sz="2100" b="1">
                <a:solidFill>
                  <a:srgbClr val="07182A"/>
                </a:solidFill>
                <a:latin typeface="CiscoSansTT Medium"/>
                <a:ea typeface="CiscoSansTT Medium"/>
                <a:cs typeface="CiscoSansTT Medium"/>
              </a:defRPr>
            </a:lvl9pPr>
          </a:lstStyle>
          <a:p>
            <a:pPr algn="l">
              <a:buNone/>
              <a:defRPr sz="2100" b="1">
                <a:solidFill>
                  <a:srgbClr val="07182A"/>
                </a:solidFill>
                <a:latin typeface="CiscoSansTT Medium"/>
                <a:ea typeface="CiscoSansTT Medium"/>
                <a:cs typeface="CiscoSansTT Medium"/>
              </a:defRPr>
            </a:pPr>
            <a:r>
              <a:rPr sz="2100" b="1">
                <a:solidFill>
                  <a:srgbClr val="07182A"/>
                </a:solidFill>
                <a:latin typeface="CiscoSansTT Medium"/>
                <a:ea typeface="CiscoSansTT Medium"/>
                <a:cs typeface="CiscoSansTT Medium"/>
              </a:rPr>
              <a:t>Observe</a:t>
            </a:r>
          </a:p>
        </p:txBody>
      </p:sp>
      <p:sp>
        <p:nvSpPr>
          <p:cNvPr id="20" name="Rectangle 19">
            <a:extLst>
              <a:ext uri="{FF2B5EF4-FFF2-40B4-BE49-F238E27FC236}">
                <a16:creationId xmlns:a16="http://schemas.microsoft.com/office/drawing/2014/main" id="{475C7ABE-C852-46F0-8440-29E93435EE74}"/>
              </a:ext>
            </a:extLst>
          </p:cNvPr>
          <p:cNvSpPr>
            <a:spLocks noGrp="1"/>
          </p:cNvSpPr>
          <p:nvPr/>
        </p:nvSpPr>
        <p:spPr>
          <a:xfrm>
            <a:off x="1638300" y="2524125"/>
            <a:ext cx="6096000" cy="619125"/>
          </a:xfrm>
          <a:prstGeom prst="rect">
            <a:avLst/>
          </a:prstGeom>
          <a:noFill/>
          <a:ln w="0">
            <a:noFill/>
          </a:ln>
        </p:spPr>
        <p:txBody>
          <a:bodyPr anchor="ctr">
            <a:noAutofit/>
          </a:bodyPr>
          <a:lstStyle>
            <a:defPPr algn="l">
              <a:defRPr sz="1725" b="0">
                <a:solidFill>
                  <a:srgbClr val="686B6B"/>
                </a:solidFill>
                <a:latin typeface="CiscoSansTT"/>
                <a:ea typeface="CiscoSansTT"/>
                <a:cs typeface="CiscoSansTT"/>
              </a:defRPr>
            </a:defPPr>
            <a:lvl1pPr algn="l">
              <a:defRPr sz="1725" b="0">
                <a:solidFill>
                  <a:srgbClr val="686B6B"/>
                </a:solidFill>
                <a:latin typeface="CiscoSansTT"/>
                <a:ea typeface="CiscoSansTT"/>
                <a:cs typeface="CiscoSansTT"/>
              </a:defRPr>
            </a:lvl1pPr>
            <a:lvl2pPr algn="l">
              <a:defRPr sz="1725" b="0">
                <a:solidFill>
                  <a:srgbClr val="686B6B"/>
                </a:solidFill>
                <a:latin typeface="CiscoSansTT"/>
                <a:ea typeface="CiscoSansTT"/>
                <a:cs typeface="CiscoSansTT"/>
              </a:defRPr>
            </a:lvl2pPr>
            <a:lvl3pPr algn="l">
              <a:defRPr sz="1725" b="0">
                <a:solidFill>
                  <a:srgbClr val="686B6B"/>
                </a:solidFill>
                <a:latin typeface="CiscoSansTT"/>
                <a:ea typeface="CiscoSansTT"/>
                <a:cs typeface="CiscoSansTT"/>
              </a:defRPr>
            </a:lvl3pPr>
            <a:lvl4pPr algn="l">
              <a:defRPr sz="1725" b="0">
                <a:solidFill>
                  <a:srgbClr val="686B6B"/>
                </a:solidFill>
                <a:latin typeface="CiscoSansTT"/>
                <a:ea typeface="CiscoSansTT"/>
                <a:cs typeface="CiscoSansTT"/>
              </a:defRPr>
            </a:lvl4pPr>
            <a:lvl5pPr algn="l">
              <a:defRPr sz="1725" b="0">
                <a:solidFill>
                  <a:srgbClr val="686B6B"/>
                </a:solidFill>
                <a:latin typeface="CiscoSansTT"/>
                <a:ea typeface="CiscoSansTT"/>
                <a:cs typeface="CiscoSansTT"/>
              </a:defRPr>
            </a:lvl5pPr>
            <a:lvl6pPr algn="l">
              <a:defRPr sz="1725" b="0">
                <a:solidFill>
                  <a:srgbClr val="686B6B"/>
                </a:solidFill>
                <a:latin typeface="CiscoSansTT"/>
                <a:ea typeface="CiscoSansTT"/>
                <a:cs typeface="CiscoSansTT"/>
              </a:defRPr>
            </a:lvl6pPr>
            <a:lvl7pPr algn="l">
              <a:defRPr sz="1725" b="0">
                <a:solidFill>
                  <a:srgbClr val="686B6B"/>
                </a:solidFill>
                <a:latin typeface="CiscoSansTT"/>
                <a:ea typeface="CiscoSansTT"/>
                <a:cs typeface="CiscoSansTT"/>
              </a:defRPr>
            </a:lvl7pPr>
            <a:lvl8pPr algn="l">
              <a:defRPr sz="1725" b="0">
                <a:solidFill>
                  <a:srgbClr val="686B6B"/>
                </a:solidFill>
                <a:latin typeface="CiscoSansTT"/>
                <a:ea typeface="CiscoSansTT"/>
                <a:cs typeface="CiscoSansTT"/>
              </a:defRPr>
            </a:lvl8pPr>
            <a:lvl9pPr algn="l">
              <a:defRPr sz="1725" b="0">
                <a:solidFill>
                  <a:srgbClr val="686B6B"/>
                </a:solidFill>
                <a:latin typeface="CiscoSansTT"/>
                <a:ea typeface="CiscoSansTT"/>
                <a:cs typeface="CiscoSansTT"/>
              </a:defRPr>
            </a:lvl9pPr>
          </a:lstStyle>
          <a:p>
            <a:pPr algn="l">
              <a:buNone/>
              <a:defRPr sz="1725" b="0">
                <a:solidFill>
                  <a:srgbClr val="686B6B"/>
                </a:solidFill>
                <a:latin typeface="CiscoSansTT"/>
                <a:ea typeface="CiscoSansTT"/>
                <a:cs typeface="CiscoSansTT"/>
              </a:defRPr>
            </a:pPr>
            <a:r>
              <a:rPr sz="1725" b="0" dirty="0">
                <a:solidFill>
                  <a:srgbClr val="686B6B"/>
                </a:solidFill>
                <a:latin typeface="CiscoSansTT"/>
                <a:ea typeface="CiscoSansTT"/>
                <a:cs typeface="CiscoSansTT"/>
              </a:rPr>
              <a:t>OBI uses </a:t>
            </a:r>
            <a:r>
              <a:rPr sz="1725" b="0" dirty="0" err="1">
                <a:solidFill>
                  <a:srgbClr val="686B6B"/>
                </a:solidFill>
                <a:latin typeface="CiscoSansTT"/>
                <a:ea typeface="CiscoSansTT"/>
                <a:cs typeface="CiscoSansTT"/>
              </a:rPr>
              <a:t>eBPF</a:t>
            </a:r>
            <a:r>
              <a:rPr sz="1725" b="0" dirty="0">
                <a:solidFill>
                  <a:srgbClr val="686B6B"/>
                </a:solidFill>
                <a:latin typeface="CiscoSansTT"/>
                <a:ea typeface="CiscoSansTT"/>
                <a:cs typeface="CiscoSansTT"/>
              </a:rPr>
              <a:t> to observe requests sent or</a:t>
            </a:r>
          </a:p>
          <a:p>
            <a:pPr algn="l">
              <a:buNone/>
              <a:defRPr sz="1725" b="0">
                <a:solidFill>
                  <a:srgbClr val="686B6B"/>
                </a:solidFill>
                <a:latin typeface="CiscoSansTT"/>
                <a:ea typeface="CiscoSansTT"/>
                <a:cs typeface="CiscoSansTT"/>
              </a:defRPr>
            </a:pPr>
            <a:r>
              <a:rPr sz="1725" b="0" dirty="0">
                <a:solidFill>
                  <a:srgbClr val="686B6B"/>
                </a:solidFill>
                <a:latin typeface="CiscoSansTT"/>
                <a:ea typeface="CiscoSansTT"/>
                <a:cs typeface="CiscoSansTT"/>
              </a:rPr>
              <a:t>received by applications.</a:t>
            </a:r>
          </a:p>
        </p:txBody>
      </p:sp>
      <p:sp>
        <p:nvSpPr>
          <p:cNvPr id="21" name="Rectangle 20">
            <a:extLst>
              <a:ext uri="{FF2B5EF4-FFF2-40B4-BE49-F238E27FC236}">
                <a16:creationId xmlns:a16="http://schemas.microsoft.com/office/drawing/2014/main" id="{561E33F0-9556-4CAF-999D-F7D9D5066F95}"/>
              </a:ext>
            </a:extLst>
          </p:cNvPr>
          <p:cNvSpPr>
            <a:spLocks noGrp="1"/>
          </p:cNvSpPr>
          <p:nvPr/>
        </p:nvSpPr>
        <p:spPr>
          <a:xfrm>
            <a:off x="1638300" y="3143250"/>
            <a:ext cx="6191250" cy="14288"/>
          </a:xfrm>
          <a:prstGeom prst="rect">
            <a:avLst/>
          </a:prstGeom>
          <a:solidFill>
            <a:srgbClr val="D6D6D6"/>
          </a:solidFill>
          <a:ln w="0">
            <a:noFill/>
          </a:ln>
        </p:spPr>
        <p:txBody>
          <a:bodyPr/>
          <a:lstStyle/>
          <a:p>
            <a:endParaRPr/>
          </a:p>
        </p:txBody>
      </p:sp>
      <p:sp>
        <p:nvSpPr>
          <p:cNvPr id="22" name="Rectangle 21">
            <a:extLst>
              <a:ext uri="{FF2B5EF4-FFF2-40B4-BE49-F238E27FC236}">
                <a16:creationId xmlns:a16="http://schemas.microsoft.com/office/drawing/2014/main" id="{6E3E1547-0690-41B6-A094-92DD3AD34550}"/>
              </a:ext>
            </a:extLst>
          </p:cNvPr>
          <p:cNvSpPr>
            <a:spLocks noGrp="1"/>
          </p:cNvSpPr>
          <p:nvPr/>
        </p:nvSpPr>
        <p:spPr>
          <a:xfrm>
            <a:off x="742950" y="3276600"/>
            <a:ext cx="723900" cy="504825"/>
          </a:xfrm>
          <a:prstGeom prst="rect">
            <a:avLst/>
          </a:prstGeom>
          <a:noFill/>
          <a:ln w="0">
            <a:noFill/>
          </a:ln>
        </p:spPr>
        <p:txBody>
          <a:bodyPr anchor="t">
            <a:noAutofit/>
          </a:bodyPr>
          <a:lstStyle/>
          <a:p>
            <a:pPr algn="l">
              <a:buNone/>
              <a:defRPr sz="2700" b="1">
                <a:solidFill>
                  <a:srgbClr val="FF007F"/>
                </a:solidFill>
                <a:latin typeface="CiscoSansTT Medium"/>
                <a:ea typeface="CiscoSansTT Medium"/>
                <a:cs typeface="CiscoSansTT Medium"/>
              </a:defRPr>
            </a:pPr>
            <a:r>
              <a:rPr sz="2700" b="1">
                <a:solidFill>
                  <a:srgbClr val="FF007F"/>
                </a:solidFill>
                <a:latin typeface="CiscoSansTT Medium"/>
                <a:ea typeface="CiscoSansTT Medium"/>
                <a:cs typeface="CiscoSansTT Medium"/>
              </a:rPr>
              <a:t>02</a:t>
            </a:r>
          </a:p>
        </p:txBody>
      </p:sp>
      <p:sp>
        <p:nvSpPr>
          <p:cNvPr id="23" name="Rectangle 22">
            <a:extLst>
              <a:ext uri="{FF2B5EF4-FFF2-40B4-BE49-F238E27FC236}">
                <a16:creationId xmlns:a16="http://schemas.microsoft.com/office/drawing/2014/main" id="{9F06C7CD-12DC-45DF-8CF5-12E573F6F38D}"/>
              </a:ext>
            </a:extLst>
          </p:cNvPr>
          <p:cNvSpPr>
            <a:spLocks noGrp="1"/>
          </p:cNvSpPr>
          <p:nvPr/>
        </p:nvSpPr>
        <p:spPr>
          <a:xfrm>
            <a:off x="1638300" y="3286125"/>
            <a:ext cx="6096000" cy="419100"/>
          </a:xfrm>
          <a:prstGeom prst="rect">
            <a:avLst/>
          </a:prstGeom>
          <a:noFill/>
          <a:ln w="0">
            <a:noFill/>
          </a:ln>
        </p:spPr>
        <p:txBody>
          <a:bodyPr anchor="ctr">
            <a:noAutofit/>
          </a:bodyPr>
          <a:lstStyle>
            <a:defPPr algn="l">
              <a:defRPr sz="2100" b="1">
                <a:solidFill>
                  <a:srgbClr val="07182A"/>
                </a:solidFill>
                <a:latin typeface="CiscoSansTT Medium"/>
                <a:ea typeface="CiscoSansTT Medium"/>
                <a:cs typeface="CiscoSansTT Medium"/>
              </a:defRPr>
            </a:defPPr>
            <a:lvl1pPr algn="l">
              <a:defRPr sz="2100" b="1">
                <a:solidFill>
                  <a:srgbClr val="07182A"/>
                </a:solidFill>
                <a:latin typeface="CiscoSansTT Medium"/>
                <a:ea typeface="CiscoSansTT Medium"/>
                <a:cs typeface="CiscoSansTT Medium"/>
              </a:defRPr>
            </a:lvl1pPr>
            <a:lvl2pPr algn="l">
              <a:defRPr sz="2100" b="1">
                <a:solidFill>
                  <a:srgbClr val="07182A"/>
                </a:solidFill>
                <a:latin typeface="CiscoSansTT Medium"/>
                <a:ea typeface="CiscoSansTT Medium"/>
                <a:cs typeface="CiscoSansTT Medium"/>
              </a:defRPr>
            </a:lvl2pPr>
            <a:lvl3pPr algn="l">
              <a:defRPr sz="2100" b="1">
                <a:solidFill>
                  <a:srgbClr val="07182A"/>
                </a:solidFill>
                <a:latin typeface="CiscoSansTT Medium"/>
                <a:ea typeface="CiscoSansTT Medium"/>
                <a:cs typeface="CiscoSansTT Medium"/>
              </a:defRPr>
            </a:lvl3pPr>
            <a:lvl4pPr algn="l">
              <a:defRPr sz="2100" b="1">
                <a:solidFill>
                  <a:srgbClr val="07182A"/>
                </a:solidFill>
                <a:latin typeface="CiscoSansTT Medium"/>
                <a:ea typeface="CiscoSansTT Medium"/>
                <a:cs typeface="CiscoSansTT Medium"/>
              </a:defRPr>
            </a:lvl4pPr>
            <a:lvl5pPr algn="l">
              <a:defRPr sz="2100" b="1">
                <a:solidFill>
                  <a:srgbClr val="07182A"/>
                </a:solidFill>
                <a:latin typeface="CiscoSansTT Medium"/>
                <a:ea typeface="CiscoSansTT Medium"/>
                <a:cs typeface="CiscoSansTT Medium"/>
              </a:defRPr>
            </a:lvl5pPr>
            <a:lvl6pPr algn="l">
              <a:defRPr sz="2100" b="1">
                <a:solidFill>
                  <a:srgbClr val="07182A"/>
                </a:solidFill>
                <a:latin typeface="CiscoSansTT Medium"/>
                <a:ea typeface="CiscoSansTT Medium"/>
                <a:cs typeface="CiscoSansTT Medium"/>
              </a:defRPr>
            </a:lvl6pPr>
            <a:lvl7pPr algn="l">
              <a:defRPr sz="2100" b="1">
                <a:solidFill>
                  <a:srgbClr val="07182A"/>
                </a:solidFill>
                <a:latin typeface="CiscoSansTT Medium"/>
                <a:ea typeface="CiscoSansTT Medium"/>
                <a:cs typeface="CiscoSansTT Medium"/>
              </a:defRPr>
            </a:lvl7pPr>
            <a:lvl8pPr algn="l">
              <a:defRPr sz="2100" b="1">
                <a:solidFill>
                  <a:srgbClr val="07182A"/>
                </a:solidFill>
                <a:latin typeface="CiscoSansTT Medium"/>
                <a:ea typeface="CiscoSansTT Medium"/>
                <a:cs typeface="CiscoSansTT Medium"/>
              </a:defRPr>
            </a:lvl8pPr>
            <a:lvl9pPr algn="l">
              <a:defRPr sz="2100" b="1">
                <a:solidFill>
                  <a:srgbClr val="07182A"/>
                </a:solidFill>
                <a:latin typeface="CiscoSansTT Medium"/>
                <a:ea typeface="CiscoSansTT Medium"/>
                <a:cs typeface="CiscoSansTT Medium"/>
              </a:defRPr>
            </a:lvl9pPr>
          </a:lstStyle>
          <a:p>
            <a:pPr algn="l">
              <a:buNone/>
              <a:defRPr sz="2100" b="1">
                <a:solidFill>
                  <a:srgbClr val="07182A"/>
                </a:solidFill>
                <a:latin typeface="CiscoSansTT Medium"/>
                <a:ea typeface="CiscoSansTT Medium"/>
                <a:cs typeface="CiscoSansTT Medium"/>
              </a:defRPr>
            </a:pPr>
            <a:r>
              <a:rPr sz="2100" b="1">
                <a:solidFill>
                  <a:srgbClr val="07182A"/>
                </a:solidFill>
                <a:latin typeface="CiscoSansTT Medium"/>
                <a:ea typeface="CiscoSansTT Medium"/>
                <a:cs typeface="CiscoSansTT Medium"/>
              </a:rPr>
              <a:t>Create telemetry</a:t>
            </a:r>
          </a:p>
        </p:txBody>
      </p:sp>
      <p:sp>
        <p:nvSpPr>
          <p:cNvPr id="24" name="Rectangle 23">
            <a:extLst>
              <a:ext uri="{FF2B5EF4-FFF2-40B4-BE49-F238E27FC236}">
                <a16:creationId xmlns:a16="http://schemas.microsoft.com/office/drawing/2014/main" id="{0AD620F7-9210-4E6C-977E-C41323C0D218}"/>
              </a:ext>
            </a:extLst>
          </p:cNvPr>
          <p:cNvSpPr>
            <a:spLocks noGrp="1"/>
          </p:cNvSpPr>
          <p:nvPr/>
        </p:nvSpPr>
        <p:spPr>
          <a:xfrm>
            <a:off x="1638300" y="3724275"/>
            <a:ext cx="6096000" cy="619125"/>
          </a:xfrm>
          <a:prstGeom prst="rect">
            <a:avLst/>
          </a:prstGeom>
          <a:noFill/>
          <a:ln w="0">
            <a:noFill/>
          </a:ln>
        </p:spPr>
        <p:txBody>
          <a:bodyPr anchor="ctr">
            <a:noAutofit/>
          </a:bodyPr>
          <a:lstStyle>
            <a:defPPr algn="l">
              <a:defRPr sz="1725" b="0">
                <a:solidFill>
                  <a:srgbClr val="686B6B"/>
                </a:solidFill>
                <a:latin typeface="CiscoSansTT"/>
                <a:ea typeface="CiscoSansTT"/>
                <a:cs typeface="CiscoSansTT"/>
              </a:defRPr>
            </a:defPPr>
            <a:lvl1pPr algn="l">
              <a:defRPr sz="1725" b="0">
                <a:solidFill>
                  <a:srgbClr val="686B6B"/>
                </a:solidFill>
                <a:latin typeface="CiscoSansTT"/>
                <a:ea typeface="CiscoSansTT"/>
                <a:cs typeface="CiscoSansTT"/>
              </a:defRPr>
            </a:lvl1pPr>
            <a:lvl2pPr algn="l">
              <a:defRPr sz="1725" b="0">
                <a:solidFill>
                  <a:srgbClr val="686B6B"/>
                </a:solidFill>
                <a:latin typeface="CiscoSansTT"/>
                <a:ea typeface="CiscoSansTT"/>
                <a:cs typeface="CiscoSansTT"/>
              </a:defRPr>
            </a:lvl2pPr>
            <a:lvl3pPr algn="l">
              <a:defRPr sz="1725" b="0">
                <a:solidFill>
                  <a:srgbClr val="686B6B"/>
                </a:solidFill>
                <a:latin typeface="CiscoSansTT"/>
                <a:ea typeface="CiscoSansTT"/>
                <a:cs typeface="CiscoSansTT"/>
              </a:defRPr>
            </a:lvl3pPr>
            <a:lvl4pPr algn="l">
              <a:defRPr sz="1725" b="0">
                <a:solidFill>
                  <a:srgbClr val="686B6B"/>
                </a:solidFill>
                <a:latin typeface="CiscoSansTT"/>
                <a:ea typeface="CiscoSansTT"/>
                <a:cs typeface="CiscoSansTT"/>
              </a:defRPr>
            </a:lvl4pPr>
            <a:lvl5pPr algn="l">
              <a:defRPr sz="1725" b="0">
                <a:solidFill>
                  <a:srgbClr val="686B6B"/>
                </a:solidFill>
                <a:latin typeface="CiscoSansTT"/>
                <a:ea typeface="CiscoSansTT"/>
                <a:cs typeface="CiscoSansTT"/>
              </a:defRPr>
            </a:lvl5pPr>
            <a:lvl6pPr algn="l">
              <a:defRPr sz="1725" b="0">
                <a:solidFill>
                  <a:srgbClr val="686B6B"/>
                </a:solidFill>
                <a:latin typeface="CiscoSansTT"/>
                <a:ea typeface="CiscoSansTT"/>
                <a:cs typeface="CiscoSansTT"/>
              </a:defRPr>
            </a:lvl6pPr>
            <a:lvl7pPr algn="l">
              <a:defRPr sz="1725" b="0">
                <a:solidFill>
                  <a:srgbClr val="686B6B"/>
                </a:solidFill>
                <a:latin typeface="CiscoSansTT"/>
                <a:ea typeface="CiscoSansTT"/>
                <a:cs typeface="CiscoSansTT"/>
              </a:defRPr>
            </a:lvl7pPr>
            <a:lvl8pPr algn="l">
              <a:defRPr sz="1725" b="0">
                <a:solidFill>
                  <a:srgbClr val="686B6B"/>
                </a:solidFill>
                <a:latin typeface="CiscoSansTT"/>
                <a:ea typeface="CiscoSansTT"/>
                <a:cs typeface="CiscoSansTT"/>
              </a:defRPr>
            </a:lvl8pPr>
            <a:lvl9pPr algn="l">
              <a:defRPr sz="1725" b="0">
                <a:solidFill>
                  <a:srgbClr val="686B6B"/>
                </a:solidFill>
                <a:latin typeface="CiscoSansTT"/>
                <a:ea typeface="CiscoSansTT"/>
                <a:cs typeface="CiscoSansTT"/>
              </a:defRPr>
            </a:lvl9p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Client and server calls become spans.</a:t>
            </a:r>
          </a:p>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Metrics show rate, errors, and duration.</a:t>
            </a:r>
          </a:p>
        </p:txBody>
      </p:sp>
      <p:sp>
        <p:nvSpPr>
          <p:cNvPr id="25" name="Rectangle 24">
            <a:extLst>
              <a:ext uri="{FF2B5EF4-FFF2-40B4-BE49-F238E27FC236}">
                <a16:creationId xmlns:a16="http://schemas.microsoft.com/office/drawing/2014/main" id="{EF061137-362E-4028-8DC7-73E3458F86FF}"/>
              </a:ext>
            </a:extLst>
          </p:cNvPr>
          <p:cNvSpPr>
            <a:spLocks noGrp="1"/>
          </p:cNvSpPr>
          <p:nvPr/>
        </p:nvSpPr>
        <p:spPr>
          <a:xfrm>
            <a:off x="1638300" y="4343400"/>
            <a:ext cx="6191250" cy="14288"/>
          </a:xfrm>
          <a:prstGeom prst="rect">
            <a:avLst/>
          </a:prstGeom>
          <a:solidFill>
            <a:srgbClr val="D6D6D6"/>
          </a:solidFill>
          <a:ln w="0">
            <a:noFill/>
          </a:ln>
        </p:spPr>
        <p:txBody>
          <a:bodyPr/>
          <a:lstStyle/>
          <a:p>
            <a:endParaRPr/>
          </a:p>
        </p:txBody>
      </p:sp>
      <p:sp>
        <p:nvSpPr>
          <p:cNvPr id="26" name="Rectangle 25">
            <a:extLst>
              <a:ext uri="{FF2B5EF4-FFF2-40B4-BE49-F238E27FC236}">
                <a16:creationId xmlns:a16="http://schemas.microsoft.com/office/drawing/2014/main" id="{A253741F-4AF9-4008-A6F4-68EDD4CE0910}"/>
              </a:ext>
            </a:extLst>
          </p:cNvPr>
          <p:cNvSpPr>
            <a:spLocks noGrp="1"/>
          </p:cNvSpPr>
          <p:nvPr/>
        </p:nvSpPr>
        <p:spPr>
          <a:xfrm>
            <a:off x="742950" y="4476750"/>
            <a:ext cx="723900" cy="504825"/>
          </a:xfrm>
          <a:prstGeom prst="rect">
            <a:avLst/>
          </a:prstGeom>
          <a:noFill/>
          <a:ln w="0">
            <a:noFill/>
          </a:ln>
        </p:spPr>
        <p:txBody>
          <a:bodyPr anchor="t">
            <a:noAutofit/>
          </a:bodyPr>
          <a:lstStyle/>
          <a:p>
            <a:pPr algn="l">
              <a:buNone/>
              <a:defRPr sz="2700" b="1">
                <a:solidFill>
                  <a:srgbClr val="FF007F"/>
                </a:solidFill>
                <a:latin typeface="CiscoSansTT Medium"/>
                <a:ea typeface="CiscoSansTT Medium"/>
                <a:cs typeface="CiscoSansTT Medium"/>
              </a:defRPr>
            </a:pPr>
            <a:r>
              <a:rPr sz="2700" b="1">
                <a:solidFill>
                  <a:srgbClr val="FF007F"/>
                </a:solidFill>
                <a:latin typeface="CiscoSansTT Medium"/>
                <a:ea typeface="CiscoSansTT Medium"/>
                <a:cs typeface="CiscoSansTT Medium"/>
              </a:rPr>
              <a:t>03</a:t>
            </a:r>
          </a:p>
        </p:txBody>
      </p:sp>
      <p:sp>
        <p:nvSpPr>
          <p:cNvPr id="27" name="Rectangle 26">
            <a:extLst>
              <a:ext uri="{FF2B5EF4-FFF2-40B4-BE49-F238E27FC236}">
                <a16:creationId xmlns:a16="http://schemas.microsoft.com/office/drawing/2014/main" id="{F872886C-D0B2-4EAD-86A5-A4B9EFD37913}"/>
              </a:ext>
            </a:extLst>
          </p:cNvPr>
          <p:cNvSpPr>
            <a:spLocks noGrp="1"/>
          </p:cNvSpPr>
          <p:nvPr/>
        </p:nvSpPr>
        <p:spPr>
          <a:xfrm>
            <a:off x="1638300" y="4486275"/>
            <a:ext cx="6096000" cy="419100"/>
          </a:xfrm>
          <a:prstGeom prst="rect">
            <a:avLst/>
          </a:prstGeom>
          <a:noFill/>
          <a:ln w="0">
            <a:noFill/>
          </a:ln>
        </p:spPr>
        <p:txBody>
          <a:bodyPr anchor="ctr">
            <a:noAutofit/>
          </a:bodyPr>
          <a:lstStyle>
            <a:defPPr algn="l">
              <a:defRPr sz="2100" b="1">
                <a:solidFill>
                  <a:srgbClr val="07182A"/>
                </a:solidFill>
                <a:latin typeface="CiscoSansTT Medium"/>
                <a:ea typeface="CiscoSansTT Medium"/>
                <a:cs typeface="CiscoSansTT Medium"/>
              </a:defRPr>
            </a:defPPr>
            <a:lvl1pPr algn="l">
              <a:defRPr sz="2100" b="1">
                <a:solidFill>
                  <a:srgbClr val="07182A"/>
                </a:solidFill>
                <a:latin typeface="CiscoSansTT Medium"/>
                <a:ea typeface="CiscoSansTT Medium"/>
                <a:cs typeface="CiscoSansTT Medium"/>
              </a:defRPr>
            </a:lvl1pPr>
            <a:lvl2pPr algn="l">
              <a:defRPr sz="2100" b="1">
                <a:solidFill>
                  <a:srgbClr val="07182A"/>
                </a:solidFill>
                <a:latin typeface="CiscoSansTT Medium"/>
                <a:ea typeface="CiscoSansTT Medium"/>
                <a:cs typeface="CiscoSansTT Medium"/>
              </a:defRPr>
            </a:lvl2pPr>
            <a:lvl3pPr algn="l">
              <a:defRPr sz="2100" b="1">
                <a:solidFill>
                  <a:srgbClr val="07182A"/>
                </a:solidFill>
                <a:latin typeface="CiscoSansTT Medium"/>
                <a:ea typeface="CiscoSansTT Medium"/>
                <a:cs typeface="CiscoSansTT Medium"/>
              </a:defRPr>
            </a:lvl3pPr>
            <a:lvl4pPr algn="l">
              <a:defRPr sz="2100" b="1">
                <a:solidFill>
                  <a:srgbClr val="07182A"/>
                </a:solidFill>
                <a:latin typeface="CiscoSansTT Medium"/>
                <a:ea typeface="CiscoSansTT Medium"/>
                <a:cs typeface="CiscoSansTT Medium"/>
              </a:defRPr>
            </a:lvl4pPr>
            <a:lvl5pPr algn="l">
              <a:defRPr sz="2100" b="1">
                <a:solidFill>
                  <a:srgbClr val="07182A"/>
                </a:solidFill>
                <a:latin typeface="CiscoSansTT Medium"/>
                <a:ea typeface="CiscoSansTT Medium"/>
                <a:cs typeface="CiscoSansTT Medium"/>
              </a:defRPr>
            </a:lvl5pPr>
            <a:lvl6pPr algn="l">
              <a:defRPr sz="2100" b="1">
                <a:solidFill>
                  <a:srgbClr val="07182A"/>
                </a:solidFill>
                <a:latin typeface="CiscoSansTT Medium"/>
                <a:ea typeface="CiscoSansTT Medium"/>
                <a:cs typeface="CiscoSansTT Medium"/>
              </a:defRPr>
            </a:lvl6pPr>
            <a:lvl7pPr algn="l">
              <a:defRPr sz="2100" b="1">
                <a:solidFill>
                  <a:srgbClr val="07182A"/>
                </a:solidFill>
                <a:latin typeface="CiscoSansTT Medium"/>
                <a:ea typeface="CiscoSansTT Medium"/>
                <a:cs typeface="CiscoSansTT Medium"/>
              </a:defRPr>
            </a:lvl7pPr>
            <a:lvl8pPr algn="l">
              <a:defRPr sz="2100" b="1">
                <a:solidFill>
                  <a:srgbClr val="07182A"/>
                </a:solidFill>
                <a:latin typeface="CiscoSansTT Medium"/>
                <a:ea typeface="CiscoSansTT Medium"/>
                <a:cs typeface="CiscoSansTT Medium"/>
              </a:defRPr>
            </a:lvl8pPr>
            <a:lvl9pPr algn="l">
              <a:defRPr sz="2100" b="1">
                <a:solidFill>
                  <a:srgbClr val="07182A"/>
                </a:solidFill>
                <a:latin typeface="CiscoSansTT Medium"/>
                <a:ea typeface="CiscoSansTT Medium"/>
                <a:cs typeface="CiscoSansTT Medium"/>
              </a:defRPr>
            </a:lvl9pPr>
          </a:lstStyle>
          <a:p>
            <a:pPr algn="l">
              <a:buNone/>
              <a:defRPr sz="2100" b="1">
                <a:solidFill>
                  <a:srgbClr val="07182A"/>
                </a:solidFill>
                <a:latin typeface="CiscoSansTT Medium"/>
                <a:ea typeface="CiscoSansTT Medium"/>
                <a:cs typeface="CiscoSansTT Medium"/>
              </a:defRPr>
            </a:pPr>
            <a:r>
              <a:rPr sz="2100" b="1">
                <a:solidFill>
                  <a:srgbClr val="07182A"/>
                </a:solidFill>
                <a:latin typeface="CiscoSansTT Medium"/>
                <a:ea typeface="CiscoSansTT Medium"/>
                <a:cs typeface="CiscoSansTT Medium"/>
              </a:rPr>
              <a:t>Export</a:t>
            </a:r>
          </a:p>
        </p:txBody>
      </p:sp>
      <p:sp>
        <p:nvSpPr>
          <p:cNvPr id="28" name="Rectangle 27">
            <a:extLst>
              <a:ext uri="{FF2B5EF4-FFF2-40B4-BE49-F238E27FC236}">
                <a16:creationId xmlns:a16="http://schemas.microsoft.com/office/drawing/2014/main" id="{9FE58FB9-5595-40BC-80A2-0FB84D19C295}"/>
              </a:ext>
            </a:extLst>
          </p:cNvPr>
          <p:cNvSpPr>
            <a:spLocks noGrp="1"/>
          </p:cNvSpPr>
          <p:nvPr/>
        </p:nvSpPr>
        <p:spPr>
          <a:xfrm>
            <a:off x="1638300" y="4924425"/>
            <a:ext cx="6096000" cy="619125"/>
          </a:xfrm>
          <a:prstGeom prst="rect">
            <a:avLst/>
          </a:prstGeom>
          <a:noFill/>
          <a:ln w="0">
            <a:noFill/>
          </a:ln>
        </p:spPr>
        <p:txBody>
          <a:bodyPr anchor="ctr">
            <a:noAutofit/>
          </a:bodyPr>
          <a:lstStyle>
            <a:defPPr algn="l">
              <a:defRPr sz="1725" b="0">
                <a:solidFill>
                  <a:srgbClr val="686B6B"/>
                </a:solidFill>
                <a:latin typeface="CiscoSansTT"/>
                <a:ea typeface="CiscoSansTT"/>
                <a:cs typeface="CiscoSansTT"/>
              </a:defRPr>
            </a:defPPr>
            <a:lvl1pPr algn="l">
              <a:defRPr sz="1725" b="0">
                <a:solidFill>
                  <a:srgbClr val="686B6B"/>
                </a:solidFill>
                <a:latin typeface="CiscoSansTT"/>
                <a:ea typeface="CiscoSansTT"/>
                <a:cs typeface="CiscoSansTT"/>
              </a:defRPr>
            </a:lvl1pPr>
            <a:lvl2pPr algn="l">
              <a:defRPr sz="1725" b="0">
                <a:solidFill>
                  <a:srgbClr val="686B6B"/>
                </a:solidFill>
                <a:latin typeface="CiscoSansTT"/>
                <a:ea typeface="CiscoSansTT"/>
                <a:cs typeface="CiscoSansTT"/>
              </a:defRPr>
            </a:lvl2pPr>
            <a:lvl3pPr algn="l">
              <a:defRPr sz="1725" b="0">
                <a:solidFill>
                  <a:srgbClr val="686B6B"/>
                </a:solidFill>
                <a:latin typeface="CiscoSansTT"/>
                <a:ea typeface="CiscoSansTT"/>
                <a:cs typeface="CiscoSansTT"/>
              </a:defRPr>
            </a:lvl3pPr>
            <a:lvl4pPr algn="l">
              <a:defRPr sz="1725" b="0">
                <a:solidFill>
                  <a:srgbClr val="686B6B"/>
                </a:solidFill>
                <a:latin typeface="CiscoSansTT"/>
                <a:ea typeface="CiscoSansTT"/>
                <a:cs typeface="CiscoSansTT"/>
              </a:defRPr>
            </a:lvl4pPr>
            <a:lvl5pPr algn="l">
              <a:defRPr sz="1725" b="0">
                <a:solidFill>
                  <a:srgbClr val="686B6B"/>
                </a:solidFill>
                <a:latin typeface="CiscoSansTT"/>
                <a:ea typeface="CiscoSansTT"/>
                <a:cs typeface="CiscoSansTT"/>
              </a:defRPr>
            </a:lvl5pPr>
            <a:lvl6pPr algn="l">
              <a:defRPr sz="1725" b="0">
                <a:solidFill>
                  <a:srgbClr val="686B6B"/>
                </a:solidFill>
                <a:latin typeface="CiscoSansTT"/>
                <a:ea typeface="CiscoSansTT"/>
                <a:cs typeface="CiscoSansTT"/>
              </a:defRPr>
            </a:lvl6pPr>
            <a:lvl7pPr algn="l">
              <a:defRPr sz="1725" b="0">
                <a:solidFill>
                  <a:srgbClr val="686B6B"/>
                </a:solidFill>
                <a:latin typeface="CiscoSansTT"/>
                <a:ea typeface="CiscoSansTT"/>
                <a:cs typeface="CiscoSansTT"/>
              </a:defRPr>
            </a:lvl7pPr>
            <a:lvl8pPr algn="l">
              <a:defRPr sz="1725" b="0">
                <a:solidFill>
                  <a:srgbClr val="686B6B"/>
                </a:solidFill>
                <a:latin typeface="CiscoSansTT"/>
                <a:ea typeface="CiscoSansTT"/>
                <a:cs typeface="CiscoSansTT"/>
              </a:defRPr>
            </a:lvl8pPr>
            <a:lvl9pPr algn="l">
              <a:defRPr sz="1725" b="0">
                <a:solidFill>
                  <a:srgbClr val="686B6B"/>
                </a:solidFill>
                <a:latin typeface="CiscoSansTT"/>
                <a:ea typeface="CiscoSansTT"/>
                <a:cs typeface="CiscoSansTT"/>
              </a:defRPr>
            </a:lvl9p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OBI sends these signals to an</a:t>
            </a:r>
          </a:p>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OpenTelemetry-compatible backend.</a:t>
            </a:r>
          </a:p>
        </p:txBody>
      </p:sp>
      <p:sp>
        <p:nvSpPr>
          <p:cNvPr id="29" name="Rectangle 28">
            <a:extLst>
              <a:ext uri="{FF2B5EF4-FFF2-40B4-BE49-F238E27FC236}">
                <a16:creationId xmlns:a16="http://schemas.microsoft.com/office/drawing/2014/main" id="{1021DFE0-06B2-4E5F-900E-1BFCD8FC5AE7}"/>
              </a:ext>
            </a:extLst>
          </p:cNvPr>
          <p:cNvSpPr>
            <a:spLocks noGrp="1"/>
          </p:cNvSpPr>
          <p:nvPr/>
        </p:nvSpPr>
        <p:spPr>
          <a:xfrm>
            <a:off x="723900" y="5753100"/>
            <a:ext cx="7239000" cy="504825"/>
          </a:xfrm>
          <a:prstGeom prst="rect">
            <a:avLst/>
          </a:prstGeom>
          <a:noFill/>
          <a:ln w="0">
            <a:noFill/>
          </a:ln>
        </p:spPr>
        <p:txBody>
          <a:bodyPr anchor="ctr">
            <a:noAutofit/>
          </a:bodyPr>
          <a:lstStyle>
            <a:defPPr algn="l">
              <a:defRPr sz="1725" b="0">
                <a:solidFill>
                  <a:srgbClr val="0860FE"/>
                </a:solidFill>
                <a:latin typeface="CiscoSansTT"/>
                <a:ea typeface="CiscoSansTT"/>
                <a:cs typeface="CiscoSansTT"/>
              </a:defRPr>
            </a:defPPr>
            <a:lvl1pPr algn="l">
              <a:defRPr sz="1725" b="0">
                <a:solidFill>
                  <a:srgbClr val="0860FE"/>
                </a:solidFill>
                <a:latin typeface="CiscoSansTT"/>
                <a:ea typeface="CiscoSansTT"/>
                <a:cs typeface="CiscoSansTT"/>
              </a:defRPr>
            </a:lvl1pPr>
            <a:lvl2pPr algn="l">
              <a:defRPr sz="1725" b="0">
                <a:solidFill>
                  <a:srgbClr val="0860FE"/>
                </a:solidFill>
                <a:latin typeface="CiscoSansTT"/>
                <a:ea typeface="CiscoSansTT"/>
                <a:cs typeface="CiscoSansTT"/>
              </a:defRPr>
            </a:lvl2pPr>
            <a:lvl3pPr algn="l">
              <a:defRPr sz="1725" b="0">
                <a:solidFill>
                  <a:srgbClr val="0860FE"/>
                </a:solidFill>
                <a:latin typeface="CiscoSansTT"/>
                <a:ea typeface="CiscoSansTT"/>
                <a:cs typeface="CiscoSansTT"/>
              </a:defRPr>
            </a:lvl3pPr>
            <a:lvl4pPr algn="l">
              <a:defRPr sz="1725" b="0">
                <a:solidFill>
                  <a:srgbClr val="0860FE"/>
                </a:solidFill>
                <a:latin typeface="CiscoSansTT"/>
                <a:ea typeface="CiscoSansTT"/>
                <a:cs typeface="CiscoSansTT"/>
              </a:defRPr>
            </a:lvl4pPr>
            <a:lvl5pPr algn="l">
              <a:defRPr sz="1725" b="0">
                <a:solidFill>
                  <a:srgbClr val="0860FE"/>
                </a:solidFill>
                <a:latin typeface="CiscoSansTT"/>
                <a:ea typeface="CiscoSansTT"/>
                <a:cs typeface="CiscoSansTT"/>
              </a:defRPr>
            </a:lvl5pPr>
            <a:lvl6pPr algn="l">
              <a:defRPr sz="1725" b="0">
                <a:solidFill>
                  <a:srgbClr val="0860FE"/>
                </a:solidFill>
                <a:latin typeface="CiscoSansTT"/>
                <a:ea typeface="CiscoSansTT"/>
                <a:cs typeface="CiscoSansTT"/>
              </a:defRPr>
            </a:lvl6pPr>
            <a:lvl7pPr algn="l">
              <a:defRPr sz="1725" b="0">
                <a:solidFill>
                  <a:srgbClr val="0860FE"/>
                </a:solidFill>
                <a:latin typeface="CiscoSansTT"/>
                <a:ea typeface="CiscoSansTT"/>
                <a:cs typeface="CiscoSansTT"/>
              </a:defRPr>
            </a:lvl7pPr>
            <a:lvl8pPr algn="l">
              <a:defRPr sz="1725" b="0">
                <a:solidFill>
                  <a:srgbClr val="0860FE"/>
                </a:solidFill>
                <a:latin typeface="CiscoSansTT"/>
                <a:ea typeface="CiscoSansTT"/>
                <a:cs typeface="CiscoSansTT"/>
              </a:defRPr>
            </a:lvl8pPr>
            <a:lvl9pPr algn="l">
              <a:defRPr sz="1725" b="0">
                <a:solidFill>
                  <a:srgbClr val="0860FE"/>
                </a:solidFill>
                <a:latin typeface="CiscoSansTT"/>
                <a:ea typeface="CiscoSansTT"/>
                <a:cs typeface="CiscoSansTT"/>
              </a:defRPr>
            </a:lvl9pPr>
          </a:lstStyle>
          <a:p>
            <a:pPr algn="l">
              <a:buNone/>
              <a:defRPr sz="1725" b="0">
                <a:solidFill>
                  <a:srgbClr val="0860FE"/>
                </a:solidFill>
                <a:latin typeface="CiscoSansTT"/>
                <a:ea typeface="CiscoSansTT"/>
                <a:cs typeface="CiscoSansTT"/>
              </a:defRPr>
            </a:pPr>
            <a:r>
              <a:rPr sz="1725" b="0" dirty="0">
                <a:solidFill>
                  <a:srgbClr val="0860FE"/>
                </a:solidFill>
                <a:latin typeface="CiscoSansTT"/>
                <a:ea typeface="CiscoSansTT"/>
                <a:cs typeface="CiscoSansTT"/>
              </a:rPr>
              <a:t>No application code changes</a:t>
            </a:r>
          </a:p>
        </p:txBody>
      </p:sp>
      <p:sp>
        <p:nvSpPr>
          <p:cNvPr id="30" name="obi-telemetry-diagram-label">
            <a:extLst>
              <a:ext uri="{FF2B5EF4-FFF2-40B4-BE49-F238E27FC236}">
                <a16:creationId xmlns:a16="http://schemas.microsoft.com/office/drawing/2014/main" id="{885035E3-FAA4-47FE-89FD-3DBEC63A60A7}"/>
              </a:ext>
            </a:extLst>
          </p:cNvPr>
          <p:cNvSpPr>
            <a:spLocks noGrp="1"/>
          </p:cNvSpPr>
          <p:nvPr/>
        </p:nvSpPr>
        <p:spPr>
          <a:xfrm>
            <a:off x="8591550" y="1819275"/>
            <a:ext cx="2857500" cy="323850"/>
          </a:xfrm>
          <a:prstGeom prst="rect">
            <a:avLst/>
          </a:prstGeom>
          <a:noFill/>
          <a:ln w="0">
            <a:noFill/>
          </a:ln>
        </p:spPr>
        <p:txBody>
          <a:bodyPr anchor="ctr">
            <a:noAutofit/>
          </a:bodyPr>
          <a:lstStyle>
            <a:defPPr algn="ctr">
              <a:defRPr sz="1500" b="0">
                <a:solidFill>
                  <a:srgbClr val="686B6B"/>
                </a:solidFill>
                <a:latin typeface="CiscoSansTT"/>
                <a:ea typeface="CiscoSansTT"/>
                <a:cs typeface="CiscoSansTT"/>
              </a:defRPr>
            </a:defPPr>
            <a:lvl1pPr algn="ctr">
              <a:defRPr sz="1500" b="0">
                <a:solidFill>
                  <a:srgbClr val="686B6B"/>
                </a:solidFill>
                <a:latin typeface="CiscoSansTT"/>
                <a:ea typeface="CiscoSansTT"/>
                <a:cs typeface="CiscoSansTT"/>
              </a:defRPr>
            </a:lvl1pPr>
            <a:lvl2pPr algn="ctr">
              <a:defRPr sz="1500" b="0">
                <a:solidFill>
                  <a:srgbClr val="686B6B"/>
                </a:solidFill>
                <a:latin typeface="CiscoSansTT"/>
                <a:ea typeface="CiscoSansTT"/>
                <a:cs typeface="CiscoSansTT"/>
              </a:defRPr>
            </a:lvl2pPr>
            <a:lvl3pPr algn="ctr">
              <a:defRPr sz="1500" b="0">
                <a:solidFill>
                  <a:srgbClr val="686B6B"/>
                </a:solidFill>
                <a:latin typeface="CiscoSansTT"/>
                <a:ea typeface="CiscoSansTT"/>
                <a:cs typeface="CiscoSansTT"/>
              </a:defRPr>
            </a:lvl3pPr>
            <a:lvl4pPr algn="ctr">
              <a:defRPr sz="1500" b="0">
                <a:solidFill>
                  <a:srgbClr val="686B6B"/>
                </a:solidFill>
                <a:latin typeface="CiscoSansTT"/>
                <a:ea typeface="CiscoSansTT"/>
                <a:cs typeface="CiscoSansTT"/>
              </a:defRPr>
            </a:lvl4pPr>
            <a:lvl5pPr algn="ctr">
              <a:defRPr sz="1500" b="0">
                <a:solidFill>
                  <a:srgbClr val="686B6B"/>
                </a:solidFill>
                <a:latin typeface="CiscoSansTT"/>
                <a:ea typeface="CiscoSansTT"/>
                <a:cs typeface="CiscoSansTT"/>
              </a:defRPr>
            </a:lvl5pPr>
            <a:lvl6pPr algn="ctr">
              <a:defRPr sz="1500" b="0">
                <a:solidFill>
                  <a:srgbClr val="686B6B"/>
                </a:solidFill>
                <a:latin typeface="CiscoSansTT"/>
                <a:ea typeface="CiscoSansTT"/>
                <a:cs typeface="CiscoSansTT"/>
              </a:defRPr>
            </a:lvl6pPr>
            <a:lvl7pPr algn="ctr">
              <a:defRPr sz="1500" b="0">
                <a:solidFill>
                  <a:srgbClr val="686B6B"/>
                </a:solidFill>
                <a:latin typeface="CiscoSansTT"/>
                <a:ea typeface="CiscoSansTT"/>
                <a:cs typeface="CiscoSansTT"/>
              </a:defRPr>
            </a:lvl7pPr>
            <a:lvl8pPr algn="ctr">
              <a:defRPr sz="1500" b="0">
                <a:solidFill>
                  <a:srgbClr val="686B6B"/>
                </a:solidFill>
                <a:latin typeface="CiscoSansTT"/>
                <a:ea typeface="CiscoSansTT"/>
                <a:cs typeface="CiscoSansTT"/>
              </a:defRPr>
            </a:lvl8pPr>
            <a:lvl9pPr algn="ctr">
              <a:defRPr sz="1500" b="0">
                <a:solidFill>
                  <a:srgbClr val="686B6B"/>
                </a:solidFill>
                <a:latin typeface="CiscoSansTT"/>
                <a:ea typeface="CiscoSansTT"/>
                <a:cs typeface="CiscoSansTT"/>
              </a:defRPr>
            </a:lvl9pPr>
          </a:lstStyle>
          <a:p>
            <a:pPr algn="ctr">
              <a:defRPr sz="1500" b="0">
                <a:solidFill>
                  <a:srgbClr val="686B6B"/>
                </a:solidFill>
                <a:latin typeface="CiscoSansTT"/>
                <a:ea typeface="CiscoSansTT"/>
                <a:cs typeface="CiscoSansTT"/>
              </a:defRPr>
            </a:pPr>
            <a:r>
              <a:rPr sz="1500" b="0">
                <a:solidFill>
                  <a:srgbClr val="686B6B"/>
                </a:solidFill>
                <a:latin typeface="CiscoSansTT"/>
                <a:ea typeface="CiscoSansTT"/>
                <a:cs typeface="CiscoSansTT"/>
              </a:rPr>
              <a:t>Telemetry path</a:t>
            </a:r>
          </a:p>
        </p:txBody>
      </p:sp>
      <p:sp>
        <p:nvSpPr>
          <p:cNvPr id="31" name="obi-supported-app">
            <a:extLst>
              <a:ext uri="{FF2B5EF4-FFF2-40B4-BE49-F238E27FC236}">
                <a16:creationId xmlns:a16="http://schemas.microsoft.com/office/drawing/2014/main" id="{E492C830-4595-48CA-9340-A4300270F054}"/>
              </a:ext>
            </a:extLst>
          </p:cNvPr>
          <p:cNvSpPr>
            <a:spLocks noGrp="1"/>
          </p:cNvSpPr>
          <p:nvPr/>
        </p:nvSpPr>
        <p:spPr>
          <a:xfrm>
            <a:off x="8782050" y="2286000"/>
            <a:ext cx="2514600" cy="685800"/>
          </a:xfrm>
          <a:prstGeom prst="roundRect">
            <a:avLst>
              <a:gd name="adj" fmla="val 9722"/>
            </a:avLst>
          </a:prstGeom>
          <a:solidFill>
            <a:srgbClr val="FFFFFF"/>
          </a:solidFill>
          <a:ln w="11906">
            <a:solidFill>
              <a:srgbClr val="686B6B"/>
            </a:solidFill>
          </a:ln>
        </p:spPr>
        <p:txBody>
          <a:bodyPr anchor="ctr">
            <a:noAutofit/>
          </a:bodyPr>
          <a:lstStyle>
            <a:defPPr algn="ctr">
              <a:defRPr sz="1725" b="0">
                <a:solidFill>
                  <a:srgbClr val="07182A"/>
                </a:solidFill>
                <a:latin typeface="CiscoSansTT"/>
                <a:ea typeface="CiscoSansTT"/>
                <a:cs typeface="CiscoSansTT"/>
              </a:defRPr>
            </a:defPPr>
            <a:lvl1pPr algn="ctr">
              <a:defRPr sz="1725" b="0">
                <a:solidFill>
                  <a:srgbClr val="07182A"/>
                </a:solidFill>
                <a:latin typeface="CiscoSansTT"/>
                <a:ea typeface="CiscoSansTT"/>
                <a:cs typeface="CiscoSansTT"/>
              </a:defRPr>
            </a:lvl1pPr>
            <a:lvl2pPr algn="ctr">
              <a:defRPr sz="1725" b="0">
                <a:solidFill>
                  <a:srgbClr val="07182A"/>
                </a:solidFill>
                <a:latin typeface="CiscoSansTT"/>
                <a:ea typeface="CiscoSansTT"/>
                <a:cs typeface="CiscoSansTT"/>
              </a:defRPr>
            </a:lvl2pPr>
            <a:lvl3pPr algn="ctr">
              <a:defRPr sz="1725" b="0">
                <a:solidFill>
                  <a:srgbClr val="07182A"/>
                </a:solidFill>
                <a:latin typeface="CiscoSansTT"/>
                <a:ea typeface="CiscoSansTT"/>
                <a:cs typeface="CiscoSansTT"/>
              </a:defRPr>
            </a:lvl3pPr>
            <a:lvl4pPr algn="ctr">
              <a:defRPr sz="1725" b="0">
                <a:solidFill>
                  <a:srgbClr val="07182A"/>
                </a:solidFill>
                <a:latin typeface="CiscoSansTT"/>
                <a:ea typeface="CiscoSansTT"/>
                <a:cs typeface="CiscoSansTT"/>
              </a:defRPr>
            </a:lvl4pPr>
            <a:lvl5pPr algn="ctr">
              <a:defRPr sz="1725" b="0">
                <a:solidFill>
                  <a:srgbClr val="07182A"/>
                </a:solidFill>
                <a:latin typeface="CiscoSansTT"/>
                <a:ea typeface="CiscoSansTT"/>
                <a:cs typeface="CiscoSansTT"/>
              </a:defRPr>
            </a:lvl5pPr>
            <a:lvl6pPr algn="ctr">
              <a:defRPr sz="1725" b="0">
                <a:solidFill>
                  <a:srgbClr val="07182A"/>
                </a:solidFill>
                <a:latin typeface="CiscoSansTT"/>
                <a:ea typeface="CiscoSansTT"/>
                <a:cs typeface="CiscoSansTT"/>
              </a:defRPr>
            </a:lvl6pPr>
            <a:lvl7pPr algn="ctr">
              <a:defRPr sz="1725" b="0">
                <a:solidFill>
                  <a:srgbClr val="07182A"/>
                </a:solidFill>
                <a:latin typeface="CiscoSansTT"/>
                <a:ea typeface="CiscoSansTT"/>
                <a:cs typeface="CiscoSansTT"/>
              </a:defRPr>
            </a:lvl7pPr>
            <a:lvl8pPr algn="ctr">
              <a:defRPr sz="1725" b="0">
                <a:solidFill>
                  <a:srgbClr val="07182A"/>
                </a:solidFill>
                <a:latin typeface="CiscoSansTT"/>
                <a:ea typeface="CiscoSansTT"/>
                <a:cs typeface="CiscoSansTT"/>
              </a:defRPr>
            </a:lvl8pPr>
            <a:lvl9pPr algn="ctr">
              <a:defRPr sz="1725" b="0">
                <a:solidFill>
                  <a:srgbClr val="07182A"/>
                </a:solidFill>
                <a:latin typeface="CiscoSansTT"/>
                <a:ea typeface="CiscoSansTT"/>
                <a:cs typeface="CiscoSansTT"/>
              </a:defRPr>
            </a:lvl9pPr>
          </a:lstStyle>
          <a:p>
            <a:pPr algn="ctr">
              <a:defRPr sz="1725" b="0">
                <a:solidFill>
                  <a:srgbClr val="07182A"/>
                </a:solidFill>
                <a:latin typeface="CiscoSansTT"/>
                <a:ea typeface="CiscoSansTT"/>
                <a:cs typeface="CiscoSansTT"/>
              </a:defRPr>
            </a:pPr>
            <a:r>
              <a:rPr sz="1725" b="0">
                <a:solidFill>
                  <a:srgbClr val="07182A"/>
                </a:solidFill>
                <a:latin typeface="CiscoSansTT"/>
                <a:ea typeface="CiscoSansTT"/>
                <a:cs typeface="CiscoSansTT"/>
              </a:rPr>
              <a:t>Supported</a:t>
            </a:r>
          </a:p>
          <a:p>
            <a:pPr algn="ctr">
              <a:defRPr sz="1725" b="0">
                <a:solidFill>
                  <a:srgbClr val="07182A"/>
                </a:solidFill>
                <a:latin typeface="CiscoSansTT"/>
                <a:ea typeface="CiscoSansTT"/>
                <a:cs typeface="CiscoSansTT"/>
              </a:defRPr>
            </a:pPr>
            <a:r>
              <a:rPr sz="1725" b="0">
                <a:solidFill>
                  <a:srgbClr val="07182A"/>
                </a:solidFill>
                <a:latin typeface="CiscoSansTT"/>
                <a:ea typeface="CiscoSansTT"/>
                <a:cs typeface="CiscoSansTT"/>
              </a:rPr>
              <a:t>application</a:t>
            </a:r>
          </a:p>
        </p:txBody>
      </p:sp>
      <p:cxnSp>
        <p:nvCxnSpPr>
          <p:cNvPr id="32" name="app-observations-to-obi">
            <a:extLst>
              <a:ext uri="{FF2B5EF4-FFF2-40B4-BE49-F238E27FC236}">
                <a16:creationId xmlns:a16="http://schemas.microsoft.com/office/drawing/2014/main" id="{6C265905-52A2-4B9A-A60B-136CF935C6F7}"/>
              </a:ext>
            </a:extLst>
          </p:cNvPr>
          <p:cNvCxnSpPr/>
          <p:nvPr/>
        </p:nvCxnSpPr>
        <p:spPr>
          <a:xfrm>
            <a:off x="10039350" y="2971800"/>
            <a:ext cx="0" cy="514350"/>
          </a:xfrm>
          <a:prstGeom prst="straightConnector1">
            <a:avLst/>
          </a:prstGeom>
          <a:ln w="19050">
            <a:solidFill>
              <a:srgbClr val="FF007F"/>
            </a:solidFill>
            <a:tailEnd type="arrow" w="med" len="med"/>
          </a:ln>
        </p:spPr>
      </p:cxnSp>
      <p:sp>
        <p:nvSpPr>
          <p:cNvPr id="33" name="obi-agent">
            <a:extLst>
              <a:ext uri="{FF2B5EF4-FFF2-40B4-BE49-F238E27FC236}">
                <a16:creationId xmlns:a16="http://schemas.microsoft.com/office/drawing/2014/main" id="{D0DAE50F-661B-4E53-842F-04A0739507A5}"/>
              </a:ext>
            </a:extLst>
          </p:cNvPr>
          <p:cNvSpPr>
            <a:spLocks noGrp="1"/>
          </p:cNvSpPr>
          <p:nvPr/>
        </p:nvSpPr>
        <p:spPr>
          <a:xfrm>
            <a:off x="8782050" y="3486150"/>
            <a:ext cx="2514600" cy="838200"/>
          </a:xfrm>
          <a:prstGeom prst="roundRect">
            <a:avLst>
              <a:gd name="adj" fmla="val 7955"/>
            </a:avLst>
          </a:prstGeom>
          <a:solidFill>
            <a:srgbClr val="F6ECF5"/>
          </a:solidFill>
          <a:ln w="11906">
            <a:solidFill>
              <a:srgbClr val="FF007F"/>
            </a:solidFill>
          </a:ln>
        </p:spPr>
        <p:txBody>
          <a:bodyPr anchor="ctr">
            <a:noAutofit/>
          </a:bodyPr>
          <a:lstStyle>
            <a:defPPr algn="ctr">
              <a:defRPr sz="1800" b="0">
                <a:solidFill>
                  <a:srgbClr val="07182A"/>
                </a:solidFill>
                <a:latin typeface="CiscoSansTT"/>
                <a:ea typeface="CiscoSansTT"/>
                <a:cs typeface="CiscoSansTT"/>
              </a:defRPr>
            </a:defPPr>
            <a:lvl1pPr algn="ctr">
              <a:defRPr sz="1800" b="0">
                <a:solidFill>
                  <a:srgbClr val="07182A"/>
                </a:solidFill>
                <a:latin typeface="CiscoSansTT"/>
                <a:ea typeface="CiscoSansTT"/>
                <a:cs typeface="CiscoSansTT"/>
              </a:defRPr>
            </a:lvl1pPr>
            <a:lvl2pPr algn="ctr">
              <a:defRPr sz="1800" b="0">
                <a:solidFill>
                  <a:srgbClr val="07182A"/>
                </a:solidFill>
                <a:latin typeface="CiscoSansTT"/>
                <a:ea typeface="CiscoSansTT"/>
                <a:cs typeface="CiscoSansTT"/>
              </a:defRPr>
            </a:lvl2pPr>
            <a:lvl3pPr algn="ctr">
              <a:defRPr sz="1800" b="0">
                <a:solidFill>
                  <a:srgbClr val="07182A"/>
                </a:solidFill>
                <a:latin typeface="CiscoSansTT"/>
                <a:ea typeface="CiscoSansTT"/>
                <a:cs typeface="CiscoSansTT"/>
              </a:defRPr>
            </a:lvl3pPr>
            <a:lvl4pPr algn="ctr">
              <a:defRPr sz="1800" b="0">
                <a:solidFill>
                  <a:srgbClr val="07182A"/>
                </a:solidFill>
                <a:latin typeface="CiscoSansTT"/>
                <a:ea typeface="CiscoSansTT"/>
                <a:cs typeface="CiscoSansTT"/>
              </a:defRPr>
            </a:lvl4pPr>
            <a:lvl5pPr algn="ctr">
              <a:defRPr sz="1800" b="0">
                <a:solidFill>
                  <a:srgbClr val="07182A"/>
                </a:solidFill>
                <a:latin typeface="CiscoSansTT"/>
                <a:ea typeface="CiscoSansTT"/>
                <a:cs typeface="CiscoSansTT"/>
              </a:defRPr>
            </a:lvl5pPr>
            <a:lvl6pPr algn="ctr">
              <a:defRPr sz="1800" b="0">
                <a:solidFill>
                  <a:srgbClr val="07182A"/>
                </a:solidFill>
                <a:latin typeface="CiscoSansTT"/>
                <a:ea typeface="CiscoSansTT"/>
                <a:cs typeface="CiscoSansTT"/>
              </a:defRPr>
            </a:lvl6pPr>
            <a:lvl7pPr algn="ctr">
              <a:defRPr sz="1800" b="0">
                <a:solidFill>
                  <a:srgbClr val="07182A"/>
                </a:solidFill>
                <a:latin typeface="CiscoSansTT"/>
                <a:ea typeface="CiscoSansTT"/>
                <a:cs typeface="CiscoSansTT"/>
              </a:defRPr>
            </a:lvl7pPr>
            <a:lvl8pPr algn="ctr">
              <a:defRPr sz="1800" b="0">
                <a:solidFill>
                  <a:srgbClr val="07182A"/>
                </a:solidFill>
                <a:latin typeface="CiscoSansTT"/>
                <a:ea typeface="CiscoSansTT"/>
                <a:cs typeface="CiscoSansTT"/>
              </a:defRPr>
            </a:lvl8pPr>
            <a:lvl9pPr algn="ctr">
              <a:defRPr sz="1800" b="0">
                <a:solidFill>
                  <a:srgbClr val="07182A"/>
                </a:solidFill>
                <a:latin typeface="CiscoSansTT"/>
                <a:ea typeface="CiscoSansTT"/>
                <a:cs typeface="CiscoSansTT"/>
              </a:defRPr>
            </a:lvl9pPr>
          </a:lstStyle>
          <a:p>
            <a:endParaRPr/>
          </a:p>
        </p:txBody>
      </p:sp>
      <p:pic>
        <p:nvPicPr>
          <p:cNvPr id="34" name="Picture 33">
            <a:extLst>
              <a:ext uri="{FF2B5EF4-FFF2-40B4-BE49-F238E27FC236}">
                <a16:creationId xmlns:a16="http://schemas.microsoft.com/office/drawing/2014/main" id="{D1138346-166F-4FEF-BD10-93574A253E70}"/>
              </a:ext>
            </a:extLst>
          </p:cNvPr>
          <p:cNvPicPr>
            <a:picLocks noChangeAspect="1"/>
          </p:cNvPicPr>
          <p:nvPr/>
        </p:nvPicPr>
        <p:blipFill>
          <a:blip r:embed="rId3"/>
          <a:stretch/>
        </p:blipFill>
        <p:spPr>
          <a:xfrm>
            <a:off x="9029700" y="3676650"/>
            <a:ext cx="457200" cy="457200"/>
          </a:xfrm>
          <a:prstGeom prst="rect">
            <a:avLst/>
          </a:prstGeom>
        </p:spPr>
      </p:pic>
      <p:sp>
        <p:nvSpPr>
          <p:cNvPr id="35" name="obi-agent-label">
            <a:extLst>
              <a:ext uri="{FF2B5EF4-FFF2-40B4-BE49-F238E27FC236}">
                <a16:creationId xmlns:a16="http://schemas.microsoft.com/office/drawing/2014/main" id="{17D08D2F-4CE6-48ED-ACDA-2B2EFE2CE5F2}"/>
              </a:ext>
            </a:extLst>
          </p:cNvPr>
          <p:cNvSpPr>
            <a:spLocks noGrp="1"/>
          </p:cNvSpPr>
          <p:nvPr/>
        </p:nvSpPr>
        <p:spPr>
          <a:xfrm>
            <a:off x="9601200" y="3619500"/>
            <a:ext cx="1581150" cy="542925"/>
          </a:xfrm>
          <a:prstGeom prst="rect">
            <a:avLst/>
          </a:prstGeom>
          <a:noFill/>
          <a:ln w="0">
            <a:noFill/>
          </a:ln>
        </p:spPr>
        <p:txBody>
          <a:bodyPr anchor="ctr">
            <a:noAutofit/>
          </a:bodyPr>
          <a:lstStyle>
            <a:defPPr algn="l">
              <a:defRPr sz="1875" b="1">
                <a:solidFill>
                  <a:srgbClr val="07182A"/>
                </a:solidFill>
                <a:latin typeface="CiscoSansTT Medium"/>
                <a:ea typeface="CiscoSansTT Medium"/>
                <a:cs typeface="CiscoSansTT Medium"/>
              </a:defRPr>
            </a:defPPr>
            <a:lvl1pPr algn="l">
              <a:defRPr sz="1875" b="1">
                <a:solidFill>
                  <a:srgbClr val="07182A"/>
                </a:solidFill>
                <a:latin typeface="CiscoSansTT Medium"/>
                <a:ea typeface="CiscoSansTT Medium"/>
                <a:cs typeface="CiscoSansTT Medium"/>
              </a:defRPr>
            </a:lvl1pPr>
            <a:lvl2pPr algn="l">
              <a:defRPr sz="1875" b="1">
                <a:solidFill>
                  <a:srgbClr val="07182A"/>
                </a:solidFill>
                <a:latin typeface="CiscoSansTT Medium"/>
                <a:ea typeface="CiscoSansTT Medium"/>
                <a:cs typeface="CiscoSansTT Medium"/>
              </a:defRPr>
            </a:lvl2pPr>
            <a:lvl3pPr algn="l">
              <a:defRPr sz="1875" b="1">
                <a:solidFill>
                  <a:srgbClr val="07182A"/>
                </a:solidFill>
                <a:latin typeface="CiscoSansTT Medium"/>
                <a:ea typeface="CiscoSansTT Medium"/>
                <a:cs typeface="CiscoSansTT Medium"/>
              </a:defRPr>
            </a:lvl3pPr>
            <a:lvl4pPr algn="l">
              <a:defRPr sz="1875" b="1">
                <a:solidFill>
                  <a:srgbClr val="07182A"/>
                </a:solidFill>
                <a:latin typeface="CiscoSansTT Medium"/>
                <a:ea typeface="CiscoSansTT Medium"/>
                <a:cs typeface="CiscoSansTT Medium"/>
              </a:defRPr>
            </a:lvl4pPr>
            <a:lvl5pPr algn="l">
              <a:defRPr sz="1875" b="1">
                <a:solidFill>
                  <a:srgbClr val="07182A"/>
                </a:solidFill>
                <a:latin typeface="CiscoSansTT Medium"/>
                <a:ea typeface="CiscoSansTT Medium"/>
                <a:cs typeface="CiscoSansTT Medium"/>
              </a:defRPr>
            </a:lvl5pPr>
            <a:lvl6pPr algn="l">
              <a:defRPr sz="1875" b="1">
                <a:solidFill>
                  <a:srgbClr val="07182A"/>
                </a:solidFill>
                <a:latin typeface="CiscoSansTT Medium"/>
                <a:ea typeface="CiscoSansTT Medium"/>
                <a:cs typeface="CiscoSansTT Medium"/>
              </a:defRPr>
            </a:lvl6pPr>
            <a:lvl7pPr algn="l">
              <a:defRPr sz="1875" b="1">
                <a:solidFill>
                  <a:srgbClr val="07182A"/>
                </a:solidFill>
                <a:latin typeface="CiscoSansTT Medium"/>
                <a:ea typeface="CiscoSansTT Medium"/>
                <a:cs typeface="CiscoSansTT Medium"/>
              </a:defRPr>
            </a:lvl7pPr>
            <a:lvl8pPr algn="l">
              <a:defRPr sz="1875" b="1">
                <a:solidFill>
                  <a:srgbClr val="07182A"/>
                </a:solidFill>
                <a:latin typeface="CiscoSansTT Medium"/>
                <a:ea typeface="CiscoSansTT Medium"/>
                <a:cs typeface="CiscoSansTT Medium"/>
              </a:defRPr>
            </a:lvl8pPr>
            <a:lvl9pPr algn="l">
              <a:defRPr sz="1875" b="1">
                <a:solidFill>
                  <a:srgbClr val="07182A"/>
                </a:solidFill>
                <a:latin typeface="CiscoSansTT Medium"/>
                <a:ea typeface="CiscoSansTT Medium"/>
                <a:cs typeface="CiscoSansTT Medium"/>
              </a:defRPr>
            </a:lvl9pPr>
          </a:lstStyle>
          <a:p>
            <a:pPr algn="l">
              <a:defRPr sz="1875" b="1">
                <a:solidFill>
                  <a:srgbClr val="07182A"/>
                </a:solidFill>
                <a:latin typeface="CiscoSansTT Medium"/>
                <a:ea typeface="CiscoSansTT Medium"/>
                <a:cs typeface="CiscoSansTT Medium"/>
              </a:defRPr>
            </a:pPr>
            <a:r>
              <a:rPr sz="1875" b="1">
                <a:solidFill>
                  <a:srgbClr val="07182A"/>
                </a:solidFill>
                <a:latin typeface="CiscoSansTT Medium"/>
                <a:ea typeface="CiscoSansTT Medium"/>
                <a:cs typeface="CiscoSansTT Medium"/>
              </a:rPr>
              <a:t>OBI agent</a:t>
            </a:r>
          </a:p>
        </p:txBody>
      </p:sp>
      <p:cxnSp>
        <p:nvCxnSpPr>
          <p:cNvPr id="36" name="obi-telemetry-export">
            <a:extLst>
              <a:ext uri="{FF2B5EF4-FFF2-40B4-BE49-F238E27FC236}">
                <a16:creationId xmlns:a16="http://schemas.microsoft.com/office/drawing/2014/main" id="{EB6680CD-BF39-4FA9-8AAE-B4304AF6B133}"/>
              </a:ext>
            </a:extLst>
          </p:cNvPr>
          <p:cNvCxnSpPr/>
          <p:nvPr/>
        </p:nvCxnSpPr>
        <p:spPr>
          <a:xfrm>
            <a:off x="10039350" y="4324350"/>
            <a:ext cx="0" cy="523875"/>
          </a:xfrm>
          <a:prstGeom prst="straightConnector1">
            <a:avLst/>
          </a:prstGeom>
          <a:ln w="19050">
            <a:solidFill>
              <a:srgbClr val="0860FE"/>
            </a:solidFill>
            <a:tailEnd type="arrow" w="med" len="med"/>
          </a:ln>
        </p:spPr>
      </p:cxnSp>
      <p:sp>
        <p:nvSpPr>
          <p:cNvPr id="37" name="obi-output">
            <a:extLst>
              <a:ext uri="{FF2B5EF4-FFF2-40B4-BE49-F238E27FC236}">
                <a16:creationId xmlns:a16="http://schemas.microsoft.com/office/drawing/2014/main" id="{06788282-0C30-4125-A773-32C5982509AF}"/>
              </a:ext>
            </a:extLst>
          </p:cNvPr>
          <p:cNvSpPr>
            <a:spLocks noGrp="1"/>
          </p:cNvSpPr>
          <p:nvPr/>
        </p:nvSpPr>
        <p:spPr>
          <a:xfrm>
            <a:off x="8782050" y="4848225"/>
            <a:ext cx="2514600" cy="685800"/>
          </a:xfrm>
          <a:prstGeom prst="roundRect">
            <a:avLst>
              <a:gd name="adj" fmla="val 9722"/>
            </a:avLst>
          </a:prstGeom>
          <a:solidFill>
            <a:srgbClr val="EAF8FC"/>
          </a:solidFill>
          <a:ln w="11906">
            <a:solidFill>
              <a:srgbClr val="0860FE"/>
            </a:solidFill>
          </a:ln>
        </p:spPr>
        <p:txBody>
          <a:bodyPr anchor="ctr">
            <a:noAutofit/>
          </a:bodyPr>
          <a:lstStyle>
            <a:defPPr algn="ctr">
              <a:defRPr sz="1725" b="0">
                <a:solidFill>
                  <a:srgbClr val="07182A"/>
                </a:solidFill>
                <a:latin typeface="CiscoSansTT"/>
                <a:ea typeface="CiscoSansTT"/>
                <a:cs typeface="CiscoSansTT"/>
              </a:defRPr>
            </a:defPPr>
            <a:lvl1pPr algn="ctr">
              <a:defRPr sz="1725" b="0">
                <a:solidFill>
                  <a:srgbClr val="07182A"/>
                </a:solidFill>
                <a:latin typeface="CiscoSansTT"/>
                <a:ea typeface="CiscoSansTT"/>
                <a:cs typeface="CiscoSansTT"/>
              </a:defRPr>
            </a:lvl1pPr>
            <a:lvl2pPr algn="ctr">
              <a:defRPr sz="1725" b="0">
                <a:solidFill>
                  <a:srgbClr val="07182A"/>
                </a:solidFill>
                <a:latin typeface="CiscoSansTT"/>
                <a:ea typeface="CiscoSansTT"/>
                <a:cs typeface="CiscoSansTT"/>
              </a:defRPr>
            </a:lvl2pPr>
            <a:lvl3pPr algn="ctr">
              <a:defRPr sz="1725" b="0">
                <a:solidFill>
                  <a:srgbClr val="07182A"/>
                </a:solidFill>
                <a:latin typeface="CiscoSansTT"/>
                <a:ea typeface="CiscoSansTT"/>
                <a:cs typeface="CiscoSansTT"/>
              </a:defRPr>
            </a:lvl3pPr>
            <a:lvl4pPr algn="ctr">
              <a:defRPr sz="1725" b="0">
                <a:solidFill>
                  <a:srgbClr val="07182A"/>
                </a:solidFill>
                <a:latin typeface="CiscoSansTT"/>
                <a:ea typeface="CiscoSansTT"/>
                <a:cs typeface="CiscoSansTT"/>
              </a:defRPr>
            </a:lvl4pPr>
            <a:lvl5pPr algn="ctr">
              <a:defRPr sz="1725" b="0">
                <a:solidFill>
                  <a:srgbClr val="07182A"/>
                </a:solidFill>
                <a:latin typeface="CiscoSansTT"/>
                <a:ea typeface="CiscoSansTT"/>
                <a:cs typeface="CiscoSansTT"/>
              </a:defRPr>
            </a:lvl5pPr>
            <a:lvl6pPr algn="ctr">
              <a:defRPr sz="1725" b="0">
                <a:solidFill>
                  <a:srgbClr val="07182A"/>
                </a:solidFill>
                <a:latin typeface="CiscoSansTT"/>
                <a:ea typeface="CiscoSansTT"/>
                <a:cs typeface="CiscoSansTT"/>
              </a:defRPr>
            </a:lvl6pPr>
            <a:lvl7pPr algn="ctr">
              <a:defRPr sz="1725" b="0">
                <a:solidFill>
                  <a:srgbClr val="07182A"/>
                </a:solidFill>
                <a:latin typeface="CiscoSansTT"/>
                <a:ea typeface="CiscoSansTT"/>
                <a:cs typeface="CiscoSansTT"/>
              </a:defRPr>
            </a:lvl7pPr>
            <a:lvl8pPr algn="ctr">
              <a:defRPr sz="1725" b="0">
                <a:solidFill>
                  <a:srgbClr val="07182A"/>
                </a:solidFill>
                <a:latin typeface="CiscoSansTT"/>
                <a:ea typeface="CiscoSansTT"/>
                <a:cs typeface="CiscoSansTT"/>
              </a:defRPr>
            </a:lvl8pPr>
            <a:lvl9pPr algn="ctr">
              <a:defRPr sz="1725" b="0">
                <a:solidFill>
                  <a:srgbClr val="07182A"/>
                </a:solidFill>
                <a:latin typeface="CiscoSansTT"/>
                <a:ea typeface="CiscoSansTT"/>
                <a:cs typeface="CiscoSansTT"/>
              </a:defRPr>
            </a:lvl9pPr>
          </a:lstStyle>
          <a:p>
            <a:pPr algn="ctr">
              <a:defRPr sz="1725" b="0">
                <a:solidFill>
                  <a:srgbClr val="07182A"/>
                </a:solidFill>
                <a:latin typeface="CiscoSansTT"/>
                <a:ea typeface="CiscoSansTT"/>
                <a:cs typeface="CiscoSansTT"/>
              </a:defRPr>
            </a:pPr>
            <a:r>
              <a:rPr sz="1725" b="0">
                <a:solidFill>
                  <a:srgbClr val="07182A"/>
                </a:solidFill>
                <a:latin typeface="CiscoSansTT"/>
                <a:ea typeface="CiscoSansTT"/>
                <a:cs typeface="CiscoSansTT"/>
              </a:rPr>
              <a:t>Traces +</a:t>
            </a:r>
          </a:p>
          <a:p>
            <a:pPr algn="ctr">
              <a:defRPr sz="1725" b="0">
                <a:solidFill>
                  <a:srgbClr val="07182A"/>
                </a:solidFill>
                <a:latin typeface="CiscoSansTT"/>
                <a:ea typeface="CiscoSansTT"/>
                <a:cs typeface="CiscoSansTT"/>
              </a:defRPr>
            </a:pPr>
            <a:r>
              <a:rPr sz="1725" b="0">
                <a:solidFill>
                  <a:srgbClr val="07182A"/>
                </a:solidFill>
                <a:latin typeface="CiscoSansTT"/>
                <a:ea typeface="CiscoSansTT"/>
                <a:cs typeface="CiscoSansTT"/>
              </a:rPr>
              <a:t>RED metrics</a:t>
            </a:r>
          </a:p>
        </p:txBody>
      </p:sp>
      <p:sp>
        <p:nvSpPr>
          <p:cNvPr id="38" name="obi-observations-label">
            <a:extLst>
              <a:ext uri="{FF2B5EF4-FFF2-40B4-BE49-F238E27FC236}">
                <a16:creationId xmlns:a16="http://schemas.microsoft.com/office/drawing/2014/main" id="{426782B2-104A-455C-9943-B16BDE198EAC}"/>
              </a:ext>
            </a:extLst>
          </p:cNvPr>
          <p:cNvSpPr>
            <a:spLocks noGrp="1"/>
          </p:cNvSpPr>
          <p:nvPr/>
        </p:nvSpPr>
        <p:spPr>
          <a:xfrm>
            <a:off x="10382250" y="3095625"/>
            <a:ext cx="1095375" cy="342900"/>
          </a:xfrm>
          <a:prstGeom prst="rect">
            <a:avLst/>
          </a:prstGeom>
          <a:noFill/>
          <a:ln w="0">
            <a:noFill/>
          </a:ln>
        </p:spPr>
        <p:txBody>
          <a:bodyPr anchor="ctr">
            <a:noAutofit/>
          </a:bodyPr>
          <a:lstStyle>
            <a:defPPr algn="ctr">
              <a:defRPr sz="1125" b="0">
                <a:solidFill>
                  <a:srgbClr val="686B6B"/>
                </a:solidFill>
                <a:latin typeface="CiscoSansTT"/>
                <a:ea typeface="CiscoSansTT"/>
                <a:cs typeface="CiscoSansTT"/>
              </a:defRPr>
            </a:defPPr>
            <a:lvl1pPr algn="ctr">
              <a:defRPr sz="1125" b="0">
                <a:solidFill>
                  <a:srgbClr val="686B6B"/>
                </a:solidFill>
                <a:latin typeface="CiscoSansTT"/>
                <a:ea typeface="CiscoSansTT"/>
                <a:cs typeface="CiscoSansTT"/>
              </a:defRPr>
            </a:lvl1pPr>
            <a:lvl2pPr algn="ctr">
              <a:defRPr sz="1125" b="0">
                <a:solidFill>
                  <a:srgbClr val="686B6B"/>
                </a:solidFill>
                <a:latin typeface="CiscoSansTT"/>
                <a:ea typeface="CiscoSansTT"/>
                <a:cs typeface="CiscoSansTT"/>
              </a:defRPr>
            </a:lvl2pPr>
            <a:lvl3pPr algn="ctr">
              <a:defRPr sz="1125" b="0">
                <a:solidFill>
                  <a:srgbClr val="686B6B"/>
                </a:solidFill>
                <a:latin typeface="CiscoSansTT"/>
                <a:ea typeface="CiscoSansTT"/>
                <a:cs typeface="CiscoSansTT"/>
              </a:defRPr>
            </a:lvl3pPr>
            <a:lvl4pPr algn="ctr">
              <a:defRPr sz="1125" b="0">
                <a:solidFill>
                  <a:srgbClr val="686B6B"/>
                </a:solidFill>
                <a:latin typeface="CiscoSansTT"/>
                <a:ea typeface="CiscoSansTT"/>
                <a:cs typeface="CiscoSansTT"/>
              </a:defRPr>
            </a:lvl4pPr>
            <a:lvl5pPr algn="ctr">
              <a:defRPr sz="1125" b="0">
                <a:solidFill>
                  <a:srgbClr val="686B6B"/>
                </a:solidFill>
                <a:latin typeface="CiscoSansTT"/>
                <a:ea typeface="CiscoSansTT"/>
                <a:cs typeface="CiscoSansTT"/>
              </a:defRPr>
            </a:lvl5pPr>
            <a:lvl6pPr algn="ctr">
              <a:defRPr sz="1125" b="0">
                <a:solidFill>
                  <a:srgbClr val="686B6B"/>
                </a:solidFill>
                <a:latin typeface="CiscoSansTT"/>
                <a:ea typeface="CiscoSansTT"/>
                <a:cs typeface="CiscoSansTT"/>
              </a:defRPr>
            </a:lvl6pPr>
            <a:lvl7pPr algn="ctr">
              <a:defRPr sz="1125" b="0">
                <a:solidFill>
                  <a:srgbClr val="686B6B"/>
                </a:solidFill>
                <a:latin typeface="CiscoSansTT"/>
                <a:ea typeface="CiscoSansTT"/>
                <a:cs typeface="CiscoSansTT"/>
              </a:defRPr>
            </a:lvl7pPr>
            <a:lvl8pPr algn="ctr">
              <a:defRPr sz="1125" b="0">
                <a:solidFill>
                  <a:srgbClr val="686B6B"/>
                </a:solidFill>
                <a:latin typeface="CiscoSansTT"/>
                <a:ea typeface="CiscoSansTT"/>
                <a:cs typeface="CiscoSansTT"/>
              </a:defRPr>
            </a:lvl8pPr>
            <a:lvl9pPr algn="ctr">
              <a:defRPr sz="1125" b="0">
                <a:solidFill>
                  <a:srgbClr val="686B6B"/>
                </a:solidFill>
                <a:latin typeface="CiscoSansTT"/>
                <a:ea typeface="CiscoSansTT"/>
                <a:cs typeface="CiscoSansTT"/>
              </a:defRPr>
            </a:lvl9pPr>
          </a:lstStyle>
          <a:p>
            <a:pPr algn="ctr">
              <a:defRPr sz="1125" b="0">
                <a:solidFill>
                  <a:srgbClr val="686B6B"/>
                </a:solidFill>
                <a:latin typeface="CiscoSansTT"/>
                <a:ea typeface="CiscoSansTT"/>
                <a:cs typeface="CiscoSansTT"/>
              </a:defRPr>
            </a:pPr>
            <a:r>
              <a:rPr sz="1125" b="0">
                <a:solidFill>
                  <a:srgbClr val="686B6B"/>
                </a:solidFill>
                <a:latin typeface="CiscoSansTT"/>
                <a:ea typeface="CiscoSansTT"/>
                <a:cs typeface="CiscoSansTT"/>
              </a:rPr>
              <a:t>observes requests</a:t>
            </a:r>
          </a:p>
        </p:txBody>
      </p:sp>
      <p:sp>
        <p:nvSpPr>
          <p:cNvPr id="39" name="obi-export-label">
            <a:extLst>
              <a:ext uri="{FF2B5EF4-FFF2-40B4-BE49-F238E27FC236}">
                <a16:creationId xmlns:a16="http://schemas.microsoft.com/office/drawing/2014/main" id="{15E2EEE5-6F0D-432B-BC00-BA82995B2C50}"/>
              </a:ext>
            </a:extLst>
          </p:cNvPr>
          <p:cNvSpPr>
            <a:spLocks noGrp="1"/>
          </p:cNvSpPr>
          <p:nvPr/>
        </p:nvSpPr>
        <p:spPr>
          <a:xfrm>
            <a:off x="10420350" y="4467225"/>
            <a:ext cx="1028700" cy="257175"/>
          </a:xfrm>
          <a:prstGeom prst="rect">
            <a:avLst/>
          </a:prstGeom>
          <a:noFill/>
          <a:ln w="0">
            <a:noFill/>
          </a:ln>
        </p:spPr>
        <p:txBody>
          <a:bodyPr anchor="ctr">
            <a:noAutofit/>
          </a:bodyPr>
          <a:lstStyle>
            <a:defPPr algn="ctr">
              <a:defRPr sz="1200" b="0">
                <a:solidFill>
                  <a:srgbClr val="686B6B"/>
                </a:solidFill>
                <a:latin typeface="CiscoSansTT"/>
                <a:ea typeface="CiscoSansTT"/>
                <a:cs typeface="CiscoSansTT"/>
              </a:defRPr>
            </a:defPPr>
            <a:lvl1pPr algn="ctr">
              <a:defRPr sz="1200" b="0">
                <a:solidFill>
                  <a:srgbClr val="686B6B"/>
                </a:solidFill>
                <a:latin typeface="CiscoSansTT"/>
                <a:ea typeface="CiscoSansTT"/>
                <a:cs typeface="CiscoSansTT"/>
              </a:defRPr>
            </a:lvl1pPr>
            <a:lvl2pPr algn="ctr">
              <a:defRPr sz="1200" b="0">
                <a:solidFill>
                  <a:srgbClr val="686B6B"/>
                </a:solidFill>
                <a:latin typeface="CiscoSansTT"/>
                <a:ea typeface="CiscoSansTT"/>
                <a:cs typeface="CiscoSansTT"/>
              </a:defRPr>
            </a:lvl2pPr>
            <a:lvl3pPr algn="ctr">
              <a:defRPr sz="1200" b="0">
                <a:solidFill>
                  <a:srgbClr val="686B6B"/>
                </a:solidFill>
                <a:latin typeface="CiscoSansTT"/>
                <a:ea typeface="CiscoSansTT"/>
                <a:cs typeface="CiscoSansTT"/>
              </a:defRPr>
            </a:lvl3pPr>
            <a:lvl4pPr algn="ctr">
              <a:defRPr sz="1200" b="0">
                <a:solidFill>
                  <a:srgbClr val="686B6B"/>
                </a:solidFill>
                <a:latin typeface="CiscoSansTT"/>
                <a:ea typeface="CiscoSansTT"/>
                <a:cs typeface="CiscoSansTT"/>
              </a:defRPr>
            </a:lvl4pPr>
            <a:lvl5pPr algn="ctr">
              <a:defRPr sz="1200" b="0">
                <a:solidFill>
                  <a:srgbClr val="686B6B"/>
                </a:solidFill>
                <a:latin typeface="CiscoSansTT"/>
                <a:ea typeface="CiscoSansTT"/>
                <a:cs typeface="CiscoSansTT"/>
              </a:defRPr>
            </a:lvl5pPr>
            <a:lvl6pPr algn="ctr">
              <a:defRPr sz="1200" b="0">
                <a:solidFill>
                  <a:srgbClr val="686B6B"/>
                </a:solidFill>
                <a:latin typeface="CiscoSansTT"/>
                <a:ea typeface="CiscoSansTT"/>
                <a:cs typeface="CiscoSansTT"/>
              </a:defRPr>
            </a:lvl6pPr>
            <a:lvl7pPr algn="ctr">
              <a:defRPr sz="1200" b="0">
                <a:solidFill>
                  <a:srgbClr val="686B6B"/>
                </a:solidFill>
                <a:latin typeface="CiscoSansTT"/>
                <a:ea typeface="CiscoSansTT"/>
                <a:cs typeface="CiscoSansTT"/>
              </a:defRPr>
            </a:lvl7pPr>
            <a:lvl8pPr algn="ctr">
              <a:defRPr sz="1200" b="0">
                <a:solidFill>
                  <a:srgbClr val="686B6B"/>
                </a:solidFill>
                <a:latin typeface="CiscoSansTT"/>
                <a:ea typeface="CiscoSansTT"/>
                <a:cs typeface="CiscoSansTT"/>
              </a:defRPr>
            </a:lvl8pPr>
            <a:lvl9pPr algn="ctr">
              <a:defRPr sz="1200" b="0">
                <a:solidFill>
                  <a:srgbClr val="686B6B"/>
                </a:solidFill>
                <a:latin typeface="CiscoSansTT"/>
                <a:ea typeface="CiscoSansTT"/>
                <a:cs typeface="CiscoSansTT"/>
              </a:defRPr>
            </a:lvl9pPr>
          </a:lstStyle>
          <a:p>
            <a:pPr algn="ctr">
              <a:defRPr sz="1200" b="0">
                <a:solidFill>
                  <a:srgbClr val="686B6B"/>
                </a:solidFill>
                <a:latin typeface="CiscoSansTT"/>
                <a:ea typeface="CiscoSansTT"/>
                <a:cs typeface="CiscoSansTT"/>
              </a:defRPr>
            </a:pPr>
            <a:r>
              <a:rPr sz="1200" b="0">
                <a:solidFill>
                  <a:srgbClr val="686B6B"/>
                </a:solidFill>
                <a:latin typeface="CiscoSansTT"/>
                <a:ea typeface="CiscoSansTT"/>
                <a:cs typeface="CiscoSansTT"/>
              </a:rPr>
              <a:t>exports</a:t>
            </a:r>
          </a:p>
        </p:txBody>
      </p:sp>
      <p:sp>
        <p:nvSpPr>
          <p:cNvPr id="40" name="obi-docs-link">
            <a:extLst>
              <a:ext uri="{FF2B5EF4-FFF2-40B4-BE49-F238E27FC236}">
                <a16:creationId xmlns:a16="http://schemas.microsoft.com/office/drawing/2014/main" id="{EFB89B9D-BF70-4863-BA65-4AC881ED75AE}"/>
              </a:ext>
            </a:extLst>
          </p:cNvPr>
          <p:cNvSpPr>
            <a:spLocks noGrp="1"/>
          </p:cNvSpPr>
          <p:nvPr/>
        </p:nvSpPr>
        <p:spPr>
          <a:xfrm>
            <a:off x="8724900" y="5848350"/>
            <a:ext cx="1200150" cy="314325"/>
          </a:xfrm>
          <a:prstGeom prst="rect">
            <a:avLst/>
          </a:prstGeom>
          <a:noFill/>
          <a:ln w="0">
            <a:noFill/>
          </a:ln>
        </p:spPr>
        <p:txBody>
          <a:bodyPr anchor="ctr">
            <a:noAutofit/>
          </a:bodyPr>
          <a:lstStyle>
            <a:defPPr algn="l">
              <a:defRPr sz="1500" b="0">
                <a:solidFill>
                  <a:srgbClr val="0860FE"/>
                </a:solidFill>
                <a:latin typeface="CiscoSansTT"/>
                <a:ea typeface="CiscoSansTT"/>
                <a:cs typeface="CiscoSansTT"/>
              </a:defRPr>
            </a:defPPr>
            <a:lvl1pPr algn="l">
              <a:defRPr sz="1500" b="0">
                <a:solidFill>
                  <a:srgbClr val="0860FE"/>
                </a:solidFill>
                <a:latin typeface="CiscoSansTT"/>
                <a:ea typeface="CiscoSansTT"/>
                <a:cs typeface="CiscoSansTT"/>
              </a:defRPr>
            </a:lvl1pPr>
            <a:lvl2pPr algn="l">
              <a:defRPr sz="1500" b="0">
                <a:solidFill>
                  <a:srgbClr val="0860FE"/>
                </a:solidFill>
                <a:latin typeface="CiscoSansTT"/>
                <a:ea typeface="CiscoSansTT"/>
                <a:cs typeface="CiscoSansTT"/>
              </a:defRPr>
            </a:lvl2pPr>
            <a:lvl3pPr algn="l">
              <a:defRPr sz="1500" b="0">
                <a:solidFill>
                  <a:srgbClr val="0860FE"/>
                </a:solidFill>
                <a:latin typeface="CiscoSansTT"/>
                <a:ea typeface="CiscoSansTT"/>
                <a:cs typeface="CiscoSansTT"/>
              </a:defRPr>
            </a:lvl3pPr>
            <a:lvl4pPr algn="l">
              <a:defRPr sz="1500" b="0">
                <a:solidFill>
                  <a:srgbClr val="0860FE"/>
                </a:solidFill>
                <a:latin typeface="CiscoSansTT"/>
                <a:ea typeface="CiscoSansTT"/>
                <a:cs typeface="CiscoSansTT"/>
              </a:defRPr>
            </a:lvl4pPr>
            <a:lvl5pPr algn="l">
              <a:defRPr sz="1500" b="0">
                <a:solidFill>
                  <a:srgbClr val="0860FE"/>
                </a:solidFill>
                <a:latin typeface="CiscoSansTT"/>
                <a:ea typeface="CiscoSansTT"/>
                <a:cs typeface="CiscoSansTT"/>
              </a:defRPr>
            </a:lvl5pPr>
            <a:lvl6pPr algn="l">
              <a:defRPr sz="1500" b="0">
                <a:solidFill>
                  <a:srgbClr val="0860FE"/>
                </a:solidFill>
                <a:latin typeface="CiscoSansTT"/>
                <a:ea typeface="CiscoSansTT"/>
                <a:cs typeface="CiscoSansTT"/>
              </a:defRPr>
            </a:lvl6pPr>
            <a:lvl7pPr algn="l">
              <a:defRPr sz="1500" b="0">
                <a:solidFill>
                  <a:srgbClr val="0860FE"/>
                </a:solidFill>
                <a:latin typeface="CiscoSansTT"/>
                <a:ea typeface="CiscoSansTT"/>
                <a:cs typeface="CiscoSansTT"/>
              </a:defRPr>
            </a:lvl7pPr>
            <a:lvl8pPr algn="l">
              <a:defRPr sz="1500" b="0">
                <a:solidFill>
                  <a:srgbClr val="0860FE"/>
                </a:solidFill>
                <a:latin typeface="CiscoSansTT"/>
                <a:ea typeface="CiscoSansTT"/>
                <a:cs typeface="CiscoSansTT"/>
              </a:defRPr>
            </a:lvl8pPr>
            <a:lvl9pPr algn="l">
              <a:defRPr sz="1500" b="0">
                <a:solidFill>
                  <a:srgbClr val="0860FE"/>
                </a:solidFill>
                <a:latin typeface="CiscoSansTT"/>
                <a:ea typeface="CiscoSansTT"/>
                <a:cs typeface="CiscoSansTT"/>
              </a:defRPr>
            </a:lvl9pPr>
          </a:lstStyle>
          <a:p>
            <a:pPr algn="l">
              <a:defRPr sz="1500" b="0">
                <a:solidFill>
                  <a:srgbClr val="0860FE"/>
                </a:solidFill>
                <a:latin typeface="CiscoSansTT"/>
                <a:ea typeface="CiscoSansTT"/>
                <a:cs typeface="CiscoSansTT"/>
              </a:defRPr>
            </a:pPr>
            <a:r>
              <a:rPr sz="1500" b="0" u="sng">
                <a:solidFill>
                  <a:srgbClr val="0860FE"/>
                </a:solidFill>
                <a:latin typeface="CiscoSansTT"/>
                <a:ea typeface="CiscoSansTT"/>
                <a:cs typeface="CiscoSansTT"/>
                <a:hlinkClick r:id="rId4"/>
              </a:rPr>
              <a:t>OBI docs</a:t>
            </a:r>
          </a:p>
        </p:txBody>
      </p:sp>
      <p:sp>
        <p:nvSpPr>
          <p:cNvPr id="41" name="obi-repo-link">
            <a:extLst>
              <a:ext uri="{FF2B5EF4-FFF2-40B4-BE49-F238E27FC236}">
                <a16:creationId xmlns:a16="http://schemas.microsoft.com/office/drawing/2014/main" id="{B6DC096B-BDCF-4F2E-8CDC-9A415ACE1F79}"/>
              </a:ext>
            </a:extLst>
          </p:cNvPr>
          <p:cNvSpPr>
            <a:spLocks noGrp="1"/>
          </p:cNvSpPr>
          <p:nvPr/>
        </p:nvSpPr>
        <p:spPr>
          <a:xfrm>
            <a:off x="10010775" y="5848350"/>
            <a:ext cx="1666875" cy="314325"/>
          </a:xfrm>
          <a:prstGeom prst="rect">
            <a:avLst/>
          </a:prstGeom>
          <a:noFill/>
          <a:ln w="0">
            <a:noFill/>
          </a:ln>
        </p:spPr>
        <p:txBody>
          <a:bodyPr anchor="ctr">
            <a:noAutofit/>
          </a:bodyPr>
          <a:lstStyle>
            <a:defPPr algn="l">
              <a:defRPr sz="1500" b="0">
                <a:solidFill>
                  <a:srgbClr val="0860FE"/>
                </a:solidFill>
                <a:latin typeface="CiscoSansTT"/>
                <a:ea typeface="CiscoSansTT"/>
                <a:cs typeface="CiscoSansTT"/>
              </a:defRPr>
            </a:defPPr>
            <a:lvl1pPr algn="l">
              <a:defRPr sz="1500" b="0">
                <a:solidFill>
                  <a:srgbClr val="0860FE"/>
                </a:solidFill>
                <a:latin typeface="CiscoSansTT"/>
                <a:ea typeface="CiscoSansTT"/>
                <a:cs typeface="CiscoSansTT"/>
              </a:defRPr>
            </a:lvl1pPr>
            <a:lvl2pPr algn="l">
              <a:defRPr sz="1500" b="0">
                <a:solidFill>
                  <a:srgbClr val="0860FE"/>
                </a:solidFill>
                <a:latin typeface="CiscoSansTT"/>
                <a:ea typeface="CiscoSansTT"/>
                <a:cs typeface="CiscoSansTT"/>
              </a:defRPr>
            </a:lvl2pPr>
            <a:lvl3pPr algn="l">
              <a:defRPr sz="1500" b="0">
                <a:solidFill>
                  <a:srgbClr val="0860FE"/>
                </a:solidFill>
                <a:latin typeface="CiscoSansTT"/>
                <a:ea typeface="CiscoSansTT"/>
                <a:cs typeface="CiscoSansTT"/>
              </a:defRPr>
            </a:lvl3pPr>
            <a:lvl4pPr algn="l">
              <a:defRPr sz="1500" b="0">
                <a:solidFill>
                  <a:srgbClr val="0860FE"/>
                </a:solidFill>
                <a:latin typeface="CiscoSansTT"/>
                <a:ea typeface="CiscoSansTT"/>
                <a:cs typeface="CiscoSansTT"/>
              </a:defRPr>
            </a:lvl4pPr>
            <a:lvl5pPr algn="l">
              <a:defRPr sz="1500" b="0">
                <a:solidFill>
                  <a:srgbClr val="0860FE"/>
                </a:solidFill>
                <a:latin typeface="CiscoSansTT"/>
                <a:ea typeface="CiscoSansTT"/>
                <a:cs typeface="CiscoSansTT"/>
              </a:defRPr>
            </a:lvl5pPr>
            <a:lvl6pPr algn="l">
              <a:defRPr sz="1500" b="0">
                <a:solidFill>
                  <a:srgbClr val="0860FE"/>
                </a:solidFill>
                <a:latin typeface="CiscoSansTT"/>
                <a:ea typeface="CiscoSansTT"/>
                <a:cs typeface="CiscoSansTT"/>
              </a:defRPr>
            </a:lvl6pPr>
            <a:lvl7pPr algn="l">
              <a:defRPr sz="1500" b="0">
                <a:solidFill>
                  <a:srgbClr val="0860FE"/>
                </a:solidFill>
                <a:latin typeface="CiscoSansTT"/>
                <a:ea typeface="CiscoSansTT"/>
                <a:cs typeface="CiscoSansTT"/>
              </a:defRPr>
            </a:lvl7pPr>
            <a:lvl8pPr algn="l">
              <a:defRPr sz="1500" b="0">
                <a:solidFill>
                  <a:srgbClr val="0860FE"/>
                </a:solidFill>
                <a:latin typeface="CiscoSansTT"/>
                <a:ea typeface="CiscoSansTT"/>
                <a:cs typeface="CiscoSansTT"/>
              </a:defRPr>
            </a:lvl8pPr>
            <a:lvl9pPr algn="l">
              <a:defRPr sz="1500" b="0">
                <a:solidFill>
                  <a:srgbClr val="0860FE"/>
                </a:solidFill>
                <a:latin typeface="CiscoSansTT"/>
                <a:ea typeface="CiscoSansTT"/>
                <a:cs typeface="CiscoSansTT"/>
              </a:defRPr>
            </a:lvl9pPr>
          </a:lstStyle>
          <a:p>
            <a:pPr algn="l">
              <a:defRPr sz="1500" b="0">
                <a:solidFill>
                  <a:srgbClr val="0860FE"/>
                </a:solidFill>
                <a:latin typeface="CiscoSansTT"/>
                <a:ea typeface="CiscoSansTT"/>
                <a:cs typeface="CiscoSansTT"/>
              </a:defRPr>
            </a:pPr>
            <a:r>
              <a:rPr sz="1500" b="0" u="sng">
                <a:solidFill>
                  <a:srgbClr val="0860FE"/>
                </a:solidFill>
                <a:latin typeface="CiscoSansTT"/>
                <a:ea typeface="CiscoSansTT"/>
                <a:cs typeface="CiscoSansTT"/>
                <a:hlinkClick r:id="rId5"/>
              </a:rPr>
              <a:t>OBI on GitHub</a:t>
            </a:r>
          </a:p>
        </p:txBody>
      </p:sp>
    </p:spTree>
    <p:extLst>
      <p:ext uri="{BB962C8B-B14F-4D97-AF65-F5344CB8AC3E}">
        <p14:creationId xmlns:p14="http://schemas.microsoft.com/office/powerpoint/2010/main" val="65446708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7FACB85-A5FC-4526-9914-22C8BFC41749}"/>
              </a:ext>
            </a:extLst>
          </p:cNvPr>
          <p:cNvSpPr>
            <a:spLocks xmlns:a="http://schemas.openxmlformats.org/drawingml/2006/main" noGrp="1"/>
          </p:cNvSpPr>
          <p:nvPr/>
        </p:nvSpPr>
        <p:spPr>
          <a:xfrm xmlns:a="http://schemas.openxmlformats.org/drawingml/2006/main">
            <a:off x="323850" y="2286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3150" b="0">
                <a:solidFill>
                  <a:srgbClr val="07182A"/>
                </a:solidFill>
                <a:latin typeface="CiscoSansTT"/>
                <a:ea typeface="CiscoSansTT"/>
                <a:cs typeface="CiscoSansTT"/>
              </a:defRPr>
            </a:defPPr>
            <a:lvl1pPr algn="l">
              <a:buNone/>
              <a:defRPr sz="3150" b="0">
                <a:solidFill>
                  <a:srgbClr val="07182A"/>
                </a:solidFill>
                <a:latin typeface="CiscoSansTT"/>
                <a:ea typeface="CiscoSansTT"/>
                <a:cs typeface="CiscoSansTT"/>
              </a:defRPr>
            </a:lvl1pPr>
            <a:lvl2pPr algn="l">
              <a:buNone/>
              <a:defRPr sz="3150" b="0">
                <a:solidFill>
                  <a:srgbClr val="07182A"/>
                </a:solidFill>
                <a:latin typeface="CiscoSansTT"/>
                <a:ea typeface="CiscoSansTT"/>
                <a:cs typeface="CiscoSansTT"/>
              </a:defRPr>
            </a:lvl2pPr>
            <a:lvl3pPr algn="l">
              <a:buNone/>
              <a:defRPr sz="3150" b="0">
                <a:solidFill>
                  <a:srgbClr val="07182A"/>
                </a:solidFill>
                <a:latin typeface="CiscoSansTT"/>
                <a:ea typeface="CiscoSansTT"/>
                <a:cs typeface="CiscoSansTT"/>
              </a:defRPr>
            </a:lvl3pPr>
            <a:lvl4pPr algn="l">
              <a:buNone/>
              <a:defRPr sz="3150" b="0">
                <a:solidFill>
                  <a:srgbClr val="07182A"/>
                </a:solidFill>
                <a:latin typeface="CiscoSansTT"/>
                <a:ea typeface="CiscoSansTT"/>
                <a:cs typeface="CiscoSansTT"/>
              </a:defRPr>
            </a:lvl4pPr>
            <a:lvl5pPr algn="l">
              <a:buNone/>
              <a:defRPr sz="3150" b="0">
                <a:solidFill>
                  <a:srgbClr val="07182A"/>
                </a:solidFill>
                <a:latin typeface="CiscoSansTT"/>
                <a:ea typeface="CiscoSansTT"/>
                <a:cs typeface="CiscoSansTT"/>
              </a:defRPr>
            </a:lvl5pPr>
            <a:lvl6pPr algn="l">
              <a:buNone/>
              <a:defRPr sz="3150" b="0">
                <a:solidFill>
                  <a:srgbClr val="07182A"/>
                </a:solidFill>
                <a:latin typeface="CiscoSansTT"/>
                <a:ea typeface="CiscoSansTT"/>
                <a:cs typeface="CiscoSansTT"/>
              </a:defRPr>
            </a:lvl6pPr>
            <a:lvl7pPr algn="l">
              <a:buNone/>
              <a:defRPr sz="3150" b="0">
                <a:solidFill>
                  <a:srgbClr val="07182A"/>
                </a:solidFill>
                <a:latin typeface="CiscoSansTT"/>
                <a:ea typeface="CiscoSansTT"/>
                <a:cs typeface="CiscoSansTT"/>
              </a:defRPr>
            </a:lvl7pPr>
            <a:lvl8pPr algn="l">
              <a:buNone/>
              <a:defRPr sz="3150" b="0">
                <a:solidFill>
                  <a:srgbClr val="07182A"/>
                </a:solidFill>
                <a:latin typeface="CiscoSansTT"/>
                <a:ea typeface="CiscoSansTT"/>
                <a:cs typeface="CiscoSansTT"/>
              </a:defRPr>
            </a:lvl8pPr>
            <a:lvl9pPr algn="l">
              <a:buNone/>
              <a:defRPr sz="3150" b="0">
                <a:solidFill>
                  <a:srgbClr val="07182A"/>
                </a:solidFill>
                <a:latin typeface="CiscoSansTT"/>
                <a:ea typeface="CiscoSansTT"/>
                <a:cs typeface="CiscoSansTT"/>
              </a:defRPr>
            </a:lvl9pPr>
          </a:lstStyle>
          <a:p xmlns:a="http://schemas.openxmlformats.org/drawingml/2006/main">
            <a:pPr algn="l">
              <a:buNone/>
              <a:defRPr sz="3150" b="0">
                <a:solidFill>
                  <a:srgbClr val="07182A"/>
                </a:solidFill>
                <a:latin typeface="CiscoSansTT"/>
                <a:ea typeface="CiscoSansTT"/>
                <a:cs typeface="CiscoSansTT"/>
              </a:defRPr>
            </a:pPr>
            <a:r>
              <a:rPr sz="3150" b="0">
                <a:solidFill>
                  <a:srgbClr val="07182A"/>
                </a:solidFill>
                <a:latin typeface="CiscoSansTT"/>
                <a:ea typeface="CiscoSansTT"/>
                <a:cs typeface="CiscoSansTT"/>
              </a:rPr>
              <a:t>OBI 1.0: what stability means</a:t>
            </a:r>
          </a:p>
        </p:txBody>
      </p:sp>
      <p:sp>
        <p:nvSpPr>
          <p:cNvPr id="14" name="Rectangle 13">
            <a:extLst xmlns:a="http://schemas.openxmlformats.org/drawingml/2006/main">
              <a:ext uri="{FF2B5EF4-FFF2-40B4-BE49-F238E27FC236}">
                <a16:creationId xmlns:a16="http://schemas.microsoft.com/office/drawing/2014/main" id="{EBB07FB0-36F4-48B1-8714-832800EE3B62}"/>
              </a:ext>
            </a:extLst>
          </p:cNvPr>
          <p:cNvSpPr>
            <a:spLocks xmlns:a="http://schemas.openxmlformats.org/drawingml/2006/main" noGrp="1"/>
          </p:cNvSpPr>
          <p:nvPr/>
        </p:nvSpPr>
        <p:spPr>
          <a:xfrm xmlns:a="http://schemas.openxmlformats.org/drawingml/2006/main">
            <a:off x="11144250" y="6629400"/>
            <a:ext cx="1047750" cy="2286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D612FC7A-1A2B-4638-9E69-C1CD77A5A173}"/>
              </a:ext>
            </a:extLst>
          </p:cNvPr>
          <p:cNvSpPr>
            <a:spLocks xmlns:a="http://schemas.openxmlformats.org/drawingml/2006/main" noGrp="1"/>
          </p:cNvSpPr>
          <p:nvPr/>
        </p:nvSpPr>
        <p:spPr>
          <a:xfrm xmlns:a="http://schemas.openxmlformats.org/drawingml/2006/main">
            <a:off x="11144250" y="6696075"/>
            <a:ext cx="1009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600">
                <a:solidFill>
                  <a:srgbClr val="686B6B"/>
                </a:solidFill>
                <a:latin typeface="CiscoSansTT"/>
                <a:ea typeface="CiscoSansTT"/>
                <a:cs typeface="CiscoSansTT"/>
              </a:defRPr>
            </a:pPr>
            <a:r>
              <a:rPr sz="600">
                <a:solidFill>
                  <a:srgbClr val="686B6B"/>
                </a:solidFill>
                <a:latin typeface="CiscoSansTT"/>
                <a:ea typeface="CiscoSansTT"/>
                <a:cs typeface="CiscoSansTT"/>
              </a:rPr>
              <a:t>Cisco Confidential</a:t>
            </a:r>
          </a:p>
        </p:txBody>
      </p:sp>
      <p:sp>
        <p:nvSpPr>
          <p:cNvPr id="16" name="v1-version">
            <a:extLst xmlns:a="http://schemas.openxmlformats.org/drawingml/2006/main">
              <a:ext uri="{FF2B5EF4-FFF2-40B4-BE49-F238E27FC236}">
                <a16:creationId xmlns:a16="http://schemas.microsoft.com/office/drawing/2014/main" id="{149AE208-14D3-4A64-AD9E-177668CC8A98}"/>
              </a:ext>
            </a:extLst>
          </p:cNvPr>
          <p:cNvSpPr>
            <a:spLocks xmlns:a="http://schemas.openxmlformats.org/drawingml/2006/main" noGrp="1"/>
          </p:cNvSpPr>
          <p:nvPr/>
        </p:nvSpPr>
        <p:spPr>
          <a:xfrm xmlns:a="http://schemas.openxmlformats.org/drawingml/2006/main">
            <a:off x="666750" y="1714500"/>
            <a:ext cx="304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6225" b="1">
                <a:solidFill>
                  <a:srgbClr val="FF007F"/>
                </a:solidFill>
                <a:latin typeface="CiscoSansTT Medium"/>
                <a:ea typeface="CiscoSansTT Medium"/>
                <a:cs typeface="CiscoSansTT Medium"/>
              </a:defRPr>
            </a:defPPr>
            <a:lvl1pPr algn="l">
              <a:buNone/>
              <a:defRPr sz="6225" b="1">
                <a:solidFill>
                  <a:srgbClr val="FF007F"/>
                </a:solidFill>
                <a:latin typeface="CiscoSansTT Medium"/>
                <a:ea typeface="CiscoSansTT Medium"/>
                <a:cs typeface="CiscoSansTT Medium"/>
              </a:defRPr>
            </a:lvl1pPr>
            <a:lvl2pPr algn="l">
              <a:buNone/>
              <a:defRPr sz="6225" b="1">
                <a:solidFill>
                  <a:srgbClr val="FF007F"/>
                </a:solidFill>
                <a:latin typeface="CiscoSansTT Medium"/>
                <a:ea typeface="CiscoSansTT Medium"/>
                <a:cs typeface="CiscoSansTT Medium"/>
              </a:defRPr>
            </a:lvl2pPr>
            <a:lvl3pPr algn="l">
              <a:buNone/>
              <a:defRPr sz="6225" b="1">
                <a:solidFill>
                  <a:srgbClr val="FF007F"/>
                </a:solidFill>
                <a:latin typeface="CiscoSansTT Medium"/>
                <a:ea typeface="CiscoSansTT Medium"/>
                <a:cs typeface="CiscoSansTT Medium"/>
              </a:defRPr>
            </a:lvl3pPr>
            <a:lvl4pPr algn="l">
              <a:buNone/>
              <a:defRPr sz="6225" b="1">
                <a:solidFill>
                  <a:srgbClr val="FF007F"/>
                </a:solidFill>
                <a:latin typeface="CiscoSansTT Medium"/>
                <a:ea typeface="CiscoSansTT Medium"/>
                <a:cs typeface="CiscoSansTT Medium"/>
              </a:defRPr>
            </a:lvl4pPr>
            <a:lvl5pPr algn="l">
              <a:buNone/>
              <a:defRPr sz="6225" b="1">
                <a:solidFill>
                  <a:srgbClr val="FF007F"/>
                </a:solidFill>
                <a:latin typeface="CiscoSansTT Medium"/>
                <a:ea typeface="CiscoSansTT Medium"/>
                <a:cs typeface="CiscoSansTT Medium"/>
              </a:defRPr>
            </a:lvl5pPr>
            <a:lvl6pPr algn="l">
              <a:buNone/>
              <a:defRPr sz="6225" b="1">
                <a:solidFill>
                  <a:srgbClr val="FF007F"/>
                </a:solidFill>
                <a:latin typeface="CiscoSansTT Medium"/>
                <a:ea typeface="CiscoSansTT Medium"/>
                <a:cs typeface="CiscoSansTT Medium"/>
              </a:defRPr>
            </a:lvl6pPr>
            <a:lvl7pPr algn="l">
              <a:buNone/>
              <a:defRPr sz="6225" b="1">
                <a:solidFill>
                  <a:srgbClr val="FF007F"/>
                </a:solidFill>
                <a:latin typeface="CiscoSansTT Medium"/>
                <a:ea typeface="CiscoSansTT Medium"/>
                <a:cs typeface="CiscoSansTT Medium"/>
              </a:defRPr>
            </a:lvl7pPr>
            <a:lvl8pPr algn="l">
              <a:buNone/>
              <a:defRPr sz="6225" b="1">
                <a:solidFill>
                  <a:srgbClr val="FF007F"/>
                </a:solidFill>
                <a:latin typeface="CiscoSansTT Medium"/>
                <a:ea typeface="CiscoSansTT Medium"/>
                <a:cs typeface="CiscoSansTT Medium"/>
              </a:defRPr>
            </a:lvl8pPr>
            <a:lvl9pPr algn="l">
              <a:buNone/>
              <a:defRPr sz="6225" b="1">
                <a:solidFill>
                  <a:srgbClr val="FF007F"/>
                </a:solidFill>
                <a:latin typeface="CiscoSansTT Medium"/>
                <a:ea typeface="CiscoSansTT Medium"/>
                <a:cs typeface="CiscoSansTT Medium"/>
              </a:defRPr>
            </a:lvl9pPr>
          </a:lstStyle>
          <a:p xmlns:a="http://schemas.openxmlformats.org/drawingml/2006/main">
            <a:pPr algn="l">
              <a:buNone/>
              <a:defRPr sz="6225" b="1">
                <a:solidFill>
                  <a:srgbClr val="FF007F"/>
                </a:solidFill>
                <a:latin typeface="CiscoSansTT Medium"/>
                <a:ea typeface="CiscoSansTT Medium"/>
                <a:cs typeface="CiscoSansTT Medium"/>
              </a:defRPr>
            </a:pPr>
            <a:r>
              <a:rPr sz="6225" b="1">
                <a:solidFill>
                  <a:srgbClr val="FF007F"/>
                </a:solidFill>
                <a:latin typeface="CiscoSansTT Medium"/>
                <a:ea typeface="CiscoSansTT Medium"/>
                <a:cs typeface="CiscoSansTT Medium"/>
              </a:rPr>
              <a:t>v1.0.0</a:t>
            </a:r>
          </a:p>
        </p:txBody>
      </p:sp>
      <p:sp>
        <p:nvSpPr>
          <p:cNvPr id="17" name="v1-release-date">
            <a:extLst xmlns:a="http://schemas.openxmlformats.org/drawingml/2006/main">
              <a:ext uri="{FF2B5EF4-FFF2-40B4-BE49-F238E27FC236}">
                <a16:creationId xmlns:a16="http://schemas.microsoft.com/office/drawing/2014/main" id="{9AD02DA1-884E-446D-904D-902D0918DC0E}"/>
              </a:ext>
            </a:extLst>
          </p:cNvPr>
          <p:cNvSpPr>
            <a:spLocks xmlns:a="http://schemas.openxmlformats.org/drawingml/2006/main" noGrp="1"/>
          </p:cNvSpPr>
          <p:nvPr/>
        </p:nvSpPr>
        <p:spPr>
          <a:xfrm xmlns:a="http://schemas.openxmlformats.org/drawingml/2006/main">
            <a:off x="666750" y="29718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86B6B"/>
                </a:solidFill>
                <a:latin typeface="CiscoSansTT"/>
                <a:ea typeface="CiscoSansTT"/>
                <a:cs typeface="CiscoSansTT"/>
              </a:defRPr>
            </a:defPPr>
            <a:lvl1pPr algn="l">
              <a:buNone/>
              <a:defRPr sz="1875" b="0">
                <a:solidFill>
                  <a:srgbClr val="686B6B"/>
                </a:solidFill>
                <a:latin typeface="CiscoSansTT"/>
                <a:ea typeface="CiscoSansTT"/>
                <a:cs typeface="CiscoSansTT"/>
              </a:defRPr>
            </a:lvl1pPr>
            <a:lvl2pPr algn="l">
              <a:buNone/>
              <a:defRPr sz="1875" b="0">
                <a:solidFill>
                  <a:srgbClr val="686B6B"/>
                </a:solidFill>
                <a:latin typeface="CiscoSansTT"/>
                <a:ea typeface="CiscoSansTT"/>
                <a:cs typeface="CiscoSansTT"/>
              </a:defRPr>
            </a:lvl2pPr>
            <a:lvl3pPr algn="l">
              <a:buNone/>
              <a:defRPr sz="1875" b="0">
                <a:solidFill>
                  <a:srgbClr val="686B6B"/>
                </a:solidFill>
                <a:latin typeface="CiscoSansTT"/>
                <a:ea typeface="CiscoSansTT"/>
                <a:cs typeface="CiscoSansTT"/>
              </a:defRPr>
            </a:lvl3pPr>
            <a:lvl4pPr algn="l">
              <a:buNone/>
              <a:defRPr sz="1875" b="0">
                <a:solidFill>
                  <a:srgbClr val="686B6B"/>
                </a:solidFill>
                <a:latin typeface="CiscoSansTT"/>
                <a:ea typeface="CiscoSansTT"/>
                <a:cs typeface="CiscoSansTT"/>
              </a:defRPr>
            </a:lvl4pPr>
            <a:lvl5pPr algn="l">
              <a:buNone/>
              <a:defRPr sz="1875" b="0">
                <a:solidFill>
                  <a:srgbClr val="686B6B"/>
                </a:solidFill>
                <a:latin typeface="CiscoSansTT"/>
                <a:ea typeface="CiscoSansTT"/>
                <a:cs typeface="CiscoSansTT"/>
              </a:defRPr>
            </a:lvl5pPr>
            <a:lvl6pPr algn="l">
              <a:buNone/>
              <a:defRPr sz="1875" b="0">
                <a:solidFill>
                  <a:srgbClr val="686B6B"/>
                </a:solidFill>
                <a:latin typeface="CiscoSansTT"/>
                <a:ea typeface="CiscoSansTT"/>
                <a:cs typeface="CiscoSansTT"/>
              </a:defRPr>
            </a:lvl6pPr>
            <a:lvl7pPr algn="l">
              <a:buNone/>
              <a:defRPr sz="1875" b="0">
                <a:solidFill>
                  <a:srgbClr val="686B6B"/>
                </a:solidFill>
                <a:latin typeface="CiscoSansTT"/>
                <a:ea typeface="CiscoSansTT"/>
                <a:cs typeface="CiscoSansTT"/>
              </a:defRPr>
            </a:lvl7pPr>
            <a:lvl8pPr algn="l">
              <a:buNone/>
              <a:defRPr sz="1875" b="0">
                <a:solidFill>
                  <a:srgbClr val="686B6B"/>
                </a:solidFill>
                <a:latin typeface="CiscoSansTT"/>
                <a:ea typeface="CiscoSansTT"/>
                <a:cs typeface="CiscoSansTT"/>
              </a:defRPr>
            </a:lvl8pPr>
            <a:lvl9pPr algn="l">
              <a:buNone/>
              <a:defRPr sz="1875" b="0">
                <a:solidFill>
                  <a:srgbClr val="686B6B"/>
                </a:solidFill>
                <a:latin typeface="CiscoSansTT"/>
                <a:ea typeface="CiscoSansTT"/>
                <a:cs typeface="CiscoSansTT"/>
              </a:defRPr>
            </a:lvl9pPr>
          </a:lstStyle>
          <a:p xmlns:a="http://schemas.openxmlformats.org/drawingml/2006/main">
            <a:pPr algn="l">
              <a:buNone/>
              <a:defRPr sz="1875" b="0">
                <a:solidFill>
                  <a:srgbClr val="686B6B"/>
                </a:solidFill>
                <a:latin typeface="CiscoSansTT"/>
                <a:ea typeface="CiscoSansTT"/>
                <a:cs typeface="CiscoSansTT"/>
              </a:defRPr>
            </a:pPr>
            <a:r>
              <a:rPr sz="1875" b="0">
                <a:solidFill>
                  <a:srgbClr val="686B6B"/>
                </a:solidFill>
                <a:latin typeface="CiscoSansTT"/>
                <a:ea typeface="CiscoSansTT"/>
                <a:cs typeface="CiscoSansTT"/>
              </a:rPr>
              <a:t>Released 30 October 2026</a:t>
            </a:r>
          </a:p>
        </p:txBody>
      </p:sp>
      <p:sp>
        <p:nvSpPr>
          <p:cNvPr id="19" name="v1-heading-0">
            <a:extLst xmlns:a="http://schemas.openxmlformats.org/drawingml/2006/main">
              <a:ext uri="{FF2B5EF4-FFF2-40B4-BE49-F238E27FC236}">
                <a16:creationId xmlns:a16="http://schemas.microsoft.com/office/drawing/2014/main" id="{F33B7C4D-006C-434A-A8A1-3F9FBA654F75}"/>
              </a:ext>
            </a:extLst>
          </p:cNvPr>
          <p:cNvSpPr>
            <a:spLocks xmlns:a="http://schemas.openxmlformats.org/drawingml/2006/main" noGrp="1"/>
          </p:cNvSpPr>
          <p:nvPr/>
        </p:nvSpPr>
        <p:spPr>
          <a:xfrm xmlns:a="http://schemas.openxmlformats.org/drawingml/2006/main">
            <a:off x="4476750" y="1571625"/>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0860FE"/>
                </a:solidFill>
                <a:latin typeface="CiscoSansTT Medium"/>
                <a:ea typeface="CiscoSansTT Medium"/>
                <a:cs typeface="CiscoSansTT Medium"/>
              </a:defRPr>
            </a:defPPr>
            <a:lvl1pPr algn="l">
              <a:buNone/>
              <a:defRPr sz="2175" b="1">
                <a:solidFill>
                  <a:srgbClr val="0860FE"/>
                </a:solidFill>
                <a:latin typeface="CiscoSansTT Medium"/>
                <a:ea typeface="CiscoSansTT Medium"/>
                <a:cs typeface="CiscoSansTT Medium"/>
              </a:defRPr>
            </a:lvl1pPr>
            <a:lvl2pPr algn="l">
              <a:buNone/>
              <a:defRPr sz="2175" b="1">
                <a:solidFill>
                  <a:srgbClr val="0860FE"/>
                </a:solidFill>
                <a:latin typeface="CiscoSansTT Medium"/>
                <a:ea typeface="CiscoSansTT Medium"/>
                <a:cs typeface="CiscoSansTT Medium"/>
              </a:defRPr>
            </a:lvl2pPr>
            <a:lvl3pPr algn="l">
              <a:buNone/>
              <a:defRPr sz="2175" b="1">
                <a:solidFill>
                  <a:srgbClr val="0860FE"/>
                </a:solidFill>
                <a:latin typeface="CiscoSansTT Medium"/>
                <a:ea typeface="CiscoSansTT Medium"/>
                <a:cs typeface="CiscoSansTT Medium"/>
              </a:defRPr>
            </a:lvl3pPr>
            <a:lvl4pPr algn="l">
              <a:buNone/>
              <a:defRPr sz="2175" b="1">
                <a:solidFill>
                  <a:srgbClr val="0860FE"/>
                </a:solidFill>
                <a:latin typeface="CiscoSansTT Medium"/>
                <a:ea typeface="CiscoSansTT Medium"/>
                <a:cs typeface="CiscoSansTT Medium"/>
              </a:defRPr>
            </a:lvl4pPr>
            <a:lvl5pPr algn="l">
              <a:buNone/>
              <a:defRPr sz="2175" b="1">
                <a:solidFill>
                  <a:srgbClr val="0860FE"/>
                </a:solidFill>
                <a:latin typeface="CiscoSansTT Medium"/>
                <a:ea typeface="CiscoSansTT Medium"/>
                <a:cs typeface="CiscoSansTT Medium"/>
              </a:defRPr>
            </a:lvl5pPr>
            <a:lvl6pPr algn="l">
              <a:buNone/>
              <a:defRPr sz="2175" b="1">
                <a:solidFill>
                  <a:srgbClr val="0860FE"/>
                </a:solidFill>
                <a:latin typeface="CiscoSansTT Medium"/>
                <a:ea typeface="CiscoSansTT Medium"/>
                <a:cs typeface="CiscoSansTT Medium"/>
              </a:defRPr>
            </a:lvl6pPr>
            <a:lvl7pPr algn="l">
              <a:buNone/>
              <a:defRPr sz="2175" b="1">
                <a:solidFill>
                  <a:srgbClr val="0860FE"/>
                </a:solidFill>
                <a:latin typeface="CiscoSansTT Medium"/>
                <a:ea typeface="CiscoSansTT Medium"/>
                <a:cs typeface="CiscoSansTT Medium"/>
              </a:defRPr>
            </a:lvl7pPr>
            <a:lvl8pPr algn="l">
              <a:buNone/>
              <a:defRPr sz="2175" b="1">
                <a:solidFill>
                  <a:srgbClr val="0860FE"/>
                </a:solidFill>
                <a:latin typeface="CiscoSansTT Medium"/>
                <a:ea typeface="CiscoSansTT Medium"/>
                <a:cs typeface="CiscoSansTT Medium"/>
              </a:defRPr>
            </a:lvl8pPr>
            <a:lvl9pPr algn="l">
              <a:buNone/>
              <a:defRPr sz="2175" b="1">
                <a:solidFill>
                  <a:srgbClr val="0860FE"/>
                </a:solidFill>
                <a:latin typeface="CiscoSansTT Medium"/>
                <a:ea typeface="CiscoSansTT Medium"/>
                <a:cs typeface="CiscoSansTT Medium"/>
              </a:defRPr>
            </a:lvl9pPr>
          </a:lstStyle>
          <a:p xmlns:a="http://schemas.openxmlformats.org/drawingml/2006/main">
            <a:pPr algn="l">
              <a:buNone/>
              <a:defRPr sz="2175" b="1">
                <a:solidFill>
                  <a:srgbClr val="0860FE"/>
                </a:solidFill>
                <a:latin typeface="CiscoSansTT Medium"/>
                <a:ea typeface="CiscoSansTT Medium"/>
                <a:cs typeface="CiscoSansTT Medium"/>
              </a:defRPr>
            </a:pPr>
            <a:r>
              <a:rPr sz="2175" b="1">
                <a:solidFill>
                  <a:srgbClr val="0860FE"/>
                </a:solidFill>
                <a:latin typeface="CiscoSansTT Medium"/>
                <a:ea typeface="CiscoSansTT Medium"/>
                <a:cs typeface="CiscoSansTT Medium"/>
              </a:rPr>
              <a:t>Configuration and deployment</a:t>
            </a:r>
          </a:p>
        </p:txBody>
      </p:sp>
      <p:sp>
        <p:nvSpPr>
          <p:cNvPr id="20" name="v1-body-0">
            <a:extLst xmlns:a="http://schemas.openxmlformats.org/drawingml/2006/main">
              <a:ext uri="{FF2B5EF4-FFF2-40B4-BE49-F238E27FC236}">
                <a16:creationId xmlns:a16="http://schemas.microsoft.com/office/drawing/2014/main" id="{00AD366D-89FF-4361-B211-8713C1C396DD}"/>
              </a:ext>
            </a:extLst>
          </p:cNvPr>
          <p:cNvSpPr>
            <a:spLocks xmlns:a="http://schemas.openxmlformats.org/drawingml/2006/main" noGrp="1"/>
          </p:cNvSpPr>
          <p:nvPr/>
        </p:nvSpPr>
        <p:spPr>
          <a:xfrm xmlns:a="http://schemas.openxmlformats.org/drawingml/2006/main">
            <a:off x="4476750" y="2028825"/>
            <a:ext cx="695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07182A"/>
                </a:solidFill>
                <a:latin typeface="CiscoSansTT"/>
                <a:ea typeface="CiscoSansTT"/>
                <a:cs typeface="CiscoSansTT"/>
              </a:defRPr>
            </a:defPPr>
            <a:lvl1pPr algn="l">
              <a:buNone/>
              <a:defRPr sz="2025" b="0">
                <a:solidFill>
                  <a:srgbClr val="07182A"/>
                </a:solidFill>
                <a:latin typeface="CiscoSansTT"/>
                <a:ea typeface="CiscoSansTT"/>
                <a:cs typeface="CiscoSansTT"/>
              </a:defRPr>
            </a:lvl1pPr>
            <a:lvl2pPr algn="l">
              <a:buNone/>
              <a:defRPr sz="2025" b="0">
                <a:solidFill>
                  <a:srgbClr val="07182A"/>
                </a:solidFill>
                <a:latin typeface="CiscoSansTT"/>
                <a:ea typeface="CiscoSansTT"/>
                <a:cs typeface="CiscoSansTT"/>
              </a:defRPr>
            </a:lvl2pPr>
            <a:lvl3pPr algn="l">
              <a:buNone/>
              <a:defRPr sz="2025" b="0">
                <a:solidFill>
                  <a:srgbClr val="07182A"/>
                </a:solidFill>
                <a:latin typeface="CiscoSansTT"/>
                <a:ea typeface="CiscoSansTT"/>
                <a:cs typeface="CiscoSansTT"/>
              </a:defRPr>
            </a:lvl3pPr>
            <a:lvl4pPr algn="l">
              <a:buNone/>
              <a:defRPr sz="2025" b="0">
                <a:solidFill>
                  <a:srgbClr val="07182A"/>
                </a:solidFill>
                <a:latin typeface="CiscoSansTT"/>
                <a:ea typeface="CiscoSansTT"/>
                <a:cs typeface="CiscoSansTT"/>
              </a:defRPr>
            </a:lvl4pPr>
            <a:lvl5pPr algn="l">
              <a:buNone/>
              <a:defRPr sz="2025" b="0">
                <a:solidFill>
                  <a:srgbClr val="07182A"/>
                </a:solidFill>
                <a:latin typeface="CiscoSansTT"/>
                <a:ea typeface="CiscoSansTT"/>
                <a:cs typeface="CiscoSansTT"/>
              </a:defRPr>
            </a:lvl5pPr>
            <a:lvl6pPr algn="l">
              <a:buNone/>
              <a:defRPr sz="2025" b="0">
                <a:solidFill>
                  <a:srgbClr val="07182A"/>
                </a:solidFill>
                <a:latin typeface="CiscoSansTT"/>
                <a:ea typeface="CiscoSansTT"/>
                <a:cs typeface="CiscoSansTT"/>
              </a:defRPr>
            </a:lvl6pPr>
            <a:lvl7pPr algn="l">
              <a:buNone/>
              <a:defRPr sz="2025" b="0">
                <a:solidFill>
                  <a:srgbClr val="07182A"/>
                </a:solidFill>
                <a:latin typeface="CiscoSansTT"/>
                <a:ea typeface="CiscoSansTT"/>
                <a:cs typeface="CiscoSansTT"/>
              </a:defRPr>
            </a:lvl7pPr>
            <a:lvl8pPr algn="l">
              <a:buNone/>
              <a:defRPr sz="2025" b="0">
                <a:solidFill>
                  <a:srgbClr val="07182A"/>
                </a:solidFill>
                <a:latin typeface="CiscoSansTT"/>
                <a:ea typeface="CiscoSansTT"/>
                <a:cs typeface="CiscoSansTT"/>
              </a:defRPr>
            </a:lvl8pPr>
            <a:lvl9pPr algn="l">
              <a:buNone/>
              <a:defRPr sz="2025" b="0">
                <a:solidFill>
                  <a:srgbClr val="07182A"/>
                </a:solidFill>
                <a:latin typeface="CiscoSansTT"/>
                <a:ea typeface="CiscoSansTT"/>
                <a:cs typeface="CiscoSansTT"/>
              </a:defRPr>
            </a:lvl9pPr>
          </a:lstStyle>
          <a:p xmlns:a="http://schemas.openxmlformats.org/drawingml/2006/main">
            <a:pPr algn="l">
              <a:buNone/>
              <a:defRPr sz="2025" b="0">
                <a:solidFill>
                  <a:srgbClr val="07182A"/>
                </a:solidFill>
                <a:latin typeface="CiscoSansTT"/>
                <a:ea typeface="CiscoSansTT"/>
                <a:cs typeface="CiscoSansTT"/>
              </a:defRPr>
            </a:pPr>
            <a:r>
              <a:rPr sz="2025" b="0">
                <a:solidFill>
                  <a:srgbClr val="07182A"/>
                </a:solidFill>
                <a:latin typeface="CiscoSansTT"/>
                <a:ea typeface="CiscoSansTT"/>
                <a:cs typeface="CiscoSansTT"/>
              </a:rPr>
              <a:t>Config v2 and documented deployment interfaces have compatibility guarantees.</a:t>
            </a:r>
          </a:p>
        </p:txBody>
      </p:sp>
      <p:sp>
        <p:nvSpPr>
          <p:cNvPr id="21" name="v1-heading-1">
            <a:extLst xmlns:a="http://schemas.openxmlformats.org/drawingml/2006/main">
              <a:ext uri="{FF2B5EF4-FFF2-40B4-BE49-F238E27FC236}">
                <a16:creationId xmlns:a16="http://schemas.microsoft.com/office/drawing/2014/main" id="{76DBADD8-D274-4F75-A297-F92E64BEB288}"/>
              </a:ext>
            </a:extLst>
          </p:cNvPr>
          <p:cNvSpPr>
            <a:spLocks xmlns:a="http://schemas.openxmlformats.org/drawingml/2006/main" noGrp="1"/>
          </p:cNvSpPr>
          <p:nvPr/>
        </p:nvSpPr>
        <p:spPr>
          <a:xfrm xmlns:a="http://schemas.openxmlformats.org/drawingml/2006/main">
            <a:off x="4476750" y="295275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07182A"/>
                </a:solidFill>
                <a:latin typeface="CiscoSansTT Medium"/>
                <a:ea typeface="CiscoSansTT Medium"/>
                <a:cs typeface="CiscoSansTT Medium"/>
              </a:defRPr>
            </a:defPPr>
            <a:lvl1pPr algn="l">
              <a:buNone/>
              <a:defRPr sz="2175" b="1">
                <a:solidFill>
                  <a:srgbClr val="07182A"/>
                </a:solidFill>
                <a:latin typeface="CiscoSansTT Medium"/>
                <a:ea typeface="CiscoSansTT Medium"/>
                <a:cs typeface="CiscoSansTT Medium"/>
              </a:defRPr>
            </a:lvl1pPr>
            <a:lvl2pPr algn="l">
              <a:buNone/>
              <a:defRPr sz="2175" b="1">
                <a:solidFill>
                  <a:srgbClr val="07182A"/>
                </a:solidFill>
                <a:latin typeface="CiscoSansTT Medium"/>
                <a:ea typeface="CiscoSansTT Medium"/>
                <a:cs typeface="CiscoSansTT Medium"/>
              </a:defRPr>
            </a:lvl2pPr>
            <a:lvl3pPr algn="l">
              <a:buNone/>
              <a:defRPr sz="2175" b="1">
                <a:solidFill>
                  <a:srgbClr val="07182A"/>
                </a:solidFill>
                <a:latin typeface="CiscoSansTT Medium"/>
                <a:ea typeface="CiscoSansTT Medium"/>
                <a:cs typeface="CiscoSansTT Medium"/>
              </a:defRPr>
            </a:lvl3pPr>
            <a:lvl4pPr algn="l">
              <a:buNone/>
              <a:defRPr sz="2175" b="1">
                <a:solidFill>
                  <a:srgbClr val="07182A"/>
                </a:solidFill>
                <a:latin typeface="CiscoSansTT Medium"/>
                <a:ea typeface="CiscoSansTT Medium"/>
                <a:cs typeface="CiscoSansTT Medium"/>
              </a:defRPr>
            </a:lvl4pPr>
            <a:lvl5pPr algn="l">
              <a:buNone/>
              <a:defRPr sz="2175" b="1">
                <a:solidFill>
                  <a:srgbClr val="07182A"/>
                </a:solidFill>
                <a:latin typeface="CiscoSansTT Medium"/>
                <a:ea typeface="CiscoSansTT Medium"/>
                <a:cs typeface="CiscoSansTT Medium"/>
              </a:defRPr>
            </a:lvl5pPr>
            <a:lvl6pPr algn="l">
              <a:buNone/>
              <a:defRPr sz="2175" b="1">
                <a:solidFill>
                  <a:srgbClr val="07182A"/>
                </a:solidFill>
                <a:latin typeface="CiscoSansTT Medium"/>
                <a:ea typeface="CiscoSansTT Medium"/>
                <a:cs typeface="CiscoSansTT Medium"/>
              </a:defRPr>
            </a:lvl6pPr>
            <a:lvl7pPr algn="l">
              <a:buNone/>
              <a:defRPr sz="2175" b="1">
                <a:solidFill>
                  <a:srgbClr val="07182A"/>
                </a:solidFill>
                <a:latin typeface="CiscoSansTT Medium"/>
                <a:ea typeface="CiscoSansTT Medium"/>
                <a:cs typeface="CiscoSansTT Medium"/>
              </a:defRPr>
            </a:lvl7pPr>
            <a:lvl8pPr algn="l">
              <a:buNone/>
              <a:defRPr sz="2175" b="1">
                <a:solidFill>
                  <a:srgbClr val="07182A"/>
                </a:solidFill>
                <a:latin typeface="CiscoSansTT Medium"/>
                <a:ea typeface="CiscoSansTT Medium"/>
                <a:cs typeface="CiscoSansTT Medium"/>
              </a:defRPr>
            </a:lvl8pPr>
            <a:lvl9pPr algn="l">
              <a:buNone/>
              <a:defRPr sz="2175" b="1">
                <a:solidFill>
                  <a:srgbClr val="07182A"/>
                </a:solidFill>
                <a:latin typeface="CiscoSansTT Medium"/>
                <a:ea typeface="CiscoSansTT Medium"/>
                <a:cs typeface="CiscoSansTT Medium"/>
              </a:defRPr>
            </a:lvl9pPr>
          </a:lstStyle>
          <a:p xmlns:a="http://schemas.openxmlformats.org/drawingml/2006/main">
            <a:pPr algn="l">
              <a:buNone/>
              <a:defRPr sz="2175" b="1">
                <a:solidFill>
                  <a:srgbClr val="07182A"/>
                </a:solidFill>
                <a:latin typeface="CiscoSansTT Medium"/>
                <a:ea typeface="CiscoSansTT Medium"/>
                <a:cs typeface="CiscoSansTT Medium"/>
              </a:defRPr>
            </a:pPr>
            <a:r>
              <a:rPr sz="2175" b="1">
                <a:solidFill>
                  <a:srgbClr val="07182A"/>
                </a:solidFill>
                <a:latin typeface="CiscoSansTT Medium"/>
                <a:ea typeface="CiscoSansTT Medium"/>
                <a:cs typeface="CiscoSansTT Medium"/>
              </a:rPr>
              <a:t>Stable telemetry</a:t>
            </a:r>
          </a:p>
        </p:txBody>
      </p:sp>
      <p:sp>
        <p:nvSpPr>
          <p:cNvPr id="22" name="v1-body-1">
            <a:extLst xmlns:a="http://schemas.openxmlformats.org/drawingml/2006/main">
              <a:ext uri="{FF2B5EF4-FFF2-40B4-BE49-F238E27FC236}">
                <a16:creationId xmlns:a16="http://schemas.microsoft.com/office/drawing/2014/main" id="{C40E1A3F-72A5-456E-A23C-CA8AA184DFA3}"/>
              </a:ext>
            </a:extLst>
          </p:cNvPr>
          <p:cNvSpPr>
            <a:spLocks xmlns:a="http://schemas.openxmlformats.org/drawingml/2006/main" noGrp="1"/>
          </p:cNvSpPr>
          <p:nvPr/>
        </p:nvSpPr>
        <p:spPr>
          <a:xfrm xmlns:a="http://schemas.openxmlformats.org/drawingml/2006/main">
            <a:off x="4476750" y="3409950"/>
            <a:ext cx="695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07182A"/>
                </a:solidFill>
                <a:latin typeface="CiscoSansTT"/>
                <a:ea typeface="CiscoSansTT"/>
                <a:cs typeface="CiscoSansTT"/>
              </a:defRPr>
            </a:defPPr>
            <a:lvl1pPr algn="l">
              <a:buNone/>
              <a:defRPr sz="2025" b="0">
                <a:solidFill>
                  <a:srgbClr val="07182A"/>
                </a:solidFill>
                <a:latin typeface="CiscoSansTT"/>
                <a:ea typeface="CiscoSansTT"/>
                <a:cs typeface="CiscoSansTT"/>
              </a:defRPr>
            </a:lvl1pPr>
            <a:lvl2pPr algn="l">
              <a:buNone/>
              <a:defRPr sz="2025" b="0">
                <a:solidFill>
                  <a:srgbClr val="07182A"/>
                </a:solidFill>
                <a:latin typeface="CiscoSansTT"/>
                <a:ea typeface="CiscoSansTT"/>
                <a:cs typeface="CiscoSansTT"/>
              </a:defRPr>
            </a:lvl2pPr>
            <a:lvl3pPr algn="l">
              <a:buNone/>
              <a:defRPr sz="2025" b="0">
                <a:solidFill>
                  <a:srgbClr val="07182A"/>
                </a:solidFill>
                <a:latin typeface="CiscoSansTT"/>
                <a:ea typeface="CiscoSansTT"/>
                <a:cs typeface="CiscoSansTT"/>
              </a:defRPr>
            </a:lvl3pPr>
            <a:lvl4pPr algn="l">
              <a:buNone/>
              <a:defRPr sz="2025" b="0">
                <a:solidFill>
                  <a:srgbClr val="07182A"/>
                </a:solidFill>
                <a:latin typeface="CiscoSansTT"/>
                <a:ea typeface="CiscoSansTT"/>
                <a:cs typeface="CiscoSansTT"/>
              </a:defRPr>
            </a:lvl4pPr>
            <a:lvl5pPr algn="l">
              <a:buNone/>
              <a:defRPr sz="2025" b="0">
                <a:solidFill>
                  <a:srgbClr val="07182A"/>
                </a:solidFill>
                <a:latin typeface="CiscoSansTT"/>
                <a:ea typeface="CiscoSansTT"/>
                <a:cs typeface="CiscoSansTT"/>
              </a:defRPr>
            </a:lvl5pPr>
            <a:lvl6pPr algn="l">
              <a:buNone/>
              <a:defRPr sz="2025" b="0">
                <a:solidFill>
                  <a:srgbClr val="07182A"/>
                </a:solidFill>
                <a:latin typeface="CiscoSansTT"/>
                <a:ea typeface="CiscoSansTT"/>
                <a:cs typeface="CiscoSansTT"/>
              </a:defRPr>
            </a:lvl6pPr>
            <a:lvl7pPr algn="l">
              <a:buNone/>
              <a:defRPr sz="2025" b="0">
                <a:solidFill>
                  <a:srgbClr val="07182A"/>
                </a:solidFill>
                <a:latin typeface="CiscoSansTT"/>
                <a:ea typeface="CiscoSansTT"/>
                <a:cs typeface="CiscoSansTT"/>
              </a:defRPr>
            </a:lvl7pPr>
            <a:lvl8pPr algn="l">
              <a:buNone/>
              <a:defRPr sz="2025" b="0">
                <a:solidFill>
                  <a:srgbClr val="07182A"/>
                </a:solidFill>
                <a:latin typeface="CiscoSansTT"/>
                <a:ea typeface="CiscoSansTT"/>
                <a:cs typeface="CiscoSansTT"/>
              </a:defRPr>
            </a:lvl8pPr>
            <a:lvl9pPr algn="l">
              <a:buNone/>
              <a:defRPr sz="2025" b="0">
                <a:solidFill>
                  <a:srgbClr val="07182A"/>
                </a:solidFill>
                <a:latin typeface="CiscoSansTT"/>
                <a:ea typeface="CiscoSansTT"/>
                <a:cs typeface="CiscoSansTT"/>
              </a:defRPr>
            </a:lvl9pPr>
          </a:lstStyle>
          <a:p xmlns:a="http://schemas.openxmlformats.org/drawingml/2006/main">
            <a:pPr algn="l">
              <a:buNone/>
              <a:defRPr sz="2025" b="0">
                <a:solidFill>
                  <a:srgbClr val="07182A"/>
                </a:solidFill>
                <a:latin typeface="CiscoSansTT"/>
                <a:ea typeface="CiscoSansTT"/>
                <a:cs typeface="CiscoSansTT"/>
              </a:defRPr>
            </a:pPr>
            <a:r>
              <a:rPr sz="2025" b="0">
                <a:solidFill>
                  <a:srgbClr val="07182A"/>
                </a:solidFill>
                <a:latin typeface="CiscoSansTT"/>
                <a:ea typeface="CiscoSansTT"/>
                <a:cs typeface="CiscoSansTT"/>
              </a:rPr>
              <a:t>Stable signals and attributes have compatibility guarantees for their names and meaning.</a:t>
            </a:r>
          </a:p>
        </p:txBody>
      </p:sp>
      <p:sp>
        <p:nvSpPr>
          <p:cNvPr id="23" name="v1-heading-2">
            <a:extLst xmlns:a="http://schemas.openxmlformats.org/drawingml/2006/main">
              <a:ext uri="{FF2B5EF4-FFF2-40B4-BE49-F238E27FC236}">
                <a16:creationId xmlns:a16="http://schemas.microsoft.com/office/drawing/2014/main" id="{149CC5FE-3A54-4B7C-975A-5088CA54CF24}"/>
              </a:ext>
            </a:extLst>
          </p:cNvPr>
          <p:cNvSpPr>
            <a:spLocks xmlns:a="http://schemas.openxmlformats.org/drawingml/2006/main" noGrp="1"/>
          </p:cNvSpPr>
          <p:nvPr/>
        </p:nvSpPr>
        <p:spPr>
          <a:xfrm xmlns:a="http://schemas.openxmlformats.org/drawingml/2006/main">
            <a:off x="4476750" y="4333875"/>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07182A"/>
                </a:solidFill>
                <a:latin typeface="CiscoSansTT Medium"/>
                <a:ea typeface="CiscoSansTT Medium"/>
                <a:cs typeface="CiscoSansTT Medium"/>
              </a:defRPr>
            </a:defPPr>
            <a:lvl1pPr algn="l">
              <a:buNone/>
              <a:defRPr sz="2175" b="1">
                <a:solidFill>
                  <a:srgbClr val="07182A"/>
                </a:solidFill>
                <a:latin typeface="CiscoSansTT Medium"/>
                <a:ea typeface="CiscoSansTT Medium"/>
                <a:cs typeface="CiscoSansTT Medium"/>
              </a:defRPr>
            </a:lvl1pPr>
            <a:lvl2pPr algn="l">
              <a:buNone/>
              <a:defRPr sz="2175" b="1">
                <a:solidFill>
                  <a:srgbClr val="07182A"/>
                </a:solidFill>
                <a:latin typeface="CiscoSansTT Medium"/>
                <a:ea typeface="CiscoSansTT Medium"/>
                <a:cs typeface="CiscoSansTT Medium"/>
              </a:defRPr>
            </a:lvl2pPr>
            <a:lvl3pPr algn="l">
              <a:buNone/>
              <a:defRPr sz="2175" b="1">
                <a:solidFill>
                  <a:srgbClr val="07182A"/>
                </a:solidFill>
                <a:latin typeface="CiscoSansTT Medium"/>
                <a:ea typeface="CiscoSansTT Medium"/>
                <a:cs typeface="CiscoSansTT Medium"/>
              </a:defRPr>
            </a:lvl3pPr>
            <a:lvl4pPr algn="l">
              <a:buNone/>
              <a:defRPr sz="2175" b="1">
                <a:solidFill>
                  <a:srgbClr val="07182A"/>
                </a:solidFill>
                <a:latin typeface="CiscoSansTT Medium"/>
                <a:ea typeface="CiscoSansTT Medium"/>
                <a:cs typeface="CiscoSansTT Medium"/>
              </a:defRPr>
            </a:lvl4pPr>
            <a:lvl5pPr algn="l">
              <a:buNone/>
              <a:defRPr sz="2175" b="1">
                <a:solidFill>
                  <a:srgbClr val="07182A"/>
                </a:solidFill>
                <a:latin typeface="CiscoSansTT Medium"/>
                <a:ea typeface="CiscoSansTT Medium"/>
                <a:cs typeface="CiscoSansTT Medium"/>
              </a:defRPr>
            </a:lvl5pPr>
            <a:lvl6pPr algn="l">
              <a:buNone/>
              <a:defRPr sz="2175" b="1">
                <a:solidFill>
                  <a:srgbClr val="07182A"/>
                </a:solidFill>
                <a:latin typeface="CiscoSansTT Medium"/>
                <a:ea typeface="CiscoSansTT Medium"/>
                <a:cs typeface="CiscoSansTT Medium"/>
              </a:defRPr>
            </a:lvl6pPr>
            <a:lvl7pPr algn="l">
              <a:buNone/>
              <a:defRPr sz="2175" b="1">
                <a:solidFill>
                  <a:srgbClr val="07182A"/>
                </a:solidFill>
                <a:latin typeface="CiscoSansTT Medium"/>
                <a:ea typeface="CiscoSansTT Medium"/>
                <a:cs typeface="CiscoSansTT Medium"/>
              </a:defRPr>
            </a:lvl7pPr>
            <a:lvl8pPr algn="l">
              <a:buNone/>
              <a:defRPr sz="2175" b="1">
                <a:solidFill>
                  <a:srgbClr val="07182A"/>
                </a:solidFill>
                <a:latin typeface="CiscoSansTT Medium"/>
                <a:ea typeface="CiscoSansTT Medium"/>
                <a:cs typeface="CiscoSansTT Medium"/>
              </a:defRPr>
            </a:lvl8pPr>
            <a:lvl9pPr algn="l">
              <a:buNone/>
              <a:defRPr sz="2175" b="1">
                <a:solidFill>
                  <a:srgbClr val="07182A"/>
                </a:solidFill>
                <a:latin typeface="CiscoSansTT Medium"/>
                <a:ea typeface="CiscoSansTT Medium"/>
                <a:cs typeface="CiscoSansTT Medium"/>
              </a:defRPr>
            </a:lvl9pPr>
          </a:lstStyle>
          <a:p xmlns:a="http://schemas.openxmlformats.org/drawingml/2006/main">
            <a:pPr algn="l">
              <a:buNone/>
              <a:defRPr sz="2175" b="1">
                <a:solidFill>
                  <a:srgbClr val="07182A"/>
                </a:solidFill>
                <a:latin typeface="CiscoSansTT Medium"/>
                <a:ea typeface="CiscoSansTT Medium"/>
                <a:cs typeface="CiscoSansTT Medium"/>
              </a:defRPr>
            </a:pPr>
            <a:r>
              <a:rPr sz="2175" b="1">
                <a:solidFill>
                  <a:srgbClr val="07182A"/>
                </a:solidFill>
                <a:latin typeface="CiscoSansTT Medium"/>
                <a:ea typeface="CiscoSansTT Medium"/>
                <a:cs typeface="CiscoSansTT Medium"/>
              </a:rPr>
              <a:t>Support and feature maturity</a:t>
            </a:r>
          </a:p>
        </p:txBody>
      </p:sp>
      <p:sp>
        <p:nvSpPr>
          <p:cNvPr id="24" name="v1-body-2">
            <a:extLst xmlns:a="http://schemas.openxmlformats.org/drawingml/2006/main">
              <a:ext uri="{FF2B5EF4-FFF2-40B4-BE49-F238E27FC236}">
                <a16:creationId xmlns:a16="http://schemas.microsoft.com/office/drawing/2014/main" id="{3D22343E-BB92-4B3D-BA67-68FDF0840A33}"/>
              </a:ext>
            </a:extLst>
          </p:cNvPr>
          <p:cNvSpPr>
            <a:spLocks xmlns:a="http://schemas.openxmlformats.org/drawingml/2006/main" noGrp="1"/>
          </p:cNvSpPr>
          <p:nvPr/>
        </p:nvSpPr>
        <p:spPr>
          <a:xfrm xmlns:a="http://schemas.openxmlformats.org/drawingml/2006/main">
            <a:off x="4476750" y="4791075"/>
            <a:ext cx="695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07182A"/>
                </a:solidFill>
                <a:latin typeface="CiscoSansTT"/>
                <a:ea typeface="CiscoSansTT"/>
                <a:cs typeface="CiscoSansTT"/>
              </a:defRPr>
            </a:defPPr>
            <a:lvl1pPr algn="l">
              <a:buNone/>
              <a:defRPr sz="2025" b="0">
                <a:solidFill>
                  <a:srgbClr val="07182A"/>
                </a:solidFill>
                <a:latin typeface="CiscoSansTT"/>
                <a:ea typeface="CiscoSansTT"/>
                <a:cs typeface="CiscoSansTT"/>
              </a:defRPr>
            </a:lvl1pPr>
            <a:lvl2pPr algn="l">
              <a:buNone/>
              <a:defRPr sz="2025" b="0">
                <a:solidFill>
                  <a:srgbClr val="07182A"/>
                </a:solidFill>
                <a:latin typeface="CiscoSansTT"/>
                <a:ea typeface="CiscoSansTT"/>
                <a:cs typeface="CiscoSansTT"/>
              </a:defRPr>
            </a:lvl2pPr>
            <a:lvl3pPr algn="l">
              <a:buNone/>
              <a:defRPr sz="2025" b="0">
                <a:solidFill>
                  <a:srgbClr val="07182A"/>
                </a:solidFill>
                <a:latin typeface="CiscoSansTT"/>
                <a:ea typeface="CiscoSansTT"/>
                <a:cs typeface="CiscoSansTT"/>
              </a:defRPr>
            </a:lvl3pPr>
            <a:lvl4pPr algn="l">
              <a:buNone/>
              <a:defRPr sz="2025" b="0">
                <a:solidFill>
                  <a:srgbClr val="07182A"/>
                </a:solidFill>
                <a:latin typeface="CiscoSansTT"/>
                <a:ea typeface="CiscoSansTT"/>
                <a:cs typeface="CiscoSansTT"/>
              </a:defRPr>
            </a:lvl4pPr>
            <a:lvl5pPr algn="l">
              <a:buNone/>
              <a:defRPr sz="2025" b="0">
                <a:solidFill>
                  <a:srgbClr val="07182A"/>
                </a:solidFill>
                <a:latin typeface="CiscoSansTT"/>
                <a:ea typeface="CiscoSansTT"/>
                <a:cs typeface="CiscoSansTT"/>
              </a:defRPr>
            </a:lvl5pPr>
            <a:lvl6pPr algn="l">
              <a:buNone/>
              <a:defRPr sz="2025" b="0">
                <a:solidFill>
                  <a:srgbClr val="07182A"/>
                </a:solidFill>
                <a:latin typeface="CiscoSansTT"/>
                <a:ea typeface="CiscoSansTT"/>
                <a:cs typeface="CiscoSansTT"/>
              </a:defRPr>
            </a:lvl6pPr>
            <a:lvl7pPr algn="l">
              <a:buNone/>
              <a:defRPr sz="2025" b="0">
                <a:solidFill>
                  <a:srgbClr val="07182A"/>
                </a:solidFill>
                <a:latin typeface="CiscoSansTT"/>
                <a:ea typeface="CiscoSansTT"/>
                <a:cs typeface="CiscoSansTT"/>
              </a:defRPr>
            </a:lvl7pPr>
            <a:lvl8pPr algn="l">
              <a:buNone/>
              <a:defRPr sz="2025" b="0">
                <a:solidFill>
                  <a:srgbClr val="07182A"/>
                </a:solidFill>
                <a:latin typeface="CiscoSansTT"/>
                <a:ea typeface="CiscoSansTT"/>
                <a:cs typeface="CiscoSansTT"/>
              </a:defRPr>
            </a:lvl8pPr>
            <a:lvl9pPr algn="l">
              <a:buNone/>
              <a:defRPr sz="2025" b="0">
                <a:solidFill>
                  <a:srgbClr val="07182A"/>
                </a:solidFill>
                <a:latin typeface="CiscoSansTT"/>
                <a:ea typeface="CiscoSansTT"/>
                <a:cs typeface="CiscoSansTT"/>
              </a:defRPr>
            </a:lvl9pPr>
          </a:lstStyle>
          <a:p xmlns:a="http://schemas.openxmlformats.org/drawingml/2006/main">
            <a:pPr algn="l">
              <a:buNone/>
              <a:defRPr sz="2025" b="0">
                <a:solidFill>
                  <a:srgbClr val="07182A"/>
                </a:solidFill>
                <a:latin typeface="CiscoSansTT"/>
                <a:ea typeface="CiscoSansTT"/>
                <a:cs typeface="CiscoSansTT"/>
              </a:defRPr>
            </a:pPr>
            <a:r>
              <a:rPr sz="2025" b="0">
                <a:solidFill>
                  <a:srgbClr val="07182A"/>
                </a:solidFill>
                <a:latin typeface="CiscoSansTT"/>
                <a:ea typeface="CiscoSansTT"/>
                <a:cs typeface="CiscoSansTT"/>
              </a:rPr>
              <a:t>Coverage depends on the runtime and protocol.</a:t>
            </a:r>
          </a:p>
          <a:p xmlns:a="http://schemas.openxmlformats.org/drawingml/2006/main">
            <a:pPr algn="l">
              <a:buNone/>
              <a:defRPr sz="2025" b="0">
                <a:solidFill>
                  <a:srgbClr val="07182A"/>
                </a:solidFill>
                <a:latin typeface="CiscoSansTT"/>
                <a:ea typeface="CiscoSansTT"/>
                <a:cs typeface="CiscoSansTT"/>
              </a:defRPr>
            </a:pPr>
            <a:r>
              <a:rPr sz="2025" b="0">
                <a:solidFill>
                  <a:srgbClr val="07182A"/>
                </a:solidFill>
                <a:latin typeface="CiscoSansTT"/>
                <a:ea typeface="CiscoSansTT"/>
                <a:cs typeface="CiscoSansTT"/>
              </a:rPr>
              <a:t>Runtime metrics remain experimental.</a:t>
            </a:r>
          </a:p>
        </p:txBody>
      </p:sp>
    </p:spTree>
    <p:extLst>
      <p:ext uri="{BB962C8B-B14F-4D97-AF65-F5344CB8AC3E}">
        <p14:creationId xmlns:p14="http://schemas.microsoft.com/office/powerpoint/2010/main" val="116132073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lide-title">
            <a:extLst>
              <a:ext uri="{FF2B5EF4-FFF2-40B4-BE49-F238E27FC236}">
                <a16:creationId xmlns:a16="http://schemas.microsoft.com/office/drawing/2014/main" id="{F30FCB05-D8E9-4E9A-A589-036B48EA73AC}"/>
              </a:ext>
            </a:extLst>
          </p:cNvPr>
          <p:cNvSpPr>
            <a:spLocks noGrp="1"/>
          </p:cNvSpPr>
          <p:nvPr/>
        </p:nvSpPr>
        <p:spPr>
          <a:xfrm>
            <a:off x="323850" y="228600"/>
            <a:ext cx="11049000" cy="685800"/>
          </a:xfrm>
          <a:prstGeom prst="rect">
            <a:avLst/>
          </a:prstGeom>
          <a:noFill/>
          <a:ln w="0">
            <a:noFill/>
          </a:ln>
        </p:spPr>
        <p:txBody>
          <a:bodyPr anchor="ctr">
            <a:noAutofit/>
          </a:bodyPr>
          <a:lstStyle>
            <a:defPPr algn="l">
              <a:defRPr sz="3150" b="0">
                <a:solidFill>
                  <a:srgbClr val="07182A"/>
                </a:solidFill>
                <a:latin typeface="CiscoSansTT"/>
                <a:ea typeface="CiscoSansTT"/>
                <a:cs typeface="CiscoSansTT"/>
              </a:defRPr>
            </a:defPPr>
            <a:lvl1pPr algn="l">
              <a:buNone/>
              <a:defRPr sz="3150" b="0">
                <a:solidFill>
                  <a:srgbClr val="07182A"/>
                </a:solidFill>
                <a:latin typeface="CiscoSansTT"/>
                <a:ea typeface="CiscoSansTT"/>
                <a:cs typeface="CiscoSansTT"/>
              </a:defRPr>
            </a:lvl1pPr>
            <a:lvl2pPr algn="l">
              <a:buNone/>
              <a:defRPr sz="3150" b="0">
                <a:solidFill>
                  <a:srgbClr val="07182A"/>
                </a:solidFill>
                <a:latin typeface="CiscoSansTT"/>
                <a:ea typeface="CiscoSansTT"/>
                <a:cs typeface="CiscoSansTT"/>
              </a:defRPr>
            </a:lvl2pPr>
            <a:lvl3pPr algn="l">
              <a:buNone/>
              <a:defRPr sz="3150" b="0">
                <a:solidFill>
                  <a:srgbClr val="07182A"/>
                </a:solidFill>
                <a:latin typeface="CiscoSansTT"/>
                <a:ea typeface="CiscoSansTT"/>
                <a:cs typeface="CiscoSansTT"/>
              </a:defRPr>
            </a:lvl3pPr>
            <a:lvl4pPr algn="l">
              <a:buNone/>
              <a:defRPr sz="3150" b="0">
                <a:solidFill>
                  <a:srgbClr val="07182A"/>
                </a:solidFill>
                <a:latin typeface="CiscoSansTT"/>
                <a:ea typeface="CiscoSansTT"/>
                <a:cs typeface="CiscoSansTT"/>
              </a:defRPr>
            </a:lvl4pPr>
            <a:lvl5pPr algn="l">
              <a:buNone/>
              <a:defRPr sz="3150" b="0">
                <a:solidFill>
                  <a:srgbClr val="07182A"/>
                </a:solidFill>
                <a:latin typeface="CiscoSansTT"/>
                <a:ea typeface="CiscoSansTT"/>
                <a:cs typeface="CiscoSansTT"/>
              </a:defRPr>
            </a:lvl5pPr>
            <a:lvl6pPr algn="l">
              <a:buNone/>
              <a:defRPr sz="3150" b="0">
                <a:solidFill>
                  <a:srgbClr val="07182A"/>
                </a:solidFill>
                <a:latin typeface="CiscoSansTT"/>
                <a:ea typeface="CiscoSansTT"/>
                <a:cs typeface="CiscoSansTT"/>
              </a:defRPr>
            </a:lvl6pPr>
            <a:lvl7pPr algn="l">
              <a:buNone/>
              <a:defRPr sz="3150" b="0">
                <a:solidFill>
                  <a:srgbClr val="07182A"/>
                </a:solidFill>
                <a:latin typeface="CiscoSansTT"/>
                <a:ea typeface="CiscoSansTT"/>
                <a:cs typeface="CiscoSansTT"/>
              </a:defRPr>
            </a:lvl7pPr>
            <a:lvl8pPr algn="l">
              <a:buNone/>
              <a:defRPr sz="3150" b="0">
                <a:solidFill>
                  <a:srgbClr val="07182A"/>
                </a:solidFill>
                <a:latin typeface="CiscoSansTT"/>
                <a:ea typeface="CiscoSansTT"/>
                <a:cs typeface="CiscoSansTT"/>
              </a:defRPr>
            </a:lvl8pPr>
            <a:lvl9pPr algn="l">
              <a:buNone/>
              <a:defRPr sz="3150" b="0">
                <a:solidFill>
                  <a:srgbClr val="07182A"/>
                </a:solidFill>
                <a:latin typeface="CiscoSansTT"/>
                <a:ea typeface="CiscoSansTT"/>
                <a:cs typeface="CiscoSansTT"/>
              </a:defRPr>
            </a:lvl9pPr>
          </a:lstStyle>
          <a:p>
            <a:pPr algn="l">
              <a:buNone/>
              <a:defRPr sz="3150" b="0">
                <a:solidFill>
                  <a:srgbClr val="07182A"/>
                </a:solidFill>
                <a:latin typeface="CiscoSansTT"/>
                <a:ea typeface="CiscoSansTT"/>
                <a:cs typeface="CiscoSansTT"/>
              </a:defRPr>
            </a:pPr>
            <a:r>
              <a:rPr sz="3150" b="0">
                <a:solidFill>
                  <a:srgbClr val="07182A"/>
                </a:solidFill>
                <a:latin typeface="CiscoSansTT"/>
                <a:ea typeface="CiscoSansTT"/>
                <a:cs typeface="CiscoSansTT"/>
              </a:rPr>
              <a:t>Trace context connects service spans</a:t>
            </a:r>
          </a:p>
        </p:txBody>
      </p:sp>
      <p:sp>
        <p:nvSpPr>
          <p:cNvPr id="27" name="unlinked-heading">
            <a:extLst>
              <a:ext uri="{FF2B5EF4-FFF2-40B4-BE49-F238E27FC236}">
                <a16:creationId xmlns:a16="http://schemas.microsoft.com/office/drawing/2014/main" id="{BE0074D4-3EF6-4F92-8C5D-F977FE480364}"/>
              </a:ext>
            </a:extLst>
          </p:cNvPr>
          <p:cNvSpPr>
            <a:spLocks noGrp="1"/>
          </p:cNvSpPr>
          <p:nvPr/>
        </p:nvSpPr>
        <p:spPr>
          <a:xfrm>
            <a:off x="666750" y="1171575"/>
            <a:ext cx="10858500" cy="428625"/>
          </a:xfrm>
          <a:prstGeom prst="rect">
            <a:avLst/>
          </a:prstGeom>
          <a:noFill/>
          <a:ln w="0">
            <a:noFill/>
          </a:ln>
        </p:spPr>
        <p:txBody>
          <a:bodyPr anchor="ctr">
            <a:noAutofit/>
          </a:bodyPr>
          <a:lstStyle>
            <a:defPPr algn="l">
              <a:defRPr sz="2100" b="0">
                <a:solidFill>
                  <a:srgbClr val="686B6B"/>
                </a:solidFill>
                <a:latin typeface="CiscoSansTT"/>
                <a:ea typeface="CiscoSansTT"/>
                <a:cs typeface="CiscoSansTT"/>
              </a:defRPr>
            </a:defPPr>
            <a:lvl1pPr algn="l">
              <a:defRPr sz="2100" b="0">
                <a:solidFill>
                  <a:srgbClr val="686B6B"/>
                </a:solidFill>
                <a:latin typeface="CiscoSansTT"/>
                <a:ea typeface="CiscoSansTT"/>
                <a:cs typeface="CiscoSansTT"/>
              </a:defRPr>
            </a:lvl1pPr>
            <a:lvl2pPr algn="l">
              <a:defRPr sz="2100" b="0">
                <a:solidFill>
                  <a:srgbClr val="686B6B"/>
                </a:solidFill>
                <a:latin typeface="CiscoSansTT"/>
                <a:ea typeface="CiscoSansTT"/>
                <a:cs typeface="CiscoSansTT"/>
              </a:defRPr>
            </a:lvl2pPr>
            <a:lvl3pPr algn="l">
              <a:defRPr sz="2100" b="0">
                <a:solidFill>
                  <a:srgbClr val="686B6B"/>
                </a:solidFill>
                <a:latin typeface="CiscoSansTT"/>
                <a:ea typeface="CiscoSansTT"/>
                <a:cs typeface="CiscoSansTT"/>
              </a:defRPr>
            </a:lvl3pPr>
            <a:lvl4pPr algn="l">
              <a:defRPr sz="2100" b="0">
                <a:solidFill>
                  <a:srgbClr val="686B6B"/>
                </a:solidFill>
                <a:latin typeface="CiscoSansTT"/>
                <a:ea typeface="CiscoSansTT"/>
                <a:cs typeface="CiscoSansTT"/>
              </a:defRPr>
            </a:lvl4pPr>
            <a:lvl5pPr algn="l">
              <a:defRPr sz="2100" b="0">
                <a:solidFill>
                  <a:srgbClr val="686B6B"/>
                </a:solidFill>
                <a:latin typeface="CiscoSansTT"/>
                <a:ea typeface="CiscoSansTT"/>
                <a:cs typeface="CiscoSansTT"/>
              </a:defRPr>
            </a:lvl5pPr>
            <a:lvl6pPr algn="l">
              <a:defRPr sz="2100" b="0">
                <a:solidFill>
                  <a:srgbClr val="686B6B"/>
                </a:solidFill>
                <a:latin typeface="CiscoSansTT"/>
                <a:ea typeface="CiscoSansTT"/>
                <a:cs typeface="CiscoSansTT"/>
              </a:defRPr>
            </a:lvl6pPr>
            <a:lvl7pPr algn="l">
              <a:defRPr sz="2100" b="0">
                <a:solidFill>
                  <a:srgbClr val="686B6B"/>
                </a:solidFill>
                <a:latin typeface="CiscoSansTT"/>
                <a:ea typeface="CiscoSansTT"/>
                <a:cs typeface="CiscoSansTT"/>
              </a:defRPr>
            </a:lvl7pPr>
            <a:lvl8pPr algn="l">
              <a:defRPr sz="2100" b="0">
                <a:solidFill>
                  <a:srgbClr val="686B6B"/>
                </a:solidFill>
                <a:latin typeface="CiscoSansTT"/>
                <a:ea typeface="CiscoSansTT"/>
                <a:cs typeface="CiscoSansTT"/>
              </a:defRPr>
            </a:lvl8pPr>
            <a:lvl9pPr algn="l">
              <a:defRPr sz="2100" b="0">
                <a:solidFill>
                  <a:srgbClr val="686B6B"/>
                </a:solidFill>
                <a:latin typeface="CiscoSansTT"/>
                <a:ea typeface="CiscoSansTT"/>
                <a:cs typeface="CiscoSansTT"/>
              </a:defRPr>
            </a:lvl9pPr>
          </a:lstStyle>
          <a:p>
            <a:pPr algn="l">
              <a:defRPr sz="2100" b="0">
                <a:solidFill>
                  <a:srgbClr val="686B6B"/>
                </a:solidFill>
                <a:latin typeface="CiscoSansTT"/>
                <a:ea typeface="CiscoSansTT"/>
                <a:cs typeface="CiscoSansTT"/>
              </a:defRPr>
            </a:pPr>
            <a:r>
              <a:rPr sz="2100" b="0">
                <a:solidFill>
                  <a:srgbClr val="686B6B"/>
                </a:solidFill>
                <a:latin typeface="CiscoSansTT"/>
                <a:ea typeface="CiscoSansTT"/>
                <a:cs typeface="CiscoSansTT"/>
              </a:rPr>
              <a:t>Without shared context</a:t>
            </a:r>
          </a:p>
        </p:txBody>
      </p:sp>
      <p:sp>
        <p:nvSpPr>
          <p:cNvPr id="28" name="separate-trace-frame-0">
            <a:extLst>
              <a:ext uri="{FF2B5EF4-FFF2-40B4-BE49-F238E27FC236}">
                <a16:creationId xmlns:a16="http://schemas.microsoft.com/office/drawing/2014/main" id="{14814128-16E5-4BA3-979D-6CBA73DA5546}"/>
              </a:ext>
            </a:extLst>
          </p:cNvPr>
          <p:cNvSpPr>
            <a:spLocks noGrp="1"/>
          </p:cNvSpPr>
          <p:nvPr/>
        </p:nvSpPr>
        <p:spPr>
          <a:xfrm>
            <a:off x="666750" y="1752600"/>
            <a:ext cx="3143250" cy="1352550"/>
          </a:xfrm>
          <a:prstGeom prst="roundRect">
            <a:avLst>
              <a:gd name="adj" fmla="val 4225"/>
            </a:avLst>
          </a:prstGeom>
          <a:solidFill>
            <a:srgbClr val="FFFFFF"/>
          </a:solidFill>
          <a:ln w="12383">
            <a:solidFill>
              <a:srgbClr val="CFD5DD"/>
            </a:solidFill>
          </a:ln>
        </p:spPr>
        <p:txBody>
          <a:bodyPr/>
          <a:lstStyle/>
          <a:p>
            <a:endParaRPr lang="en-ES"/>
          </a:p>
        </p:txBody>
      </p:sp>
      <p:sp>
        <p:nvSpPr>
          <p:cNvPr id="29" name="separate-trace-id-0">
            <a:extLst>
              <a:ext uri="{FF2B5EF4-FFF2-40B4-BE49-F238E27FC236}">
                <a16:creationId xmlns:a16="http://schemas.microsoft.com/office/drawing/2014/main" id="{78F09825-D99C-45BD-9697-BE159D460FA5}"/>
              </a:ext>
            </a:extLst>
          </p:cNvPr>
          <p:cNvSpPr>
            <a:spLocks noGrp="1"/>
          </p:cNvSpPr>
          <p:nvPr/>
        </p:nvSpPr>
        <p:spPr>
          <a:xfrm>
            <a:off x="819150" y="1866900"/>
            <a:ext cx="2838450" cy="361950"/>
          </a:xfrm>
          <a:prstGeom prst="rect">
            <a:avLst/>
          </a:prstGeom>
          <a:noFill/>
          <a:ln w="0">
            <a:noFill/>
          </a:ln>
        </p:spPr>
        <p:txBody>
          <a:bodyPr anchor="ctr">
            <a:noAutofit/>
          </a:bodyPr>
          <a:lstStyle>
            <a:defPPr algn="ctr">
              <a:defRPr sz="1800" b="0">
                <a:solidFill>
                  <a:srgbClr val="686B6B"/>
                </a:solidFill>
                <a:latin typeface="CiscoSansTT"/>
                <a:ea typeface="CiscoSansTT"/>
                <a:cs typeface="CiscoSansTT"/>
              </a:defRPr>
            </a:defPPr>
            <a:lvl1pPr algn="ctr">
              <a:defRPr sz="1800" b="0">
                <a:solidFill>
                  <a:srgbClr val="686B6B"/>
                </a:solidFill>
                <a:latin typeface="CiscoSansTT"/>
                <a:ea typeface="CiscoSansTT"/>
                <a:cs typeface="CiscoSansTT"/>
              </a:defRPr>
            </a:lvl1pPr>
            <a:lvl2pPr algn="ctr">
              <a:defRPr sz="1800" b="0">
                <a:solidFill>
                  <a:srgbClr val="686B6B"/>
                </a:solidFill>
                <a:latin typeface="CiscoSansTT"/>
                <a:ea typeface="CiscoSansTT"/>
                <a:cs typeface="CiscoSansTT"/>
              </a:defRPr>
            </a:lvl2pPr>
            <a:lvl3pPr algn="ctr">
              <a:defRPr sz="1800" b="0">
                <a:solidFill>
                  <a:srgbClr val="686B6B"/>
                </a:solidFill>
                <a:latin typeface="CiscoSansTT"/>
                <a:ea typeface="CiscoSansTT"/>
                <a:cs typeface="CiscoSansTT"/>
              </a:defRPr>
            </a:lvl3pPr>
            <a:lvl4pPr algn="ctr">
              <a:defRPr sz="1800" b="0">
                <a:solidFill>
                  <a:srgbClr val="686B6B"/>
                </a:solidFill>
                <a:latin typeface="CiscoSansTT"/>
                <a:ea typeface="CiscoSansTT"/>
                <a:cs typeface="CiscoSansTT"/>
              </a:defRPr>
            </a:lvl4pPr>
            <a:lvl5pPr algn="ctr">
              <a:defRPr sz="1800" b="0">
                <a:solidFill>
                  <a:srgbClr val="686B6B"/>
                </a:solidFill>
                <a:latin typeface="CiscoSansTT"/>
                <a:ea typeface="CiscoSansTT"/>
                <a:cs typeface="CiscoSansTT"/>
              </a:defRPr>
            </a:lvl5pPr>
            <a:lvl6pPr algn="ctr">
              <a:defRPr sz="1800" b="0">
                <a:solidFill>
                  <a:srgbClr val="686B6B"/>
                </a:solidFill>
                <a:latin typeface="CiscoSansTT"/>
                <a:ea typeface="CiscoSansTT"/>
                <a:cs typeface="CiscoSansTT"/>
              </a:defRPr>
            </a:lvl6pPr>
            <a:lvl7pPr algn="ctr">
              <a:defRPr sz="1800" b="0">
                <a:solidFill>
                  <a:srgbClr val="686B6B"/>
                </a:solidFill>
                <a:latin typeface="CiscoSansTT"/>
                <a:ea typeface="CiscoSansTT"/>
                <a:cs typeface="CiscoSansTT"/>
              </a:defRPr>
            </a:lvl7pPr>
            <a:lvl8pPr algn="ctr">
              <a:defRPr sz="1800" b="0">
                <a:solidFill>
                  <a:srgbClr val="686B6B"/>
                </a:solidFill>
                <a:latin typeface="CiscoSansTT"/>
                <a:ea typeface="CiscoSansTT"/>
                <a:cs typeface="CiscoSansTT"/>
              </a:defRPr>
            </a:lvl8pPr>
            <a:lvl9pPr algn="ctr">
              <a:defRPr sz="1800" b="0">
                <a:solidFill>
                  <a:srgbClr val="686B6B"/>
                </a:solidFill>
                <a:latin typeface="CiscoSansTT"/>
                <a:ea typeface="CiscoSansTT"/>
                <a:cs typeface="CiscoSansTT"/>
              </a:defRPr>
            </a:lvl9pPr>
          </a:lstStyle>
          <a:p>
            <a:pPr algn="ctr">
              <a:defRPr sz="1800" b="0">
                <a:solidFill>
                  <a:srgbClr val="686B6B"/>
                </a:solidFill>
                <a:latin typeface="CiscoSansTT"/>
                <a:ea typeface="CiscoSansTT"/>
                <a:cs typeface="CiscoSansTT"/>
              </a:defRPr>
            </a:pPr>
            <a:r>
              <a:rPr sz="1800" b="0">
                <a:solidFill>
                  <a:srgbClr val="686B6B"/>
                </a:solidFill>
                <a:latin typeface="CiscoSansTT"/>
                <a:ea typeface="CiscoSansTT"/>
                <a:cs typeface="CiscoSansTT"/>
              </a:rPr>
              <a:t>Trace A</a:t>
            </a:r>
          </a:p>
        </p:txBody>
      </p:sp>
      <p:sp>
        <p:nvSpPr>
          <p:cNvPr id="30" name="separate-span-0">
            <a:extLst>
              <a:ext uri="{FF2B5EF4-FFF2-40B4-BE49-F238E27FC236}">
                <a16:creationId xmlns:a16="http://schemas.microsoft.com/office/drawing/2014/main" id="{37F8CAC3-664A-40A8-BD70-08D886049721}"/>
              </a:ext>
            </a:extLst>
          </p:cNvPr>
          <p:cNvSpPr>
            <a:spLocks noGrp="1"/>
          </p:cNvSpPr>
          <p:nvPr/>
        </p:nvSpPr>
        <p:spPr>
          <a:xfrm>
            <a:off x="809625" y="2381250"/>
            <a:ext cx="2857500" cy="504825"/>
          </a:xfrm>
          <a:prstGeom prst="roundRect">
            <a:avLst>
              <a:gd name="adj" fmla="val 11321"/>
            </a:avLst>
          </a:prstGeom>
          <a:solidFill>
            <a:srgbClr val="E2E7ED"/>
          </a:solidFill>
          <a:ln w="12383">
            <a:solidFill>
              <a:srgbClr val="E2E7ED"/>
            </a:solidFill>
          </a:ln>
        </p:spPr>
        <p:txBody>
          <a:bodyPr/>
          <a:lstStyle/>
          <a:p>
            <a:endParaRPr lang="en-ES"/>
          </a:p>
        </p:txBody>
      </p:sp>
      <p:sp>
        <p:nvSpPr>
          <p:cNvPr id="31" name="separate-service-0">
            <a:extLst>
              <a:ext uri="{FF2B5EF4-FFF2-40B4-BE49-F238E27FC236}">
                <a16:creationId xmlns:a16="http://schemas.microsoft.com/office/drawing/2014/main" id="{59477838-3DE2-4AFD-8EEC-CD550A967917}"/>
              </a:ext>
            </a:extLst>
          </p:cNvPr>
          <p:cNvSpPr>
            <a:spLocks noGrp="1"/>
          </p:cNvSpPr>
          <p:nvPr/>
        </p:nvSpPr>
        <p:spPr>
          <a:xfrm>
            <a:off x="809625" y="2381250"/>
            <a:ext cx="2857500" cy="504825"/>
          </a:xfrm>
          <a:prstGeom prst="rect">
            <a:avLst/>
          </a:prstGeom>
          <a:noFill/>
          <a:ln w="0">
            <a:noFill/>
          </a:ln>
        </p:spPr>
        <p:txBody>
          <a:bodyPr anchor="ctr">
            <a:noAutofit/>
          </a:bodyPr>
          <a:lstStyle>
            <a:defPPr algn="ctr">
              <a:defRPr sz="1725" b="1">
                <a:solidFill>
                  <a:srgbClr val="07182A"/>
                </a:solidFill>
                <a:latin typeface="CiscoSansTT Medium"/>
                <a:ea typeface="CiscoSansTT Medium"/>
                <a:cs typeface="CiscoSansTT Medium"/>
              </a:defRPr>
            </a:defPPr>
            <a:lvl1pPr algn="ctr">
              <a:defRPr sz="1725" b="1">
                <a:solidFill>
                  <a:srgbClr val="07182A"/>
                </a:solidFill>
                <a:latin typeface="CiscoSansTT Medium"/>
                <a:ea typeface="CiscoSansTT Medium"/>
                <a:cs typeface="CiscoSansTT Medium"/>
              </a:defRPr>
            </a:lvl1pPr>
            <a:lvl2pPr algn="ctr">
              <a:defRPr sz="1725" b="1">
                <a:solidFill>
                  <a:srgbClr val="07182A"/>
                </a:solidFill>
                <a:latin typeface="CiscoSansTT Medium"/>
                <a:ea typeface="CiscoSansTT Medium"/>
                <a:cs typeface="CiscoSansTT Medium"/>
              </a:defRPr>
            </a:lvl2pPr>
            <a:lvl3pPr algn="ctr">
              <a:defRPr sz="1725" b="1">
                <a:solidFill>
                  <a:srgbClr val="07182A"/>
                </a:solidFill>
                <a:latin typeface="CiscoSansTT Medium"/>
                <a:ea typeface="CiscoSansTT Medium"/>
                <a:cs typeface="CiscoSansTT Medium"/>
              </a:defRPr>
            </a:lvl3pPr>
            <a:lvl4pPr algn="ctr">
              <a:defRPr sz="1725" b="1">
                <a:solidFill>
                  <a:srgbClr val="07182A"/>
                </a:solidFill>
                <a:latin typeface="CiscoSansTT Medium"/>
                <a:ea typeface="CiscoSansTT Medium"/>
                <a:cs typeface="CiscoSansTT Medium"/>
              </a:defRPr>
            </a:lvl4pPr>
            <a:lvl5pPr algn="ctr">
              <a:defRPr sz="1725" b="1">
                <a:solidFill>
                  <a:srgbClr val="07182A"/>
                </a:solidFill>
                <a:latin typeface="CiscoSansTT Medium"/>
                <a:ea typeface="CiscoSansTT Medium"/>
                <a:cs typeface="CiscoSansTT Medium"/>
              </a:defRPr>
            </a:lvl5pPr>
            <a:lvl6pPr algn="ctr">
              <a:defRPr sz="1725" b="1">
                <a:solidFill>
                  <a:srgbClr val="07182A"/>
                </a:solidFill>
                <a:latin typeface="CiscoSansTT Medium"/>
                <a:ea typeface="CiscoSansTT Medium"/>
                <a:cs typeface="CiscoSansTT Medium"/>
              </a:defRPr>
            </a:lvl6pPr>
            <a:lvl7pPr algn="ctr">
              <a:defRPr sz="1725" b="1">
                <a:solidFill>
                  <a:srgbClr val="07182A"/>
                </a:solidFill>
                <a:latin typeface="CiscoSansTT Medium"/>
                <a:ea typeface="CiscoSansTT Medium"/>
                <a:cs typeface="CiscoSansTT Medium"/>
              </a:defRPr>
            </a:lvl7pPr>
            <a:lvl8pPr algn="ctr">
              <a:defRPr sz="1725" b="1">
                <a:solidFill>
                  <a:srgbClr val="07182A"/>
                </a:solidFill>
                <a:latin typeface="CiscoSansTT Medium"/>
                <a:ea typeface="CiscoSansTT Medium"/>
                <a:cs typeface="CiscoSansTT Medium"/>
              </a:defRPr>
            </a:lvl8pPr>
            <a:lvl9pPr algn="ctr">
              <a:defRPr sz="1725" b="1">
                <a:solidFill>
                  <a:srgbClr val="07182A"/>
                </a:solidFill>
                <a:latin typeface="CiscoSansTT Medium"/>
                <a:ea typeface="CiscoSansTT Medium"/>
                <a:cs typeface="CiscoSansTT Medium"/>
              </a:defRPr>
            </a:lvl9pPr>
          </a:lstStyle>
          <a:p>
            <a:pPr algn="ctr">
              <a:defRPr sz="1725" b="1">
                <a:solidFill>
                  <a:srgbClr val="07182A"/>
                </a:solidFill>
                <a:latin typeface="CiscoSansTT Medium"/>
                <a:ea typeface="CiscoSansTT Medium"/>
                <a:cs typeface="CiscoSansTT Medium"/>
              </a:defRPr>
            </a:pPr>
            <a:r>
              <a:rPr sz="1725" b="1">
                <a:solidFill>
                  <a:srgbClr val="07182A"/>
                </a:solidFill>
                <a:latin typeface="CiscoSansTT Medium"/>
                <a:ea typeface="CiscoSansTT Medium"/>
                <a:cs typeface="CiscoSansTT Medium"/>
              </a:rPr>
              <a:t>edge-nginx</a:t>
            </a:r>
          </a:p>
        </p:txBody>
      </p:sp>
      <p:sp>
        <p:nvSpPr>
          <p:cNvPr id="32" name="separate-trace-frame-1">
            <a:extLst>
              <a:ext uri="{FF2B5EF4-FFF2-40B4-BE49-F238E27FC236}">
                <a16:creationId xmlns:a16="http://schemas.microsoft.com/office/drawing/2014/main" id="{34750BEB-A3EC-4FB8-9EF8-8FFBB0A3BCD0}"/>
              </a:ext>
            </a:extLst>
          </p:cNvPr>
          <p:cNvSpPr>
            <a:spLocks noGrp="1"/>
          </p:cNvSpPr>
          <p:nvPr/>
        </p:nvSpPr>
        <p:spPr>
          <a:xfrm>
            <a:off x="4524375" y="1752600"/>
            <a:ext cx="3143250" cy="1352550"/>
          </a:xfrm>
          <a:prstGeom prst="roundRect">
            <a:avLst>
              <a:gd name="adj" fmla="val 4225"/>
            </a:avLst>
          </a:prstGeom>
          <a:solidFill>
            <a:srgbClr val="FFFFFF"/>
          </a:solidFill>
          <a:ln w="12383">
            <a:solidFill>
              <a:srgbClr val="CFD5DD"/>
            </a:solidFill>
          </a:ln>
        </p:spPr>
        <p:txBody>
          <a:bodyPr/>
          <a:lstStyle/>
          <a:p>
            <a:endParaRPr lang="en-ES"/>
          </a:p>
        </p:txBody>
      </p:sp>
      <p:sp>
        <p:nvSpPr>
          <p:cNvPr id="33" name="separate-trace-id-1">
            <a:extLst>
              <a:ext uri="{FF2B5EF4-FFF2-40B4-BE49-F238E27FC236}">
                <a16:creationId xmlns:a16="http://schemas.microsoft.com/office/drawing/2014/main" id="{60F1AB02-7EA8-44C2-B4D1-8222F9B22AF2}"/>
              </a:ext>
            </a:extLst>
          </p:cNvPr>
          <p:cNvSpPr>
            <a:spLocks noGrp="1"/>
          </p:cNvSpPr>
          <p:nvPr/>
        </p:nvSpPr>
        <p:spPr>
          <a:xfrm>
            <a:off x="4676775" y="1866900"/>
            <a:ext cx="2838450" cy="361950"/>
          </a:xfrm>
          <a:prstGeom prst="rect">
            <a:avLst/>
          </a:prstGeom>
          <a:noFill/>
          <a:ln w="0">
            <a:noFill/>
          </a:ln>
        </p:spPr>
        <p:txBody>
          <a:bodyPr anchor="ctr">
            <a:noAutofit/>
          </a:bodyPr>
          <a:lstStyle>
            <a:defPPr algn="ctr">
              <a:defRPr sz="1800" b="0">
                <a:solidFill>
                  <a:srgbClr val="686B6B"/>
                </a:solidFill>
                <a:latin typeface="CiscoSansTT"/>
                <a:ea typeface="CiscoSansTT"/>
                <a:cs typeface="CiscoSansTT"/>
              </a:defRPr>
            </a:defPPr>
            <a:lvl1pPr algn="ctr">
              <a:defRPr sz="1800" b="0">
                <a:solidFill>
                  <a:srgbClr val="686B6B"/>
                </a:solidFill>
                <a:latin typeface="CiscoSansTT"/>
                <a:ea typeface="CiscoSansTT"/>
                <a:cs typeface="CiscoSansTT"/>
              </a:defRPr>
            </a:lvl1pPr>
            <a:lvl2pPr algn="ctr">
              <a:defRPr sz="1800" b="0">
                <a:solidFill>
                  <a:srgbClr val="686B6B"/>
                </a:solidFill>
                <a:latin typeface="CiscoSansTT"/>
                <a:ea typeface="CiscoSansTT"/>
                <a:cs typeface="CiscoSansTT"/>
              </a:defRPr>
            </a:lvl2pPr>
            <a:lvl3pPr algn="ctr">
              <a:defRPr sz="1800" b="0">
                <a:solidFill>
                  <a:srgbClr val="686B6B"/>
                </a:solidFill>
                <a:latin typeface="CiscoSansTT"/>
                <a:ea typeface="CiscoSansTT"/>
                <a:cs typeface="CiscoSansTT"/>
              </a:defRPr>
            </a:lvl3pPr>
            <a:lvl4pPr algn="ctr">
              <a:defRPr sz="1800" b="0">
                <a:solidFill>
                  <a:srgbClr val="686B6B"/>
                </a:solidFill>
                <a:latin typeface="CiscoSansTT"/>
                <a:ea typeface="CiscoSansTT"/>
                <a:cs typeface="CiscoSansTT"/>
              </a:defRPr>
            </a:lvl4pPr>
            <a:lvl5pPr algn="ctr">
              <a:defRPr sz="1800" b="0">
                <a:solidFill>
                  <a:srgbClr val="686B6B"/>
                </a:solidFill>
                <a:latin typeface="CiscoSansTT"/>
                <a:ea typeface="CiscoSansTT"/>
                <a:cs typeface="CiscoSansTT"/>
              </a:defRPr>
            </a:lvl5pPr>
            <a:lvl6pPr algn="ctr">
              <a:defRPr sz="1800" b="0">
                <a:solidFill>
                  <a:srgbClr val="686B6B"/>
                </a:solidFill>
                <a:latin typeface="CiscoSansTT"/>
                <a:ea typeface="CiscoSansTT"/>
                <a:cs typeface="CiscoSansTT"/>
              </a:defRPr>
            </a:lvl6pPr>
            <a:lvl7pPr algn="ctr">
              <a:defRPr sz="1800" b="0">
                <a:solidFill>
                  <a:srgbClr val="686B6B"/>
                </a:solidFill>
                <a:latin typeface="CiscoSansTT"/>
                <a:ea typeface="CiscoSansTT"/>
                <a:cs typeface="CiscoSansTT"/>
              </a:defRPr>
            </a:lvl7pPr>
            <a:lvl8pPr algn="ctr">
              <a:defRPr sz="1800" b="0">
                <a:solidFill>
                  <a:srgbClr val="686B6B"/>
                </a:solidFill>
                <a:latin typeface="CiscoSansTT"/>
                <a:ea typeface="CiscoSansTT"/>
                <a:cs typeface="CiscoSansTT"/>
              </a:defRPr>
            </a:lvl8pPr>
            <a:lvl9pPr algn="ctr">
              <a:defRPr sz="1800" b="0">
                <a:solidFill>
                  <a:srgbClr val="686B6B"/>
                </a:solidFill>
                <a:latin typeface="CiscoSansTT"/>
                <a:ea typeface="CiscoSansTT"/>
                <a:cs typeface="CiscoSansTT"/>
              </a:defRPr>
            </a:lvl9pPr>
          </a:lstStyle>
          <a:p>
            <a:pPr algn="ctr">
              <a:defRPr sz="1800" b="0">
                <a:solidFill>
                  <a:srgbClr val="686B6B"/>
                </a:solidFill>
                <a:latin typeface="CiscoSansTT"/>
                <a:ea typeface="CiscoSansTT"/>
                <a:cs typeface="CiscoSansTT"/>
              </a:defRPr>
            </a:pPr>
            <a:r>
              <a:rPr sz="1800" b="0">
                <a:solidFill>
                  <a:srgbClr val="686B6B"/>
                </a:solidFill>
                <a:latin typeface="CiscoSansTT"/>
                <a:ea typeface="CiscoSansTT"/>
                <a:cs typeface="CiscoSansTT"/>
              </a:rPr>
              <a:t>Trace B</a:t>
            </a:r>
          </a:p>
        </p:txBody>
      </p:sp>
      <p:sp>
        <p:nvSpPr>
          <p:cNvPr id="34" name="separate-span-1">
            <a:extLst>
              <a:ext uri="{FF2B5EF4-FFF2-40B4-BE49-F238E27FC236}">
                <a16:creationId xmlns:a16="http://schemas.microsoft.com/office/drawing/2014/main" id="{706B10C1-863D-48C5-A266-A4442E275E24}"/>
              </a:ext>
            </a:extLst>
          </p:cNvPr>
          <p:cNvSpPr>
            <a:spLocks noGrp="1"/>
          </p:cNvSpPr>
          <p:nvPr/>
        </p:nvSpPr>
        <p:spPr>
          <a:xfrm>
            <a:off x="4667250" y="2381250"/>
            <a:ext cx="2857500" cy="504825"/>
          </a:xfrm>
          <a:prstGeom prst="roundRect">
            <a:avLst>
              <a:gd name="adj" fmla="val 11321"/>
            </a:avLst>
          </a:prstGeom>
          <a:solidFill>
            <a:srgbClr val="E2E7ED"/>
          </a:solidFill>
          <a:ln w="12383">
            <a:solidFill>
              <a:srgbClr val="E2E7ED"/>
            </a:solidFill>
          </a:ln>
        </p:spPr>
        <p:txBody>
          <a:bodyPr/>
          <a:lstStyle/>
          <a:p>
            <a:endParaRPr lang="en-ES"/>
          </a:p>
        </p:txBody>
      </p:sp>
      <p:sp>
        <p:nvSpPr>
          <p:cNvPr id="35" name="separate-service-1">
            <a:extLst>
              <a:ext uri="{FF2B5EF4-FFF2-40B4-BE49-F238E27FC236}">
                <a16:creationId xmlns:a16="http://schemas.microsoft.com/office/drawing/2014/main" id="{4E732843-75DB-4053-B4C6-2F55B8F80B0F}"/>
              </a:ext>
            </a:extLst>
          </p:cNvPr>
          <p:cNvSpPr>
            <a:spLocks noGrp="1"/>
          </p:cNvSpPr>
          <p:nvPr/>
        </p:nvSpPr>
        <p:spPr>
          <a:xfrm>
            <a:off x="4667250" y="2381250"/>
            <a:ext cx="2857500" cy="504825"/>
          </a:xfrm>
          <a:prstGeom prst="rect">
            <a:avLst/>
          </a:prstGeom>
          <a:noFill/>
          <a:ln w="0">
            <a:noFill/>
          </a:ln>
        </p:spPr>
        <p:txBody>
          <a:bodyPr anchor="ctr">
            <a:noAutofit/>
          </a:bodyPr>
          <a:lstStyle>
            <a:defPPr algn="ctr">
              <a:defRPr sz="1725" b="1">
                <a:solidFill>
                  <a:srgbClr val="07182A"/>
                </a:solidFill>
                <a:latin typeface="CiscoSansTT Medium"/>
                <a:ea typeface="CiscoSansTT Medium"/>
                <a:cs typeface="CiscoSansTT Medium"/>
              </a:defRPr>
            </a:defPPr>
            <a:lvl1pPr algn="ctr">
              <a:defRPr sz="1725" b="1">
                <a:solidFill>
                  <a:srgbClr val="07182A"/>
                </a:solidFill>
                <a:latin typeface="CiscoSansTT Medium"/>
                <a:ea typeface="CiscoSansTT Medium"/>
                <a:cs typeface="CiscoSansTT Medium"/>
              </a:defRPr>
            </a:lvl1pPr>
            <a:lvl2pPr algn="ctr">
              <a:defRPr sz="1725" b="1">
                <a:solidFill>
                  <a:srgbClr val="07182A"/>
                </a:solidFill>
                <a:latin typeface="CiscoSansTT Medium"/>
                <a:ea typeface="CiscoSansTT Medium"/>
                <a:cs typeface="CiscoSansTT Medium"/>
              </a:defRPr>
            </a:lvl2pPr>
            <a:lvl3pPr algn="ctr">
              <a:defRPr sz="1725" b="1">
                <a:solidFill>
                  <a:srgbClr val="07182A"/>
                </a:solidFill>
                <a:latin typeface="CiscoSansTT Medium"/>
                <a:ea typeface="CiscoSansTT Medium"/>
                <a:cs typeface="CiscoSansTT Medium"/>
              </a:defRPr>
            </a:lvl3pPr>
            <a:lvl4pPr algn="ctr">
              <a:defRPr sz="1725" b="1">
                <a:solidFill>
                  <a:srgbClr val="07182A"/>
                </a:solidFill>
                <a:latin typeface="CiscoSansTT Medium"/>
                <a:ea typeface="CiscoSansTT Medium"/>
                <a:cs typeface="CiscoSansTT Medium"/>
              </a:defRPr>
            </a:lvl4pPr>
            <a:lvl5pPr algn="ctr">
              <a:defRPr sz="1725" b="1">
                <a:solidFill>
                  <a:srgbClr val="07182A"/>
                </a:solidFill>
                <a:latin typeface="CiscoSansTT Medium"/>
                <a:ea typeface="CiscoSansTT Medium"/>
                <a:cs typeface="CiscoSansTT Medium"/>
              </a:defRPr>
            </a:lvl5pPr>
            <a:lvl6pPr algn="ctr">
              <a:defRPr sz="1725" b="1">
                <a:solidFill>
                  <a:srgbClr val="07182A"/>
                </a:solidFill>
                <a:latin typeface="CiscoSansTT Medium"/>
                <a:ea typeface="CiscoSansTT Medium"/>
                <a:cs typeface="CiscoSansTT Medium"/>
              </a:defRPr>
            </a:lvl6pPr>
            <a:lvl7pPr algn="ctr">
              <a:defRPr sz="1725" b="1">
                <a:solidFill>
                  <a:srgbClr val="07182A"/>
                </a:solidFill>
                <a:latin typeface="CiscoSansTT Medium"/>
                <a:ea typeface="CiscoSansTT Medium"/>
                <a:cs typeface="CiscoSansTT Medium"/>
              </a:defRPr>
            </a:lvl7pPr>
            <a:lvl8pPr algn="ctr">
              <a:defRPr sz="1725" b="1">
                <a:solidFill>
                  <a:srgbClr val="07182A"/>
                </a:solidFill>
                <a:latin typeface="CiscoSansTT Medium"/>
                <a:ea typeface="CiscoSansTT Medium"/>
                <a:cs typeface="CiscoSansTT Medium"/>
              </a:defRPr>
            </a:lvl8pPr>
            <a:lvl9pPr algn="ctr">
              <a:defRPr sz="1725" b="1">
                <a:solidFill>
                  <a:srgbClr val="07182A"/>
                </a:solidFill>
                <a:latin typeface="CiscoSansTT Medium"/>
                <a:ea typeface="CiscoSansTT Medium"/>
                <a:cs typeface="CiscoSansTT Medium"/>
              </a:defRPr>
            </a:lvl9pPr>
          </a:lstStyle>
          <a:p>
            <a:pPr algn="ctr">
              <a:defRPr sz="1725" b="1">
                <a:solidFill>
                  <a:srgbClr val="07182A"/>
                </a:solidFill>
                <a:latin typeface="CiscoSansTT Medium"/>
                <a:ea typeface="CiscoSansTT Medium"/>
                <a:cs typeface="CiscoSansTT Medium"/>
              </a:defRPr>
            </a:pPr>
            <a:r>
              <a:rPr sz="1725" b="1">
                <a:solidFill>
                  <a:srgbClr val="07182A"/>
                </a:solidFill>
                <a:latin typeface="CiscoSansTT Medium"/>
                <a:ea typeface="CiscoSansTT Medium"/>
                <a:cs typeface="CiscoSansTT Medium"/>
              </a:rPr>
              <a:t>recommendations-v2</a:t>
            </a:r>
          </a:p>
        </p:txBody>
      </p:sp>
      <p:sp>
        <p:nvSpPr>
          <p:cNvPr id="36" name="separate-trace-frame-2">
            <a:extLst>
              <a:ext uri="{FF2B5EF4-FFF2-40B4-BE49-F238E27FC236}">
                <a16:creationId xmlns:a16="http://schemas.microsoft.com/office/drawing/2014/main" id="{A568798A-4EF3-4FBC-9BA4-56EABCE841C7}"/>
              </a:ext>
            </a:extLst>
          </p:cNvPr>
          <p:cNvSpPr>
            <a:spLocks noGrp="1"/>
          </p:cNvSpPr>
          <p:nvPr/>
        </p:nvSpPr>
        <p:spPr>
          <a:xfrm>
            <a:off x="8382000" y="1752600"/>
            <a:ext cx="3143250" cy="1352550"/>
          </a:xfrm>
          <a:prstGeom prst="roundRect">
            <a:avLst>
              <a:gd name="adj" fmla="val 4225"/>
            </a:avLst>
          </a:prstGeom>
          <a:solidFill>
            <a:srgbClr val="FFFFFF"/>
          </a:solidFill>
          <a:ln w="12383">
            <a:solidFill>
              <a:srgbClr val="CFD5DD"/>
            </a:solidFill>
          </a:ln>
        </p:spPr>
        <p:txBody>
          <a:bodyPr/>
          <a:lstStyle/>
          <a:p>
            <a:endParaRPr lang="en-ES"/>
          </a:p>
        </p:txBody>
      </p:sp>
      <p:sp>
        <p:nvSpPr>
          <p:cNvPr id="37" name="separate-trace-id-2">
            <a:extLst>
              <a:ext uri="{FF2B5EF4-FFF2-40B4-BE49-F238E27FC236}">
                <a16:creationId xmlns:a16="http://schemas.microsoft.com/office/drawing/2014/main" id="{E1770F39-922D-4F2E-8A65-39FFF6579412}"/>
              </a:ext>
            </a:extLst>
          </p:cNvPr>
          <p:cNvSpPr>
            <a:spLocks noGrp="1"/>
          </p:cNvSpPr>
          <p:nvPr/>
        </p:nvSpPr>
        <p:spPr>
          <a:xfrm>
            <a:off x="8534400" y="1866900"/>
            <a:ext cx="2838450" cy="361950"/>
          </a:xfrm>
          <a:prstGeom prst="rect">
            <a:avLst/>
          </a:prstGeom>
          <a:noFill/>
          <a:ln w="0">
            <a:noFill/>
          </a:ln>
        </p:spPr>
        <p:txBody>
          <a:bodyPr anchor="ctr">
            <a:noAutofit/>
          </a:bodyPr>
          <a:lstStyle>
            <a:defPPr algn="ctr">
              <a:defRPr sz="1800" b="0">
                <a:solidFill>
                  <a:srgbClr val="686B6B"/>
                </a:solidFill>
                <a:latin typeface="CiscoSansTT"/>
                <a:ea typeface="CiscoSansTT"/>
                <a:cs typeface="CiscoSansTT"/>
              </a:defRPr>
            </a:defPPr>
            <a:lvl1pPr algn="ctr">
              <a:defRPr sz="1800" b="0">
                <a:solidFill>
                  <a:srgbClr val="686B6B"/>
                </a:solidFill>
                <a:latin typeface="CiscoSansTT"/>
                <a:ea typeface="CiscoSansTT"/>
                <a:cs typeface="CiscoSansTT"/>
              </a:defRPr>
            </a:lvl1pPr>
            <a:lvl2pPr algn="ctr">
              <a:defRPr sz="1800" b="0">
                <a:solidFill>
                  <a:srgbClr val="686B6B"/>
                </a:solidFill>
                <a:latin typeface="CiscoSansTT"/>
                <a:ea typeface="CiscoSansTT"/>
                <a:cs typeface="CiscoSansTT"/>
              </a:defRPr>
            </a:lvl2pPr>
            <a:lvl3pPr algn="ctr">
              <a:defRPr sz="1800" b="0">
                <a:solidFill>
                  <a:srgbClr val="686B6B"/>
                </a:solidFill>
                <a:latin typeface="CiscoSansTT"/>
                <a:ea typeface="CiscoSansTT"/>
                <a:cs typeface="CiscoSansTT"/>
              </a:defRPr>
            </a:lvl3pPr>
            <a:lvl4pPr algn="ctr">
              <a:defRPr sz="1800" b="0">
                <a:solidFill>
                  <a:srgbClr val="686B6B"/>
                </a:solidFill>
                <a:latin typeface="CiscoSansTT"/>
                <a:ea typeface="CiscoSansTT"/>
                <a:cs typeface="CiscoSansTT"/>
              </a:defRPr>
            </a:lvl4pPr>
            <a:lvl5pPr algn="ctr">
              <a:defRPr sz="1800" b="0">
                <a:solidFill>
                  <a:srgbClr val="686B6B"/>
                </a:solidFill>
                <a:latin typeface="CiscoSansTT"/>
                <a:ea typeface="CiscoSansTT"/>
                <a:cs typeface="CiscoSansTT"/>
              </a:defRPr>
            </a:lvl5pPr>
            <a:lvl6pPr algn="ctr">
              <a:defRPr sz="1800" b="0">
                <a:solidFill>
                  <a:srgbClr val="686B6B"/>
                </a:solidFill>
                <a:latin typeface="CiscoSansTT"/>
                <a:ea typeface="CiscoSansTT"/>
                <a:cs typeface="CiscoSansTT"/>
              </a:defRPr>
            </a:lvl6pPr>
            <a:lvl7pPr algn="ctr">
              <a:defRPr sz="1800" b="0">
                <a:solidFill>
                  <a:srgbClr val="686B6B"/>
                </a:solidFill>
                <a:latin typeface="CiscoSansTT"/>
                <a:ea typeface="CiscoSansTT"/>
                <a:cs typeface="CiscoSansTT"/>
              </a:defRPr>
            </a:lvl7pPr>
            <a:lvl8pPr algn="ctr">
              <a:defRPr sz="1800" b="0">
                <a:solidFill>
                  <a:srgbClr val="686B6B"/>
                </a:solidFill>
                <a:latin typeface="CiscoSansTT"/>
                <a:ea typeface="CiscoSansTT"/>
                <a:cs typeface="CiscoSansTT"/>
              </a:defRPr>
            </a:lvl8pPr>
            <a:lvl9pPr algn="ctr">
              <a:defRPr sz="1800" b="0">
                <a:solidFill>
                  <a:srgbClr val="686B6B"/>
                </a:solidFill>
                <a:latin typeface="CiscoSansTT"/>
                <a:ea typeface="CiscoSansTT"/>
                <a:cs typeface="CiscoSansTT"/>
              </a:defRPr>
            </a:lvl9pPr>
          </a:lstStyle>
          <a:p>
            <a:pPr algn="ctr">
              <a:defRPr sz="1800" b="0">
                <a:solidFill>
                  <a:srgbClr val="686B6B"/>
                </a:solidFill>
                <a:latin typeface="CiscoSansTT"/>
                <a:ea typeface="CiscoSansTT"/>
                <a:cs typeface="CiscoSansTT"/>
              </a:defRPr>
            </a:pPr>
            <a:r>
              <a:rPr sz="1800" b="0">
                <a:solidFill>
                  <a:srgbClr val="686B6B"/>
                </a:solidFill>
                <a:latin typeface="CiscoSansTT"/>
                <a:ea typeface="CiscoSansTT"/>
                <a:cs typeface="CiscoSansTT"/>
              </a:rPr>
              <a:t>Trace C</a:t>
            </a:r>
          </a:p>
        </p:txBody>
      </p:sp>
      <p:sp>
        <p:nvSpPr>
          <p:cNvPr id="38" name="separate-span-2">
            <a:extLst>
              <a:ext uri="{FF2B5EF4-FFF2-40B4-BE49-F238E27FC236}">
                <a16:creationId xmlns:a16="http://schemas.microsoft.com/office/drawing/2014/main" id="{2EBE708F-606B-4F43-B99A-AF12B1FF631A}"/>
              </a:ext>
            </a:extLst>
          </p:cNvPr>
          <p:cNvSpPr>
            <a:spLocks noGrp="1"/>
          </p:cNvSpPr>
          <p:nvPr/>
        </p:nvSpPr>
        <p:spPr>
          <a:xfrm>
            <a:off x="8524875" y="2381250"/>
            <a:ext cx="2857500" cy="504825"/>
          </a:xfrm>
          <a:prstGeom prst="roundRect">
            <a:avLst>
              <a:gd name="adj" fmla="val 11321"/>
            </a:avLst>
          </a:prstGeom>
          <a:solidFill>
            <a:srgbClr val="E2E7ED"/>
          </a:solidFill>
          <a:ln w="12383">
            <a:solidFill>
              <a:srgbClr val="E2E7ED"/>
            </a:solidFill>
          </a:ln>
        </p:spPr>
        <p:txBody>
          <a:bodyPr/>
          <a:lstStyle/>
          <a:p>
            <a:endParaRPr lang="en-ES"/>
          </a:p>
        </p:txBody>
      </p:sp>
      <p:sp>
        <p:nvSpPr>
          <p:cNvPr id="39" name="separate-service-2">
            <a:extLst>
              <a:ext uri="{FF2B5EF4-FFF2-40B4-BE49-F238E27FC236}">
                <a16:creationId xmlns:a16="http://schemas.microsoft.com/office/drawing/2014/main" id="{EA1B71A6-9C8B-4BA5-9E33-F978B2A4CB8B}"/>
              </a:ext>
            </a:extLst>
          </p:cNvPr>
          <p:cNvSpPr>
            <a:spLocks noGrp="1"/>
          </p:cNvSpPr>
          <p:nvPr/>
        </p:nvSpPr>
        <p:spPr>
          <a:xfrm>
            <a:off x="8524875" y="2381250"/>
            <a:ext cx="2857500" cy="504825"/>
          </a:xfrm>
          <a:prstGeom prst="rect">
            <a:avLst/>
          </a:prstGeom>
          <a:noFill/>
          <a:ln w="0">
            <a:noFill/>
          </a:ln>
        </p:spPr>
        <p:txBody>
          <a:bodyPr anchor="ctr">
            <a:noAutofit/>
          </a:bodyPr>
          <a:lstStyle>
            <a:defPPr algn="ctr">
              <a:defRPr sz="1725" b="1">
                <a:solidFill>
                  <a:srgbClr val="07182A"/>
                </a:solidFill>
                <a:latin typeface="CiscoSansTT Medium"/>
                <a:ea typeface="CiscoSansTT Medium"/>
                <a:cs typeface="CiscoSansTT Medium"/>
              </a:defRPr>
            </a:defPPr>
            <a:lvl1pPr algn="ctr">
              <a:defRPr sz="1725" b="1">
                <a:solidFill>
                  <a:srgbClr val="07182A"/>
                </a:solidFill>
                <a:latin typeface="CiscoSansTT Medium"/>
                <a:ea typeface="CiscoSansTT Medium"/>
                <a:cs typeface="CiscoSansTT Medium"/>
              </a:defRPr>
            </a:lvl1pPr>
            <a:lvl2pPr algn="ctr">
              <a:defRPr sz="1725" b="1">
                <a:solidFill>
                  <a:srgbClr val="07182A"/>
                </a:solidFill>
                <a:latin typeface="CiscoSansTT Medium"/>
                <a:ea typeface="CiscoSansTT Medium"/>
                <a:cs typeface="CiscoSansTT Medium"/>
              </a:defRPr>
            </a:lvl2pPr>
            <a:lvl3pPr algn="ctr">
              <a:defRPr sz="1725" b="1">
                <a:solidFill>
                  <a:srgbClr val="07182A"/>
                </a:solidFill>
                <a:latin typeface="CiscoSansTT Medium"/>
                <a:ea typeface="CiscoSansTT Medium"/>
                <a:cs typeface="CiscoSansTT Medium"/>
              </a:defRPr>
            </a:lvl3pPr>
            <a:lvl4pPr algn="ctr">
              <a:defRPr sz="1725" b="1">
                <a:solidFill>
                  <a:srgbClr val="07182A"/>
                </a:solidFill>
                <a:latin typeface="CiscoSansTT Medium"/>
                <a:ea typeface="CiscoSansTT Medium"/>
                <a:cs typeface="CiscoSansTT Medium"/>
              </a:defRPr>
            </a:lvl4pPr>
            <a:lvl5pPr algn="ctr">
              <a:defRPr sz="1725" b="1">
                <a:solidFill>
                  <a:srgbClr val="07182A"/>
                </a:solidFill>
                <a:latin typeface="CiscoSansTT Medium"/>
                <a:ea typeface="CiscoSansTT Medium"/>
                <a:cs typeface="CiscoSansTT Medium"/>
              </a:defRPr>
            </a:lvl5pPr>
            <a:lvl6pPr algn="ctr">
              <a:defRPr sz="1725" b="1">
                <a:solidFill>
                  <a:srgbClr val="07182A"/>
                </a:solidFill>
                <a:latin typeface="CiscoSansTT Medium"/>
                <a:ea typeface="CiscoSansTT Medium"/>
                <a:cs typeface="CiscoSansTT Medium"/>
              </a:defRPr>
            </a:lvl6pPr>
            <a:lvl7pPr algn="ctr">
              <a:defRPr sz="1725" b="1">
                <a:solidFill>
                  <a:srgbClr val="07182A"/>
                </a:solidFill>
                <a:latin typeface="CiscoSansTT Medium"/>
                <a:ea typeface="CiscoSansTT Medium"/>
                <a:cs typeface="CiscoSansTT Medium"/>
              </a:defRPr>
            </a:lvl7pPr>
            <a:lvl8pPr algn="ctr">
              <a:defRPr sz="1725" b="1">
                <a:solidFill>
                  <a:srgbClr val="07182A"/>
                </a:solidFill>
                <a:latin typeface="CiscoSansTT Medium"/>
                <a:ea typeface="CiscoSansTT Medium"/>
                <a:cs typeface="CiscoSansTT Medium"/>
              </a:defRPr>
            </a:lvl8pPr>
            <a:lvl9pPr algn="ctr">
              <a:defRPr sz="1725" b="1">
                <a:solidFill>
                  <a:srgbClr val="07182A"/>
                </a:solidFill>
                <a:latin typeface="CiscoSansTT Medium"/>
                <a:ea typeface="CiscoSansTT Medium"/>
                <a:cs typeface="CiscoSansTT Medium"/>
              </a:defRPr>
            </a:lvl9pPr>
          </a:lstStyle>
          <a:p>
            <a:pPr algn="ctr">
              <a:defRPr sz="1725" b="1">
                <a:solidFill>
                  <a:srgbClr val="07182A"/>
                </a:solidFill>
                <a:latin typeface="CiscoSansTT Medium"/>
                <a:ea typeface="CiscoSansTT Medium"/>
                <a:cs typeface="CiscoSansTT Medium"/>
              </a:defRPr>
            </a:pPr>
            <a:r>
              <a:rPr sz="1725" b="1">
                <a:solidFill>
                  <a:srgbClr val="07182A"/>
                </a:solidFill>
                <a:latin typeface="CiscoSansTT Medium"/>
                <a:ea typeface="CiscoSansTT Medium"/>
                <a:cs typeface="CiscoSansTT Medium"/>
              </a:rPr>
              <a:t>recommendations-v1</a:t>
            </a:r>
          </a:p>
        </p:txBody>
      </p:sp>
      <p:sp>
        <p:nvSpPr>
          <p:cNvPr id="40" name="linked-heading">
            <a:extLst>
              <a:ext uri="{FF2B5EF4-FFF2-40B4-BE49-F238E27FC236}">
                <a16:creationId xmlns:a16="http://schemas.microsoft.com/office/drawing/2014/main" id="{7F65EF36-D6E5-4F14-AC6C-2CCD6A06C14D}"/>
              </a:ext>
            </a:extLst>
          </p:cNvPr>
          <p:cNvSpPr>
            <a:spLocks noGrp="1"/>
          </p:cNvSpPr>
          <p:nvPr/>
        </p:nvSpPr>
        <p:spPr>
          <a:xfrm>
            <a:off x="666750" y="3381375"/>
            <a:ext cx="10858500" cy="428625"/>
          </a:xfrm>
          <a:prstGeom prst="rect">
            <a:avLst/>
          </a:prstGeom>
          <a:noFill/>
          <a:ln w="0">
            <a:noFill/>
          </a:ln>
        </p:spPr>
        <p:txBody>
          <a:bodyPr anchor="ctr">
            <a:noAutofit/>
          </a:bodyPr>
          <a:lstStyle>
            <a:defPPr algn="l">
              <a:defRPr sz="2100" b="1">
                <a:solidFill>
                  <a:srgbClr val="FF007F"/>
                </a:solidFill>
                <a:latin typeface="CiscoSansTT Medium"/>
                <a:ea typeface="CiscoSansTT Medium"/>
                <a:cs typeface="CiscoSansTT Medium"/>
              </a:defRPr>
            </a:defPPr>
            <a:lvl1pPr algn="l">
              <a:defRPr sz="2100" b="1">
                <a:solidFill>
                  <a:srgbClr val="FF007F"/>
                </a:solidFill>
                <a:latin typeface="CiscoSansTT Medium"/>
                <a:ea typeface="CiscoSansTT Medium"/>
                <a:cs typeface="CiscoSansTT Medium"/>
              </a:defRPr>
            </a:lvl1pPr>
            <a:lvl2pPr algn="l">
              <a:defRPr sz="2100" b="1">
                <a:solidFill>
                  <a:srgbClr val="FF007F"/>
                </a:solidFill>
                <a:latin typeface="CiscoSansTT Medium"/>
                <a:ea typeface="CiscoSansTT Medium"/>
                <a:cs typeface="CiscoSansTT Medium"/>
              </a:defRPr>
            </a:lvl2pPr>
            <a:lvl3pPr algn="l">
              <a:defRPr sz="2100" b="1">
                <a:solidFill>
                  <a:srgbClr val="FF007F"/>
                </a:solidFill>
                <a:latin typeface="CiscoSansTT Medium"/>
                <a:ea typeface="CiscoSansTT Medium"/>
                <a:cs typeface="CiscoSansTT Medium"/>
              </a:defRPr>
            </a:lvl3pPr>
            <a:lvl4pPr algn="l">
              <a:defRPr sz="2100" b="1">
                <a:solidFill>
                  <a:srgbClr val="FF007F"/>
                </a:solidFill>
                <a:latin typeface="CiscoSansTT Medium"/>
                <a:ea typeface="CiscoSansTT Medium"/>
                <a:cs typeface="CiscoSansTT Medium"/>
              </a:defRPr>
            </a:lvl4pPr>
            <a:lvl5pPr algn="l">
              <a:defRPr sz="2100" b="1">
                <a:solidFill>
                  <a:srgbClr val="FF007F"/>
                </a:solidFill>
                <a:latin typeface="CiscoSansTT Medium"/>
                <a:ea typeface="CiscoSansTT Medium"/>
                <a:cs typeface="CiscoSansTT Medium"/>
              </a:defRPr>
            </a:lvl5pPr>
            <a:lvl6pPr algn="l">
              <a:defRPr sz="2100" b="1">
                <a:solidFill>
                  <a:srgbClr val="FF007F"/>
                </a:solidFill>
                <a:latin typeface="CiscoSansTT Medium"/>
                <a:ea typeface="CiscoSansTT Medium"/>
                <a:cs typeface="CiscoSansTT Medium"/>
              </a:defRPr>
            </a:lvl6pPr>
            <a:lvl7pPr algn="l">
              <a:defRPr sz="2100" b="1">
                <a:solidFill>
                  <a:srgbClr val="FF007F"/>
                </a:solidFill>
                <a:latin typeface="CiscoSansTT Medium"/>
                <a:ea typeface="CiscoSansTT Medium"/>
                <a:cs typeface="CiscoSansTT Medium"/>
              </a:defRPr>
            </a:lvl7pPr>
            <a:lvl8pPr algn="l">
              <a:defRPr sz="2100" b="1">
                <a:solidFill>
                  <a:srgbClr val="FF007F"/>
                </a:solidFill>
                <a:latin typeface="CiscoSansTT Medium"/>
                <a:ea typeface="CiscoSansTT Medium"/>
                <a:cs typeface="CiscoSansTT Medium"/>
              </a:defRPr>
            </a:lvl8pPr>
            <a:lvl9pPr algn="l">
              <a:defRPr sz="2100" b="1">
                <a:solidFill>
                  <a:srgbClr val="FF007F"/>
                </a:solidFill>
                <a:latin typeface="CiscoSansTT Medium"/>
                <a:ea typeface="CiscoSansTT Medium"/>
                <a:cs typeface="CiscoSansTT Medium"/>
              </a:defRPr>
            </a:lvl9pPr>
          </a:lstStyle>
          <a:p>
            <a:pPr algn="l">
              <a:defRPr sz="2100" b="1">
                <a:solidFill>
                  <a:srgbClr val="FF007F"/>
                </a:solidFill>
                <a:latin typeface="CiscoSansTT Medium"/>
                <a:ea typeface="CiscoSansTT Medium"/>
                <a:cs typeface="CiscoSansTT Medium"/>
              </a:defRPr>
            </a:pPr>
            <a:r>
              <a:rPr sz="2100" b="1">
                <a:solidFill>
                  <a:srgbClr val="FF007F"/>
                </a:solidFill>
                <a:latin typeface="CiscoSansTT Medium"/>
                <a:ea typeface="CiscoSansTT Medium"/>
                <a:cs typeface="CiscoSansTT Medium"/>
              </a:rPr>
              <a:t>With propagated context</a:t>
            </a:r>
          </a:p>
        </p:txBody>
      </p:sp>
      <p:sp>
        <p:nvSpPr>
          <p:cNvPr id="41" name="connected-trace-frame">
            <a:extLst>
              <a:ext uri="{FF2B5EF4-FFF2-40B4-BE49-F238E27FC236}">
                <a16:creationId xmlns:a16="http://schemas.microsoft.com/office/drawing/2014/main" id="{0992DFDC-3791-40FA-84D5-2480858394D4}"/>
              </a:ext>
            </a:extLst>
          </p:cNvPr>
          <p:cNvSpPr>
            <a:spLocks noGrp="1"/>
          </p:cNvSpPr>
          <p:nvPr/>
        </p:nvSpPr>
        <p:spPr>
          <a:xfrm>
            <a:off x="666750" y="3981450"/>
            <a:ext cx="10858500" cy="1619250"/>
          </a:xfrm>
          <a:prstGeom prst="roundRect">
            <a:avLst>
              <a:gd name="adj" fmla="val 3529"/>
            </a:avLst>
          </a:prstGeom>
          <a:solidFill>
            <a:srgbClr val="FFFFFF"/>
          </a:solidFill>
          <a:ln w="16193">
            <a:solidFill>
              <a:srgbClr val="FF007F"/>
            </a:solidFill>
          </a:ln>
        </p:spPr>
        <p:txBody>
          <a:bodyPr/>
          <a:lstStyle/>
          <a:p>
            <a:endParaRPr lang="en-ES"/>
          </a:p>
        </p:txBody>
      </p:sp>
      <p:sp>
        <p:nvSpPr>
          <p:cNvPr id="42" name="connected-trace-id">
            <a:extLst>
              <a:ext uri="{FF2B5EF4-FFF2-40B4-BE49-F238E27FC236}">
                <a16:creationId xmlns:a16="http://schemas.microsoft.com/office/drawing/2014/main" id="{2BFDC140-42F8-4843-973F-37B21FC8BB69}"/>
              </a:ext>
            </a:extLst>
          </p:cNvPr>
          <p:cNvSpPr>
            <a:spLocks noGrp="1"/>
          </p:cNvSpPr>
          <p:nvPr/>
        </p:nvSpPr>
        <p:spPr>
          <a:xfrm>
            <a:off x="876300" y="4114800"/>
            <a:ext cx="10439400" cy="361950"/>
          </a:xfrm>
          <a:prstGeom prst="rect">
            <a:avLst/>
          </a:prstGeom>
          <a:noFill/>
          <a:ln w="0">
            <a:noFill/>
          </a:ln>
        </p:spPr>
        <p:txBody>
          <a:bodyPr anchor="ctr">
            <a:noAutofit/>
          </a:bodyPr>
          <a:lstStyle>
            <a:defPPr algn="l">
              <a:defRPr sz="1875" b="1">
                <a:solidFill>
                  <a:srgbClr val="FF007F"/>
                </a:solidFill>
                <a:latin typeface="CiscoSansTT Medium"/>
                <a:ea typeface="CiscoSansTT Medium"/>
                <a:cs typeface="CiscoSansTT Medium"/>
              </a:defRPr>
            </a:defPPr>
            <a:lvl1pPr algn="l">
              <a:defRPr sz="1875" b="1">
                <a:solidFill>
                  <a:srgbClr val="FF007F"/>
                </a:solidFill>
                <a:latin typeface="CiscoSansTT Medium"/>
                <a:ea typeface="CiscoSansTT Medium"/>
                <a:cs typeface="CiscoSansTT Medium"/>
              </a:defRPr>
            </a:lvl1pPr>
            <a:lvl2pPr algn="l">
              <a:defRPr sz="1875" b="1">
                <a:solidFill>
                  <a:srgbClr val="FF007F"/>
                </a:solidFill>
                <a:latin typeface="CiscoSansTT Medium"/>
                <a:ea typeface="CiscoSansTT Medium"/>
                <a:cs typeface="CiscoSansTT Medium"/>
              </a:defRPr>
            </a:lvl2pPr>
            <a:lvl3pPr algn="l">
              <a:defRPr sz="1875" b="1">
                <a:solidFill>
                  <a:srgbClr val="FF007F"/>
                </a:solidFill>
                <a:latin typeface="CiscoSansTT Medium"/>
                <a:ea typeface="CiscoSansTT Medium"/>
                <a:cs typeface="CiscoSansTT Medium"/>
              </a:defRPr>
            </a:lvl3pPr>
            <a:lvl4pPr algn="l">
              <a:defRPr sz="1875" b="1">
                <a:solidFill>
                  <a:srgbClr val="FF007F"/>
                </a:solidFill>
                <a:latin typeface="CiscoSansTT Medium"/>
                <a:ea typeface="CiscoSansTT Medium"/>
                <a:cs typeface="CiscoSansTT Medium"/>
              </a:defRPr>
            </a:lvl4pPr>
            <a:lvl5pPr algn="l">
              <a:defRPr sz="1875" b="1">
                <a:solidFill>
                  <a:srgbClr val="FF007F"/>
                </a:solidFill>
                <a:latin typeface="CiscoSansTT Medium"/>
                <a:ea typeface="CiscoSansTT Medium"/>
                <a:cs typeface="CiscoSansTT Medium"/>
              </a:defRPr>
            </a:lvl5pPr>
            <a:lvl6pPr algn="l">
              <a:defRPr sz="1875" b="1">
                <a:solidFill>
                  <a:srgbClr val="FF007F"/>
                </a:solidFill>
                <a:latin typeface="CiscoSansTT Medium"/>
                <a:ea typeface="CiscoSansTT Medium"/>
                <a:cs typeface="CiscoSansTT Medium"/>
              </a:defRPr>
            </a:lvl6pPr>
            <a:lvl7pPr algn="l">
              <a:defRPr sz="1875" b="1">
                <a:solidFill>
                  <a:srgbClr val="FF007F"/>
                </a:solidFill>
                <a:latin typeface="CiscoSansTT Medium"/>
                <a:ea typeface="CiscoSansTT Medium"/>
                <a:cs typeface="CiscoSansTT Medium"/>
              </a:defRPr>
            </a:lvl7pPr>
            <a:lvl8pPr algn="l">
              <a:defRPr sz="1875" b="1">
                <a:solidFill>
                  <a:srgbClr val="FF007F"/>
                </a:solidFill>
                <a:latin typeface="CiscoSansTT Medium"/>
                <a:ea typeface="CiscoSansTT Medium"/>
                <a:cs typeface="CiscoSansTT Medium"/>
              </a:defRPr>
            </a:lvl8pPr>
            <a:lvl9pPr algn="l">
              <a:defRPr sz="1875" b="1">
                <a:solidFill>
                  <a:srgbClr val="FF007F"/>
                </a:solidFill>
                <a:latin typeface="CiscoSansTT Medium"/>
                <a:ea typeface="CiscoSansTT Medium"/>
                <a:cs typeface="CiscoSansTT Medium"/>
              </a:defRPr>
            </a:lvl9pPr>
          </a:lstStyle>
          <a:p>
            <a:pPr algn="l">
              <a:defRPr sz="1875" b="1">
                <a:solidFill>
                  <a:srgbClr val="FF007F"/>
                </a:solidFill>
                <a:latin typeface="CiscoSansTT Medium"/>
                <a:ea typeface="CiscoSansTT Medium"/>
                <a:cs typeface="CiscoSansTT Medium"/>
              </a:defRPr>
            </a:pPr>
            <a:r>
              <a:rPr sz="1875" b="1">
                <a:solidFill>
                  <a:srgbClr val="FF007F"/>
                </a:solidFill>
                <a:latin typeface="CiscoSansTT Medium"/>
                <a:ea typeface="CiscoSansTT Medium"/>
                <a:cs typeface="CiscoSansTT Medium"/>
              </a:rPr>
              <a:t>Trace A</a:t>
            </a:r>
          </a:p>
        </p:txBody>
      </p:sp>
      <p:sp>
        <p:nvSpPr>
          <p:cNvPr id="43" name="connected-span-0">
            <a:extLst>
              <a:ext uri="{FF2B5EF4-FFF2-40B4-BE49-F238E27FC236}">
                <a16:creationId xmlns:a16="http://schemas.microsoft.com/office/drawing/2014/main" id="{3ED0AE42-321B-42A9-85C0-938094FE2766}"/>
              </a:ext>
            </a:extLst>
          </p:cNvPr>
          <p:cNvSpPr>
            <a:spLocks noGrp="1"/>
          </p:cNvSpPr>
          <p:nvPr/>
        </p:nvSpPr>
        <p:spPr>
          <a:xfrm>
            <a:off x="809625" y="4714875"/>
            <a:ext cx="2857500" cy="523875"/>
          </a:xfrm>
          <a:prstGeom prst="roundRect">
            <a:avLst>
              <a:gd name="adj" fmla="val 10909"/>
            </a:avLst>
          </a:prstGeom>
          <a:solidFill>
            <a:srgbClr val="F6ECF5"/>
          </a:solidFill>
          <a:ln w="12383">
            <a:solidFill>
              <a:srgbClr val="FF007F"/>
            </a:solidFill>
          </a:ln>
        </p:spPr>
        <p:txBody>
          <a:bodyPr/>
          <a:lstStyle/>
          <a:p>
            <a:endParaRPr lang="en-ES"/>
          </a:p>
        </p:txBody>
      </p:sp>
      <p:sp>
        <p:nvSpPr>
          <p:cNvPr id="44" name="connected-service-0">
            <a:extLst>
              <a:ext uri="{FF2B5EF4-FFF2-40B4-BE49-F238E27FC236}">
                <a16:creationId xmlns:a16="http://schemas.microsoft.com/office/drawing/2014/main" id="{3631A881-AAB9-408E-B055-23887B43F1B3}"/>
              </a:ext>
            </a:extLst>
          </p:cNvPr>
          <p:cNvSpPr>
            <a:spLocks noGrp="1"/>
          </p:cNvSpPr>
          <p:nvPr/>
        </p:nvSpPr>
        <p:spPr>
          <a:xfrm>
            <a:off x="809625" y="4714875"/>
            <a:ext cx="2857500" cy="523875"/>
          </a:xfrm>
          <a:prstGeom prst="rect">
            <a:avLst/>
          </a:prstGeom>
          <a:noFill/>
          <a:ln w="0">
            <a:noFill/>
          </a:ln>
        </p:spPr>
        <p:txBody>
          <a:bodyPr anchor="ctr">
            <a:noAutofit/>
          </a:bodyPr>
          <a:lstStyle>
            <a:defPPr algn="ctr">
              <a:defRPr sz="1725" b="1">
                <a:solidFill>
                  <a:srgbClr val="07182A"/>
                </a:solidFill>
                <a:latin typeface="CiscoSansTT Medium"/>
                <a:ea typeface="CiscoSansTT Medium"/>
                <a:cs typeface="CiscoSansTT Medium"/>
              </a:defRPr>
            </a:defPPr>
            <a:lvl1pPr algn="ctr">
              <a:defRPr sz="1725" b="1">
                <a:solidFill>
                  <a:srgbClr val="07182A"/>
                </a:solidFill>
                <a:latin typeface="CiscoSansTT Medium"/>
                <a:ea typeface="CiscoSansTT Medium"/>
                <a:cs typeface="CiscoSansTT Medium"/>
              </a:defRPr>
            </a:lvl1pPr>
            <a:lvl2pPr algn="ctr">
              <a:defRPr sz="1725" b="1">
                <a:solidFill>
                  <a:srgbClr val="07182A"/>
                </a:solidFill>
                <a:latin typeface="CiscoSansTT Medium"/>
                <a:ea typeface="CiscoSansTT Medium"/>
                <a:cs typeface="CiscoSansTT Medium"/>
              </a:defRPr>
            </a:lvl2pPr>
            <a:lvl3pPr algn="ctr">
              <a:defRPr sz="1725" b="1">
                <a:solidFill>
                  <a:srgbClr val="07182A"/>
                </a:solidFill>
                <a:latin typeface="CiscoSansTT Medium"/>
                <a:ea typeface="CiscoSansTT Medium"/>
                <a:cs typeface="CiscoSansTT Medium"/>
              </a:defRPr>
            </a:lvl3pPr>
            <a:lvl4pPr algn="ctr">
              <a:defRPr sz="1725" b="1">
                <a:solidFill>
                  <a:srgbClr val="07182A"/>
                </a:solidFill>
                <a:latin typeface="CiscoSansTT Medium"/>
                <a:ea typeface="CiscoSansTT Medium"/>
                <a:cs typeface="CiscoSansTT Medium"/>
              </a:defRPr>
            </a:lvl4pPr>
            <a:lvl5pPr algn="ctr">
              <a:defRPr sz="1725" b="1">
                <a:solidFill>
                  <a:srgbClr val="07182A"/>
                </a:solidFill>
                <a:latin typeface="CiscoSansTT Medium"/>
                <a:ea typeface="CiscoSansTT Medium"/>
                <a:cs typeface="CiscoSansTT Medium"/>
              </a:defRPr>
            </a:lvl5pPr>
            <a:lvl6pPr algn="ctr">
              <a:defRPr sz="1725" b="1">
                <a:solidFill>
                  <a:srgbClr val="07182A"/>
                </a:solidFill>
                <a:latin typeface="CiscoSansTT Medium"/>
                <a:ea typeface="CiscoSansTT Medium"/>
                <a:cs typeface="CiscoSansTT Medium"/>
              </a:defRPr>
            </a:lvl6pPr>
            <a:lvl7pPr algn="ctr">
              <a:defRPr sz="1725" b="1">
                <a:solidFill>
                  <a:srgbClr val="07182A"/>
                </a:solidFill>
                <a:latin typeface="CiscoSansTT Medium"/>
                <a:ea typeface="CiscoSansTT Medium"/>
                <a:cs typeface="CiscoSansTT Medium"/>
              </a:defRPr>
            </a:lvl7pPr>
            <a:lvl8pPr algn="ctr">
              <a:defRPr sz="1725" b="1">
                <a:solidFill>
                  <a:srgbClr val="07182A"/>
                </a:solidFill>
                <a:latin typeface="CiscoSansTT Medium"/>
                <a:ea typeface="CiscoSansTT Medium"/>
                <a:cs typeface="CiscoSansTT Medium"/>
              </a:defRPr>
            </a:lvl8pPr>
            <a:lvl9pPr algn="ctr">
              <a:defRPr sz="1725" b="1">
                <a:solidFill>
                  <a:srgbClr val="07182A"/>
                </a:solidFill>
                <a:latin typeface="CiscoSansTT Medium"/>
                <a:ea typeface="CiscoSansTT Medium"/>
                <a:cs typeface="CiscoSansTT Medium"/>
              </a:defRPr>
            </a:lvl9pPr>
          </a:lstStyle>
          <a:p>
            <a:pPr algn="ctr">
              <a:defRPr sz="1725" b="1">
                <a:solidFill>
                  <a:srgbClr val="07182A"/>
                </a:solidFill>
                <a:latin typeface="CiscoSansTT Medium"/>
                <a:ea typeface="CiscoSansTT Medium"/>
                <a:cs typeface="CiscoSansTT Medium"/>
              </a:defRPr>
            </a:pPr>
            <a:r>
              <a:rPr sz="1725" b="1">
                <a:solidFill>
                  <a:srgbClr val="07182A"/>
                </a:solidFill>
                <a:latin typeface="CiscoSansTT Medium"/>
                <a:ea typeface="CiscoSansTT Medium"/>
                <a:cs typeface="CiscoSansTT Medium"/>
              </a:rPr>
              <a:t>edge-nginx</a:t>
            </a:r>
          </a:p>
        </p:txBody>
      </p:sp>
      <p:cxnSp>
        <p:nvCxnSpPr>
          <p:cNvPr id="45" name="connected-call-0">
            <a:extLst>
              <a:ext uri="{FF2B5EF4-FFF2-40B4-BE49-F238E27FC236}">
                <a16:creationId xmlns:a16="http://schemas.microsoft.com/office/drawing/2014/main" id="{1CEA6D18-6822-4704-8889-6193F61EE3BD}"/>
              </a:ext>
            </a:extLst>
          </p:cNvPr>
          <p:cNvCxnSpPr/>
          <p:nvPr/>
        </p:nvCxnSpPr>
        <p:spPr>
          <a:xfrm>
            <a:off x="3667125" y="4976813"/>
            <a:ext cx="1000125" cy="0"/>
          </a:xfrm>
          <a:prstGeom prst="straightConnector1">
            <a:avLst/>
          </a:prstGeom>
          <a:ln w="21908">
            <a:solidFill>
              <a:srgbClr val="FF007F"/>
            </a:solidFill>
            <a:tailEnd type="arrow" w="med" len="med"/>
          </a:ln>
        </p:spPr>
      </p:cxnSp>
      <p:sp>
        <p:nvSpPr>
          <p:cNvPr id="46" name="connected-span-1">
            <a:extLst>
              <a:ext uri="{FF2B5EF4-FFF2-40B4-BE49-F238E27FC236}">
                <a16:creationId xmlns:a16="http://schemas.microsoft.com/office/drawing/2014/main" id="{E94F0DCD-3993-4401-A189-78395AFDDC8E}"/>
              </a:ext>
            </a:extLst>
          </p:cNvPr>
          <p:cNvSpPr>
            <a:spLocks noGrp="1"/>
          </p:cNvSpPr>
          <p:nvPr/>
        </p:nvSpPr>
        <p:spPr>
          <a:xfrm>
            <a:off x="4667250" y="4714875"/>
            <a:ext cx="2857500" cy="523875"/>
          </a:xfrm>
          <a:prstGeom prst="roundRect">
            <a:avLst>
              <a:gd name="adj" fmla="val 10909"/>
            </a:avLst>
          </a:prstGeom>
          <a:solidFill>
            <a:srgbClr val="F6ECF5"/>
          </a:solidFill>
          <a:ln w="12383">
            <a:solidFill>
              <a:srgbClr val="FF007F"/>
            </a:solidFill>
          </a:ln>
        </p:spPr>
        <p:txBody>
          <a:bodyPr/>
          <a:lstStyle/>
          <a:p>
            <a:endParaRPr lang="en-ES"/>
          </a:p>
        </p:txBody>
      </p:sp>
      <p:sp>
        <p:nvSpPr>
          <p:cNvPr id="47" name="connected-service-1">
            <a:extLst>
              <a:ext uri="{FF2B5EF4-FFF2-40B4-BE49-F238E27FC236}">
                <a16:creationId xmlns:a16="http://schemas.microsoft.com/office/drawing/2014/main" id="{521B59B2-5E34-4272-A475-06DDF926610E}"/>
              </a:ext>
            </a:extLst>
          </p:cNvPr>
          <p:cNvSpPr>
            <a:spLocks noGrp="1"/>
          </p:cNvSpPr>
          <p:nvPr/>
        </p:nvSpPr>
        <p:spPr>
          <a:xfrm>
            <a:off x="4667250" y="4714875"/>
            <a:ext cx="2857500" cy="523875"/>
          </a:xfrm>
          <a:prstGeom prst="rect">
            <a:avLst/>
          </a:prstGeom>
          <a:noFill/>
          <a:ln w="0">
            <a:noFill/>
          </a:ln>
        </p:spPr>
        <p:txBody>
          <a:bodyPr anchor="ctr">
            <a:noAutofit/>
          </a:bodyPr>
          <a:lstStyle>
            <a:defPPr algn="ctr">
              <a:defRPr sz="1725" b="1">
                <a:solidFill>
                  <a:srgbClr val="07182A"/>
                </a:solidFill>
                <a:latin typeface="CiscoSansTT Medium"/>
                <a:ea typeface="CiscoSansTT Medium"/>
                <a:cs typeface="CiscoSansTT Medium"/>
              </a:defRPr>
            </a:defPPr>
            <a:lvl1pPr algn="ctr">
              <a:defRPr sz="1725" b="1">
                <a:solidFill>
                  <a:srgbClr val="07182A"/>
                </a:solidFill>
                <a:latin typeface="CiscoSansTT Medium"/>
                <a:ea typeface="CiscoSansTT Medium"/>
                <a:cs typeface="CiscoSansTT Medium"/>
              </a:defRPr>
            </a:lvl1pPr>
            <a:lvl2pPr algn="ctr">
              <a:defRPr sz="1725" b="1">
                <a:solidFill>
                  <a:srgbClr val="07182A"/>
                </a:solidFill>
                <a:latin typeface="CiscoSansTT Medium"/>
                <a:ea typeface="CiscoSansTT Medium"/>
                <a:cs typeface="CiscoSansTT Medium"/>
              </a:defRPr>
            </a:lvl2pPr>
            <a:lvl3pPr algn="ctr">
              <a:defRPr sz="1725" b="1">
                <a:solidFill>
                  <a:srgbClr val="07182A"/>
                </a:solidFill>
                <a:latin typeface="CiscoSansTT Medium"/>
                <a:ea typeface="CiscoSansTT Medium"/>
                <a:cs typeface="CiscoSansTT Medium"/>
              </a:defRPr>
            </a:lvl3pPr>
            <a:lvl4pPr algn="ctr">
              <a:defRPr sz="1725" b="1">
                <a:solidFill>
                  <a:srgbClr val="07182A"/>
                </a:solidFill>
                <a:latin typeface="CiscoSansTT Medium"/>
                <a:ea typeface="CiscoSansTT Medium"/>
                <a:cs typeface="CiscoSansTT Medium"/>
              </a:defRPr>
            </a:lvl4pPr>
            <a:lvl5pPr algn="ctr">
              <a:defRPr sz="1725" b="1">
                <a:solidFill>
                  <a:srgbClr val="07182A"/>
                </a:solidFill>
                <a:latin typeface="CiscoSansTT Medium"/>
                <a:ea typeface="CiscoSansTT Medium"/>
                <a:cs typeface="CiscoSansTT Medium"/>
              </a:defRPr>
            </a:lvl5pPr>
            <a:lvl6pPr algn="ctr">
              <a:defRPr sz="1725" b="1">
                <a:solidFill>
                  <a:srgbClr val="07182A"/>
                </a:solidFill>
                <a:latin typeface="CiscoSansTT Medium"/>
                <a:ea typeface="CiscoSansTT Medium"/>
                <a:cs typeface="CiscoSansTT Medium"/>
              </a:defRPr>
            </a:lvl6pPr>
            <a:lvl7pPr algn="ctr">
              <a:defRPr sz="1725" b="1">
                <a:solidFill>
                  <a:srgbClr val="07182A"/>
                </a:solidFill>
                <a:latin typeface="CiscoSansTT Medium"/>
                <a:ea typeface="CiscoSansTT Medium"/>
                <a:cs typeface="CiscoSansTT Medium"/>
              </a:defRPr>
            </a:lvl7pPr>
            <a:lvl8pPr algn="ctr">
              <a:defRPr sz="1725" b="1">
                <a:solidFill>
                  <a:srgbClr val="07182A"/>
                </a:solidFill>
                <a:latin typeface="CiscoSansTT Medium"/>
                <a:ea typeface="CiscoSansTT Medium"/>
                <a:cs typeface="CiscoSansTT Medium"/>
              </a:defRPr>
            </a:lvl8pPr>
            <a:lvl9pPr algn="ctr">
              <a:defRPr sz="1725" b="1">
                <a:solidFill>
                  <a:srgbClr val="07182A"/>
                </a:solidFill>
                <a:latin typeface="CiscoSansTT Medium"/>
                <a:ea typeface="CiscoSansTT Medium"/>
                <a:cs typeface="CiscoSansTT Medium"/>
              </a:defRPr>
            </a:lvl9pPr>
          </a:lstStyle>
          <a:p>
            <a:pPr algn="ctr">
              <a:defRPr sz="1725" b="1">
                <a:solidFill>
                  <a:srgbClr val="07182A"/>
                </a:solidFill>
                <a:latin typeface="CiscoSansTT Medium"/>
                <a:ea typeface="CiscoSansTT Medium"/>
                <a:cs typeface="CiscoSansTT Medium"/>
              </a:defRPr>
            </a:pPr>
            <a:r>
              <a:rPr sz="1725" b="1">
                <a:solidFill>
                  <a:srgbClr val="07182A"/>
                </a:solidFill>
                <a:latin typeface="CiscoSansTT Medium"/>
                <a:ea typeface="CiscoSansTT Medium"/>
                <a:cs typeface="CiscoSansTT Medium"/>
              </a:rPr>
              <a:t>recommendations-v2</a:t>
            </a:r>
          </a:p>
        </p:txBody>
      </p:sp>
      <p:cxnSp>
        <p:nvCxnSpPr>
          <p:cNvPr id="48" name="connected-call-1">
            <a:extLst>
              <a:ext uri="{FF2B5EF4-FFF2-40B4-BE49-F238E27FC236}">
                <a16:creationId xmlns:a16="http://schemas.microsoft.com/office/drawing/2014/main" id="{318BEE17-753B-4840-BB8F-2C3747AF3A88}"/>
              </a:ext>
            </a:extLst>
          </p:cNvPr>
          <p:cNvCxnSpPr/>
          <p:nvPr/>
        </p:nvCxnSpPr>
        <p:spPr>
          <a:xfrm>
            <a:off x="7524750" y="4976813"/>
            <a:ext cx="1000125" cy="0"/>
          </a:xfrm>
          <a:prstGeom prst="straightConnector1">
            <a:avLst/>
          </a:prstGeom>
          <a:ln w="21908">
            <a:solidFill>
              <a:srgbClr val="FF007F"/>
            </a:solidFill>
            <a:tailEnd type="arrow" w="med" len="med"/>
          </a:ln>
        </p:spPr>
      </p:cxnSp>
      <p:sp>
        <p:nvSpPr>
          <p:cNvPr id="49" name="connected-span-2">
            <a:extLst>
              <a:ext uri="{FF2B5EF4-FFF2-40B4-BE49-F238E27FC236}">
                <a16:creationId xmlns:a16="http://schemas.microsoft.com/office/drawing/2014/main" id="{437FEDA6-15E2-4C70-B857-AA9C445EF009}"/>
              </a:ext>
            </a:extLst>
          </p:cNvPr>
          <p:cNvSpPr>
            <a:spLocks noGrp="1"/>
          </p:cNvSpPr>
          <p:nvPr/>
        </p:nvSpPr>
        <p:spPr>
          <a:xfrm>
            <a:off x="8524875" y="4714875"/>
            <a:ext cx="2857500" cy="523875"/>
          </a:xfrm>
          <a:prstGeom prst="roundRect">
            <a:avLst>
              <a:gd name="adj" fmla="val 10909"/>
            </a:avLst>
          </a:prstGeom>
          <a:solidFill>
            <a:srgbClr val="F6ECF5"/>
          </a:solidFill>
          <a:ln w="12383">
            <a:solidFill>
              <a:srgbClr val="FF007F"/>
            </a:solidFill>
          </a:ln>
        </p:spPr>
        <p:txBody>
          <a:bodyPr/>
          <a:lstStyle/>
          <a:p>
            <a:endParaRPr lang="en-ES"/>
          </a:p>
        </p:txBody>
      </p:sp>
      <p:sp>
        <p:nvSpPr>
          <p:cNvPr id="50" name="connected-service-2">
            <a:extLst>
              <a:ext uri="{FF2B5EF4-FFF2-40B4-BE49-F238E27FC236}">
                <a16:creationId xmlns:a16="http://schemas.microsoft.com/office/drawing/2014/main" id="{0DE5CD28-5D01-479B-B3A9-D3D00BB64879}"/>
              </a:ext>
            </a:extLst>
          </p:cNvPr>
          <p:cNvSpPr>
            <a:spLocks noGrp="1"/>
          </p:cNvSpPr>
          <p:nvPr/>
        </p:nvSpPr>
        <p:spPr>
          <a:xfrm>
            <a:off x="8524875" y="4714875"/>
            <a:ext cx="2857500" cy="523875"/>
          </a:xfrm>
          <a:prstGeom prst="rect">
            <a:avLst/>
          </a:prstGeom>
          <a:noFill/>
          <a:ln w="0">
            <a:noFill/>
          </a:ln>
        </p:spPr>
        <p:txBody>
          <a:bodyPr anchor="ctr">
            <a:noAutofit/>
          </a:bodyPr>
          <a:lstStyle>
            <a:defPPr algn="ctr">
              <a:defRPr sz="1725" b="1">
                <a:solidFill>
                  <a:srgbClr val="07182A"/>
                </a:solidFill>
                <a:latin typeface="CiscoSansTT Medium"/>
                <a:ea typeface="CiscoSansTT Medium"/>
                <a:cs typeface="CiscoSansTT Medium"/>
              </a:defRPr>
            </a:defPPr>
            <a:lvl1pPr algn="ctr">
              <a:defRPr sz="1725" b="1">
                <a:solidFill>
                  <a:srgbClr val="07182A"/>
                </a:solidFill>
                <a:latin typeface="CiscoSansTT Medium"/>
                <a:ea typeface="CiscoSansTT Medium"/>
                <a:cs typeface="CiscoSansTT Medium"/>
              </a:defRPr>
            </a:lvl1pPr>
            <a:lvl2pPr algn="ctr">
              <a:defRPr sz="1725" b="1">
                <a:solidFill>
                  <a:srgbClr val="07182A"/>
                </a:solidFill>
                <a:latin typeface="CiscoSansTT Medium"/>
                <a:ea typeface="CiscoSansTT Medium"/>
                <a:cs typeface="CiscoSansTT Medium"/>
              </a:defRPr>
            </a:lvl2pPr>
            <a:lvl3pPr algn="ctr">
              <a:defRPr sz="1725" b="1">
                <a:solidFill>
                  <a:srgbClr val="07182A"/>
                </a:solidFill>
                <a:latin typeface="CiscoSansTT Medium"/>
                <a:ea typeface="CiscoSansTT Medium"/>
                <a:cs typeface="CiscoSansTT Medium"/>
              </a:defRPr>
            </a:lvl3pPr>
            <a:lvl4pPr algn="ctr">
              <a:defRPr sz="1725" b="1">
                <a:solidFill>
                  <a:srgbClr val="07182A"/>
                </a:solidFill>
                <a:latin typeface="CiscoSansTT Medium"/>
                <a:ea typeface="CiscoSansTT Medium"/>
                <a:cs typeface="CiscoSansTT Medium"/>
              </a:defRPr>
            </a:lvl4pPr>
            <a:lvl5pPr algn="ctr">
              <a:defRPr sz="1725" b="1">
                <a:solidFill>
                  <a:srgbClr val="07182A"/>
                </a:solidFill>
                <a:latin typeface="CiscoSansTT Medium"/>
                <a:ea typeface="CiscoSansTT Medium"/>
                <a:cs typeface="CiscoSansTT Medium"/>
              </a:defRPr>
            </a:lvl5pPr>
            <a:lvl6pPr algn="ctr">
              <a:defRPr sz="1725" b="1">
                <a:solidFill>
                  <a:srgbClr val="07182A"/>
                </a:solidFill>
                <a:latin typeface="CiscoSansTT Medium"/>
                <a:ea typeface="CiscoSansTT Medium"/>
                <a:cs typeface="CiscoSansTT Medium"/>
              </a:defRPr>
            </a:lvl6pPr>
            <a:lvl7pPr algn="ctr">
              <a:defRPr sz="1725" b="1">
                <a:solidFill>
                  <a:srgbClr val="07182A"/>
                </a:solidFill>
                <a:latin typeface="CiscoSansTT Medium"/>
                <a:ea typeface="CiscoSansTT Medium"/>
                <a:cs typeface="CiscoSansTT Medium"/>
              </a:defRPr>
            </a:lvl7pPr>
            <a:lvl8pPr algn="ctr">
              <a:defRPr sz="1725" b="1">
                <a:solidFill>
                  <a:srgbClr val="07182A"/>
                </a:solidFill>
                <a:latin typeface="CiscoSansTT Medium"/>
                <a:ea typeface="CiscoSansTT Medium"/>
                <a:cs typeface="CiscoSansTT Medium"/>
              </a:defRPr>
            </a:lvl8pPr>
            <a:lvl9pPr algn="ctr">
              <a:defRPr sz="1725" b="1">
                <a:solidFill>
                  <a:srgbClr val="07182A"/>
                </a:solidFill>
                <a:latin typeface="CiscoSansTT Medium"/>
                <a:ea typeface="CiscoSansTT Medium"/>
                <a:cs typeface="CiscoSansTT Medium"/>
              </a:defRPr>
            </a:lvl9pPr>
          </a:lstStyle>
          <a:p>
            <a:pPr algn="ctr">
              <a:defRPr sz="1725" b="1">
                <a:solidFill>
                  <a:srgbClr val="07182A"/>
                </a:solidFill>
                <a:latin typeface="CiscoSansTT Medium"/>
                <a:ea typeface="CiscoSansTT Medium"/>
                <a:cs typeface="CiscoSansTT Medium"/>
              </a:defRPr>
            </a:pPr>
            <a:r>
              <a:rPr sz="1725" b="1">
                <a:solidFill>
                  <a:srgbClr val="07182A"/>
                </a:solidFill>
                <a:latin typeface="CiscoSansTT Medium"/>
                <a:ea typeface="CiscoSansTT Medium"/>
                <a:cs typeface="CiscoSansTT Medium"/>
              </a:rPr>
              <a:t>recommendations-v1</a:t>
            </a:r>
          </a:p>
        </p:txBody>
      </p:sp>
      <p:sp>
        <p:nvSpPr>
          <p:cNvPr id="51" name="trace-takeaway">
            <a:extLst>
              <a:ext uri="{FF2B5EF4-FFF2-40B4-BE49-F238E27FC236}">
                <a16:creationId xmlns:a16="http://schemas.microsoft.com/office/drawing/2014/main" id="{E55C148F-3014-441A-A226-24A26882EE69}"/>
              </a:ext>
            </a:extLst>
          </p:cNvPr>
          <p:cNvSpPr>
            <a:spLocks noGrp="1"/>
          </p:cNvSpPr>
          <p:nvPr/>
        </p:nvSpPr>
        <p:spPr>
          <a:xfrm>
            <a:off x="666750" y="5791200"/>
            <a:ext cx="10858500" cy="419100"/>
          </a:xfrm>
          <a:prstGeom prst="rect">
            <a:avLst/>
          </a:prstGeom>
          <a:noFill/>
          <a:ln w="0">
            <a:noFill/>
          </a:ln>
        </p:spPr>
        <p:txBody>
          <a:bodyPr anchor="ctr">
            <a:noAutofit/>
          </a:bodyPr>
          <a:lstStyle>
            <a:defPPr algn="ctr">
              <a:defRPr sz="1950" b="1">
                <a:solidFill>
                  <a:srgbClr val="07182A"/>
                </a:solidFill>
                <a:latin typeface="CiscoSansTT Medium"/>
                <a:ea typeface="CiscoSansTT Medium"/>
                <a:cs typeface="CiscoSansTT Medium"/>
              </a:defRPr>
            </a:defPPr>
            <a:lvl1pPr algn="ctr">
              <a:defRPr sz="1950" b="1">
                <a:solidFill>
                  <a:srgbClr val="07182A"/>
                </a:solidFill>
                <a:latin typeface="CiscoSansTT Medium"/>
                <a:ea typeface="CiscoSansTT Medium"/>
                <a:cs typeface="CiscoSansTT Medium"/>
              </a:defRPr>
            </a:lvl1pPr>
            <a:lvl2pPr algn="ctr">
              <a:defRPr sz="1950" b="1">
                <a:solidFill>
                  <a:srgbClr val="07182A"/>
                </a:solidFill>
                <a:latin typeface="CiscoSansTT Medium"/>
                <a:ea typeface="CiscoSansTT Medium"/>
                <a:cs typeface="CiscoSansTT Medium"/>
              </a:defRPr>
            </a:lvl2pPr>
            <a:lvl3pPr algn="ctr">
              <a:defRPr sz="1950" b="1">
                <a:solidFill>
                  <a:srgbClr val="07182A"/>
                </a:solidFill>
                <a:latin typeface="CiscoSansTT Medium"/>
                <a:ea typeface="CiscoSansTT Medium"/>
                <a:cs typeface="CiscoSansTT Medium"/>
              </a:defRPr>
            </a:lvl3pPr>
            <a:lvl4pPr algn="ctr">
              <a:defRPr sz="1950" b="1">
                <a:solidFill>
                  <a:srgbClr val="07182A"/>
                </a:solidFill>
                <a:latin typeface="CiscoSansTT Medium"/>
                <a:ea typeface="CiscoSansTT Medium"/>
                <a:cs typeface="CiscoSansTT Medium"/>
              </a:defRPr>
            </a:lvl4pPr>
            <a:lvl5pPr algn="ctr">
              <a:defRPr sz="1950" b="1">
                <a:solidFill>
                  <a:srgbClr val="07182A"/>
                </a:solidFill>
                <a:latin typeface="CiscoSansTT Medium"/>
                <a:ea typeface="CiscoSansTT Medium"/>
                <a:cs typeface="CiscoSansTT Medium"/>
              </a:defRPr>
            </a:lvl5pPr>
            <a:lvl6pPr algn="ctr">
              <a:defRPr sz="1950" b="1">
                <a:solidFill>
                  <a:srgbClr val="07182A"/>
                </a:solidFill>
                <a:latin typeface="CiscoSansTT Medium"/>
                <a:ea typeface="CiscoSansTT Medium"/>
                <a:cs typeface="CiscoSansTT Medium"/>
              </a:defRPr>
            </a:lvl6pPr>
            <a:lvl7pPr algn="ctr">
              <a:defRPr sz="1950" b="1">
                <a:solidFill>
                  <a:srgbClr val="07182A"/>
                </a:solidFill>
                <a:latin typeface="CiscoSansTT Medium"/>
                <a:ea typeface="CiscoSansTT Medium"/>
                <a:cs typeface="CiscoSansTT Medium"/>
              </a:defRPr>
            </a:lvl7pPr>
            <a:lvl8pPr algn="ctr">
              <a:defRPr sz="1950" b="1">
                <a:solidFill>
                  <a:srgbClr val="07182A"/>
                </a:solidFill>
                <a:latin typeface="CiscoSansTT Medium"/>
                <a:ea typeface="CiscoSansTT Medium"/>
                <a:cs typeface="CiscoSansTT Medium"/>
              </a:defRPr>
            </a:lvl8pPr>
            <a:lvl9pPr algn="ctr">
              <a:defRPr sz="1950" b="1">
                <a:solidFill>
                  <a:srgbClr val="07182A"/>
                </a:solidFill>
                <a:latin typeface="CiscoSansTT Medium"/>
                <a:ea typeface="CiscoSansTT Medium"/>
                <a:cs typeface="CiscoSansTT Medium"/>
              </a:defRPr>
            </a:lvl9pPr>
          </a:lstStyle>
          <a:p>
            <a:pPr algn="ctr">
              <a:defRPr sz="1950" b="1">
                <a:solidFill>
                  <a:srgbClr val="07182A"/>
                </a:solidFill>
                <a:latin typeface="CiscoSansTT Medium"/>
                <a:ea typeface="CiscoSansTT Medium"/>
                <a:cs typeface="CiscoSansTT Medium"/>
              </a:defRPr>
            </a:pPr>
            <a:r>
              <a:rPr sz="1950" b="1">
                <a:solidFill>
                  <a:srgbClr val="07182A"/>
                </a:solidFill>
                <a:latin typeface="CiscoSansTT Medium"/>
                <a:ea typeface="CiscoSansTT Medium"/>
                <a:cs typeface="CiscoSansTT Medium"/>
              </a:rPr>
              <a:t>One trace connects the operations across all three services.</a:t>
            </a:r>
          </a:p>
        </p:txBody>
      </p:sp>
    </p:spTree>
    <p:extLst>
      <p:ext uri="{BB962C8B-B14F-4D97-AF65-F5344CB8AC3E}">
        <p14:creationId xmlns:p14="http://schemas.microsoft.com/office/powerpoint/2010/main" val="76814743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DFDA3ED-95EC-4A0D-9FCE-16122C5E9912}"/>
              </a:ext>
            </a:extLst>
          </p:cNvPr>
          <p:cNvSpPr>
            <a:spLocks noGrp="1"/>
          </p:cNvSpPr>
          <p:nvPr/>
        </p:nvSpPr>
        <p:spPr>
          <a:xfrm>
            <a:off x="6096000" y="1466850"/>
            <a:ext cx="19050" cy="3695700"/>
          </a:xfrm>
          <a:prstGeom prst="rect">
            <a:avLst/>
          </a:prstGeom>
          <a:solidFill>
            <a:srgbClr val="D6D6D6"/>
          </a:solidFill>
          <a:ln w="0">
            <a:noFill/>
          </a:ln>
        </p:spPr>
        <p:txBody>
          <a:bodyPr/>
          <a:lstStyle/>
          <a:p>
            <a:endParaRPr lang="en-ES"/>
          </a:p>
        </p:txBody>
      </p:sp>
      <p:sp>
        <p:nvSpPr>
          <p:cNvPr id="2" name="slide-title">
            <a:extLst>
              <a:ext uri="{FF2B5EF4-FFF2-40B4-BE49-F238E27FC236}">
                <a16:creationId xmlns:a16="http://schemas.microsoft.com/office/drawing/2014/main" id="{AF91CE5A-64FB-4F8E-8356-F072CCB34E86}"/>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Signal ownership: OBI and Cilium + Hubble</a:t>
            </a:r>
          </a:p>
        </p:txBody>
      </p:sp>
      <p:sp>
        <p:nvSpPr>
          <p:cNvPr id="3" name="Rectangle 2">
            <a:extLst>
              <a:ext uri="{FF2B5EF4-FFF2-40B4-BE49-F238E27FC236}">
                <a16:creationId xmlns:a16="http://schemas.microsoft.com/office/drawing/2014/main" id="{5AFF7D12-6ECF-4276-80D9-6F814907A008}"/>
              </a:ext>
            </a:extLst>
          </p:cNvPr>
          <p:cNvSpPr>
            <a:spLocks noGrp="1"/>
          </p:cNvSpPr>
          <p:nvPr/>
        </p:nvSpPr>
        <p:spPr>
          <a:xfrm>
            <a:off x="723900" y="1524000"/>
            <a:ext cx="4572000" cy="514350"/>
          </a:xfrm>
          <a:prstGeom prst="rect">
            <a:avLst/>
          </a:prstGeom>
          <a:noFill/>
          <a:ln w="0">
            <a:noFill/>
          </a:ln>
        </p:spPr>
        <p:txBody>
          <a:bodyPr anchor="t">
            <a:normAutofit/>
          </a:bodyPr>
          <a:lstStyle/>
          <a:p>
            <a:pPr algn="l">
              <a:buNone/>
              <a:defRPr sz="2550" b="1">
                <a:solidFill>
                  <a:srgbClr val="FF007F"/>
                </a:solidFill>
                <a:latin typeface="CiscoSansTT Medium"/>
                <a:ea typeface="CiscoSansTT Medium"/>
                <a:cs typeface="CiscoSansTT Medium"/>
              </a:defRPr>
            </a:pPr>
            <a:r>
              <a:rPr sz="2550" b="1">
                <a:solidFill>
                  <a:srgbClr val="FF007F"/>
                </a:solidFill>
                <a:latin typeface="CiscoSansTT Medium"/>
                <a:ea typeface="CiscoSansTT Medium"/>
                <a:cs typeface="CiscoSansTT Medium"/>
              </a:rPr>
              <a:t>OBI</a:t>
            </a:r>
          </a:p>
        </p:txBody>
      </p:sp>
      <p:sp>
        <p:nvSpPr>
          <p:cNvPr id="4" name="Rectangle 3">
            <a:extLst>
              <a:ext uri="{FF2B5EF4-FFF2-40B4-BE49-F238E27FC236}">
                <a16:creationId xmlns:a16="http://schemas.microsoft.com/office/drawing/2014/main" id="{46FB8965-F160-4E3D-8BE7-E57B69EA80D6}"/>
              </a:ext>
            </a:extLst>
          </p:cNvPr>
          <p:cNvSpPr>
            <a:spLocks noGrp="1"/>
          </p:cNvSpPr>
          <p:nvPr/>
        </p:nvSpPr>
        <p:spPr>
          <a:xfrm>
            <a:off x="723900" y="2133600"/>
            <a:ext cx="4619625" cy="400050"/>
          </a:xfrm>
          <a:prstGeom prst="rect">
            <a:avLst/>
          </a:prstGeom>
          <a:noFill/>
          <a:ln w="0">
            <a:noFill/>
          </a:ln>
        </p:spPr>
        <p:txBody>
          <a:bodyPr anchor="t">
            <a:normAutofit/>
          </a:bodyPr>
          <a:lstStyle/>
          <a:p>
            <a:pPr algn="l">
              <a:buNone/>
              <a:defRPr sz="2025" b="1">
                <a:solidFill>
                  <a:srgbClr val="07182A"/>
                </a:solidFill>
                <a:latin typeface="CiscoSansTT Medium"/>
                <a:ea typeface="CiscoSansTT Medium"/>
                <a:cs typeface="CiscoSansTT Medium"/>
              </a:defRPr>
            </a:pPr>
            <a:r>
              <a:rPr sz="2025" b="1">
                <a:solidFill>
                  <a:srgbClr val="07182A"/>
                </a:solidFill>
                <a:latin typeface="CiscoSansTT Medium"/>
                <a:ea typeface="CiscoSansTT Medium"/>
                <a:cs typeface="CiscoSansTT Medium"/>
              </a:rPr>
              <a:t>Application requests</a:t>
            </a:r>
          </a:p>
        </p:txBody>
      </p:sp>
      <p:sp>
        <p:nvSpPr>
          <p:cNvPr id="5" name="Rectangle 4">
            <a:extLst>
              <a:ext uri="{FF2B5EF4-FFF2-40B4-BE49-F238E27FC236}">
                <a16:creationId xmlns:a16="http://schemas.microsoft.com/office/drawing/2014/main" id="{29251D8D-B9F0-4C66-BFC3-7128D479000C}"/>
              </a:ext>
            </a:extLst>
          </p:cNvPr>
          <p:cNvSpPr>
            <a:spLocks noGrp="1"/>
          </p:cNvSpPr>
          <p:nvPr/>
        </p:nvSpPr>
        <p:spPr>
          <a:xfrm>
            <a:off x="723900" y="2762250"/>
            <a:ext cx="4762500" cy="400050"/>
          </a:xfrm>
          <a:prstGeom prst="rect">
            <a:avLst/>
          </a:prstGeom>
          <a:noFill/>
          <a:ln w="0">
            <a:noFill/>
          </a:ln>
        </p:spPr>
        <p:txBody>
          <a:bodyPr anchor="t">
            <a:normAutofit/>
          </a:bodyPr>
          <a:lstStyle/>
          <a:p>
            <a:pPr algn="l">
              <a:buNone/>
              <a:defRPr sz="1875" b="0">
                <a:solidFill>
                  <a:srgbClr val="07182A"/>
                </a:solidFill>
                <a:latin typeface="CiscoSansTT"/>
                <a:ea typeface="CiscoSansTT"/>
                <a:cs typeface="CiscoSansTT"/>
              </a:defRPr>
            </a:pPr>
            <a:r>
              <a:rPr lang="en-US" sz="1875" b="0" dirty="0">
                <a:solidFill>
                  <a:srgbClr val="07182A"/>
                </a:solidFill>
                <a:latin typeface="CiscoSansTT"/>
                <a:ea typeface="CiscoSansTT"/>
                <a:cs typeface="CiscoSansTT"/>
              </a:rPr>
              <a:t>HTTP </a:t>
            </a:r>
            <a:r>
              <a:rPr sz="1875" b="0" dirty="0">
                <a:solidFill>
                  <a:srgbClr val="07182A"/>
                </a:solidFill>
                <a:latin typeface="CiscoSansTT"/>
                <a:ea typeface="CiscoSansTT"/>
                <a:cs typeface="CiscoSansTT"/>
              </a:rPr>
              <a:t>Route, latency, and status</a:t>
            </a:r>
          </a:p>
        </p:txBody>
      </p:sp>
      <p:sp>
        <p:nvSpPr>
          <p:cNvPr id="6" name="Rectangle 5">
            <a:extLst>
              <a:ext uri="{FF2B5EF4-FFF2-40B4-BE49-F238E27FC236}">
                <a16:creationId xmlns:a16="http://schemas.microsoft.com/office/drawing/2014/main" id="{C56BF428-33AE-4A4D-A033-BA529044666F}"/>
              </a:ext>
            </a:extLst>
          </p:cNvPr>
          <p:cNvSpPr>
            <a:spLocks noGrp="1"/>
          </p:cNvSpPr>
          <p:nvPr/>
        </p:nvSpPr>
        <p:spPr>
          <a:xfrm>
            <a:off x="723900" y="3352800"/>
            <a:ext cx="4762500" cy="400050"/>
          </a:xfrm>
          <a:prstGeom prst="rect">
            <a:avLst/>
          </a:prstGeom>
          <a:noFill/>
          <a:ln w="0">
            <a:noFill/>
          </a:ln>
        </p:spPr>
        <p:txBody>
          <a:bodyPr anchor="t">
            <a:normAutofit/>
          </a:bodyPr>
          <a:lstStyle/>
          <a:p>
            <a:pPr algn="l">
              <a:buNone/>
              <a:defRPr sz="1875" b="0">
                <a:solidFill>
                  <a:srgbClr val="07182A"/>
                </a:solidFill>
                <a:latin typeface="CiscoSansTT"/>
                <a:ea typeface="CiscoSansTT"/>
                <a:cs typeface="CiscoSansTT"/>
              </a:defRPr>
            </a:pPr>
            <a:r>
              <a:rPr lang="en-US" sz="1875" b="0" dirty="0">
                <a:solidFill>
                  <a:srgbClr val="07182A"/>
                </a:solidFill>
                <a:latin typeface="CiscoSansTT"/>
                <a:ea typeface="CiscoSansTT"/>
                <a:cs typeface="CiscoSansTT"/>
              </a:rPr>
              <a:t>Distributed tracing</a:t>
            </a:r>
            <a:r>
              <a:rPr sz="1875" b="0" dirty="0">
                <a:solidFill>
                  <a:srgbClr val="07182A"/>
                </a:solidFill>
                <a:latin typeface="CiscoSansTT"/>
                <a:ea typeface="CiscoSansTT"/>
                <a:cs typeface="CiscoSansTT"/>
              </a:rPr>
              <a:t> and RED metrics</a:t>
            </a:r>
          </a:p>
        </p:txBody>
      </p:sp>
      <p:sp>
        <p:nvSpPr>
          <p:cNvPr id="7" name="Rectangle 6">
            <a:extLst>
              <a:ext uri="{FF2B5EF4-FFF2-40B4-BE49-F238E27FC236}">
                <a16:creationId xmlns:a16="http://schemas.microsoft.com/office/drawing/2014/main" id="{88F31A24-7B4B-4EA1-97AB-CA1F9BB93819}"/>
              </a:ext>
            </a:extLst>
          </p:cNvPr>
          <p:cNvSpPr>
            <a:spLocks noGrp="1"/>
          </p:cNvSpPr>
          <p:nvPr/>
        </p:nvSpPr>
        <p:spPr>
          <a:xfrm>
            <a:off x="723900" y="4143375"/>
            <a:ext cx="4762500" cy="400050"/>
          </a:xfrm>
          <a:prstGeom prst="rect">
            <a:avLst/>
          </a:prstGeom>
          <a:noFill/>
          <a:ln w="0">
            <a:noFill/>
          </a:ln>
        </p:spPr>
        <p:txBody>
          <a:bodyPr anchor="t">
            <a:normAutofit/>
          </a:bodyPr>
          <a:lstStyle/>
          <a:p>
            <a:pPr algn="l">
              <a:buNone/>
              <a:defRPr sz="1800" b="0">
                <a:solidFill>
                  <a:srgbClr val="686B6B"/>
                </a:solidFill>
                <a:latin typeface="CiscoSansTT"/>
                <a:ea typeface="CiscoSansTT"/>
                <a:cs typeface="CiscoSansTT"/>
              </a:defRPr>
            </a:pPr>
            <a:r>
              <a:rPr sz="1800" b="0" dirty="0">
                <a:solidFill>
                  <a:srgbClr val="686B6B"/>
                </a:solidFill>
                <a:latin typeface="CiscoSansTT"/>
                <a:ea typeface="CiscoSansTT"/>
                <a:cs typeface="CiscoSansTT"/>
              </a:rPr>
              <a:t>Which request was slow?</a:t>
            </a:r>
            <a:r>
              <a:rPr lang="en-US" sz="1800" b="0" dirty="0">
                <a:solidFill>
                  <a:srgbClr val="686B6B"/>
                </a:solidFill>
                <a:latin typeface="CiscoSansTT"/>
                <a:ea typeface="CiscoSansTT"/>
                <a:cs typeface="CiscoSansTT"/>
              </a:rPr>
              <a:t> And why?</a:t>
            </a:r>
            <a:endParaRPr sz="1800" b="0" dirty="0">
              <a:solidFill>
                <a:srgbClr val="686B6B"/>
              </a:solidFill>
              <a:latin typeface="CiscoSansTT"/>
              <a:ea typeface="CiscoSansTT"/>
              <a:cs typeface="CiscoSansTT"/>
            </a:endParaRPr>
          </a:p>
        </p:txBody>
      </p:sp>
      <p:sp>
        <p:nvSpPr>
          <p:cNvPr id="8" name="Rectangle 7">
            <a:extLst>
              <a:ext uri="{FF2B5EF4-FFF2-40B4-BE49-F238E27FC236}">
                <a16:creationId xmlns:a16="http://schemas.microsoft.com/office/drawing/2014/main" id="{738FCE8D-946B-4CE8-B707-81664E240627}"/>
              </a:ext>
            </a:extLst>
          </p:cNvPr>
          <p:cNvSpPr>
            <a:spLocks noGrp="1"/>
          </p:cNvSpPr>
          <p:nvPr/>
        </p:nvSpPr>
        <p:spPr>
          <a:xfrm>
            <a:off x="6724650" y="1524000"/>
            <a:ext cx="4762500" cy="514350"/>
          </a:xfrm>
          <a:prstGeom prst="rect">
            <a:avLst/>
          </a:prstGeom>
          <a:noFill/>
          <a:ln w="0">
            <a:noFill/>
          </a:ln>
        </p:spPr>
        <p:txBody>
          <a:bodyPr anchor="t">
            <a:normAutofit/>
          </a:bodyPr>
          <a:lstStyle/>
          <a:p>
            <a:pPr algn="l">
              <a:buNone/>
              <a:defRPr sz="2550" b="1">
                <a:solidFill>
                  <a:srgbClr val="0860FE"/>
                </a:solidFill>
                <a:latin typeface="CiscoSansTT Medium"/>
                <a:ea typeface="CiscoSansTT Medium"/>
                <a:cs typeface="CiscoSansTT Medium"/>
              </a:defRPr>
            </a:pPr>
            <a:r>
              <a:rPr sz="2550" b="1">
                <a:solidFill>
                  <a:srgbClr val="0860FE"/>
                </a:solidFill>
                <a:latin typeface="CiscoSansTT Medium"/>
                <a:ea typeface="CiscoSansTT Medium"/>
                <a:cs typeface="CiscoSansTT Medium"/>
              </a:rPr>
              <a:t>Cilium + Hubble</a:t>
            </a:r>
          </a:p>
        </p:txBody>
      </p:sp>
      <p:sp>
        <p:nvSpPr>
          <p:cNvPr id="9" name="Rectangle 8">
            <a:extLst>
              <a:ext uri="{FF2B5EF4-FFF2-40B4-BE49-F238E27FC236}">
                <a16:creationId xmlns:a16="http://schemas.microsoft.com/office/drawing/2014/main" id="{3425763A-237B-4BDB-99B4-06424102A018}"/>
              </a:ext>
            </a:extLst>
          </p:cNvPr>
          <p:cNvSpPr>
            <a:spLocks noGrp="1"/>
          </p:cNvSpPr>
          <p:nvPr/>
        </p:nvSpPr>
        <p:spPr>
          <a:xfrm>
            <a:off x="6724650" y="2133600"/>
            <a:ext cx="4762500" cy="400050"/>
          </a:xfrm>
          <a:prstGeom prst="rect">
            <a:avLst/>
          </a:prstGeom>
          <a:noFill/>
          <a:ln w="0">
            <a:noFill/>
          </a:ln>
        </p:spPr>
        <p:txBody>
          <a:bodyPr anchor="t">
            <a:normAutofit/>
          </a:bodyPr>
          <a:lstStyle/>
          <a:p>
            <a:pPr algn="l">
              <a:buNone/>
              <a:defRPr sz="2025" b="1">
                <a:solidFill>
                  <a:srgbClr val="07182A"/>
                </a:solidFill>
                <a:latin typeface="CiscoSansTT Medium"/>
                <a:ea typeface="CiscoSansTT Medium"/>
                <a:cs typeface="CiscoSansTT Medium"/>
              </a:defRPr>
            </a:pPr>
            <a:r>
              <a:rPr sz="2025" b="1">
                <a:solidFill>
                  <a:srgbClr val="07182A"/>
                </a:solidFill>
                <a:latin typeface="CiscoSansTT Medium"/>
                <a:ea typeface="CiscoSansTT Medium"/>
                <a:cs typeface="CiscoSansTT Medium"/>
              </a:rPr>
              <a:t>Network flows and policy</a:t>
            </a:r>
          </a:p>
        </p:txBody>
      </p:sp>
      <p:sp>
        <p:nvSpPr>
          <p:cNvPr id="10" name="Rectangle 9">
            <a:extLst>
              <a:ext uri="{FF2B5EF4-FFF2-40B4-BE49-F238E27FC236}">
                <a16:creationId xmlns:a16="http://schemas.microsoft.com/office/drawing/2014/main" id="{FF114EB4-706A-4CBB-9A81-8539929A4102}"/>
              </a:ext>
            </a:extLst>
          </p:cNvPr>
          <p:cNvSpPr>
            <a:spLocks noGrp="1"/>
          </p:cNvSpPr>
          <p:nvPr/>
        </p:nvSpPr>
        <p:spPr>
          <a:xfrm>
            <a:off x="6724650" y="2762250"/>
            <a:ext cx="4857750" cy="400050"/>
          </a:xfrm>
          <a:prstGeom prst="rect">
            <a:avLst/>
          </a:prstGeom>
          <a:noFill/>
          <a:ln w="0">
            <a:noFill/>
          </a:ln>
        </p:spPr>
        <p:txBody>
          <a:bodyPr anchor="t">
            <a:normAutofit/>
          </a:bodyPr>
          <a:lstStyle/>
          <a:p>
            <a:pPr algn="l">
              <a:buNone/>
              <a:defRPr sz="1875" b="0">
                <a:solidFill>
                  <a:srgbClr val="07182A"/>
                </a:solidFill>
                <a:latin typeface="CiscoSansTT"/>
                <a:ea typeface="CiscoSansTT"/>
                <a:cs typeface="CiscoSansTT"/>
              </a:defRPr>
            </a:pPr>
            <a:r>
              <a:rPr sz="1875" b="0">
                <a:solidFill>
                  <a:srgbClr val="07182A"/>
                </a:solidFill>
                <a:latin typeface="CiscoSansTT"/>
                <a:ea typeface="CiscoSansTT"/>
                <a:cs typeface="CiscoSansTT"/>
              </a:rPr>
              <a:t>Workload identities and ports</a:t>
            </a:r>
          </a:p>
        </p:txBody>
      </p:sp>
      <p:sp>
        <p:nvSpPr>
          <p:cNvPr id="11" name="Rectangle 10">
            <a:extLst>
              <a:ext uri="{FF2B5EF4-FFF2-40B4-BE49-F238E27FC236}">
                <a16:creationId xmlns:a16="http://schemas.microsoft.com/office/drawing/2014/main" id="{198F2D09-E983-4F35-8B9B-503CC7F6AD6A}"/>
              </a:ext>
            </a:extLst>
          </p:cNvPr>
          <p:cNvSpPr>
            <a:spLocks noGrp="1"/>
          </p:cNvSpPr>
          <p:nvPr/>
        </p:nvSpPr>
        <p:spPr>
          <a:xfrm>
            <a:off x="6724650" y="3352800"/>
            <a:ext cx="4857750" cy="400050"/>
          </a:xfrm>
          <a:prstGeom prst="rect">
            <a:avLst/>
          </a:prstGeom>
          <a:noFill/>
          <a:ln w="0">
            <a:noFill/>
          </a:ln>
        </p:spPr>
        <p:txBody>
          <a:bodyPr anchor="t">
            <a:normAutofit/>
          </a:bodyPr>
          <a:lstStyle/>
          <a:p>
            <a:pPr algn="l">
              <a:buNone/>
              <a:defRPr sz="1875" b="0">
                <a:solidFill>
                  <a:srgbClr val="07182A"/>
                </a:solidFill>
                <a:latin typeface="CiscoSansTT"/>
                <a:ea typeface="CiscoSansTT"/>
                <a:cs typeface="CiscoSansTT"/>
              </a:defRPr>
            </a:pPr>
            <a:r>
              <a:rPr sz="1875" b="0" dirty="0">
                <a:solidFill>
                  <a:srgbClr val="07182A"/>
                </a:solidFill>
                <a:latin typeface="CiscoSansTT"/>
                <a:ea typeface="CiscoSansTT"/>
                <a:cs typeface="CiscoSansTT"/>
              </a:rPr>
              <a:t>Verdicts and drop reasons</a:t>
            </a:r>
          </a:p>
        </p:txBody>
      </p:sp>
      <p:sp>
        <p:nvSpPr>
          <p:cNvPr id="12" name="Rectangle 11">
            <a:extLst>
              <a:ext uri="{FF2B5EF4-FFF2-40B4-BE49-F238E27FC236}">
                <a16:creationId xmlns:a16="http://schemas.microsoft.com/office/drawing/2014/main" id="{025468DF-4C94-4BBF-AA5C-A1251E4A9E74}"/>
              </a:ext>
            </a:extLst>
          </p:cNvPr>
          <p:cNvSpPr>
            <a:spLocks noGrp="1"/>
          </p:cNvSpPr>
          <p:nvPr/>
        </p:nvSpPr>
        <p:spPr>
          <a:xfrm>
            <a:off x="6724650" y="4143375"/>
            <a:ext cx="4857750" cy="400050"/>
          </a:xfrm>
          <a:prstGeom prst="rect">
            <a:avLst/>
          </a:prstGeom>
          <a:noFill/>
          <a:ln w="0">
            <a:noFill/>
          </a:ln>
        </p:spPr>
        <p:txBody>
          <a:bodyPr anchor="t">
            <a:normAutofit/>
          </a:bodyPr>
          <a:lstStyle/>
          <a:p>
            <a:pPr algn="l">
              <a:buNone/>
              <a:defRPr sz="1800" b="0">
                <a:solidFill>
                  <a:srgbClr val="686B6B"/>
                </a:solidFill>
                <a:latin typeface="CiscoSansTT"/>
                <a:ea typeface="CiscoSansTT"/>
                <a:cs typeface="CiscoSansTT"/>
              </a:defRPr>
            </a:pPr>
            <a:r>
              <a:rPr sz="1800" b="0">
                <a:solidFill>
                  <a:srgbClr val="686B6B"/>
                </a:solidFill>
                <a:latin typeface="CiscoSansTT"/>
                <a:ea typeface="CiscoSansTT"/>
                <a:cs typeface="CiscoSansTT"/>
              </a:rPr>
              <a:t>Which connection was denied?</a:t>
            </a:r>
          </a:p>
        </p:txBody>
      </p:sp>
      <p:sp>
        <p:nvSpPr>
          <p:cNvPr id="13" name="Rounded Rectangle 12">
            <a:extLst>
              <a:ext uri="{FF2B5EF4-FFF2-40B4-BE49-F238E27FC236}">
                <a16:creationId xmlns:a16="http://schemas.microsoft.com/office/drawing/2014/main" id="{E443BD63-0DF9-4B2B-8414-99B373C542BB}"/>
              </a:ext>
            </a:extLst>
          </p:cNvPr>
          <p:cNvSpPr>
            <a:spLocks noGrp="1"/>
          </p:cNvSpPr>
          <p:nvPr/>
        </p:nvSpPr>
        <p:spPr>
          <a:xfrm>
            <a:off x="1962150" y="5181600"/>
            <a:ext cx="8267700" cy="742950"/>
          </a:xfrm>
          <a:prstGeom prst="roundRect">
            <a:avLst>
              <a:gd name="adj" fmla="val 10256"/>
            </a:avLst>
          </a:prstGeom>
          <a:solidFill>
            <a:srgbClr val="07182A"/>
          </a:solidFill>
          <a:ln w="0">
            <a:noFill/>
          </a:ln>
        </p:spPr>
        <p:txBody>
          <a:bodyPr/>
          <a:lstStyle/>
          <a:p>
            <a:endParaRPr lang="en-ES"/>
          </a:p>
        </p:txBody>
      </p:sp>
      <p:sp>
        <p:nvSpPr>
          <p:cNvPr id="14" name="Rectangle 13">
            <a:extLst>
              <a:ext uri="{FF2B5EF4-FFF2-40B4-BE49-F238E27FC236}">
                <a16:creationId xmlns:a16="http://schemas.microsoft.com/office/drawing/2014/main" id="{4389C545-F081-40EF-85C4-C440B5B4FB21}"/>
              </a:ext>
            </a:extLst>
          </p:cNvPr>
          <p:cNvSpPr>
            <a:spLocks noGrp="1"/>
          </p:cNvSpPr>
          <p:nvPr/>
        </p:nvSpPr>
        <p:spPr>
          <a:xfrm>
            <a:off x="2238375" y="5324475"/>
            <a:ext cx="7715250" cy="457200"/>
          </a:xfrm>
          <a:prstGeom prst="rect">
            <a:avLst/>
          </a:prstGeom>
          <a:noFill/>
          <a:ln w="0">
            <a:noFill/>
          </a:ln>
        </p:spPr>
        <p:txBody>
          <a:bodyPr anchor="ctr">
            <a:normAutofit/>
          </a:bodyPr>
          <a:lstStyle/>
          <a:p>
            <a:pPr algn="ctr">
              <a:buNone/>
              <a:defRPr sz="2025" b="1">
                <a:solidFill>
                  <a:srgbClr val="FFFFFF"/>
                </a:solidFill>
                <a:latin typeface="CiscoSansTT Medium"/>
                <a:ea typeface="CiscoSansTT Medium"/>
                <a:cs typeface="CiscoSansTT Medium"/>
              </a:defRPr>
            </a:pPr>
            <a:r>
              <a:rPr sz="2025" b="1">
                <a:solidFill>
                  <a:srgbClr val="FFFFFF"/>
                </a:solidFill>
                <a:latin typeface="CiscoSansTT Medium"/>
                <a:ea typeface="CiscoSansTT Medium"/>
                <a:cs typeface="CiscoSansTT Medium"/>
              </a:rPr>
              <a:t>Correlate by time, workload, direction, and port</a:t>
            </a:r>
          </a:p>
        </p:txBody>
      </p:sp>
      <p:sp>
        <p:nvSpPr>
          <p:cNvPr id="15" name="Rectangle 14">
            <a:extLst>
              <a:ext uri="{FF2B5EF4-FFF2-40B4-BE49-F238E27FC236}">
                <a16:creationId xmlns:a16="http://schemas.microsoft.com/office/drawing/2014/main" id="{A8D5C6D2-82FF-4317-A141-ECBC8D49B59B}"/>
              </a:ext>
            </a:extLst>
          </p:cNvPr>
          <p:cNvSpPr>
            <a:spLocks noGrp="1"/>
          </p:cNvSpPr>
          <p:nvPr/>
        </p:nvSpPr>
        <p:spPr>
          <a:xfrm>
            <a:off x="11144250" y="6629400"/>
            <a:ext cx="1047750" cy="228600"/>
          </a:xfrm>
          <a:prstGeom prst="rect">
            <a:avLst/>
          </a:prstGeom>
          <a:solidFill>
            <a:srgbClr val="FFFFFF"/>
          </a:solidFill>
          <a:ln w="0">
            <a:noFill/>
          </a:ln>
        </p:spPr>
        <p:txBody>
          <a:bodyPr/>
          <a:lstStyle/>
          <a:p>
            <a:endParaRPr lang="en-ES"/>
          </a:p>
        </p:txBody>
      </p:sp>
      <p:sp>
        <p:nvSpPr>
          <p:cNvPr id="16" name="Rectangle 15">
            <a:extLst>
              <a:ext uri="{FF2B5EF4-FFF2-40B4-BE49-F238E27FC236}">
                <a16:creationId xmlns:a16="http://schemas.microsoft.com/office/drawing/2014/main" id="{7A2396CF-EA53-4DF6-BF9F-D013733D3D64}"/>
              </a:ext>
            </a:extLst>
          </p:cNvPr>
          <p:cNvSpPr>
            <a:spLocks noGrp="1"/>
          </p:cNvSpPr>
          <p:nvPr/>
        </p:nvSpPr>
        <p:spPr>
          <a:xfrm>
            <a:off x="11144250" y="6696075"/>
            <a:ext cx="1009650" cy="133350"/>
          </a:xfrm>
          <a:prstGeom prst="rect">
            <a:avLst/>
          </a:prstGeom>
          <a:noFill/>
          <a:ln w="0">
            <a:noFill/>
          </a:ln>
        </p:spPr>
        <p:txBody>
          <a:bodyPr anchor="t">
            <a:normAutofit fontScale="53333" lnSpcReduction="20000"/>
          </a:bodyPr>
          <a:lstStyle/>
          <a:p>
            <a:pPr algn="r">
              <a:buNone/>
              <a:defRPr sz="600" b="0">
                <a:solidFill>
                  <a:srgbClr val="686B6B"/>
                </a:solidFill>
                <a:latin typeface="CiscoSansTT"/>
                <a:ea typeface="CiscoSansTT"/>
                <a:cs typeface="CiscoSansTT"/>
              </a:defRPr>
            </a:pPr>
            <a:r>
              <a:rPr sz="600" b="0">
                <a:solidFill>
                  <a:srgbClr val="686B6B"/>
                </a:solidFill>
                <a:latin typeface="CiscoSansTT"/>
                <a:ea typeface="CiscoSansTT"/>
                <a:cs typeface="CiscoSansTT"/>
              </a:rPr>
              <a:t>Cisco Confidential</a:t>
            </a:r>
          </a:p>
        </p:txBody>
      </p:sp>
    </p:spTree>
    <p:extLst>
      <p:ext uri="{BB962C8B-B14F-4D97-AF65-F5344CB8AC3E}">
        <p14:creationId xmlns:p14="http://schemas.microsoft.com/office/powerpoint/2010/main" val="65446708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5BE4714C-E09A-4E15-A6FA-743BF91C0637}"/>
              </a:ext>
            </a:extLst>
          </p:cNvPr>
          <p:cNvSpPr>
            <a:spLocks noGrp="1"/>
          </p:cNvSpPr>
          <p:nvPr/>
        </p:nvSpPr>
        <p:spPr>
          <a:xfrm>
            <a:off x="323850" y="228600"/>
            <a:ext cx="11049000" cy="685800"/>
          </a:xfrm>
          <a:prstGeom prst="rect">
            <a:avLst/>
          </a:prstGeom>
          <a:noFill/>
          <a:ln w="0">
            <a:noFill/>
          </a:ln>
        </p:spPr>
        <p:txBody>
          <a:bodyPr anchor="ctr">
            <a:noAutofit/>
          </a:bodyPr>
          <a:lstStyle>
            <a:defPPr algn="l">
              <a:defRPr sz="3000" b="1">
                <a:solidFill>
                  <a:srgbClr val="07182A"/>
                </a:solidFill>
                <a:latin typeface="CiscoSansTT Medium"/>
                <a:ea typeface="CiscoSansTT Medium"/>
                <a:cs typeface="CiscoSansTT Medium"/>
              </a:defRPr>
            </a:defPPr>
            <a:lvl1pPr algn="l">
              <a:buNone/>
              <a:defRPr sz="3000" b="1">
                <a:solidFill>
                  <a:srgbClr val="07182A"/>
                </a:solidFill>
                <a:latin typeface="CiscoSansTT Medium"/>
                <a:ea typeface="CiscoSansTT Medium"/>
                <a:cs typeface="CiscoSansTT Medium"/>
              </a:defRPr>
            </a:lvl1pPr>
            <a:lvl2pPr algn="l">
              <a:buNone/>
              <a:defRPr sz="3000" b="1">
                <a:solidFill>
                  <a:srgbClr val="07182A"/>
                </a:solidFill>
                <a:latin typeface="CiscoSansTT Medium"/>
                <a:ea typeface="CiscoSansTT Medium"/>
                <a:cs typeface="CiscoSansTT Medium"/>
              </a:defRPr>
            </a:lvl2pPr>
            <a:lvl3pPr algn="l">
              <a:buNone/>
              <a:defRPr sz="3000" b="1">
                <a:solidFill>
                  <a:srgbClr val="07182A"/>
                </a:solidFill>
                <a:latin typeface="CiscoSansTT Medium"/>
                <a:ea typeface="CiscoSansTT Medium"/>
                <a:cs typeface="CiscoSansTT Medium"/>
              </a:defRPr>
            </a:lvl3pPr>
            <a:lvl4pPr algn="l">
              <a:buNone/>
              <a:defRPr sz="3000" b="1">
                <a:solidFill>
                  <a:srgbClr val="07182A"/>
                </a:solidFill>
                <a:latin typeface="CiscoSansTT Medium"/>
                <a:ea typeface="CiscoSansTT Medium"/>
                <a:cs typeface="CiscoSansTT Medium"/>
              </a:defRPr>
            </a:lvl4pPr>
            <a:lvl5pPr algn="l">
              <a:buNone/>
              <a:defRPr sz="3000" b="1">
                <a:solidFill>
                  <a:srgbClr val="07182A"/>
                </a:solidFill>
                <a:latin typeface="CiscoSansTT Medium"/>
                <a:ea typeface="CiscoSansTT Medium"/>
                <a:cs typeface="CiscoSansTT Medium"/>
              </a:defRPr>
            </a:lvl5pPr>
            <a:lvl6pPr algn="l">
              <a:buNone/>
              <a:defRPr sz="3000" b="1">
                <a:solidFill>
                  <a:srgbClr val="07182A"/>
                </a:solidFill>
                <a:latin typeface="CiscoSansTT Medium"/>
                <a:ea typeface="CiscoSansTT Medium"/>
                <a:cs typeface="CiscoSansTT Medium"/>
              </a:defRPr>
            </a:lvl6pPr>
            <a:lvl7pPr algn="l">
              <a:buNone/>
              <a:defRPr sz="3000" b="1">
                <a:solidFill>
                  <a:srgbClr val="07182A"/>
                </a:solidFill>
                <a:latin typeface="CiscoSansTT Medium"/>
                <a:ea typeface="CiscoSansTT Medium"/>
                <a:cs typeface="CiscoSansTT Medium"/>
              </a:defRPr>
            </a:lvl7pPr>
            <a:lvl8pPr algn="l">
              <a:buNone/>
              <a:defRPr sz="3000" b="1">
                <a:solidFill>
                  <a:srgbClr val="07182A"/>
                </a:solidFill>
                <a:latin typeface="CiscoSansTT Medium"/>
                <a:ea typeface="CiscoSansTT Medium"/>
                <a:cs typeface="CiscoSansTT Medium"/>
              </a:defRPr>
            </a:lvl8pPr>
            <a:lvl9pPr algn="l">
              <a:buNone/>
              <a:defRPr sz="3000" b="1">
                <a:solidFill>
                  <a:srgbClr val="07182A"/>
                </a:solidFill>
                <a:latin typeface="CiscoSansTT Medium"/>
                <a:ea typeface="CiscoSansTT Medium"/>
                <a:cs typeface="CiscoSansTT Medium"/>
              </a:defRPr>
            </a:lvl9p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OBI network metrics: when to enable them</a:t>
            </a:r>
          </a:p>
        </p:txBody>
      </p:sp>
      <p:sp>
        <p:nvSpPr>
          <p:cNvPr id="11" name="network-definition">
            <a:extLst>
              <a:ext uri="{FF2B5EF4-FFF2-40B4-BE49-F238E27FC236}">
                <a16:creationId xmlns:a16="http://schemas.microsoft.com/office/drawing/2014/main" id="{FDC60109-7549-450B-BEE5-B1C467860AA3}"/>
              </a:ext>
            </a:extLst>
          </p:cNvPr>
          <p:cNvSpPr>
            <a:spLocks noGrp="1"/>
          </p:cNvSpPr>
          <p:nvPr/>
        </p:nvSpPr>
        <p:spPr>
          <a:xfrm>
            <a:off x="666750" y="1047750"/>
            <a:ext cx="10858500" cy="438150"/>
          </a:xfrm>
          <a:prstGeom prst="rect">
            <a:avLst/>
          </a:prstGeom>
          <a:noFill/>
          <a:ln w="0">
            <a:noFill/>
          </a:ln>
        </p:spPr>
        <p:txBody>
          <a:bodyPr anchor="ctr">
            <a:noAutofit/>
          </a:bodyPr>
          <a:lstStyle>
            <a:defPPr algn="l">
              <a:defRPr sz="1875" b="0">
                <a:solidFill>
                  <a:srgbClr val="686B6B"/>
                </a:solidFill>
                <a:latin typeface="CiscoSansTT"/>
                <a:ea typeface="CiscoSansTT"/>
                <a:cs typeface="CiscoSansTT"/>
              </a:defRPr>
            </a:defPPr>
            <a:lvl1pPr algn="l">
              <a:buNone/>
              <a:defRPr sz="1875" b="0">
                <a:solidFill>
                  <a:srgbClr val="686B6B"/>
                </a:solidFill>
                <a:latin typeface="CiscoSansTT"/>
                <a:ea typeface="CiscoSansTT"/>
                <a:cs typeface="CiscoSansTT"/>
              </a:defRPr>
            </a:lvl1pPr>
            <a:lvl2pPr algn="l">
              <a:buNone/>
              <a:defRPr sz="1875" b="0">
                <a:solidFill>
                  <a:srgbClr val="686B6B"/>
                </a:solidFill>
                <a:latin typeface="CiscoSansTT"/>
                <a:ea typeface="CiscoSansTT"/>
                <a:cs typeface="CiscoSansTT"/>
              </a:defRPr>
            </a:lvl2pPr>
            <a:lvl3pPr algn="l">
              <a:buNone/>
              <a:defRPr sz="1875" b="0">
                <a:solidFill>
                  <a:srgbClr val="686B6B"/>
                </a:solidFill>
                <a:latin typeface="CiscoSansTT"/>
                <a:ea typeface="CiscoSansTT"/>
                <a:cs typeface="CiscoSansTT"/>
              </a:defRPr>
            </a:lvl3pPr>
            <a:lvl4pPr algn="l">
              <a:buNone/>
              <a:defRPr sz="1875" b="0">
                <a:solidFill>
                  <a:srgbClr val="686B6B"/>
                </a:solidFill>
                <a:latin typeface="CiscoSansTT"/>
                <a:ea typeface="CiscoSansTT"/>
                <a:cs typeface="CiscoSansTT"/>
              </a:defRPr>
            </a:lvl4pPr>
            <a:lvl5pPr algn="l">
              <a:buNone/>
              <a:defRPr sz="1875" b="0">
                <a:solidFill>
                  <a:srgbClr val="686B6B"/>
                </a:solidFill>
                <a:latin typeface="CiscoSansTT"/>
                <a:ea typeface="CiscoSansTT"/>
                <a:cs typeface="CiscoSansTT"/>
              </a:defRPr>
            </a:lvl5pPr>
            <a:lvl6pPr algn="l">
              <a:buNone/>
              <a:defRPr sz="1875" b="0">
                <a:solidFill>
                  <a:srgbClr val="686B6B"/>
                </a:solidFill>
                <a:latin typeface="CiscoSansTT"/>
                <a:ea typeface="CiscoSansTT"/>
                <a:cs typeface="CiscoSansTT"/>
              </a:defRPr>
            </a:lvl6pPr>
            <a:lvl7pPr algn="l">
              <a:buNone/>
              <a:defRPr sz="1875" b="0">
                <a:solidFill>
                  <a:srgbClr val="686B6B"/>
                </a:solidFill>
                <a:latin typeface="CiscoSansTT"/>
                <a:ea typeface="CiscoSansTT"/>
                <a:cs typeface="CiscoSansTT"/>
              </a:defRPr>
            </a:lvl7pPr>
            <a:lvl8pPr algn="l">
              <a:buNone/>
              <a:defRPr sz="1875" b="0">
                <a:solidFill>
                  <a:srgbClr val="686B6B"/>
                </a:solidFill>
                <a:latin typeface="CiscoSansTT"/>
                <a:ea typeface="CiscoSansTT"/>
                <a:cs typeface="CiscoSansTT"/>
              </a:defRPr>
            </a:lvl8pPr>
            <a:lvl9pPr algn="l">
              <a:buNone/>
              <a:defRPr sz="1875" b="0">
                <a:solidFill>
                  <a:srgbClr val="686B6B"/>
                </a:solidFill>
                <a:latin typeface="CiscoSansTT"/>
                <a:ea typeface="CiscoSansTT"/>
                <a:cs typeface="CiscoSansTT"/>
              </a:defRPr>
            </a:lvl9pPr>
          </a:lstStyle>
          <a:p>
            <a:pPr algn="l">
              <a:buNone/>
              <a:defRPr sz="1875" b="0">
                <a:solidFill>
                  <a:srgbClr val="686B6B"/>
                </a:solidFill>
                <a:latin typeface="CiscoSansTT"/>
                <a:ea typeface="CiscoSansTT"/>
                <a:cs typeface="CiscoSansTT"/>
              </a:defRPr>
            </a:pPr>
            <a:r>
              <a:rPr sz="1875" b="0">
                <a:solidFill>
                  <a:srgbClr val="686B6B"/>
                </a:solidFill>
                <a:latin typeface="CiscoSansTT"/>
                <a:ea typeface="CiscoSansTT"/>
                <a:cs typeface="CiscoSansTT"/>
              </a:rPr>
              <a:t>Optional traffic-volume metrics, separate from application traces.</a:t>
            </a:r>
          </a:p>
        </p:txBody>
      </p:sp>
      <p:sp>
        <p:nvSpPr>
          <p:cNvPr id="12" name="network-heading-0">
            <a:extLst>
              <a:ext uri="{FF2B5EF4-FFF2-40B4-BE49-F238E27FC236}">
                <a16:creationId xmlns:a16="http://schemas.microsoft.com/office/drawing/2014/main" id="{22DA0A7B-1FB9-4472-B613-7463E2E65088}"/>
              </a:ext>
            </a:extLst>
          </p:cNvPr>
          <p:cNvSpPr>
            <a:spLocks noGrp="1"/>
          </p:cNvSpPr>
          <p:nvPr/>
        </p:nvSpPr>
        <p:spPr>
          <a:xfrm>
            <a:off x="762000" y="1790700"/>
            <a:ext cx="2857500" cy="704850"/>
          </a:xfrm>
          <a:prstGeom prst="rect">
            <a:avLst/>
          </a:prstGeom>
          <a:noFill/>
          <a:ln w="0">
            <a:noFill/>
          </a:ln>
        </p:spPr>
        <p:txBody>
          <a:bodyPr anchor="ctr">
            <a:noAutofit/>
          </a:bodyPr>
          <a:lstStyle>
            <a:defPPr algn="l">
              <a:defRPr sz="2175" b="1">
                <a:solidFill>
                  <a:srgbClr val="FF007F"/>
                </a:solidFill>
                <a:latin typeface="CiscoSansTT Medium"/>
                <a:ea typeface="CiscoSansTT Medium"/>
                <a:cs typeface="CiscoSansTT Medium"/>
              </a:defRPr>
            </a:defPPr>
            <a:lvl1pPr algn="l">
              <a:buNone/>
              <a:defRPr sz="2175" b="1">
                <a:solidFill>
                  <a:srgbClr val="FF007F"/>
                </a:solidFill>
                <a:latin typeface="CiscoSansTT Medium"/>
                <a:ea typeface="CiscoSansTT Medium"/>
                <a:cs typeface="CiscoSansTT Medium"/>
              </a:defRPr>
            </a:lvl1pPr>
            <a:lvl2pPr algn="l">
              <a:buNone/>
              <a:defRPr sz="2175" b="1">
                <a:solidFill>
                  <a:srgbClr val="FF007F"/>
                </a:solidFill>
                <a:latin typeface="CiscoSansTT Medium"/>
                <a:ea typeface="CiscoSansTT Medium"/>
                <a:cs typeface="CiscoSansTT Medium"/>
              </a:defRPr>
            </a:lvl2pPr>
            <a:lvl3pPr algn="l">
              <a:buNone/>
              <a:defRPr sz="2175" b="1">
                <a:solidFill>
                  <a:srgbClr val="FF007F"/>
                </a:solidFill>
                <a:latin typeface="CiscoSansTT Medium"/>
                <a:ea typeface="CiscoSansTT Medium"/>
                <a:cs typeface="CiscoSansTT Medium"/>
              </a:defRPr>
            </a:lvl3pPr>
            <a:lvl4pPr algn="l">
              <a:buNone/>
              <a:defRPr sz="2175" b="1">
                <a:solidFill>
                  <a:srgbClr val="FF007F"/>
                </a:solidFill>
                <a:latin typeface="CiscoSansTT Medium"/>
                <a:ea typeface="CiscoSansTT Medium"/>
                <a:cs typeface="CiscoSansTT Medium"/>
              </a:defRPr>
            </a:lvl4pPr>
            <a:lvl5pPr algn="l">
              <a:buNone/>
              <a:defRPr sz="2175" b="1">
                <a:solidFill>
                  <a:srgbClr val="FF007F"/>
                </a:solidFill>
                <a:latin typeface="CiscoSansTT Medium"/>
                <a:ea typeface="CiscoSansTT Medium"/>
                <a:cs typeface="CiscoSansTT Medium"/>
              </a:defRPr>
            </a:lvl5pPr>
            <a:lvl6pPr algn="l">
              <a:buNone/>
              <a:defRPr sz="2175" b="1">
                <a:solidFill>
                  <a:srgbClr val="FF007F"/>
                </a:solidFill>
                <a:latin typeface="CiscoSansTT Medium"/>
                <a:ea typeface="CiscoSansTT Medium"/>
                <a:cs typeface="CiscoSansTT Medium"/>
              </a:defRPr>
            </a:lvl6pPr>
            <a:lvl7pPr algn="l">
              <a:buNone/>
              <a:defRPr sz="2175" b="1">
                <a:solidFill>
                  <a:srgbClr val="FF007F"/>
                </a:solidFill>
                <a:latin typeface="CiscoSansTT Medium"/>
                <a:ea typeface="CiscoSansTT Medium"/>
                <a:cs typeface="CiscoSansTT Medium"/>
              </a:defRPr>
            </a:lvl7pPr>
            <a:lvl8pPr algn="l">
              <a:buNone/>
              <a:defRPr sz="2175" b="1">
                <a:solidFill>
                  <a:srgbClr val="FF007F"/>
                </a:solidFill>
                <a:latin typeface="CiscoSansTT Medium"/>
                <a:ea typeface="CiscoSansTT Medium"/>
                <a:cs typeface="CiscoSansTT Medium"/>
              </a:defRPr>
            </a:lvl8pPr>
            <a:lvl9pPr algn="l">
              <a:buNone/>
              <a:defRPr sz="2175" b="1">
                <a:solidFill>
                  <a:srgbClr val="FF007F"/>
                </a:solidFill>
                <a:latin typeface="CiscoSansTT Medium"/>
                <a:ea typeface="CiscoSansTT Medium"/>
                <a:cs typeface="CiscoSansTT Medium"/>
              </a:defRPr>
            </a:lvl9pPr>
          </a:lstStyle>
          <a:p>
            <a:pPr algn="l">
              <a:buNone/>
              <a:defRPr sz="2175" b="1">
                <a:solidFill>
                  <a:srgbClr val="FF007F"/>
                </a:solidFill>
                <a:latin typeface="CiscoSansTT Medium"/>
                <a:ea typeface="CiscoSansTT Medium"/>
                <a:cs typeface="CiscoSansTT Medium"/>
              </a:defRPr>
            </a:pPr>
            <a:r>
              <a:rPr sz="2175" b="1">
                <a:solidFill>
                  <a:srgbClr val="FF007F"/>
                </a:solidFill>
                <a:latin typeface="CiscoSansTT Medium"/>
                <a:ea typeface="CiscoSansTT Medium"/>
                <a:cs typeface="CiscoSansTT Medium"/>
              </a:rPr>
              <a:t>What they add</a:t>
            </a:r>
          </a:p>
        </p:txBody>
      </p:sp>
      <p:sp>
        <p:nvSpPr>
          <p:cNvPr id="13" name="network-body-0">
            <a:extLst>
              <a:ext uri="{FF2B5EF4-FFF2-40B4-BE49-F238E27FC236}">
                <a16:creationId xmlns:a16="http://schemas.microsoft.com/office/drawing/2014/main" id="{AF8FEED1-7E86-42F8-AAC2-EF5AF031F7F8}"/>
              </a:ext>
            </a:extLst>
          </p:cNvPr>
          <p:cNvSpPr>
            <a:spLocks noGrp="1"/>
          </p:cNvSpPr>
          <p:nvPr/>
        </p:nvSpPr>
        <p:spPr>
          <a:xfrm>
            <a:off x="3905250" y="1790700"/>
            <a:ext cx="7524750" cy="762000"/>
          </a:xfrm>
          <a:prstGeom prst="rect">
            <a:avLst/>
          </a:prstGeom>
          <a:noFill/>
          <a:ln w="0">
            <a:noFill/>
          </a:ln>
        </p:spPr>
        <p:txBody>
          <a:bodyPr anchor="ctr">
            <a:noAutofit/>
          </a:bodyPr>
          <a:lstStyle>
            <a:defPPr algn="l">
              <a:defRPr sz="1875" b="0">
                <a:solidFill>
                  <a:srgbClr val="07182A"/>
                </a:solidFill>
                <a:latin typeface="CiscoSansTT"/>
                <a:ea typeface="CiscoSansTT"/>
                <a:cs typeface="CiscoSansTT"/>
              </a:defRPr>
            </a:defPPr>
            <a:lvl1pPr algn="l">
              <a:buNone/>
              <a:defRPr sz="1875" b="0">
                <a:solidFill>
                  <a:srgbClr val="07182A"/>
                </a:solidFill>
                <a:latin typeface="CiscoSansTT"/>
                <a:ea typeface="CiscoSansTT"/>
                <a:cs typeface="CiscoSansTT"/>
              </a:defRPr>
            </a:lvl1pPr>
            <a:lvl2pPr algn="l">
              <a:buNone/>
              <a:defRPr sz="1875" b="0">
                <a:solidFill>
                  <a:srgbClr val="07182A"/>
                </a:solidFill>
                <a:latin typeface="CiscoSansTT"/>
                <a:ea typeface="CiscoSansTT"/>
                <a:cs typeface="CiscoSansTT"/>
              </a:defRPr>
            </a:lvl2pPr>
            <a:lvl3pPr algn="l">
              <a:buNone/>
              <a:defRPr sz="1875" b="0">
                <a:solidFill>
                  <a:srgbClr val="07182A"/>
                </a:solidFill>
                <a:latin typeface="CiscoSansTT"/>
                <a:ea typeface="CiscoSansTT"/>
                <a:cs typeface="CiscoSansTT"/>
              </a:defRPr>
            </a:lvl3pPr>
            <a:lvl4pPr algn="l">
              <a:buNone/>
              <a:defRPr sz="1875" b="0">
                <a:solidFill>
                  <a:srgbClr val="07182A"/>
                </a:solidFill>
                <a:latin typeface="CiscoSansTT"/>
                <a:ea typeface="CiscoSansTT"/>
                <a:cs typeface="CiscoSansTT"/>
              </a:defRPr>
            </a:lvl4pPr>
            <a:lvl5pPr algn="l">
              <a:buNone/>
              <a:defRPr sz="1875" b="0">
                <a:solidFill>
                  <a:srgbClr val="07182A"/>
                </a:solidFill>
                <a:latin typeface="CiscoSansTT"/>
                <a:ea typeface="CiscoSansTT"/>
                <a:cs typeface="CiscoSansTT"/>
              </a:defRPr>
            </a:lvl5pPr>
            <a:lvl6pPr algn="l">
              <a:buNone/>
              <a:defRPr sz="1875" b="0">
                <a:solidFill>
                  <a:srgbClr val="07182A"/>
                </a:solidFill>
                <a:latin typeface="CiscoSansTT"/>
                <a:ea typeface="CiscoSansTT"/>
                <a:cs typeface="CiscoSansTT"/>
              </a:defRPr>
            </a:lvl6pPr>
            <a:lvl7pPr algn="l">
              <a:buNone/>
              <a:defRPr sz="1875" b="0">
                <a:solidFill>
                  <a:srgbClr val="07182A"/>
                </a:solidFill>
                <a:latin typeface="CiscoSansTT"/>
                <a:ea typeface="CiscoSansTT"/>
                <a:cs typeface="CiscoSansTT"/>
              </a:defRPr>
            </a:lvl7pPr>
            <a:lvl8pPr algn="l">
              <a:buNone/>
              <a:defRPr sz="1875" b="0">
                <a:solidFill>
                  <a:srgbClr val="07182A"/>
                </a:solidFill>
                <a:latin typeface="CiscoSansTT"/>
                <a:ea typeface="CiscoSansTT"/>
                <a:cs typeface="CiscoSansTT"/>
              </a:defRPr>
            </a:lvl8pPr>
            <a:lvl9pPr algn="l">
              <a:buNone/>
              <a:defRPr sz="1875" b="0">
                <a:solidFill>
                  <a:srgbClr val="07182A"/>
                </a:solidFill>
                <a:latin typeface="CiscoSansTT"/>
                <a:ea typeface="CiscoSansTT"/>
                <a:cs typeface="CiscoSansTT"/>
              </a:defRPr>
            </a:lvl9pPr>
          </a:lstStyle>
          <a:p>
            <a:pPr algn="l">
              <a:buNone/>
              <a:defRPr sz="1875" b="0">
                <a:solidFill>
                  <a:srgbClr val="07182A"/>
                </a:solidFill>
                <a:latin typeface="CiscoSansTT"/>
                <a:ea typeface="CiscoSansTT"/>
                <a:cs typeface="CiscoSansTT"/>
              </a:defRPr>
            </a:pPr>
            <a:r>
              <a:rPr sz="1875" b="0">
                <a:solidFill>
                  <a:srgbClr val="07182A"/>
                </a:solidFill>
                <a:latin typeface="CiscoSansTT"/>
                <a:ea typeface="CiscoSansTT"/>
                <a:cs typeface="CiscoSansTT"/>
              </a:rPr>
              <a:t>Bytes and packets between endpoints,</a:t>
            </a:r>
          </a:p>
          <a:p>
            <a:pPr algn="l">
              <a:buNone/>
              <a:defRPr sz="1875" b="0">
                <a:solidFill>
                  <a:srgbClr val="07182A"/>
                </a:solidFill>
                <a:latin typeface="CiscoSansTT"/>
                <a:ea typeface="CiscoSansTT"/>
                <a:cs typeface="CiscoSansTT"/>
              </a:defRPr>
            </a:pPr>
            <a:r>
              <a:rPr sz="1875" b="0">
                <a:solidFill>
                  <a:srgbClr val="07182A"/>
                </a:solidFill>
                <a:latin typeface="CiscoSansTT"/>
                <a:ea typeface="CiscoSansTT"/>
                <a:cs typeface="CiscoSansTT"/>
              </a:rPr>
              <a:t>with Kubernetes workload labels.</a:t>
            </a:r>
          </a:p>
        </p:txBody>
      </p:sp>
      <p:sp>
        <p:nvSpPr>
          <p:cNvPr id="14" name="network-rule-0">
            <a:extLst>
              <a:ext uri="{FF2B5EF4-FFF2-40B4-BE49-F238E27FC236}">
                <a16:creationId xmlns:a16="http://schemas.microsoft.com/office/drawing/2014/main" id="{1B0A576A-E211-40EE-B765-E1849A442BA5}"/>
              </a:ext>
            </a:extLst>
          </p:cNvPr>
          <p:cNvSpPr>
            <a:spLocks noGrp="1"/>
          </p:cNvSpPr>
          <p:nvPr/>
        </p:nvSpPr>
        <p:spPr>
          <a:xfrm>
            <a:off x="762000" y="2686050"/>
            <a:ext cx="10668000" cy="9525"/>
          </a:xfrm>
          <a:prstGeom prst="rect">
            <a:avLst/>
          </a:prstGeom>
          <a:solidFill>
            <a:srgbClr val="D6DDE3"/>
          </a:solidFill>
          <a:ln w="0">
            <a:noFill/>
          </a:ln>
        </p:spPr>
        <p:txBody>
          <a:bodyPr/>
          <a:lstStyle/>
          <a:p>
            <a:endParaRPr/>
          </a:p>
        </p:txBody>
      </p:sp>
      <p:sp>
        <p:nvSpPr>
          <p:cNvPr id="15" name="network-heading-1">
            <a:extLst>
              <a:ext uri="{FF2B5EF4-FFF2-40B4-BE49-F238E27FC236}">
                <a16:creationId xmlns:a16="http://schemas.microsoft.com/office/drawing/2014/main" id="{FA873DA4-F84F-453B-8B71-9AA7BB3DF16C}"/>
              </a:ext>
            </a:extLst>
          </p:cNvPr>
          <p:cNvSpPr>
            <a:spLocks noGrp="1"/>
          </p:cNvSpPr>
          <p:nvPr/>
        </p:nvSpPr>
        <p:spPr>
          <a:xfrm>
            <a:off x="762000" y="2895600"/>
            <a:ext cx="2857500" cy="704850"/>
          </a:xfrm>
          <a:prstGeom prst="rect">
            <a:avLst/>
          </a:prstGeom>
          <a:noFill/>
          <a:ln w="0">
            <a:noFill/>
          </a:ln>
        </p:spPr>
        <p:txBody>
          <a:bodyPr anchor="ctr">
            <a:noAutofit/>
          </a:bodyPr>
          <a:lstStyle>
            <a:defPPr algn="l">
              <a:defRPr sz="2175" b="1">
                <a:solidFill>
                  <a:srgbClr val="0860FE"/>
                </a:solidFill>
                <a:latin typeface="CiscoSansTT Medium"/>
                <a:ea typeface="CiscoSansTT Medium"/>
                <a:cs typeface="CiscoSansTT Medium"/>
              </a:defRPr>
            </a:defPPr>
            <a:lvl1pPr algn="l">
              <a:buNone/>
              <a:defRPr sz="2175" b="1">
                <a:solidFill>
                  <a:srgbClr val="0860FE"/>
                </a:solidFill>
                <a:latin typeface="CiscoSansTT Medium"/>
                <a:ea typeface="CiscoSansTT Medium"/>
                <a:cs typeface="CiscoSansTT Medium"/>
              </a:defRPr>
            </a:lvl1pPr>
            <a:lvl2pPr algn="l">
              <a:buNone/>
              <a:defRPr sz="2175" b="1">
                <a:solidFill>
                  <a:srgbClr val="0860FE"/>
                </a:solidFill>
                <a:latin typeface="CiscoSansTT Medium"/>
                <a:ea typeface="CiscoSansTT Medium"/>
                <a:cs typeface="CiscoSansTT Medium"/>
              </a:defRPr>
            </a:lvl2pPr>
            <a:lvl3pPr algn="l">
              <a:buNone/>
              <a:defRPr sz="2175" b="1">
                <a:solidFill>
                  <a:srgbClr val="0860FE"/>
                </a:solidFill>
                <a:latin typeface="CiscoSansTT Medium"/>
                <a:ea typeface="CiscoSansTT Medium"/>
                <a:cs typeface="CiscoSansTT Medium"/>
              </a:defRPr>
            </a:lvl3pPr>
            <a:lvl4pPr algn="l">
              <a:buNone/>
              <a:defRPr sz="2175" b="1">
                <a:solidFill>
                  <a:srgbClr val="0860FE"/>
                </a:solidFill>
                <a:latin typeface="CiscoSansTT Medium"/>
                <a:ea typeface="CiscoSansTT Medium"/>
                <a:cs typeface="CiscoSansTT Medium"/>
              </a:defRPr>
            </a:lvl4pPr>
            <a:lvl5pPr algn="l">
              <a:buNone/>
              <a:defRPr sz="2175" b="1">
                <a:solidFill>
                  <a:srgbClr val="0860FE"/>
                </a:solidFill>
                <a:latin typeface="CiscoSansTT Medium"/>
                <a:ea typeface="CiscoSansTT Medium"/>
                <a:cs typeface="CiscoSansTT Medium"/>
              </a:defRPr>
            </a:lvl5pPr>
            <a:lvl6pPr algn="l">
              <a:buNone/>
              <a:defRPr sz="2175" b="1">
                <a:solidFill>
                  <a:srgbClr val="0860FE"/>
                </a:solidFill>
                <a:latin typeface="CiscoSansTT Medium"/>
                <a:ea typeface="CiscoSansTT Medium"/>
                <a:cs typeface="CiscoSansTT Medium"/>
              </a:defRPr>
            </a:lvl6pPr>
            <a:lvl7pPr algn="l">
              <a:buNone/>
              <a:defRPr sz="2175" b="1">
                <a:solidFill>
                  <a:srgbClr val="0860FE"/>
                </a:solidFill>
                <a:latin typeface="CiscoSansTT Medium"/>
                <a:ea typeface="CiscoSansTT Medium"/>
                <a:cs typeface="CiscoSansTT Medium"/>
              </a:defRPr>
            </a:lvl7pPr>
            <a:lvl8pPr algn="l">
              <a:buNone/>
              <a:defRPr sz="2175" b="1">
                <a:solidFill>
                  <a:srgbClr val="0860FE"/>
                </a:solidFill>
                <a:latin typeface="CiscoSansTT Medium"/>
                <a:ea typeface="CiscoSansTT Medium"/>
                <a:cs typeface="CiscoSansTT Medium"/>
              </a:defRPr>
            </a:lvl8pPr>
            <a:lvl9pPr algn="l">
              <a:buNone/>
              <a:defRPr sz="2175" b="1">
                <a:solidFill>
                  <a:srgbClr val="0860FE"/>
                </a:solidFill>
                <a:latin typeface="CiscoSansTT Medium"/>
                <a:ea typeface="CiscoSansTT Medium"/>
                <a:cs typeface="CiscoSansTT Medium"/>
              </a:defRPr>
            </a:lvl9pPr>
          </a:lstStyle>
          <a:p>
            <a:pPr algn="l">
              <a:buNone/>
              <a:defRPr sz="2175" b="1">
                <a:solidFill>
                  <a:srgbClr val="0860FE"/>
                </a:solidFill>
                <a:latin typeface="CiscoSansTT Medium"/>
                <a:ea typeface="CiscoSansTT Medium"/>
                <a:cs typeface="CiscoSansTT Medium"/>
              </a:defRPr>
            </a:pPr>
            <a:r>
              <a:rPr sz="2175" b="1">
                <a:solidFill>
                  <a:srgbClr val="0860FE"/>
                </a:solidFill>
                <a:latin typeface="CiscoSansTT Medium"/>
                <a:ea typeface="CiscoSansTT Medium"/>
                <a:cs typeface="CiscoSansTT Medium"/>
              </a:rPr>
              <a:t>Useful for</a:t>
            </a:r>
          </a:p>
        </p:txBody>
      </p:sp>
      <p:sp>
        <p:nvSpPr>
          <p:cNvPr id="16" name="network-body-1">
            <a:extLst>
              <a:ext uri="{FF2B5EF4-FFF2-40B4-BE49-F238E27FC236}">
                <a16:creationId xmlns:a16="http://schemas.microsoft.com/office/drawing/2014/main" id="{C1638B0B-F23C-49DC-9192-79237A3EA7D7}"/>
              </a:ext>
            </a:extLst>
          </p:cNvPr>
          <p:cNvSpPr>
            <a:spLocks noGrp="1"/>
          </p:cNvSpPr>
          <p:nvPr/>
        </p:nvSpPr>
        <p:spPr>
          <a:xfrm>
            <a:off x="3905250" y="2895600"/>
            <a:ext cx="7524750" cy="762000"/>
          </a:xfrm>
          <a:prstGeom prst="rect">
            <a:avLst/>
          </a:prstGeom>
          <a:noFill/>
          <a:ln w="0">
            <a:noFill/>
          </a:ln>
        </p:spPr>
        <p:txBody>
          <a:bodyPr anchor="ctr">
            <a:noAutofit/>
          </a:bodyPr>
          <a:lstStyle>
            <a:defPPr algn="l">
              <a:defRPr sz="1875" b="0">
                <a:solidFill>
                  <a:srgbClr val="07182A"/>
                </a:solidFill>
                <a:latin typeface="CiscoSansTT"/>
                <a:ea typeface="CiscoSansTT"/>
                <a:cs typeface="CiscoSansTT"/>
              </a:defRPr>
            </a:defPPr>
            <a:lvl1pPr algn="l">
              <a:buNone/>
              <a:defRPr sz="1875" b="0">
                <a:solidFill>
                  <a:srgbClr val="07182A"/>
                </a:solidFill>
                <a:latin typeface="CiscoSansTT"/>
                <a:ea typeface="CiscoSansTT"/>
                <a:cs typeface="CiscoSansTT"/>
              </a:defRPr>
            </a:lvl1pPr>
            <a:lvl2pPr algn="l">
              <a:buNone/>
              <a:defRPr sz="1875" b="0">
                <a:solidFill>
                  <a:srgbClr val="07182A"/>
                </a:solidFill>
                <a:latin typeface="CiscoSansTT"/>
                <a:ea typeface="CiscoSansTT"/>
                <a:cs typeface="CiscoSansTT"/>
              </a:defRPr>
            </a:lvl2pPr>
            <a:lvl3pPr algn="l">
              <a:buNone/>
              <a:defRPr sz="1875" b="0">
                <a:solidFill>
                  <a:srgbClr val="07182A"/>
                </a:solidFill>
                <a:latin typeface="CiscoSansTT"/>
                <a:ea typeface="CiscoSansTT"/>
                <a:cs typeface="CiscoSansTT"/>
              </a:defRPr>
            </a:lvl3pPr>
            <a:lvl4pPr algn="l">
              <a:buNone/>
              <a:defRPr sz="1875" b="0">
                <a:solidFill>
                  <a:srgbClr val="07182A"/>
                </a:solidFill>
                <a:latin typeface="CiscoSansTT"/>
                <a:ea typeface="CiscoSansTT"/>
                <a:cs typeface="CiscoSansTT"/>
              </a:defRPr>
            </a:lvl4pPr>
            <a:lvl5pPr algn="l">
              <a:buNone/>
              <a:defRPr sz="1875" b="0">
                <a:solidFill>
                  <a:srgbClr val="07182A"/>
                </a:solidFill>
                <a:latin typeface="CiscoSansTT"/>
                <a:ea typeface="CiscoSansTT"/>
                <a:cs typeface="CiscoSansTT"/>
              </a:defRPr>
            </a:lvl5pPr>
            <a:lvl6pPr algn="l">
              <a:buNone/>
              <a:defRPr sz="1875" b="0">
                <a:solidFill>
                  <a:srgbClr val="07182A"/>
                </a:solidFill>
                <a:latin typeface="CiscoSansTT"/>
                <a:ea typeface="CiscoSansTT"/>
                <a:cs typeface="CiscoSansTT"/>
              </a:defRPr>
            </a:lvl6pPr>
            <a:lvl7pPr algn="l">
              <a:buNone/>
              <a:defRPr sz="1875" b="0">
                <a:solidFill>
                  <a:srgbClr val="07182A"/>
                </a:solidFill>
                <a:latin typeface="CiscoSansTT"/>
                <a:ea typeface="CiscoSansTT"/>
                <a:cs typeface="CiscoSansTT"/>
              </a:defRPr>
            </a:lvl7pPr>
            <a:lvl8pPr algn="l">
              <a:buNone/>
              <a:defRPr sz="1875" b="0">
                <a:solidFill>
                  <a:srgbClr val="07182A"/>
                </a:solidFill>
                <a:latin typeface="CiscoSansTT"/>
                <a:ea typeface="CiscoSansTT"/>
                <a:cs typeface="CiscoSansTT"/>
              </a:defRPr>
            </a:lvl8pPr>
            <a:lvl9pPr algn="l">
              <a:buNone/>
              <a:defRPr sz="1875" b="0">
                <a:solidFill>
                  <a:srgbClr val="07182A"/>
                </a:solidFill>
                <a:latin typeface="CiscoSansTT"/>
                <a:ea typeface="CiscoSansTT"/>
                <a:cs typeface="CiscoSansTT"/>
              </a:defRPr>
            </a:lvl9pPr>
          </a:lstStyle>
          <a:p>
            <a:pPr algn="l">
              <a:buNone/>
              <a:defRPr sz="1875" b="0">
                <a:solidFill>
                  <a:srgbClr val="07182A"/>
                </a:solidFill>
                <a:latin typeface="CiscoSansTT"/>
                <a:ea typeface="CiscoSansTT"/>
                <a:cs typeface="CiscoSansTT"/>
              </a:defRPr>
            </a:pPr>
            <a:r>
              <a:rPr sz="1875" b="0">
                <a:solidFill>
                  <a:srgbClr val="07182A"/>
                </a:solidFill>
                <a:latin typeface="CiscoSansTT"/>
                <a:ea typeface="CiscoSansTT"/>
                <a:cs typeface="CiscoSansTT"/>
              </a:rPr>
              <a:t>Finding traffic-heavy services</a:t>
            </a:r>
          </a:p>
        </p:txBody>
      </p:sp>
      <p:sp>
        <p:nvSpPr>
          <p:cNvPr id="17" name="network-rule-1">
            <a:extLst>
              <a:ext uri="{FF2B5EF4-FFF2-40B4-BE49-F238E27FC236}">
                <a16:creationId xmlns:a16="http://schemas.microsoft.com/office/drawing/2014/main" id="{46E47913-8214-447C-AD61-E270EE73256B}"/>
              </a:ext>
            </a:extLst>
          </p:cNvPr>
          <p:cNvSpPr>
            <a:spLocks noGrp="1"/>
          </p:cNvSpPr>
          <p:nvPr/>
        </p:nvSpPr>
        <p:spPr>
          <a:xfrm>
            <a:off x="762000" y="3790950"/>
            <a:ext cx="10668000" cy="9525"/>
          </a:xfrm>
          <a:prstGeom prst="rect">
            <a:avLst/>
          </a:prstGeom>
          <a:solidFill>
            <a:srgbClr val="D6DDE3"/>
          </a:solidFill>
          <a:ln w="0">
            <a:noFill/>
          </a:ln>
        </p:spPr>
        <p:txBody>
          <a:bodyPr/>
          <a:lstStyle/>
          <a:p>
            <a:endParaRPr/>
          </a:p>
        </p:txBody>
      </p:sp>
      <p:sp>
        <p:nvSpPr>
          <p:cNvPr id="21" name="network-selection">
            <a:extLst>
              <a:ext uri="{FF2B5EF4-FFF2-40B4-BE49-F238E27FC236}">
                <a16:creationId xmlns:a16="http://schemas.microsoft.com/office/drawing/2014/main" id="{84BA9390-28BA-4730-9B9D-34A39C50AF17}"/>
              </a:ext>
            </a:extLst>
          </p:cNvPr>
          <p:cNvSpPr>
            <a:spLocks noGrp="1"/>
          </p:cNvSpPr>
          <p:nvPr/>
        </p:nvSpPr>
        <p:spPr>
          <a:xfrm>
            <a:off x="762000" y="4200525"/>
            <a:ext cx="10668000" cy="457200"/>
          </a:xfrm>
          <a:prstGeom prst="rect">
            <a:avLst/>
          </a:prstGeom>
          <a:noFill/>
          <a:ln w="0">
            <a:noFill/>
          </a:ln>
        </p:spPr>
        <p:txBody>
          <a:bodyPr anchor="ctr">
            <a:noAutofit/>
          </a:bodyPr>
          <a:lstStyle>
            <a:defPPr algn="l">
              <a:defRPr sz="1875" b="1">
                <a:solidFill>
                  <a:srgbClr val="07182A"/>
                </a:solidFill>
                <a:latin typeface="CiscoSansTT Medium"/>
                <a:ea typeface="CiscoSansTT Medium"/>
                <a:cs typeface="CiscoSansTT Medium"/>
              </a:defRPr>
            </a:defPPr>
            <a:lvl1pPr algn="l">
              <a:buNone/>
              <a:defRPr sz="1875" b="1">
                <a:solidFill>
                  <a:srgbClr val="07182A"/>
                </a:solidFill>
                <a:latin typeface="CiscoSansTT Medium"/>
                <a:ea typeface="CiscoSansTT Medium"/>
                <a:cs typeface="CiscoSansTT Medium"/>
              </a:defRPr>
            </a:lvl1pPr>
            <a:lvl2pPr algn="l">
              <a:buNone/>
              <a:defRPr sz="1875" b="1">
                <a:solidFill>
                  <a:srgbClr val="07182A"/>
                </a:solidFill>
                <a:latin typeface="CiscoSansTT Medium"/>
                <a:ea typeface="CiscoSansTT Medium"/>
                <a:cs typeface="CiscoSansTT Medium"/>
              </a:defRPr>
            </a:lvl2pPr>
            <a:lvl3pPr algn="l">
              <a:buNone/>
              <a:defRPr sz="1875" b="1">
                <a:solidFill>
                  <a:srgbClr val="07182A"/>
                </a:solidFill>
                <a:latin typeface="CiscoSansTT Medium"/>
                <a:ea typeface="CiscoSansTT Medium"/>
                <a:cs typeface="CiscoSansTT Medium"/>
              </a:defRPr>
            </a:lvl3pPr>
            <a:lvl4pPr algn="l">
              <a:buNone/>
              <a:defRPr sz="1875" b="1">
                <a:solidFill>
                  <a:srgbClr val="07182A"/>
                </a:solidFill>
                <a:latin typeface="CiscoSansTT Medium"/>
                <a:ea typeface="CiscoSansTT Medium"/>
                <a:cs typeface="CiscoSansTT Medium"/>
              </a:defRPr>
            </a:lvl4pPr>
            <a:lvl5pPr algn="l">
              <a:buNone/>
              <a:defRPr sz="1875" b="1">
                <a:solidFill>
                  <a:srgbClr val="07182A"/>
                </a:solidFill>
                <a:latin typeface="CiscoSansTT Medium"/>
                <a:ea typeface="CiscoSansTT Medium"/>
                <a:cs typeface="CiscoSansTT Medium"/>
              </a:defRPr>
            </a:lvl5pPr>
            <a:lvl6pPr algn="l">
              <a:buNone/>
              <a:defRPr sz="1875" b="1">
                <a:solidFill>
                  <a:srgbClr val="07182A"/>
                </a:solidFill>
                <a:latin typeface="CiscoSansTT Medium"/>
                <a:ea typeface="CiscoSansTT Medium"/>
                <a:cs typeface="CiscoSansTT Medium"/>
              </a:defRPr>
            </a:lvl6pPr>
            <a:lvl7pPr algn="l">
              <a:buNone/>
              <a:defRPr sz="1875" b="1">
                <a:solidFill>
                  <a:srgbClr val="07182A"/>
                </a:solidFill>
                <a:latin typeface="CiscoSansTT Medium"/>
                <a:ea typeface="CiscoSansTT Medium"/>
                <a:cs typeface="CiscoSansTT Medium"/>
              </a:defRPr>
            </a:lvl7pPr>
            <a:lvl8pPr algn="l">
              <a:buNone/>
              <a:defRPr sz="1875" b="1">
                <a:solidFill>
                  <a:srgbClr val="07182A"/>
                </a:solidFill>
                <a:latin typeface="CiscoSansTT Medium"/>
                <a:ea typeface="CiscoSansTT Medium"/>
                <a:cs typeface="CiscoSansTT Medium"/>
              </a:defRPr>
            </a:lvl8pPr>
            <a:lvl9pPr algn="l">
              <a:buNone/>
              <a:defRPr sz="1875" b="1">
                <a:solidFill>
                  <a:srgbClr val="07182A"/>
                </a:solidFill>
                <a:latin typeface="CiscoSansTT Medium"/>
                <a:ea typeface="CiscoSansTT Medium"/>
                <a:cs typeface="CiscoSansTT Medium"/>
              </a:defRPr>
            </a:lvl9pPr>
          </a:lstStyle>
          <a:p>
            <a:pPr algn="l">
              <a:buNone/>
              <a:defRPr sz="1875" b="1">
                <a:solidFill>
                  <a:srgbClr val="07182A"/>
                </a:solidFill>
                <a:latin typeface="CiscoSansTT Medium"/>
                <a:ea typeface="CiscoSansTT Medium"/>
                <a:cs typeface="CiscoSansTT Medium"/>
              </a:defRPr>
            </a:pPr>
            <a:r>
              <a:rPr sz="1875" b="1">
                <a:solidFill>
                  <a:srgbClr val="07182A"/>
                </a:solidFill>
                <a:latin typeface="CiscoSansTT Medium"/>
                <a:ea typeface="CiscoSansTT Medium"/>
                <a:cs typeface="CiscoSansTT Medium"/>
              </a:rPr>
              <a:t>Enable them when you need an additional network-volume view.</a:t>
            </a:r>
          </a:p>
        </p:txBody>
      </p:sp>
    </p:spTree>
    <p:extLst>
      <p:ext uri="{BB962C8B-B14F-4D97-AF65-F5344CB8AC3E}">
        <p14:creationId xmlns:p14="http://schemas.microsoft.com/office/powerpoint/2010/main" val="178519051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p:txBody>
          <a:bodyPr anchor="ctr"/>
          <a:lstStyle>
            <a:lvl1pPr>
              <a:buNone/>
              <a:defRPr sz="4000">
                <a:solidFill>
                  <a:schemeClr val="bg1"/>
                </a:solidFill>
              </a:defRPr>
            </a:lvl1pPr>
          </a:lstStyle>
          <a:p>
            <a:r>
              <a:t>The coexistence problem</a:t>
            </a:r>
          </a:p>
        </p:txBody>
      </p:sp>
    </p:spTree>
    <p:extLst>
      <p:ext uri="{BB962C8B-B14F-4D97-AF65-F5344CB8AC3E}">
        <p14:creationId xmlns:p14="http://schemas.microsoft.com/office/powerpoint/2010/main" val="50251324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87FACB85-A5FC-4526-9914-22C8BFC41749}"/>
              </a:ext>
            </a:extLst>
          </p:cNvPr>
          <p:cNvSpPr>
            <a:spLocks noGrp="1"/>
          </p:cNvSpPr>
          <p:nvPr/>
        </p:nvSpPr>
        <p:spPr>
          <a:xfrm>
            <a:off x="323850" y="228600"/>
            <a:ext cx="11049000" cy="685800"/>
          </a:xfrm>
          <a:prstGeom prst="rect">
            <a:avLst/>
          </a:prstGeom>
          <a:noFill/>
          <a:ln w="0">
            <a:noFill/>
          </a:ln>
        </p:spPr>
        <p:txBody>
          <a:bodyPr anchor="ctr">
            <a:noAutofit/>
          </a:bodyPr>
          <a:lstStyle>
            <a:defPPr algn="l">
              <a:defRPr sz="3150" b="0">
                <a:solidFill>
                  <a:srgbClr val="07182A"/>
                </a:solidFill>
                <a:latin typeface="CiscoSansTT"/>
                <a:ea typeface="CiscoSansTT"/>
                <a:cs typeface="CiscoSansTT"/>
              </a:defRPr>
            </a:defPPr>
            <a:lvl1pPr algn="l">
              <a:defRPr sz="3150" b="0">
                <a:solidFill>
                  <a:srgbClr val="07182A"/>
                </a:solidFill>
                <a:latin typeface="CiscoSansTT"/>
                <a:ea typeface="CiscoSansTT"/>
                <a:cs typeface="CiscoSansTT"/>
              </a:defRPr>
            </a:lvl1pPr>
            <a:lvl2pPr algn="l">
              <a:defRPr sz="3150" b="0">
                <a:solidFill>
                  <a:srgbClr val="07182A"/>
                </a:solidFill>
                <a:latin typeface="CiscoSansTT"/>
                <a:ea typeface="CiscoSansTT"/>
                <a:cs typeface="CiscoSansTT"/>
              </a:defRPr>
            </a:lvl2pPr>
            <a:lvl3pPr algn="l">
              <a:defRPr sz="3150" b="0">
                <a:solidFill>
                  <a:srgbClr val="07182A"/>
                </a:solidFill>
                <a:latin typeface="CiscoSansTT"/>
                <a:ea typeface="CiscoSansTT"/>
                <a:cs typeface="CiscoSansTT"/>
              </a:defRPr>
            </a:lvl3pPr>
            <a:lvl4pPr algn="l">
              <a:defRPr sz="3150" b="0">
                <a:solidFill>
                  <a:srgbClr val="07182A"/>
                </a:solidFill>
                <a:latin typeface="CiscoSansTT"/>
                <a:ea typeface="CiscoSansTT"/>
                <a:cs typeface="CiscoSansTT"/>
              </a:defRPr>
            </a:lvl4pPr>
            <a:lvl5pPr algn="l">
              <a:defRPr sz="3150" b="0">
                <a:solidFill>
                  <a:srgbClr val="07182A"/>
                </a:solidFill>
                <a:latin typeface="CiscoSansTT"/>
                <a:ea typeface="CiscoSansTT"/>
                <a:cs typeface="CiscoSansTT"/>
              </a:defRPr>
            </a:lvl5pPr>
            <a:lvl6pPr algn="l">
              <a:defRPr sz="3150" b="0">
                <a:solidFill>
                  <a:srgbClr val="07182A"/>
                </a:solidFill>
                <a:latin typeface="CiscoSansTT"/>
                <a:ea typeface="CiscoSansTT"/>
                <a:cs typeface="CiscoSansTT"/>
              </a:defRPr>
            </a:lvl6pPr>
            <a:lvl7pPr algn="l">
              <a:defRPr sz="3150" b="0">
                <a:solidFill>
                  <a:srgbClr val="07182A"/>
                </a:solidFill>
                <a:latin typeface="CiscoSansTT"/>
                <a:ea typeface="CiscoSansTT"/>
                <a:cs typeface="CiscoSansTT"/>
              </a:defRPr>
            </a:lvl7pPr>
            <a:lvl8pPr algn="l">
              <a:defRPr sz="3150" b="0">
                <a:solidFill>
                  <a:srgbClr val="07182A"/>
                </a:solidFill>
                <a:latin typeface="CiscoSansTT"/>
                <a:ea typeface="CiscoSansTT"/>
                <a:cs typeface="CiscoSansTT"/>
              </a:defRPr>
            </a:lvl8pPr>
            <a:lvl9pPr algn="l">
              <a:defRPr sz="3150" b="0">
                <a:solidFill>
                  <a:srgbClr val="07182A"/>
                </a:solidFill>
                <a:latin typeface="CiscoSansTT"/>
                <a:ea typeface="CiscoSansTT"/>
                <a:cs typeface="CiscoSansTT"/>
              </a:defRPr>
            </a:lvl9pPr>
          </a:lstStyle>
          <a:p>
            <a:pPr algn="l">
              <a:buNone/>
              <a:defRPr sz="3150" b="0">
                <a:solidFill>
                  <a:srgbClr val="07182A"/>
                </a:solidFill>
                <a:latin typeface="CiscoSansTT"/>
                <a:ea typeface="CiscoSansTT"/>
                <a:cs typeface="CiscoSansTT"/>
              </a:defRPr>
            </a:pPr>
            <a:r>
              <a:rPr sz="3150" b="0">
                <a:solidFill>
                  <a:srgbClr val="07182A"/>
                </a:solidFill>
                <a:latin typeface="CiscoSansTT"/>
                <a:ea typeface="CiscoSansTT"/>
                <a:cs typeface="CiscoSansTT"/>
              </a:rPr>
              <a:t>OBI and Cilium on the same node</a:t>
            </a:r>
          </a:p>
        </p:txBody>
      </p:sp>
      <p:sp>
        <p:nvSpPr>
          <p:cNvPr id="14" name="Rectangle 13">
            <a:extLst>
              <a:ext uri="{FF2B5EF4-FFF2-40B4-BE49-F238E27FC236}">
                <a16:creationId xmlns:a16="http://schemas.microsoft.com/office/drawing/2014/main" id="{EBB07FB0-36F4-48B1-8714-832800EE3B62}"/>
              </a:ext>
            </a:extLst>
          </p:cNvPr>
          <p:cNvSpPr>
            <a:spLocks noGrp="1"/>
          </p:cNvSpPr>
          <p:nvPr/>
        </p:nvSpPr>
        <p:spPr>
          <a:xfrm>
            <a:off x="11144250" y="6629400"/>
            <a:ext cx="1047750" cy="228600"/>
          </a:xfrm>
          <a:prstGeom prst="rect">
            <a:avLst/>
          </a:prstGeom>
          <a:solidFill>
            <a:srgbClr val="FFFFFF"/>
          </a:solidFill>
          <a:ln w="0">
            <a:noFill/>
          </a:ln>
        </p:spPr>
        <p:txBody>
          <a:bodyPr/>
          <a:lstStyle/>
          <a:p>
            <a:endParaRPr/>
          </a:p>
        </p:txBody>
      </p:sp>
      <p:sp>
        <p:nvSpPr>
          <p:cNvPr id="15" name="Rectangle 14">
            <a:extLst>
              <a:ext uri="{FF2B5EF4-FFF2-40B4-BE49-F238E27FC236}">
                <a16:creationId xmlns:a16="http://schemas.microsoft.com/office/drawing/2014/main" id="{D612FC7A-1A2B-4638-9E69-C1CD77A5A173}"/>
              </a:ext>
            </a:extLst>
          </p:cNvPr>
          <p:cNvSpPr>
            <a:spLocks noGrp="1"/>
          </p:cNvSpPr>
          <p:nvPr/>
        </p:nvSpPr>
        <p:spPr>
          <a:xfrm>
            <a:off x="11144250" y="6696075"/>
            <a:ext cx="1009650" cy="133350"/>
          </a:xfrm>
          <a:prstGeom prst="rect">
            <a:avLst/>
          </a:prstGeom>
          <a:noFill/>
          <a:ln w="0">
            <a:noFill/>
          </a:ln>
        </p:spPr>
        <p:txBody>
          <a:bodyPr anchor="ctr">
            <a:noAutofit/>
          </a:bodyPr>
          <a:lstStyle/>
          <a:p>
            <a:pPr algn="r">
              <a:buNone/>
              <a:defRPr sz="600">
                <a:solidFill>
                  <a:srgbClr val="686B6B"/>
                </a:solidFill>
                <a:latin typeface="CiscoSansTT"/>
                <a:ea typeface="CiscoSansTT"/>
                <a:cs typeface="CiscoSansTT"/>
              </a:defRPr>
            </a:pPr>
            <a:r>
              <a:rPr sz="600">
                <a:solidFill>
                  <a:srgbClr val="686B6B"/>
                </a:solidFill>
                <a:latin typeface="CiscoSansTT"/>
                <a:ea typeface="CiscoSansTT"/>
                <a:cs typeface="CiscoSansTT"/>
              </a:rPr>
              <a:t>Cisco Confidential</a:t>
            </a:r>
          </a:p>
        </p:txBody>
      </p:sp>
      <p:sp>
        <p:nvSpPr>
          <p:cNvPr id="16" name="shared-worker-node">
            <a:extLst>
              <a:ext uri="{FF2B5EF4-FFF2-40B4-BE49-F238E27FC236}">
                <a16:creationId xmlns:a16="http://schemas.microsoft.com/office/drawing/2014/main" id="{D417A7EB-45BF-42DF-9A70-2005426E61ED}"/>
              </a:ext>
            </a:extLst>
          </p:cNvPr>
          <p:cNvSpPr>
            <a:spLocks noGrp="1"/>
          </p:cNvSpPr>
          <p:nvPr/>
        </p:nvSpPr>
        <p:spPr>
          <a:xfrm>
            <a:off x="762000" y="1647825"/>
            <a:ext cx="3190875" cy="3819525"/>
          </a:xfrm>
          <a:prstGeom prst="rect">
            <a:avLst/>
          </a:prstGeom>
          <a:noFill/>
          <a:ln w="15240">
            <a:solidFill>
              <a:srgbClr val="CFD5DD"/>
            </a:solidFill>
          </a:ln>
        </p:spPr>
        <p:txBody>
          <a:bodyPr/>
          <a:lstStyle/>
          <a:p>
            <a:endParaRPr lang="en-ES"/>
          </a:p>
        </p:txBody>
      </p:sp>
      <p:sp>
        <p:nvSpPr>
          <p:cNvPr id="17" name="worker-node-heading">
            <a:extLst>
              <a:ext uri="{FF2B5EF4-FFF2-40B4-BE49-F238E27FC236}">
                <a16:creationId xmlns:a16="http://schemas.microsoft.com/office/drawing/2014/main" id="{A9B4F930-A7F0-43AB-AAC0-29BA71CD3811}"/>
              </a:ext>
            </a:extLst>
          </p:cNvPr>
          <p:cNvSpPr>
            <a:spLocks noGrp="1"/>
          </p:cNvSpPr>
          <p:nvPr/>
        </p:nvSpPr>
        <p:spPr>
          <a:xfrm>
            <a:off x="952500" y="1809750"/>
            <a:ext cx="2809875" cy="495300"/>
          </a:xfrm>
          <a:prstGeom prst="rect">
            <a:avLst/>
          </a:prstGeom>
          <a:noFill/>
          <a:ln w="0">
            <a:noFill/>
          </a:ln>
        </p:spPr>
        <p:txBody>
          <a:bodyPr anchor="ctr">
            <a:noAutofit/>
          </a:bodyPr>
          <a:lstStyle>
            <a:defPPr algn="ctr">
              <a:defRPr sz="2175" b="1">
                <a:solidFill>
                  <a:srgbClr val="07182A"/>
                </a:solidFill>
                <a:latin typeface="CiscoSansTT Medium"/>
                <a:ea typeface="CiscoSansTT Medium"/>
                <a:cs typeface="CiscoSansTT Medium"/>
              </a:defRPr>
            </a:defPPr>
            <a:lvl1pPr algn="ctr">
              <a:defRPr sz="2175" b="1">
                <a:solidFill>
                  <a:srgbClr val="07182A"/>
                </a:solidFill>
                <a:latin typeface="CiscoSansTT Medium"/>
                <a:ea typeface="CiscoSansTT Medium"/>
                <a:cs typeface="CiscoSansTT Medium"/>
              </a:defRPr>
            </a:lvl1pPr>
            <a:lvl2pPr algn="ctr">
              <a:defRPr sz="2175" b="1">
                <a:solidFill>
                  <a:srgbClr val="07182A"/>
                </a:solidFill>
                <a:latin typeface="CiscoSansTT Medium"/>
                <a:ea typeface="CiscoSansTT Medium"/>
                <a:cs typeface="CiscoSansTT Medium"/>
              </a:defRPr>
            </a:lvl2pPr>
            <a:lvl3pPr algn="ctr">
              <a:defRPr sz="2175" b="1">
                <a:solidFill>
                  <a:srgbClr val="07182A"/>
                </a:solidFill>
                <a:latin typeface="CiscoSansTT Medium"/>
                <a:ea typeface="CiscoSansTT Medium"/>
                <a:cs typeface="CiscoSansTT Medium"/>
              </a:defRPr>
            </a:lvl3pPr>
            <a:lvl4pPr algn="ctr">
              <a:defRPr sz="2175" b="1">
                <a:solidFill>
                  <a:srgbClr val="07182A"/>
                </a:solidFill>
                <a:latin typeface="CiscoSansTT Medium"/>
                <a:ea typeface="CiscoSansTT Medium"/>
                <a:cs typeface="CiscoSansTT Medium"/>
              </a:defRPr>
            </a:lvl4pPr>
            <a:lvl5pPr algn="ctr">
              <a:defRPr sz="2175" b="1">
                <a:solidFill>
                  <a:srgbClr val="07182A"/>
                </a:solidFill>
                <a:latin typeface="CiscoSansTT Medium"/>
                <a:ea typeface="CiscoSansTT Medium"/>
                <a:cs typeface="CiscoSansTT Medium"/>
              </a:defRPr>
            </a:lvl5pPr>
            <a:lvl6pPr algn="ctr">
              <a:defRPr sz="2175" b="1">
                <a:solidFill>
                  <a:srgbClr val="07182A"/>
                </a:solidFill>
                <a:latin typeface="CiscoSansTT Medium"/>
                <a:ea typeface="CiscoSansTT Medium"/>
                <a:cs typeface="CiscoSansTT Medium"/>
              </a:defRPr>
            </a:lvl6pPr>
            <a:lvl7pPr algn="ctr">
              <a:defRPr sz="2175" b="1">
                <a:solidFill>
                  <a:srgbClr val="07182A"/>
                </a:solidFill>
                <a:latin typeface="CiscoSansTT Medium"/>
                <a:ea typeface="CiscoSansTT Medium"/>
                <a:cs typeface="CiscoSansTT Medium"/>
              </a:defRPr>
            </a:lvl7pPr>
            <a:lvl8pPr algn="ctr">
              <a:defRPr sz="2175" b="1">
                <a:solidFill>
                  <a:srgbClr val="07182A"/>
                </a:solidFill>
                <a:latin typeface="CiscoSansTT Medium"/>
                <a:ea typeface="CiscoSansTT Medium"/>
                <a:cs typeface="CiscoSansTT Medium"/>
              </a:defRPr>
            </a:lvl8pPr>
            <a:lvl9pPr algn="ctr">
              <a:defRPr sz="2175" b="1">
                <a:solidFill>
                  <a:srgbClr val="07182A"/>
                </a:solidFill>
                <a:latin typeface="CiscoSansTT Medium"/>
                <a:ea typeface="CiscoSansTT Medium"/>
                <a:cs typeface="CiscoSansTT Medium"/>
              </a:defRPr>
            </a:lvl9pPr>
          </a:lstStyle>
          <a:p>
            <a:pPr algn="ctr">
              <a:defRPr sz="2175" b="1">
                <a:solidFill>
                  <a:srgbClr val="07182A"/>
                </a:solidFill>
                <a:latin typeface="CiscoSansTT Medium"/>
                <a:ea typeface="CiscoSansTT Medium"/>
                <a:cs typeface="CiscoSansTT Medium"/>
              </a:defRPr>
            </a:pPr>
            <a:r>
              <a:rPr sz="2175" b="1">
                <a:solidFill>
                  <a:srgbClr val="07182A"/>
                </a:solidFill>
                <a:latin typeface="CiscoSansTT Medium"/>
                <a:ea typeface="CiscoSansTT Medium"/>
                <a:cs typeface="CiscoSansTT Medium"/>
              </a:rPr>
              <a:t>One worker node</a:t>
            </a:r>
          </a:p>
        </p:txBody>
      </p:sp>
      <p:sp>
        <p:nvSpPr>
          <p:cNvPr id="18" name="obi-agent">
            <a:extLst>
              <a:ext uri="{FF2B5EF4-FFF2-40B4-BE49-F238E27FC236}">
                <a16:creationId xmlns:a16="http://schemas.microsoft.com/office/drawing/2014/main" id="{DC8297CE-16F8-4192-B40F-21431D171D46}"/>
              </a:ext>
            </a:extLst>
          </p:cNvPr>
          <p:cNvSpPr>
            <a:spLocks noGrp="1"/>
          </p:cNvSpPr>
          <p:nvPr/>
        </p:nvSpPr>
        <p:spPr>
          <a:xfrm>
            <a:off x="1000125" y="2533650"/>
            <a:ext cx="2714625" cy="1028700"/>
          </a:xfrm>
          <a:prstGeom prst="rect">
            <a:avLst/>
          </a:prstGeom>
          <a:solidFill>
            <a:srgbClr val="F6ECF5"/>
          </a:solidFill>
          <a:ln w="14288">
            <a:solidFill>
              <a:srgbClr val="FF007F"/>
            </a:solidFill>
          </a:ln>
        </p:spPr>
        <p:txBody>
          <a:bodyPr/>
          <a:lstStyle/>
          <a:p>
            <a:endParaRPr lang="en-ES"/>
          </a:p>
        </p:txBody>
      </p:sp>
      <p:sp>
        <p:nvSpPr>
          <p:cNvPr id="19" name="obi-agent-label">
            <a:extLst>
              <a:ext uri="{FF2B5EF4-FFF2-40B4-BE49-F238E27FC236}">
                <a16:creationId xmlns:a16="http://schemas.microsoft.com/office/drawing/2014/main" id="{C7034A89-C90E-4178-B858-FA0F84CF6882}"/>
              </a:ext>
            </a:extLst>
          </p:cNvPr>
          <p:cNvSpPr>
            <a:spLocks noGrp="1"/>
          </p:cNvSpPr>
          <p:nvPr/>
        </p:nvSpPr>
        <p:spPr>
          <a:xfrm>
            <a:off x="1095375" y="2600325"/>
            <a:ext cx="2524125" cy="361950"/>
          </a:xfrm>
          <a:prstGeom prst="rect">
            <a:avLst/>
          </a:prstGeom>
          <a:noFill/>
          <a:ln w="0">
            <a:noFill/>
          </a:ln>
        </p:spPr>
        <p:txBody>
          <a:bodyPr anchor="ctr">
            <a:noAutofit/>
          </a:bodyPr>
          <a:lstStyle>
            <a:defPPr algn="ctr">
              <a:defRPr sz="2025" b="1">
                <a:solidFill>
                  <a:srgbClr val="FF007F"/>
                </a:solidFill>
                <a:latin typeface="CiscoSansTT Medium"/>
                <a:ea typeface="CiscoSansTT Medium"/>
                <a:cs typeface="CiscoSansTT Medium"/>
              </a:defRPr>
            </a:defPPr>
            <a:lvl1pPr algn="ctr">
              <a:defRPr sz="2025" b="1">
                <a:solidFill>
                  <a:srgbClr val="FF007F"/>
                </a:solidFill>
                <a:latin typeface="CiscoSansTT Medium"/>
                <a:ea typeface="CiscoSansTT Medium"/>
                <a:cs typeface="CiscoSansTT Medium"/>
              </a:defRPr>
            </a:lvl1pPr>
            <a:lvl2pPr algn="ctr">
              <a:defRPr sz="2025" b="1">
                <a:solidFill>
                  <a:srgbClr val="FF007F"/>
                </a:solidFill>
                <a:latin typeface="CiscoSansTT Medium"/>
                <a:ea typeface="CiscoSansTT Medium"/>
                <a:cs typeface="CiscoSansTT Medium"/>
              </a:defRPr>
            </a:lvl2pPr>
            <a:lvl3pPr algn="ctr">
              <a:defRPr sz="2025" b="1">
                <a:solidFill>
                  <a:srgbClr val="FF007F"/>
                </a:solidFill>
                <a:latin typeface="CiscoSansTT Medium"/>
                <a:ea typeface="CiscoSansTT Medium"/>
                <a:cs typeface="CiscoSansTT Medium"/>
              </a:defRPr>
            </a:lvl3pPr>
            <a:lvl4pPr algn="ctr">
              <a:defRPr sz="2025" b="1">
                <a:solidFill>
                  <a:srgbClr val="FF007F"/>
                </a:solidFill>
                <a:latin typeface="CiscoSansTT Medium"/>
                <a:ea typeface="CiscoSansTT Medium"/>
                <a:cs typeface="CiscoSansTT Medium"/>
              </a:defRPr>
            </a:lvl4pPr>
            <a:lvl5pPr algn="ctr">
              <a:defRPr sz="2025" b="1">
                <a:solidFill>
                  <a:srgbClr val="FF007F"/>
                </a:solidFill>
                <a:latin typeface="CiscoSansTT Medium"/>
                <a:ea typeface="CiscoSansTT Medium"/>
                <a:cs typeface="CiscoSansTT Medium"/>
              </a:defRPr>
            </a:lvl5pPr>
            <a:lvl6pPr algn="ctr">
              <a:defRPr sz="2025" b="1">
                <a:solidFill>
                  <a:srgbClr val="FF007F"/>
                </a:solidFill>
                <a:latin typeface="CiscoSansTT Medium"/>
                <a:ea typeface="CiscoSansTT Medium"/>
                <a:cs typeface="CiscoSansTT Medium"/>
              </a:defRPr>
            </a:lvl6pPr>
            <a:lvl7pPr algn="ctr">
              <a:defRPr sz="2025" b="1">
                <a:solidFill>
                  <a:srgbClr val="FF007F"/>
                </a:solidFill>
                <a:latin typeface="CiscoSansTT Medium"/>
                <a:ea typeface="CiscoSansTT Medium"/>
                <a:cs typeface="CiscoSansTT Medium"/>
              </a:defRPr>
            </a:lvl7pPr>
            <a:lvl8pPr algn="ctr">
              <a:defRPr sz="2025" b="1">
                <a:solidFill>
                  <a:srgbClr val="FF007F"/>
                </a:solidFill>
                <a:latin typeface="CiscoSansTT Medium"/>
                <a:ea typeface="CiscoSansTT Medium"/>
                <a:cs typeface="CiscoSansTT Medium"/>
              </a:defRPr>
            </a:lvl8pPr>
            <a:lvl9pPr algn="ctr">
              <a:defRPr sz="2025" b="1">
                <a:solidFill>
                  <a:srgbClr val="FF007F"/>
                </a:solidFill>
                <a:latin typeface="CiscoSansTT Medium"/>
                <a:ea typeface="CiscoSansTT Medium"/>
                <a:cs typeface="CiscoSansTT Medium"/>
              </a:defRPr>
            </a:lvl9pPr>
          </a:lstStyle>
          <a:p>
            <a:pPr algn="ctr">
              <a:defRPr sz="2025" b="1">
                <a:solidFill>
                  <a:srgbClr val="FF007F"/>
                </a:solidFill>
                <a:latin typeface="CiscoSansTT Medium"/>
                <a:ea typeface="CiscoSansTT Medium"/>
                <a:cs typeface="CiscoSansTT Medium"/>
              </a:defRPr>
            </a:pPr>
            <a:r>
              <a:rPr sz="2025" b="1">
                <a:solidFill>
                  <a:srgbClr val="FF007F"/>
                </a:solidFill>
                <a:latin typeface="CiscoSansTT Medium"/>
                <a:ea typeface="CiscoSansTT Medium"/>
                <a:cs typeface="CiscoSansTT Medium"/>
              </a:rPr>
              <a:t>OBI</a:t>
            </a:r>
          </a:p>
        </p:txBody>
      </p:sp>
      <p:sp>
        <p:nvSpPr>
          <p:cNvPr id="20" name="obi-agent-role">
            <a:extLst>
              <a:ext uri="{FF2B5EF4-FFF2-40B4-BE49-F238E27FC236}">
                <a16:creationId xmlns:a16="http://schemas.microsoft.com/office/drawing/2014/main" id="{2CCEF436-66A2-4D77-A8B5-C4D8AC90DD05}"/>
              </a:ext>
            </a:extLst>
          </p:cNvPr>
          <p:cNvSpPr>
            <a:spLocks noGrp="1"/>
          </p:cNvSpPr>
          <p:nvPr/>
        </p:nvSpPr>
        <p:spPr>
          <a:xfrm>
            <a:off x="1095375" y="3000375"/>
            <a:ext cx="2524125" cy="485775"/>
          </a:xfrm>
          <a:prstGeom prst="rect">
            <a:avLst/>
          </a:prstGeom>
          <a:noFill/>
          <a:ln w="0">
            <a:noFill/>
          </a:ln>
        </p:spPr>
        <p:txBody>
          <a:bodyPr anchor="ctr">
            <a:noAutofit/>
          </a:bodyPr>
          <a:lstStyle>
            <a:defPPr algn="ctr">
              <a:defRPr sz="1725" b="0">
                <a:solidFill>
                  <a:srgbClr val="07182A"/>
                </a:solidFill>
                <a:latin typeface="CiscoSansTT"/>
                <a:ea typeface="CiscoSansTT"/>
                <a:cs typeface="CiscoSansTT"/>
              </a:defRPr>
            </a:defPPr>
            <a:lvl1pPr algn="ctr">
              <a:defRPr sz="1725" b="0">
                <a:solidFill>
                  <a:srgbClr val="07182A"/>
                </a:solidFill>
                <a:latin typeface="CiscoSansTT"/>
                <a:ea typeface="CiscoSansTT"/>
                <a:cs typeface="CiscoSansTT"/>
              </a:defRPr>
            </a:lvl1pPr>
            <a:lvl2pPr algn="ctr">
              <a:defRPr sz="1725" b="0">
                <a:solidFill>
                  <a:srgbClr val="07182A"/>
                </a:solidFill>
                <a:latin typeface="CiscoSansTT"/>
                <a:ea typeface="CiscoSansTT"/>
                <a:cs typeface="CiscoSansTT"/>
              </a:defRPr>
            </a:lvl2pPr>
            <a:lvl3pPr algn="ctr">
              <a:defRPr sz="1725" b="0">
                <a:solidFill>
                  <a:srgbClr val="07182A"/>
                </a:solidFill>
                <a:latin typeface="CiscoSansTT"/>
                <a:ea typeface="CiscoSansTT"/>
                <a:cs typeface="CiscoSansTT"/>
              </a:defRPr>
            </a:lvl3pPr>
            <a:lvl4pPr algn="ctr">
              <a:defRPr sz="1725" b="0">
                <a:solidFill>
                  <a:srgbClr val="07182A"/>
                </a:solidFill>
                <a:latin typeface="CiscoSansTT"/>
                <a:ea typeface="CiscoSansTT"/>
                <a:cs typeface="CiscoSansTT"/>
              </a:defRPr>
            </a:lvl4pPr>
            <a:lvl5pPr algn="ctr">
              <a:defRPr sz="1725" b="0">
                <a:solidFill>
                  <a:srgbClr val="07182A"/>
                </a:solidFill>
                <a:latin typeface="CiscoSansTT"/>
                <a:ea typeface="CiscoSansTT"/>
                <a:cs typeface="CiscoSansTT"/>
              </a:defRPr>
            </a:lvl5pPr>
            <a:lvl6pPr algn="ctr">
              <a:defRPr sz="1725" b="0">
                <a:solidFill>
                  <a:srgbClr val="07182A"/>
                </a:solidFill>
                <a:latin typeface="CiscoSansTT"/>
                <a:ea typeface="CiscoSansTT"/>
                <a:cs typeface="CiscoSansTT"/>
              </a:defRPr>
            </a:lvl6pPr>
            <a:lvl7pPr algn="ctr">
              <a:defRPr sz="1725" b="0">
                <a:solidFill>
                  <a:srgbClr val="07182A"/>
                </a:solidFill>
                <a:latin typeface="CiscoSansTT"/>
                <a:ea typeface="CiscoSansTT"/>
                <a:cs typeface="CiscoSansTT"/>
              </a:defRPr>
            </a:lvl7pPr>
            <a:lvl8pPr algn="ctr">
              <a:defRPr sz="1725" b="0">
                <a:solidFill>
                  <a:srgbClr val="07182A"/>
                </a:solidFill>
                <a:latin typeface="CiscoSansTT"/>
                <a:ea typeface="CiscoSansTT"/>
                <a:cs typeface="CiscoSansTT"/>
              </a:defRPr>
            </a:lvl8pPr>
            <a:lvl9pPr algn="ctr">
              <a:defRPr sz="1725" b="0">
                <a:solidFill>
                  <a:srgbClr val="07182A"/>
                </a:solidFill>
                <a:latin typeface="CiscoSansTT"/>
                <a:ea typeface="CiscoSansTT"/>
                <a:cs typeface="CiscoSansTT"/>
              </a:defRPr>
            </a:lvl9pPr>
          </a:lstStyle>
          <a:p>
            <a:pPr algn="ctr">
              <a:defRPr sz="1725" b="0">
                <a:solidFill>
                  <a:srgbClr val="07182A"/>
                </a:solidFill>
                <a:latin typeface="CiscoSansTT"/>
                <a:ea typeface="CiscoSansTT"/>
                <a:cs typeface="CiscoSansTT"/>
              </a:defRPr>
            </a:pPr>
            <a:r>
              <a:rPr sz="1725" b="0">
                <a:solidFill>
                  <a:srgbClr val="07182A"/>
                </a:solidFill>
                <a:latin typeface="CiscoSansTT"/>
                <a:ea typeface="CiscoSansTT"/>
                <a:cs typeface="CiscoSansTT"/>
              </a:rPr>
              <a:t>Application traces</a:t>
            </a:r>
          </a:p>
          <a:p>
            <a:pPr algn="ctr">
              <a:defRPr sz="1725" b="0">
                <a:solidFill>
                  <a:srgbClr val="07182A"/>
                </a:solidFill>
                <a:latin typeface="CiscoSansTT"/>
                <a:ea typeface="CiscoSansTT"/>
                <a:cs typeface="CiscoSansTT"/>
              </a:defRPr>
            </a:pPr>
            <a:r>
              <a:rPr sz="1725" b="0">
                <a:solidFill>
                  <a:srgbClr val="07182A"/>
                </a:solidFill>
                <a:latin typeface="CiscoSansTT"/>
                <a:ea typeface="CiscoSansTT"/>
                <a:cs typeface="CiscoSansTT"/>
              </a:rPr>
              <a:t>and metrics</a:t>
            </a:r>
          </a:p>
        </p:txBody>
      </p:sp>
      <p:sp>
        <p:nvSpPr>
          <p:cNvPr id="21" name="cilium-agent">
            <a:extLst>
              <a:ext uri="{FF2B5EF4-FFF2-40B4-BE49-F238E27FC236}">
                <a16:creationId xmlns:a16="http://schemas.microsoft.com/office/drawing/2014/main" id="{20D479C0-19C1-4669-A063-EE5696A5F403}"/>
              </a:ext>
            </a:extLst>
          </p:cNvPr>
          <p:cNvSpPr>
            <a:spLocks noGrp="1"/>
          </p:cNvSpPr>
          <p:nvPr/>
        </p:nvSpPr>
        <p:spPr>
          <a:xfrm>
            <a:off x="1000125" y="3990975"/>
            <a:ext cx="2714625" cy="1028700"/>
          </a:xfrm>
          <a:prstGeom prst="rect">
            <a:avLst/>
          </a:prstGeom>
          <a:solidFill>
            <a:srgbClr val="EAF8FC"/>
          </a:solidFill>
          <a:ln w="14288">
            <a:solidFill>
              <a:srgbClr val="0860FE"/>
            </a:solidFill>
          </a:ln>
        </p:spPr>
        <p:txBody>
          <a:bodyPr/>
          <a:lstStyle/>
          <a:p>
            <a:endParaRPr lang="en-ES"/>
          </a:p>
        </p:txBody>
      </p:sp>
      <p:sp>
        <p:nvSpPr>
          <p:cNvPr id="22" name="cilium-agent-label">
            <a:extLst>
              <a:ext uri="{FF2B5EF4-FFF2-40B4-BE49-F238E27FC236}">
                <a16:creationId xmlns:a16="http://schemas.microsoft.com/office/drawing/2014/main" id="{B9934AD5-3A3C-412B-A9A1-CDBC6533F846}"/>
              </a:ext>
            </a:extLst>
          </p:cNvPr>
          <p:cNvSpPr>
            <a:spLocks noGrp="1"/>
          </p:cNvSpPr>
          <p:nvPr/>
        </p:nvSpPr>
        <p:spPr>
          <a:xfrm>
            <a:off x="1095375" y="4057650"/>
            <a:ext cx="2524125" cy="361950"/>
          </a:xfrm>
          <a:prstGeom prst="rect">
            <a:avLst/>
          </a:prstGeom>
          <a:noFill/>
          <a:ln w="0">
            <a:noFill/>
          </a:ln>
        </p:spPr>
        <p:txBody>
          <a:bodyPr anchor="ctr">
            <a:noAutofit/>
          </a:bodyPr>
          <a:lstStyle>
            <a:defPPr algn="ctr">
              <a:defRPr sz="2025" b="1">
                <a:solidFill>
                  <a:srgbClr val="0860FE"/>
                </a:solidFill>
                <a:latin typeface="CiscoSansTT Medium"/>
                <a:ea typeface="CiscoSansTT Medium"/>
                <a:cs typeface="CiscoSansTT Medium"/>
              </a:defRPr>
            </a:defPPr>
            <a:lvl1pPr algn="ctr">
              <a:defRPr sz="2025" b="1">
                <a:solidFill>
                  <a:srgbClr val="0860FE"/>
                </a:solidFill>
                <a:latin typeface="CiscoSansTT Medium"/>
                <a:ea typeface="CiscoSansTT Medium"/>
                <a:cs typeface="CiscoSansTT Medium"/>
              </a:defRPr>
            </a:lvl1pPr>
            <a:lvl2pPr algn="ctr">
              <a:defRPr sz="2025" b="1">
                <a:solidFill>
                  <a:srgbClr val="0860FE"/>
                </a:solidFill>
                <a:latin typeface="CiscoSansTT Medium"/>
                <a:ea typeface="CiscoSansTT Medium"/>
                <a:cs typeface="CiscoSansTT Medium"/>
              </a:defRPr>
            </a:lvl2pPr>
            <a:lvl3pPr algn="ctr">
              <a:defRPr sz="2025" b="1">
                <a:solidFill>
                  <a:srgbClr val="0860FE"/>
                </a:solidFill>
                <a:latin typeface="CiscoSansTT Medium"/>
                <a:ea typeface="CiscoSansTT Medium"/>
                <a:cs typeface="CiscoSansTT Medium"/>
              </a:defRPr>
            </a:lvl3pPr>
            <a:lvl4pPr algn="ctr">
              <a:defRPr sz="2025" b="1">
                <a:solidFill>
                  <a:srgbClr val="0860FE"/>
                </a:solidFill>
                <a:latin typeface="CiscoSansTT Medium"/>
                <a:ea typeface="CiscoSansTT Medium"/>
                <a:cs typeface="CiscoSansTT Medium"/>
              </a:defRPr>
            </a:lvl4pPr>
            <a:lvl5pPr algn="ctr">
              <a:defRPr sz="2025" b="1">
                <a:solidFill>
                  <a:srgbClr val="0860FE"/>
                </a:solidFill>
                <a:latin typeface="CiscoSansTT Medium"/>
                <a:ea typeface="CiscoSansTT Medium"/>
                <a:cs typeface="CiscoSansTT Medium"/>
              </a:defRPr>
            </a:lvl5pPr>
            <a:lvl6pPr algn="ctr">
              <a:defRPr sz="2025" b="1">
                <a:solidFill>
                  <a:srgbClr val="0860FE"/>
                </a:solidFill>
                <a:latin typeface="CiscoSansTT Medium"/>
                <a:ea typeface="CiscoSansTT Medium"/>
                <a:cs typeface="CiscoSansTT Medium"/>
              </a:defRPr>
            </a:lvl6pPr>
            <a:lvl7pPr algn="ctr">
              <a:defRPr sz="2025" b="1">
                <a:solidFill>
                  <a:srgbClr val="0860FE"/>
                </a:solidFill>
                <a:latin typeface="CiscoSansTT Medium"/>
                <a:ea typeface="CiscoSansTT Medium"/>
                <a:cs typeface="CiscoSansTT Medium"/>
              </a:defRPr>
            </a:lvl7pPr>
            <a:lvl8pPr algn="ctr">
              <a:defRPr sz="2025" b="1">
                <a:solidFill>
                  <a:srgbClr val="0860FE"/>
                </a:solidFill>
                <a:latin typeface="CiscoSansTT Medium"/>
                <a:ea typeface="CiscoSansTT Medium"/>
                <a:cs typeface="CiscoSansTT Medium"/>
              </a:defRPr>
            </a:lvl8pPr>
            <a:lvl9pPr algn="ctr">
              <a:defRPr sz="2025" b="1">
                <a:solidFill>
                  <a:srgbClr val="0860FE"/>
                </a:solidFill>
                <a:latin typeface="CiscoSansTT Medium"/>
                <a:ea typeface="CiscoSansTT Medium"/>
                <a:cs typeface="CiscoSansTT Medium"/>
              </a:defRPr>
            </a:lvl9pPr>
          </a:lstStyle>
          <a:p>
            <a:pPr algn="ctr">
              <a:defRPr sz="2025" b="1">
                <a:solidFill>
                  <a:srgbClr val="0860FE"/>
                </a:solidFill>
                <a:latin typeface="CiscoSansTT Medium"/>
                <a:ea typeface="CiscoSansTT Medium"/>
                <a:cs typeface="CiscoSansTT Medium"/>
              </a:defRPr>
            </a:pPr>
            <a:r>
              <a:rPr sz="2025" b="1">
                <a:solidFill>
                  <a:srgbClr val="0860FE"/>
                </a:solidFill>
                <a:latin typeface="CiscoSansTT Medium"/>
                <a:ea typeface="CiscoSansTT Medium"/>
                <a:cs typeface="CiscoSansTT Medium"/>
              </a:rPr>
              <a:t>Cilium + Hubble</a:t>
            </a:r>
          </a:p>
        </p:txBody>
      </p:sp>
      <p:sp>
        <p:nvSpPr>
          <p:cNvPr id="23" name="cilium-agent-role">
            <a:extLst>
              <a:ext uri="{FF2B5EF4-FFF2-40B4-BE49-F238E27FC236}">
                <a16:creationId xmlns:a16="http://schemas.microsoft.com/office/drawing/2014/main" id="{58449F0B-6B69-4160-BD18-CA3CDA49F7D5}"/>
              </a:ext>
            </a:extLst>
          </p:cNvPr>
          <p:cNvSpPr>
            <a:spLocks noGrp="1"/>
          </p:cNvSpPr>
          <p:nvPr/>
        </p:nvSpPr>
        <p:spPr>
          <a:xfrm>
            <a:off x="1095375" y="4457700"/>
            <a:ext cx="2524125" cy="485775"/>
          </a:xfrm>
          <a:prstGeom prst="rect">
            <a:avLst/>
          </a:prstGeom>
          <a:noFill/>
          <a:ln w="0">
            <a:noFill/>
          </a:ln>
        </p:spPr>
        <p:txBody>
          <a:bodyPr anchor="ctr">
            <a:noAutofit/>
          </a:bodyPr>
          <a:lstStyle>
            <a:defPPr algn="ctr">
              <a:defRPr sz="1725" b="0">
                <a:solidFill>
                  <a:srgbClr val="07182A"/>
                </a:solidFill>
                <a:latin typeface="CiscoSansTT"/>
                <a:ea typeface="CiscoSansTT"/>
                <a:cs typeface="CiscoSansTT"/>
              </a:defRPr>
            </a:defPPr>
            <a:lvl1pPr algn="ctr">
              <a:defRPr sz="1725" b="0">
                <a:solidFill>
                  <a:srgbClr val="07182A"/>
                </a:solidFill>
                <a:latin typeface="CiscoSansTT"/>
                <a:ea typeface="CiscoSansTT"/>
                <a:cs typeface="CiscoSansTT"/>
              </a:defRPr>
            </a:lvl1pPr>
            <a:lvl2pPr algn="ctr">
              <a:defRPr sz="1725" b="0">
                <a:solidFill>
                  <a:srgbClr val="07182A"/>
                </a:solidFill>
                <a:latin typeface="CiscoSansTT"/>
                <a:ea typeface="CiscoSansTT"/>
                <a:cs typeface="CiscoSansTT"/>
              </a:defRPr>
            </a:lvl2pPr>
            <a:lvl3pPr algn="ctr">
              <a:defRPr sz="1725" b="0">
                <a:solidFill>
                  <a:srgbClr val="07182A"/>
                </a:solidFill>
                <a:latin typeface="CiscoSansTT"/>
                <a:ea typeface="CiscoSansTT"/>
                <a:cs typeface="CiscoSansTT"/>
              </a:defRPr>
            </a:lvl3pPr>
            <a:lvl4pPr algn="ctr">
              <a:defRPr sz="1725" b="0">
                <a:solidFill>
                  <a:srgbClr val="07182A"/>
                </a:solidFill>
                <a:latin typeface="CiscoSansTT"/>
                <a:ea typeface="CiscoSansTT"/>
                <a:cs typeface="CiscoSansTT"/>
              </a:defRPr>
            </a:lvl4pPr>
            <a:lvl5pPr algn="ctr">
              <a:defRPr sz="1725" b="0">
                <a:solidFill>
                  <a:srgbClr val="07182A"/>
                </a:solidFill>
                <a:latin typeface="CiscoSansTT"/>
                <a:ea typeface="CiscoSansTT"/>
                <a:cs typeface="CiscoSansTT"/>
              </a:defRPr>
            </a:lvl5pPr>
            <a:lvl6pPr algn="ctr">
              <a:defRPr sz="1725" b="0">
                <a:solidFill>
                  <a:srgbClr val="07182A"/>
                </a:solidFill>
                <a:latin typeface="CiscoSansTT"/>
                <a:ea typeface="CiscoSansTT"/>
                <a:cs typeface="CiscoSansTT"/>
              </a:defRPr>
            </a:lvl6pPr>
            <a:lvl7pPr algn="ctr">
              <a:defRPr sz="1725" b="0">
                <a:solidFill>
                  <a:srgbClr val="07182A"/>
                </a:solidFill>
                <a:latin typeface="CiscoSansTT"/>
                <a:ea typeface="CiscoSansTT"/>
                <a:cs typeface="CiscoSansTT"/>
              </a:defRPr>
            </a:lvl7pPr>
            <a:lvl8pPr algn="ctr">
              <a:defRPr sz="1725" b="0">
                <a:solidFill>
                  <a:srgbClr val="07182A"/>
                </a:solidFill>
                <a:latin typeface="CiscoSansTT"/>
                <a:ea typeface="CiscoSansTT"/>
                <a:cs typeface="CiscoSansTT"/>
              </a:defRPr>
            </a:lvl8pPr>
            <a:lvl9pPr algn="ctr">
              <a:defRPr sz="1725" b="0">
                <a:solidFill>
                  <a:srgbClr val="07182A"/>
                </a:solidFill>
                <a:latin typeface="CiscoSansTT"/>
                <a:ea typeface="CiscoSansTT"/>
                <a:cs typeface="CiscoSansTT"/>
              </a:defRPr>
            </a:lvl9pPr>
          </a:lstStyle>
          <a:p>
            <a:pPr algn="ctr">
              <a:defRPr sz="1725" b="0">
                <a:solidFill>
                  <a:srgbClr val="07182A"/>
                </a:solidFill>
                <a:latin typeface="CiscoSansTT"/>
                <a:ea typeface="CiscoSansTT"/>
                <a:cs typeface="CiscoSansTT"/>
              </a:defRPr>
            </a:pPr>
            <a:r>
              <a:rPr sz="1725" b="0">
                <a:solidFill>
                  <a:srgbClr val="07182A"/>
                </a:solidFill>
                <a:latin typeface="CiscoSansTT"/>
                <a:ea typeface="CiscoSansTT"/>
                <a:cs typeface="CiscoSansTT"/>
              </a:rPr>
              <a:t>Networking, policy,</a:t>
            </a:r>
          </a:p>
          <a:p>
            <a:pPr algn="ctr">
              <a:defRPr sz="1725" b="0">
                <a:solidFill>
                  <a:srgbClr val="07182A"/>
                </a:solidFill>
                <a:latin typeface="CiscoSansTT"/>
                <a:ea typeface="CiscoSansTT"/>
                <a:cs typeface="CiscoSansTT"/>
              </a:defRPr>
            </a:pPr>
            <a:r>
              <a:rPr sz="1725" b="0">
                <a:solidFill>
                  <a:srgbClr val="07182A"/>
                </a:solidFill>
                <a:latin typeface="CiscoSansTT"/>
                <a:ea typeface="CiscoSansTT"/>
                <a:cs typeface="CiscoSansTT"/>
              </a:rPr>
              <a:t>and flows</a:t>
            </a:r>
          </a:p>
        </p:txBody>
      </p:sp>
      <p:sp>
        <p:nvSpPr>
          <p:cNvPr id="24" name="check-number-01">
            <a:extLst>
              <a:ext uri="{FF2B5EF4-FFF2-40B4-BE49-F238E27FC236}">
                <a16:creationId xmlns:a16="http://schemas.microsoft.com/office/drawing/2014/main" id="{C1DE81FB-9EF5-48A4-B316-8BF80D027043}"/>
              </a:ext>
            </a:extLst>
          </p:cNvPr>
          <p:cNvSpPr>
            <a:spLocks noGrp="1"/>
          </p:cNvSpPr>
          <p:nvPr/>
        </p:nvSpPr>
        <p:spPr>
          <a:xfrm>
            <a:off x="4429125" y="1714500"/>
            <a:ext cx="523875" cy="419100"/>
          </a:xfrm>
          <a:prstGeom prst="rect">
            <a:avLst/>
          </a:prstGeom>
          <a:noFill/>
          <a:ln w="0">
            <a:noFill/>
          </a:ln>
        </p:spPr>
        <p:txBody>
          <a:bodyPr anchor="ctr">
            <a:noAutofit/>
          </a:bodyPr>
          <a:lstStyle>
            <a:defPPr algn="l">
              <a:defRPr sz="2025" b="1">
                <a:solidFill>
                  <a:srgbClr val="0860FE"/>
                </a:solidFill>
                <a:latin typeface="CiscoSansTT Medium"/>
                <a:ea typeface="CiscoSansTT Medium"/>
                <a:cs typeface="CiscoSansTT Medium"/>
              </a:defRPr>
            </a:defPPr>
            <a:lvl1pPr algn="l">
              <a:defRPr sz="2025" b="1">
                <a:solidFill>
                  <a:srgbClr val="0860FE"/>
                </a:solidFill>
                <a:latin typeface="CiscoSansTT Medium"/>
                <a:ea typeface="CiscoSansTT Medium"/>
                <a:cs typeface="CiscoSansTT Medium"/>
              </a:defRPr>
            </a:lvl1pPr>
            <a:lvl2pPr algn="l">
              <a:defRPr sz="2025" b="1">
                <a:solidFill>
                  <a:srgbClr val="0860FE"/>
                </a:solidFill>
                <a:latin typeface="CiscoSansTT Medium"/>
                <a:ea typeface="CiscoSansTT Medium"/>
                <a:cs typeface="CiscoSansTT Medium"/>
              </a:defRPr>
            </a:lvl2pPr>
            <a:lvl3pPr algn="l">
              <a:defRPr sz="2025" b="1">
                <a:solidFill>
                  <a:srgbClr val="0860FE"/>
                </a:solidFill>
                <a:latin typeface="CiscoSansTT Medium"/>
                <a:ea typeface="CiscoSansTT Medium"/>
                <a:cs typeface="CiscoSansTT Medium"/>
              </a:defRPr>
            </a:lvl3pPr>
            <a:lvl4pPr algn="l">
              <a:defRPr sz="2025" b="1">
                <a:solidFill>
                  <a:srgbClr val="0860FE"/>
                </a:solidFill>
                <a:latin typeface="CiscoSansTT Medium"/>
                <a:ea typeface="CiscoSansTT Medium"/>
                <a:cs typeface="CiscoSansTT Medium"/>
              </a:defRPr>
            </a:lvl4pPr>
            <a:lvl5pPr algn="l">
              <a:defRPr sz="2025" b="1">
                <a:solidFill>
                  <a:srgbClr val="0860FE"/>
                </a:solidFill>
                <a:latin typeface="CiscoSansTT Medium"/>
                <a:ea typeface="CiscoSansTT Medium"/>
                <a:cs typeface="CiscoSansTT Medium"/>
              </a:defRPr>
            </a:lvl5pPr>
            <a:lvl6pPr algn="l">
              <a:defRPr sz="2025" b="1">
                <a:solidFill>
                  <a:srgbClr val="0860FE"/>
                </a:solidFill>
                <a:latin typeface="CiscoSansTT Medium"/>
                <a:ea typeface="CiscoSansTT Medium"/>
                <a:cs typeface="CiscoSansTT Medium"/>
              </a:defRPr>
            </a:lvl6pPr>
            <a:lvl7pPr algn="l">
              <a:defRPr sz="2025" b="1">
                <a:solidFill>
                  <a:srgbClr val="0860FE"/>
                </a:solidFill>
                <a:latin typeface="CiscoSansTT Medium"/>
                <a:ea typeface="CiscoSansTT Medium"/>
                <a:cs typeface="CiscoSansTT Medium"/>
              </a:defRPr>
            </a:lvl7pPr>
            <a:lvl8pPr algn="l">
              <a:defRPr sz="2025" b="1">
                <a:solidFill>
                  <a:srgbClr val="0860FE"/>
                </a:solidFill>
                <a:latin typeface="CiscoSansTT Medium"/>
                <a:ea typeface="CiscoSansTT Medium"/>
                <a:cs typeface="CiscoSansTT Medium"/>
              </a:defRPr>
            </a:lvl8pPr>
            <a:lvl9pPr algn="l">
              <a:defRPr sz="2025" b="1">
                <a:solidFill>
                  <a:srgbClr val="0860FE"/>
                </a:solidFill>
                <a:latin typeface="CiscoSansTT Medium"/>
                <a:ea typeface="CiscoSansTT Medium"/>
                <a:cs typeface="CiscoSansTT Medium"/>
              </a:defRPr>
            </a:lvl9pPr>
          </a:lstStyle>
          <a:p>
            <a:pPr algn="l">
              <a:defRPr sz="2025" b="1">
                <a:solidFill>
                  <a:srgbClr val="0860FE"/>
                </a:solidFill>
                <a:latin typeface="CiscoSansTT Medium"/>
                <a:ea typeface="CiscoSansTT Medium"/>
                <a:cs typeface="CiscoSansTT Medium"/>
              </a:defRPr>
            </a:pPr>
            <a:r>
              <a:rPr sz="2025" b="1">
                <a:solidFill>
                  <a:srgbClr val="0860FE"/>
                </a:solidFill>
                <a:latin typeface="CiscoSansTT Medium"/>
                <a:ea typeface="CiscoSansTT Medium"/>
                <a:cs typeface="CiscoSansTT Medium"/>
              </a:rPr>
              <a:t>01</a:t>
            </a:r>
          </a:p>
        </p:txBody>
      </p:sp>
      <p:sp>
        <p:nvSpPr>
          <p:cNvPr id="25" name="check-label-01">
            <a:extLst>
              <a:ext uri="{FF2B5EF4-FFF2-40B4-BE49-F238E27FC236}">
                <a16:creationId xmlns:a16="http://schemas.microsoft.com/office/drawing/2014/main" id="{60142FA9-3915-4409-9632-8CB4B6ADCDFA}"/>
              </a:ext>
            </a:extLst>
          </p:cNvPr>
          <p:cNvSpPr>
            <a:spLocks noGrp="1"/>
          </p:cNvSpPr>
          <p:nvPr/>
        </p:nvSpPr>
        <p:spPr>
          <a:xfrm>
            <a:off x="5076825" y="1714500"/>
            <a:ext cx="6286500" cy="419100"/>
          </a:xfrm>
          <a:prstGeom prst="rect">
            <a:avLst/>
          </a:prstGeom>
          <a:noFill/>
          <a:ln w="0">
            <a:noFill/>
          </a:ln>
        </p:spPr>
        <p:txBody>
          <a:bodyPr anchor="ctr">
            <a:noAutofit/>
          </a:bodyPr>
          <a:lstStyle>
            <a:defPPr algn="l">
              <a:defRPr sz="2175" b="1">
                <a:solidFill>
                  <a:srgbClr val="07182A"/>
                </a:solidFill>
                <a:latin typeface="CiscoSansTT Medium"/>
                <a:ea typeface="CiscoSansTT Medium"/>
                <a:cs typeface="CiscoSansTT Medium"/>
              </a:defRPr>
            </a:defPPr>
            <a:lvl1pPr algn="l">
              <a:defRPr sz="2175" b="1">
                <a:solidFill>
                  <a:srgbClr val="07182A"/>
                </a:solidFill>
                <a:latin typeface="CiscoSansTT Medium"/>
                <a:ea typeface="CiscoSansTT Medium"/>
                <a:cs typeface="CiscoSansTT Medium"/>
              </a:defRPr>
            </a:lvl1pPr>
            <a:lvl2pPr algn="l">
              <a:defRPr sz="2175" b="1">
                <a:solidFill>
                  <a:srgbClr val="07182A"/>
                </a:solidFill>
                <a:latin typeface="CiscoSansTT Medium"/>
                <a:ea typeface="CiscoSansTT Medium"/>
                <a:cs typeface="CiscoSansTT Medium"/>
              </a:defRPr>
            </a:lvl2pPr>
            <a:lvl3pPr algn="l">
              <a:defRPr sz="2175" b="1">
                <a:solidFill>
                  <a:srgbClr val="07182A"/>
                </a:solidFill>
                <a:latin typeface="CiscoSansTT Medium"/>
                <a:ea typeface="CiscoSansTT Medium"/>
                <a:cs typeface="CiscoSansTT Medium"/>
              </a:defRPr>
            </a:lvl3pPr>
            <a:lvl4pPr algn="l">
              <a:defRPr sz="2175" b="1">
                <a:solidFill>
                  <a:srgbClr val="07182A"/>
                </a:solidFill>
                <a:latin typeface="CiscoSansTT Medium"/>
                <a:ea typeface="CiscoSansTT Medium"/>
                <a:cs typeface="CiscoSansTT Medium"/>
              </a:defRPr>
            </a:lvl4pPr>
            <a:lvl5pPr algn="l">
              <a:defRPr sz="2175" b="1">
                <a:solidFill>
                  <a:srgbClr val="07182A"/>
                </a:solidFill>
                <a:latin typeface="CiscoSansTT Medium"/>
                <a:ea typeface="CiscoSansTT Medium"/>
                <a:cs typeface="CiscoSansTT Medium"/>
              </a:defRPr>
            </a:lvl5pPr>
            <a:lvl6pPr algn="l">
              <a:defRPr sz="2175" b="1">
                <a:solidFill>
                  <a:srgbClr val="07182A"/>
                </a:solidFill>
                <a:latin typeface="CiscoSansTT Medium"/>
                <a:ea typeface="CiscoSansTT Medium"/>
                <a:cs typeface="CiscoSansTT Medium"/>
              </a:defRPr>
            </a:lvl6pPr>
            <a:lvl7pPr algn="l">
              <a:defRPr sz="2175" b="1">
                <a:solidFill>
                  <a:srgbClr val="07182A"/>
                </a:solidFill>
                <a:latin typeface="CiscoSansTT Medium"/>
                <a:ea typeface="CiscoSansTT Medium"/>
                <a:cs typeface="CiscoSansTT Medium"/>
              </a:defRPr>
            </a:lvl7pPr>
            <a:lvl8pPr algn="l">
              <a:defRPr sz="2175" b="1">
                <a:solidFill>
                  <a:srgbClr val="07182A"/>
                </a:solidFill>
                <a:latin typeface="CiscoSansTT Medium"/>
                <a:ea typeface="CiscoSansTT Medium"/>
                <a:cs typeface="CiscoSansTT Medium"/>
              </a:defRPr>
            </a:lvl8pPr>
            <a:lvl9pPr algn="l">
              <a:defRPr sz="2175" b="1">
                <a:solidFill>
                  <a:srgbClr val="07182A"/>
                </a:solidFill>
                <a:latin typeface="CiscoSansTT Medium"/>
                <a:ea typeface="CiscoSansTT Medium"/>
                <a:cs typeface="CiscoSansTT Medium"/>
              </a:defRPr>
            </a:lvl9pPr>
          </a:lstStyle>
          <a:p>
            <a:pPr algn="l">
              <a:defRPr sz="2175" b="1">
                <a:solidFill>
                  <a:srgbClr val="07182A"/>
                </a:solidFill>
                <a:latin typeface="CiscoSansTT Medium"/>
                <a:ea typeface="CiscoSansTT Medium"/>
                <a:cs typeface="CiscoSansTT Medium"/>
              </a:defRPr>
            </a:pPr>
            <a:r>
              <a:rPr sz="2175" b="1">
                <a:solidFill>
                  <a:srgbClr val="07182A"/>
                </a:solidFill>
                <a:latin typeface="CiscoSansTT Medium"/>
                <a:ea typeface="CiscoSansTT Medium"/>
                <a:cs typeface="CiscoSansTT Medium"/>
              </a:rPr>
              <a:t>Traffic behavior</a:t>
            </a:r>
          </a:p>
        </p:txBody>
      </p:sp>
      <p:sp>
        <p:nvSpPr>
          <p:cNvPr id="26" name="check-question-01">
            <a:extLst>
              <a:ext uri="{FF2B5EF4-FFF2-40B4-BE49-F238E27FC236}">
                <a16:creationId xmlns:a16="http://schemas.microsoft.com/office/drawing/2014/main" id="{33BFD717-47EC-4EB4-B430-95DCBEB575B7}"/>
              </a:ext>
            </a:extLst>
          </p:cNvPr>
          <p:cNvSpPr>
            <a:spLocks noGrp="1"/>
          </p:cNvSpPr>
          <p:nvPr/>
        </p:nvSpPr>
        <p:spPr>
          <a:xfrm>
            <a:off x="5076825" y="2171700"/>
            <a:ext cx="6286500" cy="619125"/>
          </a:xfrm>
          <a:prstGeom prst="rect">
            <a:avLst/>
          </a:prstGeom>
          <a:noFill/>
          <a:ln w="0">
            <a:noFill/>
          </a:ln>
        </p:spPr>
        <p:txBody>
          <a:bodyPr anchor="ctr">
            <a:noAutofit/>
          </a:bodyPr>
          <a:lstStyle>
            <a:defPPr algn="l">
              <a:defRPr sz="2025" b="0">
                <a:solidFill>
                  <a:srgbClr val="07182A"/>
                </a:solidFill>
                <a:latin typeface="CiscoSansTT"/>
                <a:ea typeface="CiscoSansTT"/>
                <a:cs typeface="CiscoSansTT"/>
              </a:defRPr>
            </a:defPPr>
            <a:lvl1pPr algn="l">
              <a:defRPr sz="2025" b="0">
                <a:solidFill>
                  <a:srgbClr val="07182A"/>
                </a:solidFill>
                <a:latin typeface="CiscoSansTT"/>
                <a:ea typeface="CiscoSansTT"/>
                <a:cs typeface="CiscoSansTT"/>
              </a:defRPr>
            </a:lvl1pPr>
            <a:lvl2pPr algn="l">
              <a:defRPr sz="2025" b="0">
                <a:solidFill>
                  <a:srgbClr val="07182A"/>
                </a:solidFill>
                <a:latin typeface="CiscoSansTT"/>
                <a:ea typeface="CiscoSansTT"/>
                <a:cs typeface="CiscoSansTT"/>
              </a:defRPr>
            </a:lvl2pPr>
            <a:lvl3pPr algn="l">
              <a:defRPr sz="2025" b="0">
                <a:solidFill>
                  <a:srgbClr val="07182A"/>
                </a:solidFill>
                <a:latin typeface="CiscoSansTT"/>
                <a:ea typeface="CiscoSansTT"/>
                <a:cs typeface="CiscoSansTT"/>
              </a:defRPr>
            </a:lvl3pPr>
            <a:lvl4pPr algn="l">
              <a:defRPr sz="2025" b="0">
                <a:solidFill>
                  <a:srgbClr val="07182A"/>
                </a:solidFill>
                <a:latin typeface="CiscoSansTT"/>
                <a:ea typeface="CiscoSansTT"/>
                <a:cs typeface="CiscoSansTT"/>
              </a:defRPr>
            </a:lvl4pPr>
            <a:lvl5pPr algn="l">
              <a:defRPr sz="2025" b="0">
                <a:solidFill>
                  <a:srgbClr val="07182A"/>
                </a:solidFill>
                <a:latin typeface="CiscoSansTT"/>
                <a:ea typeface="CiscoSansTT"/>
                <a:cs typeface="CiscoSansTT"/>
              </a:defRPr>
            </a:lvl5pPr>
            <a:lvl6pPr algn="l">
              <a:defRPr sz="2025" b="0">
                <a:solidFill>
                  <a:srgbClr val="07182A"/>
                </a:solidFill>
                <a:latin typeface="CiscoSansTT"/>
                <a:ea typeface="CiscoSansTT"/>
                <a:cs typeface="CiscoSansTT"/>
              </a:defRPr>
            </a:lvl6pPr>
            <a:lvl7pPr algn="l">
              <a:defRPr sz="2025" b="0">
                <a:solidFill>
                  <a:srgbClr val="07182A"/>
                </a:solidFill>
                <a:latin typeface="CiscoSansTT"/>
                <a:ea typeface="CiscoSansTT"/>
                <a:cs typeface="CiscoSansTT"/>
              </a:defRPr>
            </a:lvl7pPr>
            <a:lvl8pPr algn="l">
              <a:defRPr sz="2025" b="0">
                <a:solidFill>
                  <a:srgbClr val="07182A"/>
                </a:solidFill>
                <a:latin typeface="CiscoSansTT"/>
                <a:ea typeface="CiscoSansTT"/>
                <a:cs typeface="CiscoSansTT"/>
              </a:defRPr>
            </a:lvl8pPr>
            <a:lvl9pPr algn="l">
              <a:defRPr sz="2025" b="0">
                <a:solidFill>
                  <a:srgbClr val="07182A"/>
                </a:solidFill>
                <a:latin typeface="CiscoSansTT"/>
                <a:ea typeface="CiscoSansTT"/>
                <a:cs typeface="CiscoSansTT"/>
              </a:defRPr>
            </a:lvl9pPr>
          </a:lstStyle>
          <a:p>
            <a:pPr algn="l">
              <a:defRPr sz="2025" b="0">
                <a:solidFill>
                  <a:srgbClr val="07182A"/>
                </a:solidFill>
                <a:latin typeface="CiscoSansTT"/>
                <a:ea typeface="CiscoSansTT"/>
                <a:cs typeface="CiscoSansTT"/>
              </a:defRPr>
            </a:pPr>
            <a:r>
              <a:rPr sz="2025" b="0" dirty="0">
                <a:solidFill>
                  <a:srgbClr val="07182A"/>
                </a:solidFill>
                <a:latin typeface="CiscoSansTT"/>
                <a:ea typeface="CiscoSansTT"/>
                <a:cs typeface="CiscoSansTT"/>
              </a:rPr>
              <a:t>Do networking and policy still work?</a:t>
            </a:r>
          </a:p>
        </p:txBody>
      </p:sp>
      <p:sp>
        <p:nvSpPr>
          <p:cNvPr id="27" name="check-number-02">
            <a:extLst>
              <a:ext uri="{FF2B5EF4-FFF2-40B4-BE49-F238E27FC236}">
                <a16:creationId xmlns:a16="http://schemas.microsoft.com/office/drawing/2014/main" id="{45A53098-78C3-420B-B7FE-8CDE432B5A9F}"/>
              </a:ext>
            </a:extLst>
          </p:cNvPr>
          <p:cNvSpPr>
            <a:spLocks noGrp="1"/>
          </p:cNvSpPr>
          <p:nvPr/>
        </p:nvSpPr>
        <p:spPr>
          <a:xfrm>
            <a:off x="4429125" y="3086100"/>
            <a:ext cx="523875" cy="419100"/>
          </a:xfrm>
          <a:prstGeom prst="rect">
            <a:avLst/>
          </a:prstGeom>
          <a:noFill/>
          <a:ln w="0">
            <a:noFill/>
          </a:ln>
        </p:spPr>
        <p:txBody>
          <a:bodyPr anchor="ctr">
            <a:noAutofit/>
          </a:bodyPr>
          <a:lstStyle>
            <a:defPPr algn="l">
              <a:defRPr sz="2025" b="1">
                <a:solidFill>
                  <a:srgbClr val="0860FE"/>
                </a:solidFill>
                <a:latin typeface="CiscoSansTT Medium"/>
                <a:ea typeface="CiscoSansTT Medium"/>
                <a:cs typeface="CiscoSansTT Medium"/>
              </a:defRPr>
            </a:defPPr>
            <a:lvl1pPr algn="l">
              <a:defRPr sz="2025" b="1">
                <a:solidFill>
                  <a:srgbClr val="0860FE"/>
                </a:solidFill>
                <a:latin typeface="CiscoSansTT Medium"/>
                <a:ea typeface="CiscoSansTT Medium"/>
                <a:cs typeface="CiscoSansTT Medium"/>
              </a:defRPr>
            </a:lvl1pPr>
            <a:lvl2pPr algn="l">
              <a:defRPr sz="2025" b="1">
                <a:solidFill>
                  <a:srgbClr val="0860FE"/>
                </a:solidFill>
                <a:latin typeface="CiscoSansTT Medium"/>
                <a:ea typeface="CiscoSansTT Medium"/>
                <a:cs typeface="CiscoSansTT Medium"/>
              </a:defRPr>
            </a:lvl2pPr>
            <a:lvl3pPr algn="l">
              <a:defRPr sz="2025" b="1">
                <a:solidFill>
                  <a:srgbClr val="0860FE"/>
                </a:solidFill>
                <a:latin typeface="CiscoSansTT Medium"/>
                <a:ea typeface="CiscoSansTT Medium"/>
                <a:cs typeface="CiscoSansTT Medium"/>
              </a:defRPr>
            </a:lvl3pPr>
            <a:lvl4pPr algn="l">
              <a:defRPr sz="2025" b="1">
                <a:solidFill>
                  <a:srgbClr val="0860FE"/>
                </a:solidFill>
                <a:latin typeface="CiscoSansTT Medium"/>
                <a:ea typeface="CiscoSansTT Medium"/>
                <a:cs typeface="CiscoSansTT Medium"/>
              </a:defRPr>
            </a:lvl4pPr>
            <a:lvl5pPr algn="l">
              <a:defRPr sz="2025" b="1">
                <a:solidFill>
                  <a:srgbClr val="0860FE"/>
                </a:solidFill>
                <a:latin typeface="CiscoSansTT Medium"/>
                <a:ea typeface="CiscoSansTT Medium"/>
                <a:cs typeface="CiscoSansTT Medium"/>
              </a:defRPr>
            </a:lvl5pPr>
            <a:lvl6pPr algn="l">
              <a:defRPr sz="2025" b="1">
                <a:solidFill>
                  <a:srgbClr val="0860FE"/>
                </a:solidFill>
                <a:latin typeface="CiscoSansTT Medium"/>
                <a:ea typeface="CiscoSansTT Medium"/>
                <a:cs typeface="CiscoSansTT Medium"/>
              </a:defRPr>
            </a:lvl6pPr>
            <a:lvl7pPr algn="l">
              <a:defRPr sz="2025" b="1">
                <a:solidFill>
                  <a:srgbClr val="0860FE"/>
                </a:solidFill>
                <a:latin typeface="CiscoSansTT Medium"/>
                <a:ea typeface="CiscoSansTT Medium"/>
                <a:cs typeface="CiscoSansTT Medium"/>
              </a:defRPr>
            </a:lvl7pPr>
            <a:lvl8pPr algn="l">
              <a:defRPr sz="2025" b="1">
                <a:solidFill>
                  <a:srgbClr val="0860FE"/>
                </a:solidFill>
                <a:latin typeface="CiscoSansTT Medium"/>
                <a:ea typeface="CiscoSansTT Medium"/>
                <a:cs typeface="CiscoSansTT Medium"/>
              </a:defRPr>
            </a:lvl8pPr>
            <a:lvl9pPr algn="l">
              <a:defRPr sz="2025" b="1">
                <a:solidFill>
                  <a:srgbClr val="0860FE"/>
                </a:solidFill>
                <a:latin typeface="CiscoSansTT Medium"/>
                <a:ea typeface="CiscoSansTT Medium"/>
                <a:cs typeface="CiscoSansTT Medium"/>
              </a:defRPr>
            </a:lvl9pPr>
          </a:lstStyle>
          <a:p>
            <a:pPr algn="l">
              <a:defRPr sz="2025" b="1">
                <a:solidFill>
                  <a:srgbClr val="0860FE"/>
                </a:solidFill>
                <a:latin typeface="CiscoSansTT Medium"/>
                <a:ea typeface="CiscoSansTT Medium"/>
                <a:cs typeface="CiscoSansTT Medium"/>
              </a:defRPr>
            </a:pPr>
            <a:r>
              <a:rPr sz="2025" b="1">
                <a:solidFill>
                  <a:srgbClr val="0860FE"/>
                </a:solidFill>
                <a:latin typeface="CiscoSansTT Medium"/>
                <a:ea typeface="CiscoSansTT Medium"/>
                <a:cs typeface="CiscoSansTT Medium"/>
              </a:rPr>
              <a:t>02</a:t>
            </a:r>
          </a:p>
        </p:txBody>
      </p:sp>
      <p:sp>
        <p:nvSpPr>
          <p:cNvPr id="28" name="check-label-02">
            <a:extLst>
              <a:ext uri="{FF2B5EF4-FFF2-40B4-BE49-F238E27FC236}">
                <a16:creationId xmlns:a16="http://schemas.microsoft.com/office/drawing/2014/main" id="{5F71C06B-4CFA-4771-9EE6-18E29F345289}"/>
              </a:ext>
            </a:extLst>
          </p:cNvPr>
          <p:cNvSpPr>
            <a:spLocks noGrp="1"/>
          </p:cNvSpPr>
          <p:nvPr/>
        </p:nvSpPr>
        <p:spPr>
          <a:xfrm>
            <a:off x="5076825" y="3086100"/>
            <a:ext cx="6286500" cy="419100"/>
          </a:xfrm>
          <a:prstGeom prst="rect">
            <a:avLst/>
          </a:prstGeom>
          <a:noFill/>
          <a:ln w="0">
            <a:noFill/>
          </a:ln>
        </p:spPr>
        <p:txBody>
          <a:bodyPr anchor="ctr">
            <a:noAutofit/>
          </a:bodyPr>
          <a:lstStyle>
            <a:defPPr algn="l">
              <a:defRPr sz="2175" b="1">
                <a:solidFill>
                  <a:srgbClr val="07182A"/>
                </a:solidFill>
                <a:latin typeface="CiscoSansTT Medium"/>
                <a:ea typeface="CiscoSansTT Medium"/>
                <a:cs typeface="CiscoSansTT Medium"/>
              </a:defRPr>
            </a:defPPr>
            <a:lvl1pPr algn="l">
              <a:defRPr sz="2175" b="1">
                <a:solidFill>
                  <a:srgbClr val="07182A"/>
                </a:solidFill>
                <a:latin typeface="CiscoSansTT Medium"/>
                <a:ea typeface="CiscoSansTT Medium"/>
                <a:cs typeface="CiscoSansTT Medium"/>
              </a:defRPr>
            </a:lvl1pPr>
            <a:lvl2pPr algn="l">
              <a:defRPr sz="2175" b="1">
                <a:solidFill>
                  <a:srgbClr val="07182A"/>
                </a:solidFill>
                <a:latin typeface="CiscoSansTT Medium"/>
                <a:ea typeface="CiscoSansTT Medium"/>
                <a:cs typeface="CiscoSansTT Medium"/>
              </a:defRPr>
            </a:lvl2pPr>
            <a:lvl3pPr algn="l">
              <a:defRPr sz="2175" b="1">
                <a:solidFill>
                  <a:srgbClr val="07182A"/>
                </a:solidFill>
                <a:latin typeface="CiscoSansTT Medium"/>
                <a:ea typeface="CiscoSansTT Medium"/>
                <a:cs typeface="CiscoSansTT Medium"/>
              </a:defRPr>
            </a:lvl3pPr>
            <a:lvl4pPr algn="l">
              <a:defRPr sz="2175" b="1">
                <a:solidFill>
                  <a:srgbClr val="07182A"/>
                </a:solidFill>
                <a:latin typeface="CiscoSansTT Medium"/>
                <a:ea typeface="CiscoSansTT Medium"/>
                <a:cs typeface="CiscoSansTT Medium"/>
              </a:defRPr>
            </a:lvl4pPr>
            <a:lvl5pPr algn="l">
              <a:defRPr sz="2175" b="1">
                <a:solidFill>
                  <a:srgbClr val="07182A"/>
                </a:solidFill>
                <a:latin typeface="CiscoSansTT Medium"/>
                <a:ea typeface="CiscoSansTT Medium"/>
                <a:cs typeface="CiscoSansTT Medium"/>
              </a:defRPr>
            </a:lvl5pPr>
            <a:lvl6pPr algn="l">
              <a:defRPr sz="2175" b="1">
                <a:solidFill>
                  <a:srgbClr val="07182A"/>
                </a:solidFill>
                <a:latin typeface="CiscoSansTT Medium"/>
                <a:ea typeface="CiscoSansTT Medium"/>
                <a:cs typeface="CiscoSansTT Medium"/>
              </a:defRPr>
            </a:lvl6pPr>
            <a:lvl7pPr algn="l">
              <a:defRPr sz="2175" b="1">
                <a:solidFill>
                  <a:srgbClr val="07182A"/>
                </a:solidFill>
                <a:latin typeface="CiscoSansTT Medium"/>
                <a:ea typeface="CiscoSansTT Medium"/>
                <a:cs typeface="CiscoSansTT Medium"/>
              </a:defRPr>
            </a:lvl7pPr>
            <a:lvl8pPr algn="l">
              <a:defRPr sz="2175" b="1">
                <a:solidFill>
                  <a:srgbClr val="07182A"/>
                </a:solidFill>
                <a:latin typeface="CiscoSansTT Medium"/>
                <a:ea typeface="CiscoSansTT Medium"/>
                <a:cs typeface="CiscoSansTT Medium"/>
              </a:defRPr>
            </a:lvl8pPr>
            <a:lvl9pPr algn="l">
              <a:defRPr sz="2175" b="1">
                <a:solidFill>
                  <a:srgbClr val="07182A"/>
                </a:solidFill>
                <a:latin typeface="CiscoSansTT Medium"/>
                <a:ea typeface="CiscoSansTT Medium"/>
                <a:cs typeface="CiscoSansTT Medium"/>
              </a:defRPr>
            </a:lvl9pPr>
          </a:lstStyle>
          <a:p>
            <a:pPr algn="l">
              <a:defRPr sz="2175" b="1">
                <a:solidFill>
                  <a:srgbClr val="07182A"/>
                </a:solidFill>
                <a:latin typeface="CiscoSansTT Medium"/>
                <a:ea typeface="CiscoSansTT Medium"/>
                <a:cs typeface="CiscoSansTT Medium"/>
              </a:defRPr>
            </a:pPr>
            <a:r>
              <a:rPr sz="2175" b="1">
                <a:solidFill>
                  <a:srgbClr val="07182A"/>
                </a:solidFill>
                <a:latin typeface="CiscoSansTT Medium"/>
                <a:ea typeface="CiscoSansTT Medium"/>
                <a:cs typeface="CiscoSansTT Medium"/>
              </a:rPr>
              <a:t>Visibility</a:t>
            </a:r>
          </a:p>
        </p:txBody>
      </p:sp>
      <p:sp>
        <p:nvSpPr>
          <p:cNvPr id="29" name="check-question-02">
            <a:extLst>
              <a:ext uri="{FF2B5EF4-FFF2-40B4-BE49-F238E27FC236}">
                <a16:creationId xmlns:a16="http://schemas.microsoft.com/office/drawing/2014/main" id="{F2621847-F2F3-487E-B4AC-884CFBD13199}"/>
              </a:ext>
            </a:extLst>
          </p:cNvPr>
          <p:cNvSpPr>
            <a:spLocks noGrp="1"/>
          </p:cNvSpPr>
          <p:nvPr/>
        </p:nvSpPr>
        <p:spPr>
          <a:xfrm>
            <a:off x="5076825" y="3543300"/>
            <a:ext cx="6286500" cy="619125"/>
          </a:xfrm>
          <a:prstGeom prst="rect">
            <a:avLst/>
          </a:prstGeom>
          <a:noFill/>
          <a:ln w="0">
            <a:noFill/>
          </a:ln>
        </p:spPr>
        <p:txBody>
          <a:bodyPr anchor="ctr">
            <a:noAutofit/>
          </a:bodyPr>
          <a:lstStyle>
            <a:defPPr algn="l">
              <a:defRPr sz="2025" b="0">
                <a:solidFill>
                  <a:srgbClr val="07182A"/>
                </a:solidFill>
                <a:latin typeface="CiscoSansTT"/>
                <a:ea typeface="CiscoSansTT"/>
                <a:cs typeface="CiscoSansTT"/>
              </a:defRPr>
            </a:defPPr>
            <a:lvl1pPr algn="l">
              <a:defRPr sz="2025" b="0">
                <a:solidFill>
                  <a:srgbClr val="07182A"/>
                </a:solidFill>
                <a:latin typeface="CiscoSansTT"/>
                <a:ea typeface="CiscoSansTT"/>
                <a:cs typeface="CiscoSansTT"/>
              </a:defRPr>
            </a:lvl1pPr>
            <a:lvl2pPr algn="l">
              <a:defRPr sz="2025" b="0">
                <a:solidFill>
                  <a:srgbClr val="07182A"/>
                </a:solidFill>
                <a:latin typeface="CiscoSansTT"/>
                <a:ea typeface="CiscoSansTT"/>
                <a:cs typeface="CiscoSansTT"/>
              </a:defRPr>
            </a:lvl2pPr>
            <a:lvl3pPr algn="l">
              <a:defRPr sz="2025" b="0">
                <a:solidFill>
                  <a:srgbClr val="07182A"/>
                </a:solidFill>
                <a:latin typeface="CiscoSansTT"/>
                <a:ea typeface="CiscoSansTT"/>
                <a:cs typeface="CiscoSansTT"/>
              </a:defRPr>
            </a:lvl3pPr>
            <a:lvl4pPr algn="l">
              <a:defRPr sz="2025" b="0">
                <a:solidFill>
                  <a:srgbClr val="07182A"/>
                </a:solidFill>
                <a:latin typeface="CiscoSansTT"/>
                <a:ea typeface="CiscoSansTT"/>
                <a:cs typeface="CiscoSansTT"/>
              </a:defRPr>
            </a:lvl4pPr>
            <a:lvl5pPr algn="l">
              <a:defRPr sz="2025" b="0">
                <a:solidFill>
                  <a:srgbClr val="07182A"/>
                </a:solidFill>
                <a:latin typeface="CiscoSansTT"/>
                <a:ea typeface="CiscoSansTT"/>
                <a:cs typeface="CiscoSansTT"/>
              </a:defRPr>
            </a:lvl5pPr>
            <a:lvl6pPr algn="l">
              <a:defRPr sz="2025" b="0">
                <a:solidFill>
                  <a:srgbClr val="07182A"/>
                </a:solidFill>
                <a:latin typeface="CiscoSansTT"/>
                <a:ea typeface="CiscoSansTT"/>
                <a:cs typeface="CiscoSansTT"/>
              </a:defRPr>
            </a:lvl6pPr>
            <a:lvl7pPr algn="l">
              <a:defRPr sz="2025" b="0">
                <a:solidFill>
                  <a:srgbClr val="07182A"/>
                </a:solidFill>
                <a:latin typeface="CiscoSansTT"/>
                <a:ea typeface="CiscoSansTT"/>
                <a:cs typeface="CiscoSansTT"/>
              </a:defRPr>
            </a:lvl7pPr>
            <a:lvl8pPr algn="l">
              <a:defRPr sz="2025" b="0">
                <a:solidFill>
                  <a:srgbClr val="07182A"/>
                </a:solidFill>
                <a:latin typeface="CiscoSansTT"/>
                <a:ea typeface="CiscoSansTT"/>
                <a:cs typeface="CiscoSansTT"/>
              </a:defRPr>
            </a:lvl8pPr>
            <a:lvl9pPr algn="l">
              <a:defRPr sz="2025" b="0">
                <a:solidFill>
                  <a:srgbClr val="07182A"/>
                </a:solidFill>
                <a:latin typeface="CiscoSansTT"/>
                <a:ea typeface="CiscoSansTT"/>
                <a:cs typeface="CiscoSansTT"/>
              </a:defRPr>
            </a:lvl9pPr>
          </a:lstStyle>
          <a:p>
            <a:pPr algn="l">
              <a:defRPr sz="2025" b="0">
                <a:solidFill>
                  <a:srgbClr val="07182A"/>
                </a:solidFill>
                <a:latin typeface="CiscoSansTT"/>
                <a:ea typeface="CiscoSansTT"/>
                <a:cs typeface="CiscoSansTT"/>
              </a:defRPr>
            </a:pPr>
            <a:r>
              <a:rPr sz="2025" b="0">
                <a:solidFill>
                  <a:srgbClr val="07182A"/>
                </a:solidFill>
                <a:latin typeface="CiscoSansTT"/>
                <a:ea typeface="CiscoSansTT"/>
                <a:cs typeface="CiscoSansTT"/>
              </a:rPr>
              <a:t>Do OBI and Hubble capture useful evidence?</a:t>
            </a:r>
          </a:p>
        </p:txBody>
      </p:sp>
      <p:sp>
        <p:nvSpPr>
          <p:cNvPr id="30" name="check-number-03">
            <a:extLst>
              <a:ext uri="{FF2B5EF4-FFF2-40B4-BE49-F238E27FC236}">
                <a16:creationId xmlns:a16="http://schemas.microsoft.com/office/drawing/2014/main" id="{76AA4093-F6A3-474D-B73F-5FB189EC5B61}"/>
              </a:ext>
            </a:extLst>
          </p:cNvPr>
          <p:cNvSpPr>
            <a:spLocks noGrp="1"/>
          </p:cNvSpPr>
          <p:nvPr/>
        </p:nvSpPr>
        <p:spPr>
          <a:xfrm>
            <a:off x="4429125" y="4457700"/>
            <a:ext cx="523875" cy="419100"/>
          </a:xfrm>
          <a:prstGeom prst="rect">
            <a:avLst/>
          </a:prstGeom>
          <a:noFill/>
          <a:ln w="0">
            <a:noFill/>
          </a:ln>
        </p:spPr>
        <p:txBody>
          <a:bodyPr anchor="ctr">
            <a:noAutofit/>
          </a:bodyPr>
          <a:lstStyle>
            <a:defPPr algn="l">
              <a:defRPr sz="2025" b="1">
                <a:solidFill>
                  <a:srgbClr val="0860FE"/>
                </a:solidFill>
                <a:latin typeface="CiscoSansTT Medium"/>
                <a:ea typeface="CiscoSansTT Medium"/>
                <a:cs typeface="CiscoSansTT Medium"/>
              </a:defRPr>
            </a:defPPr>
            <a:lvl1pPr algn="l">
              <a:defRPr sz="2025" b="1">
                <a:solidFill>
                  <a:srgbClr val="0860FE"/>
                </a:solidFill>
                <a:latin typeface="CiscoSansTT Medium"/>
                <a:ea typeface="CiscoSansTT Medium"/>
                <a:cs typeface="CiscoSansTT Medium"/>
              </a:defRPr>
            </a:lvl1pPr>
            <a:lvl2pPr algn="l">
              <a:defRPr sz="2025" b="1">
                <a:solidFill>
                  <a:srgbClr val="0860FE"/>
                </a:solidFill>
                <a:latin typeface="CiscoSansTT Medium"/>
                <a:ea typeface="CiscoSansTT Medium"/>
                <a:cs typeface="CiscoSansTT Medium"/>
              </a:defRPr>
            </a:lvl2pPr>
            <a:lvl3pPr algn="l">
              <a:defRPr sz="2025" b="1">
                <a:solidFill>
                  <a:srgbClr val="0860FE"/>
                </a:solidFill>
                <a:latin typeface="CiscoSansTT Medium"/>
                <a:ea typeface="CiscoSansTT Medium"/>
                <a:cs typeface="CiscoSansTT Medium"/>
              </a:defRPr>
            </a:lvl3pPr>
            <a:lvl4pPr algn="l">
              <a:defRPr sz="2025" b="1">
                <a:solidFill>
                  <a:srgbClr val="0860FE"/>
                </a:solidFill>
                <a:latin typeface="CiscoSansTT Medium"/>
                <a:ea typeface="CiscoSansTT Medium"/>
                <a:cs typeface="CiscoSansTT Medium"/>
              </a:defRPr>
            </a:lvl4pPr>
            <a:lvl5pPr algn="l">
              <a:defRPr sz="2025" b="1">
                <a:solidFill>
                  <a:srgbClr val="0860FE"/>
                </a:solidFill>
                <a:latin typeface="CiscoSansTT Medium"/>
                <a:ea typeface="CiscoSansTT Medium"/>
                <a:cs typeface="CiscoSansTT Medium"/>
              </a:defRPr>
            </a:lvl5pPr>
            <a:lvl6pPr algn="l">
              <a:defRPr sz="2025" b="1">
                <a:solidFill>
                  <a:srgbClr val="0860FE"/>
                </a:solidFill>
                <a:latin typeface="CiscoSansTT Medium"/>
                <a:ea typeface="CiscoSansTT Medium"/>
                <a:cs typeface="CiscoSansTT Medium"/>
              </a:defRPr>
            </a:lvl6pPr>
            <a:lvl7pPr algn="l">
              <a:defRPr sz="2025" b="1">
                <a:solidFill>
                  <a:srgbClr val="0860FE"/>
                </a:solidFill>
                <a:latin typeface="CiscoSansTT Medium"/>
                <a:ea typeface="CiscoSansTT Medium"/>
                <a:cs typeface="CiscoSansTT Medium"/>
              </a:defRPr>
            </a:lvl7pPr>
            <a:lvl8pPr algn="l">
              <a:defRPr sz="2025" b="1">
                <a:solidFill>
                  <a:srgbClr val="0860FE"/>
                </a:solidFill>
                <a:latin typeface="CiscoSansTT Medium"/>
                <a:ea typeface="CiscoSansTT Medium"/>
                <a:cs typeface="CiscoSansTT Medium"/>
              </a:defRPr>
            </a:lvl8pPr>
            <a:lvl9pPr algn="l">
              <a:defRPr sz="2025" b="1">
                <a:solidFill>
                  <a:srgbClr val="0860FE"/>
                </a:solidFill>
                <a:latin typeface="CiscoSansTT Medium"/>
                <a:ea typeface="CiscoSansTT Medium"/>
                <a:cs typeface="CiscoSansTT Medium"/>
              </a:defRPr>
            </a:lvl9pPr>
          </a:lstStyle>
          <a:p>
            <a:pPr algn="l">
              <a:defRPr sz="2025" b="1">
                <a:solidFill>
                  <a:srgbClr val="0860FE"/>
                </a:solidFill>
                <a:latin typeface="CiscoSansTT Medium"/>
                <a:ea typeface="CiscoSansTT Medium"/>
                <a:cs typeface="CiscoSansTT Medium"/>
              </a:defRPr>
            </a:pPr>
            <a:r>
              <a:rPr sz="2025" b="1">
                <a:solidFill>
                  <a:srgbClr val="0860FE"/>
                </a:solidFill>
                <a:latin typeface="CiscoSansTT Medium"/>
                <a:ea typeface="CiscoSansTT Medium"/>
                <a:cs typeface="CiscoSansTT Medium"/>
              </a:rPr>
              <a:t>03</a:t>
            </a:r>
          </a:p>
        </p:txBody>
      </p:sp>
      <p:sp>
        <p:nvSpPr>
          <p:cNvPr id="31" name="check-label-03">
            <a:extLst>
              <a:ext uri="{FF2B5EF4-FFF2-40B4-BE49-F238E27FC236}">
                <a16:creationId xmlns:a16="http://schemas.microsoft.com/office/drawing/2014/main" id="{2829DC8F-5AA9-4F3C-B2DF-70A7C32522D9}"/>
              </a:ext>
            </a:extLst>
          </p:cNvPr>
          <p:cNvSpPr>
            <a:spLocks noGrp="1"/>
          </p:cNvSpPr>
          <p:nvPr/>
        </p:nvSpPr>
        <p:spPr>
          <a:xfrm>
            <a:off x="5076825" y="4457700"/>
            <a:ext cx="6286500" cy="419100"/>
          </a:xfrm>
          <a:prstGeom prst="rect">
            <a:avLst/>
          </a:prstGeom>
          <a:noFill/>
          <a:ln w="0">
            <a:noFill/>
          </a:ln>
        </p:spPr>
        <p:txBody>
          <a:bodyPr anchor="ctr">
            <a:noAutofit/>
          </a:bodyPr>
          <a:lstStyle>
            <a:defPPr algn="l">
              <a:defRPr sz="2175" b="1">
                <a:solidFill>
                  <a:srgbClr val="07182A"/>
                </a:solidFill>
                <a:latin typeface="CiscoSansTT Medium"/>
                <a:ea typeface="CiscoSansTT Medium"/>
                <a:cs typeface="CiscoSansTT Medium"/>
              </a:defRPr>
            </a:defPPr>
            <a:lvl1pPr algn="l">
              <a:defRPr sz="2175" b="1">
                <a:solidFill>
                  <a:srgbClr val="07182A"/>
                </a:solidFill>
                <a:latin typeface="CiscoSansTT Medium"/>
                <a:ea typeface="CiscoSansTT Medium"/>
                <a:cs typeface="CiscoSansTT Medium"/>
              </a:defRPr>
            </a:lvl1pPr>
            <a:lvl2pPr algn="l">
              <a:defRPr sz="2175" b="1">
                <a:solidFill>
                  <a:srgbClr val="07182A"/>
                </a:solidFill>
                <a:latin typeface="CiscoSansTT Medium"/>
                <a:ea typeface="CiscoSansTT Medium"/>
                <a:cs typeface="CiscoSansTT Medium"/>
              </a:defRPr>
            </a:lvl2pPr>
            <a:lvl3pPr algn="l">
              <a:defRPr sz="2175" b="1">
                <a:solidFill>
                  <a:srgbClr val="07182A"/>
                </a:solidFill>
                <a:latin typeface="CiscoSansTT Medium"/>
                <a:ea typeface="CiscoSansTT Medium"/>
                <a:cs typeface="CiscoSansTT Medium"/>
              </a:defRPr>
            </a:lvl3pPr>
            <a:lvl4pPr algn="l">
              <a:defRPr sz="2175" b="1">
                <a:solidFill>
                  <a:srgbClr val="07182A"/>
                </a:solidFill>
                <a:latin typeface="CiscoSansTT Medium"/>
                <a:ea typeface="CiscoSansTT Medium"/>
                <a:cs typeface="CiscoSansTT Medium"/>
              </a:defRPr>
            </a:lvl4pPr>
            <a:lvl5pPr algn="l">
              <a:defRPr sz="2175" b="1">
                <a:solidFill>
                  <a:srgbClr val="07182A"/>
                </a:solidFill>
                <a:latin typeface="CiscoSansTT Medium"/>
                <a:ea typeface="CiscoSansTT Medium"/>
                <a:cs typeface="CiscoSansTT Medium"/>
              </a:defRPr>
            </a:lvl5pPr>
            <a:lvl6pPr algn="l">
              <a:defRPr sz="2175" b="1">
                <a:solidFill>
                  <a:srgbClr val="07182A"/>
                </a:solidFill>
                <a:latin typeface="CiscoSansTT Medium"/>
                <a:ea typeface="CiscoSansTT Medium"/>
                <a:cs typeface="CiscoSansTT Medium"/>
              </a:defRPr>
            </a:lvl6pPr>
            <a:lvl7pPr algn="l">
              <a:defRPr sz="2175" b="1">
                <a:solidFill>
                  <a:srgbClr val="07182A"/>
                </a:solidFill>
                <a:latin typeface="CiscoSansTT Medium"/>
                <a:ea typeface="CiscoSansTT Medium"/>
                <a:cs typeface="CiscoSansTT Medium"/>
              </a:defRPr>
            </a:lvl7pPr>
            <a:lvl8pPr algn="l">
              <a:defRPr sz="2175" b="1">
                <a:solidFill>
                  <a:srgbClr val="07182A"/>
                </a:solidFill>
                <a:latin typeface="CiscoSansTT Medium"/>
                <a:ea typeface="CiscoSansTT Medium"/>
                <a:cs typeface="CiscoSansTT Medium"/>
              </a:defRPr>
            </a:lvl8pPr>
            <a:lvl9pPr algn="l">
              <a:defRPr sz="2175" b="1">
                <a:solidFill>
                  <a:srgbClr val="07182A"/>
                </a:solidFill>
                <a:latin typeface="CiscoSansTT Medium"/>
                <a:ea typeface="CiscoSansTT Medium"/>
                <a:cs typeface="CiscoSansTT Medium"/>
              </a:defRPr>
            </a:lvl9pPr>
          </a:lstStyle>
          <a:p>
            <a:pPr algn="l">
              <a:defRPr sz="2175" b="1">
                <a:solidFill>
                  <a:srgbClr val="07182A"/>
                </a:solidFill>
                <a:latin typeface="CiscoSansTT Medium"/>
                <a:ea typeface="CiscoSansTT Medium"/>
                <a:cs typeface="CiscoSansTT Medium"/>
              </a:defRPr>
            </a:pPr>
            <a:r>
              <a:rPr sz="2175" b="1">
                <a:solidFill>
                  <a:srgbClr val="07182A"/>
                </a:solidFill>
                <a:latin typeface="CiscoSansTT Medium"/>
                <a:ea typeface="CiscoSansTT Medium"/>
                <a:cs typeface="CiscoSansTT Medium"/>
              </a:rPr>
              <a:t>Added cost</a:t>
            </a:r>
          </a:p>
        </p:txBody>
      </p:sp>
      <p:sp>
        <p:nvSpPr>
          <p:cNvPr id="32" name="check-question-03">
            <a:extLst>
              <a:ext uri="{FF2B5EF4-FFF2-40B4-BE49-F238E27FC236}">
                <a16:creationId xmlns:a16="http://schemas.microsoft.com/office/drawing/2014/main" id="{CDF8AE4B-D015-4977-9377-C37D52CC828E}"/>
              </a:ext>
            </a:extLst>
          </p:cNvPr>
          <p:cNvSpPr>
            <a:spLocks noGrp="1"/>
          </p:cNvSpPr>
          <p:nvPr/>
        </p:nvSpPr>
        <p:spPr>
          <a:xfrm>
            <a:off x="5076825" y="4914900"/>
            <a:ext cx="6286500" cy="619125"/>
          </a:xfrm>
          <a:prstGeom prst="rect">
            <a:avLst/>
          </a:prstGeom>
          <a:noFill/>
          <a:ln w="0">
            <a:noFill/>
          </a:ln>
        </p:spPr>
        <p:txBody>
          <a:bodyPr anchor="ctr">
            <a:noAutofit/>
          </a:bodyPr>
          <a:lstStyle>
            <a:defPPr algn="l">
              <a:defRPr sz="2025" b="0">
                <a:solidFill>
                  <a:srgbClr val="07182A"/>
                </a:solidFill>
                <a:latin typeface="CiscoSansTT"/>
                <a:ea typeface="CiscoSansTT"/>
                <a:cs typeface="CiscoSansTT"/>
              </a:defRPr>
            </a:defPPr>
            <a:lvl1pPr algn="l">
              <a:defRPr sz="2025" b="0">
                <a:solidFill>
                  <a:srgbClr val="07182A"/>
                </a:solidFill>
                <a:latin typeface="CiscoSansTT"/>
                <a:ea typeface="CiscoSansTT"/>
                <a:cs typeface="CiscoSansTT"/>
              </a:defRPr>
            </a:lvl1pPr>
            <a:lvl2pPr algn="l">
              <a:defRPr sz="2025" b="0">
                <a:solidFill>
                  <a:srgbClr val="07182A"/>
                </a:solidFill>
                <a:latin typeface="CiscoSansTT"/>
                <a:ea typeface="CiscoSansTT"/>
                <a:cs typeface="CiscoSansTT"/>
              </a:defRPr>
            </a:lvl2pPr>
            <a:lvl3pPr algn="l">
              <a:defRPr sz="2025" b="0">
                <a:solidFill>
                  <a:srgbClr val="07182A"/>
                </a:solidFill>
                <a:latin typeface="CiscoSansTT"/>
                <a:ea typeface="CiscoSansTT"/>
                <a:cs typeface="CiscoSansTT"/>
              </a:defRPr>
            </a:lvl3pPr>
            <a:lvl4pPr algn="l">
              <a:defRPr sz="2025" b="0">
                <a:solidFill>
                  <a:srgbClr val="07182A"/>
                </a:solidFill>
                <a:latin typeface="CiscoSansTT"/>
                <a:ea typeface="CiscoSansTT"/>
                <a:cs typeface="CiscoSansTT"/>
              </a:defRPr>
            </a:lvl4pPr>
            <a:lvl5pPr algn="l">
              <a:defRPr sz="2025" b="0">
                <a:solidFill>
                  <a:srgbClr val="07182A"/>
                </a:solidFill>
                <a:latin typeface="CiscoSansTT"/>
                <a:ea typeface="CiscoSansTT"/>
                <a:cs typeface="CiscoSansTT"/>
              </a:defRPr>
            </a:lvl5pPr>
            <a:lvl6pPr algn="l">
              <a:defRPr sz="2025" b="0">
                <a:solidFill>
                  <a:srgbClr val="07182A"/>
                </a:solidFill>
                <a:latin typeface="CiscoSansTT"/>
                <a:ea typeface="CiscoSansTT"/>
                <a:cs typeface="CiscoSansTT"/>
              </a:defRPr>
            </a:lvl6pPr>
            <a:lvl7pPr algn="l">
              <a:defRPr sz="2025" b="0">
                <a:solidFill>
                  <a:srgbClr val="07182A"/>
                </a:solidFill>
                <a:latin typeface="CiscoSansTT"/>
                <a:ea typeface="CiscoSansTT"/>
                <a:cs typeface="CiscoSansTT"/>
              </a:defRPr>
            </a:lvl7pPr>
            <a:lvl8pPr algn="l">
              <a:defRPr sz="2025" b="0">
                <a:solidFill>
                  <a:srgbClr val="07182A"/>
                </a:solidFill>
                <a:latin typeface="CiscoSansTT"/>
                <a:ea typeface="CiscoSansTT"/>
                <a:cs typeface="CiscoSansTT"/>
              </a:defRPr>
            </a:lvl8pPr>
            <a:lvl9pPr algn="l">
              <a:defRPr sz="2025" b="0">
                <a:solidFill>
                  <a:srgbClr val="07182A"/>
                </a:solidFill>
                <a:latin typeface="CiscoSansTT"/>
                <a:ea typeface="CiscoSansTT"/>
                <a:cs typeface="CiscoSansTT"/>
              </a:defRPr>
            </a:lvl9pPr>
          </a:lstStyle>
          <a:p>
            <a:pPr algn="l">
              <a:defRPr sz="2025" b="0">
                <a:solidFill>
                  <a:srgbClr val="07182A"/>
                </a:solidFill>
                <a:latin typeface="CiscoSansTT"/>
                <a:ea typeface="CiscoSansTT"/>
                <a:cs typeface="CiscoSansTT"/>
              </a:defRPr>
            </a:pPr>
            <a:r>
              <a:rPr sz="2025" b="0">
                <a:solidFill>
                  <a:srgbClr val="07182A"/>
                </a:solidFill>
                <a:latin typeface="CiscoSansTT"/>
                <a:ea typeface="CiscoSansTT"/>
                <a:cs typeface="CiscoSansTT"/>
              </a:rPr>
              <a:t>How much CPU, memory, and telemetry is added?</a:t>
            </a:r>
          </a:p>
        </p:txBody>
      </p:sp>
      <p:sp>
        <p:nvSpPr>
          <p:cNvPr id="33" name="coexistence-takeaway">
            <a:extLst>
              <a:ext uri="{FF2B5EF4-FFF2-40B4-BE49-F238E27FC236}">
                <a16:creationId xmlns:a16="http://schemas.microsoft.com/office/drawing/2014/main" id="{AD40CA54-1114-4921-A5B6-0D2F835F14A0}"/>
              </a:ext>
            </a:extLst>
          </p:cNvPr>
          <p:cNvSpPr>
            <a:spLocks noGrp="1"/>
          </p:cNvSpPr>
          <p:nvPr/>
        </p:nvSpPr>
        <p:spPr>
          <a:xfrm>
            <a:off x="762000" y="5886450"/>
            <a:ext cx="10668000" cy="419100"/>
          </a:xfrm>
          <a:prstGeom prst="rect">
            <a:avLst/>
          </a:prstGeom>
          <a:noFill/>
          <a:ln w="0">
            <a:noFill/>
          </a:ln>
        </p:spPr>
        <p:txBody>
          <a:bodyPr anchor="ctr">
            <a:noAutofit/>
          </a:bodyPr>
          <a:lstStyle>
            <a:defPPr algn="ctr">
              <a:defRPr sz="2025" b="1">
                <a:solidFill>
                  <a:srgbClr val="07182A"/>
                </a:solidFill>
                <a:latin typeface="CiscoSansTT Medium"/>
                <a:ea typeface="CiscoSansTT Medium"/>
                <a:cs typeface="CiscoSansTT Medium"/>
              </a:defRPr>
            </a:defPPr>
            <a:lvl1pPr algn="ctr">
              <a:defRPr sz="2025" b="1">
                <a:solidFill>
                  <a:srgbClr val="07182A"/>
                </a:solidFill>
                <a:latin typeface="CiscoSansTT Medium"/>
                <a:ea typeface="CiscoSansTT Medium"/>
                <a:cs typeface="CiscoSansTT Medium"/>
              </a:defRPr>
            </a:lvl1pPr>
            <a:lvl2pPr algn="ctr">
              <a:defRPr sz="2025" b="1">
                <a:solidFill>
                  <a:srgbClr val="07182A"/>
                </a:solidFill>
                <a:latin typeface="CiscoSansTT Medium"/>
                <a:ea typeface="CiscoSansTT Medium"/>
                <a:cs typeface="CiscoSansTT Medium"/>
              </a:defRPr>
            </a:lvl2pPr>
            <a:lvl3pPr algn="ctr">
              <a:defRPr sz="2025" b="1">
                <a:solidFill>
                  <a:srgbClr val="07182A"/>
                </a:solidFill>
                <a:latin typeface="CiscoSansTT Medium"/>
                <a:ea typeface="CiscoSansTT Medium"/>
                <a:cs typeface="CiscoSansTT Medium"/>
              </a:defRPr>
            </a:lvl3pPr>
            <a:lvl4pPr algn="ctr">
              <a:defRPr sz="2025" b="1">
                <a:solidFill>
                  <a:srgbClr val="07182A"/>
                </a:solidFill>
                <a:latin typeface="CiscoSansTT Medium"/>
                <a:ea typeface="CiscoSansTT Medium"/>
                <a:cs typeface="CiscoSansTT Medium"/>
              </a:defRPr>
            </a:lvl4pPr>
            <a:lvl5pPr algn="ctr">
              <a:defRPr sz="2025" b="1">
                <a:solidFill>
                  <a:srgbClr val="07182A"/>
                </a:solidFill>
                <a:latin typeface="CiscoSansTT Medium"/>
                <a:ea typeface="CiscoSansTT Medium"/>
                <a:cs typeface="CiscoSansTT Medium"/>
              </a:defRPr>
            </a:lvl5pPr>
            <a:lvl6pPr algn="ctr">
              <a:defRPr sz="2025" b="1">
                <a:solidFill>
                  <a:srgbClr val="07182A"/>
                </a:solidFill>
                <a:latin typeface="CiscoSansTT Medium"/>
                <a:ea typeface="CiscoSansTT Medium"/>
                <a:cs typeface="CiscoSansTT Medium"/>
              </a:defRPr>
            </a:lvl6pPr>
            <a:lvl7pPr algn="ctr">
              <a:defRPr sz="2025" b="1">
                <a:solidFill>
                  <a:srgbClr val="07182A"/>
                </a:solidFill>
                <a:latin typeface="CiscoSansTT Medium"/>
                <a:ea typeface="CiscoSansTT Medium"/>
                <a:cs typeface="CiscoSansTT Medium"/>
              </a:defRPr>
            </a:lvl7pPr>
            <a:lvl8pPr algn="ctr">
              <a:defRPr sz="2025" b="1">
                <a:solidFill>
                  <a:srgbClr val="07182A"/>
                </a:solidFill>
                <a:latin typeface="CiscoSansTT Medium"/>
                <a:ea typeface="CiscoSansTT Medium"/>
                <a:cs typeface="CiscoSansTT Medium"/>
              </a:defRPr>
            </a:lvl8pPr>
            <a:lvl9pPr algn="ctr">
              <a:defRPr sz="2025" b="1">
                <a:solidFill>
                  <a:srgbClr val="07182A"/>
                </a:solidFill>
                <a:latin typeface="CiscoSansTT Medium"/>
                <a:ea typeface="CiscoSansTT Medium"/>
                <a:cs typeface="CiscoSansTT Medium"/>
              </a:defRPr>
            </a:lvl9pPr>
          </a:lstStyle>
          <a:p>
            <a:pPr algn="ctr">
              <a:defRPr sz="2025" b="1">
                <a:solidFill>
                  <a:srgbClr val="07182A"/>
                </a:solidFill>
                <a:latin typeface="CiscoSansTT Medium"/>
                <a:ea typeface="CiscoSansTT Medium"/>
                <a:cs typeface="CiscoSansTT Medium"/>
              </a:defRPr>
            </a:pPr>
            <a:r>
              <a:rPr sz="2025" b="1">
                <a:solidFill>
                  <a:srgbClr val="07182A"/>
                </a:solidFill>
                <a:latin typeface="CiscoSansTT Medium"/>
                <a:ea typeface="CiscoSansTT Medium"/>
                <a:cs typeface="CiscoSansTT Medium"/>
              </a:rPr>
              <a:t>Both agents running is only the first check.</a:t>
            </a:r>
          </a:p>
        </p:txBody>
      </p:sp>
    </p:spTree>
    <p:extLst>
      <p:ext uri="{BB962C8B-B14F-4D97-AF65-F5344CB8AC3E}">
        <p14:creationId xmlns:p14="http://schemas.microsoft.com/office/powerpoint/2010/main" val="116132073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title">
            <a:extLst>
              <a:ext uri="{FF2B5EF4-FFF2-40B4-BE49-F238E27FC236}">
                <a16:creationId xmlns:a16="http://schemas.microsoft.com/office/drawing/2014/main" id="{2CE621AC-689C-42C7-AF0D-CE910FEEF15A}"/>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Four places to follow one request</a:t>
            </a:r>
          </a:p>
        </p:txBody>
      </p:sp>
      <p:sp>
        <p:nvSpPr>
          <p:cNvPr id="2" name="Rectangle 1">
            <a:extLst>
              <a:ext uri="{FF2B5EF4-FFF2-40B4-BE49-F238E27FC236}">
                <a16:creationId xmlns:a16="http://schemas.microsoft.com/office/drawing/2014/main" id="{6BC11B03-7BE7-440C-9D01-D6F8181DB50D}"/>
              </a:ext>
            </a:extLst>
          </p:cNvPr>
          <p:cNvSpPr>
            <a:spLocks noGrp="1"/>
          </p:cNvSpPr>
          <p:nvPr/>
        </p:nvSpPr>
        <p:spPr>
          <a:xfrm>
            <a:off x="742950" y="1504950"/>
            <a:ext cx="647700" cy="495300"/>
          </a:xfrm>
          <a:prstGeom prst="rect">
            <a:avLst/>
          </a:prstGeom>
          <a:noFill/>
          <a:ln w="0">
            <a:noFill/>
          </a:ln>
        </p:spPr>
        <p:txBody>
          <a:bodyPr anchor="t">
            <a:normAutofit/>
          </a:bodyPr>
          <a:lstStyle/>
          <a:p>
            <a:pPr algn="l">
              <a:buNone/>
              <a:defRPr sz="2550" b="1">
                <a:solidFill>
                  <a:srgbClr val="0860FE"/>
                </a:solidFill>
                <a:latin typeface="CiscoSansTT Medium"/>
                <a:ea typeface="CiscoSansTT Medium"/>
                <a:cs typeface="CiscoSansTT Medium"/>
              </a:defRPr>
            </a:pPr>
            <a:r>
              <a:rPr sz="2550" b="1">
                <a:solidFill>
                  <a:srgbClr val="0860FE"/>
                </a:solidFill>
                <a:latin typeface="CiscoSansTT Medium"/>
                <a:ea typeface="CiscoSansTT Medium"/>
                <a:cs typeface="CiscoSansTT Medium"/>
              </a:rPr>
              <a:t>01</a:t>
            </a:r>
          </a:p>
        </p:txBody>
      </p:sp>
      <p:sp>
        <p:nvSpPr>
          <p:cNvPr id="3" name="Rectangle 2">
            <a:extLst>
              <a:ext uri="{FF2B5EF4-FFF2-40B4-BE49-F238E27FC236}">
                <a16:creationId xmlns:a16="http://schemas.microsoft.com/office/drawing/2014/main" id="{DDCBFEAA-5905-4F17-AEEA-5ADAAA8DAC87}"/>
              </a:ext>
            </a:extLst>
          </p:cNvPr>
          <p:cNvSpPr>
            <a:spLocks noGrp="1"/>
          </p:cNvSpPr>
          <p:nvPr/>
        </p:nvSpPr>
        <p:spPr>
          <a:xfrm>
            <a:off x="1619250" y="1504950"/>
            <a:ext cx="2381250" cy="438150"/>
          </a:xfrm>
          <a:prstGeom prst="rect">
            <a:avLst/>
          </a:prstGeom>
          <a:noFill/>
          <a:ln w="0">
            <a:noFill/>
          </a:ln>
        </p:spPr>
        <p:txBody>
          <a:bodyPr anchor="t">
            <a:normAutofit lnSpcReduction="10000"/>
          </a:bodyPr>
          <a:lstStyle/>
          <a:p>
            <a:pPr algn="l">
              <a:buNone/>
              <a:defRPr sz="2325" b="1">
                <a:solidFill>
                  <a:srgbClr val="07182A"/>
                </a:solidFill>
                <a:latin typeface="CiscoSansTT Medium"/>
                <a:ea typeface="CiscoSansTT Medium"/>
                <a:cs typeface="CiscoSansTT Medium"/>
              </a:defRPr>
            </a:pPr>
            <a:r>
              <a:rPr sz="2325" b="1">
                <a:solidFill>
                  <a:srgbClr val="07182A"/>
                </a:solidFill>
                <a:latin typeface="CiscoSansTT Medium"/>
                <a:ea typeface="CiscoSansTT Medium"/>
                <a:cs typeface="CiscoSansTT Medium"/>
              </a:rPr>
              <a:t>Application</a:t>
            </a:r>
          </a:p>
        </p:txBody>
      </p:sp>
      <p:sp>
        <p:nvSpPr>
          <p:cNvPr id="4" name="Rectangle 3">
            <a:extLst>
              <a:ext uri="{FF2B5EF4-FFF2-40B4-BE49-F238E27FC236}">
                <a16:creationId xmlns:a16="http://schemas.microsoft.com/office/drawing/2014/main" id="{4225EF06-7A29-4D46-B6F9-1770A01BF3B8}"/>
              </a:ext>
            </a:extLst>
          </p:cNvPr>
          <p:cNvSpPr>
            <a:spLocks noGrp="1"/>
          </p:cNvSpPr>
          <p:nvPr/>
        </p:nvSpPr>
        <p:spPr>
          <a:xfrm>
            <a:off x="4286250" y="1524000"/>
            <a:ext cx="6762750" cy="4000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OBI sees requests and creates spans</a:t>
            </a:r>
          </a:p>
        </p:txBody>
      </p:sp>
      <p:sp>
        <p:nvSpPr>
          <p:cNvPr id="5" name="Rectangle 4">
            <a:extLst>
              <a:ext uri="{FF2B5EF4-FFF2-40B4-BE49-F238E27FC236}">
                <a16:creationId xmlns:a16="http://schemas.microsoft.com/office/drawing/2014/main" id="{824E722C-C9BD-4B15-92A9-BD0218D7F638}"/>
              </a:ext>
            </a:extLst>
          </p:cNvPr>
          <p:cNvSpPr>
            <a:spLocks noGrp="1"/>
          </p:cNvSpPr>
          <p:nvPr/>
        </p:nvSpPr>
        <p:spPr>
          <a:xfrm>
            <a:off x="1619250" y="2133600"/>
            <a:ext cx="9429750" cy="9525"/>
          </a:xfrm>
          <a:prstGeom prst="rect">
            <a:avLst/>
          </a:prstGeom>
          <a:solidFill>
            <a:srgbClr val="D6D6D6"/>
          </a:solidFill>
          <a:ln w="0">
            <a:noFill/>
          </a:ln>
        </p:spPr>
        <p:txBody>
          <a:bodyPr/>
          <a:lstStyle/>
          <a:p>
            <a:endParaRPr/>
          </a:p>
        </p:txBody>
      </p:sp>
      <p:sp>
        <p:nvSpPr>
          <p:cNvPr id="6" name="Rectangle 5">
            <a:extLst>
              <a:ext uri="{FF2B5EF4-FFF2-40B4-BE49-F238E27FC236}">
                <a16:creationId xmlns:a16="http://schemas.microsoft.com/office/drawing/2014/main" id="{F0AD0635-664F-43EF-9FDD-B91796271779}"/>
              </a:ext>
            </a:extLst>
          </p:cNvPr>
          <p:cNvSpPr>
            <a:spLocks noGrp="1"/>
          </p:cNvSpPr>
          <p:nvPr/>
        </p:nvSpPr>
        <p:spPr>
          <a:xfrm>
            <a:off x="742950" y="2571750"/>
            <a:ext cx="647700" cy="495300"/>
          </a:xfrm>
          <a:prstGeom prst="rect">
            <a:avLst/>
          </a:prstGeom>
          <a:noFill/>
          <a:ln w="0">
            <a:noFill/>
          </a:ln>
        </p:spPr>
        <p:txBody>
          <a:bodyPr anchor="t">
            <a:normAutofit/>
          </a:bodyPr>
          <a:lstStyle/>
          <a:p>
            <a:pPr algn="l">
              <a:buNone/>
              <a:defRPr sz="2550" b="1">
                <a:solidFill>
                  <a:srgbClr val="FF007F"/>
                </a:solidFill>
                <a:latin typeface="CiscoSansTT Medium"/>
                <a:ea typeface="CiscoSansTT Medium"/>
                <a:cs typeface="CiscoSansTT Medium"/>
              </a:defRPr>
            </a:pPr>
            <a:r>
              <a:rPr sz="2550" b="1">
                <a:solidFill>
                  <a:srgbClr val="FF007F"/>
                </a:solidFill>
                <a:latin typeface="CiscoSansTT Medium"/>
                <a:ea typeface="CiscoSansTT Medium"/>
                <a:cs typeface="CiscoSansTT Medium"/>
              </a:rPr>
              <a:t>02</a:t>
            </a:r>
          </a:p>
        </p:txBody>
      </p:sp>
      <p:sp>
        <p:nvSpPr>
          <p:cNvPr id="7" name="Rectangle 6">
            <a:extLst>
              <a:ext uri="{FF2B5EF4-FFF2-40B4-BE49-F238E27FC236}">
                <a16:creationId xmlns:a16="http://schemas.microsoft.com/office/drawing/2014/main" id="{821AE919-C864-46A3-99EC-CB2F9C3CB7C5}"/>
              </a:ext>
            </a:extLst>
          </p:cNvPr>
          <p:cNvSpPr>
            <a:spLocks noGrp="1"/>
          </p:cNvSpPr>
          <p:nvPr/>
        </p:nvSpPr>
        <p:spPr>
          <a:xfrm>
            <a:off x="1619250" y="2571750"/>
            <a:ext cx="2381250" cy="438150"/>
          </a:xfrm>
          <a:prstGeom prst="rect">
            <a:avLst/>
          </a:prstGeom>
          <a:noFill/>
          <a:ln w="0">
            <a:noFill/>
          </a:ln>
        </p:spPr>
        <p:txBody>
          <a:bodyPr anchor="t">
            <a:normAutofit lnSpcReduction="10000"/>
          </a:bodyPr>
          <a:lstStyle/>
          <a:p>
            <a:pPr algn="l">
              <a:buNone/>
              <a:defRPr sz="2325" b="1">
                <a:solidFill>
                  <a:srgbClr val="07182A"/>
                </a:solidFill>
                <a:latin typeface="CiscoSansTT Medium"/>
                <a:ea typeface="CiscoSansTT Medium"/>
                <a:cs typeface="CiscoSansTT Medium"/>
              </a:defRPr>
            </a:pPr>
            <a:r>
              <a:rPr sz="2325" b="1">
                <a:solidFill>
                  <a:srgbClr val="07182A"/>
                </a:solidFill>
                <a:latin typeface="CiscoSansTT Medium"/>
                <a:ea typeface="CiscoSansTT Medium"/>
                <a:cs typeface="CiscoSansTT Medium"/>
              </a:rPr>
              <a:t>Pod network</a:t>
            </a:r>
          </a:p>
        </p:txBody>
      </p:sp>
      <p:sp>
        <p:nvSpPr>
          <p:cNvPr id="8" name="Rectangle 7">
            <a:extLst>
              <a:ext uri="{FF2B5EF4-FFF2-40B4-BE49-F238E27FC236}">
                <a16:creationId xmlns:a16="http://schemas.microsoft.com/office/drawing/2014/main" id="{AA5A7CAF-881E-4B9A-9212-812ECF094684}"/>
              </a:ext>
            </a:extLst>
          </p:cNvPr>
          <p:cNvSpPr>
            <a:spLocks noGrp="1"/>
          </p:cNvSpPr>
          <p:nvPr/>
        </p:nvSpPr>
        <p:spPr>
          <a:xfrm>
            <a:off x="4286250" y="2590800"/>
            <a:ext cx="6762750" cy="4000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A veth pair connects the pod to the node</a:t>
            </a:r>
          </a:p>
        </p:txBody>
      </p:sp>
      <p:sp>
        <p:nvSpPr>
          <p:cNvPr id="9" name="Rectangle 8">
            <a:extLst>
              <a:ext uri="{FF2B5EF4-FFF2-40B4-BE49-F238E27FC236}">
                <a16:creationId xmlns:a16="http://schemas.microsoft.com/office/drawing/2014/main" id="{0459F131-9FA3-4773-B4CE-90991C1FEC15}"/>
              </a:ext>
            </a:extLst>
          </p:cNvPr>
          <p:cNvSpPr>
            <a:spLocks noGrp="1"/>
          </p:cNvSpPr>
          <p:nvPr/>
        </p:nvSpPr>
        <p:spPr>
          <a:xfrm>
            <a:off x="1619250" y="3200400"/>
            <a:ext cx="9429750" cy="9525"/>
          </a:xfrm>
          <a:prstGeom prst="rect">
            <a:avLst/>
          </a:prstGeom>
          <a:solidFill>
            <a:srgbClr val="D6D6D6"/>
          </a:solidFill>
          <a:ln w="0">
            <a:noFill/>
          </a:ln>
        </p:spPr>
        <p:txBody>
          <a:bodyPr/>
          <a:lstStyle/>
          <a:p>
            <a:endParaRPr/>
          </a:p>
        </p:txBody>
      </p:sp>
      <p:sp>
        <p:nvSpPr>
          <p:cNvPr id="10" name="Rectangle 9">
            <a:extLst>
              <a:ext uri="{FF2B5EF4-FFF2-40B4-BE49-F238E27FC236}">
                <a16:creationId xmlns:a16="http://schemas.microsoft.com/office/drawing/2014/main" id="{FEA221D4-7B46-40AD-9652-A2BF4CF49050}"/>
              </a:ext>
            </a:extLst>
          </p:cNvPr>
          <p:cNvSpPr>
            <a:spLocks noGrp="1"/>
          </p:cNvSpPr>
          <p:nvPr/>
        </p:nvSpPr>
        <p:spPr>
          <a:xfrm>
            <a:off x="742950" y="3638550"/>
            <a:ext cx="647700" cy="495300"/>
          </a:xfrm>
          <a:prstGeom prst="rect">
            <a:avLst/>
          </a:prstGeom>
          <a:noFill/>
          <a:ln w="0">
            <a:noFill/>
          </a:ln>
        </p:spPr>
        <p:txBody>
          <a:bodyPr anchor="t">
            <a:normAutofit/>
          </a:bodyPr>
          <a:lstStyle/>
          <a:p>
            <a:pPr algn="l">
              <a:buNone/>
              <a:defRPr sz="2550" b="1">
                <a:solidFill>
                  <a:srgbClr val="FF9000"/>
                </a:solidFill>
                <a:latin typeface="CiscoSansTT Medium"/>
                <a:ea typeface="CiscoSansTT Medium"/>
                <a:cs typeface="CiscoSansTT Medium"/>
              </a:defRPr>
            </a:pPr>
            <a:r>
              <a:rPr sz="2550" b="1">
                <a:solidFill>
                  <a:srgbClr val="FF9000"/>
                </a:solidFill>
                <a:latin typeface="CiscoSansTT Medium"/>
                <a:ea typeface="CiscoSansTT Medium"/>
                <a:cs typeface="CiscoSansTT Medium"/>
              </a:rPr>
              <a:t>03</a:t>
            </a:r>
          </a:p>
        </p:txBody>
      </p:sp>
      <p:sp>
        <p:nvSpPr>
          <p:cNvPr id="11" name="Rectangle 10">
            <a:extLst>
              <a:ext uri="{FF2B5EF4-FFF2-40B4-BE49-F238E27FC236}">
                <a16:creationId xmlns:a16="http://schemas.microsoft.com/office/drawing/2014/main" id="{485A77C8-B4A2-41C9-9E95-9E1328DFE742}"/>
              </a:ext>
            </a:extLst>
          </p:cNvPr>
          <p:cNvSpPr>
            <a:spLocks noGrp="1"/>
          </p:cNvSpPr>
          <p:nvPr/>
        </p:nvSpPr>
        <p:spPr>
          <a:xfrm>
            <a:off x="1619250" y="3638550"/>
            <a:ext cx="2381250" cy="438150"/>
          </a:xfrm>
          <a:prstGeom prst="rect">
            <a:avLst/>
          </a:prstGeom>
          <a:noFill/>
          <a:ln w="0">
            <a:noFill/>
          </a:ln>
        </p:spPr>
        <p:txBody>
          <a:bodyPr anchor="t">
            <a:normAutofit lnSpcReduction="10000"/>
          </a:bodyPr>
          <a:lstStyle/>
          <a:p>
            <a:pPr algn="l">
              <a:buNone/>
              <a:defRPr sz="2325" b="1">
                <a:solidFill>
                  <a:srgbClr val="07182A"/>
                </a:solidFill>
                <a:latin typeface="CiscoSansTT Medium"/>
                <a:ea typeface="CiscoSansTT Medium"/>
                <a:cs typeface="CiscoSansTT Medium"/>
              </a:defRPr>
            </a:pPr>
            <a:r>
              <a:rPr sz="2325" b="1">
                <a:solidFill>
                  <a:srgbClr val="07182A"/>
                </a:solidFill>
                <a:latin typeface="CiscoSansTT Medium"/>
                <a:ea typeface="CiscoSansTT Medium"/>
                <a:cs typeface="CiscoSansTT Medium"/>
              </a:rPr>
              <a:t>Kernel path</a:t>
            </a:r>
          </a:p>
        </p:txBody>
      </p:sp>
      <p:sp>
        <p:nvSpPr>
          <p:cNvPr id="12" name="Rectangle 11">
            <a:extLst>
              <a:ext uri="{FF2B5EF4-FFF2-40B4-BE49-F238E27FC236}">
                <a16:creationId xmlns:a16="http://schemas.microsoft.com/office/drawing/2014/main" id="{7956BC91-69D7-43C9-9CFD-E1743AA19FB5}"/>
              </a:ext>
            </a:extLst>
          </p:cNvPr>
          <p:cNvSpPr>
            <a:spLocks noGrp="1"/>
          </p:cNvSpPr>
          <p:nvPr/>
        </p:nvSpPr>
        <p:spPr>
          <a:xfrm>
            <a:off x="4286250" y="3657600"/>
            <a:ext cx="6762750" cy="4000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Cilium routes traffic and enforces policy</a:t>
            </a:r>
          </a:p>
        </p:txBody>
      </p:sp>
      <p:sp>
        <p:nvSpPr>
          <p:cNvPr id="13" name="Rectangle 12">
            <a:extLst>
              <a:ext uri="{FF2B5EF4-FFF2-40B4-BE49-F238E27FC236}">
                <a16:creationId xmlns:a16="http://schemas.microsoft.com/office/drawing/2014/main" id="{7F2D22A6-1C48-4B19-A882-918FF2DE750E}"/>
              </a:ext>
            </a:extLst>
          </p:cNvPr>
          <p:cNvSpPr>
            <a:spLocks noGrp="1"/>
          </p:cNvSpPr>
          <p:nvPr/>
        </p:nvSpPr>
        <p:spPr>
          <a:xfrm>
            <a:off x="1619250" y="4267200"/>
            <a:ext cx="9429750" cy="9525"/>
          </a:xfrm>
          <a:prstGeom prst="rect">
            <a:avLst/>
          </a:prstGeom>
          <a:solidFill>
            <a:srgbClr val="D6D6D6"/>
          </a:solidFill>
          <a:ln w="0">
            <a:noFill/>
          </a:ln>
        </p:spPr>
        <p:txBody>
          <a:bodyPr/>
          <a:lstStyle/>
          <a:p>
            <a:endParaRPr/>
          </a:p>
        </p:txBody>
      </p:sp>
      <p:sp>
        <p:nvSpPr>
          <p:cNvPr id="14" name="Rectangle 13">
            <a:extLst>
              <a:ext uri="{FF2B5EF4-FFF2-40B4-BE49-F238E27FC236}">
                <a16:creationId xmlns:a16="http://schemas.microsoft.com/office/drawing/2014/main" id="{D0A0D56B-FDB0-4971-B2B3-C265324ACDCB}"/>
              </a:ext>
            </a:extLst>
          </p:cNvPr>
          <p:cNvSpPr>
            <a:spLocks noGrp="1"/>
          </p:cNvSpPr>
          <p:nvPr/>
        </p:nvSpPr>
        <p:spPr>
          <a:xfrm>
            <a:off x="742950" y="4705350"/>
            <a:ext cx="647700" cy="495300"/>
          </a:xfrm>
          <a:prstGeom prst="rect">
            <a:avLst/>
          </a:prstGeom>
          <a:noFill/>
          <a:ln w="0">
            <a:noFill/>
          </a:ln>
        </p:spPr>
        <p:txBody>
          <a:bodyPr anchor="t">
            <a:normAutofit/>
          </a:bodyPr>
          <a:lstStyle/>
          <a:p>
            <a:pPr algn="l">
              <a:buNone/>
              <a:defRPr sz="2550" b="1">
                <a:solidFill>
                  <a:srgbClr val="2DAA5F"/>
                </a:solidFill>
                <a:latin typeface="CiscoSansTT Medium"/>
                <a:ea typeface="CiscoSansTT Medium"/>
                <a:cs typeface="CiscoSansTT Medium"/>
              </a:defRPr>
            </a:pPr>
            <a:r>
              <a:rPr sz="2550" b="1">
                <a:solidFill>
                  <a:srgbClr val="2DAA5F"/>
                </a:solidFill>
                <a:latin typeface="CiscoSansTT Medium"/>
                <a:ea typeface="CiscoSansTT Medium"/>
                <a:cs typeface="CiscoSansTT Medium"/>
              </a:rPr>
              <a:t>04</a:t>
            </a:r>
          </a:p>
        </p:txBody>
      </p:sp>
      <p:sp>
        <p:nvSpPr>
          <p:cNvPr id="15" name="Rectangle 14">
            <a:extLst>
              <a:ext uri="{FF2B5EF4-FFF2-40B4-BE49-F238E27FC236}">
                <a16:creationId xmlns:a16="http://schemas.microsoft.com/office/drawing/2014/main" id="{69592A17-1663-4A01-9986-49CA13FA2E89}"/>
              </a:ext>
            </a:extLst>
          </p:cNvPr>
          <p:cNvSpPr>
            <a:spLocks noGrp="1"/>
          </p:cNvSpPr>
          <p:nvPr/>
        </p:nvSpPr>
        <p:spPr>
          <a:xfrm>
            <a:off x="1619250" y="4705350"/>
            <a:ext cx="2381250" cy="438150"/>
          </a:xfrm>
          <a:prstGeom prst="rect">
            <a:avLst/>
          </a:prstGeom>
          <a:noFill/>
          <a:ln w="0">
            <a:noFill/>
          </a:ln>
        </p:spPr>
        <p:txBody>
          <a:bodyPr anchor="t">
            <a:normAutofit lnSpcReduction="10000"/>
          </a:bodyPr>
          <a:lstStyle/>
          <a:p>
            <a:pPr algn="l">
              <a:buNone/>
              <a:defRPr sz="2325" b="1">
                <a:solidFill>
                  <a:srgbClr val="07182A"/>
                </a:solidFill>
                <a:latin typeface="CiscoSansTT Medium"/>
                <a:ea typeface="CiscoSansTT Medium"/>
                <a:cs typeface="CiscoSansTT Medium"/>
              </a:defRPr>
            </a:pPr>
            <a:r>
              <a:rPr sz="2325" b="1">
                <a:solidFill>
                  <a:srgbClr val="07182A"/>
                </a:solidFill>
                <a:latin typeface="CiscoSansTT Medium"/>
                <a:ea typeface="CiscoSansTT Medium"/>
                <a:cs typeface="CiscoSansTT Medium"/>
              </a:rPr>
              <a:t>Shared TC</a:t>
            </a:r>
          </a:p>
        </p:txBody>
      </p:sp>
      <p:sp>
        <p:nvSpPr>
          <p:cNvPr id="16" name="Rectangle 15">
            <a:extLst>
              <a:ext uri="{FF2B5EF4-FFF2-40B4-BE49-F238E27FC236}">
                <a16:creationId xmlns:a16="http://schemas.microsoft.com/office/drawing/2014/main" id="{EC182D77-4817-46E5-B999-4E8BF56AE275}"/>
              </a:ext>
            </a:extLst>
          </p:cNvPr>
          <p:cNvSpPr>
            <a:spLocks noGrp="1"/>
          </p:cNvSpPr>
          <p:nvPr/>
        </p:nvSpPr>
        <p:spPr>
          <a:xfrm>
            <a:off x="4286250" y="4724400"/>
            <a:ext cx="6762750" cy="4000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Optional OBI TC flow collection can share this hook</a:t>
            </a:r>
          </a:p>
        </p:txBody>
      </p:sp>
      <p:sp>
        <p:nvSpPr>
          <p:cNvPr id="17" name="Rectangle 16">
            <a:extLst>
              <a:ext uri="{FF2B5EF4-FFF2-40B4-BE49-F238E27FC236}">
                <a16:creationId xmlns:a16="http://schemas.microsoft.com/office/drawing/2014/main" id="{B22D68FA-8D4A-4E44-A997-C6CD8B29C3E3}"/>
              </a:ext>
            </a:extLst>
          </p:cNvPr>
          <p:cNvSpPr>
            <a:spLocks noGrp="1"/>
          </p:cNvSpPr>
          <p:nvPr/>
        </p:nvSpPr>
        <p:spPr>
          <a:xfrm>
            <a:off x="1619250" y="5334000"/>
            <a:ext cx="9429750" cy="9525"/>
          </a:xfrm>
          <a:prstGeom prst="rect">
            <a:avLst/>
          </a:prstGeom>
          <a:solidFill>
            <a:srgbClr val="D6D6D6"/>
          </a:solidFill>
          <a:ln w="0">
            <a:noFill/>
          </a:ln>
        </p:spPr>
        <p:txBody>
          <a:bodyPr/>
          <a:lstStyle/>
          <a:p>
            <a:endParaRPr/>
          </a:p>
        </p:txBody>
      </p:sp>
      <p:sp>
        <p:nvSpPr>
          <p:cNvPr id="18" name="Rounded Rectangle 17">
            <a:extLst>
              <a:ext uri="{FF2B5EF4-FFF2-40B4-BE49-F238E27FC236}">
                <a16:creationId xmlns:a16="http://schemas.microsoft.com/office/drawing/2014/main" id="{B2A1EB50-E968-4E50-A168-D3F4D32BBD54}"/>
              </a:ext>
            </a:extLst>
          </p:cNvPr>
          <p:cNvSpPr>
            <a:spLocks noGrp="1"/>
          </p:cNvSpPr>
          <p:nvPr/>
        </p:nvSpPr>
        <p:spPr>
          <a:xfrm>
            <a:off x="1619250" y="5734050"/>
            <a:ext cx="9429750" cy="457200"/>
          </a:xfrm>
          <a:prstGeom prst="roundRect">
            <a:avLst>
              <a:gd name="adj" fmla="val 16667"/>
            </a:avLst>
          </a:prstGeom>
          <a:solidFill>
            <a:srgbClr val="07182A"/>
          </a:solidFill>
          <a:ln w="0">
            <a:noFill/>
          </a:ln>
        </p:spPr>
        <p:txBody>
          <a:bodyPr/>
          <a:lstStyle/>
          <a:p>
            <a:endParaRPr/>
          </a:p>
        </p:txBody>
      </p:sp>
      <p:sp>
        <p:nvSpPr>
          <p:cNvPr id="19" name="Rectangle 18">
            <a:extLst>
              <a:ext uri="{FF2B5EF4-FFF2-40B4-BE49-F238E27FC236}">
                <a16:creationId xmlns:a16="http://schemas.microsoft.com/office/drawing/2014/main" id="{585865DE-64D1-4422-A0F9-E558EA8A8F88}"/>
              </a:ext>
            </a:extLst>
          </p:cNvPr>
          <p:cNvSpPr>
            <a:spLocks noGrp="1"/>
          </p:cNvSpPr>
          <p:nvPr/>
        </p:nvSpPr>
        <p:spPr>
          <a:xfrm>
            <a:off x="1905000" y="5810250"/>
            <a:ext cx="8858250" cy="304800"/>
          </a:xfrm>
          <a:prstGeom prst="rect">
            <a:avLst/>
          </a:prstGeom>
          <a:noFill/>
          <a:ln w="0">
            <a:noFill/>
          </a:ln>
        </p:spPr>
        <p:txBody>
          <a:bodyPr anchor="t">
            <a:normAutofit fontScale="84848"/>
          </a:bodyPr>
          <a:lstStyle/>
          <a:p>
            <a:pPr algn="ctr">
              <a:buNone/>
              <a:defRPr sz="1650" b="1">
                <a:solidFill>
                  <a:srgbClr val="FFFFFF"/>
                </a:solidFill>
                <a:latin typeface="CiscoSansTT Medium"/>
                <a:ea typeface="CiscoSansTT Medium"/>
                <a:cs typeface="CiscoSansTT Medium"/>
              </a:defRPr>
            </a:pPr>
            <a:r>
              <a:rPr sz="1650" b="1">
                <a:solidFill>
                  <a:srgbClr val="FFFFFF"/>
                </a:solidFill>
                <a:latin typeface="CiscoSansTT Medium"/>
                <a:ea typeface="CiscoSansTT Medium"/>
                <a:cs typeface="CiscoSansTT Medium"/>
              </a:rPr>
              <a:t>Shared TC applies to optional OBI network-flow collection</a:t>
            </a:r>
          </a:p>
        </p:txBody>
      </p:sp>
    </p:spTree>
    <p:extLst>
      <p:ext uri="{BB962C8B-B14F-4D97-AF65-F5344CB8AC3E}">
        <p14:creationId xmlns:p14="http://schemas.microsoft.com/office/powerpoint/2010/main" val="188285791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2" name="Straight Arrow Connector 361">
            <a:extLst>
              <a:ext uri="{FF2B5EF4-FFF2-40B4-BE49-F238E27FC236}">
                <a16:creationId xmlns:a16="http://schemas.microsoft.com/office/drawing/2014/main" id="{268E87F2-7F1B-4AD8-AD5D-5C8813C32B3E}"/>
              </a:ext>
            </a:extLst>
          </p:cNvPr>
          <p:cNvCxnSpPr>
            <a:stCxn id="9" idx="3"/>
            <a:endCxn id="10" idx="1"/>
          </p:cNvCxnSpPr>
          <p:nvPr/>
        </p:nvCxnSpPr>
        <p:spPr>
          <a:xfrm>
            <a:off x="2952750" y="2647950"/>
            <a:ext cx="2000250" cy="0"/>
          </a:xfrm>
          <a:prstGeom prst="straightConnector1">
            <a:avLst/>
          </a:prstGeom>
          <a:ln w="19050">
            <a:solidFill>
              <a:srgbClr val="686B6B"/>
            </a:solidFill>
            <a:tailEnd type="arrow" w="med" len="med"/>
          </a:ln>
        </p:spPr>
      </p:cxnSp>
      <p:sp>
        <p:nvSpPr>
          <p:cNvPr id="26" name="slide-title">
            <a:extLst>
              <a:ext uri="{FF2B5EF4-FFF2-40B4-BE49-F238E27FC236}">
                <a16:creationId xmlns:a16="http://schemas.microsoft.com/office/drawing/2014/main" id="{F30FCB05-D8E9-4E9A-A589-036B48EA73AC}"/>
              </a:ext>
            </a:extLst>
          </p:cNvPr>
          <p:cNvSpPr>
            <a:spLocks noGrp="1"/>
          </p:cNvSpPr>
          <p:nvPr/>
        </p:nvSpPr>
        <p:spPr>
          <a:xfrm>
            <a:off x="323850" y="228600"/>
            <a:ext cx="11049000" cy="685800"/>
          </a:xfrm>
          <a:prstGeom prst="rect">
            <a:avLst/>
          </a:prstGeom>
          <a:noFill/>
          <a:ln w="0">
            <a:noFill/>
          </a:ln>
        </p:spPr>
        <p:txBody>
          <a:bodyPr anchor="ctr">
            <a:noAutofit/>
          </a:bodyPr>
          <a:lstStyle>
            <a:defPPr algn="l">
              <a:defRPr sz="3150" b="0">
                <a:solidFill>
                  <a:srgbClr val="07182A"/>
                </a:solidFill>
                <a:latin typeface="CiscoSansTT"/>
                <a:ea typeface="CiscoSansTT"/>
                <a:cs typeface="CiscoSansTT"/>
              </a:defRPr>
            </a:defPPr>
            <a:lvl1pPr algn="l">
              <a:buNone/>
              <a:defRPr sz="3150" b="0">
                <a:solidFill>
                  <a:srgbClr val="07182A"/>
                </a:solidFill>
                <a:latin typeface="CiscoSansTT"/>
                <a:ea typeface="CiscoSansTT"/>
                <a:cs typeface="CiscoSansTT"/>
              </a:defRPr>
            </a:lvl1pPr>
            <a:lvl2pPr algn="l">
              <a:buNone/>
              <a:defRPr sz="3150" b="0">
                <a:solidFill>
                  <a:srgbClr val="07182A"/>
                </a:solidFill>
                <a:latin typeface="CiscoSansTT"/>
                <a:ea typeface="CiscoSansTT"/>
                <a:cs typeface="CiscoSansTT"/>
              </a:defRPr>
            </a:lvl2pPr>
            <a:lvl3pPr algn="l">
              <a:buNone/>
              <a:defRPr sz="3150" b="0">
                <a:solidFill>
                  <a:srgbClr val="07182A"/>
                </a:solidFill>
                <a:latin typeface="CiscoSansTT"/>
                <a:ea typeface="CiscoSansTT"/>
                <a:cs typeface="CiscoSansTT"/>
              </a:defRPr>
            </a:lvl3pPr>
            <a:lvl4pPr algn="l">
              <a:buNone/>
              <a:defRPr sz="3150" b="0">
                <a:solidFill>
                  <a:srgbClr val="07182A"/>
                </a:solidFill>
                <a:latin typeface="CiscoSansTT"/>
                <a:ea typeface="CiscoSansTT"/>
                <a:cs typeface="CiscoSansTT"/>
              </a:defRPr>
            </a:lvl4pPr>
            <a:lvl5pPr algn="l">
              <a:buNone/>
              <a:defRPr sz="3150" b="0">
                <a:solidFill>
                  <a:srgbClr val="07182A"/>
                </a:solidFill>
                <a:latin typeface="CiscoSansTT"/>
                <a:ea typeface="CiscoSansTT"/>
                <a:cs typeface="CiscoSansTT"/>
              </a:defRPr>
            </a:lvl5pPr>
            <a:lvl6pPr algn="l">
              <a:buNone/>
              <a:defRPr sz="3150" b="0">
                <a:solidFill>
                  <a:srgbClr val="07182A"/>
                </a:solidFill>
                <a:latin typeface="CiscoSansTT"/>
                <a:ea typeface="CiscoSansTT"/>
                <a:cs typeface="CiscoSansTT"/>
              </a:defRPr>
            </a:lvl6pPr>
            <a:lvl7pPr algn="l">
              <a:buNone/>
              <a:defRPr sz="3150" b="0">
                <a:solidFill>
                  <a:srgbClr val="07182A"/>
                </a:solidFill>
                <a:latin typeface="CiscoSansTT"/>
                <a:ea typeface="CiscoSansTT"/>
                <a:cs typeface="CiscoSansTT"/>
              </a:defRPr>
            </a:lvl7pPr>
            <a:lvl8pPr algn="l">
              <a:buNone/>
              <a:defRPr sz="3150" b="0">
                <a:solidFill>
                  <a:srgbClr val="07182A"/>
                </a:solidFill>
                <a:latin typeface="CiscoSansTT"/>
                <a:ea typeface="CiscoSansTT"/>
                <a:cs typeface="CiscoSansTT"/>
              </a:defRPr>
            </a:lvl8pPr>
            <a:lvl9pPr algn="l">
              <a:buNone/>
              <a:defRPr sz="3150" b="0">
                <a:solidFill>
                  <a:srgbClr val="07182A"/>
                </a:solidFill>
                <a:latin typeface="CiscoSansTT"/>
                <a:ea typeface="CiscoSansTT"/>
                <a:cs typeface="CiscoSansTT"/>
              </a:defRPr>
            </a:lvl9pPr>
          </a:lstStyle>
          <a:p>
            <a:pPr algn="l">
              <a:buNone/>
              <a:defRPr sz="3150" b="0">
                <a:solidFill>
                  <a:srgbClr val="07182A"/>
                </a:solidFill>
                <a:latin typeface="CiscoSansTT"/>
                <a:ea typeface="CiscoSansTT"/>
                <a:cs typeface="CiscoSansTT"/>
              </a:defRPr>
            </a:pPr>
            <a:r>
              <a:rPr sz="3150" b="0">
                <a:solidFill>
                  <a:srgbClr val="07182A"/>
                </a:solidFill>
                <a:latin typeface="CiscoSansTT"/>
                <a:ea typeface="CiscoSansTT"/>
                <a:cs typeface="CiscoSansTT"/>
              </a:rPr>
              <a:t>Optional OBI network collection shares TC</a:t>
            </a:r>
          </a:p>
        </p:txBody>
      </p:sp>
      <p:sp>
        <p:nvSpPr>
          <p:cNvPr id="9" name="Rounded Rectangle 8">
            <a:extLst>
              <a:ext uri="{FF2B5EF4-FFF2-40B4-BE49-F238E27FC236}">
                <a16:creationId xmlns:a16="http://schemas.microsoft.com/office/drawing/2014/main" id="{696BD036-81BB-46F4-A7AB-4D4FBF7CFB83}"/>
              </a:ext>
            </a:extLst>
          </p:cNvPr>
          <p:cNvSpPr>
            <a:spLocks noGrp="1"/>
          </p:cNvSpPr>
          <p:nvPr/>
        </p:nvSpPr>
        <p:spPr>
          <a:xfrm>
            <a:off x="666750" y="2238375"/>
            <a:ext cx="2286000" cy="819150"/>
          </a:xfrm>
          <a:prstGeom prst="roundRect">
            <a:avLst>
              <a:gd name="adj" fmla="val 10526"/>
            </a:avLst>
          </a:prstGeom>
          <a:solidFill>
            <a:srgbClr val="F4F6F8"/>
          </a:solidFill>
          <a:ln w="14288">
            <a:solidFill>
              <a:srgbClr val="A6A6A6"/>
            </a:solidFill>
          </a:ln>
        </p:spPr>
        <p:txBody>
          <a:bodyPr anchor="ctr">
            <a:noAutofit/>
          </a:bodyPr>
          <a:lstStyle>
            <a:defPPr algn="ctr">
              <a:defRPr sz="1800" b="0">
                <a:solidFill>
                  <a:srgbClr val="07182A"/>
                </a:solidFill>
                <a:latin typeface="CiscoSansTT"/>
                <a:ea typeface="CiscoSansTT"/>
                <a:cs typeface="CiscoSansTT"/>
              </a:defRPr>
            </a:defPPr>
            <a:lvl1pPr algn="ctr">
              <a:defRPr sz="1800" b="0">
                <a:solidFill>
                  <a:srgbClr val="07182A"/>
                </a:solidFill>
                <a:latin typeface="CiscoSansTT"/>
                <a:ea typeface="CiscoSansTT"/>
                <a:cs typeface="CiscoSansTT"/>
              </a:defRPr>
            </a:lvl1pPr>
            <a:lvl2pPr algn="ctr">
              <a:defRPr sz="1800" b="0">
                <a:solidFill>
                  <a:srgbClr val="07182A"/>
                </a:solidFill>
                <a:latin typeface="CiscoSansTT"/>
                <a:ea typeface="CiscoSansTT"/>
                <a:cs typeface="CiscoSansTT"/>
              </a:defRPr>
            </a:lvl2pPr>
            <a:lvl3pPr algn="ctr">
              <a:defRPr sz="1800" b="0">
                <a:solidFill>
                  <a:srgbClr val="07182A"/>
                </a:solidFill>
                <a:latin typeface="CiscoSansTT"/>
                <a:ea typeface="CiscoSansTT"/>
                <a:cs typeface="CiscoSansTT"/>
              </a:defRPr>
            </a:lvl3pPr>
            <a:lvl4pPr algn="ctr">
              <a:defRPr sz="1800" b="0">
                <a:solidFill>
                  <a:srgbClr val="07182A"/>
                </a:solidFill>
                <a:latin typeface="CiscoSansTT"/>
                <a:ea typeface="CiscoSansTT"/>
                <a:cs typeface="CiscoSansTT"/>
              </a:defRPr>
            </a:lvl4pPr>
            <a:lvl5pPr algn="ctr">
              <a:defRPr sz="1800" b="0">
                <a:solidFill>
                  <a:srgbClr val="07182A"/>
                </a:solidFill>
                <a:latin typeface="CiscoSansTT"/>
                <a:ea typeface="CiscoSansTT"/>
                <a:cs typeface="CiscoSansTT"/>
              </a:defRPr>
            </a:lvl5pPr>
            <a:lvl6pPr algn="ctr">
              <a:defRPr sz="1800" b="0">
                <a:solidFill>
                  <a:srgbClr val="07182A"/>
                </a:solidFill>
                <a:latin typeface="CiscoSansTT"/>
                <a:ea typeface="CiscoSansTT"/>
                <a:cs typeface="CiscoSansTT"/>
              </a:defRPr>
            </a:lvl6pPr>
            <a:lvl7pPr algn="ctr">
              <a:defRPr sz="1800" b="0">
                <a:solidFill>
                  <a:srgbClr val="07182A"/>
                </a:solidFill>
                <a:latin typeface="CiscoSansTT"/>
                <a:ea typeface="CiscoSansTT"/>
                <a:cs typeface="CiscoSansTT"/>
              </a:defRPr>
            </a:lvl7pPr>
            <a:lvl8pPr algn="ctr">
              <a:defRPr sz="1800" b="0">
                <a:solidFill>
                  <a:srgbClr val="07182A"/>
                </a:solidFill>
                <a:latin typeface="CiscoSansTT"/>
                <a:ea typeface="CiscoSansTT"/>
                <a:cs typeface="CiscoSansTT"/>
              </a:defRPr>
            </a:lvl8pPr>
            <a:lvl9pPr algn="ctr">
              <a:defRPr sz="1800" b="0">
                <a:solidFill>
                  <a:srgbClr val="07182A"/>
                </a:solidFill>
                <a:latin typeface="CiscoSansTT"/>
                <a:ea typeface="CiscoSansTT"/>
                <a:cs typeface="CiscoSansTT"/>
              </a:defRPr>
            </a:lvl9pPr>
          </a:lstStyle>
          <a:p>
            <a:pPr algn="ctr">
              <a:buNone/>
              <a:defRPr sz="1800" b="0">
                <a:solidFill>
                  <a:srgbClr val="07182A"/>
                </a:solidFill>
                <a:latin typeface="CiscoSansTT"/>
                <a:ea typeface="CiscoSansTT"/>
                <a:cs typeface="CiscoSansTT"/>
              </a:defRPr>
            </a:pPr>
            <a:r>
              <a:rPr sz="1800" b="0">
                <a:solidFill>
                  <a:srgbClr val="07182A"/>
                </a:solidFill>
                <a:latin typeface="CiscoSansTT"/>
                <a:ea typeface="CiscoSansTT"/>
                <a:cs typeface="CiscoSansTT"/>
              </a:rPr>
              <a:t>Application process</a:t>
            </a:r>
          </a:p>
        </p:txBody>
      </p:sp>
      <p:sp>
        <p:nvSpPr>
          <p:cNvPr id="10" name="Rounded Rectangle 9">
            <a:extLst>
              <a:ext uri="{FF2B5EF4-FFF2-40B4-BE49-F238E27FC236}">
                <a16:creationId xmlns:a16="http://schemas.microsoft.com/office/drawing/2014/main" id="{A91280D8-EB21-46FE-8E56-DC7EFF804CF9}"/>
              </a:ext>
            </a:extLst>
          </p:cNvPr>
          <p:cNvSpPr>
            <a:spLocks noGrp="1"/>
          </p:cNvSpPr>
          <p:nvPr/>
        </p:nvSpPr>
        <p:spPr>
          <a:xfrm>
            <a:off x="4953000" y="2238375"/>
            <a:ext cx="2286000" cy="819150"/>
          </a:xfrm>
          <a:prstGeom prst="roundRect">
            <a:avLst>
              <a:gd name="adj" fmla="val 10526"/>
            </a:avLst>
          </a:prstGeom>
          <a:solidFill>
            <a:srgbClr val="FFFFFF"/>
          </a:solidFill>
          <a:ln w="14288">
            <a:solidFill>
              <a:srgbClr val="0860FE"/>
            </a:solidFill>
          </a:ln>
        </p:spPr>
        <p:txBody>
          <a:bodyPr anchor="ctr">
            <a:noAutofit/>
          </a:bodyPr>
          <a:lstStyle>
            <a:defPPr algn="ctr">
              <a:defRPr sz="1800" b="0">
                <a:solidFill>
                  <a:srgbClr val="07182A"/>
                </a:solidFill>
                <a:latin typeface="CiscoSansTT"/>
                <a:ea typeface="CiscoSansTT"/>
                <a:cs typeface="CiscoSansTT"/>
              </a:defRPr>
            </a:defPPr>
            <a:lvl1pPr algn="ctr">
              <a:defRPr sz="1800" b="0">
                <a:solidFill>
                  <a:srgbClr val="07182A"/>
                </a:solidFill>
                <a:latin typeface="CiscoSansTT"/>
                <a:ea typeface="CiscoSansTT"/>
                <a:cs typeface="CiscoSansTT"/>
              </a:defRPr>
            </a:lvl1pPr>
            <a:lvl2pPr algn="ctr">
              <a:defRPr sz="1800" b="0">
                <a:solidFill>
                  <a:srgbClr val="07182A"/>
                </a:solidFill>
                <a:latin typeface="CiscoSansTT"/>
                <a:ea typeface="CiscoSansTT"/>
                <a:cs typeface="CiscoSansTT"/>
              </a:defRPr>
            </a:lvl2pPr>
            <a:lvl3pPr algn="ctr">
              <a:defRPr sz="1800" b="0">
                <a:solidFill>
                  <a:srgbClr val="07182A"/>
                </a:solidFill>
                <a:latin typeface="CiscoSansTT"/>
                <a:ea typeface="CiscoSansTT"/>
                <a:cs typeface="CiscoSansTT"/>
              </a:defRPr>
            </a:lvl3pPr>
            <a:lvl4pPr algn="ctr">
              <a:defRPr sz="1800" b="0">
                <a:solidFill>
                  <a:srgbClr val="07182A"/>
                </a:solidFill>
                <a:latin typeface="CiscoSansTT"/>
                <a:ea typeface="CiscoSansTT"/>
                <a:cs typeface="CiscoSansTT"/>
              </a:defRPr>
            </a:lvl4pPr>
            <a:lvl5pPr algn="ctr">
              <a:defRPr sz="1800" b="0">
                <a:solidFill>
                  <a:srgbClr val="07182A"/>
                </a:solidFill>
                <a:latin typeface="CiscoSansTT"/>
                <a:ea typeface="CiscoSansTT"/>
                <a:cs typeface="CiscoSansTT"/>
              </a:defRPr>
            </a:lvl5pPr>
            <a:lvl6pPr algn="ctr">
              <a:defRPr sz="1800" b="0">
                <a:solidFill>
                  <a:srgbClr val="07182A"/>
                </a:solidFill>
                <a:latin typeface="CiscoSansTT"/>
                <a:ea typeface="CiscoSansTT"/>
                <a:cs typeface="CiscoSansTT"/>
              </a:defRPr>
            </a:lvl6pPr>
            <a:lvl7pPr algn="ctr">
              <a:defRPr sz="1800" b="0">
                <a:solidFill>
                  <a:srgbClr val="07182A"/>
                </a:solidFill>
                <a:latin typeface="CiscoSansTT"/>
                <a:ea typeface="CiscoSansTT"/>
                <a:cs typeface="CiscoSansTT"/>
              </a:defRPr>
            </a:lvl7pPr>
            <a:lvl8pPr algn="ctr">
              <a:defRPr sz="1800" b="0">
                <a:solidFill>
                  <a:srgbClr val="07182A"/>
                </a:solidFill>
                <a:latin typeface="CiscoSansTT"/>
                <a:ea typeface="CiscoSansTT"/>
                <a:cs typeface="CiscoSansTT"/>
              </a:defRPr>
            </a:lvl8pPr>
            <a:lvl9pPr algn="ctr">
              <a:defRPr sz="1800" b="0">
                <a:solidFill>
                  <a:srgbClr val="07182A"/>
                </a:solidFill>
                <a:latin typeface="CiscoSansTT"/>
                <a:ea typeface="CiscoSansTT"/>
                <a:cs typeface="CiscoSansTT"/>
              </a:defRPr>
            </a:lvl9pPr>
          </a:lstStyle>
          <a:p>
            <a:pPr algn="ctr">
              <a:buNone/>
              <a:defRPr sz="1800" b="0">
                <a:solidFill>
                  <a:srgbClr val="07182A"/>
                </a:solidFill>
                <a:latin typeface="CiscoSansTT"/>
                <a:ea typeface="CiscoSansTT"/>
                <a:cs typeface="CiscoSansTT"/>
              </a:defRPr>
            </a:pPr>
            <a:r>
              <a:rPr sz="1800" b="0">
                <a:solidFill>
                  <a:srgbClr val="07182A"/>
                </a:solidFill>
                <a:latin typeface="CiscoSansTT"/>
                <a:ea typeface="CiscoSansTT"/>
                <a:cs typeface="CiscoSansTT"/>
              </a:rPr>
              <a:t>Host-side veth</a:t>
            </a:r>
          </a:p>
        </p:txBody>
      </p:sp>
      <p:sp>
        <p:nvSpPr>
          <p:cNvPr id="11" name="Rounded Rectangle 10">
            <a:extLst>
              <a:ext uri="{FF2B5EF4-FFF2-40B4-BE49-F238E27FC236}">
                <a16:creationId xmlns:a16="http://schemas.microsoft.com/office/drawing/2014/main" id="{CDF2353C-694D-4CB4-9EA5-DA115205C4B4}"/>
              </a:ext>
            </a:extLst>
          </p:cNvPr>
          <p:cNvSpPr>
            <a:spLocks noGrp="1"/>
          </p:cNvSpPr>
          <p:nvPr/>
        </p:nvSpPr>
        <p:spPr>
          <a:xfrm>
            <a:off x="9239250" y="2238375"/>
            <a:ext cx="2095500" cy="819150"/>
          </a:xfrm>
          <a:prstGeom prst="roundRect">
            <a:avLst>
              <a:gd name="adj" fmla="val 10526"/>
            </a:avLst>
          </a:prstGeom>
          <a:solidFill>
            <a:srgbClr val="F4F6F8"/>
          </a:solidFill>
          <a:ln w="14288">
            <a:solidFill>
              <a:srgbClr val="A6A6A6"/>
            </a:solidFill>
          </a:ln>
        </p:spPr>
        <p:txBody>
          <a:bodyPr anchor="ctr">
            <a:noAutofit/>
          </a:bodyPr>
          <a:lstStyle>
            <a:defPPr algn="ctr">
              <a:defRPr sz="1800" b="0">
                <a:solidFill>
                  <a:srgbClr val="07182A"/>
                </a:solidFill>
                <a:latin typeface="CiscoSansTT"/>
                <a:ea typeface="CiscoSansTT"/>
                <a:cs typeface="CiscoSansTT"/>
              </a:defRPr>
            </a:defPPr>
            <a:lvl1pPr algn="ctr">
              <a:defRPr sz="1800" b="0">
                <a:solidFill>
                  <a:srgbClr val="07182A"/>
                </a:solidFill>
                <a:latin typeface="CiscoSansTT"/>
                <a:ea typeface="CiscoSansTT"/>
                <a:cs typeface="CiscoSansTT"/>
              </a:defRPr>
            </a:lvl1pPr>
            <a:lvl2pPr algn="ctr">
              <a:defRPr sz="1800" b="0">
                <a:solidFill>
                  <a:srgbClr val="07182A"/>
                </a:solidFill>
                <a:latin typeface="CiscoSansTT"/>
                <a:ea typeface="CiscoSansTT"/>
                <a:cs typeface="CiscoSansTT"/>
              </a:defRPr>
            </a:lvl2pPr>
            <a:lvl3pPr algn="ctr">
              <a:defRPr sz="1800" b="0">
                <a:solidFill>
                  <a:srgbClr val="07182A"/>
                </a:solidFill>
                <a:latin typeface="CiscoSansTT"/>
                <a:ea typeface="CiscoSansTT"/>
                <a:cs typeface="CiscoSansTT"/>
              </a:defRPr>
            </a:lvl3pPr>
            <a:lvl4pPr algn="ctr">
              <a:defRPr sz="1800" b="0">
                <a:solidFill>
                  <a:srgbClr val="07182A"/>
                </a:solidFill>
                <a:latin typeface="CiscoSansTT"/>
                <a:ea typeface="CiscoSansTT"/>
                <a:cs typeface="CiscoSansTT"/>
              </a:defRPr>
            </a:lvl4pPr>
            <a:lvl5pPr algn="ctr">
              <a:defRPr sz="1800" b="0">
                <a:solidFill>
                  <a:srgbClr val="07182A"/>
                </a:solidFill>
                <a:latin typeface="CiscoSansTT"/>
                <a:ea typeface="CiscoSansTT"/>
                <a:cs typeface="CiscoSansTT"/>
              </a:defRPr>
            </a:lvl5pPr>
            <a:lvl6pPr algn="ctr">
              <a:defRPr sz="1800" b="0">
                <a:solidFill>
                  <a:srgbClr val="07182A"/>
                </a:solidFill>
                <a:latin typeface="CiscoSansTT"/>
                <a:ea typeface="CiscoSansTT"/>
                <a:cs typeface="CiscoSansTT"/>
              </a:defRPr>
            </a:lvl6pPr>
            <a:lvl7pPr algn="ctr">
              <a:defRPr sz="1800" b="0">
                <a:solidFill>
                  <a:srgbClr val="07182A"/>
                </a:solidFill>
                <a:latin typeface="CiscoSansTT"/>
                <a:ea typeface="CiscoSansTT"/>
                <a:cs typeface="CiscoSansTT"/>
              </a:defRPr>
            </a:lvl7pPr>
            <a:lvl8pPr algn="ctr">
              <a:defRPr sz="1800" b="0">
                <a:solidFill>
                  <a:srgbClr val="07182A"/>
                </a:solidFill>
                <a:latin typeface="CiscoSansTT"/>
                <a:ea typeface="CiscoSansTT"/>
                <a:cs typeface="CiscoSansTT"/>
              </a:defRPr>
            </a:lvl8pPr>
            <a:lvl9pPr algn="ctr">
              <a:defRPr sz="1800" b="0">
                <a:solidFill>
                  <a:srgbClr val="07182A"/>
                </a:solidFill>
                <a:latin typeface="CiscoSansTT"/>
                <a:ea typeface="CiscoSansTT"/>
                <a:cs typeface="CiscoSansTT"/>
              </a:defRPr>
            </a:lvl9pPr>
          </a:lstStyle>
          <a:p>
            <a:pPr algn="ctr">
              <a:buNone/>
              <a:defRPr sz="1800" b="0">
                <a:solidFill>
                  <a:srgbClr val="07182A"/>
                </a:solidFill>
                <a:latin typeface="CiscoSansTT"/>
                <a:ea typeface="CiscoSansTT"/>
                <a:cs typeface="CiscoSansTT"/>
              </a:defRPr>
            </a:pPr>
            <a:r>
              <a:rPr sz="1800" b="0">
                <a:solidFill>
                  <a:srgbClr val="07182A"/>
                </a:solidFill>
                <a:latin typeface="CiscoSansTT"/>
                <a:ea typeface="CiscoSansTT"/>
                <a:cs typeface="CiscoSansTT"/>
              </a:rPr>
              <a:t>Network</a:t>
            </a:r>
          </a:p>
        </p:txBody>
      </p:sp>
      <p:cxnSp>
        <p:nvCxnSpPr>
          <p:cNvPr id="350" name="Straight Arrow Connector 37">
            <a:extLst>
              <a:ext uri="{FF2B5EF4-FFF2-40B4-BE49-F238E27FC236}">
                <a16:creationId xmlns:a16="http://schemas.microsoft.com/office/drawing/2014/main" id="{34ED727E-A515-419C-943E-EF26C720AB6F}"/>
              </a:ext>
            </a:extLst>
          </p:cNvPr>
          <p:cNvCxnSpPr>
            <a:stCxn id="10" idx="3"/>
            <a:endCxn id="11" idx="1"/>
          </p:cNvCxnSpPr>
          <p:nvPr/>
        </p:nvCxnSpPr>
        <p:spPr>
          <a:xfrm>
            <a:off x="7239000" y="2647950"/>
            <a:ext cx="2000250" cy="0"/>
          </a:xfrm>
          <a:prstGeom prst="straightConnector1">
            <a:avLst/>
          </a:prstGeom>
          <a:ln w="23813">
            <a:solidFill>
              <a:srgbClr val="686B6B"/>
            </a:solidFill>
            <a:prstDash val="solid"/>
            <a:tailEnd type="arrow" w="med" len="med"/>
          </a:ln>
        </p:spPr>
      </p:cxnSp>
      <p:sp>
        <p:nvSpPr>
          <p:cNvPr id="14" name="Rounded Rectangle 13">
            <a:extLst>
              <a:ext uri="{FF2B5EF4-FFF2-40B4-BE49-F238E27FC236}">
                <a16:creationId xmlns:a16="http://schemas.microsoft.com/office/drawing/2014/main" id="{87530A25-FA22-4956-8BEA-4DCA6ABD07D0}"/>
              </a:ext>
            </a:extLst>
          </p:cNvPr>
          <p:cNvSpPr>
            <a:spLocks noGrp="1"/>
          </p:cNvSpPr>
          <p:nvPr/>
        </p:nvSpPr>
        <p:spPr>
          <a:xfrm>
            <a:off x="2381250" y="3667125"/>
            <a:ext cx="7429500" cy="1809750"/>
          </a:xfrm>
          <a:prstGeom prst="roundRect">
            <a:avLst>
              <a:gd name="adj" fmla="val 4706"/>
            </a:avLst>
          </a:prstGeom>
          <a:solidFill>
            <a:srgbClr val="07182A"/>
          </a:solidFill>
          <a:ln w="0">
            <a:noFill/>
          </a:ln>
        </p:spPr>
        <p:txBody>
          <a:bodyPr/>
          <a:lstStyle/>
          <a:p>
            <a:endParaRPr/>
          </a:p>
        </p:txBody>
      </p:sp>
      <p:sp>
        <p:nvSpPr>
          <p:cNvPr id="15" name="Rectangle 14">
            <a:extLst>
              <a:ext uri="{FF2B5EF4-FFF2-40B4-BE49-F238E27FC236}">
                <a16:creationId xmlns:a16="http://schemas.microsoft.com/office/drawing/2014/main" id="{6781C774-D4AF-488E-B34F-6E2E2AA5302D}"/>
              </a:ext>
            </a:extLst>
          </p:cNvPr>
          <p:cNvSpPr>
            <a:spLocks noGrp="1"/>
          </p:cNvSpPr>
          <p:nvPr/>
        </p:nvSpPr>
        <p:spPr>
          <a:xfrm>
            <a:off x="2724150" y="3829050"/>
            <a:ext cx="6743700" cy="361950"/>
          </a:xfrm>
          <a:prstGeom prst="rect">
            <a:avLst/>
          </a:prstGeom>
          <a:noFill/>
          <a:ln w="0">
            <a:noFill/>
          </a:ln>
        </p:spPr>
        <p:txBody>
          <a:bodyPr anchor="ctr">
            <a:noAutofit/>
          </a:bodyPr>
          <a:lstStyle>
            <a:defPPr algn="ctr">
              <a:defRPr sz="1950" b="1">
                <a:solidFill>
                  <a:srgbClr val="FFFFFF"/>
                </a:solidFill>
                <a:latin typeface="CiscoSansTT Medium"/>
                <a:ea typeface="CiscoSansTT Medium"/>
                <a:cs typeface="CiscoSansTT Medium"/>
              </a:defRPr>
            </a:defPPr>
            <a:lvl1pPr algn="ctr">
              <a:buNone/>
              <a:defRPr sz="1800" b="1">
                <a:solidFill>
                  <a:srgbClr val="FFFFFF"/>
                </a:solidFill>
                <a:latin typeface="CiscoSansTT Medium"/>
                <a:ea typeface="CiscoSansTT Medium"/>
                <a:cs typeface="CiscoSansTT Medium"/>
              </a:defRPr>
            </a:lvl1pPr>
            <a:lvl2pPr algn="ctr">
              <a:buNone/>
              <a:defRPr sz="1800" b="1">
                <a:solidFill>
                  <a:srgbClr val="FFFFFF"/>
                </a:solidFill>
                <a:latin typeface="CiscoSansTT Medium"/>
                <a:ea typeface="CiscoSansTT Medium"/>
                <a:cs typeface="CiscoSansTT Medium"/>
              </a:defRPr>
            </a:lvl2pPr>
            <a:lvl3pPr algn="ctr">
              <a:buNone/>
              <a:defRPr sz="1800" b="1">
                <a:solidFill>
                  <a:srgbClr val="FFFFFF"/>
                </a:solidFill>
                <a:latin typeface="CiscoSansTT Medium"/>
                <a:ea typeface="CiscoSansTT Medium"/>
                <a:cs typeface="CiscoSansTT Medium"/>
              </a:defRPr>
            </a:lvl3pPr>
            <a:lvl4pPr algn="ctr">
              <a:buNone/>
              <a:defRPr sz="1800" b="1">
                <a:solidFill>
                  <a:srgbClr val="FFFFFF"/>
                </a:solidFill>
                <a:latin typeface="CiscoSansTT Medium"/>
                <a:ea typeface="CiscoSansTT Medium"/>
                <a:cs typeface="CiscoSansTT Medium"/>
              </a:defRPr>
            </a:lvl4pPr>
            <a:lvl5pPr algn="ctr">
              <a:buNone/>
              <a:defRPr sz="1800" b="1">
                <a:solidFill>
                  <a:srgbClr val="FFFFFF"/>
                </a:solidFill>
                <a:latin typeface="CiscoSansTT Medium"/>
                <a:ea typeface="CiscoSansTT Medium"/>
                <a:cs typeface="CiscoSansTT Medium"/>
              </a:defRPr>
            </a:lvl5pPr>
            <a:lvl6pPr algn="ctr">
              <a:buNone/>
              <a:defRPr sz="1800" b="1">
                <a:solidFill>
                  <a:srgbClr val="FFFFFF"/>
                </a:solidFill>
                <a:latin typeface="CiscoSansTT Medium"/>
                <a:ea typeface="CiscoSansTT Medium"/>
                <a:cs typeface="CiscoSansTT Medium"/>
              </a:defRPr>
            </a:lvl6pPr>
            <a:lvl7pPr algn="ctr">
              <a:buNone/>
              <a:defRPr sz="1800" b="1">
                <a:solidFill>
                  <a:srgbClr val="FFFFFF"/>
                </a:solidFill>
                <a:latin typeface="CiscoSansTT Medium"/>
                <a:ea typeface="CiscoSansTT Medium"/>
                <a:cs typeface="CiscoSansTT Medium"/>
              </a:defRPr>
            </a:lvl7pPr>
            <a:lvl8pPr algn="ctr">
              <a:buNone/>
              <a:defRPr sz="1800" b="1">
                <a:solidFill>
                  <a:srgbClr val="FFFFFF"/>
                </a:solidFill>
                <a:latin typeface="CiscoSansTT Medium"/>
                <a:ea typeface="CiscoSansTT Medium"/>
                <a:cs typeface="CiscoSansTT Medium"/>
              </a:defRPr>
            </a:lvl8pPr>
            <a:lvl9pPr algn="ctr">
              <a:buNone/>
              <a:defRPr sz="1800" b="1">
                <a:solidFill>
                  <a:srgbClr val="FFFFFF"/>
                </a:solidFill>
                <a:latin typeface="CiscoSansTT Medium"/>
                <a:ea typeface="CiscoSansTT Medium"/>
                <a:cs typeface="CiscoSansTT Medium"/>
              </a:defRPr>
            </a:lvl9pPr>
          </a:lstStyle>
          <a:p>
            <a:pPr algn="ctr">
              <a:buNone/>
              <a:defRPr sz="1950" b="1">
                <a:solidFill>
                  <a:srgbClr val="FFFFFF"/>
                </a:solidFill>
                <a:latin typeface="CiscoSansTT Medium"/>
                <a:ea typeface="CiscoSansTT Medium"/>
                <a:cs typeface="CiscoSansTT Medium"/>
              </a:defRPr>
            </a:pPr>
            <a:r>
              <a:rPr sz="1950" b="1">
                <a:solidFill>
                  <a:srgbClr val="FFFFFF"/>
                </a:solidFill>
                <a:latin typeface="CiscoSansTT Medium"/>
                <a:ea typeface="CiscoSansTT Medium"/>
                <a:cs typeface="CiscoSansTT Medium"/>
              </a:rPr>
              <a:t>Shared TC hooks on the host-side veth</a:t>
            </a:r>
          </a:p>
        </p:txBody>
      </p:sp>
      <p:sp>
        <p:nvSpPr>
          <p:cNvPr id="16" name="Rounded Rectangle 15">
            <a:extLst>
              <a:ext uri="{FF2B5EF4-FFF2-40B4-BE49-F238E27FC236}">
                <a16:creationId xmlns:a16="http://schemas.microsoft.com/office/drawing/2014/main" id="{8FFC60E2-24BF-46E6-8463-DF1287D49085}"/>
              </a:ext>
            </a:extLst>
          </p:cNvPr>
          <p:cNvSpPr>
            <a:spLocks noGrp="1"/>
          </p:cNvSpPr>
          <p:nvPr/>
        </p:nvSpPr>
        <p:spPr>
          <a:xfrm>
            <a:off x="2724150" y="4333875"/>
            <a:ext cx="1428750" cy="419100"/>
          </a:xfrm>
          <a:prstGeom prst="roundRect">
            <a:avLst>
              <a:gd name="adj" fmla="val 20000"/>
            </a:avLst>
          </a:prstGeom>
          <a:solidFill>
            <a:srgbClr val="FFFFFF"/>
          </a:solidFill>
          <a:ln w="0">
            <a:noFill/>
          </a:ln>
        </p:spPr>
        <p:txBody>
          <a:bodyPr anchor="ctr">
            <a:noAutofit/>
          </a:bodyPr>
          <a:lstStyle>
            <a:defPPr algn="ctr">
              <a:defRPr sz="1650" b="1">
                <a:solidFill>
                  <a:srgbClr val="07182A"/>
                </a:solidFill>
                <a:latin typeface="CiscoSansTT Medium"/>
                <a:ea typeface="CiscoSansTT Medium"/>
                <a:cs typeface="CiscoSansTT Medium"/>
              </a:defRPr>
            </a:defPPr>
            <a:lvl1pPr algn="ctr">
              <a:defRPr sz="1650" b="1">
                <a:solidFill>
                  <a:srgbClr val="07182A"/>
                </a:solidFill>
                <a:latin typeface="CiscoSansTT Medium"/>
                <a:ea typeface="CiscoSansTT Medium"/>
                <a:cs typeface="CiscoSansTT Medium"/>
              </a:defRPr>
            </a:lvl1pPr>
            <a:lvl2pPr algn="ctr">
              <a:defRPr sz="1650" b="1">
                <a:solidFill>
                  <a:srgbClr val="07182A"/>
                </a:solidFill>
                <a:latin typeface="CiscoSansTT Medium"/>
                <a:ea typeface="CiscoSansTT Medium"/>
                <a:cs typeface="CiscoSansTT Medium"/>
              </a:defRPr>
            </a:lvl2pPr>
            <a:lvl3pPr algn="ctr">
              <a:defRPr sz="1650" b="1">
                <a:solidFill>
                  <a:srgbClr val="07182A"/>
                </a:solidFill>
                <a:latin typeface="CiscoSansTT Medium"/>
                <a:ea typeface="CiscoSansTT Medium"/>
                <a:cs typeface="CiscoSansTT Medium"/>
              </a:defRPr>
            </a:lvl3pPr>
            <a:lvl4pPr algn="ctr">
              <a:defRPr sz="1650" b="1">
                <a:solidFill>
                  <a:srgbClr val="07182A"/>
                </a:solidFill>
                <a:latin typeface="CiscoSansTT Medium"/>
                <a:ea typeface="CiscoSansTT Medium"/>
                <a:cs typeface="CiscoSansTT Medium"/>
              </a:defRPr>
            </a:lvl4pPr>
            <a:lvl5pPr algn="ctr">
              <a:defRPr sz="1650" b="1">
                <a:solidFill>
                  <a:srgbClr val="07182A"/>
                </a:solidFill>
                <a:latin typeface="CiscoSansTT Medium"/>
                <a:ea typeface="CiscoSansTT Medium"/>
                <a:cs typeface="CiscoSansTT Medium"/>
              </a:defRPr>
            </a:lvl5pPr>
            <a:lvl6pPr algn="ctr">
              <a:defRPr sz="1650" b="1">
                <a:solidFill>
                  <a:srgbClr val="07182A"/>
                </a:solidFill>
                <a:latin typeface="CiscoSansTT Medium"/>
                <a:ea typeface="CiscoSansTT Medium"/>
                <a:cs typeface="CiscoSansTT Medium"/>
              </a:defRPr>
            </a:lvl6pPr>
            <a:lvl7pPr algn="ctr">
              <a:defRPr sz="1650" b="1">
                <a:solidFill>
                  <a:srgbClr val="07182A"/>
                </a:solidFill>
                <a:latin typeface="CiscoSansTT Medium"/>
                <a:ea typeface="CiscoSansTT Medium"/>
                <a:cs typeface="CiscoSansTT Medium"/>
              </a:defRPr>
            </a:lvl7pPr>
            <a:lvl8pPr algn="ctr">
              <a:defRPr sz="1650" b="1">
                <a:solidFill>
                  <a:srgbClr val="07182A"/>
                </a:solidFill>
                <a:latin typeface="CiscoSansTT Medium"/>
                <a:ea typeface="CiscoSansTT Medium"/>
                <a:cs typeface="CiscoSansTT Medium"/>
              </a:defRPr>
            </a:lvl8pPr>
            <a:lvl9pPr algn="ctr">
              <a:defRPr sz="1650" b="1">
                <a:solidFill>
                  <a:srgbClr val="07182A"/>
                </a:solidFill>
                <a:latin typeface="CiscoSansTT Medium"/>
                <a:ea typeface="CiscoSansTT Medium"/>
                <a:cs typeface="CiscoSansTT Medium"/>
              </a:defRPr>
            </a:lvl9pPr>
          </a:lstStyle>
          <a:p>
            <a:pPr algn="ctr">
              <a:buNone/>
              <a:defRPr sz="1650" b="1">
                <a:solidFill>
                  <a:srgbClr val="07182A"/>
                </a:solidFill>
                <a:latin typeface="CiscoSansTT Medium"/>
                <a:ea typeface="CiscoSansTT Medium"/>
                <a:cs typeface="CiscoSansTT Medium"/>
              </a:defRPr>
            </a:pPr>
            <a:r>
              <a:rPr sz="1650" b="1">
                <a:solidFill>
                  <a:srgbClr val="07182A"/>
                </a:solidFill>
                <a:latin typeface="CiscoSansTT Medium"/>
                <a:ea typeface="CiscoSansTT Medium"/>
                <a:cs typeface="CiscoSansTT Medium"/>
              </a:rPr>
              <a:t>TC ingress</a:t>
            </a:r>
          </a:p>
        </p:txBody>
      </p:sp>
      <p:sp>
        <p:nvSpPr>
          <p:cNvPr id="17" name="Rounded Rectangle 16">
            <a:extLst>
              <a:ext uri="{FF2B5EF4-FFF2-40B4-BE49-F238E27FC236}">
                <a16:creationId xmlns:a16="http://schemas.microsoft.com/office/drawing/2014/main" id="{40962869-3F21-45D8-B5A8-6F906157B194}"/>
              </a:ext>
            </a:extLst>
          </p:cNvPr>
          <p:cNvSpPr>
            <a:spLocks noGrp="1"/>
          </p:cNvSpPr>
          <p:nvPr/>
        </p:nvSpPr>
        <p:spPr>
          <a:xfrm>
            <a:off x="4400550" y="4333875"/>
            <a:ext cx="2095500" cy="419100"/>
          </a:xfrm>
          <a:prstGeom prst="roundRect">
            <a:avLst>
              <a:gd name="adj" fmla="val 20000"/>
            </a:avLst>
          </a:prstGeom>
          <a:solidFill>
            <a:srgbClr val="FF007F"/>
          </a:solidFill>
          <a:ln w="0">
            <a:noFill/>
          </a:ln>
        </p:spPr>
        <p:txBody>
          <a:bodyPr anchor="ctr">
            <a:noAutofit/>
          </a:bodyPr>
          <a:lstStyle>
            <a:defPPr algn="ctr">
              <a:defRPr sz="1650" b="1">
                <a:solidFill>
                  <a:srgbClr val="FFFFFF"/>
                </a:solidFill>
                <a:latin typeface="CiscoSansTT Medium"/>
                <a:ea typeface="CiscoSansTT Medium"/>
                <a:cs typeface="CiscoSansTT Medium"/>
              </a:defRPr>
            </a:defPPr>
            <a:lvl1pPr algn="ctr">
              <a:buNone/>
              <a:defRPr sz="1650" b="1">
                <a:solidFill>
                  <a:srgbClr val="FFFFFF"/>
                </a:solidFill>
                <a:latin typeface="CiscoSansTT Medium"/>
                <a:ea typeface="CiscoSansTT Medium"/>
                <a:cs typeface="CiscoSansTT Medium"/>
              </a:defRPr>
            </a:lvl1pPr>
            <a:lvl2pPr algn="ctr">
              <a:buNone/>
              <a:defRPr sz="1650" b="1">
                <a:solidFill>
                  <a:srgbClr val="FFFFFF"/>
                </a:solidFill>
                <a:latin typeface="CiscoSansTT Medium"/>
                <a:ea typeface="CiscoSansTT Medium"/>
                <a:cs typeface="CiscoSansTT Medium"/>
              </a:defRPr>
            </a:lvl2pPr>
            <a:lvl3pPr algn="ctr">
              <a:buNone/>
              <a:defRPr sz="1650" b="1">
                <a:solidFill>
                  <a:srgbClr val="FFFFFF"/>
                </a:solidFill>
                <a:latin typeface="CiscoSansTT Medium"/>
                <a:ea typeface="CiscoSansTT Medium"/>
                <a:cs typeface="CiscoSansTT Medium"/>
              </a:defRPr>
            </a:lvl3pPr>
            <a:lvl4pPr algn="ctr">
              <a:buNone/>
              <a:defRPr sz="1650" b="1">
                <a:solidFill>
                  <a:srgbClr val="FFFFFF"/>
                </a:solidFill>
                <a:latin typeface="CiscoSansTT Medium"/>
                <a:ea typeface="CiscoSansTT Medium"/>
                <a:cs typeface="CiscoSansTT Medium"/>
              </a:defRPr>
            </a:lvl4pPr>
            <a:lvl5pPr algn="ctr">
              <a:buNone/>
              <a:defRPr sz="1650" b="1">
                <a:solidFill>
                  <a:srgbClr val="FFFFFF"/>
                </a:solidFill>
                <a:latin typeface="CiscoSansTT Medium"/>
                <a:ea typeface="CiscoSansTT Medium"/>
                <a:cs typeface="CiscoSansTT Medium"/>
              </a:defRPr>
            </a:lvl5pPr>
            <a:lvl6pPr algn="ctr">
              <a:buNone/>
              <a:defRPr sz="1650" b="1">
                <a:solidFill>
                  <a:srgbClr val="FFFFFF"/>
                </a:solidFill>
                <a:latin typeface="CiscoSansTT Medium"/>
                <a:ea typeface="CiscoSansTT Medium"/>
                <a:cs typeface="CiscoSansTT Medium"/>
              </a:defRPr>
            </a:lvl6pPr>
            <a:lvl7pPr algn="ctr">
              <a:buNone/>
              <a:defRPr sz="1650" b="1">
                <a:solidFill>
                  <a:srgbClr val="FFFFFF"/>
                </a:solidFill>
                <a:latin typeface="CiscoSansTT Medium"/>
                <a:ea typeface="CiscoSansTT Medium"/>
                <a:cs typeface="CiscoSansTT Medium"/>
              </a:defRPr>
            </a:lvl7pPr>
            <a:lvl8pPr algn="ctr">
              <a:buNone/>
              <a:defRPr sz="1650" b="1">
                <a:solidFill>
                  <a:srgbClr val="FFFFFF"/>
                </a:solidFill>
                <a:latin typeface="CiscoSansTT Medium"/>
                <a:ea typeface="CiscoSansTT Medium"/>
                <a:cs typeface="CiscoSansTT Medium"/>
              </a:defRPr>
            </a:lvl8pPr>
            <a:lvl9pPr algn="ctr">
              <a:buNone/>
              <a:defRPr sz="1650" b="1">
                <a:solidFill>
                  <a:srgbClr val="FFFFFF"/>
                </a:solidFill>
                <a:latin typeface="CiscoSansTT Medium"/>
                <a:ea typeface="CiscoSansTT Medium"/>
                <a:cs typeface="CiscoSansTT Medium"/>
              </a:defRPr>
            </a:lvl9pPr>
          </a:lstStyle>
          <a:p>
            <a:pPr algn="ctr">
              <a:buNone/>
              <a:defRPr sz="1650" b="1">
                <a:solidFill>
                  <a:srgbClr val="FFFFFF"/>
                </a:solidFill>
                <a:latin typeface="CiscoSansTT Medium"/>
                <a:ea typeface="CiscoSansTT Medium"/>
                <a:cs typeface="CiscoSansTT Medium"/>
              </a:defRPr>
            </a:pPr>
            <a:r>
              <a:rPr sz="1650" b="1">
                <a:solidFill>
                  <a:srgbClr val="FFFFFF"/>
                </a:solidFill>
                <a:latin typeface="CiscoSansTT Medium"/>
                <a:ea typeface="CiscoSansTT Medium"/>
                <a:cs typeface="CiscoSansTT Medium"/>
              </a:rPr>
              <a:t>OBI flow metrics</a:t>
            </a:r>
          </a:p>
        </p:txBody>
      </p:sp>
      <p:sp>
        <p:nvSpPr>
          <p:cNvPr id="18" name="Rectangle 17">
            <a:extLst>
              <a:ext uri="{FF2B5EF4-FFF2-40B4-BE49-F238E27FC236}">
                <a16:creationId xmlns:a16="http://schemas.microsoft.com/office/drawing/2014/main" id="{6AD94758-A1ED-4586-AB0C-2F2F07415612}"/>
              </a:ext>
            </a:extLst>
          </p:cNvPr>
          <p:cNvSpPr>
            <a:spLocks noGrp="1"/>
          </p:cNvSpPr>
          <p:nvPr/>
        </p:nvSpPr>
        <p:spPr>
          <a:xfrm>
            <a:off x="6648450" y="4410075"/>
            <a:ext cx="323850" cy="266700"/>
          </a:xfrm>
          <a:prstGeom prst="rect">
            <a:avLst/>
          </a:prstGeom>
          <a:noFill/>
          <a:ln w="0">
            <a:noFill/>
          </a:ln>
        </p:spPr>
        <p:txBody>
          <a:bodyPr anchor="t">
            <a:normAutofit fontScale="83333" lnSpcReduction="20000"/>
          </a:bodyPr>
          <a:lstStyle/>
          <a:p>
            <a:pPr algn="ctr">
              <a:buNone/>
              <a:defRPr sz="1725" b="1">
                <a:solidFill>
                  <a:srgbClr val="FFFFFF"/>
                </a:solidFill>
                <a:latin typeface="CiscoSansTT Medium"/>
                <a:ea typeface="CiscoSansTT Medium"/>
                <a:cs typeface="CiscoSansTT Medium"/>
              </a:defRPr>
            </a:pPr>
            <a:r>
              <a:rPr sz="1725" b="1">
                <a:solidFill>
                  <a:srgbClr val="FFFFFF"/>
                </a:solidFill>
                <a:latin typeface="CiscoSansTT Medium"/>
                <a:ea typeface="CiscoSansTT Medium"/>
                <a:cs typeface="CiscoSansTT Medium"/>
              </a:rPr>
              <a:t>+</a:t>
            </a:r>
          </a:p>
        </p:txBody>
      </p:sp>
      <p:sp>
        <p:nvSpPr>
          <p:cNvPr id="19" name="Rounded Rectangle 18">
            <a:extLst>
              <a:ext uri="{FF2B5EF4-FFF2-40B4-BE49-F238E27FC236}">
                <a16:creationId xmlns:a16="http://schemas.microsoft.com/office/drawing/2014/main" id="{A5377F8E-C8A7-4E79-92B3-3E9549EC1889}"/>
              </a:ext>
            </a:extLst>
          </p:cNvPr>
          <p:cNvSpPr>
            <a:spLocks noGrp="1"/>
          </p:cNvSpPr>
          <p:nvPr/>
        </p:nvSpPr>
        <p:spPr>
          <a:xfrm>
            <a:off x="7124700" y="4333875"/>
            <a:ext cx="2343150" cy="419100"/>
          </a:xfrm>
          <a:prstGeom prst="roundRect">
            <a:avLst>
              <a:gd name="adj" fmla="val 20000"/>
            </a:avLst>
          </a:prstGeom>
          <a:solidFill>
            <a:srgbClr val="0860FE"/>
          </a:solidFill>
          <a:ln w="0">
            <a:noFill/>
          </a:ln>
        </p:spPr>
        <p:txBody>
          <a:bodyPr anchor="ctr">
            <a:noAutofit/>
          </a:bodyPr>
          <a:lstStyle>
            <a:defPPr algn="ctr">
              <a:defRPr sz="1650" b="1">
                <a:solidFill>
                  <a:srgbClr val="FFFFFF"/>
                </a:solidFill>
                <a:latin typeface="CiscoSansTT Medium"/>
                <a:ea typeface="CiscoSansTT Medium"/>
                <a:cs typeface="CiscoSansTT Medium"/>
              </a:defRPr>
            </a:defPPr>
            <a:lvl1pPr algn="ctr">
              <a:defRPr sz="1650" b="1">
                <a:solidFill>
                  <a:srgbClr val="FFFFFF"/>
                </a:solidFill>
                <a:latin typeface="CiscoSansTT Medium"/>
                <a:ea typeface="CiscoSansTT Medium"/>
                <a:cs typeface="CiscoSansTT Medium"/>
              </a:defRPr>
            </a:lvl1pPr>
            <a:lvl2pPr algn="ctr">
              <a:defRPr sz="1650" b="1">
                <a:solidFill>
                  <a:srgbClr val="FFFFFF"/>
                </a:solidFill>
                <a:latin typeface="CiscoSansTT Medium"/>
                <a:ea typeface="CiscoSansTT Medium"/>
                <a:cs typeface="CiscoSansTT Medium"/>
              </a:defRPr>
            </a:lvl2pPr>
            <a:lvl3pPr algn="ctr">
              <a:defRPr sz="1650" b="1">
                <a:solidFill>
                  <a:srgbClr val="FFFFFF"/>
                </a:solidFill>
                <a:latin typeface="CiscoSansTT Medium"/>
                <a:ea typeface="CiscoSansTT Medium"/>
                <a:cs typeface="CiscoSansTT Medium"/>
              </a:defRPr>
            </a:lvl3pPr>
            <a:lvl4pPr algn="ctr">
              <a:defRPr sz="1650" b="1">
                <a:solidFill>
                  <a:srgbClr val="FFFFFF"/>
                </a:solidFill>
                <a:latin typeface="CiscoSansTT Medium"/>
                <a:ea typeface="CiscoSansTT Medium"/>
                <a:cs typeface="CiscoSansTT Medium"/>
              </a:defRPr>
            </a:lvl4pPr>
            <a:lvl5pPr algn="ctr">
              <a:defRPr sz="1650" b="1">
                <a:solidFill>
                  <a:srgbClr val="FFFFFF"/>
                </a:solidFill>
                <a:latin typeface="CiscoSansTT Medium"/>
                <a:ea typeface="CiscoSansTT Medium"/>
                <a:cs typeface="CiscoSansTT Medium"/>
              </a:defRPr>
            </a:lvl5pPr>
            <a:lvl6pPr algn="ctr">
              <a:defRPr sz="1650" b="1">
                <a:solidFill>
                  <a:srgbClr val="FFFFFF"/>
                </a:solidFill>
                <a:latin typeface="CiscoSansTT Medium"/>
                <a:ea typeface="CiscoSansTT Medium"/>
                <a:cs typeface="CiscoSansTT Medium"/>
              </a:defRPr>
            </a:lvl6pPr>
            <a:lvl7pPr algn="ctr">
              <a:defRPr sz="1650" b="1">
                <a:solidFill>
                  <a:srgbClr val="FFFFFF"/>
                </a:solidFill>
                <a:latin typeface="CiscoSansTT Medium"/>
                <a:ea typeface="CiscoSansTT Medium"/>
                <a:cs typeface="CiscoSansTT Medium"/>
              </a:defRPr>
            </a:lvl7pPr>
            <a:lvl8pPr algn="ctr">
              <a:defRPr sz="1650" b="1">
                <a:solidFill>
                  <a:srgbClr val="FFFFFF"/>
                </a:solidFill>
                <a:latin typeface="CiscoSansTT Medium"/>
                <a:ea typeface="CiscoSansTT Medium"/>
                <a:cs typeface="CiscoSansTT Medium"/>
              </a:defRPr>
            </a:lvl8pPr>
            <a:lvl9pPr algn="ctr">
              <a:defRPr sz="1650" b="1">
                <a:solidFill>
                  <a:srgbClr val="FFFFFF"/>
                </a:solidFill>
                <a:latin typeface="CiscoSansTT Medium"/>
                <a:ea typeface="CiscoSansTT Medium"/>
                <a:cs typeface="CiscoSansTT Medium"/>
              </a:defRPr>
            </a:lvl9pPr>
          </a:lstStyle>
          <a:p>
            <a:pPr algn="ctr">
              <a:buNone/>
              <a:defRPr sz="1650" b="1">
                <a:solidFill>
                  <a:srgbClr val="FFFFFF"/>
                </a:solidFill>
                <a:latin typeface="CiscoSansTT Medium"/>
                <a:ea typeface="CiscoSansTT Medium"/>
                <a:cs typeface="CiscoSansTT Medium"/>
              </a:defRPr>
            </a:pPr>
            <a:r>
              <a:rPr sz="1650" b="1">
                <a:solidFill>
                  <a:srgbClr val="FFFFFF"/>
                </a:solidFill>
                <a:latin typeface="CiscoSansTT Medium"/>
                <a:ea typeface="CiscoSansTT Medium"/>
                <a:cs typeface="CiscoSansTT Medium"/>
              </a:rPr>
              <a:t>Cilium datapath</a:t>
            </a:r>
          </a:p>
        </p:txBody>
      </p:sp>
      <p:sp>
        <p:nvSpPr>
          <p:cNvPr id="20" name="Rounded Rectangle 19">
            <a:extLst>
              <a:ext uri="{FF2B5EF4-FFF2-40B4-BE49-F238E27FC236}">
                <a16:creationId xmlns:a16="http://schemas.microsoft.com/office/drawing/2014/main" id="{991B3726-39BE-47A6-8FF9-D40A56F03B4F}"/>
              </a:ext>
            </a:extLst>
          </p:cNvPr>
          <p:cNvSpPr>
            <a:spLocks noGrp="1"/>
          </p:cNvSpPr>
          <p:nvPr/>
        </p:nvSpPr>
        <p:spPr>
          <a:xfrm>
            <a:off x="2724150" y="4914900"/>
            <a:ext cx="1428750" cy="419100"/>
          </a:xfrm>
          <a:prstGeom prst="roundRect">
            <a:avLst>
              <a:gd name="adj" fmla="val 20000"/>
            </a:avLst>
          </a:prstGeom>
          <a:solidFill>
            <a:srgbClr val="FFFFFF"/>
          </a:solidFill>
          <a:ln w="0">
            <a:noFill/>
          </a:ln>
        </p:spPr>
        <p:txBody>
          <a:bodyPr anchor="ctr">
            <a:noAutofit/>
          </a:bodyPr>
          <a:lstStyle>
            <a:defPPr algn="ctr">
              <a:defRPr sz="1650" b="1">
                <a:solidFill>
                  <a:srgbClr val="07182A"/>
                </a:solidFill>
                <a:latin typeface="CiscoSansTT Medium"/>
                <a:ea typeface="CiscoSansTT Medium"/>
                <a:cs typeface="CiscoSansTT Medium"/>
              </a:defRPr>
            </a:defPPr>
            <a:lvl1pPr algn="ctr">
              <a:defRPr sz="1650" b="1">
                <a:solidFill>
                  <a:srgbClr val="07182A"/>
                </a:solidFill>
                <a:latin typeface="CiscoSansTT Medium"/>
                <a:ea typeface="CiscoSansTT Medium"/>
                <a:cs typeface="CiscoSansTT Medium"/>
              </a:defRPr>
            </a:lvl1pPr>
            <a:lvl2pPr algn="ctr">
              <a:defRPr sz="1650" b="1">
                <a:solidFill>
                  <a:srgbClr val="07182A"/>
                </a:solidFill>
                <a:latin typeface="CiscoSansTT Medium"/>
                <a:ea typeface="CiscoSansTT Medium"/>
                <a:cs typeface="CiscoSansTT Medium"/>
              </a:defRPr>
            </a:lvl2pPr>
            <a:lvl3pPr algn="ctr">
              <a:defRPr sz="1650" b="1">
                <a:solidFill>
                  <a:srgbClr val="07182A"/>
                </a:solidFill>
                <a:latin typeface="CiscoSansTT Medium"/>
                <a:ea typeface="CiscoSansTT Medium"/>
                <a:cs typeface="CiscoSansTT Medium"/>
              </a:defRPr>
            </a:lvl3pPr>
            <a:lvl4pPr algn="ctr">
              <a:defRPr sz="1650" b="1">
                <a:solidFill>
                  <a:srgbClr val="07182A"/>
                </a:solidFill>
                <a:latin typeface="CiscoSansTT Medium"/>
                <a:ea typeface="CiscoSansTT Medium"/>
                <a:cs typeface="CiscoSansTT Medium"/>
              </a:defRPr>
            </a:lvl4pPr>
            <a:lvl5pPr algn="ctr">
              <a:defRPr sz="1650" b="1">
                <a:solidFill>
                  <a:srgbClr val="07182A"/>
                </a:solidFill>
                <a:latin typeface="CiscoSansTT Medium"/>
                <a:ea typeface="CiscoSansTT Medium"/>
                <a:cs typeface="CiscoSansTT Medium"/>
              </a:defRPr>
            </a:lvl5pPr>
            <a:lvl6pPr algn="ctr">
              <a:defRPr sz="1650" b="1">
                <a:solidFill>
                  <a:srgbClr val="07182A"/>
                </a:solidFill>
                <a:latin typeface="CiscoSansTT Medium"/>
                <a:ea typeface="CiscoSansTT Medium"/>
                <a:cs typeface="CiscoSansTT Medium"/>
              </a:defRPr>
            </a:lvl6pPr>
            <a:lvl7pPr algn="ctr">
              <a:defRPr sz="1650" b="1">
                <a:solidFill>
                  <a:srgbClr val="07182A"/>
                </a:solidFill>
                <a:latin typeface="CiscoSansTT Medium"/>
                <a:ea typeface="CiscoSansTT Medium"/>
                <a:cs typeface="CiscoSansTT Medium"/>
              </a:defRPr>
            </a:lvl7pPr>
            <a:lvl8pPr algn="ctr">
              <a:defRPr sz="1650" b="1">
                <a:solidFill>
                  <a:srgbClr val="07182A"/>
                </a:solidFill>
                <a:latin typeface="CiscoSansTT Medium"/>
                <a:ea typeface="CiscoSansTT Medium"/>
                <a:cs typeface="CiscoSansTT Medium"/>
              </a:defRPr>
            </a:lvl8pPr>
            <a:lvl9pPr algn="ctr">
              <a:defRPr sz="1650" b="1">
                <a:solidFill>
                  <a:srgbClr val="07182A"/>
                </a:solidFill>
                <a:latin typeface="CiscoSansTT Medium"/>
                <a:ea typeface="CiscoSansTT Medium"/>
                <a:cs typeface="CiscoSansTT Medium"/>
              </a:defRPr>
            </a:lvl9pPr>
          </a:lstStyle>
          <a:p>
            <a:pPr algn="ctr">
              <a:buNone/>
              <a:defRPr sz="1650" b="1">
                <a:solidFill>
                  <a:srgbClr val="07182A"/>
                </a:solidFill>
                <a:latin typeface="CiscoSansTT Medium"/>
                <a:ea typeface="CiscoSansTT Medium"/>
                <a:cs typeface="CiscoSansTT Medium"/>
              </a:defRPr>
            </a:pPr>
            <a:r>
              <a:rPr sz="1650" b="1">
                <a:solidFill>
                  <a:srgbClr val="07182A"/>
                </a:solidFill>
                <a:latin typeface="CiscoSansTT Medium"/>
                <a:ea typeface="CiscoSansTT Medium"/>
                <a:cs typeface="CiscoSansTT Medium"/>
              </a:rPr>
              <a:t>TC egress</a:t>
            </a:r>
          </a:p>
        </p:txBody>
      </p:sp>
      <p:sp>
        <p:nvSpPr>
          <p:cNvPr id="21" name="Rounded Rectangle 20">
            <a:extLst>
              <a:ext uri="{FF2B5EF4-FFF2-40B4-BE49-F238E27FC236}">
                <a16:creationId xmlns:a16="http://schemas.microsoft.com/office/drawing/2014/main" id="{E819752B-899A-4C7E-BF89-47C6539C8406}"/>
              </a:ext>
            </a:extLst>
          </p:cNvPr>
          <p:cNvSpPr>
            <a:spLocks noGrp="1"/>
          </p:cNvSpPr>
          <p:nvPr/>
        </p:nvSpPr>
        <p:spPr>
          <a:xfrm>
            <a:off x="4400550" y="4914900"/>
            <a:ext cx="2095500" cy="419100"/>
          </a:xfrm>
          <a:prstGeom prst="roundRect">
            <a:avLst>
              <a:gd name="adj" fmla="val 20000"/>
            </a:avLst>
          </a:prstGeom>
          <a:solidFill>
            <a:srgbClr val="FF007F"/>
          </a:solidFill>
          <a:ln w="0">
            <a:noFill/>
          </a:ln>
        </p:spPr>
        <p:txBody>
          <a:bodyPr anchor="ctr">
            <a:noAutofit/>
          </a:bodyPr>
          <a:lstStyle>
            <a:defPPr algn="ctr">
              <a:defRPr sz="1650" b="1">
                <a:solidFill>
                  <a:srgbClr val="FFFFFF"/>
                </a:solidFill>
                <a:latin typeface="CiscoSansTT Medium"/>
                <a:ea typeface="CiscoSansTT Medium"/>
                <a:cs typeface="CiscoSansTT Medium"/>
              </a:defRPr>
            </a:defPPr>
            <a:lvl1pPr algn="ctr">
              <a:buNone/>
              <a:defRPr sz="1650" b="1">
                <a:solidFill>
                  <a:srgbClr val="FFFFFF"/>
                </a:solidFill>
                <a:latin typeface="CiscoSansTT Medium"/>
                <a:ea typeface="CiscoSansTT Medium"/>
                <a:cs typeface="CiscoSansTT Medium"/>
              </a:defRPr>
            </a:lvl1pPr>
            <a:lvl2pPr algn="ctr">
              <a:buNone/>
              <a:defRPr sz="1650" b="1">
                <a:solidFill>
                  <a:srgbClr val="FFFFFF"/>
                </a:solidFill>
                <a:latin typeface="CiscoSansTT Medium"/>
                <a:ea typeface="CiscoSansTT Medium"/>
                <a:cs typeface="CiscoSansTT Medium"/>
              </a:defRPr>
            </a:lvl2pPr>
            <a:lvl3pPr algn="ctr">
              <a:buNone/>
              <a:defRPr sz="1650" b="1">
                <a:solidFill>
                  <a:srgbClr val="FFFFFF"/>
                </a:solidFill>
                <a:latin typeface="CiscoSansTT Medium"/>
                <a:ea typeface="CiscoSansTT Medium"/>
                <a:cs typeface="CiscoSansTT Medium"/>
              </a:defRPr>
            </a:lvl3pPr>
            <a:lvl4pPr algn="ctr">
              <a:buNone/>
              <a:defRPr sz="1650" b="1">
                <a:solidFill>
                  <a:srgbClr val="FFFFFF"/>
                </a:solidFill>
                <a:latin typeface="CiscoSansTT Medium"/>
                <a:ea typeface="CiscoSansTT Medium"/>
                <a:cs typeface="CiscoSansTT Medium"/>
              </a:defRPr>
            </a:lvl4pPr>
            <a:lvl5pPr algn="ctr">
              <a:buNone/>
              <a:defRPr sz="1650" b="1">
                <a:solidFill>
                  <a:srgbClr val="FFFFFF"/>
                </a:solidFill>
                <a:latin typeface="CiscoSansTT Medium"/>
                <a:ea typeface="CiscoSansTT Medium"/>
                <a:cs typeface="CiscoSansTT Medium"/>
              </a:defRPr>
            </a:lvl5pPr>
            <a:lvl6pPr algn="ctr">
              <a:buNone/>
              <a:defRPr sz="1650" b="1">
                <a:solidFill>
                  <a:srgbClr val="FFFFFF"/>
                </a:solidFill>
                <a:latin typeface="CiscoSansTT Medium"/>
                <a:ea typeface="CiscoSansTT Medium"/>
                <a:cs typeface="CiscoSansTT Medium"/>
              </a:defRPr>
            </a:lvl6pPr>
            <a:lvl7pPr algn="ctr">
              <a:buNone/>
              <a:defRPr sz="1650" b="1">
                <a:solidFill>
                  <a:srgbClr val="FFFFFF"/>
                </a:solidFill>
                <a:latin typeface="CiscoSansTT Medium"/>
                <a:ea typeface="CiscoSansTT Medium"/>
                <a:cs typeface="CiscoSansTT Medium"/>
              </a:defRPr>
            </a:lvl7pPr>
            <a:lvl8pPr algn="ctr">
              <a:buNone/>
              <a:defRPr sz="1650" b="1">
                <a:solidFill>
                  <a:srgbClr val="FFFFFF"/>
                </a:solidFill>
                <a:latin typeface="CiscoSansTT Medium"/>
                <a:ea typeface="CiscoSansTT Medium"/>
                <a:cs typeface="CiscoSansTT Medium"/>
              </a:defRPr>
            </a:lvl8pPr>
            <a:lvl9pPr algn="ctr">
              <a:buNone/>
              <a:defRPr sz="1650" b="1">
                <a:solidFill>
                  <a:srgbClr val="FFFFFF"/>
                </a:solidFill>
                <a:latin typeface="CiscoSansTT Medium"/>
                <a:ea typeface="CiscoSansTT Medium"/>
                <a:cs typeface="CiscoSansTT Medium"/>
              </a:defRPr>
            </a:lvl9pPr>
          </a:lstStyle>
          <a:p>
            <a:pPr algn="ctr">
              <a:buNone/>
              <a:defRPr sz="1650" b="1">
                <a:solidFill>
                  <a:srgbClr val="FFFFFF"/>
                </a:solidFill>
                <a:latin typeface="CiscoSansTT Medium"/>
                <a:ea typeface="CiscoSansTT Medium"/>
                <a:cs typeface="CiscoSansTT Medium"/>
              </a:defRPr>
            </a:pPr>
            <a:r>
              <a:rPr sz="1650" b="1">
                <a:solidFill>
                  <a:srgbClr val="FFFFFF"/>
                </a:solidFill>
                <a:latin typeface="CiscoSansTT Medium"/>
                <a:ea typeface="CiscoSansTT Medium"/>
                <a:cs typeface="CiscoSansTT Medium"/>
              </a:rPr>
              <a:t>OBI flow metrics</a:t>
            </a:r>
          </a:p>
        </p:txBody>
      </p:sp>
      <p:sp>
        <p:nvSpPr>
          <p:cNvPr id="22" name="Rectangle 21">
            <a:extLst>
              <a:ext uri="{FF2B5EF4-FFF2-40B4-BE49-F238E27FC236}">
                <a16:creationId xmlns:a16="http://schemas.microsoft.com/office/drawing/2014/main" id="{53F2990E-ED0E-4915-9483-1143960BA0A9}"/>
              </a:ext>
            </a:extLst>
          </p:cNvPr>
          <p:cNvSpPr>
            <a:spLocks noGrp="1"/>
          </p:cNvSpPr>
          <p:nvPr/>
        </p:nvSpPr>
        <p:spPr>
          <a:xfrm>
            <a:off x="6648450" y="4991100"/>
            <a:ext cx="323850" cy="266700"/>
          </a:xfrm>
          <a:prstGeom prst="rect">
            <a:avLst/>
          </a:prstGeom>
          <a:noFill/>
          <a:ln w="0">
            <a:noFill/>
          </a:ln>
        </p:spPr>
        <p:txBody>
          <a:bodyPr anchor="t">
            <a:normAutofit fontScale="83333" lnSpcReduction="20000"/>
          </a:bodyPr>
          <a:lstStyle/>
          <a:p>
            <a:pPr algn="ctr">
              <a:buNone/>
              <a:defRPr sz="1725" b="1">
                <a:solidFill>
                  <a:srgbClr val="FFFFFF"/>
                </a:solidFill>
                <a:latin typeface="CiscoSansTT Medium"/>
                <a:ea typeface="CiscoSansTT Medium"/>
                <a:cs typeface="CiscoSansTT Medium"/>
              </a:defRPr>
            </a:pPr>
            <a:r>
              <a:rPr sz="1725" b="1">
                <a:solidFill>
                  <a:srgbClr val="FFFFFF"/>
                </a:solidFill>
                <a:latin typeface="CiscoSansTT Medium"/>
                <a:ea typeface="CiscoSansTT Medium"/>
                <a:cs typeface="CiscoSansTT Medium"/>
              </a:rPr>
              <a:t>+</a:t>
            </a:r>
          </a:p>
        </p:txBody>
      </p:sp>
      <p:sp>
        <p:nvSpPr>
          <p:cNvPr id="23" name="Rounded Rectangle 22">
            <a:extLst>
              <a:ext uri="{FF2B5EF4-FFF2-40B4-BE49-F238E27FC236}">
                <a16:creationId xmlns:a16="http://schemas.microsoft.com/office/drawing/2014/main" id="{A5FFF6D5-7BCC-4B0B-9620-BB834FEE02EF}"/>
              </a:ext>
            </a:extLst>
          </p:cNvPr>
          <p:cNvSpPr>
            <a:spLocks noGrp="1"/>
          </p:cNvSpPr>
          <p:nvPr/>
        </p:nvSpPr>
        <p:spPr>
          <a:xfrm>
            <a:off x="7124700" y="4914900"/>
            <a:ext cx="2343150" cy="419100"/>
          </a:xfrm>
          <a:prstGeom prst="roundRect">
            <a:avLst>
              <a:gd name="adj" fmla="val 20000"/>
            </a:avLst>
          </a:prstGeom>
          <a:solidFill>
            <a:srgbClr val="0860FE"/>
          </a:solidFill>
          <a:ln w="0">
            <a:noFill/>
          </a:ln>
        </p:spPr>
        <p:txBody>
          <a:bodyPr anchor="ctr">
            <a:noAutofit/>
          </a:bodyPr>
          <a:lstStyle>
            <a:defPPr algn="ctr">
              <a:defRPr sz="1650" b="1">
                <a:solidFill>
                  <a:srgbClr val="FFFFFF"/>
                </a:solidFill>
                <a:latin typeface="CiscoSansTT Medium"/>
                <a:ea typeface="CiscoSansTT Medium"/>
                <a:cs typeface="CiscoSansTT Medium"/>
              </a:defRPr>
            </a:defPPr>
            <a:lvl1pPr algn="ctr">
              <a:defRPr sz="1650" b="1">
                <a:solidFill>
                  <a:srgbClr val="FFFFFF"/>
                </a:solidFill>
                <a:latin typeface="CiscoSansTT Medium"/>
                <a:ea typeface="CiscoSansTT Medium"/>
                <a:cs typeface="CiscoSansTT Medium"/>
              </a:defRPr>
            </a:lvl1pPr>
            <a:lvl2pPr algn="ctr">
              <a:defRPr sz="1650" b="1">
                <a:solidFill>
                  <a:srgbClr val="FFFFFF"/>
                </a:solidFill>
                <a:latin typeface="CiscoSansTT Medium"/>
                <a:ea typeface="CiscoSansTT Medium"/>
                <a:cs typeface="CiscoSansTT Medium"/>
              </a:defRPr>
            </a:lvl2pPr>
            <a:lvl3pPr algn="ctr">
              <a:defRPr sz="1650" b="1">
                <a:solidFill>
                  <a:srgbClr val="FFFFFF"/>
                </a:solidFill>
                <a:latin typeface="CiscoSansTT Medium"/>
                <a:ea typeface="CiscoSansTT Medium"/>
                <a:cs typeface="CiscoSansTT Medium"/>
              </a:defRPr>
            </a:lvl3pPr>
            <a:lvl4pPr algn="ctr">
              <a:defRPr sz="1650" b="1">
                <a:solidFill>
                  <a:srgbClr val="FFFFFF"/>
                </a:solidFill>
                <a:latin typeface="CiscoSansTT Medium"/>
                <a:ea typeface="CiscoSansTT Medium"/>
                <a:cs typeface="CiscoSansTT Medium"/>
              </a:defRPr>
            </a:lvl4pPr>
            <a:lvl5pPr algn="ctr">
              <a:defRPr sz="1650" b="1">
                <a:solidFill>
                  <a:srgbClr val="FFFFFF"/>
                </a:solidFill>
                <a:latin typeface="CiscoSansTT Medium"/>
                <a:ea typeface="CiscoSansTT Medium"/>
                <a:cs typeface="CiscoSansTT Medium"/>
              </a:defRPr>
            </a:lvl5pPr>
            <a:lvl6pPr algn="ctr">
              <a:defRPr sz="1650" b="1">
                <a:solidFill>
                  <a:srgbClr val="FFFFFF"/>
                </a:solidFill>
                <a:latin typeface="CiscoSansTT Medium"/>
                <a:ea typeface="CiscoSansTT Medium"/>
                <a:cs typeface="CiscoSansTT Medium"/>
              </a:defRPr>
            </a:lvl6pPr>
            <a:lvl7pPr algn="ctr">
              <a:defRPr sz="1650" b="1">
                <a:solidFill>
                  <a:srgbClr val="FFFFFF"/>
                </a:solidFill>
                <a:latin typeface="CiscoSansTT Medium"/>
                <a:ea typeface="CiscoSansTT Medium"/>
                <a:cs typeface="CiscoSansTT Medium"/>
              </a:defRPr>
            </a:lvl7pPr>
            <a:lvl8pPr algn="ctr">
              <a:defRPr sz="1650" b="1">
                <a:solidFill>
                  <a:srgbClr val="FFFFFF"/>
                </a:solidFill>
                <a:latin typeface="CiscoSansTT Medium"/>
                <a:ea typeface="CiscoSansTT Medium"/>
                <a:cs typeface="CiscoSansTT Medium"/>
              </a:defRPr>
            </a:lvl8pPr>
            <a:lvl9pPr algn="ctr">
              <a:defRPr sz="1650" b="1">
                <a:solidFill>
                  <a:srgbClr val="FFFFFF"/>
                </a:solidFill>
                <a:latin typeface="CiscoSansTT Medium"/>
                <a:ea typeface="CiscoSansTT Medium"/>
                <a:cs typeface="CiscoSansTT Medium"/>
              </a:defRPr>
            </a:lvl9pPr>
          </a:lstStyle>
          <a:p>
            <a:pPr algn="ctr">
              <a:buNone/>
              <a:defRPr sz="1650" b="1">
                <a:solidFill>
                  <a:srgbClr val="FFFFFF"/>
                </a:solidFill>
                <a:latin typeface="CiscoSansTT Medium"/>
                <a:ea typeface="CiscoSansTT Medium"/>
                <a:cs typeface="CiscoSansTT Medium"/>
              </a:defRPr>
            </a:pPr>
            <a:r>
              <a:rPr sz="1650" b="1">
                <a:solidFill>
                  <a:srgbClr val="FFFFFF"/>
                </a:solidFill>
                <a:latin typeface="CiscoSansTT Medium"/>
                <a:ea typeface="CiscoSansTT Medium"/>
                <a:cs typeface="CiscoSansTT Medium"/>
              </a:rPr>
              <a:t>Cilium datapath</a:t>
            </a:r>
          </a:p>
        </p:txBody>
      </p:sp>
      <p:cxnSp>
        <p:nvCxnSpPr>
          <p:cNvPr id="361" name="Straight Arrow Connector 48">
            <a:extLst>
              <a:ext uri="{FF2B5EF4-FFF2-40B4-BE49-F238E27FC236}">
                <a16:creationId xmlns:a16="http://schemas.microsoft.com/office/drawing/2014/main" id="{1F7AD18C-6BE3-4C33-A621-A47780B3BC62}"/>
              </a:ext>
            </a:extLst>
          </p:cNvPr>
          <p:cNvCxnSpPr>
            <a:stCxn id="10" idx="2"/>
            <a:endCxn id="14" idx="0"/>
          </p:cNvCxnSpPr>
          <p:nvPr/>
        </p:nvCxnSpPr>
        <p:spPr>
          <a:xfrm>
            <a:off x="6096000" y="3057525"/>
            <a:ext cx="0" cy="609600"/>
          </a:xfrm>
          <a:prstGeom prst="straightConnector1">
            <a:avLst/>
          </a:prstGeom>
          <a:ln w="23813">
            <a:solidFill>
              <a:srgbClr val="07182A"/>
            </a:solidFill>
            <a:prstDash val="solid"/>
          </a:ln>
        </p:spPr>
      </p:cxnSp>
      <p:sp>
        <p:nvSpPr>
          <p:cNvPr id="363" name="tc-feature-scope">
            <a:extLst>
              <a:ext uri="{FF2B5EF4-FFF2-40B4-BE49-F238E27FC236}">
                <a16:creationId xmlns:a16="http://schemas.microsoft.com/office/drawing/2014/main" id="{33E18D36-F8B6-4805-9305-83192A381F48}"/>
              </a:ext>
            </a:extLst>
          </p:cNvPr>
          <p:cNvSpPr>
            <a:spLocks noGrp="1"/>
          </p:cNvSpPr>
          <p:nvPr/>
        </p:nvSpPr>
        <p:spPr>
          <a:xfrm>
            <a:off x="666750" y="1143000"/>
            <a:ext cx="10858500" cy="495300"/>
          </a:xfrm>
          <a:prstGeom prst="rect">
            <a:avLst/>
          </a:prstGeom>
          <a:noFill/>
          <a:ln w="0">
            <a:noFill/>
          </a:ln>
        </p:spPr>
        <p:txBody>
          <a:bodyPr anchor="ctr">
            <a:noAutofit/>
          </a:bodyPr>
          <a:lstStyle>
            <a:defPPr algn="l">
              <a:defRPr sz="2025" b="0">
                <a:solidFill>
                  <a:srgbClr val="686B6B"/>
                </a:solidFill>
                <a:latin typeface="CiscoSansTT"/>
                <a:ea typeface="CiscoSansTT"/>
                <a:cs typeface="CiscoSansTT"/>
              </a:defRPr>
            </a:defPPr>
            <a:lvl1pPr algn="l">
              <a:buNone/>
              <a:defRPr sz="2025" b="0">
                <a:solidFill>
                  <a:srgbClr val="686B6B"/>
                </a:solidFill>
                <a:latin typeface="CiscoSansTT"/>
                <a:ea typeface="CiscoSansTT"/>
                <a:cs typeface="CiscoSansTT"/>
              </a:defRPr>
            </a:lvl1pPr>
            <a:lvl2pPr algn="l">
              <a:buNone/>
              <a:defRPr sz="2025" b="0">
                <a:solidFill>
                  <a:srgbClr val="686B6B"/>
                </a:solidFill>
                <a:latin typeface="CiscoSansTT"/>
                <a:ea typeface="CiscoSansTT"/>
                <a:cs typeface="CiscoSansTT"/>
              </a:defRPr>
            </a:lvl2pPr>
            <a:lvl3pPr algn="l">
              <a:buNone/>
              <a:defRPr sz="2025" b="0">
                <a:solidFill>
                  <a:srgbClr val="686B6B"/>
                </a:solidFill>
                <a:latin typeface="CiscoSansTT"/>
                <a:ea typeface="CiscoSansTT"/>
                <a:cs typeface="CiscoSansTT"/>
              </a:defRPr>
            </a:lvl3pPr>
            <a:lvl4pPr algn="l">
              <a:buNone/>
              <a:defRPr sz="2025" b="0">
                <a:solidFill>
                  <a:srgbClr val="686B6B"/>
                </a:solidFill>
                <a:latin typeface="CiscoSansTT"/>
                <a:ea typeface="CiscoSansTT"/>
                <a:cs typeface="CiscoSansTT"/>
              </a:defRPr>
            </a:lvl4pPr>
            <a:lvl5pPr algn="l">
              <a:buNone/>
              <a:defRPr sz="2025" b="0">
                <a:solidFill>
                  <a:srgbClr val="686B6B"/>
                </a:solidFill>
                <a:latin typeface="CiscoSansTT"/>
                <a:ea typeface="CiscoSansTT"/>
                <a:cs typeface="CiscoSansTT"/>
              </a:defRPr>
            </a:lvl5pPr>
            <a:lvl6pPr algn="l">
              <a:buNone/>
              <a:defRPr sz="2025" b="0">
                <a:solidFill>
                  <a:srgbClr val="686B6B"/>
                </a:solidFill>
                <a:latin typeface="CiscoSansTT"/>
                <a:ea typeface="CiscoSansTT"/>
                <a:cs typeface="CiscoSansTT"/>
              </a:defRPr>
            </a:lvl6pPr>
            <a:lvl7pPr algn="l">
              <a:buNone/>
              <a:defRPr sz="2025" b="0">
                <a:solidFill>
                  <a:srgbClr val="686B6B"/>
                </a:solidFill>
                <a:latin typeface="CiscoSansTT"/>
                <a:ea typeface="CiscoSansTT"/>
                <a:cs typeface="CiscoSansTT"/>
              </a:defRPr>
            </a:lvl7pPr>
            <a:lvl8pPr algn="l">
              <a:buNone/>
              <a:defRPr sz="2025" b="0">
                <a:solidFill>
                  <a:srgbClr val="686B6B"/>
                </a:solidFill>
                <a:latin typeface="CiscoSansTT"/>
                <a:ea typeface="CiscoSansTT"/>
                <a:cs typeface="CiscoSansTT"/>
              </a:defRPr>
            </a:lvl8pPr>
            <a:lvl9pPr algn="l">
              <a:buNone/>
              <a:defRPr sz="2025" b="0">
                <a:solidFill>
                  <a:srgbClr val="686B6B"/>
                </a:solidFill>
                <a:latin typeface="CiscoSansTT"/>
                <a:ea typeface="CiscoSansTT"/>
                <a:cs typeface="CiscoSansTT"/>
              </a:defRPr>
            </a:lvl9pPr>
          </a:lstStyle>
          <a:p>
            <a:pPr algn="l">
              <a:buNone/>
              <a:defRPr sz="2025" b="0">
                <a:solidFill>
                  <a:srgbClr val="686B6B"/>
                </a:solidFill>
                <a:latin typeface="CiscoSansTT"/>
                <a:ea typeface="CiscoSansTT"/>
                <a:cs typeface="CiscoSansTT"/>
              </a:defRPr>
            </a:pPr>
            <a:r>
              <a:rPr sz="2025" b="0">
                <a:solidFill>
                  <a:srgbClr val="686B6B"/>
                </a:solidFill>
                <a:latin typeface="CiscoSansTT"/>
                <a:ea typeface="CiscoSansTT"/>
                <a:cs typeface="CiscoSansTT"/>
              </a:rPr>
              <a:t>When OBI network capture uses TC, both agents can attach here.</a:t>
            </a:r>
          </a:p>
        </p:txBody>
      </p:sp>
      <p:sp>
        <p:nvSpPr>
          <p:cNvPr id="364" name="direction-reference">
            <a:extLst>
              <a:ext uri="{FF2B5EF4-FFF2-40B4-BE49-F238E27FC236}">
                <a16:creationId xmlns:a16="http://schemas.microsoft.com/office/drawing/2014/main" id="{A6AC3E28-F5D6-49FC-8023-804E31296162}"/>
              </a:ext>
            </a:extLst>
          </p:cNvPr>
          <p:cNvSpPr>
            <a:spLocks noGrp="1"/>
          </p:cNvSpPr>
          <p:nvPr/>
        </p:nvSpPr>
        <p:spPr>
          <a:xfrm>
            <a:off x="666750" y="5724525"/>
            <a:ext cx="10858500" cy="409575"/>
          </a:xfrm>
          <a:prstGeom prst="rect">
            <a:avLst/>
          </a:prstGeom>
          <a:noFill/>
          <a:ln w="0">
            <a:noFill/>
          </a:ln>
        </p:spPr>
        <p:txBody>
          <a:bodyPr anchor="ctr">
            <a:noAutofit/>
          </a:bodyPr>
          <a:lstStyle>
            <a:defPPr algn="ctr">
              <a:defRPr sz="1875" b="0">
                <a:solidFill>
                  <a:srgbClr val="686B6B"/>
                </a:solidFill>
                <a:latin typeface="CiscoSansTT"/>
                <a:ea typeface="CiscoSansTT"/>
                <a:cs typeface="CiscoSansTT"/>
              </a:defRPr>
            </a:defPPr>
            <a:lvl1pPr algn="ctr">
              <a:defRPr sz="1875" b="0">
                <a:solidFill>
                  <a:srgbClr val="686B6B"/>
                </a:solidFill>
                <a:latin typeface="CiscoSansTT"/>
                <a:ea typeface="CiscoSansTT"/>
                <a:cs typeface="CiscoSansTT"/>
              </a:defRPr>
            </a:lvl1pPr>
            <a:lvl2pPr algn="ctr">
              <a:defRPr sz="1875" b="0">
                <a:solidFill>
                  <a:srgbClr val="686B6B"/>
                </a:solidFill>
                <a:latin typeface="CiscoSansTT"/>
                <a:ea typeface="CiscoSansTT"/>
                <a:cs typeface="CiscoSansTT"/>
              </a:defRPr>
            </a:lvl2pPr>
            <a:lvl3pPr algn="ctr">
              <a:defRPr sz="1875" b="0">
                <a:solidFill>
                  <a:srgbClr val="686B6B"/>
                </a:solidFill>
                <a:latin typeface="CiscoSansTT"/>
                <a:ea typeface="CiscoSansTT"/>
                <a:cs typeface="CiscoSansTT"/>
              </a:defRPr>
            </a:lvl3pPr>
            <a:lvl4pPr algn="ctr">
              <a:defRPr sz="1875" b="0">
                <a:solidFill>
                  <a:srgbClr val="686B6B"/>
                </a:solidFill>
                <a:latin typeface="CiscoSansTT"/>
                <a:ea typeface="CiscoSansTT"/>
                <a:cs typeface="CiscoSansTT"/>
              </a:defRPr>
            </a:lvl4pPr>
            <a:lvl5pPr algn="ctr">
              <a:defRPr sz="1875" b="0">
                <a:solidFill>
                  <a:srgbClr val="686B6B"/>
                </a:solidFill>
                <a:latin typeface="CiscoSansTT"/>
                <a:ea typeface="CiscoSansTT"/>
                <a:cs typeface="CiscoSansTT"/>
              </a:defRPr>
            </a:lvl5pPr>
            <a:lvl6pPr algn="ctr">
              <a:defRPr sz="1875" b="0">
                <a:solidFill>
                  <a:srgbClr val="686B6B"/>
                </a:solidFill>
                <a:latin typeface="CiscoSansTT"/>
                <a:ea typeface="CiscoSansTT"/>
                <a:cs typeface="CiscoSansTT"/>
              </a:defRPr>
            </a:lvl6pPr>
            <a:lvl7pPr algn="ctr">
              <a:defRPr sz="1875" b="0">
                <a:solidFill>
                  <a:srgbClr val="686B6B"/>
                </a:solidFill>
                <a:latin typeface="CiscoSansTT"/>
                <a:ea typeface="CiscoSansTT"/>
                <a:cs typeface="CiscoSansTT"/>
              </a:defRPr>
            </a:lvl7pPr>
            <a:lvl8pPr algn="ctr">
              <a:defRPr sz="1875" b="0">
                <a:solidFill>
                  <a:srgbClr val="686B6B"/>
                </a:solidFill>
                <a:latin typeface="CiscoSansTT"/>
                <a:ea typeface="CiscoSansTT"/>
                <a:cs typeface="CiscoSansTT"/>
              </a:defRPr>
            </a:lvl8pPr>
            <a:lvl9pPr algn="ctr">
              <a:defRPr sz="1875" b="0">
                <a:solidFill>
                  <a:srgbClr val="686B6B"/>
                </a:solidFill>
                <a:latin typeface="CiscoSansTT"/>
                <a:ea typeface="CiscoSansTT"/>
                <a:cs typeface="CiscoSansTT"/>
              </a:defRPr>
            </a:lvl9pPr>
          </a:lstStyle>
          <a:p>
            <a:pPr algn="ctr">
              <a:defRPr sz="1875" b="0">
                <a:solidFill>
                  <a:srgbClr val="686B6B"/>
                </a:solidFill>
                <a:latin typeface="CiscoSansTT"/>
                <a:ea typeface="CiscoSansTT"/>
                <a:cs typeface="CiscoSansTT"/>
              </a:defRPr>
            </a:pPr>
            <a:r>
              <a:rPr sz="1875" b="0">
                <a:solidFill>
                  <a:srgbClr val="686B6B"/>
                </a:solidFill>
                <a:latin typeface="CiscoSansTT"/>
                <a:ea typeface="CiscoSansTT"/>
                <a:cs typeface="CiscoSansTT"/>
              </a:rPr>
              <a:t>Ingress and egress refer to the host-side interface.</a:t>
            </a:r>
          </a:p>
        </p:txBody>
      </p:sp>
    </p:spTree>
    <p:extLst>
      <p:ext uri="{BB962C8B-B14F-4D97-AF65-F5344CB8AC3E}">
        <p14:creationId xmlns:p14="http://schemas.microsoft.com/office/powerpoint/2010/main" val="76814743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F77D8302-E9B9-45A8-8DDD-64A76D176D1A}"/>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TC ordering protects flow visibility</a:t>
            </a:r>
          </a:p>
        </p:txBody>
      </p:sp>
      <p:sp>
        <p:nvSpPr>
          <p:cNvPr id="7" name="Rectangle 6">
            <a:extLst>
              <a:ext uri="{FF2B5EF4-FFF2-40B4-BE49-F238E27FC236}">
                <a16:creationId xmlns:a16="http://schemas.microsoft.com/office/drawing/2014/main" id="{5849D950-B4D4-4CE5-85CA-9490FD1D80FC}"/>
              </a:ext>
            </a:extLst>
          </p:cNvPr>
          <p:cNvSpPr>
            <a:spLocks noGrp="1"/>
          </p:cNvSpPr>
          <p:nvPr/>
        </p:nvSpPr>
        <p:spPr>
          <a:xfrm>
            <a:off x="1428750" y="4476750"/>
            <a:ext cx="9334500" cy="571500"/>
          </a:xfrm>
          <a:prstGeom prst="rect">
            <a:avLst/>
          </a:prstGeom>
          <a:noFill/>
          <a:ln w="0">
            <a:noFill/>
          </a:ln>
        </p:spPr>
        <p:txBody>
          <a:bodyPr anchor="ctr">
            <a:noAutofit/>
          </a:bodyPr>
          <a:lstStyle>
            <a:defPPr algn="ctr">
              <a:defRPr sz="2100" b="0">
                <a:solidFill>
                  <a:srgbClr val="07182A"/>
                </a:solidFill>
                <a:latin typeface="CiscoSansTT"/>
                <a:ea typeface="CiscoSansTT"/>
                <a:cs typeface="CiscoSansTT"/>
              </a:defRPr>
            </a:defPPr>
            <a:lvl1pPr algn="ctr">
              <a:defRPr sz="2100" b="0">
                <a:solidFill>
                  <a:srgbClr val="07182A"/>
                </a:solidFill>
                <a:latin typeface="CiscoSansTT"/>
                <a:ea typeface="CiscoSansTT"/>
                <a:cs typeface="CiscoSansTT"/>
              </a:defRPr>
            </a:lvl1pPr>
            <a:lvl2pPr algn="ctr">
              <a:defRPr sz="2100" b="0">
                <a:solidFill>
                  <a:srgbClr val="07182A"/>
                </a:solidFill>
                <a:latin typeface="CiscoSansTT"/>
                <a:ea typeface="CiscoSansTT"/>
                <a:cs typeface="CiscoSansTT"/>
              </a:defRPr>
            </a:lvl2pPr>
            <a:lvl3pPr algn="ctr">
              <a:defRPr sz="2100" b="0">
                <a:solidFill>
                  <a:srgbClr val="07182A"/>
                </a:solidFill>
                <a:latin typeface="CiscoSansTT"/>
                <a:ea typeface="CiscoSansTT"/>
                <a:cs typeface="CiscoSansTT"/>
              </a:defRPr>
            </a:lvl3pPr>
            <a:lvl4pPr algn="ctr">
              <a:defRPr sz="2100" b="0">
                <a:solidFill>
                  <a:srgbClr val="07182A"/>
                </a:solidFill>
                <a:latin typeface="CiscoSansTT"/>
                <a:ea typeface="CiscoSansTT"/>
                <a:cs typeface="CiscoSansTT"/>
              </a:defRPr>
            </a:lvl4pPr>
            <a:lvl5pPr algn="ctr">
              <a:defRPr sz="2100" b="0">
                <a:solidFill>
                  <a:srgbClr val="07182A"/>
                </a:solidFill>
                <a:latin typeface="CiscoSansTT"/>
                <a:ea typeface="CiscoSansTT"/>
                <a:cs typeface="CiscoSansTT"/>
              </a:defRPr>
            </a:lvl5pPr>
            <a:lvl6pPr algn="ctr">
              <a:defRPr sz="2100" b="0">
                <a:solidFill>
                  <a:srgbClr val="07182A"/>
                </a:solidFill>
                <a:latin typeface="CiscoSansTT"/>
                <a:ea typeface="CiscoSansTT"/>
                <a:cs typeface="CiscoSansTT"/>
              </a:defRPr>
            </a:lvl6pPr>
            <a:lvl7pPr algn="ctr">
              <a:defRPr sz="2100" b="0">
                <a:solidFill>
                  <a:srgbClr val="07182A"/>
                </a:solidFill>
                <a:latin typeface="CiscoSansTT"/>
                <a:ea typeface="CiscoSansTT"/>
                <a:cs typeface="CiscoSansTT"/>
              </a:defRPr>
            </a:lvl7pPr>
            <a:lvl8pPr algn="ctr">
              <a:defRPr sz="2100" b="0">
                <a:solidFill>
                  <a:srgbClr val="07182A"/>
                </a:solidFill>
                <a:latin typeface="CiscoSansTT"/>
                <a:ea typeface="CiscoSansTT"/>
                <a:cs typeface="CiscoSansTT"/>
              </a:defRPr>
            </a:lvl8pPr>
            <a:lvl9pPr algn="ctr">
              <a:defRPr sz="2100" b="0">
                <a:solidFill>
                  <a:srgbClr val="07182A"/>
                </a:solidFill>
                <a:latin typeface="CiscoSansTT"/>
                <a:ea typeface="CiscoSansTT"/>
                <a:cs typeface="CiscoSansTT"/>
              </a:defRPr>
            </a:lvl9pPr>
          </a:lstStyle>
          <a:p>
            <a:pPr algn="ctr">
              <a:buNone/>
              <a:defRPr sz="2100" b="0">
                <a:solidFill>
                  <a:srgbClr val="07182A"/>
                </a:solidFill>
                <a:latin typeface="CiscoSansTT"/>
                <a:ea typeface="CiscoSansTT"/>
                <a:cs typeface="CiscoSansTT"/>
              </a:defRPr>
            </a:pPr>
            <a:r>
              <a:rPr sz="2100" b="0">
                <a:solidFill>
                  <a:srgbClr val="07182A"/>
                </a:solidFill>
                <a:latin typeface="CiscoSansTT"/>
                <a:ea typeface="CiscoSansTT"/>
                <a:cs typeface="CiscoSansTT"/>
              </a:rPr>
              <a:t>OBI observes the packet before Cilium can change its path or drop it.</a:t>
            </a:r>
          </a:p>
        </p:txBody>
      </p:sp>
      <p:sp>
        <p:nvSpPr>
          <p:cNvPr id="8" name="Rounded Rectangle 7">
            <a:extLst>
              <a:ext uri="{FF2B5EF4-FFF2-40B4-BE49-F238E27FC236}">
                <a16:creationId xmlns:a16="http://schemas.microsoft.com/office/drawing/2014/main" id="{E0211182-A93E-4D75-B6E0-FD340F786B7E}"/>
              </a:ext>
            </a:extLst>
          </p:cNvPr>
          <p:cNvSpPr>
            <a:spLocks noGrp="1"/>
          </p:cNvSpPr>
          <p:nvPr/>
        </p:nvSpPr>
        <p:spPr>
          <a:xfrm>
            <a:off x="4191000" y="5410200"/>
            <a:ext cx="3810000" cy="381000"/>
          </a:xfrm>
          <a:prstGeom prst="roundRect">
            <a:avLst>
              <a:gd name="adj" fmla="val 20000"/>
            </a:avLst>
          </a:prstGeom>
          <a:solidFill>
            <a:srgbClr val="07182A"/>
          </a:solidFill>
          <a:ln w="0">
            <a:noFill/>
          </a:ln>
        </p:spPr>
        <p:txBody>
          <a:bodyPr anchor="ctr">
            <a:normAutofit/>
          </a:bodyPr>
          <a:lstStyle/>
          <a:p>
            <a:pPr algn="ctr">
              <a:buNone/>
              <a:defRPr sz="1575" b="1">
                <a:solidFill>
                  <a:srgbClr val="FFFFFF"/>
                </a:solidFill>
                <a:latin typeface="CiscoSansTT Medium"/>
                <a:ea typeface="CiscoSansTT Medium"/>
                <a:cs typeface="CiscoSansTT Medium"/>
              </a:defRPr>
            </a:pPr>
            <a:r>
              <a:rPr sz="1575" b="1">
                <a:solidFill>
                  <a:srgbClr val="FFFFFF"/>
                </a:solidFill>
                <a:latin typeface="CiscoSansTT Medium"/>
                <a:ea typeface="CiscoSansTT Medium"/>
                <a:cs typeface="CiscoSansTT Medium"/>
              </a:rPr>
              <a:t>ORDER IS CORRECTNESS</a:t>
            </a:r>
          </a:p>
        </p:txBody>
      </p:sp>
      <p:sp>
        <p:nvSpPr>
          <p:cNvPr id="10" name="obi-tc-step">
            <a:extLst>
              <a:ext uri="{FF2B5EF4-FFF2-40B4-BE49-F238E27FC236}">
                <a16:creationId xmlns:a16="http://schemas.microsoft.com/office/drawing/2014/main" id="{6A062542-EA9B-400B-9F22-65A6D4F08617}"/>
              </a:ext>
            </a:extLst>
          </p:cNvPr>
          <p:cNvSpPr>
            <a:spLocks noGrp="1"/>
          </p:cNvSpPr>
          <p:nvPr/>
        </p:nvSpPr>
        <p:spPr>
          <a:xfrm>
            <a:off x="857250" y="2333625"/>
            <a:ext cx="3143250" cy="1524000"/>
          </a:xfrm>
          <a:prstGeom prst="roundRect">
            <a:avLst>
              <a:gd name="adj" fmla="val 4375"/>
            </a:avLst>
          </a:prstGeom>
          <a:solidFill>
            <a:srgbClr val="F6ECF5"/>
          </a:solidFill>
          <a:ln w="11906">
            <a:solidFill>
              <a:srgbClr val="FF007F"/>
            </a:solidFill>
          </a:ln>
        </p:spPr>
        <p:txBody>
          <a:bodyPr anchor="ctr">
            <a:noAutofit/>
          </a:bodyPr>
          <a:lstStyle>
            <a:defPPr algn="ctr">
              <a:defRPr sz="2175" b="0">
                <a:solidFill>
                  <a:srgbClr val="07182A"/>
                </a:solidFill>
                <a:latin typeface="CiscoSansTT"/>
                <a:ea typeface="CiscoSansTT"/>
                <a:cs typeface="CiscoSansTT"/>
              </a:defRPr>
            </a:defPPr>
            <a:lvl1pPr algn="ctr">
              <a:buNone/>
              <a:defRPr sz="2175" b="0">
                <a:solidFill>
                  <a:srgbClr val="07182A"/>
                </a:solidFill>
                <a:latin typeface="CiscoSansTT"/>
                <a:ea typeface="CiscoSansTT"/>
                <a:cs typeface="CiscoSansTT"/>
              </a:defRPr>
            </a:lvl1pPr>
            <a:lvl2pPr algn="ctr">
              <a:buNone/>
              <a:defRPr sz="2175" b="0">
                <a:solidFill>
                  <a:srgbClr val="07182A"/>
                </a:solidFill>
                <a:latin typeface="CiscoSansTT"/>
                <a:ea typeface="CiscoSansTT"/>
                <a:cs typeface="CiscoSansTT"/>
              </a:defRPr>
            </a:lvl2pPr>
            <a:lvl3pPr algn="ctr">
              <a:buNone/>
              <a:defRPr sz="2175" b="0">
                <a:solidFill>
                  <a:srgbClr val="07182A"/>
                </a:solidFill>
                <a:latin typeface="CiscoSansTT"/>
                <a:ea typeface="CiscoSansTT"/>
                <a:cs typeface="CiscoSansTT"/>
              </a:defRPr>
            </a:lvl3pPr>
            <a:lvl4pPr algn="ctr">
              <a:buNone/>
              <a:defRPr sz="2175" b="0">
                <a:solidFill>
                  <a:srgbClr val="07182A"/>
                </a:solidFill>
                <a:latin typeface="CiscoSansTT"/>
                <a:ea typeface="CiscoSansTT"/>
                <a:cs typeface="CiscoSansTT"/>
              </a:defRPr>
            </a:lvl4pPr>
            <a:lvl5pPr algn="ctr">
              <a:buNone/>
              <a:defRPr sz="2175" b="0">
                <a:solidFill>
                  <a:srgbClr val="07182A"/>
                </a:solidFill>
                <a:latin typeface="CiscoSansTT"/>
                <a:ea typeface="CiscoSansTT"/>
                <a:cs typeface="CiscoSansTT"/>
              </a:defRPr>
            </a:lvl5pPr>
            <a:lvl6pPr algn="ctr">
              <a:buNone/>
              <a:defRPr sz="2175" b="0">
                <a:solidFill>
                  <a:srgbClr val="07182A"/>
                </a:solidFill>
                <a:latin typeface="CiscoSansTT"/>
                <a:ea typeface="CiscoSansTT"/>
                <a:cs typeface="CiscoSansTT"/>
              </a:defRPr>
            </a:lvl6pPr>
            <a:lvl7pPr algn="ctr">
              <a:buNone/>
              <a:defRPr sz="2175" b="0">
                <a:solidFill>
                  <a:srgbClr val="07182A"/>
                </a:solidFill>
                <a:latin typeface="CiscoSansTT"/>
                <a:ea typeface="CiscoSansTT"/>
                <a:cs typeface="CiscoSansTT"/>
              </a:defRPr>
            </a:lvl7pPr>
            <a:lvl8pPr algn="ctr">
              <a:buNone/>
              <a:defRPr sz="2175" b="0">
                <a:solidFill>
                  <a:srgbClr val="07182A"/>
                </a:solidFill>
                <a:latin typeface="CiscoSansTT"/>
                <a:ea typeface="CiscoSansTT"/>
                <a:cs typeface="CiscoSansTT"/>
              </a:defRPr>
            </a:lvl8pPr>
            <a:lvl9pPr algn="ctr">
              <a:buNone/>
              <a:defRPr sz="2175" b="0">
                <a:solidFill>
                  <a:srgbClr val="07182A"/>
                </a:solidFill>
                <a:latin typeface="CiscoSansTT"/>
                <a:ea typeface="CiscoSansTT"/>
                <a:cs typeface="CiscoSansTT"/>
              </a:defRPr>
            </a:lvl9pPr>
          </a:lstStyle>
          <a:p>
            <a:pPr algn="ctr">
              <a:buNone/>
              <a:defRPr sz="2175" b="0">
                <a:solidFill>
                  <a:srgbClr val="07182A"/>
                </a:solidFill>
                <a:latin typeface="CiscoSansTT"/>
                <a:ea typeface="CiscoSansTT"/>
                <a:cs typeface="CiscoSansTT"/>
              </a:defRPr>
            </a:pPr>
            <a:r>
              <a:rPr sz="2175" b="0">
                <a:solidFill>
                  <a:srgbClr val="07182A"/>
                </a:solidFill>
                <a:latin typeface="CiscoSansTT"/>
                <a:ea typeface="CiscoSansTT"/>
                <a:cs typeface="CiscoSansTT"/>
              </a:rPr>
              <a:t>OBI</a:t>
            </a:r>
          </a:p>
          <a:p>
            <a:pPr algn="ctr">
              <a:buNone/>
              <a:defRPr sz="2175" b="0">
                <a:solidFill>
                  <a:srgbClr val="07182A"/>
                </a:solidFill>
                <a:latin typeface="CiscoSansTT"/>
                <a:ea typeface="CiscoSansTT"/>
                <a:cs typeface="CiscoSansTT"/>
              </a:defRPr>
            </a:pPr>
            <a:r>
              <a:rPr sz="2175" b="0">
                <a:solidFill>
                  <a:srgbClr val="07182A"/>
                </a:solidFill>
                <a:latin typeface="CiscoSansTT"/>
                <a:ea typeface="CiscoSansTT"/>
                <a:cs typeface="CiscoSansTT"/>
              </a:rPr>
              <a:t>Collect network flows</a:t>
            </a:r>
          </a:p>
        </p:txBody>
      </p:sp>
      <p:sp>
        <p:nvSpPr>
          <p:cNvPr id="11" name="cilium-tc-step">
            <a:extLst>
              <a:ext uri="{FF2B5EF4-FFF2-40B4-BE49-F238E27FC236}">
                <a16:creationId xmlns:a16="http://schemas.microsoft.com/office/drawing/2014/main" id="{A3B9CEC6-752C-4ABC-9BF5-4879C0F521AA}"/>
              </a:ext>
            </a:extLst>
          </p:cNvPr>
          <p:cNvSpPr>
            <a:spLocks noGrp="1"/>
          </p:cNvSpPr>
          <p:nvPr/>
        </p:nvSpPr>
        <p:spPr>
          <a:xfrm>
            <a:off x="5715000" y="2333625"/>
            <a:ext cx="5619750" cy="1524000"/>
          </a:xfrm>
          <a:prstGeom prst="roundRect">
            <a:avLst>
              <a:gd name="adj" fmla="val 4375"/>
            </a:avLst>
          </a:prstGeom>
          <a:solidFill>
            <a:srgbClr val="EAF8FC"/>
          </a:solidFill>
          <a:ln w="11906">
            <a:solidFill>
              <a:srgbClr val="0860FE"/>
            </a:solidFill>
          </a:ln>
        </p:spPr>
        <p:txBody>
          <a:bodyPr anchor="ctr">
            <a:noAutofit/>
          </a:bodyPr>
          <a:lstStyle>
            <a:defPPr algn="ctr">
              <a:defRPr sz="2175" b="0">
                <a:solidFill>
                  <a:srgbClr val="07182A"/>
                </a:solidFill>
                <a:latin typeface="CiscoSansTT"/>
                <a:ea typeface="CiscoSansTT"/>
                <a:cs typeface="CiscoSansTT"/>
              </a:defRPr>
            </a:defPPr>
            <a:lvl1pPr algn="ctr">
              <a:defRPr sz="2175" b="0">
                <a:solidFill>
                  <a:srgbClr val="07182A"/>
                </a:solidFill>
                <a:latin typeface="CiscoSansTT"/>
                <a:ea typeface="CiscoSansTT"/>
                <a:cs typeface="CiscoSansTT"/>
              </a:defRPr>
            </a:lvl1pPr>
            <a:lvl2pPr algn="ctr">
              <a:defRPr sz="2175" b="0">
                <a:solidFill>
                  <a:srgbClr val="07182A"/>
                </a:solidFill>
                <a:latin typeface="CiscoSansTT"/>
                <a:ea typeface="CiscoSansTT"/>
                <a:cs typeface="CiscoSansTT"/>
              </a:defRPr>
            </a:lvl2pPr>
            <a:lvl3pPr algn="ctr">
              <a:defRPr sz="2175" b="0">
                <a:solidFill>
                  <a:srgbClr val="07182A"/>
                </a:solidFill>
                <a:latin typeface="CiscoSansTT"/>
                <a:ea typeface="CiscoSansTT"/>
                <a:cs typeface="CiscoSansTT"/>
              </a:defRPr>
            </a:lvl3pPr>
            <a:lvl4pPr algn="ctr">
              <a:defRPr sz="2175" b="0">
                <a:solidFill>
                  <a:srgbClr val="07182A"/>
                </a:solidFill>
                <a:latin typeface="CiscoSansTT"/>
                <a:ea typeface="CiscoSansTT"/>
                <a:cs typeface="CiscoSansTT"/>
              </a:defRPr>
            </a:lvl4pPr>
            <a:lvl5pPr algn="ctr">
              <a:defRPr sz="2175" b="0">
                <a:solidFill>
                  <a:srgbClr val="07182A"/>
                </a:solidFill>
                <a:latin typeface="CiscoSansTT"/>
                <a:ea typeface="CiscoSansTT"/>
                <a:cs typeface="CiscoSansTT"/>
              </a:defRPr>
            </a:lvl5pPr>
            <a:lvl6pPr algn="ctr">
              <a:defRPr sz="2175" b="0">
                <a:solidFill>
                  <a:srgbClr val="07182A"/>
                </a:solidFill>
                <a:latin typeface="CiscoSansTT"/>
                <a:ea typeface="CiscoSansTT"/>
                <a:cs typeface="CiscoSansTT"/>
              </a:defRPr>
            </a:lvl6pPr>
            <a:lvl7pPr algn="ctr">
              <a:defRPr sz="2175" b="0">
                <a:solidFill>
                  <a:srgbClr val="07182A"/>
                </a:solidFill>
                <a:latin typeface="CiscoSansTT"/>
                <a:ea typeface="CiscoSansTT"/>
                <a:cs typeface="CiscoSansTT"/>
              </a:defRPr>
            </a:lvl7pPr>
            <a:lvl8pPr algn="ctr">
              <a:defRPr sz="2175" b="0">
                <a:solidFill>
                  <a:srgbClr val="07182A"/>
                </a:solidFill>
                <a:latin typeface="CiscoSansTT"/>
                <a:ea typeface="CiscoSansTT"/>
                <a:cs typeface="CiscoSansTT"/>
              </a:defRPr>
            </a:lvl8pPr>
            <a:lvl9pPr algn="ctr">
              <a:defRPr sz="2175" b="0">
                <a:solidFill>
                  <a:srgbClr val="07182A"/>
                </a:solidFill>
                <a:latin typeface="CiscoSansTT"/>
                <a:ea typeface="CiscoSansTT"/>
                <a:cs typeface="CiscoSansTT"/>
              </a:defRPr>
            </a:lvl9pPr>
          </a:lstStyle>
          <a:p>
            <a:pPr algn="ctr">
              <a:defRPr sz="2175" b="0">
                <a:solidFill>
                  <a:srgbClr val="07182A"/>
                </a:solidFill>
                <a:latin typeface="CiscoSansTT"/>
                <a:ea typeface="CiscoSansTT"/>
                <a:cs typeface="CiscoSansTT"/>
              </a:defRPr>
            </a:pPr>
            <a:r>
              <a:rPr sz="2175" b="0">
                <a:solidFill>
                  <a:srgbClr val="07182A"/>
                </a:solidFill>
                <a:latin typeface="CiscoSansTT"/>
                <a:ea typeface="CiscoSansTT"/>
                <a:cs typeface="CiscoSansTT"/>
              </a:rPr>
              <a:t>Cilium</a:t>
            </a:r>
          </a:p>
          <a:p>
            <a:pPr algn="ctr">
              <a:defRPr sz="2175" b="0">
                <a:solidFill>
                  <a:srgbClr val="07182A"/>
                </a:solidFill>
                <a:latin typeface="CiscoSansTT"/>
                <a:ea typeface="CiscoSansTT"/>
                <a:cs typeface="CiscoSansTT"/>
              </a:defRPr>
            </a:pPr>
            <a:r>
              <a:rPr sz="2175" b="0">
                <a:solidFill>
                  <a:srgbClr val="07182A"/>
                </a:solidFill>
                <a:latin typeface="CiscoSansTT"/>
                <a:ea typeface="CiscoSansTT"/>
                <a:cs typeface="CiscoSansTT"/>
              </a:rPr>
              <a:t>Apply routing + policy</a:t>
            </a:r>
          </a:p>
          <a:p>
            <a:pPr algn="ctr">
              <a:defRPr sz="2175" b="0">
                <a:solidFill>
                  <a:srgbClr val="07182A"/>
                </a:solidFill>
                <a:latin typeface="CiscoSansTT"/>
                <a:ea typeface="CiscoSansTT"/>
                <a:cs typeface="CiscoSansTT"/>
              </a:defRPr>
            </a:pPr>
            <a:r>
              <a:rPr sz="2175" b="0">
                <a:solidFill>
                  <a:srgbClr val="07182A"/>
                </a:solidFill>
                <a:latin typeface="CiscoSansTT"/>
                <a:ea typeface="CiscoSansTT"/>
                <a:cs typeface="CiscoSansTT"/>
              </a:rPr>
              <a:t>Forward, redirect, or drop</a:t>
            </a:r>
          </a:p>
        </p:txBody>
      </p:sp>
      <p:cxnSp>
        <p:nvCxnSpPr>
          <p:cNvPr id="12" name="obi-before-cilium">
            <a:extLst>
              <a:ext uri="{FF2B5EF4-FFF2-40B4-BE49-F238E27FC236}">
                <a16:creationId xmlns:a16="http://schemas.microsoft.com/office/drawing/2014/main" id="{92A5194C-4A31-4F04-AA36-5203AD8600C8}"/>
              </a:ext>
            </a:extLst>
          </p:cNvPr>
          <p:cNvCxnSpPr/>
          <p:nvPr/>
        </p:nvCxnSpPr>
        <p:spPr>
          <a:xfrm>
            <a:off x="4000500" y="3095625"/>
            <a:ext cx="1714500" cy="0"/>
          </a:xfrm>
          <a:prstGeom prst="straightConnector1">
            <a:avLst/>
          </a:prstGeom>
          <a:ln w="19050">
            <a:solidFill>
              <a:srgbClr val="FF007F"/>
            </a:solidFill>
            <a:tailEnd type="arrow" w="med" len="med"/>
          </a:ln>
        </p:spPr>
      </p:cxnSp>
      <p:sp>
        <p:nvSpPr>
          <p:cNvPr id="13" name="tc-illustrative-order">
            <a:extLst>
              <a:ext uri="{FF2B5EF4-FFF2-40B4-BE49-F238E27FC236}">
                <a16:creationId xmlns:a16="http://schemas.microsoft.com/office/drawing/2014/main" id="{EA46B996-2ED9-458E-8011-7FA128FE8897}"/>
              </a:ext>
            </a:extLst>
          </p:cNvPr>
          <p:cNvSpPr>
            <a:spLocks noGrp="1"/>
          </p:cNvSpPr>
          <p:nvPr/>
        </p:nvSpPr>
        <p:spPr>
          <a:xfrm>
            <a:off x="857250" y="1581150"/>
            <a:ext cx="10477500" cy="457200"/>
          </a:xfrm>
          <a:prstGeom prst="rect">
            <a:avLst/>
          </a:prstGeom>
          <a:noFill/>
          <a:ln w="0">
            <a:noFill/>
          </a:ln>
        </p:spPr>
        <p:txBody>
          <a:bodyPr anchor="ctr">
            <a:noAutofit/>
          </a:bodyPr>
          <a:lstStyle>
            <a:defPPr algn="l">
              <a:defRPr sz="1950" b="0">
                <a:solidFill>
                  <a:srgbClr val="686B6B"/>
                </a:solidFill>
                <a:latin typeface="CiscoSansTT"/>
                <a:ea typeface="CiscoSansTT"/>
                <a:cs typeface="CiscoSansTT"/>
              </a:defRPr>
            </a:defPPr>
            <a:lvl1pPr algn="l">
              <a:buNone/>
              <a:defRPr sz="1950" b="0">
                <a:solidFill>
                  <a:srgbClr val="686B6B"/>
                </a:solidFill>
                <a:latin typeface="CiscoSansTT"/>
                <a:ea typeface="CiscoSansTT"/>
                <a:cs typeface="CiscoSansTT"/>
              </a:defRPr>
            </a:lvl1pPr>
            <a:lvl2pPr algn="l">
              <a:buNone/>
              <a:defRPr sz="1950" b="0">
                <a:solidFill>
                  <a:srgbClr val="686B6B"/>
                </a:solidFill>
                <a:latin typeface="CiscoSansTT"/>
                <a:ea typeface="CiscoSansTT"/>
                <a:cs typeface="CiscoSansTT"/>
              </a:defRPr>
            </a:lvl2pPr>
            <a:lvl3pPr algn="l">
              <a:buNone/>
              <a:defRPr sz="1950" b="0">
                <a:solidFill>
                  <a:srgbClr val="686B6B"/>
                </a:solidFill>
                <a:latin typeface="CiscoSansTT"/>
                <a:ea typeface="CiscoSansTT"/>
                <a:cs typeface="CiscoSansTT"/>
              </a:defRPr>
            </a:lvl3pPr>
            <a:lvl4pPr algn="l">
              <a:buNone/>
              <a:defRPr sz="1950" b="0">
                <a:solidFill>
                  <a:srgbClr val="686B6B"/>
                </a:solidFill>
                <a:latin typeface="CiscoSansTT"/>
                <a:ea typeface="CiscoSansTT"/>
                <a:cs typeface="CiscoSansTT"/>
              </a:defRPr>
            </a:lvl4pPr>
            <a:lvl5pPr algn="l">
              <a:buNone/>
              <a:defRPr sz="1950" b="0">
                <a:solidFill>
                  <a:srgbClr val="686B6B"/>
                </a:solidFill>
                <a:latin typeface="CiscoSansTT"/>
                <a:ea typeface="CiscoSansTT"/>
                <a:cs typeface="CiscoSansTT"/>
              </a:defRPr>
            </a:lvl5pPr>
            <a:lvl6pPr algn="l">
              <a:buNone/>
              <a:defRPr sz="1950" b="0">
                <a:solidFill>
                  <a:srgbClr val="686B6B"/>
                </a:solidFill>
                <a:latin typeface="CiscoSansTT"/>
                <a:ea typeface="CiscoSansTT"/>
                <a:cs typeface="CiscoSansTT"/>
              </a:defRPr>
            </a:lvl6pPr>
            <a:lvl7pPr algn="l">
              <a:buNone/>
              <a:defRPr sz="1950" b="0">
                <a:solidFill>
                  <a:srgbClr val="686B6B"/>
                </a:solidFill>
                <a:latin typeface="CiscoSansTT"/>
                <a:ea typeface="CiscoSansTT"/>
                <a:cs typeface="CiscoSansTT"/>
              </a:defRPr>
            </a:lvl7pPr>
            <a:lvl8pPr algn="l">
              <a:buNone/>
              <a:defRPr sz="1950" b="0">
                <a:solidFill>
                  <a:srgbClr val="686B6B"/>
                </a:solidFill>
                <a:latin typeface="CiscoSansTT"/>
                <a:ea typeface="CiscoSansTT"/>
                <a:cs typeface="CiscoSansTT"/>
              </a:defRPr>
            </a:lvl8pPr>
            <a:lvl9pPr algn="l">
              <a:buNone/>
              <a:defRPr sz="1950" b="0">
                <a:solidFill>
                  <a:srgbClr val="686B6B"/>
                </a:solidFill>
                <a:latin typeface="CiscoSansTT"/>
                <a:ea typeface="CiscoSansTT"/>
                <a:cs typeface="CiscoSansTT"/>
              </a:defRPr>
            </a:lvl9pPr>
          </a:lstStyle>
          <a:p>
            <a:pPr algn="l">
              <a:buNone/>
              <a:defRPr sz="1950" b="0">
                <a:solidFill>
                  <a:srgbClr val="686B6B"/>
                </a:solidFill>
                <a:latin typeface="CiscoSansTT"/>
                <a:ea typeface="CiscoSansTT"/>
                <a:cs typeface="CiscoSansTT"/>
              </a:defRPr>
            </a:pPr>
            <a:r>
              <a:rPr sz="1950" b="0">
                <a:solidFill>
                  <a:srgbClr val="686B6B"/>
                </a:solidFill>
                <a:latin typeface="CiscoSansTT"/>
                <a:ea typeface="CiscoSansTT"/>
                <a:cs typeface="CiscoSansTT"/>
              </a:rPr>
              <a:t>With optional OBI network capture using TC</a:t>
            </a:r>
          </a:p>
        </p:txBody>
      </p:sp>
    </p:spTree>
    <p:extLst>
      <p:ext uri="{BB962C8B-B14F-4D97-AF65-F5344CB8AC3E}">
        <p14:creationId xmlns:p14="http://schemas.microsoft.com/office/powerpoint/2010/main" val="109276977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p:txBody>
          <a:bodyPr anchor="ctr"/>
          <a:lstStyle>
            <a:lvl1pPr>
              <a:buNone/>
              <a:defRPr sz="4000">
                <a:solidFill>
                  <a:schemeClr val="bg1"/>
                </a:solidFill>
              </a:defRPr>
            </a:lvl1pPr>
          </a:lstStyle>
          <a:p>
            <a:r>
              <a:t>Attachment order</a:t>
            </a:r>
          </a:p>
        </p:txBody>
      </p:sp>
    </p:spTree>
    <p:extLst>
      <p:ext uri="{BB962C8B-B14F-4D97-AF65-F5344CB8AC3E}">
        <p14:creationId xmlns:p14="http://schemas.microsoft.com/office/powerpoint/2010/main" val="138039681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B8A3B1EA-297C-45CD-AE4B-023352055ED5}"/>
              </a:ext>
            </a:extLst>
          </p:cNvPr>
          <p:cNvSpPr>
            <a:spLocks noGrp="1"/>
          </p:cNvSpPr>
          <p:nvPr/>
        </p:nvSpPr>
        <p:spPr>
          <a:xfrm>
            <a:off x="323850" y="228600"/>
            <a:ext cx="11049000" cy="685800"/>
          </a:xfrm>
          <a:prstGeom prst="rect">
            <a:avLst/>
          </a:prstGeom>
          <a:noFill/>
          <a:ln w="0">
            <a:noFill/>
          </a:ln>
        </p:spPr>
        <p:txBody>
          <a:bodyPr anchor="ctr">
            <a:noAutofit/>
          </a:bodyPr>
          <a:lstStyle>
            <a:defPPr algn="l">
              <a:defRPr sz="3000" b="1">
                <a:solidFill>
                  <a:srgbClr val="07182A"/>
                </a:solidFill>
                <a:latin typeface="CiscoSansTT Medium"/>
                <a:ea typeface="CiscoSansTT Medium"/>
                <a:cs typeface="CiscoSansTT Medium"/>
              </a:defRPr>
            </a:defPPr>
            <a:lvl1pPr algn="l">
              <a:buNone/>
              <a:defRPr sz="3000" b="1">
                <a:solidFill>
                  <a:srgbClr val="07182A"/>
                </a:solidFill>
                <a:latin typeface="CiscoSansTT Medium"/>
                <a:ea typeface="CiscoSansTT Medium"/>
                <a:cs typeface="CiscoSansTT Medium"/>
              </a:defRPr>
            </a:lvl1pPr>
            <a:lvl2pPr algn="l">
              <a:buNone/>
              <a:defRPr sz="3000" b="1">
                <a:solidFill>
                  <a:srgbClr val="07182A"/>
                </a:solidFill>
                <a:latin typeface="CiscoSansTT Medium"/>
                <a:ea typeface="CiscoSansTT Medium"/>
                <a:cs typeface="CiscoSansTT Medium"/>
              </a:defRPr>
            </a:lvl2pPr>
            <a:lvl3pPr algn="l">
              <a:buNone/>
              <a:defRPr sz="3000" b="1">
                <a:solidFill>
                  <a:srgbClr val="07182A"/>
                </a:solidFill>
                <a:latin typeface="CiscoSansTT Medium"/>
                <a:ea typeface="CiscoSansTT Medium"/>
                <a:cs typeface="CiscoSansTT Medium"/>
              </a:defRPr>
            </a:lvl3pPr>
            <a:lvl4pPr algn="l">
              <a:buNone/>
              <a:defRPr sz="3000" b="1">
                <a:solidFill>
                  <a:srgbClr val="07182A"/>
                </a:solidFill>
                <a:latin typeface="CiscoSansTT Medium"/>
                <a:ea typeface="CiscoSansTT Medium"/>
                <a:cs typeface="CiscoSansTT Medium"/>
              </a:defRPr>
            </a:lvl4pPr>
            <a:lvl5pPr algn="l">
              <a:buNone/>
              <a:defRPr sz="3000" b="1">
                <a:solidFill>
                  <a:srgbClr val="07182A"/>
                </a:solidFill>
                <a:latin typeface="CiscoSansTT Medium"/>
                <a:ea typeface="CiscoSansTT Medium"/>
                <a:cs typeface="CiscoSansTT Medium"/>
              </a:defRPr>
            </a:lvl5pPr>
            <a:lvl6pPr algn="l">
              <a:buNone/>
              <a:defRPr sz="3000" b="1">
                <a:solidFill>
                  <a:srgbClr val="07182A"/>
                </a:solidFill>
                <a:latin typeface="CiscoSansTT Medium"/>
                <a:ea typeface="CiscoSansTT Medium"/>
                <a:cs typeface="CiscoSansTT Medium"/>
              </a:defRPr>
            </a:lvl6pPr>
            <a:lvl7pPr algn="l">
              <a:buNone/>
              <a:defRPr sz="3000" b="1">
                <a:solidFill>
                  <a:srgbClr val="07182A"/>
                </a:solidFill>
                <a:latin typeface="CiscoSansTT Medium"/>
                <a:ea typeface="CiscoSansTT Medium"/>
                <a:cs typeface="CiscoSansTT Medium"/>
              </a:defRPr>
            </a:lvl7pPr>
            <a:lvl8pPr algn="l">
              <a:buNone/>
              <a:defRPr sz="3000" b="1">
                <a:solidFill>
                  <a:srgbClr val="07182A"/>
                </a:solidFill>
                <a:latin typeface="CiscoSansTT Medium"/>
                <a:ea typeface="CiscoSansTT Medium"/>
                <a:cs typeface="CiscoSansTT Medium"/>
              </a:defRPr>
            </a:lvl8pPr>
            <a:lvl9pPr algn="l">
              <a:buNone/>
              <a:defRPr sz="3000" b="1">
                <a:solidFill>
                  <a:srgbClr val="07182A"/>
                </a:solidFill>
                <a:latin typeface="CiscoSansTT Medium"/>
                <a:ea typeface="CiscoSansTT Medium"/>
                <a:cs typeface="CiscoSansTT Medium"/>
              </a:defRPr>
            </a:lvl9p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TCX orders the optional shared chain</a:t>
            </a:r>
          </a:p>
        </p:txBody>
      </p:sp>
      <p:sp>
        <p:nvSpPr>
          <p:cNvPr id="3" name="Rounded Rectangle 2">
            <a:extLst>
              <a:ext uri="{FF2B5EF4-FFF2-40B4-BE49-F238E27FC236}">
                <a16:creationId xmlns:a16="http://schemas.microsoft.com/office/drawing/2014/main" id="{02145BF7-101A-4CDA-A92E-4AF9A6F59DBF}"/>
              </a:ext>
            </a:extLst>
          </p:cNvPr>
          <p:cNvSpPr>
            <a:spLocks noGrp="1"/>
          </p:cNvSpPr>
          <p:nvPr/>
        </p:nvSpPr>
        <p:spPr>
          <a:xfrm>
            <a:off x="819150" y="2266950"/>
            <a:ext cx="1143000" cy="381000"/>
          </a:xfrm>
          <a:prstGeom prst="roundRect">
            <a:avLst>
              <a:gd name="adj" fmla="val 20000"/>
            </a:avLst>
          </a:prstGeom>
          <a:solidFill>
            <a:srgbClr val="FF007F"/>
          </a:solidFill>
          <a:ln w="0">
            <a:noFill/>
          </a:ln>
        </p:spPr>
        <p:txBody>
          <a:bodyPr anchor="ctr">
            <a:noAutofit/>
          </a:bodyPr>
          <a:lstStyle>
            <a:defPPr algn="ctr">
              <a:defRPr sz="1500" b="1">
                <a:solidFill>
                  <a:srgbClr val="FFFFFF"/>
                </a:solidFill>
                <a:latin typeface="CiscoSansTT Medium"/>
                <a:ea typeface="CiscoSansTT Medium"/>
                <a:cs typeface="CiscoSansTT Medium"/>
              </a:defRPr>
            </a:defPPr>
            <a:lvl1pPr algn="ctr">
              <a:defRPr sz="1500" b="1">
                <a:solidFill>
                  <a:srgbClr val="FFFFFF"/>
                </a:solidFill>
                <a:latin typeface="CiscoSansTT Medium"/>
                <a:ea typeface="CiscoSansTT Medium"/>
                <a:cs typeface="CiscoSansTT Medium"/>
              </a:defRPr>
            </a:lvl1pPr>
            <a:lvl2pPr algn="ctr">
              <a:defRPr sz="1500" b="1">
                <a:solidFill>
                  <a:srgbClr val="FFFFFF"/>
                </a:solidFill>
                <a:latin typeface="CiscoSansTT Medium"/>
                <a:ea typeface="CiscoSansTT Medium"/>
                <a:cs typeface="CiscoSansTT Medium"/>
              </a:defRPr>
            </a:lvl2pPr>
            <a:lvl3pPr algn="ctr">
              <a:defRPr sz="1500" b="1">
                <a:solidFill>
                  <a:srgbClr val="FFFFFF"/>
                </a:solidFill>
                <a:latin typeface="CiscoSansTT Medium"/>
                <a:ea typeface="CiscoSansTT Medium"/>
                <a:cs typeface="CiscoSansTT Medium"/>
              </a:defRPr>
            </a:lvl3pPr>
            <a:lvl4pPr algn="ctr">
              <a:defRPr sz="1500" b="1">
                <a:solidFill>
                  <a:srgbClr val="FFFFFF"/>
                </a:solidFill>
                <a:latin typeface="CiscoSansTT Medium"/>
                <a:ea typeface="CiscoSansTT Medium"/>
                <a:cs typeface="CiscoSansTT Medium"/>
              </a:defRPr>
            </a:lvl4pPr>
            <a:lvl5pPr algn="ctr">
              <a:defRPr sz="1500" b="1">
                <a:solidFill>
                  <a:srgbClr val="FFFFFF"/>
                </a:solidFill>
                <a:latin typeface="CiscoSansTT Medium"/>
                <a:ea typeface="CiscoSansTT Medium"/>
                <a:cs typeface="CiscoSansTT Medium"/>
              </a:defRPr>
            </a:lvl5pPr>
            <a:lvl6pPr algn="ctr">
              <a:defRPr sz="1500" b="1">
                <a:solidFill>
                  <a:srgbClr val="FFFFFF"/>
                </a:solidFill>
                <a:latin typeface="CiscoSansTT Medium"/>
                <a:ea typeface="CiscoSansTT Medium"/>
                <a:cs typeface="CiscoSansTT Medium"/>
              </a:defRPr>
            </a:lvl6pPr>
            <a:lvl7pPr algn="ctr">
              <a:defRPr sz="1500" b="1">
                <a:solidFill>
                  <a:srgbClr val="FFFFFF"/>
                </a:solidFill>
                <a:latin typeface="CiscoSansTT Medium"/>
                <a:ea typeface="CiscoSansTT Medium"/>
                <a:cs typeface="CiscoSansTT Medium"/>
              </a:defRPr>
            </a:lvl7pPr>
            <a:lvl8pPr algn="ctr">
              <a:defRPr sz="1500" b="1">
                <a:solidFill>
                  <a:srgbClr val="FFFFFF"/>
                </a:solidFill>
                <a:latin typeface="CiscoSansTT Medium"/>
                <a:ea typeface="CiscoSansTT Medium"/>
                <a:cs typeface="CiscoSansTT Medium"/>
              </a:defRPr>
            </a:lvl8pPr>
            <a:lvl9pPr algn="ctr">
              <a:defRPr sz="1500" b="1">
                <a:solidFill>
                  <a:srgbClr val="FFFFFF"/>
                </a:solidFill>
                <a:latin typeface="CiscoSansTT Medium"/>
                <a:ea typeface="CiscoSansTT Medium"/>
                <a:cs typeface="CiscoSansTT Medium"/>
              </a:defRPr>
            </a:lvl9pPr>
          </a:lstStyle>
          <a:p>
            <a:pPr algn="ctr">
              <a:buNone/>
              <a:defRPr sz="1500" b="1">
                <a:solidFill>
                  <a:srgbClr val="FFFFFF"/>
                </a:solidFill>
                <a:latin typeface="CiscoSansTT Medium"/>
                <a:ea typeface="CiscoSansTT Medium"/>
                <a:cs typeface="CiscoSansTT Medium"/>
              </a:defRPr>
            </a:pPr>
            <a:r>
              <a:rPr sz="1500" b="1">
                <a:solidFill>
                  <a:srgbClr val="FFFFFF"/>
                </a:solidFill>
                <a:latin typeface="CiscoSansTT Medium"/>
                <a:ea typeface="CiscoSansTT Medium"/>
                <a:cs typeface="CiscoSansTT Medium"/>
              </a:rPr>
              <a:t>FIRST</a:t>
            </a:r>
          </a:p>
        </p:txBody>
      </p:sp>
      <p:sp>
        <p:nvSpPr>
          <p:cNvPr id="4" name="Rounded Rectangle 3">
            <a:extLst>
              <a:ext uri="{FF2B5EF4-FFF2-40B4-BE49-F238E27FC236}">
                <a16:creationId xmlns:a16="http://schemas.microsoft.com/office/drawing/2014/main" id="{9607A6B3-920E-4336-8F50-FE14D1F316A7}"/>
              </a:ext>
            </a:extLst>
          </p:cNvPr>
          <p:cNvSpPr>
            <a:spLocks noGrp="1"/>
          </p:cNvSpPr>
          <p:nvPr/>
        </p:nvSpPr>
        <p:spPr>
          <a:xfrm>
            <a:off x="2381250" y="1952625"/>
            <a:ext cx="2571750" cy="1381125"/>
          </a:xfrm>
          <a:prstGeom prst="roundRect">
            <a:avLst>
              <a:gd name="adj" fmla="val 5517"/>
            </a:avLst>
          </a:prstGeom>
          <a:solidFill>
            <a:srgbClr val="F4EAF4"/>
          </a:solidFill>
          <a:ln w="14288">
            <a:solidFill>
              <a:srgbClr val="FF007F"/>
            </a:solidFill>
          </a:ln>
        </p:spPr>
        <p:txBody>
          <a:bodyPr anchor="ctr">
            <a:noAutofit/>
          </a:bodyPr>
          <a:lstStyle>
            <a:defPPr algn="ctr">
              <a:defRPr sz="2100" b="1">
                <a:solidFill>
                  <a:srgbClr val="07182A"/>
                </a:solidFill>
                <a:latin typeface="CiscoSansTT Medium"/>
                <a:ea typeface="CiscoSansTT Medium"/>
                <a:cs typeface="CiscoSansTT Medium"/>
              </a:defRPr>
            </a:defPPr>
            <a:lvl1pPr algn="ctr">
              <a:defRPr sz="2100" b="1">
                <a:solidFill>
                  <a:srgbClr val="07182A"/>
                </a:solidFill>
                <a:latin typeface="CiscoSansTT Medium"/>
                <a:ea typeface="CiscoSansTT Medium"/>
                <a:cs typeface="CiscoSansTT Medium"/>
              </a:defRPr>
            </a:lvl1pPr>
            <a:lvl2pPr algn="ctr">
              <a:defRPr sz="2100" b="1">
                <a:solidFill>
                  <a:srgbClr val="07182A"/>
                </a:solidFill>
                <a:latin typeface="CiscoSansTT Medium"/>
                <a:ea typeface="CiscoSansTT Medium"/>
                <a:cs typeface="CiscoSansTT Medium"/>
              </a:defRPr>
            </a:lvl2pPr>
            <a:lvl3pPr algn="ctr">
              <a:defRPr sz="2100" b="1">
                <a:solidFill>
                  <a:srgbClr val="07182A"/>
                </a:solidFill>
                <a:latin typeface="CiscoSansTT Medium"/>
                <a:ea typeface="CiscoSansTT Medium"/>
                <a:cs typeface="CiscoSansTT Medium"/>
              </a:defRPr>
            </a:lvl3pPr>
            <a:lvl4pPr algn="ctr">
              <a:defRPr sz="2100" b="1">
                <a:solidFill>
                  <a:srgbClr val="07182A"/>
                </a:solidFill>
                <a:latin typeface="CiscoSansTT Medium"/>
                <a:ea typeface="CiscoSansTT Medium"/>
                <a:cs typeface="CiscoSansTT Medium"/>
              </a:defRPr>
            </a:lvl4pPr>
            <a:lvl5pPr algn="ctr">
              <a:defRPr sz="2100" b="1">
                <a:solidFill>
                  <a:srgbClr val="07182A"/>
                </a:solidFill>
                <a:latin typeface="CiscoSansTT Medium"/>
                <a:ea typeface="CiscoSansTT Medium"/>
                <a:cs typeface="CiscoSansTT Medium"/>
              </a:defRPr>
            </a:lvl5pPr>
            <a:lvl6pPr algn="ctr">
              <a:defRPr sz="2100" b="1">
                <a:solidFill>
                  <a:srgbClr val="07182A"/>
                </a:solidFill>
                <a:latin typeface="CiscoSansTT Medium"/>
                <a:ea typeface="CiscoSansTT Medium"/>
                <a:cs typeface="CiscoSansTT Medium"/>
              </a:defRPr>
            </a:lvl6pPr>
            <a:lvl7pPr algn="ctr">
              <a:defRPr sz="2100" b="1">
                <a:solidFill>
                  <a:srgbClr val="07182A"/>
                </a:solidFill>
                <a:latin typeface="CiscoSansTT Medium"/>
                <a:ea typeface="CiscoSansTT Medium"/>
                <a:cs typeface="CiscoSansTT Medium"/>
              </a:defRPr>
            </a:lvl7pPr>
            <a:lvl8pPr algn="ctr">
              <a:defRPr sz="2100" b="1">
                <a:solidFill>
                  <a:srgbClr val="07182A"/>
                </a:solidFill>
                <a:latin typeface="CiscoSansTT Medium"/>
                <a:ea typeface="CiscoSansTT Medium"/>
                <a:cs typeface="CiscoSansTT Medium"/>
              </a:defRPr>
            </a:lvl8pPr>
            <a:lvl9pPr algn="ctr">
              <a:defRPr sz="2100" b="1">
                <a:solidFill>
                  <a:srgbClr val="07182A"/>
                </a:solidFill>
                <a:latin typeface="CiscoSansTT Medium"/>
                <a:ea typeface="CiscoSansTT Medium"/>
                <a:cs typeface="CiscoSansTT Medium"/>
              </a:defRPr>
            </a:lvl9pPr>
          </a:lstStyle>
          <a:p>
            <a:pPr algn="ctr">
              <a:buNone/>
              <a:defRPr sz="2100" b="1">
                <a:solidFill>
                  <a:srgbClr val="07182A"/>
                </a:solidFill>
                <a:latin typeface="CiscoSansTT Medium"/>
                <a:ea typeface="CiscoSansTT Medium"/>
                <a:cs typeface="CiscoSansTT Medium"/>
              </a:defRPr>
            </a:pPr>
            <a:r>
              <a:rPr sz="2100" b="1">
                <a:solidFill>
                  <a:srgbClr val="07182A"/>
                </a:solidFill>
                <a:latin typeface="CiscoSansTT Medium"/>
                <a:ea typeface="CiscoSansTT Medium"/>
                <a:cs typeface="CiscoSansTT Medium"/>
              </a:rPr>
              <a:t>OBI</a:t>
            </a:r>
          </a:p>
          <a:p>
            <a:pPr algn="ctr">
              <a:buNone/>
              <a:defRPr sz="2100" b="1">
                <a:solidFill>
                  <a:srgbClr val="07182A"/>
                </a:solidFill>
                <a:latin typeface="CiscoSansTT Medium"/>
                <a:ea typeface="CiscoSansTT Medium"/>
                <a:cs typeface="CiscoSansTT Medium"/>
              </a:defRPr>
            </a:pPr>
            <a:r>
              <a:rPr sz="2100" b="1">
                <a:solidFill>
                  <a:srgbClr val="07182A"/>
                </a:solidFill>
                <a:latin typeface="CiscoSansTT Medium"/>
                <a:ea typeface="CiscoSansTT Medium"/>
                <a:cs typeface="CiscoSansTT Medium"/>
              </a:rPr>
              <a:t>Observe the packet</a:t>
            </a:r>
          </a:p>
        </p:txBody>
      </p:sp>
      <p:sp>
        <p:nvSpPr>
          <p:cNvPr id="5" name="Rounded Rectangle 4">
            <a:extLst>
              <a:ext uri="{FF2B5EF4-FFF2-40B4-BE49-F238E27FC236}">
                <a16:creationId xmlns:a16="http://schemas.microsoft.com/office/drawing/2014/main" id="{CD71B99A-9619-4677-B426-4010E78FE632}"/>
              </a:ext>
            </a:extLst>
          </p:cNvPr>
          <p:cNvSpPr>
            <a:spLocks noGrp="1"/>
          </p:cNvSpPr>
          <p:nvPr/>
        </p:nvSpPr>
        <p:spPr>
          <a:xfrm>
            <a:off x="7239000" y="1952625"/>
            <a:ext cx="2571750" cy="1381125"/>
          </a:xfrm>
          <a:prstGeom prst="roundRect">
            <a:avLst>
              <a:gd name="adj" fmla="val 5517"/>
            </a:avLst>
          </a:prstGeom>
          <a:solidFill>
            <a:srgbClr val="EAF7FC"/>
          </a:solidFill>
          <a:ln w="14288">
            <a:solidFill>
              <a:srgbClr val="0860FE"/>
            </a:solidFill>
          </a:ln>
        </p:spPr>
        <p:txBody>
          <a:bodyPr anchor="ctr">
            <a:noAutofit/>
          </a:bodyPr>
          <a:lstStyle>
            <a:defPPr algn="ctr">
              <a:defRPr sz="2025" b="1">
                <a:solidFill>
                  <a:srgbClr val="07182A"/>
                </a:solidFill>
                <a:latin typeface="CiscoSansTT Medium"/>
                <a:ea typeface="CiscoSansTT Medium"/>
                <a:cs typeface="CiscoSansTT Medium"/>
              </a:defRPr>
            </a:defPPr>
            <a:lvl1pPr algn="ctr">
              <a:defRPr sz="2025" b="1">
                <a:solidFill>
                  <a:srgbClr val="07182A"/>
                </a:solidFill>
                <a:latin typeface="CiscoSansTT Medium"/>
                <a:ea typeface="CiscoSansTT Medium"/>
                <a:cs typeface="CiscoSansTT Medium"/>
              </a:defRPr>
            </a:lvl1pPr>
            <a:lvl2pPr algn="ctr">
              <a:defRPr sz="2025" b="1">
                <a:solidFill>
                  <a:srgbClr val="07182A"/>
                </a:solidFill>
                <a:latin typeface="CiscoSansTT Medium"/>
                <a:ea typeface="CiscoSansTT Medium"/>
                <a:cs typeface="CiscoSansTT Medium"/>
              </a:defRPr>
            </a:lvl2pPr>
            <a:lvl3pPr algn="ctr">
              <a:defRPr sz="2025" b="1">
                <a:solidFill>
                  <a:srgbClr val="07182A"/>
                </a:solidFill>
                <a:latin typeface="CiscoSansTT Medium"/>
                <a:ea typeface="CiscoSansTT Medium"/>
                <a:cs typeface="CiscoSansTT Medium"/>
              </a:defRPr>
            </a:lvl3pPr>
            <a:lvl4pPr algn="ctr">
              <a:defRPr sz="2025" b="1">
                <a:solidFill>
                  <a:srgbClr val="07182A"/>
                </a:solidFill>
                <a:latin typeface="CiscoSansTT Medium"/>
                <a:ea typeface="CiscoSansTT Medium"/>
                <a:cs typeface="CiscoSansTT Medium"/>
              </a:defRPr>
            </a:lvl4pPr>
            <a:lvl5pPr algn="ctr">
              <a:defRPr sz="2025" b="1">
                <a:solidFill>
                  <a:srgbClr val="07182A"/>
                </a:solidFill>
                <a:latin typeface="CiscoSansTT Medium"/>
                <a:ea typeface="CiscoSansTT Medium"/>
                <a:cs typeface="CiscoSansTT Medium"/>
              </a:defRPr>
            </a:lvl5pPr>
            <a:lvl6pPr algn="ctr">
              <a:defRPr sz="2025" b="1">
                <a:solidFill>
                  <a:srgbClr val="07182A"/>
                </a:solidFill>
                <a:latin typeface="CiscoSansTT Medium"/>
                <a:ea typeface="CiscoSansTT Medium"/>
                <a:cs typeface="CiscoSansTT Medium"/>
              </a:defRPr>
            </a:lvl6pPr>
            <a:lvl7pPr algn="ctr">
              <a:defRPr sz="2025" b="1">
                <a:solidFill>
                  <a:srgbClr val="07182A"/>
                </a:solidFill>
                <a:latin typeface="CiscoSansTT Medium"/>
                <a:ea typeface="CiscoSansTT Medium"/>
                <a:cs typeface="CiscoSansTT Medium"/>
              </a:defRPr>
            </a:lvl7pPr>
            <a:lvl8pPr algn="ctr">
              <a:defRPr sz="2025" b="1">
                <a:solidFill>
                  <a:srgbClr val="07182A"/>
                </a:solidFill>
                <a:latin typeface="CiscoSansTT Medium"/>
                <a:ea typeface="CiscoSansTT Medium"/>
                <a:cs typeface="CiscoSansTT Medium"/>
              </a:defRPr>
            </a:lvl8pPr>
            <a:lvl9pPr algn="ctr">
              <a:defRPr sz="2025" b="1">
                <a:solidFill>
                  <a:srgbClr val="07182A"/>
                </a:solidFill>
                <a:latin typeface="CiscoSansTT Medium"/>
                <a:ea typeface="CiscoSansTT Medium"/>
                <a:cs typeface="CiscoSansTT Medium"/>
              </a:defRPr>
            </a:lvl9pPr>
          </a:lstStyle>
          <a:p>
            <a:pPr algn="ctr">
              <a:buNone/>
              <a:defRPr sz="2025" b="1">
                <a:solidFill>
                  <a:srgbClr val="07182A"/>
                </a:solidFill>
                <a:latin typeface="CiscoSansTT Medium"/>
                <a:ea typeface="CiscoSansTT Medium"/>
                <a:cs typeface="CiscoSansTT Medium"/>
              </a:defRPr>
            </a:pPr>
            <a:r>
              <a:rPr sz="2025" b="1">
                <a:solidFill>
                  <a:srgbClr val="07182A"/>
                </a:solidFill>
                <a:latin typeface="CiscoSansTT Medium"/>
                <a:ea typeface="CiscoSansTT Medium"/>
                <a:cs typeface="CiscoSansTT Medium"/>
              </a:rPr>
              <a:t>Cilium</a:t>
            </a:r>
          </a:p>
          <a:p>
            <a:pPr algn="ctr">
              <a:buNone/>
              <a:defRPr sz="2025" b="1">
                <a:solidFill>
                  <a:srgbClr val="07182A"/>
                </a:solidFill>
                <a:latin typeface="CiscoSansTT Medium"/>
                <a:ea typeface="CiscoSansTT Medium"/>
                <a:cs typeface="CiscoSansTT Medium"/>
              </a:defRPr>
            </a:pPr>
            <a:r>
              <a:rPr sz="2025" b="1">
                <a:solidFill>
                  <a:srgbClr val="07182A"/>
                </a:solidFill>
                <a:latin typeface="CiscoSansTT Medium"/>
                <a:ea typeface="CiscoSansTT Medium"/>
                <a:cs typeface="CiscoSansTT Medium"/>
              </a:rPr>
              <a:t>Apply networking + policy</a:t>
            </a:r>
          </a:p>
        </p:txBody>
      </p:sp>
      <p:sp>
        <p:nvSpPr>
          <p:cNvPr id="6" name="Rounded Rectangle 5">
            <a:extLst>
              <a:ext uri="{FF2B5EF4-FFF2-40B4-BE49-F238E27FC236}">
                <a16:creationId xmlns:a16="http://schemas.microsoft.com/office/drawing/2014/main" id="{A25EFA0D-21C9-45F7-A6DB-22113BE509FF}"/>
              </a:ext>
            </a:extLst>
          </p:cNvPr>
          <p:cNvSpPr>
            <a:spLocks noGrp="1"/>
          </p:cNvSpPr>
          <p:nvPr/>
        </p:nvSpPr>
        <p:spPr>
          <a:xfrm>
            <a:off x="10239375" y="2266950"/>
            <a:ext cx="1143000" cy="381000"/>
          </a:xfrm>
          <a:prstGeom prst="roundRect">
            <a:avLst>
              <a:gd name="adj" fmla="val 20000"/>
            </a:avLst>
          </a:prstGeom>
          <a:solidFill>
            <a:srgbClr val="0860FE"/>
          </a:solidFill>
          <a:ln w="0">
            <a:noFill/>
          </a:ln>
        </p:spPr>
        <p:txBody>
          <a:bodyPr anchor="ctr">
            <a:noAutofit/>
          </a:bodyPr>
          <a:lstStyle>
            <a:defPPr algn="ctr">
              <a:defRPr sz="1500" b="1">
                <a:solidFill>
                  <a:srgbClr val="FFFFFF"/>
                </a:solidFill>
                <a:latin typeface="CiscoSansTT Medium"/>
                <a:ea typeface="CiscoSansTT Medium"/>
                <a:cs typeface="CiscoSansTT Medium"/>
              </a:defRPr>
            </a:defPPr>
            <a:lvl1pPr algn="ctr">
              <a:defRPr sz="1500" b="1">
                <a:solidFill>
                  <a:srgbClr val="FFFFFF"/>
                </a:solidFill>
                <a:latin typeface="CiscoSansTT Medium"/>
                <a:ea typeface="CiscoSansTT Medium"/>
                <a:cs typeface="CiscoSansTT Medium"/>
              </a:defRPr>
            </a:lvl1pPr>
            <a:lvl2pPr algn="ctr">
              <a:defRPr sz="1500" b="1">
                <a:solidFill>
                  <a:srgbClr val="FFFFFF"/>
                </a:solidFill>
                <a:latin typeface="CiscoSansTT Medium"/>
                <a:ea typeface="CiscoSansTT Medium"/>
                <a:cs typeface="CiscoSansTT Medium"/>
              </a:defRPr>
            </a:lvl2pPr>
            <a:lvl3pPr algn="ctr">
              <a:defRPr sz="1500" b="1">
                <a:solidFill>
                  <a:srgbClr val="FFFFFF"/>
                </a:solidFill>
                <a:latin typeface="CiscoSansTT Medium"/>
                <a:ea typeface="CiscoSansTT Medium"/>
                <a:cs typeface="CiscoSansTT Medium"/>
              </a:defRPr>
            </a:lvl3pPr>
            <a:lvl4pPr algn="ctr">
              <a:defRPr sz="1500" b="1">
                <a:solidFill>
                  <a:srgbClr val="FFFFFF"/>
                </a:solidFill>
                <a:latin typeface="CiscoSansTT Medium"/>
                <a:ea typeface="CiscoSansTT Medium"/>
                <a:cs typeface="CiscoSansTT Medium"/>
              </a:defRPr>
            </a:lvl4pPr>
            <a:lvl5pPr algn="ctr">
              <a:defRPr sz="1500" b="1">
                <a:solidFill>
                  <a:srgbClr val="FFFFFF"/>
                </a:solidFill>
                <a:latin typeface="CiscoSansTT Medium"/>
                <a:ea typeface="CiscoSansTT Medium"/>
                <a:cs typeface="CiscoSansTT Medium"/>
              </a:defRPr>
            </a:lvl5pPr>
            <a:lvl6pPr algn="ctr">
              <a:defRPr sz="1500" b="1">
                <a:solidFill>
                  <a:srgbClr val="FFFFFF"/>
                </a:solidFill>
                <a:latin typeface="CiscoSansTT Medium"/>
                <a:ea typeface="CiscoSansTT Medium"/>
                <a:cs typeface="CiscoSansTT Medium"/>
              </a:defRPr>
            </a:lvl6pPr>
            <a:lvl7pPr algn="ctr">
              <a:defRPr sz="1500" b="1">
                <a:solidFill>
                  <a:srgbClr val="FFFFFF"/>
                </a:solidFill>
                <a:latin typeface="CiscoSansTT Medium"/>
                <a:ea typeface="CiscoSansTT Medium"/>
                <a:cs typeface="CiscoSansTT Medium"/>
              </a:defRPr>
            </a:lvl7pPr>
            <a:lvl8pPr algn="ctr">
              <a:defRPr sz="1500" b="1">
                <a:solidFill>
                  <a:srgbClr val="FFFFFF"/>
                </a:solidFill>
                <a:latin typeface="CiscoSansTT Medium"/>
                <a:ea typeface="CiscoSansTT Medium"/>
                <a:cs typeface="CiscoSansTT Medium"/>
              </a:defRPr>
            </a:lvl8pPr>
            <a:lvl9pPr algn="ctr">
              <a:defRPr sz="1500" b="1">
                <a:solidFill>
                  <a:srgbClr val="FFFFFF"/>
                </a:solidFill>
                <a:latin typeface="CiscoSansTT Medium"/>
                <a:ea typeface="CiscoSansTT Medium"/>
                <a:cs typeface="CiscoSansTT Medium"/>
              </a:defRPr>
            </a:lvl9pPr>
          </a:lstStyle>
          <a:p>
            <a:pPr algn="ctr">
              <a:buNone/>
              <a:defRPr sz="1500" b="1">
                <a:solidFill>
                  <a:srgbClr val="FFFFFF"/>
                </a:solidFill>
                <a:latin typeface="CiscoSansTT Medium"/>
                <a:ea typeface="CiscoSansTT Medium"/>
                <a:cs typeface="CiscoSansTT Medium"/>
              </a:defRPr>
            </a:pPr>
            <a:r>
              <a:rPr sz="1500" b="1">
                <a:solidFill>
                  <a:srgbClr val="FFFFFF"/>
                </a:solidFill>
                <a:latin typeface="CiscoSansTT Medium"/>
                <a:ea typeface="CiscoSansTT Medium"/>
                <a:cs typeface="CiscoSansTT Medium"/>
              </a:rPr>
              <a:t>LAST</a:t>
            </a:r>
          </a:p>
        </p:txBody>
      </p:sp>
      <p:cxnSp>
        <p:nvCxnSpPr>
          <p:cNvPr id="112" name="Straight Arrow Connector 20">
            <a:extLst>
              <a:ext uri="{FF2B5EF4-FFF2-40B4-BE49-F238E27FC236}">
                <a16:creationId xmlns:a16="http://schemas.microsoft.com/office/drawing/2014/main" id="{26B767C4-2ACD-40AD-B092-E0FD08B75B50}"/>
              </a:ext>
            </a:extLst>
          </p:cNvPr>
          <p:cNvCxnSpPr>
            <a:stCxn id="4" idx="3"/>
            <a:endCxn id="5" idx="1"/>
          </p:cNvCxnSpPr>
          <p:nvPr/>
        </p:nvCxnSpPr>
        <p:spPr>
          <a:xfrm>
            <a:off x="4953000" y="2643188"/>
            <a:ext cx="2286000" cy="0"/>
          </a:xfrm>
          <a:prstGeom prst="straightConnector1">
            <a:avLst/>
          </a:prstGeom>
          <a:ln w="38100">
            <a:solidFill>
              <a:srgbClr val="07182A"/>
            </a:solidFill>
            <a:prstDash val="solid"/>
            <a:tailEnd type="arrow" w="med" len="med"/>
          </a:ln>
        </p:spPr>
      </p:cxnSp>
      <p:sp>
        <p:nvSpPr>
          <p:cNvPr id="8" name="Rectangle 7">
            <a:extLst>
              <a:ext uri="{FF2B5EF4-FFF2-40B4-BE49-F238E27FC236}">
                <a16:creationId xmlns:a16="http://schemas.microsoft.com/office/drawing/2014/main" id="{81723338-AEC6-46A8-A6E9-DB0E8AC17B5D}"/>
              </a:ext>
            </a:extLst>
          </p:cNvPr>
          <p:cNvSpPr>
            <a:spLocks noGrp="1"/>
          </p:cNvSpPr>
          <p:nvPr/>
        </p:nvSpPr>
        <p:spPr>
          <a:xfrm>
            <a:off x="2381250" y="3848100"/>
            <a:ext cx="7429500" cy="19050"/>
          </a:xfrm>
          <a:prstGeom prst="rect">
            <a:avLst/>
          </a:prstGeom>
          <a:solidFill>
            <a:srgbClr val="D6D6D6"/>
          </a:solidFill>
          <a:ln w="0">
            <a:noFill/>
          </a:ln>
        </p:spPr>
        <p:txBody>
          <a:bodyPr/>
          <a:lstStyle/>
          <a:p>
            <a:endParaRPr/>
          </a:p>
        </p:txBody>
      </p:sp>
      <p:sp>
        <p:nvSpPr>
          <p:cNvPr id="9" name="Rectangle 8">
            <a:extLst>
              <a:ext uri="{FF2B5EF4-FFF2-40B4-BE49-F238E27FC236}">
                <a16:creationId xmlns:a16="http://schemas.microsoft.com/office/drawing/2014/main" id="{0D7691E9-DC2A-4F17-918F-76C126E8BF88}"/>
              </a:ext>
            </a:extLst>
          </p:cNvPr>
          <p:cNvSpPr>
            <a:spLocks noGrp="1"/>
          </p:cNvSpPr>
          <p:nvPr/>
        </p:nvSpPr>
        <p:spPr>
          <a:xfrm>
            <a:off x="1905000" y="4286250"/>
            <a:ext cx="95250" cy="95250"/>
          </a:xfrm>
          <a:prstGeom prst="rect">
            <a:avLst/>
          </a:prstGeom>
          <a:solidFill>
            <a:srgbClr val="02C8FF"/>
          </a:solidFill>
          <a:ln w="0">
            <a:noFill/>
          </a:ln>
        </p:spPr>
        <p:txBody>
          <a:bodyPr/>
          <a:lstStyle/>
          <a:p>
            <a:endParaRPr/>
          </a:p>
        </p:txBody>
      </p:sp>
      <p:sp>
        <p:nvSpPr>
          <p:cNvPr id="10" name="Rectangle 9">
            <a:extLst>
              <a:ext uri="{FF2B5EF4-FFF2-40B4-BE49-F238E27FC236}">
                <a16:creationId xmlns:a16="http://schemas.microsoft.com/office/drawing/2014/main" id="{0267C6E7-9B37-4D0C-896A-F682D66023B1}"/>
              </a:ext>
            </a:extLst>
          </p:cNvPr>
          <p:cNvSpPr>
            <a:spLocks noGrp="1"/>
          </p:cNvSpPr>
          <p:nvPr/>
        </p:nvSpPr>
        <p:spPr>
          <a:xfrm>
            <a:off x="2171700" y="4191000"/>
            <a:ext cx="8305800" cy="514350"/>
          </a:xfrm>
          <a:prstGeom prst="rect">
            <a:avLst/>
          </a:prstGeom>
          <a:noFill/>
          <a:ln w="0">
            <a:noFill/>
          </a:ln>
        </p:spPr>
        <p:txBody>
          <a:bodyPr anchor="ctr">
            <a:noAutofit/>
          </a:bodyPr>
          <a:lstStyle>
            <a:defPPr algn="l">
              <a:defRPr sz="1875" b="0">
                <a:solidFill>
                  <a:srgbClr val="07182A"/>
                </a:solidFill>
                <a:latin typeface="CiscoSansTT"/>
                <a:ea typeface="CiscoSansTT"/>
                <a:cs typeface="CiscoSansTT"/>
              </a:defRPr>
            </a:defPPr>
            <a:lvl1pPr algn="l">
              <a:defRPr sz="1875" b="0">
                <a:solidFill>
                  <a:srgbClr val="07182A"/>
                </a:solidFill>
                <a:latin typeface="CiscoSansTT"/>
                <a:ea typeface="CiscoSansTT"/>
                <a:cs typeface="CiscoSansTT"/>
              </a:defRPr>
            </a:lvl1pPr>
            <a:lvl2pPr algn="l">
              <a:defRPr sz="1875" b="0">
                <a:solidFill>
                  <a:srgbClr val="07182A"/>
                </a:solidFill>
                <a:latin typeface="CiscoSansTT"/>
                <a:ea typeface="CiscoSansTT"/>
                <a:cs typeface="CiscoSansTT"/>
              </a:defRPr>
            </a:lvl2pPr>
            <a:lvl3pPr algn="l">
              <a:defRPr sz="1875" b="0">
                <a:solidFill>
                  <a:srgbClr val="07182A"/>
                </a:solidFill>
                <a:latin typeface="CiscoSansTT"/>
                <a:ea typeface="CiscoSansTT"/>
                <a:cs typeface="CiscoSansTT"/>
              </a:defRPr>
            </a:lvl3pPr>
            <a:lvl4pPr algn="l">
              <a:defRPr sz="1875" b="0">
                <a:solidFill>
                  <a:srgbClr val="07182A"/>
                </a:solidFill>
                <a:latin typeface="CiscoSansTT"/>
                <a:ea typeface="CiscoSansTT"/>
                <a:cs typeface="CiscoSansTT"/>
              </a:defRPr>
            </a:lvl4pPr>
            <a:lvl5pPr algn="l">
              <a:defRPr sz="1875" b="0">
                <a:solidFill>
                  <a:srgbClr val="07182A"/>
                </a:solidFill>
                <a:latin typeface="CiscoSansTT"/>
                <a:ea typeface="CiscoSansTT"/>
                <a:cs typeface="CiscoSansTT"/>
              </a:defRPr>
            </a:lvl5pPr>
            <a:lvl6pPr algn="l">
              <a:defRPr sz="1875" b="0">
                <a:solidFill>
                  <a:srgbClr val="07182A"/>
                </a:solidFill>
                <a:latin typeface="CiscoSansTT"/>
                <a:ea typeface="CiscoSansTT"/>
                <a:cs typeface="CiscoSansTT"/>
              </a:defRPr>
            </a:lvl6pPr>
            <a:lvl7pPr algn="l">
              <a:defRPr sz="1875" b="0">
                <a:solidFill>
                  <a:srgbClr val="07182A"/>
                </a:solidFill>
                <a:latin typeface="CiscoSansTT"/>
                <a:ea typeface="CiscoSansTT"/>
                <a:cs typeface="CiscoSansTT"/>
              </a:defRPr>
            </a:lvl7pPr>
            <a:lvl8pPr algn="l">
              <a:defRPr sz="1875" b="0">
                <a:solidFill>
                  <a:srgbClr val="07182A"/>
                </a:solidFill>
                <a:latin typeface="CiscoSansTT"/>
                <a:ea typeface="CiscoSansTT"/>
                <a:cs typeface="CiscoSansTT"/>
              </a:defRPr>
            </a:lvl8pPr>
            <a:lvl9pPr algn="l">
              <a:defRPr sz="1875" b="0">
                <a:solidFill>
                  <a:srgbClr val="07182A"/>
                </a:solidFill>
                <a:latin typeface="CiscoSansTT"/>
                <a:ea typeface="CiscoSansTT"/>
                <a:cs typeface="CiscoSansTT"/>
              </a:defRPr>
            </a:lvl9pPr>
          </a:lstStyle>
          <a:p>
            <a:pPr algn="l">
              <a:buNone/>
              <a:defRPr sz="1875" b="0">
                <a:solidFill>
                  <a:srgbClr val="07182A"/>
                </a:solidFill>
                <a:latin typeface="CiscoSansTT"/>
                <a:ea typeface="CiscoSansTT"/>
                <a:cs typeface="CiscoSansTT"/>
              </a:defRPr>
            </a:pPr>
            <a:r>
              <a:rPr sz="1875" b="0">
                <a:solidFill>
                  <a:srgbClr val="07182A"/>
                </a:solidFill>
                <a:latin typeface="CiscoSansTT"/>
                <a:ea typeface="CiscoSansTT"/>
                <a:cs typeface="CiscoSansTT"/>
              </a:rPr>
              <a:t>TCX keeps both programs in one ordered list.</a:t>
            </a:r>
          </a:p>
        </p:txBody>
      </p:sp>
      <p:sp>
        <p:nvSpPr>
          <p:cNvPr id="11" name="Rectangle 10">
            <a:extLst>
              <a:ext uri="{FF2B5EF4-FFF2-40B4-BE49-F238E27FC236}">
                <a16:creationId xmlns:a16="http://schemas.microsoft.com/office/drawing/2014/main" id="{C33D4382-6522-4B0D-84F2-1F90F244A5B8}"/>
              </a:ext>
            </a:extLst>
          </p:cNvPr>
          <p:cNvSpPr>
            <a:spLocks noGrp="1"/>
          </p:cNvSpPr>
          <p:nvPr/>
        </p:nvSpPr>
        <p:spPr>
          <a:xfrm>
            <a:off x="1905000" y="4838700"/>
            <a:ext cx="95250" cy="95250"/>
          </a:xfrm>
          <a:prstGeom prst="rect">
            <a:avLst/>
          </a:prstGeom>
          <a:solidFill>
            <a:srgbClr val="02C8FF"/>
          </a:solidFill>
          <a:ln w="0">
            <a:noFill/>
          </a:ln>
        </p:spPr>
        <p:txBody>
          <a:bodyPr/>
          <a:lstStyle/>
          <a:p>
            <a:endParaRPr/>
          </a:p>
        </p:txBody>
      </p:sp>
      <p:sp>
        <p:nvSpPr>
          <p:cNvPr id="12" name="Rectangle 11">
            <a:extLst>
              <a:ext uri="{FF2B5EF4-FFF2-40B4-BE49-F238E27FC236}">
                <a16:creationId xmlns:a16="http://schemas.microsoft.com/office/drawing/2014/main" id="{34AFD7D3-DBBC-467B-AF67-D1E09884FC95}"/>
              </a:ext>
            </a:extLst>
          </p:cNvPr>
          <p:cNvSpPr>
            <a:spLocks noGrp="1"/>
          </p:cNvSpPr>
          <p:nvPr/>
        </p:nvSpPr>
        <p:spPr>
          <a:xfrm>
            <a:off x="2171700" y="4743450"/>
            <a:ext cx="8305800" cy="514350"/>
          </a:xfrm>
          <a:prstGeom prst="rect">
            <a:avLst/>
          </a:prstGeom>
          <a:noFill/>
          <a:ln w="0">
            <a:noFill/>
          </a:ln>
        </p:spPr>
        <p:txBody>
          <a:bodyPr anchor="ctr">
            <a:noAutofit/>
          </a:bodyPr>
          <a:lstStyle>
            <a:defPPr algn="l">
              <a:defRPr sz="1875" b="0">
                <a:solidFill>
                  <a:srgbClr val="07182A"/>
                </a:solidFill>
                <a:latin typeface="CiscoSansTT"/>
                <a:ea typeface="CiscoSansTT"/>
                <a:cs typeface="CiscoSansTT"/>
              </a:defRPr>
            </a:defPPr>
            <a:lvl1pPr algn="l">
              <a:defRPr sz="1875" b="0">
                <a:solidFill>
                  <a:srgbClr val="07182A"/>
                </a:solidFill>
                <a:latin typeface="CiscoSansTT"/>
                <a:ea typeface="CiscoSansTT"/>
                <a:cs typeface="CiscoSansTT"/>
              </a:defRPr>
            </a:lvl1pPr>
            <a:lvl2pPr algn="l">
              <a:defRPr sz="1875" b="0">
                <a:solidFill>
                  <a:srgbClr val="07182A"/>
                </a:solidFill>
                <a:latin typeface="CiscoSansTT"/>
                <a:ea typeface="CiscoSansTT"/>
                <a:cs typeface="CiscoSansTT"/>
              </a:defRPr>
            </a:lvl2pPr>
            <a:lvl3pPr algn="l">
              <a:defRPr sz="1875" b="0">
                <a:solidFill>
                  <a:srgbClr val="07182A"/>
                </a:solidFill>
                <a:latin typeface="CiscoSansTT"/>
                <a:ea typeface="CiscoSansTT"/>
                <a:cs typeface="CiscoSansTT"/>
              </a:defRPr>
            </a:lvl3pPr>
            <a:lvl4pPr algn="l">
              <a:defRPr sz="1875" b="0">
                <a:solidFill>
                  <a:srgbClr val="07182A"/>
                </a:solidFill>
                <a:latin typeface="CiscoSansTT"/>
                <a:ea typeface="CiscoSansTT"/>
                <a:cs typeface="CiscoSansTT"/>
              </a:defRPr>
            </a:lvl4pPr>
            <a:lvl5pPr algn="l">
              <a:defRPr sz="1875" b="0">
                <a:solidFill>
                  <a:srgbClr val="07182A"/>
                </a:solidFill>
                <a:latin typeface="CiscoSansTT"/>
                <a:ea typeface="CiscoSansTT"/>
                <a:cs typeface="CiscoSansTT"/>
              </a:defRPr>
            </a:lvl5pPr>
            <a:lvl6pPr algn="l">
              <a:defRPr sz="1875" b="0">
                <a:solidFill>
                  <a:srgbClr val="07182A"/>
                </a:solidFill>
                <a:latin typeface="CiscoSansTT"/>
                <a:ea typeface="CiscoSansTT"/>
                <a:cs typeface="CiscoSansTT"/>
              </a:defRPr>
            </a:lvl6pPr>
            <a:lvl7pPr algn="l">
              <a:defRPr sz="1875" b="0">
                <a:solidFill>
                  <a:srgbClr val="07182A"/>
                </a:solidFill>
                <a:latin typeface="CiscoSansTT"/>
                <a:ea typeface="CiscoSansTT"/>
                <a:cs typeface="CiscoSansTT"/>
              </a:defRPr>
            </a:lvl7pPr>
            <a:lvl8pPr algn="l">
              <a:defRPr sz="1875" b="0">
                <a:solidFill>
                  <a:srgbClr val="07182A"/>
                </a:solidFill>
                <a:latin typeface="CiscoSansTT"/>
                <a:ea typeface="CiscoSansTT"/>
                <a:cs typeface="CiscoSansTT"/>
              </a:defRPr>
            </a:lvl8pPr>
            <a:lvl9pPr algn="l">
              <a:defRPr sz="1875" b="0">
                <a:solidFill>
                  <a:srgbClr val="07182A"/>
                </a:solidFill>
                <a:latin typeface="CiscoSansTT"/>
                <a:ea typeface="CiscoSansTT"/>
                <a:cs typeface="CiscoSansTT"/>
              </a:defRPr>
            </a:lvl9pPr>
          </a:lstStyle>
          <a:p>
            <a:pPr algn="l">
              <a:buNone/>
              <a:defRPr sz="1875" b="0">
                <a:solidFill>
                  <a:srgbClr val="07182A"/>
                </a:solidFill>
                <a:latin typeface="CiscoSansTT"/>
                <a:ea typeface="CiscoSansTT"/>
                <a:cs typeface="CiscoSansTT"/>
              </a:defRPr>
            </a:pPr>
            <a:r>
              <a:rPr sz="1875" b="0">
                <a:solidFill>
                  <a:srgbClr val="07182A"/>
                </a:solidFill>
                <a:latin typeface="CiscoSansTT"/>
                <a:ea typeface="CiscoSansTT"/>
                <a:cs typeface="CiscoSansTT"/>
              </a:rPr>
              <a:t>Confirm TCX in the agent logs on the running node.</a:t>
            </a:r>
          </a:p>
        </p:txBody>
      </p:sp>
      <p:sp>
        <p:nvSpPr>
          <p:cNvPr id="13" name="Rectangle 12">
            <a:extLst>
              <a:ext uri="{FF2B5EF4-FFF2-40B4-BE49-F238E27FC236}">
                <a16:creationId xmlns:a16="http://schemas.microsoft.com/office/drawing/2014/main" id="{ED5168D3-A4AE-4C03-BD57-4769C0F69AAF}"/>
              </a:ext>
            </a:extLst>
          </p:cNvPr>
          <p:cNvSpPr>
            <a:spLocks noGrp="1"/>
          </p:cNvSpPr>
          <p:nvPr/>
        </p:nvSpPr>
        <p:spPr>
          <a:xfrm>
            <a:off x="1905000" y="5391150"/>
            <a:ext cx="95250" cy="95250"/>
          </a:xfrm>
          <a:prstGeom prst="rect">
            <a:avLst/>
          </a:prstGeom>
          <a:solidFill>
            <a:srgbClr val="FF9000"/>
          </a:solidFill>
          <a:ln w="0">
            <a:noFill/>
          </a:ln>
        </p:spPr>
        <p:txBody>
          <a:bodyPr/>
          <a:lstStyle/>
          <a:p>
            <a:endParaRPr/>
          </a:p>
        </p:txBody>
      </p:sp>
      <p:sp>
        <p:nvSpPr>
          <p:cNvPr id="14" name="Rectangle 13">
            <a:extLst>
              <a:ext uri="{FF2B5EF4-FFF2-40B4-BE49-F238E27FC236}">
                <a16:creationId xmlns:a16="http://schemas.microsoft.com/office/drawing/2014/main" id="{418E2667-0F13-4934-813C-7529483B1954}"/>
              </a:ext>
            </a:extLst>
          </p:cNvPr>
          <p:cNvSpPr>
            <a:spLocks noGrp="1"/>
          </p:cNvSpPr>
          <p:nvPr/>
        </p:nvSpPr>
        <p:spPr>
          <a:xfrm>
            <a:off x="2171700" y="5295900"/>
            <a:ext cx="8305800" cy="514350"/>
          </a:xfrm>
          <a:prstGeom prst="rect">
            <a:avLst/>
          </a:prstGeom>
          <a:noFill/>
          <a:ln w="0">
            <a:noFill/>
          </a:ln>
        </p:spPr>
        <p:txBody>
          <a:bodyPr anchor="ctr">
            <a:noAutofit/>
          </a:bodyPr>
          <a:lstStyle>
            <a:defPPr algn="l">
              <a:defRPr sz="1875" b="0">
                <a:solidFill>
                  <a:srgbClr val="07182A"/>
                </a:solidFill>
                <a:latin typeface="CiscoSansTT"/>
                <a:ea typeface="CiscoSansTT"/>
                <a:cs typeface="CiscoSansTT"/>
              </a:defRPr>
            </a:defPPr>
            <a:lvl1pPr algn="l">
              <a:defRPr sz="1875" b="0">
                <a:solidFill>
                  <a:srgbClr val="07182A"/>
                </a:solidFill>
                <a:latin typeface="CiscoSansTT"/>
                <a:ea typeface="CiscoSansTT"/>
                <a:cs typeface="CiscoSansTT"/>
              </a:defRPr>
            </a:lvl1pPr>
            <a:lvl2pPr algn="l">
              <a:defRPr sz="1875" b="0">
                <a:solidFill>
                  <a:srgbClr val="07182A"/>
                </a:solidFill>
                <a:latin typeface="CiscoSansTT"/>
                <a:ea typeface="CiscoSansTT"/>
                <a:cs typeface="CiscoSansTT"/>
              </a:defRPr>
            </a:lvl2pPr>
            <a:lvl3pPr algn="l">
              <a:defRPr sz="1875" b="0">
                <a:solidFill>
                  <a:srgbClr val="07182A"/>
                </a:solidFill>
                <a:latin typeface="CiscoSansTT"/>
                <a:ea typeface="CiscoSansTT"/>
                <a:cs typeface="CiscoSansTT"/>
              </a:defRPr>
            </a:lvl3pPr>
            <a:lvl4pPr algn="l">
              <a:defRPr sz="1875" b="0">
                <a:solidFill>
                  <a:srgbClr val="07182A"/>
                </a:solidFill>
                <a:latin typeface="CiscoSansTT"/>
                <a:ea typeface="CiscoSansTT"/>
                <a:cs typeface="CiscoSansTT"/>
              </a:defRPr>
            </a:lvl4pPr>
            <a:lvl5pPr algn="l">
              <a:defRPr sz="1875" b="0">
                <a:solidFill>
                  <a:srgbClr val="07182A"/>
                </a:solidFill>
                <a:latin typeface="CiscoSansTT"/>
                <a:ea typeface="CiscoSansTT"/>
                <a:cs typeface="CiscoSansTT"/>
              </a:defRPr>
            </a:lvl5pPr>
            <a:lvl6pPr algn="l">
              <a:defRPr sz="1875" b="0">
                <a:solidFill>
                  <a:srgbClr val="07182A"/>
                </a:solidFill>
                <a:latin typeface="CiscoSansTT"/>
                <a:ea typeface="CiscoSansTT"/>
                <a:cs typeface="CiscoSansTT"/>
              </a:defRPr>
            </a:lvl6pPr>
            <a:lvl7pPr algn="l">
              <a:defRPr sz="1875" b="0">
                <a:solidFill>
                  <a:srgbClr val="07182A"/>
                </a:solidFill>
                <a:latin typeface="CiscoSansTT"/>
                <a:ea typeface="CiscoSansTT"/>
                <a:cs typeface="CiscoSansTT"/>
              </a:defRPr>
            </a:lvl7pPr>
            <a:lvl8pPr algn="l">
              <a:defRPr sz="1875" b="0">
                <a:solidFill>
                  <a:srgbClr val="07182A"/>
                </a:solidFill>
                <a:latin typeface="CiscoSansTT"/>
                <a:ea typeface="CiscoSansTT"/>
                <a:cs typeface="CiscoSansTT"/>
              </a:defRPr>
            </a:lvl8pPr>
            <a:lvl9pPr algn="l">
              <a:defRPr sz="1875" b="0">
                <a:solidFill>
                  <a:srgbClr val="07182A"/>
                </a:solidFill>
                <a:latin typeface="CiscoSansTT"/>
                <a:ea typeface="CiscoSansTT"/>
                <a:cs typeface="CiscoSansTT"/>
              </a:defRPr>
            </a:lvl9pPr>
          </a:lstStyle>
          <a:p>
            <a:pPr algn="l">
              <a:buNone/>
              <a:defRPr sz="1875" b="0">
                <a:solidFill>
                  <a:srgbClr val="07182A"/>
                </a:solidFill>
                <a:latin typeface="CiscoSansTT"/>
                <a:ea typeface="CiscoSansTT"/>
                <a:cs typeface="CiscoSansTT"/>
              </a:defRPr>
            </a:pPr>
            <a:r>
              <a:rPr sz="1875" b="0">
                <a:solidFill>
                  <a:srgbClr val="07182A"/>
                </a:solidFill>
                <a:latin typeface="CiscoSansTT"/>
                <a:ea typeface="CiscoSansTT"/>
                <a:cs typeface="CiscoSansTT"/>
              </a:rPr>
              <a:t>Test the request and check that its telemetry arrives.</a:t>
            </a:r>
          </a:p>
        </p:txBody>
      </p:sp>
      <p:sp>
        <p:nvSpPr>
          <p:cNvPr id="113" name="optional-tc-flow-scope">
            <a:extLst>
              <a:ext uri="{FF2B5EF4-FFF2-40B4-BE49-F238E27FC236}">
                <a16:creationId xmlns:a16="http://schemas.microsoft.com/office/drawing/2014/main" id="{8494E141-E4CE-4EE6-B55F-1AE6A219D40E}"/>
              </a:ext>
            </a:extLst>
          </p:cNvPr>
          <p:cNvSpPr>
            <a:spLocks noGrp="1"/>
          </p:cNvSpPr>
          <p:nvPr/>
        </p:nvSpPr>
        <p:spPr>
          <a:xfrm>
            <a:off x="666750" y="1162050"/>
            <a:ext cx="10858500" cy="400050"/>
          </a:xfrm>
          <a:prstGeom prst="rect">
            <a:avLst/>
          </a:prstGeom>
          <a:noFill/>
          <a:ln w="0">
            <a:noFill/>
          </a:ln>
        </p:spPr>
        <p:txBody>
          <a:bodyPr anchor="ctr">
            <a:noAutofit/>
          </a:bodyPr>
          <a:lstStyle>
            <a:defPPr algn="l">
              <a:defRPr sz="1875" b="0">
                <a:solidFill>
                  <a:srgbClr val="686B6B"/>
                </a:solidFill>
                <a:latin typeface="CiscoSansTT"/>
                <a:ea typeface="CiscoSansTT"/>
                <a:cs typeface="CiscoSansTT"/>
              </a:defRPr>
            </a:defPPr>
            <a:lvl1pPr algn="l">
              <a:defRPr sz="1875" b="0">
                <a:solidFill>
                  <a:srgbClr val="686B6B"/>
                </a:solidFill>
                <a:latin typeface="CiscoSansTT"/>
                <a:ea typeface="CiscoSansTT"/>
                <a:cs typeface="CiscoSansTT"/>
              </a:defRPr>
            </a:lvl1pPr>
            <a:lvl2pPr algn="l">
              <a:defRPr sz="1875" b="0">
                <a:solidFill>
                  <a:srgbClr val="686B6B"/>
                </a:solidFill>
                <a:latin typeface="CiscoSansTT"/>
                <a:ea typeface="CiscoSansTT"/>
                <a:cs typeface="CiscoSansTT"/>
              </a:defRPr>
            </a:lvl2pPr>
            <a:lvl3pPr algn="l">
              <a:defRPr sz="1875" b="0">
                <a:solidFill>
                  <a:srgbClr val="686B6B"/>
                </a:solidFill>
                <a:latin typeface="CiscoSansTT"/>
                <a:ea typeface="CiscoSansTT"/>
                <a:cs typeface="CiscoSansTT"/>
              </a:defRPr>
            </a:lvl3pPr>
            <a:lvl4pPr algn="l">
              <a:defRPr sz="1875" b="0">
                <a:solidFill>
                  <a:srgbClr val="686B6B"/>
                </a:solidFill>
                <a:latin typeface="CiscoSansTT"/>
                <a:ea typeface="CiscoSansTT"/>
                <a:cs typeface="CiscoSansTT"/>
              </a:defRPr>
            </a:lvl4pPr>
            <a:lvl5pPr algn="l">
              <a:defRPr sz="1875" b="0">
                <a:solidFill>
                  <a:srgbClr val="686B6B"/>
                </a:solidFill>
                <a:latin typeface="CiscoSansTT"/>
                <a:ea typeface="CiscoSansTT"/>
                <a:cs typeface="CiscoSansTT"/>
              </a:defRPr>
            </a:lvl5pPr>
            <a:lvl6pPr algn="l">
              <a:defRPr sz="1875" b="0">
                <a:solidFill>
                  <a:srgbClr val="686B6B"/>
                </a:solidFill>
                <a:latin typeface="CiscoSansTT"/>
                <a:ea typeface="CiscoSansTT"/>
                <a:cs typeface="CiscoSansTT"/>
              </a:defRPr>
            </a:lvl6pPr>
            <a:lvl7pPr algn="l">
              <a:defRPr sz="1875" b="0">
                <a:solidFill>
                  <a:srgbClr val="686B6B"/>
                </a:solidFill>
                <a:latin typeface="CiscoSansTT"/>
                <a:ea typeface="CiscoSansTT"/>
                <a:cs typeface="CiscoSansTT"/>
              </a:defRPr>
            </a:lvl7pPr>
            <a:lvl8pPr algn="l">
              <a:defRPr sz="1875" b="0">
                <a:solidFill>
                  <a:srgbClr val="686B6B"/>
                </a:solidFill>
                <a:latin typeface="CiscoSansTT"/>
                <a:ea typeface="CiscoSansTT"/>
                <a:cs typeface="CiscoSansTT"/>
              </a:defRPr>
            </a:lvl8pPr>
            <a:lvl9pPr algn="l">
              <a:defRPr sz="1875" b="0">
                <a:solidFill>
                  <a:srgbClr val="686B6B"/>
                </a:solidFill>
                <a:latin typeface="CiscoSansTT"/>
                <a:ea typeface="CiscoSansTT"/>
                <a:cs typeface="CiscoSansTT"/>
              </a:defRPr>
            </a:lvl9pPr>
          </a:lstStyle>
          <a:p>
            <a:pPr algn="l">
              <a:defRPr sz="1875" b="0">
                <a:solidFill>
                  <a:srgbClr val="686B6B"/>
                </a:solidFill>
                <a:latin typeface="CiscoSansTT"/>
                <a:ea typeface="CiscoSansTT"/>
                <a:cs typeface="CiscoSansTT"/>
              </a:defRPr>
            </a:pPr>
            <a:r>
              <a:rPr sz="1875" b="0">
                <a:solidFill>
                  <a:srgbClr val="686B6B"/>
                </a:solidFill>
                <a:latin typeface="CiscoSansTT"/>
                <a:ea typeface="CiscoSansTT"/>
                <a:cs typeface="CiscoSansTT"/>
              </a:rPr>
              <a:t>With optional OBI network capture using TC</a:t>
            </a:r>
          </a:p>
        </p:txBody>
      </p:sp>
    </p:spTree>
    <p:extLst>
      <p:ext uri="{BB962C8B-B14F-4D97-AF65-F5344CB8AC3E}">
        <p14:creationId xmlns:p14="http://schemas.microsoft.com/office/powerpoint/2010/main" val="72672164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7997A2C8-CA2D-4412-9BCD-C55128D0BAAF}"/>
              </a:ext>
            </a:extLst>
          </p:cNvPr>
          <p:cNvSpPr>
            <a:spLocks noGrp="1"/>
          </p:cNvSpPr>
          <p:nvPr/>
        </p:nvSpPr>
        <p:spPr>
          <a:xfrm>
            <a:off x="323850" y="228600"/>
            <a:ext cx="11049000" cy="685800"/>
          </a:xfrm>
          <a:prstGeom prst="rect">
            <a:avLst/>
          </a:prstGeom>
          <a:noFill/>
          <a:ln w="0">
            <a:noFill/>
          </a:ln>
        </p:spPr>
        <p:txBody>
          <a:bodyPr anchor="t">
            <a:normAutofit/>
          </a:bodyPr>
          <a:lstStyle/>
          <a:p>
            <a:pPr>
              <a:defRPr sz="3000" b="1">
                <a:solidFill>
                  <a:srgbClr val="07182A"/>
                </a:solidFill>
                <a:latin typeface="CiscoSansTT Medium"/>
                <a:ea typeface="CiscoSansTT Medium"/>
                <a:cs typeface="CiscoSansTT Medium"/>
              </a:defRPr>
            </a:pPr>
            <a:r>
              <a:rPr lang="en-ES" sz="3000" b="1" dirty="0">
                <a:solidFill>
                  <a:srgbClr val="07182A"/>
                </a:solidFill>
                <a:latin typeface="CiscoSansTT Medium"/>
              </a:rPr>
              <a:t>Traditional</a:t>
            </a:r>
            <a:r>
              <a:rPr sz="3000" b="1" dirty="0">
                <a:solidFill>
                  <a:srgbClr val="07182A"/>
                </a:solidFill>
                <a:latin typeface="CiscoSansTT Medium"/>
                <a:ea typeface="CiscoSansTT Medium"/>
                <a:cs typeface="CiscoSansTT Medium"/>
              </a:rPr>
              <a:t> TC</a:t>
            </a:r>
            <a:r>
              <a:rPr lang="en-US" sz="3000" b="1" dirty="0">
                <a:solidFill>
                  <a:srgbClr val="07182A"/>
                </a:solidFill>
                <a:latin typeface="CiscoSansTT Medium"/>
                <a:ea typeface="CiscoSansTT Medium"/>
                <a:cs typeface="CiscoSansTT Medium"/>
              </a:rPr>
              <a:t> attachment</a:t>
            </a:r>
            <a:r>
              <a:rPr sz="3000" b="1" dirty="0">
                <a:solidFill>
                  <a:srgbClr val="07182A"/>
                </a:solidFill>
                <a:latin typeface="CiscoSansTT Medium"/>
                <a:ea typeface="CiscoSansTT Medium"/>
                <a:cs typeface="CiscoSansTT Medium"/>
              </a:rPr>
              <a:t> needs a priority contract</a:t>
            </a:r>
          </a:p>
        </p:txBody>
      </p:sp>
      <p:sp>
        <p:nvSpPr>
          <p:cNvPr id="2" name="slide-subtitle">
            <a:extLst>
              <a:ext uri="{FF2B5EF4-FFF2-40B4-BE49-F238E27FC236}">
                <a16:creationId xmlns:a16="http://schemas.microsoft.com/office/drawing/2014/main" id="{12E78F13-D05E-4B31-8F53-5C07894486A3}"/>
              </a:ext>
            </a:extLst>
          </p:cNvPr>
          <p:cNvSpPr>
            <a:spLocks noGrp="1"/>
          </p:cNvSpPr>
          <p:nvPr/>
        </p:nvSpPr>
        <p:spPr>
          <a:xfrm>
            <a:off x="552450" y="1028700"/>
            <a:ext cx="10668000" cy="45720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Lower numeric priority runs first.</a:t>
            </a:r>
          </a:p>
        </p:txBody>
      </p:sp>
      <p:sp>
        <p:nvSpPr>
          <p:cNvPr id="3" name="Rounded Rectangle 2">
            <a:extLst>
              <a:ext uri="{FF2B5EF4-FFF2-40B4-BE49-F238E27FC236}">
                <a16:creationId xmlns:a16="http://schemas.microsoft.com/office/drawing/2014/main" id="{F4340365-7A62-46A0-B861-397C798F1ECA}"/>
              </a:ext>
            </a:extLst>
          </p:cNvPr>
          <p:cNvSpPr>
            <a:spLocks noGrp="1"/>
          </p:cNvSpPr>
          <p:nvPr/>
        </p:nvSpPr>
        <p:spPr>
          <a:xfrm>
            <a:off x="1714500" y="2095500"/>
            <a:ext cx="2857500" cy="1428750"/>
          </a:xfrm>
          <a:prstGeom prst="roundRect">
            <a:avLst>
              <a:gd name="adj" fmla="val 5333"/>
            </a:avLst>
          </a:prstGeom>
          <a:solidFill>
            <a:srgbClr val="F4EAF4"/>
          </a:solidFill>
          <a:ln w="14288">
            <a:solidFill>
              <a:srgbClr val="FF007F"/>
            </a:solidFill>
          </a:ln>
        </p:spPr>
        <p:txBody>
          <a:bodyPr anchor="ctr">
            <a:normAutofit/>
          </a:bodyPr>
          <a:lstStyle/>
          <a:p>
            <a:pPr algn="ctr">
              <a:buNone/>
              <a:defRPr sz="2250" b="1">
                <a:solidFill>
                  <a:srgbClr val="07182A"/>
                </a:solidFill>
                <a:latin typeface="CiscoSansTT Medium"/>
                <a:ea typeface="CiscoSansTT Medium"/>
                <a:cs typeface="CiscoSansTT Medium"/>
              </a:defRPr>
            </a:pPr>
            <a:r>
              <a:rPr sz="2250" b="1">
                <a:solidFill>
                  <a:srgbClr val="07182A"/>
                </a:solidFill>
                <a:latin typeface="CiscoSansTT Medium"/>
                <a:ea typeface="CiscoSansTT Medium"/>
                <a:cs typeface="CiscoSansTT Medium"/>
              </a:rPr>
              <a:t>priority 1</a:t>
            </a:r>
          </a:p>
          <a:p>
            <a:pPr algn="ctr">
              <a:buNone/>
              <a:defRPr sz="2250" b="1">
                <a:solidFill>
                  <a:srgbClr val="07182A"/>
                </a:solidFill>
                <a:latin typeface="CiscoSansTT Medium"/>
                <a:ea typeface="CiscoSansTT Medium"/>
                <a:cs typeface="CiscoSansTT Medium"/>
              </a:defRPr>
            </a:pPr>
            <a:r>
              <a:rPr sz="2250" b="1">
                <a:solidFill>
                  <a:srgbClr val="07182A"/>
                </a:solidFill>
                <a:latin typeface="CiscoSansTT Medium"/>
                <a:ea typeface="CiscoSansTT Medium"/>
                <a:cs typeface="CiscoSansTT Medium"/>
              </a:rPr>
              <a:t>OBI</a:t>
            </a:r>
          </a:p>
        </p:txBody>
      </p:sp>
      <p:sp>
        <p:nvSpPr>
          <p:cNvPr id="4" name="Rounded Rectangle 3">
            <a:extLst>
              <a:ext uri="{FF2B5EF4-FFF2-40B4-BE49-F238E27FC236}">
                <a16:creationId xmlns:a16="http://schemas.microsoft.com/office/drawing/2014/main" id="{C1DD56C0-7A7F-457E-A82A-D0E7175F4478}"/>
              </a:ext>
            </a:extLst>
          </p:cNvPr>
          <p:cNvSpPr>
            <a:spLocks noGrp="1"/>
          </p:cNvSpPr>
          <p:nvPr/>
        </p:nvSpPr>
        <p:spPr>
          <a:xfrm>
            <a:off x="7620000" y="2095500"/>
            <a:ext cx="2857500" cy="1428750"/>
          </a:xfrm>
          <a:prstGeom prst="roundRect">
            <a:avLst>
              <a:gd name="adj" fmla="val 5333"/>
            </a:avLst>
          </a:prstGeom>
          <a:solidFill>
            <a:srgbClr val="EAF7FC"/>
          </a:solidFill>
          <a:ln w="14288">
            <a:solidFill>
              <a:srgbClr val="0860FE"/>
            </a:solidFill>
          </a:ln>
        </p:spPr>
        <p:txBody>
          <a:bodyPr anchor="ctr">
            <a:normAutofit/>
          </a:bodyPr>
          <a:lstStyle/>
          <a:p>
            <a:pPr algn="ctr">
              <a:buNone/>
              <a:defRPr sz="2250" b="1">
                <a:solidFill>
                  <a:srgbClr val="07182A"/>
                </a:solidFill>
                <a:latin typeface="CiscoSansTT Medium"/>
                <a:ea typeface="CiscoSansTT Medium"/>
                <a:cs typeface="CiscoSansTT Medium"/>
              </a:defRPr>
            </a:pPr>
            <a:r>
              <a:rPr sz="2250" b="1">
                <a:solidFill>
                  <a:srgbClr val="07182A"/>
                </a:solidFill>
                <a:latin typeface="CiscoSansTT Medium"/>
                <a:ea typeface="CiscoSansTT Medium"/>
                <a:cs typeface="CiscoSansTT Medium"/>
              </a:rPr>
              <a:t>priority 2+</a:t>
            </a:r>
          </a:p>
          <a:p>
            <a:pPr algn="ctr">
              <a:buNone/>
              <a:defRPr sz="2250" b="1">
                <a:solidFill>
                  <a:srgbClr val="07182A"/>
                </a:solidFill>
                <a:latin typeface="CiscoSansTT Medium"/>
                <a:ea typeface="CiscoSansTT Medium"/>
                <a:cs typeface="CiscoSansTT Medium"/>
              </a:defRPr>
            </a:pPr>
            <a:r>
              <a:rPr sz="2250" b="1">
                <a:solidFill>
                  <a:srgbClr val="07182A"/>
                </a:solidFill>
                <a:latin typeface="CiscoSansTT Medium"/>
                <a:ea typeface="CiscoSansTT Medium"/>
                <a:cs typeface="CiscoSansTT Medium"/>
              </a:rPr>
              <a:t>Cilium</a:t>
            </a:r>
          </a:p>
        </p:txBody>
      </p:sp>
      <p:cxnSp>
        <p:nvCxnSpPr>
          <p:cNvPr id="81" name="Straight Arrow Connector 13">
            <a:extLst>
              <a:ext uri="{FF2B5EF4-FFF2-40B4-BE49-F238E27FC236}">
                <a16:creationId xmlns:a16="http://schemas.microsoft.com/office/drawing/2014/main" id="{797D88E8-3667-4134-9800-450B462DB550}"/>
              </a:ext>
            </a:extLst>
          </p:cNvPr>
          <p:cNvCxnSpPr>
            <a:stCxn id="3" idx="3"/>
            <a:endCxn id="4" idx="1"/>
          </p:cNvCxnSpPr>
          <p:nvPr/>
        </p:nvCxnSpPr>
        <p:spPr>
          <a:xfrm>
            <a:off x="4572000" y="2809875"/>
            <a:ext cx="3048000" cy="0"/>
          </a:xfrm>
          <a:prstGeom prst="straightConnector1">
            <a:avLst/>
          </a:prstGeom>
          <a:ln w="38100">
            <a:solidFill>
              <a:srgbClr val="07182A"/>
            </a:solidFill>
            <a:prstDash val="solid"/>
            <a:tailEnd type="arrow" w="med" len="med"/>
          </a:ln>
        </p:spPr>
      </p:cxnSp>
      <p:sp>
        <p:nvSpPr>
          <p:cNvPr id="6" name="Rectangle 5">
            <a:extLst>
              <a:ext uri="{FF2B5EF4-FFF2-40B4-BE49-F238E27FC236}">
                <a16:creationId xmlns:a16="http://schemas.microsoft.com/office/drawing/2014/main" id="{4C0547DB-5BC5-42F5-A58E-A3894A5C481C}"/>
              </a:ext>
            </a:extLst>
          </p:cNvPr>
          <p:cNvSpPr>
            <a:spLocks noGrp="1"/>
          </p:cNvSpPr>
          <p:nvPr/>
        </p:nvSpPr>
        <p:spPr>
          <a:xfrm>
            <a:off x="5191125" y="2495550"/>
            <a:ext cx="1809750" cy="323850"/>
          </a:xfrm>
          <a:prstGeom prst="rect">
            <a:avLst/>
          </a:prstGeom>
          <a:noFill/>
          <a:ln w="0">
            <a:noFill/>
          </a:ln>
        </p:spPr>
        <p:txBody>
          <a:bodyPr anchor="t">
            <a:normAutofit fontScale="99924" lnSpcReduction="10000"/>
          </a:bodyPr>
          <a:lstStyle/>
          <a:p>
            <a:pPr algn="ctr">
              <a:buNone/>
              <a:defRPr sz="1650" b="1">
                <a:solidFill>
                  <a:srgbClr val="2DAA5F"/>
                </a:solidFill>
                <a:latin typeface="CiscoSansTT Medium"/>
                <a:ea typeface="CiscoSansTT Medium"/>
                <a:cs typeface="CiscoSansTT Medium"/>
              </a:defRPr>
            </a:pPr>
            <a:r>
              <a:rPr sz="1650" b="1">
                <a:solidFill>
                  <a:srgbClr val="2DAA5F"/>
                </a:solidFill>
                <a:latin typeface="CiscoSansTT Medium"/>
                <a:ea typeface="CiscoSansTT Medium"/>
                <a:cs typeface="CiscoSansTT Medium"/>
              </a:rPr>
              <a:t>Safe order</a:t>
            </a:r>
          </a:p>
        </p:txBody>
      </p:sp>
      <p:sp>
        <p:nvSpPr>
          <p:cNvPr id="7" name="Rounded Rectangle 6">
            <a:extLst>
              <a:ext uri="{FF2B5EF4-FFF2-40B4-BE49-F238E27FC236}">
                <a16:creationId xmlns:a16="http://schemas.microsoft.com/office/drawing/2014/main" id="{B2ACBA55-06AE-437C-82A4-3A7F2047B29D}"/>
              </a:ext>
            </a:extLst>
          </p:cNvPr>
          <p:cNvSpPr>
            <a:spLocks noGrp="1"/>
          </p:cNvSpPr>
          <p:nvPr/>
        </p:nvSpPr>
        <p:spPr>
          <a:xfrm>
            <a:off x="1714500" y="4191000"/>
            <a:ext cx="8763000" cy="895350"/>
          </a:xfrm>
          <a:prstGeom prst="roundRect">
            <a:avLst>
              <a:gd name="adj" fmla="val 8511"/>
            </a:avLst>
          </a:prstGeom>
          <a:solidFill>
            <a:srgbClr val="FDEDEF"/>
          </a:solidFill>
          <a:ln w="14288">
            <a:solidFill>
              <a:srgbClr val="E84551"/>
            </a:solidFill>
          </a:ln>
        </p:spPr>
        <p:txBody>
          <a:bodyPr/>
          <a:lstStyle/>
          <a:p>
            <a:endParaRPr/>
          </a:p>
        </p:txBody>
      </p:sp>
      <p:sp>
        <p:nvSpPr>
          <p:cNvPr id="8" name="Rectangle 7">
            <a:extLst>
              <a:ext uri="{FF2B5EF4-FFF2-40B4-BE49-F238E27FC236}">
                <a16:creationId xmlns:a16="http://schemas.microsoft.com/office/drawing/2014/main" id="{9822725E-E431-4615-AF0C-451355CBF45D}"/>
              </a:ext>
            </a:extLst>
          </p:cNvPr>
          <p:cNvSpPr>
            <a:spLocks noGrp="1"/>
          </p:cNvSpPr>
          <p:nvPr/>
        </p:nvSpPr>
        <p:spPr>
          <a:xfrm>
            <a:off x="2114550" y="4381500"/>
            <a:ext cx="7962900" cy="381000"/>
          </a:xfrm>
          <a:prstGeom prst="rect">
            <a:avLst/>
          </a:prstGeom>
          <a:noFill/>
          <a:ln w="0">
            <a:noFill/>
          </a:ln>
        </p:spPr>
        <p:txBody>
          <a:bodyPr anchor="t">
            <a:normAutofit fontScale="97063" lnSpcReduction="10000"/>
          </a:bodyPr>
          <a:lstStyle/>
          <a:p>
            <a:pPr algn="ctr">
              <a:buNone/>
              <a:defRPr sz="2175" b="1">
                <a:solidFill>
                  <a:srgbClr val="E84551"/>
                </a:solidFill>
                <a:latin typeface="CiscoSansTT Medium"/>
                <a:ea typeface="CiscoSansTT Medium"/>
                <a:cs typeface="CiscoSansTT Medium"/>
              </a:defRPr>
            </a:pPr>
            <a:r>
              <a:rPr sz="2175" b="1">
                <a:solidFill>
                  <a:srgbClr val="E84551"/>
                </a:solidFill>
                <a:latin typeface="CiscoSansTT Medium"/>
                <a:ea typeface="CiscoSansTT Medium"/>
                <a:cs typeface="CiscoSansTT Medium"/>
              </a:rPr>
              <a:t>OBI TC flow mode rejects Cilium priority 1</a:t>
            </a:r>
          </a:p>
        </p:txBody>
      </p:sp>
      <p:sp>
        <p:nvSpPr>
          <p:cNvPr id="30" name="Rectangle 29">
            <a:extLst>
              <a:ext uri="{FF2B5EF4-FFF2-40B4-BE49-F238E27FC236}">
                <a16:creationId xmlns:a16="http://schemas.microsoft.com/office/drawing/2014/main" id="{5D41BDE8-8302-49E9-B1E5-5C3AC5F420C4}"/>
              </a:ext>
            </a:extLst>
          </p:cNvPr>
          <p:cNvSpPr>
            <a:spLocks noGrp="1"/>
          </p:cNvSpPr>
          <p:nvPr/>
        </p:nvSpPr>
        <p:spPr>
          <a:xfrm>
            <a:off x="11144250" y="6629400"/>
            <a:ext cx="1047750" cy="228600"/>
          </a:xfrm>
          <a:prstGeom prst="rect">
            <a:avLst/>
          </a:prstGeom>
          <a:solidFill>
            <a:srgbClr val="FFFFFF"/>
          </a:solidFill>
          <a:ln w="0">
            <a:noFill/>
          </a:ln>
        </p:spPr>
        <p:txBody>
          <a:bodyPr/>
          <a:lstStyle/>
          <a:p>
            <a:endParaRPr/>
          </a:p>
        </p:txBody>
      </p:sp>
      <p:sp>
        <p:nvSpPr>
          <p:cNvPr id="31" name="Rectangle 30">
            <a:extLst>
              <a:ext uri="{FF2B5EF4-FFF2-40B4-BE49-F238E27FC236}">
                <a16:creationId xmlns:a16="http://schemas.microsoft.com/office/drawing/2014/main" id="{125222E2-1BD0-45FD-A671-C4C40F2B3E00}"/>
              </a:ext>
            </a:extLst>
          </p:cNvPr>
          <p:cNvSpPr>
            <a:spLocks noGrp="1"/>
          </p:cNvSpPr>
          <p:nvPr/>
        </p:nvSpPr>
        <p:spPr>
          <a:xfrm>
            <a:off x="11144250" y="6696075"/>
            <a:ext cx="1009650" cy="133350"/>
          </a:xfrm>
          <a:prstGeom prst="rect">
            <a:avLst/>
          </a:prstGeom>
          <a:noFill/>
          <a:ln w="0">
            <a:noFill/>
          </a:ln>
        </p:spPr>
        <p:txBody>
          <a:bodyPr anchor="ctr">
            <a:noAutofit/>
          </a:bodyPr>
          <a:lstStyle/>
          <a:p>
            <a:pPr algn="r">
              <a:buNone/>
              <a:defRPr sz="600">
                <a:solidFill>
                  <a:srgbClr val="686B6B"/>
                </a:solidFill>
                <a:latin typeface="CiscoSansTT"/>
                <a:ea typeface="CiscoSansTT"/>
                <a:cs typeface="CiscoSansTT"/>
              </a:defRPr>
            </a:pPr>
            <a:r>
              <a:rPr sz="600">
                <a:solidFill>
                  <a:srgbClr val="686B6B"/>
                </a:solidFill>
                <a:latin typeface="CiscoSansTT"/>
                <a:ea typeface="CiscoSansTT"/>
                <a:cs typeface="CiscoSansTT"/>
              </a:rPr>
              <a:t>Cisco Confidential</a:t>
            </a:r>
          </a:p>
        </p:txBody>
      </p:sp>
    </p:spTree>
    <p:extLst>
      <p:ext uri="{BB962C8B-B14F-4D97-AF65-F5344CB8AC3E}">
        <p14:creationId xmlns:p14="http://schemas.microsoft.com/office/powerpoint/2010/main" val="173577452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title">
            <a:extLst>
              <a:ext uri="{FF2B5EF4-FFF2-40B4-BE49-F238E27FC236}">
                <a16:creationId xmlns:a16="http://schemas.microsoft.com/office/drawing/2014/main" id="{3A30ADA3-E6FC-41FC-B753-CDCCABFEFD8F}"/>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Attachment demo: TC priority changes the outcome</a:t>
            </a:r>
          </a:p>
        </p:txBody>
      </p:sp>
      <p:pic>
        <p:nvPicPr>
          <p:cNvPr id="6" name="cilium-obi-demo-4-legacy-priority.mp4">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1524000" y="1200150"/>
            <a:ext cx="9144000" cy="5143500"/>
          </a:xfrm>
          <a:prstGeom prst="roundRect">
            <a:avLst>
              <a:gd name="adj" fmla="val 1852"/>
            </a:avLst>
          </a:prstGeom>
        </p:spPr>
      </p:pic>
    </p:spTree>
    <p:extLst>
      <p:ext uri="{BB962C8B-B14F-4D97-AF65-F5344CB8AC3E}">
        <p14:creationId xmlns:p14="http://schemas.microsoft.com/office/powerpoint/2010/main" val="18409082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12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21885A1-2C43-8640-F232-FC541372805F}"/>
              </a:ext>
            </a:extLst>
          </p:cNvPr>
          <p:cNvSpPr>
            <a:spLocks noGrp="1"/>
          </p:cNvSpPr>
          <p:nvPr>
            <p:ph type="title"/>
          </p:nvPr>
        </p:nvSpPr>
        <p:spPr/>
        <p:txBody>
          <a:bodyPr anchor="ctr"/>
          <a:lstStyle>
            <a:lvl1pPr>
              <a:buNone/>
              <a:defRPr sz="4000">
                <a:solidFill>
                  <a:schemeClr val="bg1"/>
                </a:solidFill>
              </a:defRPr>
            </a:lvl1pPr>
          </a:lstStyle>
          <a:p>
            <a:r>
              <a:rPr lang="en-US" dirty="0"/>
              <a:t>Demo</a:t>
            </a:r>
            <a:br>
              <a:rPr lang="en-US" dirty="0"/>
            </a:br>
            <a:r>
              <a:rPr lang="en-US" dirty="0"/>
              <a:t>O</a:t>
            </a:r>
            <a:r>
              <a:rPr dirty="0"/>
              <a:t>ne request, two views</a:t>
            </a:r>
          </a:p>
        </p:txBody>
      </p:sp>
      <p:sp>
        <p:nvSpPr>
          <p:cNvPr id="2" name="Rectangle 1">
            <a:extLst>
              <a:ext uri="{FF2B5EF4-FFF2-40B4-BE49-F238E27FC236}">
                <a16:creationId xmlns:a16="http://schemas.microsoft.com/office/drawing/2014/main" id="{05D5A808-F0EE-4B26-867B-7A6125AF667F}"/>
              </a:ext>
            </a:extLst>
          </p:cNvPr>
          <p:cNvSpPr>
            <a:spLocks noGrp="1"/>
          </p:cNvSpPr>
          <p:nvPr/>
        </p:nvSpPr>
        <p:spPr>
          <a:xfrm>
            <a:off x="342900" y="4171950"/>
            <a:ext cx="6858000" cy="400050"/>
          </a:xfrm>
          <a:prstGeom prst="rect">
            <a:avLst/>
          </a:prstGeom>
          <a:noFill/>
          <a:ln w="0">
            <a:noFill/>
          </a:ln>
        </p:spPr>
        <p:txBody>
          <a:bodyPr anchor="t">
            <a:normAutofit/>
          </a:bodyPr>
          <a:lstStyle/>
          <a:p>
            <a:pPr algn="l">
              <a:buNone/>
              <a:defRPr sz="1650" b="1">
                <a:solidFill>
                  <a:srgbClr val="0860FE"/>
                </a:solidFill>
                <a:latin typeface="CiscoSansTT Medium"/>
                <a:ea typeface="CiscoSansTT Medium"/>
                <a:cs typeface="CiscoSansTT Medium"/>
              </a:defRPr>
            </a:pPr>
            <a:r>
              <a:rPr sz="1650" b="1">
                <a:solidFill>
                  <a:srgbClr val="0860FE"/>
                </a:solidFill>
                <a:latin typeface="CiscoSansTT Medium"/>
                <a:ea typeface="CiscoSansTT Medium"/>
                <a:cs typeface="CiscoSansTT Medium"/>
              </a:rPr>
              <a:t>github.com/ajimenez1503/cilium-obi-demo</a:t>
            </a:r>
          </a:p>
        </p:txBody>
      </p:sp>
    </p:spTree>
    <p:extLst>
      <p:ext uri="{BB962C8B-B14F-4D97-AF65-F5344CB8AC3E}">
        <p14:creationId xmlns:p14="http://schemas.microsoft.com/office/powerpoint/2010/main" val="16888609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title">
            <a:extLst>
              <a:ext uri="{FF2B5EF4-FFF2-40B4-BE49-F238E27FC236}">
                <a16:creationId xmlns:a16="http://schemas.microsoft.com/office/drawing/2014/main" id="{1D9519B1-DD3C-456B-88F7-9C043015AC45}"/>
              </a:ext>
            </a:extLst>
          </p:cNvPr>
          <p:cNvSpPr>
            <a:spLocks noGrp="1"/>
          </p:cNvSpPr>
          <p:nvPr/>
        </p:nvSpPr>
        <p:spPr>
          <a:xfrm>
            <a:off x="323850" y="228600"/>
            <a:ext cx="11049000" cy="685800"/>
          </a:xfrm>
          <a:prstGeom prst="rect">
            <a:avLst/>
          </a:prstGeom>
          <a:noFill/>
          <a:ln w="0">
            <a:noFill/>
          </a:ln>
        </p:spPr>
        <p:txBody>
          <a:bodyPr anchor="ctr">
            <a:noAutofit/>
          </a:bodyPr>
          <a:lstStyle>
            <a:defPPr algn="l">
              <a:defRPr sz="3000" b="1">
                <a:solidFill>
                  <a:srgbClr val="07182A"/>
                </a:solidFill>
                <a:latin typeface="CiscoSansTT Medium"/>
                <a:ea typeface="CiscoSansTT Medium"/>
                <a:cs typeface="CiscoSansTT Medium"/>
              </a:defRPr>
            </a:defPPr>
            <a:lvl1pPr algn="l">
              <a:buNone/>
              <a:defRPr sz="3000" b="1">
                <a:solidFill>
                  <a:srgbClr val="07182A"/>
                </a:solidFill>
                <a:latin typeface="CiscoSansTT Medium"/>
                <a:ea typeface="CiscoSansTT Medium"/>
                <a:cs typeface="CiscoSansTT Medium"/>
              </a:defRPr>
            </a:lvl1pPr>
            <a:lvl2pPr algn="l">
              <a:buNone/>
              <a:defRPr sz="3000" b="1">
                <a:solidFill>
                  <a:srgbClr val="07182A"/>
                </a:solidFill>
                <a:latin typeface="CiscoSansTT Medium"/>
                <a:ea typeface="CiscoSansTT Medium"/>
                <a:cs typeface="CiscoSansTT Medium"/>
              </a:defRPr>
            </a:lvl2pPr>
            <a:lvl3pPr algn="l">
              <a:buNone/>
              <a:defRPr sz="3000" b="1">
                <a:solidFill>
                  <a:srgbClr val="07182A"/>
                </a:solidFill>
                <a:latin typeface="CiscoSansTT Medium"/>
                <a:ea typeface="CiscoSansTT Medium"/>
                <a:cs typeface="CiscoSansTT Medium"/>
              </a:defRPr>
            </a:lvl3pPr>
            <a:lvl4pPr algn="l">
              <a:buNone/>
              <a:defRPr sz="3000" b="1">
                <a:solidFill>
                  <a:srgbClr val="07182A"/>
                </a:solidFill>
                <a:latin typeface="CiscoSansTT Medium"/>
                <a:ea typeface="CiscoSansTT Medium"/>
                <a:cs typeface="CiscoSansTT Medium"/>
              </a:defRPr>
            </a:lvl4pPr>
            <a:lvl5pPr algn="l">
              <a:buNone/>
              <a:defRPr sz="3000" b="1">
                <a:solidFill>
                  <a:srgbClr val="07182A"/>
                </a:solidFill>
                <a:latin typeface="CiscoSansTT Medium"/>
                <a:ea typeface="CiscoSansTT Medium"/>
                <a:cs typeface="CiscoSansTT Medium"/>
              </a:defRPr>
            </a:lvl5pPr>
            <a:lvl6pPr algn="l">
              <a:buNone/>
              <a:defRPr sz="3000" b="1">
                <a:solidFill>
                  <a:srgbClr val="07182A"/>
                </a:solidFill>
                <a:latin typeface="CiscoSansTT Medium"/>
                <a:ea typeface="CiscoSansTT Medium"/>
                <a:cs typeface="CiscoSansTT Medium"/>
              </a:defRPr>
            </a:lvl6pPr>
            <a:lvl7pPr algn="l">
              <a:buNone/>
              <a:defRPr sz="3000" b="1">
                <a:solidFill>
                  <a:srgbClr val="07182A"/>
                </a:solidFill>
                <a:latin typeface="CiscoSansTT Medium"/>
                <a:ea typeface="CiscoSansTT Medium"/>
                <a:cs typeface="CiscoSansTT Medium"/>
              </a:defRPr>
            </a:lvl7pPr>
            <a:lvl8pPr algn="l">
              <a:buNone/>
              <a:defRPr sz="3000" b="1">
                <a:solidFill>
                  <a:srgbClr val="07182A"/>
                </a:solidFill>
                <a:latin typeface="CiscoSansTT Medium"/>
                <a:ea typeface="CiscoSansTT Medium"/>
                <a:cs typeface="CiscoSansTT Medium"/>
              </a:defRPr>
            </a:lvl8pPr>
            <a:lvl9pPr algn="l">
              <a:buNone/>
              <a:defRPr sz="3000" b="1">
                <a:solidFill>
                  <a:srgbClr val="07182A"/>
                </a:solidFill>
                <a:latin typeface="CiscoSansTT Medium"/>
                <a:ea typeface="CiscoSansTT Medium"/>
                <a:cs typeface="CiscoSansTT Medium"/>
              </a:defRPr>
            </a:lvl9p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Demo traffic and telemetry paths</a:t>
            </a:r>
          </a:p>
        </p:txBody>
      </p:sp>
      <p:sp>
        <p:nvSpPr>
          <p:cNvPr id="22" name="traffic-generator">
            <a:extLst>
              <a:ext uri="{FF2B5EF4-FFF2-40B4-BE49-F238E27FC236}">
                <a16:creationId xmlns:a16="http://schemas.microsoft.com/office/drawing/2014/main" id="{B2013DE7-A00A-46FB-9D6E-381B133F5F7D}"/>
              </a:ext>
            </a:extLst>
          </p:cNvPr>
          <p:cNvSpPr>
            <a:spLocks noGrp="1"/>
          </p:cNvSpPr>
          <p:nvPr/>
        </p:nvSpPr>
        <p:spPr>
          <a:xfrm>
            <a:off x="476250" y="1885950"/>
            <a:ext cx="1428750" cy="723900"/>
          </a:xfrm>
          <a:prstGeom prst="roundRect">
            <a:avLst>
              <a:gd name="adj" fmla="val 9211"/>
            </a:avLst>
          </a:prstGeom>
          <a:solidFill>
            <a:srgbClr val="F4F6F7"/>
          </a:solidFill>
          <a:ln w="11906">
            <a:solidFill>
              <a:srgbClr val="686B6B"/>
            </a:solidFill>
          </a:ln>
        </p:spPr>
        <p:txBody>
          <a:bodyPr anchor="ctr">
            <a:noAutofit/>
          </a:bodyPr>
          <a:lstStyle>
            <a:defPPr algn="ctr">
              <a:defRPr sz="1650" b="0">
                <a:solidFill>
                  <a:srgbClr val="07182A"/>
                </a:solidFill>
                <a:latin typeface="CiscoSansTT"/>
                <a:ea typeface="CiscoSansTT"/>
                <a:cs typeface="CiscoSansTT"/>
              </a:defRPr>
            </a:defPPr>
            <a:lvl1pPr algn="ctr">
              <a:buNone/>
              <a:defRPr sz="1650" b="0">
                <a:solidFill>
                  <a:srgbClr val="07182A"/>
                </a:solidFill>
                <a:latin typeface="CiscoSansTT"/>
                <a:ea typeface="CiscoSansTT"/>
                <a:cs typeface="CiscoSansTT"/>
              </a:defRPr>
            </a:lvl1pPr>
            <a:lvl2pPr algn="ctr">
              <a:buNone/>
              <a:defRPr sz="1650" b="0">
                <a:solidFill>
                  <a:srgbClr val="07182A"/>
                </a:solidFill>
                <a:latin typeface="CiscoSansTT"/>
                <a:ea typeface="CiscoSansTT"/>
                <a:cs typeface="CiscoSansTT"/>
              </a:defRPr>
            </a:lvl2pPr>
            <a:lvl3pPr algn="ctr">
              <a:buNone/>
              <a:defRPr sz="1650" b="0">
                <a:solidFill>
                  <a:srgbClr val="07182A"/>
                </a:solidFill>
                <a:latin typeface="CiscoSansTT"/>
                <a:ea typeface="CiscoSansTT"/>
                <a:cs typeface="CiscoSansTT"/>
              </a:defRPr>
            </a:lvl3pPr>
            <a:lvl4pPr algn="ctr">
              <a:buNone/>
              <a:defRPr sz="1650" b="0">
                <a:solidFill>
                  <a:srgbClr val="07182A"/>
                </a:solidFill>
                <a:latin typeface="CiscoSansTT"/>
                <a:ea typeface="CiscoSansTT"/>
                <a:cs typeface="CiscoSansTT"/>
              </a:defRPr>
            </a:lvl4pPr>
            <a:lvl5pPr algn="ctr">
              <a:buNone/>
              <a:defRPr sz="1650" b="0">
                <a:solidFill>
                  <a:srgbClr val="07182A"/>
                </a:solidFill>
                <a:latin typeface="CiscoSansTT"/>
                <a:ea typeface="CiscoSansTT"/>
                <a:cs typeface="CiscoSansTT"/>
              </a:defRPr>
            </a:lvl5pPr>
            <a:lvl6pPr algn="ctr">
              <a:buNone/>
              <a:defRPr sz="1650" b="0">
                <a:solidFill>
                  <a:srgbClr val="07182A"/>
                </a:solidFill>
                <a:latin typeface="CiscoSansTT"/>
                <a:ea typeface="CiscoSansTT"/>
                <a:cs typeface="CiscoSansTT"/>
              </a:defRPr>
            </a:lvl6pPr>
            <a:lvl7pPr algn="ctr">
              <a:buNone/>
              <a:defRPr sz="1650" b="0">
                <a:solidFill>
                  <a:srgbClr val="07182A"/>
                </a:solidFill>
                <a:latin typeface="CiscoSansTT"/>
                <a:ea typeface="CiscoSansTT"/>
                <a:cs typeface="CiscoSansTT"/>
              </a:defRPr>
            </a:lvl7pPr>
            <a:lvl8pPr algn="ctr">
              <a:buNone/>
              <a:defRPr sz="1650" b="0">
                <a:solidFill>
                  <a:srgbClr val="07182A"/>
                </a:solidFill>
                <a:latin typeface="CiscoSansTT"/>
                <a:ea typeface="CiscoSansTT"/>
                <a:cs typeface="CiscoSansTT"/>
              </a:defRPr>
            </a:lvl8pPr>
            <a:lvl9pPr algn="ctr">
              <a:buNone/>
              <a:defRPr sz="1650" b="0">
                <a:solidFill>
                  <a:srgbClr val="07182A"/>
                </a:solidFill>
                <a:latin typeface="CiscoSansTT"/>
                <a:ea typeface="CiscoSansTT"/>
                <a:cs typeface="CiscoSansTT"/>
              </a:defRPr>
            </a:lvl9pPr>
          </a:lstStyle>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traffic</a:t>
            </a:r>
          </a:p>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generator</a:t>
            </a:r>
          </a:p>
        </p:txBody>
      </p:sp>
      <p:sp>
        <p:nvSpPr>
          <p:cNvPr id="23" name="edge-nginx">
            <a:extLst>
              <a:ext uri="{FF2B5EF4-FFF2-40B4-BE49-F238E27FC236}">
                <a16:creationId xmlns:a16="http://schemas.microsoft.com/office/drawing/2014/main" id="{79A1E394-24BB-4C32-B7A7-6794D977F69F}"/>
              </a:ext>
            </a:extLst>
          </p:cNvPr>
          <p:cNvSpPr>
            <a:spLocks noGrp="1"/>
          </p:cNvSpPr>
          <p:nvPr/>
        </p:nvSpPr>
        <p:spPr>
          <a:xfrm>
            <a:off x="2571750" y="1885950"/>
            <a:ext cx="1905000" cy="723900"/>
          </a:xfrm>
          <a:prstGeom prst="roundRect">
            <a:avLst>
              <a:gd name="adj" fmla="val 9211"/>
            </a:avLst>
          </a:prstGeom>
          <a:solidFill>
            <a:srgbClr val="FFFFFF"/>
          </a:solidFill>
          <a:ln w="11906">
            <a:solidFill>
              <a:srgbClr val="02C8FF"/>
            </a:solidFill>
          </a:ln>
        </p:spPr>
        <p:txBody>
          <a:bodyPr anchor="ctr">
            <a:noAutofit/>
          </a:bodyPr>
          <a:lstStyle>
            <a:defPPr algn="ctr">
              <a:defRPr sz="1650" b="0">
                <a:solidFill>
                  <a:srgbClr val="07182A"/>
                </a:solidFill>
                <a:latin typeface="CiscoSansTT"/>
                <a:ea typeface="CiscoSansTT"/>
                <a:cs typeface="CiscoSansTT"/>
              </a:defRPr>
            </a:defPPr>
            <a:lvl1pPr algn="ctr">
              <a:buNone/>
              <a:defRPr sz="1650" b="0">
                <a:solidFill>
                  <a:srgbClr val="07182A"/>
                </a:solidFill>
                <a:latin typeface="CiscoSansTT"/>
                <a:ea typeface="CiscoSansTT"/>
                <a:cs typeface="CiscoSansTT"/>
              </a:defRPr>
            </a:lvl1pPr>
            <a:lvl2pPr algn="ctr">
              <a:buNone/>
              <a:defRPr sz="1650" b="0">
                <a:solidFill>
                  <a:srgbClr val="07182A"/>
                </a:solidFill>
                <a:latin typeface="CiscoSansTT"/>
                <a:ea typeface="CiscoSansTT"/>
                <a:cs typeface="CiscoSansTT"/>
              </a:defRPr>
            </a:lvl2pPr>
            <a:lvl3pPr algn="ctr">
              <a:buNone/>
              <a:defRPr sz="1650" b="0">
                <a:solidFill>
                  <a:srgbClr val="07182A"/>
                </a:solidFill>
                <a:latin typeface="CiscoSansTT"/>
                <a:ea typeface="CiscoSansTT"/>
                <a:cs typeface="CiscoSansTT"/>
              </a:defRPr>
            </a:lvl3pPr>
            <a:lvl4pPr algn="ctr">
              <a:buNone/>
              <a:defRPr sz="1650" b="0">
                <a:solidFill>
                  <a:srgbClr val="07182A"/>
                </a:solidFill>
                <a:latin typeface="CiscoSansTT"/>
                <a:ea typeface="CiscoSansTT"/>
                <a:cs typeface="CiscoSansTT"/>
              </a:defRPr>
            </a:lvl4pPr>
            <a:lvl5pPr algn="ctr">
              <a:buNone/>
              <a:defRPr sz="1650" b="0">
                <a:solidFill>
                  <a:srgbClr val="07182A"/>
                </a:solidFill>
                <a:latin typeface="CiscoSansTT"/>
                <a:ea typeface="CiscoSansTT"/>
                <a:cs typeface="CiscoSansTT"/>
              </a:defRPr>
            </a:lvl5pPr>
            <a:lvl6pPr algn="ctr">
              <a:buNone/>
              <a:defRPr sz="1650" b="0">
                <a:solidFill>
                  <a:srgbClr val="07182A"/>
                </a:solidFill>
                <a:latin typeface="CiscoSansTT"/>
                <a:ea typeface="CiscoSansTT"/>
                <a:cs typeface="CiscoSansTT"/>
              </a:defRPr>
            </a:lvl6pPr>
            <a:lvl7pPr algn="ctr">
              <a:buNone/>
              <a:defRPr sz="1650" b="0">
                <a:solidFill>
                  <a:srgbClr val="07182A"/>
                </a:solidFill>
                <a:latin typeface="CiscoSansTT"/>
                <a:ea typeface="CiscoSansTT"/>
                <a:cs typeface="CiscoSansTT"/>
              </a:defRPr>
            </a:lvl7pPr>
            <a:lvl8pPr algn="ctr">
              <a:buNone/>
              <a:defRPr sz="1650" b="0">
                <a:solidFill>
                  <a:srgbClr val="07182A"/>
                </a:solidFill>
                <a:latin typeface="CiscoSansTT"/>
                <a:ea typeface="CiscoSansTT"/>
                <a:cs typeface="CiscoSansTT"/>
              </a:defRPr>
            </a:lvl8pPr>
            <a:lvl9pPr algn="ctr">
              <a:buNone/>
              <a:defRPr sz="1650" b="0">
                <a:solidFill>
                  <a:srgbClr val="07182A"/>
                </a:solidFill>
                <a:latin typeface="CiscoSansTT"/>
                <a:ea typeface="CiscoSansTT"/>
                <a:cs typeface="CiscoSansTT"/>
              </a:defRPr>
            </a:lvl9pPr>
          </a:lstStyle>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edge-nginx</a:t>
            </a:r>
          </a:p>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entry proxy</a:t>
            </a:r>
          </a:p>
        </p:txBody>
      </p:sp>
      <p:sp>
        <p:nvSpPr>
          <p:cNvPr id="24" name="recommendations-v2">
            <a:extLst>
              <a:ext uri="{FF2B5EF4-FFF2-40B4-BE49-F238E27FC236}">
                <a16:creationId xmlns:a16="http://schemas.microsoft.com/office/drawing/2014/main" id="{018165D8-0175-4909-947E-574496E1811A}"/>
              </a:ext>
            </a:extLst>
          </p:cNvPr>
          <p:cNvSpPr>
            <a:spLocks noGrp="1"/>
          </p:cNvSpPr>
          <p:nvPr/>
        </p:nvSpPr>
        <p:spPr>
          <a:xfrm>
            <a:off x="5524500" y="1885950"/>
            <a:ext cx="2571750" cy="723900"/>
          </a:xfrm>
          <a:prstGeom prst="roundRect">
            <a:avLst>
              <a:gd name="adj" fmla="val 9211"/>
            </a:avLst>
          </a:prstGeom>
          <a:solidFill>
            <a:srgbClr val="FFFFFF"/>
          </a:solidFill>
          <a:ln w="11906">
            <a:solidFill>
              <a:srgbClr val="02C8FF"/>
            </a:solidFill>
          </a:ln>
        </p:spPr>
        <p:txBody>
          <a:bodyPr anchor="ctr">
            <a:noAutofit/>
          </a:bodyPr>
          <a:lstStyle>
            <a:defPPr algn="ctr">
              <a:defRPr sz="1650" b="0">
                <a:solidFill>
                  <a:srgbClr val="07182A"/>
                </a:solidFill>
                <a:latin typeface="CiscoSansTT"/>
                <a:ea typeface="CiscoSansTT"/>
                <a:cs typeface="CiscoSansTT"/>
              </a:defRPr>
            </a:defPPr>
            <a:lvl1pPr algn="ctr">
              <a:buNone/>
              <a:defRPr sz="1650" b="0">
                <a:solidFill>
                  <a:srgbClr val="07182A"/>
                </a:solidFill>
                <a:latin typeface="CiscoSansTT"/>
                <a:ea typeface="CiscoSansTT"/>
                <a:cs typeface="CiscoSansTT"/>
              </a:defRPr>
            </a:lvl1pPr>
            <a:lvl2pPr algn="ctr">
              <a:buNone/>
              <a:defRPr sz="1650" b="0">
                <a:solidFill>
                  <a:srgbClr val="07182A"/>
                </a:solidFill>
                <a:latin typeface="CiscoSansTT"/>
                <a:ea typeface="CiscoSansTT"/>
                <a:cs typeface="CiscoSansTT"/>
              </a:defRPr>
            </a:lvl2pPr>
            <a:lvl3pPr algn="ctr">
              <a:buNone/>
              <a:defRPr sz="1650" b="0">
                <a:solidFill>
                  <a:srgbClr val="07182A"/>
                </a:solidFill>
                <a:latin typeface="CiscoSansTT"/>
                <a:ea typeface="CiscoSansTT"/>
                <a:cs typeface="CiscoSansTT"/>
              </a:defRPr>
            </a:lvl3pPr>
            <a:lvl4pPr algn="ctr">
              <a:buNone/>
              <a:defRPr sz="1650" b="0">
                <a:solidFill>
                  <a:srgbClr val="07182A"/>
                </a:solidFill>
                <a:latin typeface="CiscoSansTT"/>
                <a:ea typeface="CiscoSansTT"/>
                <a:cs typeface="CiscoSansTT"/>
              </a:defRPr>
            </a:lvl4pPr>
            <a:lvl5pPr algn="ctr">
              <a:buNone/>
              <a:defRPr sz="1650" b="0">
                <a:solidFill>
                  <a:srgbClr val="07182A"/>
                </a:solidFill>
                <a:latin typeface="CiscoSansTT"/>
                <a:ea typeface="CiscoSansTT"/>
                <a:cs typeface="CiscoSansTT"/>
              </a:defRPr>
            </a:lvl5pPr>
            <a:lvl6pPr algn="ctr">
              <a:buNone/>
              <a:defRPr sz="1650" b="0">
                <a:solidFill>
                  <a:srgbClr val="07182A"/>
                </a:solidFill>
                <a:latin typeface="CiscoSansTT"/>
                <a:ea typeface="CiscoSansTT"/>
                <a:cs typeface="CiscoSansTT"/>
              </a:defRPr>
            </a:lvl6pPr>
            <a:lvl7pPr algn="ctr">
              <a:buNone/>
              <a:defRPr sz="1650" b="0">
                <a:solidFill>
                  <a:srgbClr val="07182A"/>
                </a:solidFill>
                <a:latin typeface="CiscoSansTT"/>
                <a:ea typeface="CiscoSansTT"/>
                <a:cs typeface="CiscoSansTT"/>
              </a:defRPr>
            </a:lvl7pPr>
            <a:lvl8pPr algn="ctr">
              <a:buNone/>
              <a:defRPr sz="1650" b="0">
                <a:solidFill>
                  <a:srgbClr val="07182A"/>
                </a:solidFill>
                <a:latin typeface="CiscoSansTT"/>
                <a:ea typeface="CiscoSansTT"/>
                <a:cs typeface="CiscoSansTT"/>
              </a:defRPr>
            </a:lvl8pPr>
            <a:lvl9pPr algn="ctr">
              <a:buNone/>
              <a:defRPr sz="1650" b="0">
                <a:solidFill>
                  <a:srgbClr val="07182A"/>
                </a:solidFill>
                <a:latin typeface="CiscoSansTT"/>
                <a:ea typeface="CiscoSansTT"/>
                <a:cs typeface="CiscoSansTT"/>
              </a:defRPr>
            </a:lvl9pPr>
          </a:lstStyle>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recommendations-v2</a:t>
            </a:r>
          </a:p>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newer tier</a:t>
            </a:r>
          </a:p>
        </p:txBody>
      </p:sp>
      <p:sp>
        <p:nvSpPr>
          <p:cNvPr id="25" name="recommendations-v1">
            <a:extLst>
              <a:ext uri="{FF2B5EF4-FFF2-40B4-BE49-F238E27FC236}">
                <a16:creationId xmlns:a16="http://schemas.microsoft.com/office/drawing/2014/main" id="{B2DF36A6-DCA1-49DD-9757-0C200CD1CF32}"/>
              </a:ext>
            </a:extLst>
          </p:cNvPr>
          <p:cNvSpPr>
            <a:spLocks noGrp="1"/>
          </p:cNvSpPr>
          <p:nvPr/>
        </p:nvSpPr>
        <p:spPr>
          <a:xfrm>
            <a:off x="8953500" y="1885950"/>
            <a:ext cx="2667000" cy="723900"/>
          </a:xfrm>
          <a:prstGeom prst="roundRect">
            <a:avLst>
              <a:gd name="adj" fmla="val 9211"/>
            </a:avLst>
          </a:prstGeom>
          <a:solidFill>
            <a:srgbClr val="FFFFFF"/>
          </a:solidFill>
          <a:ln w="11906">
            <a:solidFill>
              <a:srgbClr val="02C8FF"/>
            </a:solidFill>
          </a:ln>
        </p:spPr>
        <p:txBody>
          <a:bodyPr anchor="ctr">
            <a:noAutofit/>
          </a:bodyPr>
          <a:lstStyle>
            <a:defPPr algn="ctr">
              <a:defRPr sz="1650" b="0">
                <a:solidFill>
                  <a:srgbClr val="07182A"/>
                </a:solidFill>
                <a:latin typeface="CiscoSansTT"/>
                <a:ea typeface="CiscoSansTT"/>
                <a:cs typeface="CiscoSansTT"/>
              </a:defRPr>
            </a:defPPr>
            <a:lvl1pPr algn="ctr">
              <a:buNone/>
              <a:defRPr sz="1650" b="0">
                <a:solidFill>
                  <a:srgbClr val="07182A"/>
                </a:solidFill>
                <a:latin typeface="CiscoSansTT"/>
                <a:ea typeface="CiscoSansTT"/>
                <a:cs typeface="CiscoSansTT"/>
              </a:defRPr>
            </a:lvl1pPr>
            <a:lvl2pPr algn="ctr">
              <a:buNone/>
              <a:defRPr sz="1650" b="0">
                <a:solidFill>
                  <a:srgbClr val="07182A"/>
                </a:solidFill>
                <a:latin typeface="CiscoSansTT"/>
                <a:ea typeface="CiscoSansTT"/>
                <a:cs typeface="CiscoSansTT"/>
              </a:defRPr>
            </a:lvl2pPr>
            <a:lvl3pPr algn="ctr">
              <a:buNone/>
              <a:defRPr sz="1650" b="0">
                <a:solidFill>
                  <a:srgbClr val="07182A"/>
                </a:solidFill>
                <a:latin typeface="CiscoSansTT"/>
                <a:ea typeface="CiscoSansTT"/>
                <a:cs typeface="CiscoSansTT"/>
              </a:defRPr>
            </a:lvl3pPr>
            <a:lvl4pPr algn="ctr">
              <a:buNone/>
              <a:defRPr sz="1650" b="0">
                <a:solidFill>
                  <a:srgbClr val="07182A"/>
                </a:solidFill>
                <a:latin typeface="CiscoSansTT"/>
                <a:ea typeface="CiscoSansTT"/>
                <a:cs typeface="CiscoSansTT"/>
              </a:defRPr>
            </a:lvl4pPr>
            <a:lvl5pPr algn="ctr">
              <a:buNone/>
              <a:defRPr sz="1650" b="0">
                <a:solidFill>
                  <a:srgbClr val="07182A"/>
                </a:solidFill>
                <a:latin typeface="CiscoSansTT"/>
                <a:ea typeface="CiscoSansTT"/>
                <a:cs typeface="CiscoSansTT"/>
              </a:defRPr>
            </a:lvl5pPr>
            <a:lvl6pPr algn="ctr">
              <a:buNone/>
              <a:defRPr sz="1650" b="0">
                <a:solidFill>
                  <a:srgbClr val="07182A"/>
                </a:solidFill>
                <a:latin typeface="CiscoSansTT"/>
                <a:ea typeface="CiscoSansTT"/>
                <a:cs typeface="CiscoSansTT"/>
              </a:defRPr>
            </a:lvl6pPr>
            <a:lvl7pPr algn="ctr">
              <a:buNone/>
              <a:defRPr sz="1650" b="0">
                <a:solidFill>
                  <a:srgbClr val="07182A"/>
                </a:solidFill>
                <a:latin typeface="CiscoSansTT"/>
                <a:ea typeface="CiscoSansTT"/>
                <a:cs typeface="CiscoSansTT"/>
              </a:defRPr>
            </a:lvl7pPr>
            <a:lvl8pPr algn="ctr">
              <a:buNone/>
              <a:defRPr sz="1650" b="0">
                <a:solidFill>
                  <a:srgbClr val="07182A"/>
                </a:solidFill>
                <a:latin typeface="CiscoSansTT"/>
                <a:ea typeface="CiscoSansTT"/>
                <a:cs typeface="CiscoSansTT"/>
              </a:defRPr>
            </a:lvl8pPr>
            <a:lvl9pPr algn="ctr">
              <a:buNone/>
              <a:defRPr sz="1650" b="0">
                <a:solidFill>
                  <a:srgbClr val="07182A"/>
                </a:solidFill>
                <a:latin typeface="CiscoSansTT"/>
                <a:ea typeface="CiscoSansTT"/>
                <a:cs typeface="CiscoSansTT"/>
              </a:defRPr>
            </a:lvl9pPr>
          </a:lstStyle>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recommendations-v1</a:t>
            </a:r>
          </a:p>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legacy backend</a:t>
            </a:r>
          </a:p>
        </p:txBody>
      </p:sp>
      <p:sp>
        <p:nvSpPr>
          <p:cNvPr id="34" name="observation-scope">
            <a:extLst>
              <a:ext uri="{FF2B5EF4-FFF2-40B4-BE49-F238E27FC236}">
                <a16:creationId xmlns:a16="http://schemas.microsoft.com/office/drawing/2014/main" id="{47F7DE59-9BE9-4EF6-B38F-97B0FA0597B4}"/>
              </a:ext>
            </a:extLst>
          </p:cNvPr>
          <p:cNvSpPr>
            <a:spLocks noGrp="1"/>
          </p:cNvSpPr>
          <p:nvPr/>
        </p:nvSpPr>
        <p:spPr>
          <a:xfrm>
            <a:off x="619125" y="3571875"/>
            <a:ext cx="10953750" cy="361950"/>
          </a:xfrm>
          <a:prstGeom prst="rect">
            <a:avLst/>
          </a:prstGeom>
          <a:noFill/>
          <a:ln w="0">
            <a:noFill/>
          </a:ln>
        </p:spPr>
        <p:txBody>
          <a:bodyPr anchor="ctr">
            <a:noAutofit/>
          </a:bodyPr>
          <a:lstStyle>
            <a:defPPr algn="ctr">
              <a:defRPr sz="1800" b="1">
                <a:solidFill>
                  <a:srgbClr val="07182A"/>
                </a:solidFill>
                <a:latin typeface="CiscoSansTT Medium"/>
                <a:ea typeface="CiscoSansTT Medium"/>
                <a:cs typeface="CiscoSansTT Medium"/>
              </a:defRPr>
            </a:defPPr>
            <a:lvl1pPr algn="ctr">
              <a:buNone/>
              <a:defRPr sz="1800" b="1">
                <a:solidFill>
                  <a:srgbClr val="07182A"/>
                </a:solidFill>
                <a:latin typeface="CiscoSansTT Medium"/>
                <a:ea typeface="CiscoSansTT Medium"/>
                <a:cs typeface="CiscoSansTT Medium"/>
              </a:defRPr>
            </a:lvl1pPr>
            <a:lvl2pPr algn="ctr">
              <a:buNone/>
              <a:defRPr sz="1800" b="1">
                <a:solidFill>
                  <a:srgbClr val="07182A"/>
                </a:solidFill>
                <a:latin typeface="CiscoSansTT Medium"/>
                <a:ea typeface="CiscoSansTT Medium"/>
                <a:cs typeface="CiscoSansTT Medium"/>
              </a:defRPr>
            </a:lvl2pPr>
            <a:lvl3pPr algn="ctr">
              <a:buNone/>
              <a:defRPr sz="1800" b="1">
                <a:solidFill>
                  <a:srgbClr val="07182A"/>
                </a:solidFill>
                <a:latin typeface="CiscoSansTT Medium"/>
                <a:ea typeface="CiscoSansTT Medium"/>
                <a:cs typeface="CiscoSansTT Medium"/>
              </a:defRPr>
            </a:lvl3pPr>
            <a:lvl4pPr algn="ctr">
              <a:buNone/>
              <a:defRPr sz="1800" b="1">
                <a:solidFill>
                  <a:srgbClr val="07182A"/>
                </a:solidFill>
                <a:latin typeface="CiscoSansTT Medium"/>
                <a:ea typeface="CiscoSansTT Medium"/>
                <a:cs typeface="CiscoSansTT Medium"/>
              </a:defRPr>
            </a:lvl4pPr>
            <a:lvl5pPr algn="ctr">
              <a:buNone/>
              <a:defRPr sz="1800" b="1">
                <a:solidFill>
                  <a:srgbClr val="07182A"/>
                </a:solidFill>
                <a:latin typeface="CiscoSansTT Medium"/>
                <a:ea typeface="CiscoSansTT Medium"/>
                <a:cs typeface="CiscoSansTT Medium"/>
              </a:defRPr>
            </a:lvl5pPr>
            <a:lvl6pPr algn="ctr">
              <a:buNone/>
              <a:defRPr sz="1800" b="1">
                <a:solidFill>
                  <a:srgbClr val="07182A"/>
                </a:solidFill>
                <a:latin typeface="CiscoSansTT Medium"/>
                <a:ea typeface="CiscoSansTT Medium"/>
                <a:cs typeface="CiscoSansTT Medium"/>
              </a:defRPr>
            </a:lvl6pPr>
            <a:lvl7pPr algn="ctr">
              <a:buNone/>
              <a:defRPr sz="1800" b="1">
                <a:solidFill>
                  <a:srgbClr val="07182A"/>
                </a:solidFill>
                <a:latin typeface="CiscoSansTT Medium"/>
                <a:ea typeface="CiscoSansTT Medium"/>
                <a:cs typeface="CiscoSansTT Medium"/>
              </a:defRPr>
            </a:lvl7pPr>
            <a:lvl8pPr algn="ctr">
              <a:buNone/>
              <a:defRPr sz="1800" b="1">
                <a:solidFill>
                  <a:srgbClr val="07182A"/>
                </a:solidFill>
                <a:latin typeface="CiscoSansTT Medium"/>
                <a:ea typeface="CiscoSansTT Medium"/>
                <a:cs typeface="CiscoSansTT Medium"/>
              </a:defRPr>
            </a:lvl8pPr>
            <a:lvl9pPr algn="ctr">
              <a:buNone/>
              <a:defRPr sz="1800" b="1">
                <a:solidFill>
                  <a:srgbClr val="07182A"/>
                </a:solidFill>
                <a:latin typeface="CiscoSansTT Medium"/>
                <a:ea typeface="CiscoSansTT Medium"/>
                <a:cs typeface="CiscoSansTT Medium"/>
              </a:defRPr>
            </a:lvl9pPr>
          </a:lstStyle>
          <a:p>
            <a:pPr algn="ctr">
              <a:buNone/>
              <a:defRPr sz="1800" b="1">
                <a:solidFill>
                  <a:srgbClr val="07182A"/>
                </a:solidFill>
                <a:latin typeface="CiscoSansTT Medium"/>
                <a:ea typeface="CiscoSansTT Medium"/>
                <a:cs typeface="CiscoSansTT Medium"/>
              </a:defRPr>
            </a:pPr>
            <a:r>
              <a:rPr sz="1800" b="1">
                <a:solidFill>
                  <a:srgbClr val="07182A"/>
                </a:solidFill>
                <a:latin typeface="CiscoSansTT Medium"/>
                <a:ea typeface="CiscoSansTT Medium"/>
                <a:cs typeface="CiscoSansTT Medium"/>
              </a:rPr>
              <a:t>OBI observes all three services. Hubble observes their traffic.</a:t>
            </a:r>
          </a:p>
        </p:txBody>
      </p:sp>
      <p:sp>
        <p:nvSpPr>
          <p:cNvPr id="35" name="obi-export">
            <a:extLst>
              <a:ext uri="{FF2B5EF4-FFF2-40B4-BE49-F238E27FC236}">
                <a16:creationId xmlns:a16="http://schemas.microsoft.com/office/drawing/2014/main" id="{1EAADB6A-C90D-4C28-A778-DCCA3FBA54A3}"/>
              </a:ext>
            </a:extLst>
          </p:cNvPr>
          <p:cNvSpPr>
            <a:spLocks noGrp="1"/>
          </p:cNvSpPr>
          <p:nvPr/>
        </p:nvSpPr>
        <p:spPr>
          <a:xfrm>
            <a:off x="666750" y="4095750"/>
            <a:ext cx="3238500" cy="495300"/>
          </a:xfrm>
          <a:prstGeom prst="roundRect">
            <a:avLst>
              <a:gd name="adj" fmla="val 13462"/>
            </a:avLst>
          </a:prstGeom>
          <a:solidFill>
            <a:srgbClr val="F6ECF5"/>
          </a:solidFill>
          <a:ln w="11906">
            <a:solidFill>
              <a:srgbClr val="FF007F"/>
            </a:solidFill>
          </a:ln>
        </p:spPr>
        <p:txBody>
          <a:bodyPr anchor="ctr">
            <a:noAutofit/>
          </a:bodyPr>
          <a:lstStyle>
            <a:defPPr algn="ctr">
              <a:defRPr sz="1650" b="0">
                <a:solidFill>
                  <a:srgbClr val="07182A"/>
                </a:solidFill>
                <a:latin typeface="CiscoSansTT"/>
                <a:ea typeface="CiscoSansTT"/>
                <a:cs typeface="CiscoSansTT"/>
              </a:defRPr>
            </a:defPPr>
            <a:lvl1pPr algn="ctr">
              <a:buNone/>
              <a:defRPr sz="1650" b="0">
                <a:solidFill>
                  <a:srgbClr val="07182A"/>
                </a:solidFill>
                <a:latin typeface="CiscoSansTT"/>
                <a:ea typeface="CiscoSansTT"/>
                <a:cs typeface="CiscoSansTT"/>
              </a:defRPr>
            </a:lvl1pPr>
            <a:lvl2pPr algn="ctr">
              <a:buNone/>
              <a:defRPr sz="1650" b="0">
                <a:solidFill>
                  <a:srgbClr val="07182A"/>
                </a:solidFill>
                <a:latin typeface="CiscoSansTT"/>
                <a:ea typeface="CiscoSansTT"/>
                <a:cs typeface="CiscoSansTT"/>
              </a:defRPr>
            </a:lvl2pPr>
            <a:lvl3pPr algn="ctr">
              <a:buNone/>
              <a:defRPr sz="1650" b="0">
                <a:solidFill>
                  <a:srgbClr val="07182A"/>
                </a:solidFill>
                <a:latin typeface="CiscoSansTT"/>
                <a:ea typeface="CiscoSansTT"/>
                <a:cs typeface="CiscoSansTT"/>
              </a:defRPr>
            </a:lvl3pPr>
            <a:lvl4pPr algn="ctr">
              <a:buNone/>
              <a:defRPr sz="1650" b="0">
                <a:solidFill>
                  <a:srgbClr val="07182A"/>
                </a:solidFill>
                <a:latin typeface="CiscoSansTT"/>
                <a:ea typeface="CiscoSansTT"/>
                <a:cs typeface="CiscoSansTT"/>
              </a:defRPr>
            </a:lvl4pPr>
            <a:lvl5pPr algn="ctr">
              <a:buNone/>
              <a:defRPr sz="1650" b="0">
                <a:solidFill>
                  <a:srgbClr val="07182A"/>
                </a:solidFill>
                <a:latin typeface="CiscoSansTT"/>
                <a:ea typeface="CiscoSansTT"/>
                <a:cs typeface="CiscoSansTT"/>
              </a:defRPr>
            </a:lvl5pPr>
            <a:lvl6pPr algn="ctr">
              <a:buNone/>
              <a:defRPr sz="1650" b="0">
                <a:solidFill>
                  <a:srgbClr val="07182A"/>
                </a:solidFill>
                <a:latin typeface="CiscoSansTT"/>
                <a:ea typeface="CiscoSansTT"/>
                <a:cs typeface="CiscoSansTT"/>
              </a:defRPr>
            </a:lvl6pPr>
            <a:lvl7pPr algn="ctr">
              <a:buNone/>
              <a:defRPr sz="1650" b="0">
                <a:solidFill>
                  <a:srgbClr val="07182A"/>
                </a:solidFill>
                <a:latin typeface="CiscoSansTT"/>
                <a:ea typeface="CiscoSansTT"/>
                <a:cs typeface="CiscoSansTT"/>
              </a:defRPr>
            </a:lvl7pPr>
            <a:lvl8pPr algn="ctr">
              <a:buNone/>
              <a:defRPr sz="1650" b="0">
                <a:solidFill>
                  <a:srgbClr val="07182A"/>
                </a:solidFill>
                <a:latin typeface="CiscoSansTT"/>
                <a:ea typeface="CiscoSansTT"/>
                <a:cs typeface="CiscoSansTT"/>
              </a:defRPr>
            </a:lvl8pPr>
            <a:lvl9pPr algn="ctr">
              <a:buNone/>
              <a:defRPr sz="1650" b="0">
                <a:solidFill>
                  <a:srgbClr val="07182A"/>
                </a:solidFill>
                <a:latin typeface="CiscoSansTT"/>
                <a:ea typeface="CiscoSansTT"/>
                <a:cs typeface="CiscoSansTT"/>
              </a:defRPr>
            </a:lvl9pPr>
          </a:lstStyle>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OBI: traces + RED metrics</a:t>
            </a:r>
          </a:p>
        </p:txBody>
      </p:sp>
      <p:sp>
        <p:nvSpPr>
          <p:cNvPr id="36" name="hubble-metrics-export">
            <a:extLst>
              <a:ext uri="{FF2B5EF4-FFF2-40B4-BE49-F238E27FC236}">
                <a16:creationId xmlns:a16="http://schemas.microsoft.com/office/drawing/2014/main" id="{88C21540-6E3B-4709-AC82-8BAA7B5FCB66}"/>
              </a:ext>
            </a:extLst>
          </p:cNvPr>
          <p:cNvSpPr>
            <a:spLocks noGrp="1"/>
          </p:cNvSpPr>
          <p:nvPr/>
        </p:nvSpPr>
        <p:spPr>
          <a:xfrm>
            <a:off x="666750" y="4857750"/>
            <a:ext cx="3238500" cy="495300"/>
          </a:xfrm>
          <a:prstGeom prst="roundRect">
            <a:avLst>
              <a:gd name="adj" fmla="val 13462"/>
            </a:avLst>
          </a:prstGeom>
          <a:solidFill>
            <a:srgbClr val="EAF8FC"/>
          </a:solidFill>
          <a:ln w="11906">
            <a:solidFill>
              <a:srgbClr val="0860FE"/>
            </a:solidFill>
          </a:ln>
        </p:spPr>
        <p:txBody>
          <a:bodyPr anchor="ctr">
            <a:noAutofit/>
          </a:bodyPr>
          <a:lstStyle>
            <a:defPPr algn="ctr">
              <a:defRPr sz="1650" b="0">
                <a:solidFill>
                  <a:srgbClr val="07182A"/>
                </a:solidFill>
                <a:latin typeface="CiscoSansTT"/>
                <a:ea typeface="CiscoSansTT"/>
                <a:cs typeface="CiscoSansTT"/>
              </a:defRPr>
            </a:defPPr>
            <a:lvl1pPr algn="ctr">
              <a:buNone/>
              <a:defRPr sz="1650" b="0">
                <a:solidFill>
                  <a:srgbClr val="07182A"/>
                </a:solidFill>
                <a:latin typeface="CiscoSansTT"/>
                <a:ea typeface="CiscoSansTT"/>
                <a:cs typeface="CiscoSansTT"/>
              </a:defRPr>
            </a:lvl1pPr>
            <a:lvl2pPr algn="ctr">
              <a:buNone/>
              <a:defRPr sz="1650" b="0">
                <a:solidFill>
                  <a:srgbClr val="07182A"/>
                </a:solidFill>
                <a:latin typeface="CiscoSansTT"/>
                <a:ea typeface="CiscoSansTT"/>
                <a:cs typeface="CiscoSansTT"/>
              </a:defRPr>
            </a:lvl2pPr>
            <a:lvl3pPr algn="ctr">
              <a:buNone/>
              <a:defRPr sz="1650" b="0">
                <a:solidFill>
                  <a:srgbClr val="07182A"/>
                </a:solidFill>
                <a:latin typeface="CiscoSansTT"/>
                <a:ea typeface="CiscoSansTT"/>
                <a:cs typeface="CiscoSansTT"/>
              </a:defRPr>
            </a:lvl3pPr>
            <a:lvl4pPr algn="ctr">
              <a:buNone/>
              <a:defRPr sz="1650" b="0">
                <a:solidFill>
                  <a:srgbClr val="07182A"/>
                </a:solidFill>
                <a:latin typeface="CiscoSansTT"/>
                <a:ea typeface="CiscoSansTT"/>
                <a:cs typeface="CiscoSansTT"/>
              </a:defRPr>
            </a:lvl4pPr>
            <a:lvl5pPr algn="ctr">
              <a:buNone/>
              <a:defRPr sz="1650" b="0">
                <a:solidFill>
                  <a:srgbClr val="07182A"/>
                </a:solidFill>
                <a:latin typeface="CiscoSansTT"/>
                <a:ea typeface="CiscoSansTT"/>
                <a:cs typeface="CiscoSansTT"/>
              </a:defRPr>
            </a:lvl5pPr>
            <a:lvl6pPr algn="ctr">
              <a:buNone/>
              <a:defRPr sz="1650" b="0">
                <a:solidFill>
                  <a:srgbClr val="07182A"/>
                </a:solidFill>
                <a:latin typeface="CiscoSansTT"/>
                <a:ea typeface="CiscoSansTT"/>
                <a:cs typeface="CiscoSansTT"/>
              </a:defRPr>
            </a:lvl6pPr>
            <a:lvl7pPr algn="ctr">
              <a:buNone/>
              <a:defRPr sz="1650" b="0">
                <a:solidFill>
                  <a:srgbClr val="07182A"/>
                </a:solidFill>
                <a:latin typeface="CiscoSansTT"/>
                <a:ea typeface="CiscoSansTT"/>
                <a:cs typeface="CiscoSansTT"/>
              </a:defRPr>
            </a:lvl7pPr>
            <a:lvl8pPr algn="ctr">
              <a:buNone/>
              <a:defRPr sz="1650" b="0">
                <a:solidFill>
                  <a:srgbClr val="07182A"/>
                </a:solidFill>
                <a:latin typeface="CiscoSansTT"/>
                <a:ea typeface="CiscoSansTT"/>
                <a:cs typeface="CiscoSansTT"/>
              </a:defRPr>
            </a:lvl8pPr>
            <a:lvl9pPr algn="ctr">
              <a:buNone/>
              <a:defRPr sz="1650" b="0">
                <a:solidFill>
                  <a:srgbClr val="07182A"/>
                </a:solidFill>
                <a:latin typeface="CiscoSansTT"/>
                <a:ea typeface="CiscoSansTT"/>
                <a:cs typeface="CiscoSansTT"/>
              </a:defRPr>
            </a:lvl9pPr>
          </a:lstStyle>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Cilium + Hubble metrics</a:t>
            </a:r>
          </a:p>
        </p:txBody>
      </p:sp>
      <p:sp>
        <p:nvSpPr>
          <p:cNvPr id="37" name="hubble-flow-export">
            <a:extLst>
              <a:ext uri="{FF2B5EF4-FFF2-40B4-BE49-F238E27FC236}">
                <a16:creationId xmlns:a16="http://schemas.microsoft.com/office/drawing/2014/main" id="{BD3F4742-71FC-43B3-8587-FAE799739BBD}"/>
              </a:ext>
            </a:extLst>
          </p:cNvPr>
          <p:cNvSpPr>
            <a:spLocks noGrp="1"/>
          </p:cNvSpPr>
          <p:nvPr/>
        </p:nvSpPr>
        <p:spPr>
          <a:xfrm>
            <a:off x="666750" y="5619750"/>
            <a:ext cx="3238500" cy="495300"/>
          </a:xfrm>
          <a:prstGeom prst="roundRect">
            <a:avLst>
              <a:gd name="adj" fmla="val 13462"/>
            </a:avLst>
          </a:prstGeom>
          <a:solidFill>
            <a:srgbClr val="EAF8FC"/>
          </a:solidFill>
          <a:ln w="11906">
            <a:solidFill>
              <a:srgbClr val="0860FE"/>
            </a:solidFill>
          </a:ln>
        </p:spPr>
        <p:txBody>
          <a:bodyPr anchor="ctr">
            <a:noAutofit/>
          </a:bodyPr>
          <a:lstStyle>
            <a:defPPr algn="ctr">
              <a:defRPr sz="1650" b="0">
                <a:solidFill>
                  <a:srgbClr val="07182A"/>
                </a:solidFill>
                <a:latin typeface="CiscoSansTT"/>
                <a:ea typeface="CiscoSansTT"/>
                <a:cs typeface="CiscoSansTT"/>
              </a:defRPr>
            </a:defPPr>
            <a:lvl1pPr algn="ctr">
              <a:buNone/>
              <a:defRPr sz="1650" b="0">
                <a:solidFill>
                  <a:srgbClr val="07182A"/>
                </a:solidFill>
                <a:latin typeface="CiscoSansTT"/>
                <a:ea typeface="CiscoSansTT"/>
                <a:cs typeface="CiscoSansTT"/>
              </a:defRPr>
            </a:lvl1pPr>
            <a:lvl2pPr algn="ctr">
              <a:buNone/>
              <a:defRPr sz="1650" b="0">
                <a:solidFill>
                  <a:srgbClr val="07182A"/>
                </a:solidFill>
                <a:latin typeface="CiscoSansTT"/>
                <a:ea typeface="CiscoSansTT"/>
                <a:cs typeface="CiscoSansTT"/>
              </a:defRPr>
            </a:lvl2pPr>
            <a:lvl3pPr algn="ctr">
              <a:buNone/>
              <a:defRPr sz="1650" b="0">
                <a:solidFill>
                  <a:srgbClr val="07182A"/>
                </a:solidFill>
                <a:latin typeface="CiscoSansTT"/>
                <a:ea typeface="CiscoSansTT"/>
                <a:cs typeface="CiscoSansTT"/>
              </a:defRPr>
            </a:lvl3pPr>
            <a:lvl4pPr algn="ctr">
              <a:buNone/>
              <a:defRPr sz="1650" b="0">
                <a:solidFill>
                  <a:srgbClr val="07182A"/>
                </a:solidFill>
                <a:latin typeface="CiscoSansTT"/>
                <a:ea typeface="CiscoSansTT"/>
                <a:cs typeface="CiscoSansTT"/>
              </a:defRPr>
            </a:lvl4pPr>
            <a:lvl5pPr algn="ctr">
              <a:buNone/>
              <a:defRPr sz="1650" b="0">
                <a:solidFill>
                  <a:srgbClr val="07182A"/>
                </a:solidFill>
                <a:latin typeface="CiscoSansTT"/>
                <a:ea typeface="CiscoSansTT"/>
                <a:cs typeface="CiscoSansTT"/>
              </a:defRPr>
            </a:lvl5pPr>
            <a:lvl6pPr algn="ctr">
              <a:buNone/>
              <a:defRPr sz="1650" b="0">
                <a:solidFill>
                  <a:srgbClr val="07182A"/>
                </a:solidFill>
                <a:latin typeface="CiscoSansTT"/>
                <a:ea typeface="CiscoSansTT"/>
                <a:cs typeface="CiscoSansTT"/>
              </a:defRPr>
            </a:lvl6pPr>
            <a:lvl7pPr algn="ctr">
              <a:buNone/>
              <a:defRPr sz="1650" b="0">
                <a:solidFill>
                  <a:srgbClr val="07182A"/>
                </a:solidFill>
                <a:latin typeface="CiscoSansTT"/>
                <a:ea typeface="CiscoSansTT"/>
                <a:cs typeface="CiscoSansTT"/>
              </a:defRPr>
            </a:lvl7pPr>
            <a:lvl8pPr algn="ctr">
              <a:buNone/>
              <a:defRPr sz="1650" b="0">
                <a:solidFill>
                  <a:srgbClr val="07182A"/>
                </a:solidFill>
                <a:latin typeface="CiscoSansTT"/>
                <a:ea typeface="CiscoSansTT"/>
                <a:cs typeface="CiscoSansTT"/>
              </a:defRPr>
            </a:lvl8pPr>
            <a:lvl9pPr algn="ctr">
              <a:buNone/>
              <a:defRPr sz="1650" b="0">
                <a:solidFill>
                  <a:srgbClr val="07182A"/>
                </a:solidFill>
                <a:latin typeface="CiscoSansTT"/>
                <a:ea typeface="CiscoSansTT"/>
                <a:cs typeface="CiscoSansTT"/>
              </a:defRPr>
            </a:lvl9pPr>
          </a:lstStyle>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Hubble flow records</a:t>
            </a:r>
          </a:p>
        </p:txBody>
      </p:sp>
      <p:sp>
        <p:nvSpPr>
          <p:cNvPr id="38" name="collector">
            <a:extLst>
              <a:ext uri="{FF2B5EF4-FFF2-40B4-BE49-F238E27FC236}">
                <a16:creationId xmlns:a16="http://schemas.microsoft.com/office/drawing/2014/main" id="{F80404ED-2315-4A13-AD67-564A35FBF9AA}"/>
              </a:ext>
            </a:extLst>
          </p:cNvPr>
          <p:cNvSpPr>
            <a:spLocks noGrp="1"/>
          </p:cNvSpPr>
          <p:nvPr/>
        </p:nvSpPr>
        <p:spPr>
          <a:xfrm>
            <a:off x="5715000" y="4857750"/>
            <a:ext cx="1905000" cy="495300"/>
          </a:xfrm>
          <a:prstGeom prst="roundRect">
            <a:avLst>
              <a:gd name="adj" fmla="val 13462"/>
            </a:avLst>
          </a:prstGeom>
          <a:solidFill>
            <a:srgbClr val="FFFFFF"/>
          </a:solidFill>
          <a:ln w="11906">
            <a:solidFill>
              <a:srgbClr val="0860FE"/>
            </a:solidFill>
          </a:ln>
        </p:spPr>
        <p:txBody>
          <a:bodyPr anchor="ctr">
            <a:noAutofit/>
          </a:bodyPr>
          <a:lstStyle>
            <a:defPPr algn="ctr">
              <a:defRPr sz="1650" b="0">
                <a:solidFill>
                  <a:srgbClr val="07182A"/>
                </a:solidFill>
                <a:latin typeface="CiscoSansTT"/>
                <a:ea typeface="CiscoSansTT"/>
                <a:cs typeface="CiscoSansTT"/>
              </a:defRPr>
            </a:defPPr>
            <a:lvl1pPr algn="ctr">
              <a:buNone/>
              <a:defRPr sz="1650" b="0">
                <a:solidFill>
                  <a:srgbClr val="07182A"/>
                </a:solidFill>
                <a:latin typeface="CiscoSansTT"/>
                <a:ea typeface="CiscoSansTT"/>
                <a:cs typeface="CiscoSansTT"/>
              </a:defRPr>
            </a:lvl1pPr>
            <a:lvl2pPr algn="ctr">
              <a:buNone/>
              <a:defRPr sz="1650" b="0">
                <a:solidFill>
                  <a:srgbClr val="07182A"/>
                </a:solidFill>
                <a:latin typeface="CiscoSansTT"/>
                <a:ea typeface="CiscoSansTT"/>
                <a:cs typeface="CiscoSansTT"/>
              </a:defRPr>
            </a:lvl2pPr>
            <a:lvl3pPr algn="ctr">
              <a:buNone/>
              <a:defRPr sz="1650" b="0">
                <a:solidFill>
                  <a:srgbClr val="07182A"/>
                </a:solidFill>
                <a:latin typeface="CiscoSansTT"/>
                <a:ea typeface="CiscoSansTT"/>
                <a:cs typeface="CiscoSansTT"/>
              </a:defRPr>
            </a:lvl3pPr>
            <a:lvl4pPr algn="ctr">
              <a:buNone/>
              <a:defRPr sz="1650" b="0">
                <a:solidFill>
                  <a:srgbClr val="07182A"/>
                </a:solidFill>
                <a:latin typeface="CiscoSansTT"/>
                <a:ea typeface="CiscoSansTT"/>
                <a:cs typeface="CiscoSansTT"/>
              </a:defRPr>
            </a:lvl4pPr>
            <a:lvl5pPr algn="ctr">
              <a:buNone/>
              <a:defRPr sz="1650" b="0">
                <a:solidFill>
                  <a:srgbClr val="07182A"/>
                </a:solidFill>
                <a:latin typeface="CiscoSansTT"/>
                <a:ea typeface="CiscoSansTT"/>
                <a:cs typeface="CiscoSansTT"/>
              </a:defRPr>
            </a:lvl5pPr>
            <a:lvl6pPr algn="ctr">
              <a:buNone/>
              <a:defRPr sz="1650" b="0">
                <a:solidFill>
                  <a:srgbClr val="07182A"/>
                </a:solidFill>
                <a:latin typeface="CiscoSansTT"/>
                <a:ea typeface="CiscoSansTT"/>
                <a:cs typeface="CiscoSansTT"/>
              </a:defRPr>
            </a:lvl6pPr>
            <a:lvl7pPr algn="ctr">
              <a:buNone/>
              <a:defRPr sz="1650" b="0">
                <a:solidFill>
                  <a:srgbClr val="07182A"/>
                </a:solidFill>
                <a:latin typeface="CiscoSansTT"/>
                <a:ea typeface="CiscoSansTT"/>
                <a:cs typeface="CiscoSansTT"/>
              </a:defRPr>
            </a:lvl7pPr>
            <a:lvl8pPr algn="ctr">
              <a:buNone/>
              <a:defRPr sz="1650" b="0">
                <a:solidFill>
                  <a:srgbClr val="07182A"/>
                </a:solidFill>
                <a:latin typeface="CiscoSansTT"/>
                <a:ea typeface="CiscoSansTT"/>
                <a:cs typeface="CiscoSansTT"/>
              </a:defRPr>
            </a:lvl8pPr>
            <a:lvl9pPr algn="ctr">
              <a:buNone/>
              <a:defRPr sz="1650" b="0">
                <a:solidFill>
                  <a:srgbClr val="07182A"/>
                </a:solidFill>
                <a:latin typeface="CiscoSansTT"/>
                <a:ea typeface="CiscoSansTT"/>
                <a:cs typeface="CiscoSansTT"/>
              </a:defRPr>
            </a:lvl9pPr>
          </a:lstStyle>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OTel Collector</a:t>
            </a:r>
          </a:p>
        </p:txBody>
      </p:sp>
      <p:sp>
        <p:nvSpPr>
          <p:cNvPr id="39" name="grafana">
            <a:extLst>
              <a:ext uri="{FF2B5EF4-FFF2-40B4-BE49-F238E27FC236}">
                <a16:creationId xmlns:a16="http://schemas.microsoft.com/office/drawing/2014/main" id="{100D82A6-2AC9-46C6-BBD3-B701D082BBE5}"/>
              </a:ext>
            </a:extLst>
          </p:cNvPr>
          <p:cNvSpPr>
            <a:spLocks noGrp="1"/>
          </p:cNvSpPr>
          <p:nvPr/>
        </p:nvSpPr>
        <p:spPr>
          <a:xfrm>
            <a:off x="9525000" y="4095750"/>
            <a:ext cx="2095500" cy="1257300"/>
          </a:xfrm>
          <a:prstGeom prst="roundRect">
            <a:avLst>
              <a:gd name="adj" fmla="val 5303"/>
            </a:avLst>
          </a:prstGeom>
          <a:solidFill>
            <a:srgbClr val="F4F6F7"/>
          </a:solidFill>
          <a:ln w="11906">
            <a:solidFill>
              <a:srgbClr val="686B6B"/>
            </a:solidFill>
          </a:ln>
        </p:spPr>
        <p:txBody>
          <a:bodyPr anchor="ctr">
            <a:noAutofit/>
          </a:bodyPr>
          <a:lstStyle>
            <a:defPPr algn="ctr">
              <a:defRPr sz="1725" b="0">
                <a:solidFill>
                  <a:srgbClr val="07182A"/>
                </a:solidFill>
                <a:latin typeface="CiscoSansTT"/>
                <a:ea typeface="CiscoSansTT"/>
                <a:cs typeface="CiscoSansTT"/>
              </a:defRPr>
            </a:defPPr>
            <a:lvl1pPr algn="ctr">
              <a:buNone/>
              <a:defRPr sz="1725" b="0">
                <a:solidFill>
                  <a:srgbClr val="07182A"/>
                </a:solidFill>
                <a:latin typeface="CiscoSansTT"/>
                <a:ea typeface="CiscoSansTT"/>
                <a:cs typeface="CiscoSansTT"/>
              </a:defRPr>
            </a:lvl1pPr>
            <a:lvl2pPr algn="ctr">
              <a:buNone/>
              <a:defRPr sz="1725" b="0">
                <a:solidFill>
                  <a:srgbClr val="07182A"/>
                </a:solidFill>
                <a:latin typeface="CiscoSansTT"/>
                <a:ea typeface="CiscoSansTT"/>
                <a:cs typeface="CiscoSansTT"/>
              </a:defRPr>
            </a:lvl2pPr>
            <a:lvl3pPr algn="ctr">
              <a:buNone/>
              <a:defRPr sz="1725" b="0">
                <a:solidFill>
                  <a:srgbClr val="07182A"/>
                </a:solidFill>
                <a:latin typeface="CiscoSansTT"/>
                <a:ea typeface="CiscoSansTT"/>
                <a:cs typeface="CiscoSansTT"/>
              </a:defRPr>
            </a:lvl3pPr>
            <a:lvl4pPr algn="ctr">
              <a:buNone/>
              <a:defRPr sz="1725" b="0">
                <a:solidFill>
                  <a:srgbClr val="07182A"/>
                </a:solidFill>
                <a:latin typeface="CiscoSansTT"/>
                <a:ea typeface="CiscoSansTT"/>
                <a:cs typeface="CiscoSansTT"/>
              </a:defRPr>
            </a:lvl4pPr>
            <a:lvl5pPr algn="ctr">
              <a:buNone/>
              <a:defRPr sz="1725" b="0">
                <a:solidFill>
                  <a:srgbClr val="07182A"/>
                </a:solidFill>
                <a:latin typeface="CiscoSansTT"/>
                <a:ea typeface="CiscoSansTT"/>
                <a:cs typeface="CiscoSansTT"/>
              </a:defRPr>
            </a:lvl5pPr>
            <a:lvl6pPr algn="ctr">
              <a:buNone/>
              <a:defRPr sz="1725" b="0">
                <a:solidFill>
                  <a:srgbClr val="07182A"/>
                </a:solidFill>
                <a:latin typeface="CiscoSansTT"/>
                <a:ea typeface="CiscoSansTT"/>
                <a:cs typeface="CiscoSansTT"/>
              </a:defRPr>
            </a:lvl6pPr>
            <a:lvl7pPr algn="ctr">
              <a:buNone/>
              <a:defRPr sz="1725" b="0">
                <a:solidFill>
                  <a:srgbClr val="07182A"/>
                </a:solidFill>
                <a:latin typeface="CiscoSansTT"/>
                <a:ea typeface="CiscoSansTT"/>
                <a:cs typeface="CiscoSansTT"/>
              </a:defRPr>
            </a:lvl7pPr>
            <a:lvl8pPr algn="ctr">
              <a:buNone/>
              <a:defRPr sz="1725" b="0">
                <a:solidFill>
                  <a:srgbClr val="07182A"/>
                </a:solidFill>
                <a:latin typeface="CiscoSansTT"/>
                <a:ea typeface="CiscoSansTT"/>
                <a:cs typeface="CiscoSansTT"/>
              </a:defRPr>
            </a:lvl8pPr>
            <a:lvl9pPr algn="ctr">
              <a:buNone/>
              <a:defRPr sz="1725" b="0">
                <a:solidFill>
                  <a:srgbClr val="07182A"/>
                </a:solidFill>
                <a:latin typeface="CiscoSansTT"/>
                <a:ea typeface="CiscoSansTT"/>
                <a:cs typeface="CiscoSansTT"/>
              </a:defRPr>
            </a:lvl9pPr>
          </a:lstStyle>
          <a:p>
            <a:pPr algn="ctr">
              <a:buNone/>
              <a:defRPr sz="1725" b="0">
                <a:solidFill>
                  <a:srgbClr val="07182A"/>
                </a:solidFill>
                <a:latin typeface="CiscoSansTT"/>
                <a:ea typeface="CiscoSansTT"/>
                <a:cs typeface="CiscoSansTT"/>
              </a:defRPr>
            </a:pPr>
            <a:r>
              <a:rPr sz="1725" b="0">
                <a:solidFill>
                  <a:srgbClr val="07182A"/>
                </a:solidFill>
                <a:latin typeface="CiscoSansTT"/>
                <a:ea typeface="CiscoSansTT"/>
                <a:cs typeface="CiscoSansTT"/>
              </a:rPr>
              <a:t>Grafana</a:t>
            </a:r>
          </a:p>
          <a:p>
            <a:pPr algn="ctr">
              <a:buNone/>
              <a:defRPr sz="1725" b="0">
                <a:solidFill>
                  <a:srgbClr val="07182A"/>
                </a:solidFill>
                <a:latin typeface="CiscoSansTT"/>
                <a:ea typeface="CiscoSansTT"/>
                <a:cs typeface="CiscoSansTT"/>
              </a:defRPr>
            </a:pPr>
            <a:r>
              <a:rPr sz="1725" b="0">
                <a:solidFill>
                  <a:srgbClr val="07182A"/>
                </a:solidFill>
                <a:latin typeface="CiscoSansTT"/>
                <a:ea typeface="CiscoSansTT"/>
                <a:cs typeface="CiscoSansTT"/>
              </a:rPr>
              <a:t>traces + metrics</a:t>
            </a:r>
          </a:p>
        </p:txBody>
      </p:sp>
      <p:sp>
        <p:nvSpPr>
          <p:cNvPr id="40" name="hubble-cli-ui">
            <a:extLst>
              <a:ext uri="{FF2B5EF4-FFF2-40B4-BE49-F238E27FC236}">
                <a16:creationId xmlns:a16="http://schemas.microsoft.com/office/drawing/2014/main" id="{7B9348D4-B364-49AC-A11D-7C853FE2500F}"/>
              </a:ext>
            </a:extLst>
          </p:cNvPr>
          <p:cNvSpPr>
            <a:spLocks noGrp="1"/>
          </p:cNvSpPr>
          <p:nvPr/>
        </p:nvSpPr>
        <p:spPr>
          <a:xfrm>
            <a:off x="9525000" y="5619750"/>
            <a:ext cx="2095500" cy="495300"/>
          </a:xfrm>
          <a:prstGeom prst="roundRect">
            <a:avLst>
              <a:gd name="adj" fmla="val 13462"/>
            </a:avLst>
          </a:prstGeom>
          <a:solidFill>
            <a:srgbClr val="EAF8FC"/>
          </a:solidFill>
          <a:ln w="11906">
            <a:solidFill>
              <a:srgbClr val="0860FE"/>
            </a:solidFill>
          </a:ln>
        </p:spPr>
        <p:txBody>
          <a:bodyPr anchor="ctr">
            <a:noAutofit/>
          </a:bodyPr>
          <a:lstStyle>
            <a:defPPr algn="ctr">
              <a:defRPr sz="1650" b="0">
                <a:solidFill>
                  <a:srgbClr val="07182A"/>
                </a:solidFill>
                <a:latin typeface="CiscoSansTT"/>
                <a:ea typeface="CiscoSansTT"/>
                <a:cs typeface="CiscoSansTT"/>
              </a:defRPr>
            </a:defPPr>
            <a:lvl1pPr algn="ctr">
              <a:buNone/>
              <a:defRPr sz="1650" b="0">
                <a:solidFill>
                  <a:srgbClr val="07182A"/>
                </a:solidFill>
                <a:latin typeface="CiscoSansTT"/>
                <a:ea typeface="CiscoSansTT"/>
                <a:cs typeface="CiscoSansTT"/>
              </a:defRPr>
            </a:lvl1pPr>
            <a:lvl2pPr algn="ctr">
              <a:buNone/>
              <a:defRPr sz="1650" b="0">
                <a:solidFill>
                  <a:srgbClr val="07182A"/>
                </a:solidFill>
                <a:latin typeface="CiscoSansTT"/>
                <a:ea typeface="CiscoSansTT"/>
                <a:cs typeface="CiscoSansTT"/>
              </a:defRPr>
            </a:lvl2pPr>
            <a:lvl3pPr algn="ctr">
              <a:buNone/>
              <a:defRPr sz="1650" b="0">
                <a:solidFill>
                  <a:srgbClr val="07182A"/>
                </a:solidFill>
                <a:latin typeface="CiscoSansTT"/>
                <a:ea typeface="CiscoSansTT"/>
                <a:cs typeface="CiscoSansTT"/>
              </a:defRPr>
            </a:lvl3pPr>
            <a:lvl4pPr algn="ctr">
              <a:buNone/>
              <a:defRPr sz="1650" b="0">
                <a:solidFill>
                  <a:srgbClr val="07182A"/>
                </a:solidFill>
                <a:latin typeface="CiscoSansTT"/>
                <a:ea typeface="CiscoSansTT"/>
                <a:cs typeface="CiscoSansTT"/>
              </a:defRPr>
            </a:lvl4pPr>
            <a:lvl5pPr algn="ctr">
              <a:buNone/>
              <a:defRPr sz="1650" b="0">
                <a:solidFill>
                  <a:srgbClr val="07182A"/>
                </a:solidFill>
                <a:latin typeface="CiscoSansTT"/>
                <a:ea typeface="CiscoSansTT"/>
                <a:cs typeface="CiscoSansTT"/>
              </a:defRPr>
            </a:lvl5pPr>
            <a:lvl6pPr algn="ctr">
              <a:buNone/>
              <a:defRPr sz="1650" b="0">
                <a:solidFill>
                  <a:srgbClr val="07182A"/>
                </a:solidFill>
                <a:latin typeface="CiscoSansTT"/>
                <a:ea typeface="CiscoSansTT"/>
                <a:cs typeface="CiscoSansTT"/>
              </a:defRPr>
            </a:lvl6pPr>
            <a:lvl7pPr algn="ctr">
              <a:buNone/>
              <a:defRPr sz="1650" b="0">
                <a:solidFill>
                  <a:srgbClr val="07182A"/>
                </a:solidFill>
                <a:latin typeface="CiscoSansTT"/>
                <a:ea typeface="CiscoSansTT"/>
                <a:cs typeface="CiscoSansTT"/>
              </a:defRPr>
            </a:lvl7pPr>
            <a:lvl8pPr algn="ctr">
              <a:buNone/>
              <a:defRPr sz="1650" b="0">
                <a:solidFill>
                  <a:srgbClr val="07182A"/>
                </a:solidFill>
                <a:latin typeface="CiscoSansTT"/>
                <a:ea typeface="CiscoSansTT"/>
                <a:cs typeface="CiscoSansTT"/>
              </a:defRPr>
            </a:lvl8pPr>
            <a:lvl9pPr algn="ctr">
              <a:buNone/>
              <a:defRPr sz="1650" b="0">
                <a:solidFill>
                  <a:srgbClr val="07182A"/>
                </a:solidFill>
                <a:latin typeface="CiscoSansTT"/>
                <a:ea typeface="CiscoSansTT"/>
                <a:cs typeface="CiscoSansTT"/>
              </a:defRPr>
            </a:lvl9pPr>
          </a:lstStyle>
          <a:p>
            <a:pPr algn="ctr">
              <a:buNone/>
              <a:defRPr sz="1650" b="0">
                <a:solidFill>
                  <a:srgbClr val="07182A"/>
                </a:solidFill>
                <a:latin typeface="CiscoSansTT"/>
                <a:ea typeface="CiscoSansTT"/>
                <a:cs typeface="CiscoSansTT"/>
              </a:defRPr>
            </a:pPr>
            <a:r>
              <a:rPr sz="1650" b="0">
                <a:solidFill>
                  <a:srgbClr val="07182A"/>
                </a:solidFill>
                <a:latin typeface="CiscoSansTT"/>
                <a:ea typeface="CiscoSansTT"/>
                <a:cs typeface="CiscoSansTT"/>
              </a:rPr>
              <a:t>Hubble UI</a:t>
            </a:r>
          </a:p>
        </p:txBody>
      </p:sp>
      <p:cxnSp>
        <p:nvCxnSpPr>
          <p:cNvPr id="41" name="obi-to-grafana">
            <a:extLst>
              <a:ext uri="{FF2B5EF4-FFF2-40B4-BE49-F238E27FC236}">
                <a16:creationId xmlns:a16="http://schemas.microsoft.com/office/drawing/2014/main" id="{8B4B15AC-3DCF-44DD-A9BD-574ED9D70F2A}"/>
              </a:ext>
            </a:extLst>
          </p:cNvPr>
          <p:cNvCxnSpPr/>
          <p:nvPr/>
        </p:nvCxnSpPr>
        <p:spPr>
          <a:xfrm>
            <a:off x="3905250" y="4343400"/>
            <a:ext cx="5619750" cy="0"/>
          </a:xfrm>
          <a:prstGeom prst="straightConnector1">
            <a:avLst/>
          </a:prstGeom>
          <a:ln w="19050">
            <a:solidFill>
              <a:srgbClr val="FF007F"/>
            </a:solidFill>
            <a:prstDash val="solid"/>
            <a:tailEnd type="arrow" w="med" len="med"/>
          </a:ln>
        </p:spPr>
      </p:cxnSp>
      <p:cxnSp>
        <p:nvCxnSpPr>
          <p:cNvPr id="42" name="metrics-to-collector">
            <a:extLst>
              <a:ext uri="{FF2B5EF4-FFF2-40B4-BE49-F238E27FC236}">
                <a16:creationId xmlns:a16="http://schemas.microsoft.com/office/drawing/2014/main" id="{E2120A30-7D9B-4192-BD06-1659272AE903}"/>
              </a:ext>
            </a:extLst>
          </p:cNvPr>
          <p:cNvCxnSpPr/>
          <p:nvPr/>
        </p:nvCxnSpPr>
        <p:spPr>
          <a:xfrm>
            <a:off x="3905250" y="5105400"/>
            <a:ext cx="1809750" cy="0"/>
          </a:xfrm>
          <a:prstGeom prst="straightConnector1">
            <a:avLst/>
          </a:prstGeom>
          <a:ln w="19050">
            <a:solidFill>
              <a:srgbClr val="0860FE"/>
            </a:solidFill>
            <a:prstDash val="solid"/>
            <a:tailEnd type="arrow" w="med" len="med"/>
          </a:ln>
        </p:spPr>
      </p:cxnSp>
      <p:cxnSp>
        <p:nvCxnSpPr>
          <p:cNvPr id="43" name="collector-to-grafana">
            <a:extLst>
              <a:ext uri="{FF2B5EF4-FFF2-40B4-BE49-F238E27FC236}">
                <a16:creationId xmlns:a16="http://schemas.microsoft.com/office/drawing/2014/main" id="{85349D30-0D5D-432E-83C7-AAB474BC4990}"/>
              </a:ext>
            </a:extLst>
          </p:cNvPr>
          <p:cNvCxnSpPr/>
          <p:nvPr/>
        </p:nvCxnSpPr>
        <p:spPr>
          <a:xfrm>
            <a:off x="7620000" y="5105400"/>
            <a:ext cx="1905000" cy="0"/>
          </a:xfrm>
          <a:prstGeom prst="straightConnector1">
            <a:avLst/>
          </a:prstGeom>
          <a:ln w="19050">
            <a:solidFill>
              <a:srgbClr val="0860FE"/>
            </a:solidFill>
            <a:prstDash val="solid"/>
            <a:tailEnd type="arrow" w="med" len="med"/>
          </a:ln>
        </p:spPr>
      </p:cxnSp>
      <p:cxnSp>
        <p:nvCxnSpPr>
          <p:cNvPr id="44" name="flows-to-ui">
            <a:extLst>
              <a:ext uri="{FF2B5EF4-FFF2-40B4-BE49-F238E27FC236}">
                <a16:creationId xmlns:a16="http://schemas.microsoft.com/office/drawing/2014/main" id="{FD8B1710-CB3A-433D-8434-1DC83819AA22}"/>
              </a:ext>
            </a:extLst>
          </p:cNvPr>
          <p:cNvCxnSpPr/>
          <p:nvPr/>
        </p:nvCxnSpPr>
        <p:spPr>
          <a:xfrm>
            <a:off x="3905250" y="5867400"/>
            <a:ext cx="5619750" cy="0"/>
          </a:xfrm>
          <a:prstGeom prst="straightConnector1">
            <a:avLst/>
          </a:prstGeom>
          <a:ln w="19050">
            <a:solidFill>
              <a:srgbClr val="0860FE"/>
            </a:solidFill>
            <a:prstDash val="solid"/>
            <a:tailEnd type="arrow" w="med" len="med"/>
          </a:ln>
        </p:spPr>
      </p:cxnSp>
      <p:sp>
        <p:nvSpPr>
          <p:cNvPr id="45" name="rollout-route">
            <a:extLst>
              <a:ext uri="{FF2B5EF4-FFF2-40B4-BE49-F238E27FC236}">
                <a16:creationId xmlns:a16="http://schemas.microsoft.com/office/drawing/2014/main" id="{4B4B4BAE-D60A-4F3B-A61A-6FC626E30F50}"/>
              </a:ext>
            </a:extLst>
          </p:cNvPr>
          <p:cNvSpPr>
            <a:spLocks noGrp="1"/>
          </p:cNvSpPr>
          <p:nvPr/>
        </p:nvSpPr>
        <p:spPr>
          <a:xfrm>
            <a:off x="5476875" y="1438275"/>
            <a:ext cx="6096000" cy="342900"/>
          </a:xfrm>
          <a:prstGeom prst="rect">
            <a:avLst/>
          </a:prstGeom>
          <a:noFill/>
          <a:ln w="0">
            <a:noFill/>
          </a:ln>
        </p:spPr>
        <p:txBody>
          <a:bodyPr anchor="ctr">
            <a:noAutofit/>
          </a:bodyPr>
          <a:lstStyle>
            <a:defPPr algn="ctr">
              <a:defRPr sz="1575" b="0">
                <a:solidFill>
                  <a:srgbClr val="0860FE"/>
                </a:solidFill>
                <a:latin typeface="CiscoSansTT"/>
                <a:ea typeface="CiscoSansTT"/>
                <a:cs typeface="CiscoSansTT"/>
              </a:defRPr>
            </a:defPPr>
            <a:lvl1pPr algn="ctr">
              <a:defRPr sz="1575" b="0">
                <a:solidFill>
                  <a:srgbClr val="0860FE"/>
                </a:solidFill>
                <a:latin typeface="CiscoSansTT"/>
                <a:ea typeface="CiscoSansTT"/>
                <a:cs typeface="CiscoSansTT"/>
              </a:defRPr>
            </a:lvl1pPr>
            <a:lvl2pPr algn="ctr">
              <a:defRPr sz="1575" b="0">
                <a:solidFill>
                  <a:srgbClr val="0860FE"/>
                </a:solidFill>
                <a:latin typeface="CiscoSansTT"/>
                <a:ea typeface="CiscoSansTT"/>
                <a:cs typeface="CiscoSansTT"/>
              </a:defRPr>
            </a:lvl2pPr>
            <a:lvl3pPr algn="ctr">
              <a:defRPr sz="1575" b="0">
                <a:solidFill>
                  <a:srgbClr val="0860FE"/>
                </a:solidFill>
                <a:latin typeface="CiscoSansTT"/>
                <a:ea typeface="CiscoSansTT"/>
                <a:cs typeface="CiscoSansTT"/>
              </a:defRPr>
            </a:lvl3pPr>
            <a:lvl4pPr algn="ctr">
              <a:defRPr sz="1575" b="0">
                <a:solidFill>
                  <a:srgbClr val="0860FE"/>
                </a:solidFill>
                <a:latin typeface="CiscoSansTT"/>
                <a:ea typeface="CiscoSansTT"/>
                <a:cs typeface="CiscoSansTT"/>
              </a:defRPr>
            </a:lvl4pPr>
            <a:lvl5pPr algn="ctr">
              <a:defRPr sz="1575" b="0">
                <a:solidFill>
                  <a:srgbClr val="0860FE"/>
                </a:solidFill>
                <a:latin typeface="CiscoSansTT"/>
                <a:ea typeface="CiscoSansTT"/>
                <a:cs typeface="CiscoSansTT"/>
              </a:defRPr>
            </a:lvl5pPr>
            <a:lvl6pPr algn="ctr">
              <a:defRPr sz="1575" b="0">
                <a:solidFill>
                  <a:srgbClr val="0860FE"/>
                </a:solidFill>
                <a:latin typeface="CiscoSansTT"/>
                <a:ea typeface="CiscoSansTT"/>
                <a:cs typeface="CiscoSansTT"/>
              </a:defRPr>
            </a:lvl6pPr>
            <a:lvl7pPr algn="ctr">
              <a:defRPr sz="1575" b="0">
                <a:solidFill>
                  <a:srgbClr val="0860FE"/>
                </a:solidFill>
                <a:latin typeface="CiscoSansTT"/>
                <a:ea typeface="CiscoSansTT"/>
                <a:cs typeface="CiscoSansTT"/>
              </a:defRPr>
            </a:lvl7pPr>
            <a:lvl8pPr algn="ctr">
              <a:defRPr sz="1575" b="0">
                <a:solidFill>
                  <a:srgbClr val="0860FE"/>
                </a:solidFill>
                <a:latin typeface="CiscoSansTT"/>
                <a:ea typeface="CiscoSansTT"/>
                <a:cs typeface="CiscoSansTT"/>
              </a:defRPr>
            </a:lvl8pPr>
            <a:lvl9pPr algn="ctr">
              <a:defRPr sz="1575" b="0">
                <a:solidFill>
                  <a:srgbClr val="0860FE"/>
                </a:solidFill>
                <a:latin typeface="CiscoSansTT"/>
                <a:ea typeface="CiscoSansTT"/>
                <a:cs typeface="CiscoSansTT"/>
              </a:defRPr>
            </a:lvl9pPr>
          </a:lstStyle>
          <a:p>
            <a:pPr algn="ctr">
              <a:defRPr sz="1575" b="0">
                <a:solidFill>
                  <a:srgbClr val="0860FE"/>
                </a:solidFill>
                <a:latin typeface="CiscoSansTT"/>
                <a:ea typeface="CiscoSansTT"/>
                <a:cs typeface="CiscoSansTT"/>
              </a:defRPr>
            </a:pPr>
            <a:r>
              <a:rPr sz="1575" b="0">
                <a:solidFill>
                  <a:srgbClr val="0860FE"/>
                </a:solidFill>
                <a:latin typeface="CiscoSansTT"/>
                <a:ea typeface="CiscoSansTT"/>
                <a:cs typeface="CiscoSansTT"/>
              </a:rPr>
              <a:t>Rollout request</a:t>
            </a:r>
          </a:p>
        </p:txBody>
      </p:sp>
      <p:cxnSp>
        <p:nvCxnSpPr>
          <p:cNvPr id="46" name="generator-to-edge">
            <a:extLst>
              <a:ext uri="{FF2B5EF4-FFF2-40B4-BE49-F238E27FC236}">
                <a16:creationId xmlns:a16="http://schemas.microsoft.com/office/drawing/2014/main" id="{C1752FA4-1A6C-4F0A-9305-70936FAFF8A5}"/>
              </a:ext>
            </a:extLst>
          </p:cNvPr>
          <p:cNvCxnSpPr/>
          <p:nvPr/>
        </p:nvCxnSpPr>
        <p:spPr>
          <a:xfrm>
            <a:off x="1905000" y="2247900"/>
            <a:ext cx="666750" cy="0"/>
          </a:xfrm>
          <a:prstGeom prst="straightConnector1">
            <a:avLst/>
          </a:prstGeom>
          <a:ln w="19050">
            <a:solidFill>
              <a:srgbClr val="686B6B"/>
            </a:solidFill>
            <a:tailEnd type="arrow" w="med" len="med"/>
          </a:ln>
        </p:spPr>
      </p:cxnSp>
      <p:cxnSp>
        <p:nvCxnSpPr>
          <p:cNvPr id="47" name="edge-to-v2">
            <a:extLst>
              <a:ext uri="{FF2B5EF4-FFF2-40B4-BE49-F238E27FC236}">
                <a16:creationId xmlns:a16="http://schemas.microsoft.com/office/drawing/2014/main" id="{4EE3E7E5-D667-41CC-B365-7B0034F8BA6D}"/>
              </a:ext>
            </a:extLst>
          </p:cNvPr>
          <p:cNvCxnSpPr/>
          <p:nvPr/>
        </p:nvCxnSpPr>
        <p:spPr>
          <a:xfrm>
            <a:off x="4476750" y="2247900"/>
            <a:ext cx="1047750" cy="0"/>
          </a:xfrm>
          <a:prstGeom prst="straightConnector1">
            <a:avLst/>
          </a:prstGeom>
          <a:ln w="19050">
            <a:solidFill>
              <a:srgbClr val="0860FE"/>
            </a:solidFill>
            <a:tailEnd type="arrow" w="med" len="med"/>
          </a:ln>
        </p:spPr>
      </p:cxnSp>
      <p:cxnSp>
        <p:nvCxnSpPr>
          <p:cNvPr id="48" name="v2-to-v1">
            <a:extLst>
              <a:ext uri="{FF2B5EF4-FFF2-40B4-BE49-F238E27FC236}">
                <a16:creationId xmlns:a16="http://schemas.microsoft.com/office/drawing/2014/main" id="{8816EF8F-63BD-4288-98FD-203A932107B8}"/>
              </a:ext>
            </a:extLst>
          </p:cNvPr>
          <p:cNvCxnSpPr/>
          <p:nvPr/>
        </p:nvCxnSpPr>
        <p:spPr>
          <a:xfrm>
            <a:off x="8096250" y="2247900"/>
            <a:ext cx="857250" cy="0"/>
          </a:xfrm>
          <a:prstGeom prst="straightConnector1">
            <a:avLst/>
          </a:prstGeom>
          <a:ln w="19050">
            <a:solidFill>
              <a:srgbClr val="0860FE"/>
            </a:solidFill>
            <a:tailEnd type="arrow" w="med" len="med"/>
          </a:ln>
        </p:spPr>
      </p:cxnSp>
      <p:cxnSp>
        <p:nvCxnSpPr>
          <p:cNvPr id="49" name="direct-v1-down">
            <a:extLst>
              <a:ext uri="{FF2B5EF4-FFF2-40B4-BE49-F238E27FC236}">
                <a16:creationId xmlns:a16="http://schemas.microsoft.com/office/drawing/2014/main" id="{B0D77129-90AF-48F7-A6CF-649FB49AE727}"/>
              </a:ext>
            </a:extLst>
          </p:cNvPr>
          <p:cNvCxnSpPr/>
          <p:nvPr/>
        </p:nvCxnSpPr>
        <p:spPr>
          <a:xfrm>
            <a:off x="3524250" y="2609850"/>
            <a:ext cx="0" cy="466725"/>
          </a:xfrm>
          <a:prstGeom prst="straightConnector1">
            <a:avLst/>
          </a:prstGeom>
          <a:ln w="19050">
            <a:solidFill>
              <a:srgbClr val="FF8A00"/>
            </a:solidFill>
          </a:ln>
        </p:spPr>
      </p:cxnSp>
      <p:cxnSp>
        <p:nvCxnSpPr>
          <p:cNvPr id="50" name="direct-v1-across">
            <a:extLst>
              <a:ext uri="{FF2B5EF4-FFF2-40B4-BE49-F238E27FC236}">
                <a16:creationId xmlns:a16="http://schemas.microsoft.com/office/drawing/2014/main" id="{4BBD4F43-2FDD-4479-80DB-2E8C771F427A}"/>
              </a:ext>
            </a:extLst>
          </p:cNvPr>
          <p:cNvCxnSpPr/>
          <p:nvPr/>
        </p:nvCxnSpPr>
        <p:spPr>
          <a:xfrm>
            <a:off x="3524250" y="3076575"/>
            <a:ext cx="6762750" cy="0"/>
          </a:xfrm>
          <a:prstGeom prst="straightConnector1">
            <a:avLst/>
          </a:prstGeom>
          <a:ln w="19050">
            <a:solidFill>
              <a:srgbClr val="FF8A00"/>
            </a:solidFill>
          </a:ln>
        </p:spPr>
      </p:cxnSp>
      <p:cxnSp>
        <p:nvCxnSpPr>
          <p:cNvPr id="51" name="direct-v1-up">
            <a:extLst>
              <a:ext uri="{FF2B5EF4-FFF2-40B4-BE49-F238E27FC236}">
                <a16:creationId xmlns:a16="http://schemas.microsoft.com/office/drawing/2014/main" id="{7C026934-6D92-4E7C-B8C3-A12DCA5434B8}"/>
              </a:ext>
            </a:extLst>
          </p:cNvPr>
          <p:cNvCxnSpPr/>
          <p:nvPr/>
        </p:nvCxnSpPr>
        <p:spPr>
          <a:xfrm>
            <a:off x="10287000" y="2609850"/>
            <a:ext cx="0" cy="466725"/>
          </a:xfrm>
          <a:prstGeom prst="straightConnector1">
            <a:avLst/>
          </a:prstGeom>
          <a:ln w="19050">
            <a:solidFill>
              <a:srgbClr val="FF8A00"/>
            </a:solidFill>
            <a:headEnd type="arrow" w="med" len="med"/>
          </a:ln>
        </p:spPr>
      </p:cxnSp>
      <p:sp>
        <p:nvSpPr>
          <p:cNvPr id="52" name="direct-route-label">
            <a:extLst>
              <a:ext uri="{FF2B5EF4-FFF2-40B4-BE49-F238E27FC236}">
                <a16:creationId xmlns:a16="http://schemas.microsoft.com/office/drawing/2014/main" id="{5577A973-472B-46EB-90B8-B85789CC3886}"/>
              </a:ext>
            </a:extLst>
          </p:cNvPr>
          <p:cNvSpPr>
            <a:spLocks noGrp="1"/>
          </p:cNvSpPr>
          <p:nvPr/>
        </p:nvSpPr>
        <p:spPr>
          <a:xfrm>
            <a:off x="4095750" y="3162300"/>
            <a:ext cx="6191250" cy="314325"/>
          </a:xfrm>
          <a:prstGeom prst="rect">
            <a:avLst/>
          </a:prstGeom>
          <a:noFill/>
          <a:ln w="0">
            <a:noFill/>
          </a:ln>
        </p:spPr>
        <p:txBody>
          <a:bodyPr anchor="ctr">
            <a:noAutofit/>
          </a:bodyPr>
          <a:lstStyle>
            <a:defPPr algn="ctr">
              <a:defRPr sz="1500" b="0">
                <a:solidFill>
                  <a:srgbClr val="FF8A00"/>
                </a:solidFill>
                <a:latin typeface="CiscoSansTT"/>
                <a:ea typeface="CiscoSansTT"/>
                <a:cs typeface="CiscoSansTT"/>
              </a:defRPr>
            </a:defPPr>
            <a:lvl1pPr algn="ctr">
              <a:defRPr sz="1500" b="0">
                <a:solidFill>
                  <a:srgbClr val="FF8A00"/>
                </a:solidFill>
                <a:latin typeface="CiscoSansTT"/>
                <a:ea typeface="CiscoSansTT"/>
                <a:cs typeface="CiscoSansTT"/>
              </a:defRPr>
            </a:lvl1pPr>
            <a:lvl2pPr algn="ctr">
              <a:defRPr sz="1500" b="0">
                <a:solidFill>
                  <a:srgbClr val="FF8A00"/>
                </a:solidFill>
                <a:latin typeface="CiscoSansTT"/>
                <a:ea typeface="CiscoSansTT"/>
                <a:cs typeface="CiscoSansTT"/>
              </a:defRPr>
            </a:lvl2pPr>
            <a:lvl3pPr algn="ctr">
              <a:defRPr sz="1500" b="0">
                <a:solidFill>
                  <a:srgbClr val="FF8A00"/>
                </a:solidFill>
                <a:latin typeface="CiscoSansTT"/>
                <a:ea typeface="CiscoSansTT"/>
                <a:cs typeface="CiscoSansTT"/>
              </a:defRPr>
            </a:lvl3pPr>
            <a:lvl4pPr algn="ctr">
              <a:defRPr sz="1500" b="0">
                <a:solidFill>
                  <a:srgbClr val="FF8A00"/>
                </a:solidFill>
                <a:latin typeface="CiscoSansTT"/>
                <a:ea typeface="CiscoSansTT"/>
                <a:cs typeface="CiscoSansTT"/>
              </a:defRPr>
            </a:lvl4pPr>
            <a:lvl5pPr algn="ctr">
              <a:defRPr sz="1500" b="0">
                <a:solidFill>
                  <a:srgbClr val="FF8A00"/>
                </a:solidFill>
                <a:latin typeface="CiscoSansTT"/>
                <a:ea typeface="CiscoSansTT"/>
                <a:cs typeface="CiscoSansTT"/>
              </a:defRPr>
            </a:lvl5pPr>
            <a:lvl6pPr algn="ctr">
              <a:defRPr sz="1500" b="0">
                <a:solidFill>
                  <a:srgbClr val="FF8A00"/>
                </a:solidFill>
                <a:latin typeface="CiscoSansTT"/>
                <a:ea typeface="CiscoSansTT"/>
                <a:cs typeface="CiscoSansTT"/>
              </a:defRPr>
            </a:lvl6pPr>
            <a:lvl7pPr algn="ctr">
              <a:defRPr sz="1500" b="0">
                <a:solidFill>
                  <a:srgbClr val="FF8A00"/>
                </a:solidFill>
                <a:latin typeface="CiscoSansTT"/>
                <a:ea typeface="CiscoSansTT"/>
                <a:cs typeface="CiscoSansTT"/>
              </a:defRPr>
            </a:lvl7pPr>
            <a:lvl8pPr algn="ctr">
              <a:defRPr sz="1500" b="0">
                <a:solidFill>
                  <a:srgbClr val="FF8A00"/>
                </a:solidFill>
                <a:latin typeface="CiscoSansTT"/>
                <a:ea typeface="CiscoSansTT"/>
                <a:cs typeface="CiscoSansTT"/>
              </a:defRPr>
            </a:lvl8pPr>
            <a:lvl9pPr algn="ctr">
              <a:defRPr sz="1500" b="0">
                <a:solidFill>
                  <a:srgbClr val="FF8A00"/>
                </a:solidFill>
                <a:latin typeface="CiscoSansTT"/>
                <a:ea typeface="CiscoSansTT"/>
                <a:cs typeface="CiscoSansTT"/>
              </a:defRPr>
            </a:lvl9pPr>
          </a:lstStyle>
          <a:p>
            <a:pPr algn="ctr">
              <a:defRPr sz="1500" b="0">
                <a:solidFill>
                  <a:srgbClr val="FF8A00"/>
                </a:solidFill>
                <a:latin typeface="CiscoSansTT"/>
                <a:ea typeface="CiscoSansTT"/>
                <a:cs typeface="CiscoSansTT"/>
              </a:defRPr>
            </a:pPr>
            <a:r>
              <a:rPr sz="1500" b="0">
                <a:solidFill>
                  <a:srgbClr val="FF8A00"/>
                </a:solidFill>
                <a:latin typeface="CiscoSansTT"/>
                <a:ea typeface="CiscoSansTT"/>
                <a:cs typeface="CiscoSansTT"/>
              </a:rPr>
              <a:t>Direct request to v1, used in the denial demo</a:t>
            </a:r>
          </a:p>
        </p:txBody>
      </p:sp>
    </p:spTree>
    <p:extLst>
      <p:ext uri="{BB962C8B-B14F-4D97-AF65-F5344CB8AC3E}">
        <p14:creationId xmlns:p14="http://schemas.microsoft.com/office/powerpoint/2010/main" val="30099115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title">
            <a:extLst>
              <a:ext uri="{FF2B5EF4-FFF2-40B4-BE49-F238E27FC236}">
                <a16:creationId xmlns:a16="http://schemas.microsoft.com/office/drawing/2014/main" id="{3A30ADA3-E6FC-41FC-B753-CDCCABFEFD8F}"/>
              </a:ext>
            </a:extLst>
          </p:cNvPr>
          <p:cNvSpPr>
            <a:spLocks noGrp="1"/>
          </p:cNvSpPr>
          <p:nvPr/>
        </p:nvSpPr>
        <p:spPr>
          <a:xfrm>
            <a:off x="323850" y="95250"/>
            <a:ext cx="11049000" cy="552450"/>
          </a:xfrm>
          <a:prstGeom prst="rect">
            <a:avLst/>
          </a:prstGeom>
          <a:noFill/>
          <a:ln w="0">
            <a:noFill/>
          </a:ln>
        </p:spPr>
        <p:txBody>
          <a:bodyPr anchor="ctr">
            <a:noAutofit/>
          </a:bodyPr>
          <a:lstStyle>
            <a:defPPr algn="l">
              <a:defRPr sz="2700" b="0">
                <a:solidFill>
                  <a:srgbClr val="07182A"/>
                </a:solidFill>
                <a:latin typeface="CiscoSansTT"/>
                <a:ea typeface="CiscoSansTT"/>
                <a:cs typeface="CiscoSansTT"/>
              </a:defRPr>
            </a:defPPr>
            <a:lvl1pPr algn="l">
              <a:defRPr sz="2700" b="0">
                <a:solidFill>
                  <a:srgbClr val="07182A"/>
                </a:solidFill>
                <a:latin typeface="CiscoSansTT"/>
                <a:ea typeface="CiscoSansTT"/>
                <a:cs typeface="CiscoSansTT"/>
              </a:defRPr>
            </a:lvl1pPr>
            <a:lvl2pPr algn="l">
              <a:defRPr sz="2700" b="0">
                <a:solidFill>
                  <a:srgbClr val="07182A"/>
                </a:solidFill>
                <a:latin typeface="CiscoSansTT"/>
                <a:ea typeface="CiscoSansTT"/>
                <a:cs typeface="CiscoSansTT"/>
              </a:defRPr>
            </a:lvl2pPr>
            <a:lvl3pPr algn="l">
              <a:defRPr sz="2700" b="0">
                <a:solidFill>
                  <a:srgbClr val="07182A"/>
                </a:solidFill>
                <a:latin typeface="CiscoSansTT"/>
                <a:ea typeface="CiscoSansTT"/>
                <a:cs typeface="CiscoSansTT"/>
              </a:defRPr>
            </a:lvl3pPr>
            <a:lvl4pPr algn="l">
              <a:defRPr sz="2700" b="0">
                <a:solidFill>
                  <a:srgbClr val="07182A"/>
                </a:solidFill>
                <a:latin typeface="CiscoSansTT"/>
                <a:ea typeface="CiscoSansTT"/>
                <a:cs typeface="CiscoSansTT"/>
              </a:defRPr>
            </a:lvl4pPr>
            <a:lvl5pPr algn="l">
              <a:defRPr sz="2700" b="0">
                <a:solidFill>
                  <a:srgbClr val="07182A"/>
                </a:solidFill>
                <a:latin typeface="CiscoSansTT"/>
                <a:ea typeface="CiscoSansTT"/>
                <a:cs typeface="CiscoSansTT"/>
              </a:defRPr>
            </a:lvl5pPr>
            <a:lvl6pPr algn="l">
              <a:defRPr sz="2700" b="0">
                <a:solidFill>
                  <a:srgbClr val="07182A"/>
                </a:solidFill>
                <a:latin typeface="CiscoSansTT"/>
                <a:ea typeface="CiscoSansTT"/>
                <a:cs typeface="CiscoSansTT"/>
              </a:defRPr>
            </a:lvl6pPr>
            <a:lvl7pPr algn="l">
              <a:defRPr sz="2700" b="0">
                <a:solidFill>
                  <a:srgbClr val="07182A"/>
                </a:solidFill>
                <a:latin typeface="CiscoSansTT"/>
                <a:ea typeface="CiscoSansTT"/>
                <a:cs typeface="CiscoSansTT"/>
              </a:defRPr>
            </a:lvl7pPr>
            <a:lvl8pPr algn="l">
              <a:defRPr sz="2700" b="0">
                <a:solidFill>
                  <a:srgbClr val="07182A"/>
                </a:solidFill>
                <a:latin typeface="CiscoSansTT"/>
                <a:ea typeface="CiscoSansTT"/>
                <a:cs typeface="CiscoSansTT"/>
              </a:defRPr>
            </a:lvl8pPr>
            <a:lvl9pPr algn="l">
              <a:defRPr sz="2700" b="0">
                <a:solidFill>
                  <a:srgbClr val="07182A"/>
                </a:solidFill>
                <a:latin typeface="CiscoSansTT"/>
                <a:ea typeface="CiscoSansTT"/>
                <a:cs typeface="CiscoSansTT"/>
              </a:defRPr>
            </a:lvl9pPr>
          </a:lstStyle>
          <a:p>
            <a:pPr algn="l">
              <a:buNone/>
              <a:defRPr sz="2700" b="0">
                <a:solidFill>
                  <a:srgbClr val="07182A"/>
                </a:solidFill>
                <a:latin typeface="CiscoSansTT"/>
                <a:ea typeface="CiscoSansTT"/>
                <a:cs typeface="CiscoSansTT"/>
              </a:defRPr>
            </a:pPr>
            <a:r>
              <a:rPr sz="2700" b="0" dirty="0">
                <a:solidFill>
                  <a:srgbClr val="07182A"/>
                </a:solidFill>
                <a:latin typeface="CiscoSansTT"/>
                <a:ea typeface="CiscoSansTT"/>
                <a:cs typeface="CiscoSansTT"/>
              </a:rPr>
              <a:t>Coexistence proof</a:t>
            </a:r>
          </a:p>
        </p:txBody>
      </p:sp>
      <p:pic>
        <p:nvPicPr>
          <p:cNvPr id="6" name="cilium-obi-demo-1-coexistence.mp4">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1101328" y="717500"/>
            <a:ext cx="9989344" cy="5619006"/>
          </a:xfrm>
          <a:prstGeom prst="roundRect">
            <a:avLst>
              <a:gd name="adj" fmla="val 1852"/>
            </a:avLst>
          </a:prstGeom>
        </p:spPr>
      </p:pic>
    </p:spTree>
    <p:extLst>
      <p:ext uri="{BB962C8B-B14F-4D97-AF65-F5344CB8AC3E}">
        <p14:creationId xmlns:p14="http://schemas.microsoft.com/office/powerpoint/2010/main" val="18409082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44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title">
            <a:extLst>
              <a:ext uri="{FF2B5EF4-FFF2-40B4-BE49-F238E27FC236}">
                <a16:creationId xmlns:a16="http://schemas.microsoft.com/office/drawing/2014/main" id="{1FA760BB-E05C-48FA-A99F-779C746673E9}"/>
              </a:ext>
            </a:extLst>
          </p:cNvPr>
          <p:cNvSpPr>
            <a:spLocks noGrp="1"/>
          </p:cNvSpPr>
          <p:nvPr/>
        </p:nvSpPr>
        <p:spPr>
          <a:xfrm>
            <a:off x="323850" y="95250"/>
            <a:ext cx="11049000" cy="552450"/>
          </a:xfrm>
          <a:prstGeom prst="rect">
            <a:avLst/>
          </a:prstGeom>
          <a:noFill/>
          <a:ln w="0">
            <a:noFill/>
          </a:ln>
        </p:spPr>
        <p:txBody>
          <a:bodyPr anchor="ctr">
            <a:noAutofit/>
          </a:bodyPr>
          <a:lstStyle>
            <a:defPPr algn="l">
              <a:defRPr sz="2700" b="0">
                <a:solidFill>
                  <a:srgbClr val="07182A"/>
                </a:solidFill>
                <a:latin typeface="CiscoSansTT"/>
                <a:ea typeface="CiscoSansTT"/>
                <a:cs typeface="CiscoSansTT"/>
              </a:defRPr>
            </a:defPPr>
            <a:lvl1pPr algn="l">
              <a:buNone/>
              <a:defRPr sz="3000" b="0">
                <a:solidFill>
                  <a:srgbClr val="07182A"/>
                </a:solidFill>
                <a:latin typeface="CiscoSansTT"/>
                <a:ea typeface="CiscoSansTT"/>
                <a:cs typeface="CiscoSansTT"/>
              </a:defRPr>
            </a:lvl1pPr>
            <a:lvl2pPr algn="l">
              <a:buNone/>
              <a:defRPr sz="3000" b="0">
                <a:solidFill>
                  <a:srgbClr val="07182A"/>
                </a:solidFill>
                <a:latin typeface="CiscoSansTT"/>
                <a:ea typeface="CiscoSansTT"/>
                <a:cs typeface="CiscoSansTT"/>
              </a:defRPr>
            </a:lvl2pPr>
            <a:lvl3pPr algn="l">
              <a:buNone/>
              <a:defRPr sz="3000" b="0">
                <a:solidFill>
                  <a:srgbClr val="07182A"/>
                </a:solidFill>
                <a:latin typeface="CiscoSansTT"/>
                <a:ea typeface="CiscoSansTT"/>
                <a:cs typeface="CiscoSansTT"/>
              </a:defRPr>
            </a:lvl3pPr>
            <a:lvl4pPr algn="l">
              <a:buNone/>
              <a:defRPr sz="3000" b="0">
                <a:solidFill>
                  <a:srgbClr val="07182A"/>
                </a:solidFill>
                <a:latin typeface="CiscoSansTT"/>
                <a:ea typeface="CiscoSansTT"/>
                <a:cs typeface="CiscoSansTT"/>
              </a:defRPr>
            </a:lvl4pPr>
            <a:lvl5pPr algn="l">
              <a:buNone/>
              <a:defRPr sz="3000" b="0">
                <a:solidFill>
                  <a:srgbClr val="07182A"/>
                </a:solidFill>
                <a:latin typeface="CiscoSansTT"/>
                <a:ea typeface="CiscoSansTT"/>
                <a:cs typeface="CiscoSansTT"/>
              </a:defRPr>
            </a:lvl5pPr>
            <a:lvl6pPr algn="l">
              <a:buNone/>
              <a:defRPr sz="3000" b="0">
                <a:solidFill>
                  <a:srgbClr val="07182A"/>
                </a:solidFill>
                <a:latin typeface="CiscoSansTT"/>
                <a:ea typeface="CiscoSansTT"/>
                <a:cs typeface="CiscoSansTT"/>
              </a:defRPr>
            </a:lvl6pPr>
            <a:lvl7pPr algn="l">
              <a:buNone/>
              <a:defRPr sz="3000" b="0">
                <a:solidFill>
                  <a:srgbClr val="07182A"/>
                </a:solidFill>
                <a:latin typeface="CiscoSansTT"/>
                <a:ea typeface="CiscoSansTT"/>
                <a:cs typeface="CiscoSansTT"/>
              </a:defRPr>
            </a:lvl7pPr>
            <a:lvl8pPr algn="l">
              <a:buNone/>
              <a:defRPr sz="3000" b="0">
                <a:solidFill>
                  <a:srgbClr val="07182A"/>
                </a:solidFill>
                <a:latin typeface="CiscoSansTT"/>
                <a:ea typeface="CiscoSansTT"/>
                <a:cs typeface="CiscoSansTT"/>
              </a:defRPr>
            </a:lvl8pPr>
            <a:lvl9pPr algn="l">
              <a:buNone/>
              <a:defRPr sz="3000" b="0">
                <a:solidFill>
                  <a:srgbClr val="07182A"/>
                </a:solidFill>
                <a:latin typeface="CiscoSansTT"/>
                <a:ea typeface="CiscoSansTT"/>
                <a:cs typeface="CiscoSansTT"/>
              </a:defRPr>
            </a:lvl9pPr>
          </a:lstStyle>
          <a:p>
            <a:pPr algn="l">
              <a:buNone/>
              <a:defRPr sz="2700" b="0">
                <a:solidFill>
                  <a:srgbClr val="07182A"/>
                </a:solidFill>
                <a:latin typeface="CiscoSansTT"/>
                <a:ea typeface="CiscoSansTT"/>
                <a:cs typeface="CiscoSansTT"/>
              </a:defRPr>
            </a:pPr>
            <a:r>
              <a:rPr sz="2700" b="0" dirty="0">
                <a:solidFill>
                  <a:srgbClr val="07182A"/>
                </a:solidFill>
                <a:latin typeface="CiscoSansTT"/>
                <a:ea typeface="CiscoSansTT"/>
                <a:cs typeface="CiscoSansTT"/>
              </a:rPr>
              <a:t>Signal correlatio</a:t>
            </a:r>
            <a:r>
              <a:rPr lang="en-US" sz="2700" b="0" dirty="0">
                <a:solidFill>
                  <a:srgbClr val="07182A"/>
                </a:solidFill>
                <a:latin typeface="CiscoSansTT"/>
                <a:ea typeface="CiscoSansTT"/>
                <a:cs typeface="CiscoSansTT"/>
              </a:rPr>
              <a:t>n</a:t>
            </a:r>
            <a:endParaRPr sz="2700" b="0" dirty="0">
              <a:solidFill>
                <a:srgbClr val="07182A"/>
              </a:solidFill>
              <a:latin typeface="CiscoSansTT"/>
              <a:ea typeface="CiscoSansTT"/>
              <a:cs typeface="CiscoSansTT"/>
            </a:endParaRPr>
          </a:p>
        </p:txBody>
      </p:sp>
      <p:pic>
        <p:nvPicPr>
          <p:cNvPr id="6" name="cilium-obi-demo-2-success.mp4">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1101328" y="717500"/>
            <a:ext cx="9989344" cy="5619006"/>
          </a:xfrm>
          <a:prstGeom prst="roundRect">
            <a:avLst>
              <a:gd name="adj" fmla="val 1852"/>
            </a:avLst>
          </a:prstGeom>
        </p:spPr>
      </p:pic>
    </p:spTree>
    <p:extLst>
      <p:ext uri="{BB962C8B-B14F-4D97-AF65-F5344CB8AC3E}">
        <p14:creationId xmlns:p14="http://schemas.microsoft.com/office/powerpoint/2010/main" val="7996010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92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title">
            <a:extLst>
              <a:ext uri="{FF2B5EF4-FFF2-40B4-BE49-F238E27FC236}">
                <a16:creationId xmlns:a16="http://schemas.microsoft.com/office/drawing/2014/main" id="{5350C15A-FCE4-4DE8-B47E-D55C68DF89D9}"/>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Application and network metrics in one view</a:t>
            </a:r>
          </a:p>
        </p:txBody>
      </p:sp>
      <p:pic>
        <p:nvPicPr>
          <p:cNvPr id="6" name="Picture 3"/>
          <p:cNvPicPr>
            <a:picLocks noChangeAspect="1"/>
          </p:cNvPicPr>
          <p:nvPr/>
        </p:nvPicPr>
        <p:blipFill>
          <a:blip r:embed="rId3"/>
          <a:stretch/>
        </p:blipFill>
        <p:spPr>
          <a:xfrm>
            <a:off x="1101328" y="717500"/>
            <a:ext cx="9989344" cy="5619006"/>
          </a:xfrm>
          <a:prstGeom prst="roundRect">
            <a:avLst>
              <a:gd name="adj" fmla="val 1852"/>
            </a:avLst>
          </a:prstGeom>
        </p:spPr>
      </p:pic>
    </p:spTree>
    <p:extLst>
      <p:ext uri="{BB962C8B-B14F-4D97-AF65-F5344CB8AC3E}">
        <p14:creationId xmlns:p14="http://schemas.microsoft.com/office/powerpoint/2010/main" val="187158392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title">
            <a:extLst>
              <a:ext uri="{FF2B5EF4-FFF2-40B4-BE49-F238E27FC236}">
                <a16:creationId xmlns:a16="http://schemas.microsoft.com/office/drawing/2014/main" id="{682A6B35-0096-4A47-842C-C23DCA99A97C}"/>
              </a:ext>
            </a:extLst>
          </p:cNvPr>
          <p:cNvSpPr>
            <a:spLocks noGrp="1"/>
          </p:cNvSpPr>
          <p:nvPr/>
        </p:nvSpPr>
        <p:spPr>
          <a:xfrm>
            <a:off x="323850" y="95250"/>
            <a:ext cx="11049000" cy="552450"/>
          </a:xfrm>
          <a:prstGeom prst="rect">
            <a:avLst/>
          </a:prstGeom>
          <a:noFill/>
          <a:ln w="0">
            <a:noFill/>
          </a:ln>
        </p:spPr>
        <p:txBody>
          <a:bodyPr anchor="ctr">
            <a:noAutofit/>
          </a:bodyPr>
          <a:lstStyle>
            <a:defPPr algn="l">
              <a:defRPr sz="2700" b="0">
                <a:solidFill>
                  <a:srgbClr val="07182A"/>
                </a:solidFill>
                <a:latin typeface="CiscoSansTT"/>
                <a:ea typeface="CiscoSansTT"/>
                <a:cs typeface="CiscoSansTT"/>
              </a:defRPr>
            </a:defPPr>
            <a:lvl1pPr algn="l">
              <a:defRPr sz="2700" b="0">
                <a:solidFill>
                  <a:srgbClr val="07182A"/>
                </a:solidFill>
                <a:latin typeface="CiscoSansTT"/>
                <a:ea typeface="CiscoSansTT"/>
                <a:cs typeface="CiscoSansTT"/>
              </a:defRPr>
            </a:lvl1pPr>
            <a:lvl2pPr algn="l">
              <a:defRPr sz="2700" b="0">
                <a:solidFill>
                  <a:srgbClr val="07182A"/>
                </a:solidFill>
                <a:latin typeface="CiscoSansTT"/>
                <a:ea typeface="CiscoSansTT"/>
                <a:cs typeface="CiscoSansTT"/>
              </a:defRPr>
            </a:lvl2pPr>
            <a:lvl3pPr algn="l">
              <a:defRPr sz="2700" b="0">
                <a:solidFill>
                  <a:srgbClr val="07182A"/>
                </a:solidFill>
                <a:latin typeface="CiscoSansTT"/>
                <a:ea typeface="CiscoSansTT"/>
                <a:cs typeface="CiscoSansTT"/>
              </a:defRPr>
            </a:lvl3pPr>
            <a:lvl4pPr algn="l">
              <a:defRPr sz="2700" b="0">
                <a:solidFill>
                  <a:srgbClr val="07182A"/>
                </a:solidFill>
                <a:latin typeface="CiscoSansTT"/>
                <a:ea typeface="CiscoSansTT"/>
                <a:cs typeface="CiscoSansTT"/>
              </a:defRPr>
            </a:lvl4pPr>
            <a:lvl5pPr algn="l">
              <a:defRPr sz="2700" b="0">
                <a:solidFill>
                  <a:srgbClr val="07182A"/>
                </a:solidFill>
                <a:latin typeface="CiscoSansTT"/>
                <a:ea typeface="CiscoSansTT"/>
                <a:cs typeface="CiscoSansTT"/>
              </a:defRPr>
            </a:lvl5pPr>
            <a:lvl6pPr algn="l">
              <a:defRPr sz="2700" b="0">
                <a:solidFill>
                  <a:srgbClr val="07182A"/>
                </a:solidFill>
                <a:latin typeface="CiscoSansTT"/>
                <a:ea typeface="CiscoSansTT"/>
                <a:cs typeface="CiscoSansTT"/>
              </a:defRPr>
            </a:lvl6pPr>
            <a:lvl7pPr algn="l">
              <a:defRPr sz="2700" b="0">
                <a:solidFill>
                  <a:srgbClr val="07182A"/>
                </a:solidFill>
                <a:latin typeface="CiscoSansTT"/>
                <a:ea typeface="CiscoSansTT"/>
                <a:cs typeface="CiscoSansTT"/>
              </a:defRPr>
            </a:lvl7pPr>
            <a:lvl8pPr algn="l">
              <a:defRPr sz="2700" b="0">
                <a:solidFill>
                  <a:srgbClr val="07182A"/>
                </a:solidFill>
                <a:latin typeface="CiscoSansTT"/>
                <a:ea typeface="CiscoSansTT"/>
                <a:cs typeface="CiscoSansTT"/>
              </a:defRPr>
            </a:lvl8pPr>
            <a:lvl9pPr algn="l">
              <a:defRPr sz="2700" b="0">
                <a:solidFill>
                  <a:srgbClr val="07182A"/>
                </a:solidFill>
                <a:latin typeface="CiscoSansTT"/>
                <a:ea typeface="CiscoSansTT"/>
                <a:cs typeface="CiscoSansTT"/>
              </a:defRPr>
            </a:lvl9pPr>
          </a:lstStyle>
          <a:p>
            <a:pPr algn="l">
              <a:buNone/>
              <a:defRPr sz="2700" b="0">
                <a:solidFill>
                  <a:srgbClr val="07182A"/>
                </a:solidFill>
                <a:latin typeface="CiscoSansTT"/>
                <a:ea typeface="CiscoSansTT"/>
                <a:cs typeface="CiscoSansTT"/>
              </a:defRPr>
            </a:pPr>
            <a:r>
              <a:rPr sz="2700" b="0" dirty="0">
                <a:solidFill>
                  <a:srgbClr val="07182A"/>
                </a:solidFill>
                <a:latin typeface="CiscoSansTT"/>
                <a:ea typeface="CiscoSansTT"/>
                <a:cs typeface="CiscoSansTT"/>
              </a:rPr>
              <a:t>Three-service trace</a:t>
            </a:r>
          </a:p>
        </p:txBody>
      </p:sp>
      <p:pic>
        <p:nvPicPr>
          <p:cNvPr id="6" name="Picture 3"/>
          <p:cNvPicPr>
            <a:picLocks noChangeAspect="1"/>
          </p:cNvPicPr>
          <p:nvPr/>
        </p:nvPicPr>
        <p:blipFill>
          <a:blip r:embed="rId3"/>
          <a:stretch/>
        </p:blipFill>
        <p:spPr>
          <a:xfrm>
            <a:off x="1101328" y="717500"/>
            <a:ext cx="9989344" cy="5619006"/>
          </a:xfrm>
          <a:prstGeom prst="roundRect">
            <a:avLst>
              <a:gd name="adj" fmla="val 1852"/>
            </a:avLst>
          </a:prstGeom>
        </p:spPr>
      </p:pic>
    </p:spTree>
    <p:extLst>
      <p:ext uri="{BB962C8B-B14F-4D97-AF65-F5344CB8AC3E}">
        <p14:creationId xmlns:p14="http://schemas.microsoft.com/office/powerpoint/2010/main" val="53945439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ilium-obi-demo-3-policy-denial.mp4">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476250" y="1809750"/>
            <a:ext cx="6468534" cy="3638550"/>
          </a:xfrm>
          <a:prstGeom prst="roundRect">
            <a:avLst>
              <a:gd name="adj" fmla="val 1852"/>
            </a:avLst>
          </a:prstGeom>
        </p:spPr>
      </p:pic>
      <p:sp>
        <p:nvSpPr>
          <p:cNvPr id="1001" name="slide-title">
            <a:extLst>
              <a:ext uri="{FF2B5EF4-FFF2-40B4-BE49-F238E27FC236}">
                <a16:creationId xmlns:a16="http://schemas.microsoft.com/office/drawing/2014/main" id="{08AB1C87-B595-4FE4-A7EF-B320D1DB7812}"/>
              </a:ext>
            </a:extLst>
          </p:cNvPr>
          <p:cNvSpPr>
            <a:spLocks noGrp="1"/>
          </p:cNvSpPr>
          <p:nvPr/>
        </p:nvSpPr>
        <p:spPr>
          <a:xfrm>
            <a:off x="533400" y="361950"/>
            <a:ext cx="10763250" cy="647700"/>
          </a:xfrm>
          <a:prstGeom prst="rect">
            <a:avLst/>
          </a:prstGeom>
          <a:noFill/>
          <a:ln w="0">
            <a:noFill/>
          </a:ln>
        </p:spPr>
        <p:txBody>
          <a:bodyPr anchor="ctr">
            <a:noAutofit/>
          </a:bodyPr>
          <a:lstStyle>
            <a:defPPr algn="l">
              <a:defRPr sz="2850" b="0">
                <a:solidFill>
                  <a:srgbClr val="07182A"/>
                </a:solidFill>
                <a:latin typeface="CiscoSansTT"/>
                <a:ea typeface="CiscoSansTT"/>
                <a:cs typeface="CiscoSansTT"/>
              </a:defRPr>
            </a:defPPr>
            <a:lvl1pPr algn="l">
              <a:buNone/>
              <a:defRPr sz="3000" b="1">
                <a:solidFill>
                  <a:srgbClr val="07182A"/>
                </a:solidFill>
                <a:latin typeface="CiscoSansTT Medium"/>
                <a:ea typeface="CiscoSansTT Medium"/>
                <a:cs typeface="CiscoSansTT Medium"/>
              </a:defRPr>
            </a:lvl1pPr>
            <a:lvl2pPr algn="l">
              <a:buNone/>
              <a:defRPr sz="3000" b="1">
                <a:solidFill>
                  <a:srgbClr val="07182A"/>
                </a:solidFill>
                <a:latin typeface="CiscoSansTT Medium"/>
                <a:ea typeface="CiscoSansTT Medium"/>
                <a:cs typeface="CiscoSansTT Medium"/>
              </a:defRPr>
            </a:lvl2pPr>
            <a:lvl3pPr algn="l">
              <a:buNone/>
              <a:defRPr sz="3000" b="1">
                <a:solidFill>
                  <a:srgbClr val="07182A"/>
                </a:solidFill>
                <a:latin typeface="CiscoSansTT Medium"/>
                <a:ea typeface="CiscoSansTT Medium"/>
                <a:cs typeface="CiscoSansTT Medium"/>
              </a:defRPr>
            </a:lvl3pPr>
            <a:lvl4pPr algn="l">
              <a:buNone/>
              <a:defRPr sz="3000" b="1">
                <a:solidFill>
                  <a:srgbClr val="07182A"/>
                </a:solidFill>
                <a:latin typeface="CiscoSansTT Medium"/>
                <a:ea typeface="CiscoSansTT Medium"/>
                <a:cs typeface="CiscoSansTT Medium"/>
              </a:defRPr>
            </a:lvl4pPr>
            <a:lvl5pPr algn="l">
              <a:buNone/>
              <a:defRPr sz="3000" b="1">
                <a:solidFill>
                  <a:srgbClr val="07182A"/>
                </a:solidFill>
                <a:latin typeface="CiscoSansTT Medium"/>
                <a:ea typeface="CiscoSansTT Medium"/>
                <a:cs typeface="CiscoSansTT Medium"/>
              </a:defRPr>
            </a:lvl5pPr>
            <a:lvl6pPr algn="l">
              <a:buNone/>
              <a:defRPr sz="3000" b="1">
                <a:solidFill>
                  <a:srgbClr val="07182A"/>
                </a:solidFill>
                <a:latin typeface="CiscoSansTT Medium"/>
                <a:ea typeface="CiscoSansTT Medium"/>
                <a:cs typeface="CiscoSansTT Medium"/>
              </a:defRPr>
            </a:lvl6pPr>
            <a:lvl7pPr algn="l">
              <a:buNone/>
              <a:defRPr sz="3000" b="1">
                <a:solidFill>
                  <a:srgbClr val="07182A"/>
                </a:solidFill>
                <a:latin typeface="CiscoSansTT Medium"/>
                <a:ea typeface="CiscoSansTT Medium"/>
                <a:cs typeface="CiscoSansTT Medium"/>
              </a:defRPr>
            </a:lvl7pPr>
            <a:lvl8pPr algn="l">
              <a:buNone/>
              <a:defRPr sz="3000" b="1">
                <a:solidFill>
                  <a:srgbClr val="07182A"/>
                </a:solidFill>
                <a:latin typeface="CiscoSansTT Medium"/>
                <a:ea typeface="CiscoSansTT Medium"/>
                <a:cs typeface="CiscoSansTT Medium"/>
              </a:defRPr>
            </a:lvl8pPr>
            <a:lvl9pPr algn="l">
              <a:buNone/>
              <a:defRPr sz="3000" b="1">
                <a:solidFill>
                  <a:srgbClr val="07182A"/>
                </a:solidFill>
                <a:latin typeface="CiscoSansTT Medium"/>
                <a:ea typeface="CiscoSansTT Medium"/>
                <a:cs typeface="CiscoSansTT Medium"/>
              </a:defRPr>
            </a:lvl9pPr>
          </a:lstStyle>
          <a:p>
            <a:pPr algn="l">
              <a:buNone/>
              <a:defRPr sz="2850" b="0">
                <a:solidFill>
                  <a:srgbClr val="07182A"/>
                </a:solidFill>
                <a:latin typeface="CiscoSansTT"/>
                <a:ea typeface="CiscoSansTT"/>
                <a:cs typeface="CiscoSansTT"/>
              </a:defRPr>
            </a:pPr>
            <a:r>
              <a:rPr sz="2850" b="0" dirty="0">
                <a:solidFill>
                  <a:srgbClr val="07182A"/>
                </a:solidFill>
                <a:latin typeface="CiscoSansTT"/>
                <a:ea typeface="CiscoSansTT"/>
                <a:cs typeface="CiscoSansTT"/>
              </a:rPr>
              <a:t>Policy denial</a:t>
            </a:r>
          </a:p>
        </p:txBody>
      </p:sp>
      <p:sp>
        <p:nvSpPr>
          <p:cNvPr id="1002" name="denial-route">
            <a:extLst>
              <a:ext uri="{FF2B5EF4-FFF2-40B4-BE49-F238E27FC236}">
                <a16:creationId xmlns:a16="http://schemas.microsoft.com/office/drawing/2014/main" id="{3795B665-5D7D-4C68-9291-CD86A7E442D5}"/>
              </a:ext>
            </a:extLst>
          </p:cNvPr>
          <p:cNvSpPr>
            <a:spLocks noGrp="1"/>
          </p:cNvSpPr>
          <p:nvPr/>
        </p:nvSpPr>
        <p:spPr>
          <a:xfrm>
            <a:off x="571500" y="1066800"/>
            <a:ext cx="11049000" cy="419100"/>
          </a:xfrm>
          <a:prstGeom prst="rect">
            <a:avLst/>
          </a:prstGeom>
          <a:noFill/>
          <a:ln w="0">
            <a:noFill/>
          </a:ln>
        </p:spPr>
        <p:txBody>
          <a:bodyPr anchor="ctr">
            <a:noAutofit/>
          </a:bodyPr>
          <a:lstStyle>
            <a:defPPr algn="l">
              <a:defRPr sz="1800" b="0">
                <a:solidFill>
                  <a:srgbClr val="686B6B"/>
                </a:solidFill>
                <a:latin typeface="CiscoSansTT"/>
                <a:ea typeface="CiscoSansTT"/>
                <a:cs typeface="CiscoSansTT"/>
              </a:defRPr>
            </a:defPPr>
            <a:lvl1pPr algn="l">
              <a:defRPr sz="1800" b="0">
                <a:solidFill>
                  <a:srgbClr val="686B6B"/>
                </a:solidFill>
                <a:latin typeface="CiscoSansTT"/>
                <a:ea typeface="CiscoSansTT"/>
                <a:cs typeface="CiscoSansTT"/>
              </a:defRPr>
            </a:lvl1pPr>
            <a:lvl2pPr algn="l">
              <a:defRPr sz="1800" b="0">
                <a:solidFill>
                  <a:srgbClr val="686B6B"/>
                </a:solidFill>
                <a:latin typeface="CiscoSansTT"/>
                <a:ea typeface="CiscoSansTT"/>
                <a:cs typeface="CiscoSansTT"/>
              </a:defRPr>
            </a:lvl2pPr>
            <a:lvl3pPr algn="l">
              <a:defRPr sz="1800" b="0">
                <a:solidFill>
                  <a:srgbClr val="686B6B"/>
                </a:solidFill>
                <a:latin typeface="CiscoSansTT"/>
                <a:ea typeface="CiscoSansTT"/>
                <a:cs typeface="CiscoSansTT"/>
              </a:defRPr>
            </a:lvl3pPr>
            <a:lvl4pPr algn="l">
              <a:defRPr sz="1800" b="0">
                <a:solidFill>
                  <a:srgbClr val="686B6B"/>
                </a:solidFill>
                <a:latin typeface="CiscoSansTT"/>
                <a:ea typeface="CiscoSansTT"/>
                <a:cs typeface="CiscoSansTT"/>
              </a:defRPr>
            </a:lvl4pPr>
            <a:lvl5pPr algn="l">
              <a:defRPr sz="1800" b="0">
                <a:solidFill>
                  <a:srgbClr val="686B6B"/>
                </a:solidFill>
                <a:latin typeface="CiscoSansTT"/>
                <a:ea typeface="CiscoSansTT"/>
                <a:cs typeface="CiscoSansTT"/>
              </a:defRPr>
            </a:lvl5pPr>
            <a:lvl6pPr algn="l">
              <a:defRPr sz="1800" b="0">
                <a:solidFill>
                  <a:srgbClr val="686B6B"/>
                </a:solidFill>
                <a:latin typeface="CiscoSansTT"/>
                <a:ea typeface="CiscoSansTT"/>
                <a:cs typeface="CiscoSansTT"/>
              </a:defRPr>
            </a:lvl6pPr>
            <a:lvl7pPr algn="l">
              <a:defRPr sz="1800" b="0">
                <a:solidFill>
                  <a:srgbClr val="686B6B"/>
                </a:solidFill>
                <a:latin typeface="CiscoSansTT"/>
                <a:ea typeface="CiscoSansTT"/>
                <a:cs typeface="CiscoSansTT"/>
              </a:defRPr>
            </a:lvl7pPr>
            <a:lvl8pPr algn="l">
              <a:defRPr sz="1800" b="0">
                <a:solidFill>
                  <a:srgbClr val="686B6B"/>
                </a:solidFill>
                <a:latin typeface="CiscoSansTT"/>
                <a:ea typeface="CiscoSansTT"/>
                <a:cs typeface="CiscoSansTT"/>
              </a:defRPr>
            </a:lvl8pPr>
            <a:lvl9pPr algn="l">
              <a:defRPr sz="1800" b="0">
                <a:solidFill>
                  <a:srgbClr val="686B6B"/>
                </a:solidFill>
                <a:latin typeface="CiscoSansTT"/>
                <a:ea typeface="CiscoSansTT"/>
                <a:cs typeface="CiscoSansTT"/>
              </a:defRPr>
            </a:lvl9pPr>
          </a:lstStyle>
          <a:p>
            <a:pPr algn="l">
              <a:defRPr sz="1800" b="0">
                <a:solidFill>
                  <a:srgbClr val="686B6B"/>
                </a:solidFill>
                <a:latin typeface="CiscoSansTT"/>
                <a:ea typeface="CiscoSansTT"/>
                <a:cs typeface="CiscoSansTT"/>
              </a:defRPr>
            </a:pPr>
            <a:r>
              <a:rPr sz="1800" b="0">
                <a:solidFill>
                  <a:srgbClr val="686B6B"/>
                </a:solidFill>
                <a:latin typeface="CiscoSansTT"/>
                <a:ea typeface="CiscoSansTT"/>
                <a:cs typeface="CiscoSansTT"/>
              </a:rPr>
              <a:t>The policy allows v2 to call v1. It blocks direct edge-nginx calls to v1.</a:t>
            </a:r>
          </a:p>
        </p:txBody>
      </p:sp>
      <p:sp>
        <p:nvSpPr>
          <p:cNvPr id="1004" name="grafana-drop-caption">
            <a:extLst>
              <a:ext uri="{FF2B5EF4-FFF2-40B4-BE49-F238E27FC236}">
                <a16:creationId xmlns:a16="http://schemas.microsoft.com/office/drawing/2014/main" id="{372632C0-3BBC-44F0-A646-621952DAA9B6}"/>
              </a:ext>
            </a:extLst>
          </p:cNvPr>
          <p:cNvSpPr>
            <a:spLocks noGrp="1"/>
          </p:cNvSpPr>
          <p:nvPr/>
        </p:nvSpPr>
        <p:spPr>
          <a:xfrm>
            <a:off x="7143750" y="3762375"/>
            <a:ext cx="4572000" cy="514350"/>
          </a:xfrm>
          <a:prstGeom prst="rect">
            <a:avLst/>
          </a:prstGeom>
          <a:noFill/>
          <a:ln w="0">
            <a:noFill/>
          </a:ln>
        </p:spPr>
        <p:txBody>
          <a:bodyPr anchor="ctr">
            <a:noAutofit/>
          </a:bodyPr>
          <a:lstStyle>
            <a:defPPr algn="l">
              <a:defRPr sz="1725" b="1">
                <a:solidFill>
                  <a:srgbClr val="07182A"/>
                </a:solidFill>
                <a:latin typeface="CiscoSansTT Medium"/>
                <a:ea typeface="CiscoSansTT Medium"/>
                <a:cs typeface="CiscoSansTT Medium"/>
              </a:defRPr>
            </a:defPPr>
            <a:lvl1pPr algn="l">
              <a:defRPr sz="1725" b="1">
                <a:solidFill>
                  <a:srgbClr val="07182A"/>
                </a:solidFill>
                <a:latin typeface="CiscoSansTT Medium"/>
                <a:ea typeface="CiscoSansTT Medium"/>
                <a:cs typeface="CiscoSansTT Medium"/>
              </a:defRPr>
            </a:lvl1pPr>
            <a:lvl2pPr algn="l">
              <a:defRPr sz="1725" b="1">
                <a:solidFill>
                  <a:srgbClr val="07182A"/>
                </a:solidFill>
                <a:latin typeface="CiscoSansTT Medium"/>
                <a:ea typeface="CiscoSansTT Medium"/>
                <a:cs typeface="CiscoSansTT Medium"/>
              </a:defRPr>
            </a:lvl2pPr>
            <a:lvl3pPr algn="l">
              <a:defRPr sz="1725" b="1">
                <a:solidFill>
                  <a:srgbClr val="07182A"/>
                </a:solidFill>
                <a:latin typeface="CiscoSansTT Medium"/>
                <a:ea typeface="CiscoSansTT Medium"/>
                <a:cs typeface="CiscoSansTT Medium"/>
              </a:defRPr>
            </a:lvl3pPr>
            <a:lvl4pPr algn="l">
              <a:defRPr sz="1725" b="1">
                <a:solidFill>
                  <a:srgbClr val="07182A"/>
                </a:solidFill>
                <a:latin typeface="CiscoSansTT Medium"/>
                <a:ea typeface="CiscoSansTT Medium"/>
                <a:cs typeface="CiscoSansTT Medium"/>
              </a:defRPr>
            </a:lvl4pPr>
            <a:lvl5pPr algn="l">
              <a:defRPr sz="1725" b="1">
                <a:solidFill>
                  <a:srgbClr val="07182A"/>
                </a:solidFill>
                <a:latin typeface="CiscoSansTT Medium"/>
                <a:ea typeface="CiscoSansTT Medium"/>
                <a:cs typeface="CiscoSansTT Medium"/>
              </a:defRPr>
            </a:lvl5pPr>
            <a:lvl6pPr algn="l">
              <a:defRPr sz="1725" b="1">
                <a:solidFill>
                  <a:srgbClr val="07182A"/>
                </a:solidFill>
                <a:latin typeface="CiscoSansTT Medium"/>
                <a:ea typeface="CiscoSansTT Medium"/>
                <a:cs typeface="CiscoSansTT Medium"/>
              </a:defRPr>
            </a:lvl6pPr>
            <a:lvl7pPr algn="l">
              <a:defRPr sz="1725" b="1">
                <a:solidFill>
                  <a:srgbClr val="07182A"/>
                </a:solidFill>
                <a:latin typeface="CiscoSansTT Medium"/>
                <a:ea typeface="CiscoSansTT Medium"/>
                <a:cs typeface="CiscoSansTT Medium"/>
              </a:defRPr>
            </a:lvl7pPr>
            <a:lvl8pPr algn="l">
              <a:defRPr sz="1725" b="1">
                <a:solidFill>
                  <a:srgbClr val="07182A"/>
                </a:solidFill>
                <a:latin typeface="CiscoSansTT Medium"/>
                <a:ea typeface="CiscoSansTT Medium"/>
                <a:cs typeface="CiscoSansTT Medium"/>
              </a:defRPr>
            </a:lvl8pPr>
            <a:lvl9pPr algn="l">
              <a:defRPr sz="1725" b="1">
                <a:solidFill>
                  <a:srgbClr val="07182A"/>
                </a:solidFill>
                <a:latin typeface="CiscoSansTT Medium"/>
                <a:ea typeface="CiscoSansTT Medium"/>
                <a:cs typeface="CiscoSansTT Medium"/>
              </a:defRPr>
            </a:lvl9pPr>
          </a:lstStyle>
          <a:p>
            <a:pPr algn="l">
              <a:defRPr sz="1725" b="1">
                <a:solidFill>
                  <a:srgbClr val="07182A"/>
                </a:solidFill>
                <a:latin typeface="CiscoSansTT Medium"/>
                <a:ea typeface="CiscoSansTT Medium"/>
                <a:cs typeface="CiscoSansTT Medium"/>
              </a:defRPr>
            </a:pPr>
            <a:r>
              <a:rPr sz="1725" b="1">
                <a:solidFill>
                  <a:srgbClr val="07182A"/>
                </a:solidFill>
                <a:latin typeface="CiscoSansTT Medium"/>
                <a:ea typeface="CiscoSansTT Medium"/>
                <a:cs typeface="CiscoSansTT Medium"/>
              </a:rPr>
              <a:t>Grafana: aggregate drop spike</a:t>
            </a:r>
          </a:p>
        </p:txBody>
      </p:sp>
      <p:sp>
        <p:nvSpPr>
          <p:cNvPr id="1005" name="hubble-proof">
            <a:extLst>
              <a:ext uri="{FF2B5EF4-FFF2-40B4-BE49-F238E27FC236}">
                <a16:creationId xmlns:a16="http://schemas.microsoft.com/office/drawing/2014/main" id="{0724876A-175F-4E78-850C-8F380A591ABE}"/>
              </a:ext>
            </a:extLst>
          </p:cNvPr>
          <p:cNvSpPr>
            <a:spLocks noGrp="1"/>
          </p:cNvSpPr>
          <p:nvPr/>
        </p:nvSpPr>
        <p:spPr>
          <a:xfrm>
            <a:off x="7143750" y="4276725"/>
            <a:ext cx="4572000" cy="428625"/>
          </a:xfrm>
          <a:prstGeom prst="rect">
            <a:avLst/>
          </a:prstGeom>
          <a:noFill/>
          <a:ln w="0">
            <a:noFill/>
          </a:ln>
        </p:spPr>
        <p:txBody>
          <a:bodyPr anchor="ctr">
            <a:noAutofit/>
          </a:bodyPr>
          <a:lstStyle>
            <a:defPPr algn="l">
              <a:defRPr sz="1650" b="1">
                <a:solidFill>
                  <a:srgbClr val="0860FE"/>
                </a:solidFill>
                <a:latin typeface="CiscoSansTT Medium"/>
                <a:ea typeface="CiscoSansTT Medium"/>
                <a:cs typeface="CiscoSansTT Medium"/>
              </a:defRPr>
            </a:defPPr>
            <a:lvl1pPr algn="l">
              <a:defRPr sz="1650" b="1">
                <a:solidFill>
                  <a:srgbClr val="0860FE"/>
                </a:solidFill>
                <a:latin typeface="CiscoSansTT Medium"/>
                <a:ea typeface="CiscoSansTT Medium"/>
                <a:cs typeface="CiscoSansTT Medium"/>
              </a:defRPr>
            </a:lvl1pPr>
            <a:lvl2pPr algn="l">
              <a:defRPr sz="1650" b="1">
                <a:solidFill>
                  <a:srgbClr val="0860FE"/>
                </a:solidFill>
                <a:latin typeface="CiscoSansTT Medium"/>
                <a:ea typeface="CiscoSansTT Medium"/>
                <a:cs typeface="CiscoSansTT Medium"/>
              </a:defRPr>
            </a:lvl2pPr>
            <a:lvl3pPr algn="l">
              <a:defRPr sz="1650" b="1">
                <a:solidFill>
                  <a:srgbClr val="0860FE"/>
                </a:solidFill>
                <a:latin typeface="CiscoSansTT Medium"/>
                <a:ea typeface="CiscoSansTT Medium"/>
                <a:cs typeface="CiscoSansTT Medium"/>
              </a:defRPr>
            </a:lvl3pPr>
            <a:lvl4pPr algn="l">
              <a:defRPr sz="1650" b="1">
                <a:solidFill>
                  <a:srgbClr val="0860FE"/>
                </a:solidFill>
                <a:latin typeface="CiscoSansTT Medium"/>
                <a:ea typeface="CiscoSansTT Medium"/>
                <a:cs typeface="CiscoSansTT Medium"/>
              </a:defRPr>
            </a:lvl4pPr>
            <a:lvl5pPr algn="l">
              <a:defRPr sz="1650" b="1">
                <a:solidFill>
                  <a:srgbClr val="0860FE"/>
                </a:solidFill>
                <a:latin typeface="CiscoSansTT Medium"/>
                <a:ea typeface="CiscoSansTT Medium"/>
                <a:cs typeface="CiscoSansTT Medium"/>
              </a:defRPr>
            </a:lvl5pPr>
            <a:lvl6pPr algn="l">
              <a:defRPr sz="1650" b="1">
                <a:solidFill>
                  <a:srgbClr val="0860FE"/>
                </a:solidFill>
                <a:latin typeface="CiscoSansTT Medium"/>
                <a:ea typeface="CiscoSansTT Medium"/>
                <a:cs typeface="CiscoSansTT Medium"/>
              </a:defRPr>
            </a:lvl6pPr>
            <a:lvl7pPr algn="l">
              <a:defRPr sz="1650" b="1">
                <a:solidFill>
                  <a:srgbClr val="0860FE"/>
                </a:solidFill>
                <a:latin typeface="CiscoSansTT Medium"/>
                <a:ea typeface="CiscoSansTT Medium"/>
                <a:cs typeface="CiscoSansTT Medium"/>
              </a:defRPr>
            </a:lvl7pPr>
            <a:lvl8pPr algn="l">
              <a:defRPr sz="1650" b="1">
                <a:solidFill>
                  <a:srgbClr val="0860FE"/>
                </a:solidFill>
                <a:latin typeface="CiscoSansTT Medium"/>
                <a:ea typeface="CiscoSansTT Medium"/>
                <a:cs typeface="CiscoSansTT Medium"/>
              </a:defRPr>
            </a:lvl8pPr>
            <a:lvl9pPr algn="l">
              <a:defRPr sz="1650" b="1">
                <a:solidFill>
                  <a:srgbClr val="0860FE"/>
                </a:solidFill>
                <a:latin typeface="CiscoSansTT Medium"/>
                <a:ea typeface="CiscoSansTT Medium"/>
                <a:cs typeface="CiscoSansTT Medium"/>
              </a:defRPr>
            </a:lvl9pPr>
          </a:lstStyle>
          <a:p>
            <a:pPr algn="l">
              <a:defRPr sz="1650" b="1">
                <a:solidFill>
                  <a:srgbClr val="0860FE"/>
                </a:solidFill>
                <a:latin typeface="CiscoSansTT Medium"/>
                <a:ea typeface="CiscoSansTT Medium"/>
                <a:cs typeface="CiscoSansTT Medium"/>
              </a:defRPr>
            </a:pPr>
            <a:r>
              <a:rPr sz="1650" b="1" dirty="0">
                <a:solidFill>
                  <a:srgbClr val="0860FE"/>
                </a:solidFill>
                <a:latin typeface="CiscoSansTT Medium"/>
                <a:ea typeface="CiscoSansTT Medium"/>
                <a:cs typeface="CiscoSansTT Medium"/>
              </a:rPr>
              <a:t>Hubble: Policy denied / DROPPED</a:t>
            </a:r>
          </a:p>
        </p:txBody>
      </p:sp>
      <p:pic>
        <p:nvPicPr>
          <p:cNvPr id="2" name="Picture 1">
            <a:extLst>
              <a:ext uri="{FF2B5EF4-FFF2-40B4-BE49-F238E27FC236}">
                <a16:creationId xmlns:a16="http://schemas.microsoft.com/office/drawing/2014/main" id="{B0652DC0-27FC-2737-BB52-E712ADDAF3DC}"/>
              </a:ext>
            </a:extLst>
          </p:cNvPr>
          <p:cNvPicPr>
            <a:picLocks noChangeAspect="1"/>
          </p:cNvPicPr>
          <p:nvPr/>
        </p:nvPicPr>
        <p:blipFill>
          <a:blip r:embed="rId6"/>
          <a:stretch>
            <a:fillRect/>
          </a:stretch>
        </p:blipFill>
        <p:spPr>
          <a:xfrm>
            <a:off x="7198414" y="1828800"/>
            <a:ext cx="4517336" cy="1948101"/>
          </a:xfrm>
          <a:prstGeom prst="rect">
            <a:avLst/>
          </a:prstGeom>
        </p:spPr>
      </p:pic>
    </p:spTree>
    <p:extLst>
      <p:ext uri="{BB962C8B-B14F-4D97-AF65-F5344CB8AC3E}">
        <p14:creationId xmlns:p14="http://schemas.microsoft.com/office/powerpoint/2010/main" val="19234597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8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slide-title">
            <a:extLst>
              <a:ext uri="{FF2B5EF4-FFF2-40B4-BE49-F238E27FC236}">
                <a16:creationId xmlns:a16="http://schemas.microsoft.com/office/drawing/2014/main" id="{2CE621AC-689C-42C7-AF0D-CE910FEEF15A}"/>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Live telemetry playground</a:t>
            </a:r>
          </a:p>
        </p:txBody>
      </p:sp>
      <p:sp>
        <p:nvSpPr>
          <p:cNvPr id="2" name="Rectangle 1">
            <a:extLst>
              <a:ext uri="{FF2B5EF4-FFF2-40B4-BE49-F238E27FC236}">
                <a16:creationId xmlns:a16="http://schemas.microsoft.com/office/drawing/2014/main" id="{6BC11B03-7BE7-440C-9D01-D6F8181DB50D}"/>
              </a:ext>
            </a:extLst>
          </p:cNvPr>
          <p:cNvSpPr>
            <a:spLocks noGrp="1"/>
          </p:cNvSpPr>
          <p:nvPr/>
        </p:nvSpPr>
        <p:spPr>
          <a:xfrm>
            <a:off x="742950" y="1504950"/>
            <a:ext cx="647700" cy="495300"/>
          </a:xfrm>
          <a:prstGeom prst="rect">
            <a:avLst/>
          </a:prstGeom>
          <a:noFill/>
          <a:ln w="0">
            <a:noFill/>
          </a:ln>
        </p:spPr>
        <p:txBody>
          <a:bodyPr anchor="t">
            <a:normAutofit/>
          </a:bodyPr>
          <a:lstStyle/>
          <a:p>
            <a:pPr algn="l">
              <a:buNone/>
              <a:defRPr sz="2550" b="1">
                <a:solidFill>
                  <a:srgbClr val="0860FE"/>
                </a:solidFill>
                <a:latin typeface="CiscoSansTT Medium"/>
                <a:ea typeface="CiscoSansTT Medium"/>
                <a:cs typeface="CiscoSansTT Medium"/>
              </a:defRPr>
            </a:pPr>
            <a:r>
              <a:rPr sz="2550" b="1">
                <a:solidFill>
                  <a:srgbClr val="0860FE"/>
                </a:solidFill>
                <a:latin typeface="CiscoSansTT Medium"/>
                <a:ea typeface="CiscoSansTT Medium"/>
                <a:cs typeface="CiscoSansTT Medium"/>
              </a:rPr>
              <a:t>01</a:t>
            </a:r>
          </a:p>
        </p:txBody>
      </p:sp>
      <p:sp>
        <p:nvSpPr>
          <p:cNvPr id="3" name="Rectangle 2">
            <a:extLst>
              <a:ext uri="{FF2B5EF4-FFF2-40B4-BE49-F238E27FC236}">
                <a16:creationId xmlns:a16="http://schemas.microsoft.com/office/drawing/2014/main" id="{DDCBFEAA-5905-4F17-AEEA-5ADAAA8DAC87}"/>
              </a:ext>
            </a:extLst>
          </p:cNvPr>
          <p:cNvSpPr>
            <a:spLocks noGrp="1"/>
          </p:cNvSpPr>
          <p:nvPr/>
        </p:nvSpPr>
        <p:spPr>
          <a:xfrm>
            <a:off x="1619250" y="1504950"/>
            <a:ext cx="2381250" cy="438150"/>
          </a:xfrm>
          <a:prstGeom prst="rect">
            <a:avLst/>
          </a:prstGeom>
          <a:noFill/>
          <a:ln w="0">
            <a:noFill/>
          </a:ln>
        </p:spPr>
        <p:txBody>
          <a:bodyPr anchor="t">
            <a:normAutofit lnSpcReduction="10000"/>
          </a:bodyPr>
          <a:lstStyle/>
          <a:p>
            <a:pPr algn="l">
              <a:buNone/>
              <a:defRPr sz="2325" b="1">
                <a:solidFill>
                  <a:srgbClr val="07182A"/>
                </a:solidFill>
                <a:latin typeface="CiscoSansTT Medium"/>
                <a:ea typeface="CiscoSansTT Medium"/>
                <a:cs typeface="CiscoSansTT Medium"/>
              </a:defRPr>
            </a:pPr>
            <a:r>
              <a:rPr sz="2325" b="1">
                <a:solidFill>
                  <a:srgbClr val="07182A"/>
                </a:solidFill>
                <a:latin typeface="CiscoSansTT Medium"/>
                <a:ea typeface="CiscoSansTT Medium"/>
                <a:cs typeface="CiscoSansTT Medium"/>
                <a:hlinkClick r:id="rId3"/>
              </a:rPr>
              <a:t>App metrics</a:t>
            </a:r>
          </a:p>
        </p:txBody>
      </p:sp>
      <p:sp>
        <p:nvSpPr>
          <p:cNvPr id="4" name="Rectangle 3">
            <a:extLst>
              <a:ext uri="{FF2B5EF4-FFF2-40B4-BE49-F238E27FC236}">
                <a16:creationId xmlns:a16="http://schemas.microsoft.com/office/drawing/2014/main" id="{4225EF06-7A29-4D46-B6F9-1770A01BF3B8}"/>
              </a:ext>
            </a:extLst>
          </p:cNvPr>
          <p:cNvSpPr>
            <a:spLocks noGrp="1"/>
          </p:cNvSpPr>
          <p:nvPr/>
        </p:nvSpPr>
        <p:spPr>
          <a:xfrm>
            <a:off x="4286250" y="1524000"/>
            <a:ext cx="6762750" cy="4000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hlinkClick r:id="rId3"/>
              </a:rPr>
              <a:t>Grafana: request rate, p95, flows and drops</a:t>
            </a:r>
          </a:p>
        </p:txBody>
      </p:sp>
      <p:sp>
        <p:nvSpPr>
          <p:cNvPr id="5" name="Rectangle 4">
            <a:extLst>
              <a:ext uri="{FF2B5EF4-FFF2-40B4-BE49-F238E27FC236}">
                <a16:creationId xmlns:a16="http://schemas.microsoft.com/office/drawing/2014/main" id="{824E722C-C9BD-4B15-92A9-BD0218D7F638}"/>
              </a:ext>
            </a:extLst>
          </p:cNvPr>
          <p:cNvSpPr>
            <a:spLocks noGrp="1"/>
          </p:cNvSpPr>
          <p:nvPr/>
        </p:nvSpPr>
        <p:spPr>
          <a:xfrm>
            <a:off x="1619250" y="2133600"/>
            <a:ext cx="9429750" cy="9525"/>
          </a:xfrm>
          <a:prstGeom prst="rect">
            <a:avLst/>
          </a:prstGeom>
          <a:solidFill>
            <a:srgbClr val="D6D6D6"/>
          </a:solidFill>
          <a:ln w="0">
            <a:noFill/>
          </a:ln>
        </p:spPr>
        <p:txBody>
          <a:bodyPr/>
          <a:lstStyle/>
          <a:p>
            <a:endParaRPr/>
          </a:p>
        </p:txBody>
      </p:sp>
      <p:sp>
        <p:nvSpPr>
          <p:cNvPr id="6" name="Rectangle 5">
            <a:extLst>
              <a:ext uri="{FF2B5EF4-FFF2-40B4-BE49-F238E27FC236}">
                <a16:creationId xmlns:a16="http://schemas.microsoft.com/office/drawing/2014/main" id="{F0AD0635-664F-43EF-9FDD-B91796271779}"/>
              </a:ext>
            </a:extLst>
          </p:cNvPr>
          <p:cNvSpPr>
            <a:spLocks noGrp="1"/>
          </p:cNvSpPr>
          <p:nvPr/>
        </p:nvSpPr>
        <p:spPr>
          <a:xfrm>
            <a:off x="742950" y="2571750"/>
            <a:ext cx="647700" cy="495300"/>
          </a:xfrm>
          <a:prstGeom prst="rect">
            <a:avLst/>
          </a:prstGeom>
          <a:noFill/>
          <a:ln w="0">
            <a:noFill/>
          </a:ln>
        </p:spPr>
        <p:txBody>
          <a:bodyPr anchor="t">
            <a:normAutofit/>
          </a:bodyPr>
          <a:lstStyle/>
          <a:p>
            <a:pPr algn="l">
              <a:buNone/>
              <a:defRPr sz="2550" b="1">
                <a:solidFill>
                  <a:srgbClr val="FF007F"/>
                </a:solidFill>
                <a:latin typeface="CiscoSansTT Medium"/>
                <a:ea typeface="CiscoSansTT Medium"/>
                <a:cs typeface="CiscoSansTT Medium"/>
              </a:defRPr>
            </a:pPr>
            <a:r>
              <a:rPr sz="2550" b="1">
                <a:solidFill>
                  <a:srgbClr val="FF007F"/>
                </a:solidFill>
                <a:latin typeface="CiscoSansTT Medium"/>
                <a:ea typeface="CiscoSansTT Medium"/>
                <a:cs typeface="CiscoSansTT Medium"/>
              </a:rPr>
              <a:t>02</a:t>
            </a:r>
          </a:p>
        </p:txBody>
      </p:sp>
      <p:sp>
        <p:nvSpPr>
          <p:cNvPr id="7" name="Rectangle 6">
            <a:extLst>
              <a:ext uri="{FF2B5EF4-FFF2-40B4-BE49-F238E27FC236}">
                <a16:creationId xmlns:a16="http://schemas.microsoft.com/office/drawing/2014/main" id="{821AE919-C864-46A3-99EC-CB2F9C3CB7C5}"/>
              </a:ext>
            </a:extLst>
          </p:cNvPr>
          <p:cNvSpPr>
            <a:spLocks noGrp="1"/>
          </p:cNvSpPr>
          <p:nvPr/>
        </p:nvSpPr>
        <p:spPr>
          <a:xfrm>
            <a:off x="1619250" y="2571750"/>
            <a:ext cx="2381250" cy="438150"/>
          </a:xfrm>
          <a:prstGeom prst="rect">
            <a:avLst/>
          </a:prstGeom>
          <a:noFill/>
          <a:ln w="0">
            <a:noFill/>
          </a:ln>
        </p:spPr>
        <p:txBody>
          <a:bodyPr anchor="t">
            <a:normAutofit lnSpcReduction="10000"/>
          </a:bodyPr>
          <a:lstStyle/>
          <a:p>
            <a:pPr algn="l">
              <a:buNone/>
              <a:defRPr sz="2325" b="1">
                <a:solidFill>
                  <a:srgbClr val="07182A"/>
                </a:solidFill>
                <a:latin typeface="CiscoSansTT Medium"/>
                <a:ea typeface="CiscoSansTT Medium"/>
                <a:cs typeface="CiscoSansTT Medium"/>
              </a:defRPr>
            </a:pPr>
            <a:r>
              <a:rPr sz="2325" b="1">
                <a:solidFill>
                  <a:srgbClr val="07182A"/>
                </a:solidFill>
                <a:latin typeface="CiscoSansTT Medium"/>
                <a:ea typeface="CiscoSansTT Medium"/>
                <a:cs typeface="CiscoSansTT Medium"/>
                <a:hlinkClick r:id="rId4"/>
              </a:rPr>
              <a:t>Pipeline health</a:t>
            </a:r>
          </a:p>
        </p:txBody>
      </p:sp>
      <p:sp>
        <p:nvSpPr>
          <p:cNvPr id="8" name="Rectangle 7">
            <a:extLst>
              <a:ext uri="{FF2B5EF4-FFF2-40B4-BE49-F238E27FC236}">
                <a16:creationId xmlns:a16="http://schemas.microsoft.com/office/drawing/2014/main" id="{AA5A7CAF-881E-4B9A-9212-812ECF094684}"/>
              </a:ext>
            </a:extLst>
          </p:cNvPr>
          <p:cNvSpPr>
            <a:spLocks noGrp="1"/>
          </p:cNvSpPr>
          <p:nvPr/>
        </p:nvSpPr>
        <p:spPr>
          <a:xfrm>
            <a:off x="4286250" y="2590800"/>
            <a:ext cx="6762750" cy="4000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hlinkClick r:id="rId4"/>
              </a:rPr>
              <a:t>Grafana: Cilium, Hubble and Collector health</a:t>
            </a:r>
          </a:p>
        </p:txBody>
      </p:sp>
      <p:sp>
        <p:nvSpPr>
          <p:cNvPr id="9" name="Rectangle 8">
            <a:extLst>
              <a:ext uri="{FF2B5EF4-FFF2-40B4-BE49-F238E27FC236}">
                <a16:creationId xmlns:a16="http://schemas.microsoft.com/office/drawing/2014/main" id="{0459F131-9FA3-4773-B4CE-90991C1FEC15}"/>
              </a:ext>
            </a:extLst>
          </p:cNvPr>
          <p:cNvSpPr>
            <a:spLocks noGrp="1"/>
          </p:cNvSpPr>
          <p:nvPr/>
        </p:nvSpPr>
        <p:spPr>
          <a:xfrm>
            <a:off x="1619250" y="3200400"/>
            <a:ext cx="9429750" cy="9525"/>
          </a:xfrm>
          <a:prstGeom prst="rect">
            <a:avLst/>
          </a:prstGeom>
          <a:solidFill>
            <a:srgbClr val="D6D6D6"/>
          </a:solidFill>
          <a:ln w="0">
            <a:noFill/>
          </a:ln>
        </p:spPr>
        <p:txBody>
          <a:bodyPr/>
          <a:lstStyle/>
          <a:p>
            <a:endParaRPr/>
          </a:p>
        </p:txBody>
      </p:sp>
      <p:sp>
        <p:nvSpPr>
          <p:cNvPr id="10" name="Rectangle 9">
            <a:extLst>
              <a:ext uri="{FF2B5EF4-FFF2-40B4-BE49-F238E27FC236}">
                <a16:creationId xmlns:a16="http://schemas.microsoft.com/office/drawing/2014/main" id="{FEA221D4-7B46-40AD-9652-A2BF4CF49050}"/>
              </a:ext>
            </a:extLst>
          </p:cNvPr>
          <p:cNvSpPr>
            <a:spLocks noGrp="1"/>
          </p:cNvSpPr>
          <p:nvPr/>
        </p:nvSpPr>
        <p:spPr>
          <a:xfrm>
            <a:off x="742950" y="3638550"/>
            <a:ext cx="647700" cy="495300"/>
          </a:xfrm>
          <a:prstGeom prst="rect">
            <a:avLst/>
          </a:prstGeom>
          <a:noFill/>
          <a:ln w="0">
            <a:noFill/>
          </a:ln>
        </p:spPr>
        <p:txBody>
          <a:bodyPr anchor="t">
            <a:normAutofit/>
          </a:bodyPr>
          <a:lstStyle/>
          <a:p>
            <a:pPr algn="l">
              <a:buNone/>
              <a:defRPr sz="2550" b="1">
                <a:solidFill>
                  <a:srgbClr val="FF9000"/>
                </a:solidFill>
                <a:latin typeface="CiscoSansTT Medium"/>
                <a:ea typeface="CiscoSansTT Medium"/>
                <a:cs typeface="CiscoSansTT Medium"/>
              </a:defRPr>
            </a:pPr>
            <a:r>
              <a:rPr sz="2550" b="1">
                <a:solidFill>
                  <a:srgbClr val="FF9000"/>
                </a:solidFill>
                <a:latin typeface="CiscoSansTT Medium"/>
                <a:ea typeface="CiscoSansTT Medium"/>
                <a:cs typeface="CiscoSansTT Medium"/>
              </a:rPr>
              <a:t>03</a:t>
            </a:r>
          </a:p>
        </p:txBody>
      </p:sp>
      <p:sp>
        <p:nvSpPr>
          <p:cNvPr id="11" name="Rectangle 10">
            <a:extLst>
              <a:ext uri="{FF2B5EF4-FFF2-40B4-BE49-F238E27FC236}">
                <a16:creationId xmlns:a16="http://schemas.microsoft.com/office/drawing/2014/main" id="{485A77C8-B4A2-41C9-9E95-9E1328DFE742}"/>
              </a:ext>
            </a:extLst>
          </p:cNvPr>
          <p:cNvSpPr>
            <a:spLocks noGrp="1"/>
          </p:cNvSpPr>
          <p:nvPr/>
        </p:nvSpPr>
        <p:spPr>
          <a:xfrm>
            <a:off x="1619250" y="3638550"/>
            <a:ext cx="2381250" cy="438150"/>
          </a:xfrm>
          <a:prstGeom prst="rect">
            <a:avLst/>
          </a:prstGeom>
          <a:noFill/>
          <a:ln w="0">
            <a:noFill/>
          </a:ln>
        </p:spPr>
        <p:txBody>
          <a:bodyPr anchor="t">
            <a:normAutofit lnSpcReduction="10000"/>
          </a:bodyPr>
          <a:lstStyle/>
          <a:p>
            <a:pPr algn="l">
              <a:buNone/>
              <a:defRPr sz="2325" b="1">
                <a:solidFill>
                  <a:srgbClr val="07182A"/>
                </a:solidFill>
                <a:latin typeface="CiscoSansTT Medium"/>
                <a:ea typeface="CiscoSansTT Medium"/>
                <a:cs typeface="CiscoSansTT Medium"/>
              </a:defRPr>
            </a:pPr>
            <a:r>
              <a:rPr sz="2325" b="1">
                <a:solidFill>
                  <a:srgbClr val="07182A"/>
                </a:solidFill>
                <a:latin typeface="CiscoSansTT Medium"/>
                <a:ea typeface="CiscoSansTT Medium"/>
                <a:cs typeface="CiscoSansTT Medium"/>
                <a:hlinkClick r:id="rId5"/>
              </a:rPr>
              <a:t>Tempo traces</a:t>
            </a:r>
          </a:p>
        </p:txBody>
      </p:sp>
      <p:sp>
        <p:nvSpPr>
          <p:cNvPr id="12" name="Rectangle 11">
            <a:extLst>
              <a:ext uri="{FF2B5EF4-FFF2-40B4-BE49-F238E27FC236}">
                <a16:creationId xmlns:a16="http://schemas.microsoft.com/office/drawing/2014/main" id="{7956BC91-69D7-43C9-9CFD-E1743AA19FB5}"/>
              </a:ext>
            </a:extLst>
          </p:cNvPr>
          <p:cNvSpPr>
            <a:spLocks noGrp="1"/>
          </p:cNvSpPr>
          <p:nvPr/>
        </p:nvSpPr>
        <p:spPr>
          <a:xfrm>
            <a:off x="4286250" y="3657600"/>
            <a:ext cx="6762750" cy="4000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hlinkClick r:id="rId5"/>
              </a:rPr>
              <a:t>Grafana Explore: inspect a three-service trace</a:t>
            </a:r>
          </a:p>
        </p:txBody>
      </p:sp>
      <p:sp>
        <p:nvSpPr>
          <p:cNvPr id="13" name="Rectangle 12">
            <a:extLst>
              <a:ext uri="{FF2B5EF4-FFF2-40B4-BE49-F238E27FC236}">
                <a16:creationId xmlns:a16="http://schemas.microsoft.com/office/drawing/2014/main" id="{7F2D22A6-1C48-4B19-A882-918FF2DE750E}"/>
              </a:ext>
            </a:extLst>
          </p:cNvPr>
          <p:cNvSpPr>
            <a:spLocks noGrp="1"/>
          </p:cNvSpPr>
          <p:nvPr/>
        </p:nvSpPr>
        <p:spPr>
          <a:xfrm>
            <a:off x="1619250" y="4267200"/>
            <a:ext cx="9429750" cy="9525"/>
          </a:xfrm>
          <a:prstGeom prst="rect">
            <a:avLst/>
          </a:prstGeom>
          <a:solidFill>
            <a:srgbClr val="D6D6D6"/>
          </a:solidFill>
          <a:ln w="0">
            <a:noFill/>
          </a:ln>
        </p:spPr>
        <p:txBody>
          <a:bodyPr/>
          <a:lstStyle/>
          <a:p>
            <a:endParaRPr/>
          </a:p>
        </p:txBody>
      </p:sp>
      <p:sp>
        <p:nvSpPr>
          <p:cNvPr id="14" name="Rectangle 13">
            <a:extLst>
              <a:ext uri="{FF2B5EF4-FFF2-40B4-BE49-F238E27FC236}">
                <a16:creationId xmlns:a16="http://schemas.microsoft.com/office/drawing/2014/main" id="{D0A0D56B-FDB0-4971-B2B3-C265324ACDCB}"/>
              </a:ext>
            </a:extLst>
          </p:cNvPr>
          <p:cNvSpPr>
            <a:spLocks noGrp="1"/>
          </p:cNvSpPr>
          <p:nvPr/>
        </p:nvSpPr>
        <p:spPr>
          <a:xfrm>
            <a:off x="742950" y="4705350"/>
            <a:ext cx="647700" cy="495300"/>
          </a:xfrm>
          <a:prstGeom prst="rect">
            <a:avLst/>
          </a:prstGeom>
          <a:noFill/>
          <a:ln w="0">
            <a:noFill/>
          </a:ln>
        </p:spPr>
        <p:txBody>
          <a:bodyPr anchor="t">
            <a:normAutofit/>
          </a:bodyPr>
          <a:lstStyle/>
          <a:p>
            <a:pPr algn="l">
              <a:buNone/>
              <a:defRPr sz="2550" b="1">
                <a:solidFill>
                  <a:srgbClr val="2DAA5F"/>
                </a:solidFill>
                <a:latin typeface="CiscoSansTT Medium"/>
                <a:ea typeface="CiscoSansTT Medium"/>
                <a:cs typeface="CiscoSansTT Medium"/>
              </a:defRPr>
            </a:pPr>
            <a:r>
              <a:rPr sz="2550" b="1">
                <a:solidFill>
                  <a:srgbClr val="2DAA5F"/>
                </a:solidFill>
                <a:latin typeface="CiscoSansTT Medium"/>
                <a:ea typeface="CiscoSansTT Medium"/>
                <a:cs typeface="CiscoSansTT Medium"/>
              </a:rPr>
              <a:t>04</a:t>
            </a:r>
          </a:p>
        </p:txBody>
      </p:sp>
      <p:sp>
        <p:nvSpPr>
          <p:cNvPr id="15" name="Rectangle 14">
            <a:extLst>
              <a:ext uri="{FF2B5EF4-FFF2-40B4-BE49-F238E27FC236}">
                <a16:creationId xmlns:a16="http://schemas.microsoft.com/office/drawing/2014/main" id="{69592A17-1663-4A01-9986-49CA13FA2E89}"/>
              </a:ext>
            </a:extLst>
          </p:cNvPr>
          <p:cNvSpPr>
            <a:spLocks noGrp="1"/>
          </p:cNvSpPr>
          <p:nvPr/>
        </p:nvSpPr>
        <p:spPr>
          <a:xfrm>
            <a:off x="1619250" y="4705350"/>
            <a:ext cx="2381250" cy="438150"/>
          </a:xfrm>
          <a:prstGeom prst="rect">
            <a:avLst/>
          </a:prstGeom>
          <a:noFill/>
          <a:ln w="0">
            <a:noFill/>
          </a:ln>
        </p:spPr>
        <p:txBody>
          <a:bodyPr anchor="t">
            <a:normAutofit lnSpcReduction="10000"/>
          </a:bodyPr>
          <a:lstStyle/>
          <a:p>
            <a:pPr algn="l">
              <a:buNone/>
              <a:defRPr sz="2325" b="1">
                <a:solidFill>
                  <a:srgbClr val="07182A"/>
                </a:solidFill>
                <a:latin typeface="CiscoSansTT Medium"/>
                <a:ea typeface="CiscoSansTT Medium"/>
                <a:cs typeface="CiscoSansTT Medium"/>
              </a:defRPr>
            </a:pPr>
            <a:r>
              <a:rPr sz="2325" b="1">
                <a:solidFill>
                  <a:srgbClr val="07182A"/>
                </a:solidFill>
                <a:latin typeface="CiscoSansTT Medium"/>
                <a:ea typeface="CiscoSansTT Medium"/>
                <a:cs typeface="CiscoSansTT Medium"/>
                <a:hlinkClick r:id="rId6"/>
              </a:rPr>
              <a:t>Hubble flows</a:t>
            </a:r>
          </a:p>
        </p:txBody>
      </p:sp>
      <p:sp>
        <p:nvSpPr>
          <p:cNvPr id="16" name="Rectangle 15">
            <a:extLst>
              <a:ext uri="{FF2B5EF4-FFF2-40B4-BE49-F238E27FC236}">
                <a16:creationId xmlns:a16="http://schemas.microsoft.com/office/drawing/2014/main" id="{EC182D77-4817-46E5-B999-4E8BF56AE275}"/>
              </a:ext>
            </a:extLst>
          </p:cNvPr>
          <p:cNvSpPr>
            <a:spLocks noGrp="1"/>
          </p:cNvSpPr>
          <p:nvPr/>
        </p:nvSpPr>
        <p:spPr>
          <a:xfrm>
            <a:off x="4286250" y="4724400"/>
            <a:ext cx="6762750" cy="4000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hlinkClick r:id="rId6"/>
              </a:rPr>
              <a:t>Hubble UI: workloads, ports and verdicts</a:t>
            </a:r>
          </a:p>
        </p:txBody>
      </p:sp>
      <p:sp>
        <p:nvSpPr>
          <p:cNvPr id="17" name="Rectangle 16">
            <a:extLst>
              <a:ext uri="{FF2B5EF4-FFF2-40B4-BE49-F238E27FC236}">
                <a16:creationId xmlns:a16="http://schemas.microsoft.com/office/drawing/2014/main" id="{B22D68FA-8D4A-4E44-A997-C6CD8B29C3E3}"/>
              </a:ext>
            </a:extLst>
          </p:cNvPr>
          <p:cNvSpPr>
            <a:spLocks noGrp="1"/>
          </p:cNvSpPr>
          <p:nvPr/>
        </p:nvSpPr>
        <p:spPr>
          <a:xfrm>
            <a:off x="1619250" y="5334000"/>
            <a:ext cx="9429750" cy="9525"/>
          </a:xfrm>
          <a:prstGeom prst="rect">
            <a:avLst/>
          </a:prstGeom>
          <a:solidFill>
            <a:srgbClr val="D6D6D6"/>
          </a:solidFill>
          <a:ln w="0">
            <a:noFill/>
          </a:ln>
        </p:spPr>
        <p:txBody>
          <a:bodyPr/>
          <a:lstStyle/>
          <a:p>
            <a:endParaRPr/>
          </a:p>
        </p:txBody>
      </p:sp>
      <p:sp>
        <p:nvSpPr>
          <p:cNvPr id="18" name="Rounded Rectangle 17">
            <a:extLst>
              <a:ext uri="{FF2B5EF4-FFF2-40B4-BE49-F238E27FC236}">
                <a16:creationId xmlns:a16="http://schemas.microsoft.com/office/drawing/2014/main" id="{B2A1EB50-E968-4E50-A168-D3F4D32BBD54}"/>
              </a:ext>
            </a:extLst>
          </p:cNvPr>
          <p:cNvSpPr>
            <a:spLocks noGrp="1"/>
          </p:cNvSpPr>
          <p:nvPr/>
        </p:nvSpPr>
        <p:spPr>
          <a:xfrm>
            <a:off x="1619250" y="5734050"/>
            <a:ext cx="9429750" cy="457200"/>
          </a:xfrm>
          <a:prstGeom prst="roundRect">
            <a:avLst>
              <a:gd name="adj" fmla="val 16667"/>
            </a:avLst>
          </a:prstGeom>
          <a:solidFill>
            <a:srgbClr val="07182A"/>
          </a:solidFill>
          <a:ln w="0">
            <a:noFill/>
          </a:ln>
        </p:spPr>
        <p:txBody>
          <a:bodyPr/>
          <a:lstStyle/>
          <a:p>
            <a:endParaRPr/>
          </a:p>
        </p:txBody>
      </p:sp>
      <p:sp>
        <p:nvSpPr>
          <p:cNvPr id="19" name="Rectangle 18">
            <a:extLst>
              <a:ext uri="{FF2B5EF4-FFF2-40B4-BE49-F238E27FC236}">
                <a16:creationId xmlns:a16="http://schemas.microsoft.com/office/drawing/2014/main" id="{585865DE-64D1-4422-A0F9-E558EA8A8F88}"/>
              </a:ext>
            </a:extLst>
          </p:cNvPr>
          <p:cNvSpPr>
            <a:spLocks noGrp="1"/>
          </p:cNvSpPr>
          <p:nvPr/>
        </p:nvSpPr>
        <p:spPr>
          <a:xfrm>
            <a:off x="1905000" y="5810250"/>
            <a:ext cx="8858250" cy="304800"/>
          </a:xfrm>
          <a:prstGeom prst="rect">
            <a:avLst/>
          </a:prstGeom>
          <a:noFill/>
          <a:ln w="0">
            <a:noFill/>
          </a:ln>
        </p:spPr>
        <p:txBody>
          <a:bodyPr anchor="t">
            <a:normAutofit fontScale="86776"/>
          </a:bodyPr>
          <a:lstStyle/>
          <a:p>
            <a:pPr algn="ctr">
              <a:buNone/>
              <a:defRPr sz="1650" b="1">
                <a:solidFill>
                  <a:srgbClr val="FFFFFF"/>
                </a:solidFill>
                <a:latin typeface="CiscoSansTT Medium"/>
                <a:ea typeface="CiscoSansTT Medium"/>
                <a:cs typeface="CiscoSansTT Medium"/>
              </a:defRPr>
            </a:pPr>
            <a:r>
              <a:rPr sz="1650" b="1" dirty="0">
                <a:solidFill>
                  <a:srgbClr val="FFFFFF"/>
                </a:solidFill>
                <a:latin typeface="CiscoSansTT Medium"/>
                <a:ea typeface="CiscoSansTT Medium"/>
                <a:cs typeface="CiscoSansTT Medium"/>
              </a:rPr>
              <a:t>Click a row. Live links require local port-forwards.</a:t>
            </a:r>
          </a:p>
        </p:txBody>
      </p:sp>
    </p:spTree>
    <p:extLst>
      <p:ext uri="{BB962C8B-B14F-4D97-AF65-F5344CB8AC3E}">
        <p14:creationId xmlns:p14="http://schemas.microsoft.com/office/powerpoint/2010/main" val="188285791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p:txBody>
          <a:bodyPr anchor="ctr"/>
          <a:lstStyle>
            <a:lvl1pPr>
              <a:buNone/>
              <a:defRPr sz="4000">
                <a:solidFill>
                  <a:schemeClr val="bg1"/>
                </a:solidFill>
              </a:defRPr>
            </a:lvl1pPr>
          </a:lstStyle>
          <a:p>
            <a:r>
              <a:t>Measure the combined system</a:t>
            </a:r>
          </a:p>
        </p:txBody>
      </p:sp>
    </p:spTree>
    <p:extLst>
      <p:ext uri="{BB962C8B-B14F-4D97-AF65-F5344CB8AC3E}">
        <p14:creationId xmlns:p14="http://schemas.microsoft.com/office/powerpoint/2010/main" val="14255440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title">
            <a:extLst>
              <a:ext uri="{FF2B5EF4-FFF2-40B4-BE49-F238E27FC236}">
                <a16:creationId xmlns:a16="http://schemas.microsoft.com/office/drawing/2014/main" id="{43AEE9E5-8F08-4B77-B756-AC329ED94EAF}"/>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Benchmark scenarios and controls</a:t>
            </a:r>
          </a:p>
        </p:txBody>
      </p:sp>
      <p:graphicFrame>
        <p:nvGraphicFramePr>
          <p:cNvPr id="21" name="Table 20">
            <a:extLst>
              <a:ext uri="{FF2B5EF4-FFF2-40B4-BE49-F238E27FC236}">
                <a16:creationId xmlns:a16="http://schemas.microsoft.com/office/drawing/2014/main" id="{CA56689E-14B9-4ACB-984E-F1E4C6574764}"/>
              </a:ext>
            </a:extLst>
          </p:cNvPr>
          <p:cNvGraphicFramePr/>
          <p:nvPr>
            <p:extLst>
              <p:ext uri="{D42A27DB-BD31-4B8C-83A1-F6EECF244321}">
                <p14:modId xmlns:p14="http://schemas.microsoft.com/office/powerpoint/2010/main" val="710346894"/>
              </p:ext>
            </p:extLst>
          </p:nvPr>
        </p:nvGraphicFramePr>
        <p:xfrm>
          <a:off x="762000" y="1638300"/>
          <a:ext cx="10668000" cy="4114800"/>
        </p:xfrm>
        <a:graphic>
          <a:graphicData uri="http://schemas.openxmlformats.org/drawingml/2006/table">
            <a:tbl>
              <a:tblPr/>
              <a:tblGrid>
                <a:gridCol w="200025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5619750">
                  <a:extLst>
                    <a:ext uri="{9D8B030D-6E8A-4147-A177-3AD203B41FA5}">
                      <a16:colId xmlns:a16="http://schemas.microsoft.com/office/drawing/2014/main" val="20002"/>
                    </a:ext>
                  </a:extLst>
                </a:gridCol>
              </a:tblGrid>
              <a:tr h="495300">
                <a:tc>
                  <a:txBody>
                    <a:bodyPr/>
                    <a:lstStyle/>
                    <a:p>
                      <a:pPr algn="ctr"/>
                      <a:r>
                        <a:rPr sz="1875" b="1">
                          <a:solidFill>
                            <a:srgbClr val="07182A"/>
                          </a:solidFill>
                          <a:latin typeface="CiscoSansTT Medium"/>
                          <a:ea typeface="CiscoSansTT Medium"/>
                          <a:cs typeface="CiscoSansTT Medium"/>
                        </a:rPr>
                        <a:t>Scenario</a:t>
                      </a:r>
                    </a:p>
                  </a:txBody>
                  <a:tcPr anchor="ctr">
                    <a:lnL w="0">
                      <a:noFill/>
                    </a:lnL>
                    <a:lnR w="0">
                      <a:noFill/>
                    </a:lnR>
                    <a:lnT w="6350">
                      <a:solidFill>
                        <a:srgbClr val="CFD5DD"/>
                      </a:solidFill>
                    </a:lnT>
                    <a:lnB w="6350">
                      <a:solidFill>
                        <a:srgbClr val="CFD5DD"/>
                      </a:solidFill>
                    </a:lnB>
                    <a:solidFill>
                      <a:srgbClr val="FFFFFF"/>
                    </a:solidFill>
                  </a:tcPr>
                </a:tc>
                <a:tc>
                  <a:txBody>
                    <a:bodyPr/>
                    <a:lstStyle/>
                    <a:p>
                      <a:pPr algn="l"/>
                      <a:r>
                        <a:rPr lang="en-GB" sz="2000" b="1" dirty="0">
                          <a:solidFill>
                            <a:srgbClr val="07182A"/>
                          </a:solidFill>
                          <a:latin typeface="CiscoSansTT Medium"/>
                          <a:ea typeface="CiscoSansTT Medium"/>
                          <a:cs typeface="CiscoSansTT Medium"/>
                        </a:rPr>
                        <a:t>Cilium &amp; </a:t>
                      </a:r>
                      <a:r>
                        <a:rPr sz="1875" b="1" dirty="0">
                          <a:solidFill>
                            <a:srgbClr val="07182A"/>
                          </a:solidFill>
                          <a:latin typeface="CiscoSansTT Medium"/>
                          <a:ea typeface="CiscoSansTT Medium"/>
                          <a:cs typeface="CiscoSansTT Medium"/>
                        </a:rPr>
                        <a:t>Hubble</a:t>
                      </a:r>
                    </a:p>
                  </a:txBody>
                  <a:tcPr anchor="ctr">
                    <a:lnL w="0">
                      <a:noFill/>
                    </a:lnL>
                    <a:lnR w="0">
                      <a:noFill/>
                    </a:lnR>
                    <a:lnT w="6350">
                      <a:solidFill>
                        <a:srgbClr val="CFD5DD"/>
                      </a:solidFill>
                    </a:lnT>
                    <a:lnB w="6350">
                      <a:solidFill>
                        <a:srgbClr val="CFD5DD"/>
                      </a:solidFill>
                    </a:lnB>
                    <a:solidFill>
                      <a:srgbClr val="FFFFFF"/>
                    </a:solidFill>
                  </a:tcPr>
                </a:tc>
                <a:tc>
                  <a:txBody>
                    <a:bodyPr/>
                    <a:lstStyle/>
                    <a:p>
                      <a:pPr algn="l"/>
                      <a:r>
                        <a:rPr sz="1875" b="1">
                          <a:solidFill>
                            <a:srgbClr val="07182A"/>
                          </a:solidFill>
                          <a:latin typeface="CiscoSansTT Medium"/>
                          <a:ea typeface="CiscoSansTT Medium"/>
                          <a:cs typeface="CiscoSansTT Medium"/>
                        </a:rPr>
                        <a:t>OBI</a:t>
                      </a:r>
                    </a:p>
                  </a:txBody>
                  <a:tcPr anchor="ctr">
                    <a:lnL w="0">
                      <a:noFill/>
                    </a:lnL>
                    <a:lnR w="0">
                      <a:noFill/>
                    </a:lnR>
                    <a:lnT w="6350">
                      <a:solidFill>
                        <a:srgbClr val="CFD5DD"/>
                      </a:solidFill>
                    </a:lnT>
                    <a:lnB w="6350">
                      <a:solidFill>
                        <a:srgbClr val="CFD5DD"/>
                      </a:solidFill>
                    </a:lnB>
                    <a:solidFill>
                      <a:srgbClr val="FFFFFF"/>
                    </a:solidFill>
                  </a:tcPr>
                </a:tc>
                <a:extLst>
                  <a:ext uri="{0D108BD9-81ED-4DB2-BD59-A6C34878D82A}">
                    <a16:rowId xmlns:a16="http://schemas.microsoft.com/office/drawing/2014/main" val="10000"/>
                  </a:ext>
                </a:extLst>
              </a:tr>
              <a:tr h="723900">
                <a:tc>
                  <a:txBody>
                    <a:bodyPr/>
                    <a:lstStyle/>
                    <a:p>
                      <a:pPr algn="ctr"/>
                      <a:r>
                        <a:rPr sz="1725" b="1">
                          <a:solidFill>
                            <a:srgbClr val="07182A"/>
                          </a:solidFill>
                          <a:latin typeface="CiscoSansTT Medium"/>
                          <a:ea typeface="CiscoSansTT Medium"/>
                          <a:cs typeface="CiscoSansTT Medium"/>
                        </a:rPr>
                        <a:t>A</a:t>
                      </a:r>
                    </a:p>
                    <a:p>
                      <a:pPr algn="ctr"/>
                      <a:r>
                        <a:rPr sz="1725" b="1">
                          <a:solidFill>
                            <a:srgbClr val="07182A"/>
                          </a:solidFill>
                          <a:latin typeface="CiscoSansTT Medium"/>
                          <a:ea typeface="CiscoSansTT Medium"/>
                          <a:cs typeface="CiscoSansTT Medium"/>
                        </a:rPr>
                        <a:t>Planned</a:t>
                      </a:r>
                    </a:p>
                  </a:txBody>
                  <a:tcPr anchor="ctr">
                    <a:lnL w="0">
                      <a:noFill/>
                    </a:lnL>
                    <a:lnR w="0">
                      <a:noFill/>
                    </a:lnR>
                    <a:lnT w="6350">
                      <a:solidFill>
                        <a:srgbClr val="CFD5DD"/>
                      </a:solidFill>
                    </a:lnT>
                    <a:lnB w="6350">
                      <a:solidFill>
                        <a:srgbClr val="CFD5DD"/>
                      </a:solidFill>
                    </a:lnB>
                    <a:solidFill>
                      <a:srgbClr val="FFFFFF"/>
                    </a:solidFill>
                  </a:tcPr>
                </a:tc>
                <a:tc>
                  <a:txBody>
                    <a:bodyPr/>
                    <a:lstStyle/>
                    <a:p>
                      <a:pPr algn="l"/>
                      <a:r>
                        <a:rPr sz="1725" b="0">
                          <a:solidFill>
                            <a:srgbClr val="07182A"/>
                          </a:solidFill>
                          <a:latin typeface="CiscoSansTT"/>
                          <a:ea typeface="CiscoSansTT"/>
                          <a:cs typeface="CiscoSansTT"/>
                        </a:rPr>
                        <a:t>Off</a:t>
                      </a:r>
                    </a:p>
                  </a:txBody>
                  <a:tcPr anchor="ctr">
                    <a:lnL w="0">
                      <a:noFill/>
                    </a:lnL>
                    <a:lnR w="0">
                      <a:noFill/>
                    </a:lnR>
                    <a:lnT w="6350">
                      <a:solidFill>
                        <a:srgbClr val="CFD5DD"/>
                      </a:solidFill>
                    </a:lnT>
                    <a:lnB w="6350">
                      <a:solidFill>
                        <a:srgbClr val="CFD5DD"/>
                      </a:solidFill>
                    </a:lnB>
                    <a:solidFill>
                      <a:srgbClr val="FFFFFF"/>
                    </a:solidFill>
                  </a:tcPr>
                </a:tc>
                <a:tc>
                  <a:txBody>
                    <a:bodyPr/>
                    <a:lstStyle/>
                    <a:p>
                      <a:pPr algn="l"/>
                      <a:r>
                        <a:rPr sz="1725" b="0">
                          <a:solidFill>
                            <a:srgbClr val="07182A"/>
                          </a:solidFill>
                          <a:latin typeface="CiscoSansTT"/>
                          <a:ea typeface="CiscoSansTT"/>
                          <a:cs typeface="CiscoSansTT"/>
                        </a:rPr>
                        <a:t>Off</a:t>
                      </a:r>
                    </a:p>
                  </a:txBody>
                  <a:tcPr anchor="ctr">
                    <a:lnL w="0">
                      <a:noFill/>
                    </a:lnL>
                    <a:lnR w="0">
                      <a:noFill/>
                    </a:lnR>
                    <a:lnT w="6350">
                      <a:solidFill>
                        <a:srgbClr val="CFD5DD"/>
                      </a:solidFill>
                    </a:lnT>
                    <a:lnB w="6350">
                      <a:solidFill>
                        <a:srgbClr val="CFD5DD"/>
                      </a:solidFill>
                    </a:lnB>
                    <a:solidFill>
                      <a:srgbClr val="FFFFFF"/>
                    </a:solidFill>
                  </a:tcPr>
                </a:tc>
                <a:extLst>
                  <a:ext uri="{0D108BD9-81ED-4DB2-BD59-A6C34878D82A}">
                    <a16:rowId xmlns:a16="http://schemas.microsoft.com/office/drawing/2014/main" val="10001"/>
                  </a:ext>
                </a:extLst>
              </a:tr>
              <a:tr h="723900">
                <a:tc>
                  <a:txBody>
                    <a:bodyPr/>
                    <a:lstStyle/>
                    <a:p>
                      <a:pPr algn="ctr"/>
                      <a:r>
                        <a:rPr sz="1725" b="1">
                          <a:solidFill>
                            <a:srgbClr val="0860FE"/>
                          </a:solidFill>
                          <a:latin typeface="CiscoSansTT Medium"/>
                          <a:ea typeface="CiscoSansTT Medium"/>
                          <a:cs typeface="CiscoSansTT Medium"/>
                        </a:rPr>
                        <a:t>B</a:t>
                      </a:r>
                    </a:p>
                    <a:p>
                      <a:pPr algn="ctr"/>
                      <a:r>
                        <a:rPr sz="1725" b="1">
                          <a:solidFill>
                            <a:srgbClr val="0860FE"/>
                          </a:solidFill>
                          <a:latin typeface="CiscoSansTT Medium"/>
                          <a:ea typeface="CiscoSansTT Medium"/>
                          <a:cs typeface="CiscoSansTT Medium"/>
                        </a:rPr>
                        <a:t>Measured</a:t>
                      </a:r>
                    </a:p>
                  </a:txBody>
                  <a:tcPr anchor="ctr">
                    <a:lnL w="0">
                      <a:noFill/>
                    </a:lnL>
                    <a:lnR w="0">
                      <a:noFill/>
                    </a:lnR>
                    <a:lnT w="6350">
                      <a:solidFill>
                        <a:srgbClr val="CFD5DD"/>
                      </a:solidFill>
                    </a:lnT>
                    <a:lnB w="6350">
                      <a:solidFill>
                        <a:srgbClr val="CFD5DD"/>
                      </a:solidFill>
                    </a:lnB>
                    <a:solidFill>
                      <a:srgbClr val="EAF8FC"/>
                    </a:solidFill>
                  </a:tcPr>
                </a:tc>
                <a:tc>
                  <a:txBody>
                    <a:bodyPr/>
                    <a:lstStyle/>
                    <a:p>
                      <a:pPr algn="l"/>
                      <a:r>
                        <a:rPr sz="1725" b="0">
                          <a:solidFill>
                            <a:srgbClr val="07182A"/>
                          </a:solidFill>
                          <a:latin typeface="CiscoSansTT"/>
                          <a:ea typeface="CiscoSansTT"/>
                          <a:cs typeface="CiscoSansTT"/>
                        </a:rPr>
                        <a:t>Flows (L3/L4)</a:t>
                      </a:r>
                    </a:p>
                  </a:txBody>
                  <a:tcPr anchor="ctr">
                    <a:lnL w="0">
                      <a:noFill/>
                    </a:lnL>
                    <a:lnR w="0">
                      <a:noFill/>
                    </a:lnR>
                    <a:lnT w="6350">
                      <a:solidFill>
                        <a:srgbClr val="CFD5DD"/>
                      </a:solidFill>
                    </a:lnT>
                    <a:lnB w="6350">
                      <a:solidFill>
                        <a:srgbClr val="CFD5DD"/>
                      </a:solidFill>
                    </a:lnB>
                    <a:solidFill>
                      <a:srgbClr val="EAF8FC"/>
                    </a:solidFill>
                  </a:tcPr>
                </a:tc>
                <a:tc>
                  <a:txBody>
                    <a:bodyPr/>
                    <a:lstStyle/>
                    <a:p>
                      <a:pPr algn="l"/>
                      <a:r>
                        <a:rPr sz="1725" b="0">
                          <a:solidFill>
                            <a:srgbClr val="07182A"/>
                          </a:solidFill>
                          <a:latin typeface="CiscoSansTT"/>
                          <a:ea typeface="CiscoSansTT"/>
                          <a:cs typeface="CiscoSansTT"/>
                        </a:rPr>
                        <a:t>Off</a:t>
                      </a:r>
                    </a:p>
                  </a:txBody>
                  <a:tcPr anchor="ctr">
                    <a:lnL w="0">
                      <a:noFill/>
                    </a:lnL>
                    <a:lnR w="0">
                      <a:noFill/>
                    </a:lnR>
                    <a:lnT w="6350">
                      <a:solidFill>
                        <a:srgbClr val="CFD5DD"/>
                      </a:solidFill>
                    </a:lnT>
                    <a:lnB w="6350">
                      <a:solidFill>
                        <a:srgbClr val="CFD5DD"/>
                      </a:solidFill>
                    </a:lnB>
                    <a:solidFill>
                      <a:srgbClr val="EAF8FC"/>
                    </a:solidFill>
                  </a:tcPr>
                </a:tc>
                <a:extLst>
                  <a:ext uri="{0D108BD9-81ED-4DB2-BD59-A6C34878D82A}">
                    <a16:rowId xmlns:a16="http://schemas.microsoft.com/office/drawing/2014/main" val="10002"/>
                  </a:ext>
                </a:extLst>
              </a:tr>
              <a:tr h="723900">
                <a:tc>
                  <a:txBody>
                    <a:bodyPr/>
                    <a:lstStyle/>
                    <a:p>
                      <a:pPr algn="ctr"/>
                      <a:r>
                        <a:rPr sz="1725" b="1">
                          <a:solidFill>
                            <a:srgbClr val="07182A"/>
                          </a:solidFill>
                          <a:latin typeface="CiscoSansTT Medium"/>
                          <a:ea typeface="CiscoSansTT Medium"/>
                          <a:cs typeface="CiscoSansTT Medium"/>
                        </a:rPr>
                        <a:t>C</a:t>
                      </a:r>
                    </a:p>
                    <a:p>
                      <a:pPr algn="ctr"/>
                      <a:r>
                        <a:rPr sz="1725" b="1">
                          <a:solidFill>
                            <a:srgbClr val="07182A"/>
                          </a:solidFill>
                          <a:latin typeface="CiscoSansTT Medium"/>
                          <a:ea typeface="CiscoSansTT Medium"/>
                          <a:cs typeface="CiscoSansTT Medium"/>
                        </a:rPr>
                        <a:t>Planned</a:t>
                      </a:r>
                    </a:p>
                  </a:txBody>
                  <a:tcPr anchor="ctr">
                    <a:lnL w="0">
                      <a:noFill/>
                    </a:lnL>
                    <a:lnR w="0">
                      <a:noFill/>
                    </a:lnR>
                    <a:lnT w="6350">
                      <a:solidFill>
                        <a:srgbClr val="CFD5DD"/>
                      </a:solidFill>
                    </a:lnT>
                    <a:lnB w="6350">
                      <a:solidFill>
                        <a:srgbClr val="CFD5DD"/>
                      </a:solidFill>
                    </a:lnB>
                    <a:solidFill>
                      <a:srgbClr val="FFFFFF"/>
                    </a:solidFill>
                  </a:tcPr>
                </a:tc>
                <a:tc>
                  <a:txBody>
                    <a:bodyPr/>
                    <a:lstStyle/>
                    <a:p>
                      <a:pPr algn="l"/>
                      <a:r>
                        <a:rPr sz="1725" b="0">
                          <a:solidFill>
                            <a:srgbClr val="07182A"/>
                          </a:solidFill>
                          <a:latin typeface="CiscoSansTT"/>
                          <a:ea typeface="CiscoSansTT"/>
                          <a:cs typeface="CiscoSansTT"/>
                        </a:rPr>
                        <a:t>Flows (L3/L4)</a:t>
                      </a:r>
                    </a:p>
                  </a:txBody>
                  <a:tcPr anchor="ctr">
                    <a:lnL w="0">
                      <a:noFill/>
                    </a:lnL>
                    <a:lnR w="0">
                      <a:noFill/>
                    </a:lnR>
                    <a:lnT w="6350">
                      <a:solidFill>
                        <a:srgbClr val="CFD5DD"/>
                      </a:solidFill>
                    </a:lnT>
                    <a:lnB w="6350">
                      <a:solidFill>
                        <a:srgbClr val="CFD5DD"/>
                      </a:solidFill>
                    </a:lnB>
                    <a:solidFill>
                      <a:srgbClr val="FFFFFF"/>
                    </a:solidFill>
                  </a:tcPr>
                </a:tc>
                <a:tc>
                  <a:txBody>
                    <a:bodyPr/>
                    <a:lstStyle/>
                    <a:p>
                      <a:pPr algn="l"/>
                      <a:r>
                        <a:rPr sz="1725" b="0">
                          <a:solidFill>
                            <a:srgbClr val="07182A"/>
                          </a:solidFill>
                          <a:latin typeface="CiscoSansTT"/>
                          <a:ea typeface="CiscoSansTT"/>
                          <a:cs typeface="CiscoSansTT"/>
                        </a:rPr>
                        <a:t>RED metrics only</a:t>
                      </a:r>
                    </a:p>
                    <a:p>
                      <a:pPr algn="l"/>
                      <a:r>
                        <a:rPr sz="1725" b="0">
                          <a:solidFill>
                            <a:srgbClr val="07182A"/>
                          </a:solidFill>
                          <a:latin typeface="CiscoSansTT"/>
                          <a:ea typeface="CiscoSansTT"/>
                          <a:cs typeface="CiscoSansTT"/>
                        </a:rPr>
                        <a:t>No traces or TCP propagation</a:t>
                      </a:r>
                    </a:p>
                  </a:txBody>
                  <a:tcPr anchor="ctr">
                    <a:lnL w="0">
                      <a:noFill/>
                    </a:lnL>
                    <a:lnR w="0">
                      <a:noFill/>
                    </a:lnR>
                    <a:lnT w="6350">
                      <a:solidFill>
                        <a:srgbClr val="CFD5DD"/>
                      </a:solidFill>
                    </a:lnT>
                    <a:lnB w="6350">
                      <a:solidFill>
                        <a:srgbClr val="CFD5DD"/>
                      </a:solidFill>
                    </a:lnB>
                    <a:solidFill>
                      <a:srgbClr val="FFFFFF"/>
                    </a:solidFill>
                  </a:tcPr>
                </a:tc>
                <a:extLst>
                  <a:ext uri="{0D108BD9-81ED-4DB2-BD59-A6C34878D82A}">
                    <a16:rowId xmlns:a16="http://schemas.microsoft.com/office/drawing/2014/main" val="10003"/>
                  </a:ext>
                </a:extLst>
              </a:tr>
              <a:tr h="723900">
                <a:tc>
                  <a:txBody>
                    <a:bodyPr/>
                    <a:lstStyle/>
                    <a:p>
                      <a:pPr algn="ctr"/>
                      <a:r>
                        <a:rPr sz="1725" b="1">
                          <a:solidFill>
                            <a:srgbClr val="FF007F"/>
                          </a:solidFill>
                          <a:latin typeface="CiscoSansTT Medium"/>
                          <a:ea typeface="CiscoSansTT Medium"/>
                          <a:cs typeface="CiscoSansTT Medium"/>
                        </a:rPr>
                        <a:t>D</a:t>
                      </a:r>
                    </a:p>
                    <a:p>
                      <a:pPr algn="ctr"/>
                      <a:r>
                        <a:rPr sz="1725" b="1">
                          <a:solidFill>
                            <a:srgbClr val="FF007F"/>
                          </a:solidFill>
                          <a:latin typeface="CiscoSansTT Medium"/>
                          <a:ea typeface="CiscoSansTT Medium"/>
                          <a:cs typeface="CiscoSansTT Medium"/>
                        </a:rPr>
                        <a:t>Measured</a:t>
                      </a:r>
                    </a:p>
                  </a:txBody>
                  <a:tcPr anchor="ctr">
                    <a:lnL w="0">
                      <a:noFill/>
                    </a:lnL>
                    <a:lnR w="0">
                      <a:noFill/>
                    </a:lnR>
                    <a:lnT w="6350">
                      <a:solidFill>
                        <a:srgbClr val="CFD5DD"/>
                      </a:solidFill>
                    </a:lnT>
                    <a:lnB w="6350">
                      <a:solidFill>
                        <a:srgbClr val="CFD5DD"/>
                      </a:solidFill>
                    </a:lnB>
                    <a:solidFill>
                      <a:srgbClr val="F6ECF5"/>
                    </a:solidFill>
                  </a:tcPr>
                </a:tc>
                <a:tc>
                  <a:txBody>
                    <a:bodyPr/>
                    <a:lstStyle/>
                    <a:p>
                      <a:pPr algn="l"/>
                      <a:r>
                        <a:rPr sz="1725" b="0">
                          <a:solidFill>
                            <a:srgbClr val="07182A"/>
                          </a:solidFill>
                          <a:latin typeface="CiscoSansTT"/>
                          <a:ea typeface="CiscoSansTT"/>
                          <a:cs typeface="CiscoSansTT"/>
                        </a:rPr>
                        <a:t>Flows (L3/L4)</a:t>
                      </a:r>
                    </a:p>
                  </a:txBody>
                  <a:tcPr anchor="ctr">
                    <a:lnL w="0">
                      <a:noFill/>
                    </a:lnL>
                    <a:lnR w="0">
                      <a:noFill/>
                    </a:lnR>
                    <a:lnT w="6350">
                      <a:solidFill>
                        <a:srgbClr val="CFD5DD"/>
                      </a:solidFill>
                    </a:lnT>
                    <a:lnB w="6350">
                      <a:solidFill>
                        <a:srgbClr val="CFD5DD"/>
                      </a:solidFill>
                    </a:lnB>
                    <a:solidFill>
                      <a:srgbClr val="F6ECF5"/>
                    </a:solidFill>
                  </a:tcPr>
                </a:tc>
                <a:tc>
                  <a:txBody>
                    <a:bodyPr/>
                    <a:lstStyle/>
                    <a:p>
                      <a:pPr algn="l"/>
                      <a:r>
                        <a:rPr sz="1725" b="0">
                          <a:solidFill>
                            <a:srgbClr val="07182A"/>
                          </a:solidFill>
                          <a:latin typeface="CiscoSansTT"/>
                          <a:ea typeface="CiscoSansTT"/>
                          <a:cs typeface="CiscoSansTT"/>
                        </a:rPr>
                        <a:t>RED metrics + traces</a:t>
                      </a:r>
                    </a:p>
                    <a:p>
                      <a:pPr algn="l"/>
                      <a:r>
                        <a:rPr sz="1725" b="0">
                          <a:solidFill>
                            <a:srgbClr val="07182A"/>
                          </a:solidFill>
                          <a:latin typeface="CiscoSansTT"/>
                          <a:ea typeface="CiscoSansTT"/>
                          <a:cs typeface="CiscoSansTT"/>
                        </a:rPr>
                        <a:t>TCP context propagation</a:t>
                      </a:r>
                    </a:p>
                  </a:txBody>
                  <a:tcPr anchor="ctr">
                    <a:lnL w="0">
                      <a:noFill/>
                    </a:lnL>
                    <a:lnR w="0">
                      <a:noFill/>
                    </a:lnR>
                    <a:lnT w="6350">
                      <a:solidFill>
                        <a:srgbClr val="CFD5DD"/>
                      </a:solidFill>
                    </a:lnT>
                    <a:lnB w="6350">
                      <a:solidFill>
                        <a:srgbClr val="CFD5DD"/>
                      </a:solidFill>
                    </a:lnB>
                    <a:solidFill>
                      <a:srgbClr val="F6ECF5"/>
                    </a:solidFill>
                  </a:tcPr>
                </a:tc>
                <a:extLst>
                  <a:ext uri="{0D108BD9-81ED-4DB2-BD59-A6C34878D82A}">
                    <a16:rowId xmlns:a16="http://schemas.microsoft.com/office/drawing/2014/main" val="10004"/>
                  </a:ext>
                </a:extLst>
              </a:tr>
              <a:tr h="723900">
                <a:tc>
                  <a:txBody>
                    <a:bodyPr/>
                    <a:lstStyle/>
                    <a:p>
                      <a:pPr algn="ctr"/>
                      <a:r>
                        <a:rPr sz="1725" b="1">
                          <a:solidFill>
                            <a:srgbClr val="07182A"/>
                          </a:solidFill>
                          <a:latin typeface="CiscoSansTT Medium"/>
                          <a:ea typeface="CiscoSansTT Medium"/>
                          <a:cs typeface="CiscoSansTT Medium"/>
                        </a:rPr>
                        <a:t>E</a:t>
                      </a:r>
                    </a:p>
                    <a:p>
                      <a:pPr algn="ctr"/>
                      <a:r>
                        <a:rPr sz="1725" b="1">
                          <a:solidFill>
                            <a:srgbClr val="07182A"/>
                          </a:solidFill>
                          <a:latin typeface="CiscoSansTT Medium"/>
                          <a:ea typeface="CiscoSansTT Medium"/>
                          <a:cs typeface="CiscoSansTT Medium"/>
                        </a:rPr>
                        <a:t>Planned</a:t>
                      </a:r>
                    </a:p>
                  </a:txBody>
                  <a:tcPr anchor="ctr">
                    <a:lnL w="0">
                      <a:noFill/>
                    </a:lnL>
                    <a:lnR w="0">
                      <a:noFill/>
                    </a:lnR>
                    <a:lnT w="6350">
                      <a:solidFill>
                        <a:srgbClr val="CFD5DD"/>
                      </a:solidFill>
                    </a:lnT>
                    <a:lnB w="6350">
                      <a:solidFill>
                        <a:srgbClr val="CFD5DD"/>
                      </a:solidFill>
                    </a:lnB>
                    <a:solidFill>
                      <a:srgbClr val="FFFFFF"/>
                    </a:solidFill>
                  </a:tcPr>
                </a:tc>
                <a:tc>
                  <a:txBody>
                    <a:bodyPr/>
                    <a:lstStyle/>
                    <a:p>
                      <a:pPr algn="l"/>
                      <a:r>
                        <a:rPr sz="1725" b="0">
                          <a:solidFill>
                            <a:srgbClr val="07182A"/>
                          </a:solidFill>
                          <a:latin typeface="CiscoSansTT"/>
                          <a:ea typeface="CiscoSansTT"/>
                          <a:cs typeface="CiscoSansTT"/>
                        </a:rPr>
                        <a:t>Flows (L3/L4)</a:t>
                      </a:r>
                    </a:p>
                    <a:p>
                      <a:pPr algn="l"/>
                      <a:r>
                        <a:rPr sz="1725" b="0">
                          <a:solidFill>
                            <a:srgbClr val="07182A"/>
                          </a:solidFill>
                          <a:latin typeface="CiscoSansTT"/>
                          <a:ea typeface="CiscoSansTT"/>
                          <a:cs typeface="CiscoSansTT"/>
                        </a:rPr>
                        <a:t>+ L7 via Envoy</a:t>
                      </a:r>
                    </a:p>
                  </a:txBody>
                  <a:tcPr anchor="ctr">
                    <a:lnL w="0">
                      <a:noFill/>
                    </a:lnL>
                    <a:lnR w="0">
                      <a:noFill/>
                    </a:lnR>
                    <a:lnT w="6350">
                      <a:solidFill>
                        <a:srgbClr val="CFD5DD"/>
                      </a:solidFill>
                    </a:lnT>
                    <a:lnB w="6350">
                      <a:solidFill>
                        <a:srgbClr val="CFD5DD"/>
                      </a:solidFill>
                    </a:lnB>
                    <a:solidFill>
                      <a:srgbClr val="FFFFFF"/>
                    </a:solidFill>
                  </a:tcPr>
                </a:tc>
                <a:tc>
                  <a:txBody>
                    <a:bodyPr/>
                    <a:lstStyle/>
                    <a:p>
                      <a:pPr algn="l"/>
                      <a:r>
                        <a:rPr sz="1725" b="0" dirty="0">
                          <a:solidFill>
                            <a:srgbClr val="07182A"/>
                          </a:solidFill>
                          <a:latin typeface="CiscoSansTT"/>
                          <a:ea typeface="CiscoSansTT"/>
                          <a:cs typeface="CiscoSansTT"/>
                        </a:rPr>
                        <a:t>RED metrics + traces</a:t>
                      </a:r>
                    </a:p>
                    <a:p>
                      <a:pPr algn="l"/>
                      <a:r>
                        <a:rPr sz="1725" b="0" dirty="0">
                          <a:solidFill>
                            <a:srgbClr val="07182A"/>
                          </a:solidFill>
                          <a:latin typeface="CiscoSansTT"/>
                          <a:ea typeface="CiscoSansTT"/>
                          <a:cs typeface="CiscoSansTT"/>
                        </a:rPr>
                        <a:t>TCP context propagation</a:t>
                      </a:r>
                    </a:p>
                  </a:txBody>
                  <a:tcPr anchor="ctr">
                    <a:lnL w="0">
                      <a:noFill/>
                    </a:lnL>
                    <a:lnR w="0">
                      <a:noFill/>
                    </a:lnR>
                    <a:lnT w="6350">
                      <a:solidFill>
                        <a:srgbClr val="CFD5DD"/>
                      </a:solidFill>
                    </a:lnT>
                    <a:lnB w="6350">
                      <a:solidFill>
                        <a:srgbClr val="CFD5DD"/>
                      </a:solidFill>
                    </a:lnB>
                    <a:solidFill>
                      <a:srgbClr val="FFFFFF"/>
                    </a:solidFill>
                  </a:tcPr>
                </a:tc>
                <a:extLst>
                  <a:ext uri="{0D108BD9-81ED-4DB2-BD59-A6C34878D82A}">
                    <a16:rowId xmlns:a16="http://schemas.microsoft.com/office/drawing/2014/main" val="10005"/>
                  </a:ext>
                </a:extLst>
              </a:tr>
            </a:tbl>
          </a:graphicData>
        </a:graphic>
      </p:graphicFrame>
      <p:sp>
        <p:nvSpPr>
          <p:cNvPr id="22" name="scenario-controls">
            <a:extLst>
              <a:ext uri="{FF2B5EF4-FFF2-40B4-BE49-F238E27FC236}">
                <a16:creationId xmlns:a16="http://schemas.microsoft.com/office/drawing/2014/main" id="{213A8E4D-17B5-49BB-BEBF-5F432814CCC0}"/>
              </a:ext>
            </a:extLst>
          </p:cNvPr>
          <p:cNvSpPr>
            <a:spLocks noGrp="1"/>
          </p:cNvSpPr>
          <p:nvPr/>
        </p:nvSpPr>
        <p:spPr>
          <a:xfrm>
            <a:off x="762000" y="5934075"/>
            <a:ext cx="10668000" cy="400050"/>
          </a:xfrm>
          <a:prstGeom prst="rect">
            <a:avLst/>
          </a:prstGeom>
          <a:noFill/>
          <a:ln w="0">
            <a:noFill/>
          </a:ln>
        </p:spPr>
        <p:txBody>
          <a:bodyPr anchor="ctr">
            <a:noAutofit/>
          </a:bodyPr>
          <a:lstStyle>
            <a:defPPr algn="ctr">
              <a:defRPr sz="1800" b="1">
                <a:solidFill>
                  <a:srgbClr val="07182A"/>
                </a:solidFill>
                <a:latin typeface="CiscoSansTT Medium"/>
                <a:ea typeface="CiscoSansTT Medium"/>
                <a:cs typeface="CiscoSansTT Medium"/>
              </a:defRPr>
            </a:defPPr>
            <a:lvl1pPr algn="ctr">
              <a:defRPr sz="1800" b="1">
                <a:solidFill>
                  <a:srgbClr val="07182A"/>
                </a:solidFill>
                <a:latin typeface="CiscoSansTT Medium"/>
                <a:ea typeface="CiscoSansTT Medium"/>
                <a:cs typeface="CiscoSansTT Medium"/>
              </a:defRPr>
            </a:lvl1pPr>
            <a:lvl2pPr algn="ctr">
              <a:defRPr sz="1800" b="1">
                <a:solidFill>
                  <a:srgbClr val="07182A"/>
                </a:solidFill>
                <a:latin typeface="CiscoSansTT Medium"/>
                <a:ea typeface="CiscoSansTT Medium"/>
                <a:cs typeface="CiscoSansTT Medium"/>
              </a:defRPr>
            </a:lvl2pPr>
            <a:lvl3pPr algn="ctr">
              <a:defRPr sz="1800" b="1">
                <a:solidFill>
                  <a:srgbClr val="07182A"/>
                </a:solidFill>
                <a:latin typeface="CiscoSansTT Medium"/>
                <a:ea typeface="CiscoSansTT Medium"/>
                <a:cs typeface="CiscoSansTT Medium"/>
              </a:defRPr>
            </a:lvl3pPr>
            <a:lvl4pPr algn="ctr">
              <a:defRPr sz="1800" b="1">
                <a:solidFill>
                  <a:srgbClr val="07182A"/>
                </a:solidFill>
                <a:latin typeface="CiscoSansTT Medium"/>
                <a:ea typeface="CiscoSansTT Medium"/>
                <a:cs typeface="CiscoSansTT Medium"/>
              </a:defRPr>
            </a:lvl4pPr>
            <a:lvl5pPr algn="ctr">
              <a:defRPr sz="1800" b="1">
                <a:solidFill>
                  <a:srgbClr val="07182A"/>
                </a:solidFill>
                <a:latin typeface="CiscoSansTT Medium"/>
                <a:ea typeface="CiscoSansTT Medium"/>
                <a:cs typeface="CiscoSansTT Medium"/>
              </a:defRPr>
            </a:lvl5pPr>
            <a:lvl6pPr algn="ctr">
              <a:defRPr sz="1800" b="1">
                <a:solidFill>
                  <a:srgbClr val="07182A"/>
                </a:solidFill>
                <a:latin typeface="CiscoSansTT Medium"/>
                <a:ea typeface="CiscoSansTT Medium"/>
                <a:cs typeface="CiscoSansTT Medium"/>
              </a:defRPr>
            </a:lvl6pPr>
            <a:lvl7pPr algn="ctr">
              <a:defRPr sz="1800" b="1">
                <a:solidFill>
                  <a:srgbClr val="07182A"/>
                </a:solidFill>
                <a:latin typeface="CiscoSansTT Medium"/>
                <a:ea typeface="CiscoSansTT Medium"/>
                <a:cs typeface="CiscoSansTT Medium"/>
              </a:defRPr>
            </a:lvl7pPr>
            <a:lvl8pPr algn="ctr">
              <a:defRPr sz="1800" b="1">
                <a:solidFill>
                  <a:srgbClr val="07182A"/>
                </a:solidFill>
                <a:latin typeface="CiscoSansTT Medium"/>
                <a:ea typeface="CiscoSansTT Medium"/>
                <a:cs typeface="CiscoSansTT Medium"/>
              </a:defRPr>
            </a:lvl8pPr>
            <a:lvl9pPr algn="ctr">
              <a:defRPr sz="1800" b="1">
                <a:solidFill>
                  <a:srgbClr val="07182A"/>
                </a:solidFill>
                <a:latin typeface="CiscoSansTT Medium"/>
                <a:ea typeface="CiscoSansTT Medium"/>
                <a:cs typeface="CiscoSansTT Medium"/>
              </a:defRPr>
            </a:lvl9pPr>
          </a:lstStyle>
          <a:p>
            <a:pPr algn="ctr">
              <a:defRPr sz="1800" b="1">
                <a:solidFill>
                  <a:srgbClr val="07182A"/>
                </a:solidFill>
                <a:latin typeface="CiscoSansTT Medium"/>
                <a:ea typeface="CiscoSansTT Medium"/>
                <a:cs typeface="CiscoSansTT Medium"/>
              </a:defRPr>
            </a:pPr>
            <a:r>
              <a:rPr sz="1800" b="1">
                <a:solidFill>
                  <a:srgbClr val="07182A"/>
                </a:solidFill>
                <a:latin typeface="CiscoSansTT Medium"/>
                <a:ea typeface="CiscoSansTT Medium"/>
                <a:cs typeface="CiscoSansTT Medium"/>
              </a:rPr>
              <a:t>Same Cilium cluster, route, load, placement and backend</a:t>
            </a:r>
          </a:p>
        </p:txBody>
      </p:sp>
    </p:spTree>
    <p:extLst>
      <p:ext uri="{BB962C8B-B14F-4D97-AF65-F5344CB8AC3E}">
        <p14:creationId xmlns:p14="http://schemas.microsoft.com/office/powerpoint/2010/main" val="61737127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title">
            <a:extLst>
              <a:ext uri="{FF2B5EF4-FFF2-40B4-BE49-F238E27FC236}">
                <a16:creationId xmlns:a16="http://schemas.microsoft.com/office/drawing/2014/main" id="{43AEE9E5-8F08-4B77-B756-AC329ED94EAF}"/>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B versus D: measured rehearsal results</a:t>
            </a:r>
          </a:p>
        </p:txBody>
      </p:sp>
      <p:sp>
        <p:nvSpPr>
          <p:cNvPr id="20" name="Rectangle 19">
            <a:extLst>
              <a:ext uri="{FF2B5EF4-FFF2-40B4-BE49-F238E27FC236}">
                <a16:creationId xmlns:a16="http://schemas.microsoft.com/office/drawing/2014/main" id="{6E890BCB-BEDF-4A21-BC9C-E03C004765D8}"/>
              </a:ext>
            </a:extLst>
          </p:cNvPr>
          <p:cNvSpPr>
            <a:spLocks noGrp="1"/>
          </p:cNvSpPr>
          <p:nvPr/>
        </p:nvSpPr>
        <p:spPr>
          <a:xfrm>
            <a:off x="762000" y="1219200"/>
            <a:ext cx="10668000" cy="400050"/>
          </a:xfrm>
          <a:prstGeom prst="rect">
            <a:avLst/>
          </a:prstGeom>
          <a:noFill/>
          <a:ln w="0">
            <a:noFill/>
          </a:ln>
        </p:spPr>
        <p:txBody>
          <a:bodyPr anchor="ctr">
            <a:noAutofit/>
          </a:bodyPr>
          <a:lstStyle>
            <a:defPPr algn="l">
              <a:defRPr sz="1875" b="0">
                <a:solidFill>
                  <a:srgbClr val="686B6B"/>
                </a:solidFill>
                <a:latin typeface="CiscoSansTT"/>
                <a:ea typeface="CiscoSansTT"/>
                <a:cs typeface="CiscoSansTT"/>
              </a:defRPr>
            </a:defPPr>
            <a:lvl1pPr algn="l">
              <a:defRPr sz="1875" b="0">
                <a:solidFill>
                  <a:srgbClr val="686B6B"/>
                </a:solidFill>
                <a:latin typeface="CiscoSansTT"/>
                <a:ea typeface="CiscoSansTT"/>
                <a:cs typeface="CiscoSansTT"/>
              </a:defRPr>
            </a:lvl1pPr>
            <a:lvl2pPr algn="l">
              <a:defRPr sz="1875" b="0">
                <a:solidFill>
                  <a:srgbClr val="686B6B"/>
                </a:solidFill>
                <a:latin typeface="CiscoSansTT"/>
                <a:ea typeface="CiscoSansTT"/>
                <a:cs typeface="CiscoSansTT"/>
              </a:defRPr>
            </a:lvl2pPr>
            <a:lvl3pPr algn="l">
              <a:defRPr sz="1875" b="0">
                <a:solidFill>
                  <a:srgbClr val="686B6B"/>
                </a:solidFill>
                <a:latin typeface="CiscoSansTT"/>
                <a:ea typeface="CiscoSansTT"/>
                <a:cs typeface="CiscoSansTT"/>
              </a:defRPr>
            </a:lvl3pPr>
            <a:lvl4pPr algn="l">
              <a:defRPr sz="1875" b="0">
                <a:solidFill>
                  <a:srgbClr val="686B6B"/>
                </a:solidFill>
                <a:latin typeface="CiscoSansTT"/>
                <a:ea typeface="CiscoSansTT"/>
                <a:cs typeface="CiscoSansTT"/>
              </a:defRPr>
            </a:lvl4pPr>
            <a:lvl5pPr algn="l">
              <a:defRPr sz="1875" b="0">
                <a:solidFill>
                  <a:srgbClr val="686B6B"/>
                </a:solidFill>
                <a:latin typeface="CiscoSansTT"/>
                <a:ea typeface="CiscoSansTT"/>
                <a:cs typeface="CiscoSansTT"/>
              </a:defRPr>
            </a:lvl5pPr>
            <a:lvl6pPr algn="l">
              <a:defRPr sz="1875" b="0">
                <a:solidFill>
                  <a:srgbClr val="686B6B"/>
                </a:solidFill>
                <a:latin typeface="CiscoSansTT"/>
                <a:ea typeface="CiscoSansTT"/>
                <a:cs typeface="CiscoSansTT"/>
              </a:defRPr>
            </a:lvl6pPr>
            <a:lvl7pPr algn="l">
              <a:defRPr sz="1875" b="0">
                <a:solidFill>
                  <a:srgbClr val="686B6B"/>
                </a:solidFill>
                <a:latin typeface="CiscoSansTT"/>
                <a:ea typeface="CiscoSansTT"/>
                <a:cs typeface="CiscoSansTT"/>
              </a:defRPr>
            </a:lvl7pPr>
            <a:lvl8pPr algn="l">
              <a:defRPr sz="1875" b="0">
                <a:solidFill>
                  <a:srgbClr val="686B6B"/>
                </a:solidFill>
                <a:latin typeface="CiscoSansTT"/>
                <a:ea typeface="CiscoSansTT"/>
                <a:cs typeface="CiscoSansTT"/>
              </a:defRPr>
            </a:lvl8pPr>
            <a:lvl9pPr algn="l">
              <a:defRPr sz="1875" b="0">
                <a:solidFill>
                  <a:srgbClr val="686B6B"/>
                </a:solidFill>
                <a:latin typeface="CiscoSansTT"/>
                <a:ea typeface="CiscoSansTT"/>
                <a:cs typeface="CiscoSansTT"/>
              </a:defRPr>
            </a:lvl9pPr>
          </a:lstStyle>
          <a:p>
            <a:pPr algn="l">
              <a:buNone/>
              <a:defRPr sz="1875" b="0">
                <a:solidFill>
                  <a:srgbClr val="686B6B"/>
                </a:solidFill>
                <a:latin typeface="CiscoSansTT"/>
                <a:ea typeface="CiscoSansTT"/>
                <a:cs typeface="CiscoSansTT"/>
              </a:defRPr>
            </a:pPr>
            <a:r>
              <a:rPr sz="1875" b="0" dirty="0">
                <a:solidFill>
                  <a:srgbClr val="686B6B"/>
                </a:solidFill>
                <a:latin typeface="CiscoSansTT"/>
                <a:ea typeface="CiscoSansTT"/>
                <a:cs typeface="CiscoSansTT"/>
              </a:rPr>
              <a:t>Same cluster, route and load. B ran before D.</a:t>
            </a:r>
          </a:p>
        </p:txBody>
      </p:sp>
      <p:graphicFrame>
        <p:nvGraphicFramePr>
          <p:cNvPr id="26" name="Table 25">
            <a:extLst>
              <a:ext uri="{FF2B5EF4-FFF2-40B4-BE49-F238E27FC236}">
                <a16:creationId xmlns:a16="http://schemas.microsoft.com/office/drawing/2014/main" id="{5F6B783C-A950-4497-A579-B6230CCFE40D}"/>
              </a:ext>
            </a:extLst>
          </p:cNvPr>
          <p:cNvGraphicFramePr/>
          <p:nvPr/>
        </p:nvGraphicFramePr>
        <p:xfrm>
          <a:off x="762000" y="1847850"/>
          <a:ext cx="10668000" cy="3200400"/>
        </p:xfrm>
        <a:graphic>
          <a:graphicData uri="http://schemas.openxmlformats.org/drawingml/2006/table">
            <a:tbl>
              <a:tblPr/>
              <a:tblGrid>
                <a:gridCol w="34290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533400">
                <a:tc>
                  <a:txBody>
                    <a:bodyPr/>
                    <a:lstStyle/>
                    <a:p>
                      <a:r>
                        <a:rPr sz="1575" b="1">
                          <a:solidFill>
                            <a:srgbClr val="07182A"/>
                          </a:solidFill>
                          <a:latin typeface="CiscoSansTT Medium"/>
                          <a:ea typeface="CiscoSansTT Medium"/>
                          <a:cs typeface="CiscoSansTT Medium"/>
                        </a:rPr>
                        <a:t>Metric</a:t>
                      </a:r>
                    </a:p>
                  </a:txBody>
                  <a:tcPr>
                    <a:lnL w="0">
                      <a:noFill/>
                    </a:lnL>
                    <a:lnR w="0">
                      <a:noFill/>
                    </a:lnR>
                    <a:lnT w="6350">
                      <a:solidFill>
                        <a:srgbClr val="D6DDE3"/>
                      </a:solidFill>
                    </a:lnT>
                    <a:lnB w="6350">
                      <a:solidFill>
                        <a:srgbClr val="D6DDE3"/>
                      </a:solidFill>
                    </a:lnB>
                    <a:solidFill>
                      <a:srgbClr val="FFFFFF"/>
                    </a:solidFill>
                  </a:tcPr>
                </a:tc>
                <a:tc>
                  <a:txBody>
                    <a:bodyPr/>
                    <a:lstStyle/>
                    <a:p>
                      <a:r>
                        <a:rPr sz="1575" b="1">
                          <a:solidFill>
                            <a:srgbClr val="0860FE"/>
                          </a:solidFill>
                          <a:latin typeface="CiscoSansTT Medium"/>
                          <a:ea typeface="CiscoSansTT Medium"/>
                          <a:cs typeface="CiscoSansTT Medium"/>
                        </a:rPr>
                        <a:t>B: OBI off</a:t>
                      </a:r>
                    </a:p>
                  </a:txBody>
                  <a:tcPr>
                    <a:lnL w="0">
                      <a:noFill/>
                    </a:lnL>
                    <a:lnR w="0">
                      <a:noFill/>
                    </a:lnR>
                    <a:lnT w="6350">
                      <a:solidFill>
                        <a:srgbClr val="D6DDE3"/>
                      </a:solidFill>
                    </a:lnT>
                    <a:lnB w="6350">
                      <a:solidFill>
                        <a:srgbClr val="D6DDE3"/>
                      </a:solidFill>
                    </a:lnB>
                    <a:solidFill>
                      <a:srgbClr val="FFFFFF"/>
                    </a:solidFill>
                  </a:tcPr>
                </a:tc>
                <a:tc>
                  <a:txBody>
                    <a:bodyPr/>
                    <a:lstStyle/>
                    <a:p>
                      <a:r>
                        <a:rPr sz="1575" b="1">
                          <a:solidFill>
                            <a:srgbClr val="FF007F"/>
                          </a:solidFill>
                          <a:latin typeface="CiscoSansTT Medium"/>
                          <a:ea typeface="CiscoSansTT Medium"/>
                          <a:cs typeface="CiscoSansTT Medium"/>
                        </a:rPr>
                        <a:t>D: OBI on</a:t>
                      </a:r>
                    </a:p>
                  </a:txBody>
                  <a:tcPr>
                    <a:lnL w="0">
                      <a:noFill/>
                    </a:lnL>
                    <a:lnR w="0">
                      <a:noFill/>
                    </a:lnR>
                    <a:lnT w="6350">
                      <a:solidFill>
                        <a:srgbClr val="D6DDE3"/>
                      </a:solidFill>
                    </a:lnT>
                    <a:lnB w="6350">
                      <a:solidFill>
                        <a:srgbClr val="D6DDE3"/>
                      </a:solidFill>
                    </a:lnB>
                    <a:solidFill>
                      <a:srgbClr val="FFFFFF"/>
                    </a:solidFill>
                  </a:tcPr>
                </a:tc>
                <a:tc>
                  <a:txBody>
                    <a:bodyPr/>
                    <a:lstStyle/>
                    <a:p>
                      <a:r>
                        <a:rPr sz="1575" b="1">
                          <a:solidFill>
                            <a:srgbClr val="07182A"/>
                          </a:solidFill>
                          <a:latin typeface="CiscoSansTT Medium"/>
                          <a:ea typeface="CiscoSansTT Medium"/>
                          <a:cs typeface="CiscoSansTT Medium"/>
                        </a:rPr>
                        <a:t>Change</a:t>
                      </a:r>
                    </a:p>
                  </a:txBody>
                  <a:tcPr>
                    <a:lnL w="0">
                      <a:noFill/>
                    </a:lnL>
                    <a:lnR w="0">
                      <a:noFill/>
                    </a:lnR>
                    <a:lnT w="6350">
                      <a:solidFill>
                        <a:srgbClr val="D6DDE3"/>
                      </a:solidFill>
                    </a:lnT>
                    <a:lnB w="6350">
                      <a:solidFill>
                        <a:srgbClr val="D6DDE3"/>
                      </a:solidFill>
                    </a:lnB>
                    <a:solidFill>
                      <a:srgbClr val="FFFFFF"/>
                    </a:solidFill>
                  </a:tcPr>
                </a:tc>
                <a:extLst>
                  <a:ext uri="{0D108BD9-81ED-4DB2-BD59-A6C34878D82A}">
                    <a16:rowId xmlns:a16="http://schemas.microsoft.com/office/drawing/2014/main" val="10000"/>
                  </a:ext>
                </a:extLst>
              </a:tr>
              <a:tr h="533400">
                <a:tc>
                  <a:txBody>
                    <a:bodyPr/>
                    <a:lstStyle/>
                    <a:p>
                      <a:r>
                        <a:rPr sz="1650" b="0">
                          <a:solidFill>
                            <a:srgbClr val="07182A"/>
                          </a:solidFill>
                          <a:latin typeface="CiscoSansTT"/>
                          <a:ea typeface="CiscoSansTT"/>
                          <a:cs typeface="CiscoSansTT"/>
                        </a:rPr>
                        <a:t>Throughput (median)</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19.77 req/s</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19.73 req/s</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−0.2%</a:t>
                      </a:r>
                    </a:p>
                  </a:txBody>
                  <a:tcPr>
                    <a:lnL w="0">
                      <a:noFill/>
                    </a:lnL>
                    <a:lnR w="0">
                      <a:noFill/>
                    </a:lnR>
                    <a:lnT w="6350">
                      <a:solidFill>
                        <a:srgbClr val="D6DDE3"/>
                      </a:solidFill>
                    </a:lnT>
                    <a:lnB w="6350">
                      <a:solidFill>
                        <a:srgbClr val="D6DDE3"/>
                      </a:solidFill>
                    </a:lnB>
                    <a:solidFill>
                      <a:srgbClr val="FFFFFF"/>
                    </a:solidFill>
                  </a:tcPr>
                </a:tc>
                <a:extLst>
                  <a:ext uri="{0D108BD9-81ED-4DB2-BD59-A6C34878D82A}">
                    <a16:rowId xmlns:a16="http://schemas.microsoft.com/office/drawing/2014/main" val="10001"/>
                  </a:ext>
                </a:extLst>
              </a:tr>
              <a:tr h="533400">
                <a:tc>
                  <a:txBody>
                    <a:bodyPr/>
                    <a:lstStyle/>
                    <a:p>
                      <a:r>
                        <a:rPr sz="1650" b="0">
                          <a:solidFill>
                            <a:srgbClr val="07182A"/>
                          </a:solidFill>
                          <a:latin typeface="CiscoSansTT"/>
                          <a:ea typeface="CiscoSansTT"/>
                          <a:cs typeface="CiscoSansTT"/>
                        </a:rPr>
                        <a:t>p95 latency (median)</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1,018 ms</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1,020 ms</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+2 ms</a:t>
                      </a:r>
                    </a:p>
                  </a:txBody>
                  <a:tcPr>
                    <a:lnL w="0">
                      <a:noFill/>
                    </a:lnL>
                    <a:lnR w="0">
                      <a:noFill/>
                    </a:lnR>
                    <a:lnT w="6350">
                      <a:solidFill>
                        <a:srgbClr val="D6DDE3"/>
                      </a:solidFill>
                    </a:lnT>
                    <a:lnB w="6350">
                      <a:solidFill>
                        <a:srgbClr val="D6DDE3"/>
                      </a:solidFill>
                    </a:lnB>
                    <a:solidFill>
                      <a:srgbClr val="FFFFFF"/>
                    </a:solidFill>
                  </a:tcPr>
                </a:tc>
                <a:extLst>
                  <a:ext uri="{0D108BD9-81ED-4DB2-BD59-A6C34878D82A}">
                    <a16:rowId xmlns:a16="http://schemas.microsoft.com/office/drawing/2014/main" val="10002"/>
                  </a:ext>
                </a:extLst>
              </a:tr>
              <a:tr h="533400">
                <a:tc>
                  <a:txBody>
                    <a:bodyPr/>
                    <a:lstStyle/>
                    <a:p>
                      <a:r>
                        <a:rPr sz="1650" b="0">
                          <a:solidFill>
                            <a:srgbClr val="07182A"/>
                          </a:solidFill>
                          <a:latin typeface="CiscoSansTT"/>
                          <a:ea typeface="CiscoSansTT"/>
                          <a:cs typeface="CiscoSansTT"/>
                        </a:rPr>
                        <a:t>Failed requests</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0 / 1,000</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0 / 1,000</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No change</a:t>
                      </a:r>
                    </a:p>
                  </a:txBody>
                  <a:tcPr>
                    <a:lnL w="0">
                      <a:noFill/>
                    </a:lnL>
                    <a:lnR w="0">
                      <a:noFill/>
                    </a:lnR>
                    <a:lnT w="6350">
                      <a:solidFill>
                        <a:srgbClr val="D6DDE3"/>
                      </a:solidFill>
                    </a:lnT>
                    <a:lnB w="6350">
                      <a:solidFill>
                        <a:srgbClr val="D6DDE3"/>
                      </a:solidFill>
                    </a:lnB>
                    <a:solidFill>
                      <a:srgbClr val="FFFFFF"/>
                    </a:solidFill>
                  </a:tcPr>
                </a:tc>
                <a:extLst>
                  <a:ext uri="{0D108BD9-81ED-4DB2-BD59-A6C34878D82A}">
                    <a16:rowId xmlns:a16="http://schemas.microsoft.com/office/drawing/2014/main" val="10003"/>
                  </a:ext>
                </a:extLst>
              </a:tr>
              <a:tr h="533400">
                <a:tc>
                  <a:txBody>
                    <a:bodyPr/>
                    <a:lstStyle/>
                    <a:p>
                      <a:r>
                        <a:rPr sz="1650" b="0">
                          <a:solidFill>
                            <a:srgbClr val="07182A"/>
                          </a:solidFill>
                          <a:latin typeface="CiscoSansTT"/>
                          <a:ea typeface="CiscoSansTT"/>
                          <a:cs typeface="CiscoSansTT"/>
                        </a:rPr>
                        <a:t>OBI CPU (median)</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0</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0.013 cores</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Added</a:t>
                      </a:r>
                    </a:p>
                  </a:txBody>
                  <a:tcPr>
                    <a:lnL w="0">
                      <a:noFill/>
                    </a:lnL>
                    <a:lnR w="0">
                      <a:noFill/>
                    </a:lnR>
                    <a:lnT w="6350">
                      <a:solidFill>
                        <a:srgbClr val="D6DDE3"/>
                      </a:solidFill>
                    </a:lnT>
                    <a:lnB w="6350">
                      <a:solidFill>
                        <a:srgbClr val="D6DDE3"/>
                      </a:solidFill>
                    </a:lnB>
                    <a:solidFill>
                      <a:srgbClr val="FFFFFF"/>
                    </a:solidFill>
                  </a:tcPr>
                </a:tc>
                <a:extLst>
                  <a:ext uri="{0D108BD9-81ED-4DB2-BD59-A6C34878D82A}">
                    <a16:rowId xmlns:a16="http://schemas.microsoft.com/office/drawing/2014/main" val="10004"/>
                  </a:ext>
                </a:extLst>
              </a:tr>
              <a:tr h="533400">
                <a:tc>
                  <a:txBody>
                    <a:bodyPr/>
                    <a:lstStyle/>
                    <a:p>
                      <a:r>
                        <a:rPr sz="1650" b="0">
                          <a:solidFill>
                            <a:srgbClr val="07182A"/>
                          </a:solidFill>
                          <a:latin typeface="CiscoSansTT"/>
                          <a:ea typeface="CiscoSansTT"/>
                          <a:cs typeface="CiscoSansTT"/>
                        </a:rPr>
                        <a:t>OBI working set (median)</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0</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253 MiB</a:t>
                      </a:r>
                    </a:p>
                  </a:txBody>
                  <a:tcPr>
                    <a:lnL w="0">
                      <a:noFill/>
                    </a:lnL>
                    <a:lnR w="0">
                      <a:noFill/>
                    </a:lnR>
                    <a:lnT w="6350">
                      <a:solidFill>
                        <a:srgbClr val="D6DDE3"/>
                      </a:solidFill>
                    </a:lnT>
                    <a:lnB w="6350">
                      <a:solidFill>
                        <a:srgbClr val="D6DDE3"/>
                      </a:solidFill>
                    </a:lnB>
                    <a:solidFill>
                      <a:srgbClr val="FFFFFF"/>
                    </a:solidFill>
                  </a:tcPr>
                </a:tc>
                <a:tc>
                  <a:txBody>
                    <a:bodyPr/>
                    <a:lstStyle/>
                    <a:p>
                      <a:r>
                        <a:rPr sz="1650" b="0">
                          <a:solidFill>
                            <a:srgbClr val="07182A"/>
                          </a:solidFill>
                          <a:latin typeface="CiscoSansTT"/>
                          <a:ea typeface="CiscoSansTT"/>
                          <a:cs typeface="CiscoSansTT"/>
                        </a:rPr>
                        <a:t>Added</a:t>
                      </a:r>
                    </a:p>
                  </a:txBody>
                  <a:tcPr>
                    <a:lnL w="0">
                      <a:noFill/>
                    </a:lnL>
                    <a:lnR w="0">
                      <a:noFill/>
                    </a:lnR>
                    <a:lnT w="6350">
                      <a:solidFill>
                        <a:srgbClr val="D6DDE3"/>
                      </a:solidFill>
                    </a:lnT>
                    <a:lnB w="6350">
                      <a:solidFill>
                        <a:srgbClr val="D6DDE3"/>
                      </a:solidFill>
                    </a:lnB>
                    <a:solidFill>
                      <a:srgbClr val="FFFFFF"/>
                    </a:solidFill>
                  </a:tcPr>
                </a:tc>
                <a:extLst>
                  <a:ext uri="{0D108BD9-81ED-4DB2-BD59-A6C34878D82A}">
                    <a16:rowId xmlns:a16="http://schemas.microsoft.com/office/drawing/2014/main" val="10005"/>
                  </a:ext>
                </a:extLst>
              </a:tr>
            </a:tbl>
          </a:graphicData>
        </a:graphic>
      </p:graphicFrame>
      <p:sp>
        <p:nvSpPr>
          <p:cNvPr id="22" name="Rectangle 21">
            <a:extLst>
              <a:ext uri="{FF2B5EF4-FFF2-40B4-BE49-F238E27FC236}">
                <a16:creationId xmlns:a16="http://schemas.microsoft.com/office/drawing/2014/main" id="{7E4A5844-4C7E-4BBD-A8D9-FF29BB2E0634}"/>
              </a:ext>
            </a:extLst>
          </p:cNvPr>
          <p:cNvSpPr>
            <a:spLocks noGrp="1"/>
          </p:cNvSpPr>
          <p:nvPr/>
        </p:nvSpPr>
        <p:spPr>
          <a:xfrm>
            <a:off x="762000" y="5238750"/>
            <a:ext cx="10668000" cy="400050"/>
          </a:xfrm>
          <a:prstGeom prst="rect">
            <a:avLst/>
          </a:prstGeom>
          <a:noFill/>
          <a:ln w="0">
            <a:noFill/>
          </a:ln>
        </p:spPr>
        <p:txBody>
          <a:bodyPr anchor="ctr">
            <a:noAutofit/>
          </a:bodyPr>
          <a:lstStyle/>
          <a:p>
            <a:pPr algn="l">
              <a:buNone/>
              <a:defRPr sz="1725" b="1">
                <a:solidFill>
                  <a:srgbClr val="07182A"/>
                </a:solidFill>
                <a:latin typeface="CiscoSansTT Medium"/>
                <a:ea typeface="CiscoSansTT Medium"/>
                <a:cs typeface="CiscoSansTT Medium"/>
              </a:defRPr>
            </a:pPr>
            <a:r>
              <a:rPr sz="1725" b="1" dirty="0">
                <a:solidFill>
                  <a:srgbClr val="07182A"/>
                </a:solidFill>
                <a:latin typeface="CiscoSansTT Medium"/>
                <a:ea typeface="CiscoSansTT Medium"/>
                <a:cs typeface="CiscoSansTT Medium"/>
              </a:rPr>
              <a:t>D exported 7,210 spans.</a:t>
            </a:r>
          </a:p>
        </p:txBody>
      </p:sp>
      <p:grpSp>
        <p:nvGrpSpPr>
          <p:cNvPr id="29" name="Minimal p95 increase"/>
          <p:cNvGrpSpPr/>
          <p:nvPr/>
        </p:nvGrpSpPr>
        <p:grpSpPr>
          <a:xfrm>
            <a:off x="0" y="0"/>
            <a:ext cx="12192000" cy="6858000"/>
            <a:chOff x="0" y="0"/>
            <a:chExt cx="12192000" cy="6858000"/>
          </a:xfrm>
        </p:grpSpPr>
        <p:sp>
          <p:nvSpPr>
            <p:cNvPr id="27" name="p95-increase-highlight">
              <a:extLst>
                <a:ext uri="{FF2B5EF4-FFF2-40B4-BE49-F238E27FC236}">
                  <a16:creationId xmlns:a16="http://schemas.microsoft.com/office/drawing/2014/main" id="{06C80578-2799-413E-87E0-18889254E406}"/>
                </a:ext>
              </a:extLst>
            </p:cNvPr>
            <p:cNvSpPr>
              <a:spLocks noGrp="1"/>
            </p:cNvSpPr>
            <p:nvPr/>
          </p:nvSpPr>
          <p:spPr>
            <a:xfrm>
              <a:off x="9096375" y="2952750"/>
              <a:ext cx="2190750" cy="438150"/>
            </a:xfrm>
            <a:prstGeom prst="rect">
              <a:avLst/>
            </a:prstGeom>
            <a:noFill/>
            <a:ln w="25718">
              <a:solidFill>
                <a:srgbClr val="FF007F"/>
              </a:solidFill>
            </a:ln>
          </p:spPr>
          <p:txBody>
            <a:bodyPr/>
            <a:lstStyle/>
            <a:p>
              <a:endParaRPr lang="en-ES"/>
            </a:p>
          </p:txBody>
        </p:sp>
        <p:sp>
          <p:nvSpPr>
            <p:cNvPr id="28" name="minimal-increase-caption">
              <a:extLst>
                <a:ext uri="{FF2B5EF4-FFF2-40B4-BE49-F238E27FC236}">
                  <a16:creationId xmlns:a16="http://schemas.microsoft.com/office/drawing/2014/main" id="{5BF6F799-7CEC-42B6-9C9D-C69CC308E901}"/>
                </a:ext>
              </a:extLst>
            </p:cNvPr>
            <p:cNvSpPr>
              <a:spLocks noGrp="1"/>
            </p:cNvSpPr>
            <p:nvPr/>
          </p:nvSpPr>
          <p:spPr>
            <a:xfrm>
              <a:off x="762000" y="5762625"/>
              <a:ext cx="10668000" cy="428625"/>
            </a:xfrm>
            <a:prstGeom prst="rect">
              <a:avLst/>
            </a:prstGeom>
            <a:noFill/>
            <a:ln w="0">
              <a:noFill/>
            </a:ln>
          </p:spPr>
          <p:txBody>
            <a:bodyPr anchor="ctr">
              <a:noAutofit/>
            </a:bodyPr>
            <a:lstStyle>
              <a:defPPr algn="ctr">
                <a:defRPr sz="1950" b="1">
                  <a:solidFill>
                    <a:srgbClr val="FF007F"/>
                  </a:solidFill>
                  <a:latin typeface="CiscoSansTT Medium"/>
                  <a:ea typeface="CiscoSansTT Medium"/>
                  <a:cs typeface="CiscoSansTT Medium"/>
                </a:defRPr>
              </a:defPPr>
              <a:lvl1pPr algn="ctr">
                <a:defRPr sz="1950" b="1">
                  <a:solidFill>
                    <a:srgbClr val="FF007F"/>
                  </a:solidFill>
                  <a:latin typeface="CiscoSansTT Medium"/>
                  <a:ea typeface="CiscoSansTT Medium"/>
                  <a:cs typeface="CiscoSansTT Medium"/>
                </a:defRPr>
              </a:lvl1pPr>
              <a:lvl2pPr algn="ctr">
                <a:defRPr sz="1950" b="1">
                  <a:solidFill>
                    <a:srgbClr val="FF007F"/>
                  </a:solidFill>
                  <a:latin typeface="CiscoSansTT Medium"/>
                  <a:ea typeface="CiscoSansTT Medium"/>
                  <a:cs typeface="CiscoSansTT Medium"/>
                </a:defRPr>
              </a:lvl2pPr>
              <a:lvl3pPr algn="ctr">
                <a:defRPr sz="1950" b="1">
                  <a:solidFill>
                    <a:srgbClr val="FF007F"/>
                  </a:solidFill>
                  <a:latin typeface="CiscoSansTT Medium"/>
                  <a:ea typeface="CiscoSansTT Medium"/>
                  <a:cs typeface="CiscoSansTT Medium"/>
                </a:defRPr>
              </a:lvl3pPr>
              <a:lvl4pPr algn="ctr">
                <a:defRPr sz="1950" b="1">
                  <a:solidFill>
                    <a:srgbClr val="FF007F"/>
                  </a:solidFill>
                  <a:latin typeface="CiscoSansTT Medium"/>
                  <a:ea typeface="CiscoSansTT Medium"/>
                  <a:cs typeface="CiscoSansTT Medium"/>
                </a:defRPr>
              </a:lvl4pPr>
              <a:lvl5pPr algn="ctr">
                <a:defRPr sz="1950" b="1">
                  <a:solidFill>
                    <a:srgbClr val="FF007F"/>
                  </a:solidFill>
                  <a:latin typeface="CiscoSansTT Medium"/>
                  <a:ea typeface="CiscoSansTT Medium"/>
                  <a:cs typeface="CiscoSansTT Medium"/>
                </a:defRPr>
              </a:lvl5pPr>
              <a:lvl6pPr algn="ctr">
                <a:defRPr sz="1950" b="1">
                  <a:solidFill>
                    <a:srgbClr val="FF007F"/>
                  </a:solidFill>
                  <a:latin typeface="CiscoSansTT Medium"/>
                  <a:ea typeface="CiscoSansTT Medium"/>
                  <a:cs typeface="CiscoSansTT Medium"/>
                </a:defRPr>
              </a:lvl6pPr>
              <a:lvl7pPr algn="ctr">
                <a:defRPr sz="1950" b="1">
                  <a:solidFill>
                    <a:srgbClr val="FF007F"/>
                  </a:solidFill>
                  <a:latin typeface="CiscoSansTT Medium"/>
                  <a:ea typeface="CiscoSansTT Medium"/>
                  <a:cs typeface="CiscoSansTT Medium"/>
                </a:defRPr>
              </a:lvl7pPr>
              <a:lvl8pPr algn="ctr">
                <a:defRPr sz="1950" b="1">
                  <a:solidFill>
                    <a:srgbClr val="FF007F"/>
                  </a:solidFill>
                  <a:latin typeface="CiscoSansTT Medium"/>
                  <a:ea typeface="CiscoSansTT Medium"/>
                  <a:cs typeface="CiscoSansTT Medium"/>
                </a:defRPr>
              </a:lvl8pPr>
              <a:lvl9pPr algn="ctr">
                <a:defRPr sz="1950" b="1">
                  <a:solidFill>
                    <a:srgbClr val="FF007F"/>
                  </a:solidFill>
                  <a:latin typeface="CiscoSansTT Medium"/>
                  <a:ea typeface="CiscoSansTT Medium"/>
                  <a:cs typeface="CiscoSansTT Medium"/>
                </a:defRPr>
              </a:lvl9pPr>
            </a:lstStyle>
            <a:p>
              <a:pPr algn="ctr">
                <a:defRPr sz="1950" b="1">
                  <a:solidFill>
                    <a:srgbClr val="FF007F"/>
                  </a:solidFill>
                  <a:latin typeface="CiscoSansTT Medium"/>
                  <a:ea typeface="CiscoSansTT Medium"/>
                  <a:cs typeface="CiscoSansTT Medium"/>
                </a:defRPr>
              </a:pPr>
              <a:r>
                <a:rPr sz="1950" b="1">
                  <a:solidFill>
                    <a:srgbClr val="FF007F"/>
                  </a:solidFill>
                  <a:latin typeface="CiscoSansTT Medium"/>
                  <a:ea typeface="CiscoSansTT Medium"/>
                  <a:cs typeface="CiscoSansTT Medium"/>
                </a:rPr>
                <a:t>Minimal p95 increase in this rehearsal: +2 ms (about +0.2%)</a:t>
              </a:r>
            </a:p>
          </p:txBody>
        </p:sp>
      </p:grpSp>
    </p:spTree>
    <p:extLst>
      <p:ext uri="{BB962C8B-B14F-4D97-AF65-F5344CB8AC3E}">
        <p14:creationId xmlns:p14="http://schemas.microsoft.com/office/powerpoint/2010/main" val="6173712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title">
            <a:extLst>
              <a:ext uri="{FF2B5EF4-FFF2-40B4-BE49-F238E27FC236}">
                <a16:creationId xmlns:a16="http://schemas.microsoft.com/office/drawing/2014/main" id="{2CE621AC-689C-42C7-AF0D-CE910FEEF15A}"/>
              </a:ext>
            </a:extLst>
          </p:cNvPr>
          <p:cNvSpPr>
            <a:spLocks noGrp="1"/>
          </p:cNvSpPr>
          <p:nvPr/>
        </p:nvSpPr>
        <p:spPr>
          <a:xfrm>
            <a:off x="323850" y="228600"/>
            <a:ext cx="11049000" cy="685800"/>
          </a:xfrm>
          <a:prstGeom prst="rect">
            <a:avLst/>
          </a:prstGeom>
          <a:noFill/>
          <a:ln w="0">
            <a:noFill/>
          </a:ln>
        </p:spPr>
        <p:txBody>
          <a:bodyPr anchor="ctr">
            <a:noAutofit/>
          </a:bodyPr>
          <a:lstStyle>
            <a:defPPr algn="l">
              <a:defRPr sz="3000" b="1">
                <a:solidFill>
                  <a:srgbClr val="07182A"/>
                </a:solidFill>
                <a:latin typeface="CiscoSansTT Medium"/>
                <a:ea typeface="CiscoSansTT Medium"/>
                <a:cs typeface="CiscoSansTT Medium"/>
              </a:defRPr>
            </a:defPPr>
            <a:lvl1pPr algn="l">
              <a:defRPr sz="3000" b="1">
                <a:solidFill>
                  <a:srgbClr val="07182A"/>
                </a:solidFill>
                <a:latin typeface="CiscoSansTT Medium"/>
                <a:ea typeface="CiscoSansTT Medium"/>
                <a:cs typeface="CiscoSansTT Medium"/>
              </a:defRPr>
            </a:lvl1pPr>
            <a:lvl2pPr algn="l">
              <a:defRPr sz="3000" b="1">
                <a:solidFill>
                  <a:srgbClr val="07182A"/>
                </a:solidFill>
                <a:latin typeface="CiscoSansTT Medium"/>
                <a:ea typeface="CiscoSansTT Medium"/>
                <a:cs typeface="CiscoSansTT Medium"/>
              </a:defRPr>
            </a:lvl2pPr>
            <a:lvl3pPr algn="l">
              <a:defRPr sz="3000" b="1">
                <a:solidFill>
                  <a:srgbClr val="07182A"/>
                </a:solidFill>
                <a:latin typeface="CiscoSansTT Medium"/>
                <a:ea typeface="CiscoSansTT Medium"/>
                <a:cs typeface="CiscoSansTT Medium"/>
              </a:defRPr>
            </a:lvl3pPr>
            <a:lvl4pPr algn="l">
              <a:defRPr sz="3000" b="1">
                <a:solidFill>
                  <a:srgbClr val="07182A"/>
                </a:solidFill>
                <a:latin typeface="CiscoSansTT Medium"/>
                <a:ea typeface="CiscoSansTT Medium"/>
                <a:cs typeface="CiscoSansTT Medium"/>
              </a:defRPr>
            </a:lvl4pPr>
            <a:lvl5pPr algn="l">
              <a:defRPr sz="3000" b="1">
                <a:solidFill>
                  <a:srgbClr val="07182A"/>
                </a:solidFill>
                <a:latin typeface="CiscoSansTT Medium"/>
                <a:ea typeface="CiscoSansTT Medium"/>
                <a:cs typeface="CiscoSansTT Medium"/>
              </a:defRPr>
            </a:lvl5pPr>
            <a:lvl6pPr algn="l">
              <a:defRPr sz="3000" b="1">
                <a:solidFill>
                  <a:srgbClr val="07182A"/>
                </a:solidFill>
                <a:latin typeface="CiscoSansTT Medium"/>
                <a:ea typeface="CiscoSansTT Medium"/>
                <a:cs typeface="CiscoSansTT Medium"/>
              </a:defRPr>
            </a:lvl6pPr>
            <a:lvl7pPr algn="l">
              <a:defRPr sz="3000" b="1">
                <a:solidFill>
                  <a:srgbClr val="07182A"/>
                </a:solidFill>
                <a:latin typeface="CiscoSansTT Medium"/>
                <a:ea typeface="CiscoSansTT Medium"/>
                <a:cs typeface="CiscoSansTT Medium"/>
              </a:defRPr>
            </a:lvl7pPr>
            <a:lvl8pPr algn="l">
              <a:defRPr sz="3000" b="1">
                <a:solidFill>
                  <a:srgbClr val="07182A"/>
                </a:solidFill>
                <a:latin typeface="CiscoSansTT Medium"/>
                <a:ea typeface="CiscoSansTT Medium"/>
                <a:cs typeface="CiscoSansTT Medium"/>
              </a:defRPr>
            </a:lvl8pPr>
            <a:lvl9pPr algn="l">
              <a:defRPr sz="3000" b="1">
                <a:solidFill>
                  <a:srgbClr val="07182A"/>
                </a:solidFill>
                <a:latin typeface="CiscoSansTT Medium"/>
                <a:ea typeface="CiscoSansTT Medium"/>
                <a:cs typeface="CiscoSansTT Medium"/>
              </a:defRPr>
            </a:lvl9p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Beyond latency: checks before a wider rollout</a:t>
            </a:r>
          </a:p>
        </p:txBody>
      </p:sp>
      <p:sp>
        <p:nvSpPr>
          <p:cNvPr id="2" name="Rectangle 1">
            <a:extLst>
              <a:ext uri="{FF2B5EF4-FFF2-40B4-BE49-F238E27FC236}">
                <a16:creationId xmlns:a16="http://schemas.microsoft.com/office/drawing/2014/main" id="{6BC11B03-7BE7-440C-9D01-D6F8181DB50D}"/>
              </a:ext>
            </a:extLst>
          </p:cNvPr>
          <p:cNvSpPr>
            <a:spLocks noGrp="1"/>
          </p:cNvSpPr>
          <p:nvPr/>
        </p:nvSpPr>
        <p:spPr>
          <a:xfrm>
            <a:off x="742950" y="1504950"/>
            <a:ext cx="647700" cy="495300"/>
          </a:xfrm>
          <a:prstGeom prst="rect">
            <a:avLst/>
          </a:prstGeom>
          <a:noFill/>
          <a:ln w="0">
            <a:noFill/>
          </a:ln>
        </p:spPr>
        <p:txBody>
          <a:bodyPr anchor="t">
            <a:normAutofit/>
          </a:bodyPr>
          <a:lstStyle/>
          <a:p>
            <a:pPr algn="l">
              <a:buNone/>
              <a:defRPr sz="2550" b="1">
                <a:solidFill>
                  <a:srgbClr val="0860FE"/>
                </a:solidFill>
                <a:latin typeface="CiscoSansTT Medium"/>
                <a:ea typeface="CiscoSansTT Medium"/>
                <a:cs typeface="CiscoSansTT Medium"/>
              </a:defRPr>
            </a:pPr>
            <a:r>
              <a:rPr sz="2550" b="1">
                <a:solidFill>
                  <a:srgbClr val="0860FE"/>
                </a:solidFill>
                <a:latin typeface="CiscoSansTT Medium"/>
                <a:ea typeface="CiscoSansTT Medium"/>
                <a:cs typeface="CiscoSansTT Medium"/>
              </a:rPr>
              <a:t>01</a:t>
            </a:r>
          </a:p>
        </p:txBody>
      </p:sp>
      <p:sp>
        <p:nvSpPr>
          <p:cNvPr id="3" name="Rectangle 2">
            <a:extLst>
              <a:ext uri="{FF2B5EF4-FFF2-40B4-BE49-F238E27FC236}">
                <a16:creationId xmlns:a16="http://schemas.microsoft.com/office/drawing/2014/main" id="{DDCBFEAA-5905-4F17-AEEA-5ADAAA8DAC87}"/>
              </a:ext>
            </a:extLst>
          </p:cNvPr>
          <p:cNvSpPr>
            <a:spLocks noGrp="1"/>
          </p:cNvSpPr>
          <p:nvPr/>
        </p:nvSpPr>
        <p:spPr>
          <a:xfrm>
            <a:off x="1619250" y="1504950"/>
            <a:ext cx="2381250" cy="438150"/>
          </a:xfrm>
          <a:prstGeom prst="rect">
            <a:avLst/>
          </a:prstGeom>
          <a:noFill/>
          <a:ln w="0">
            <a:noFill/>
          </a:ln>
        </p:spPr>
        <p:txBody>
          <a:bodyPr anchor="t">
            <a:normAutofit fontScale="97849" lnSpcReduction="10000"/>
          </a:bodyPr>
          <a:lstStyle/>
          <a:p>
            <a:pPr algn="l">
              <a:buNone/>
              <a:defRPr sz="2325" b="1">
                <a:solidFill>
                  <a:srgbClr val="07182A"/>
                </a:solidFill>
                <a:latin typeface="CiscoSansTT Medium"/>
                <a:ea typeface="CiscoSansTT Medium"/>
                <a:cs typeface="CiscoSansTT Medium"/>
              </a:defRPr>
            </a:pPr>
            <a:r>
              <a:rPr sz="2325" b="1">
                <a:solidFill>
                  <a:srgbClr val="07182A"/>
                </a:solidFill>
                <a:latin typeface="CiscoSansTT Medium"/>
                <a:ea typeface="CiscoSansTT Medium"/>
                <a:cs typeface="CiscoSansTT Medium"/>
              </a:rPr>
              <a:t>CPU</a:t>
            </a:r>
          </a:p>
        </p:txBody>
      </p:sp>
      <p:sp>
        <p:nvSpPr>
          <p:cNvPr id="4" name="Rectangle 3">
            <a:extLst>
              <a:ext uri="{FF2B5EF4-FFF2-40B4-BE49-F238E27FC236}">
                <a16:creationId xmlns:a16="http://schemas.microsoft.com/office/drawing/2014/main" id="{4225EF06-7A29-4D46-B6F9-1770A01BF3B8}"/>
              </a:ext>
            </a:extLst>
          </p:cNvPr>
          <p:cNvSpPr>
            <a:spLocks noGrp="1"/>
          </p:cNvSpPr>
          <p:nvPr/>
        </p:nvSpPr>
        <p:spPr>
          <a:xfrm>
            <a:off x="4286250" y="1524000"/>
            <a:ext cx="6762750" cy="400050"/>
          </a:xfrm>
          <a:prstGeom prst="rect">
            <a:avLst/>
          </a:prstGeom>
          <a:noFill/>
          <a:ln w="0">
            <a:noFill/>
          </a:ln>
        </p:spPr>
        <p:txBody>
          <a:bodyPr anchor="ctr">
            <a:noAutofit/>
          </a:bodyPr>
          <a:lstStyle>
            <a:defPPr algn="l">
              <a:defRPr sz="1875" b="0">
                <a:solidFill>
                  <a:srgbClr val="686B6B"/>
                </a:solidFill>
                <a:latin typeface="CiscoSansTT"/>
                <a:ea typeface="CiscoSansTT"/>
                <a:cs typeface="CiscoSansTT"/>
              </a:defRPr>
            </a:defPPr>
            <a:lvl1pPr algn="l">
              <a:defRPr sz="1875" b="0">
                <a:solidFill>
                  <a:srgbClr val="686B6B"/>
                </a:solidFill>
                <a:latin typeface="CiscoSansTT"/>
                <a:ea typeface="CiscoSansTT"/>
                <a:cs typeface="CiscoSansTT"/>
              </a:defRPr>
            </a:lvl1pPr>
            <a:lvl2pPr algn="l">
              <a:defRPr sz="1875" b="0">
                <a:solidFill>
                  <a:srgbClr val="686B6B"/>
                </a:solidFill>
                <a:latin typeface="CiscoSansTT"/>
                <a:ea typeface="CiscoSansTT"/>
                <a:cs typeface="CiscoSansTT"/>
              </a:defRPr>
            </a:lvl2pPr>
            <a:lvl3pPr algn="l">
              <a:defRPr sz="1875" b="0">
                <a:solidFill>
                  <a:srgbClr val="686B6B"/>
                </a:solidFill>
                <a:latin typeface="CiscoSansTT"/>
                <a:ea typeface="CiscoSansTT"/>
                <a:cs typeface="CiscoSansTT"/>
              </a:defRPr>
            </a:lvl3pPr>
            <a:lvl4pPr algn="l">
              <a:defRPr sz="1875" b="0">
                <a:solidFill>
                  <a:srgbClr val="686B6B"/>
                </a:solidFill>
                <a:latin typeface="CiscoSansTT"/>
                <a:ea typeface="CiscoSansTT"/>
                <a:cs typeface="CiscoSansTT"/>
              </a:defRPr>
            </a:lvl4pPr>
            <a:lvl5pPr algn="l">
              <a:defRPr sz="1875" b="0">
                <a:solidFill>
                  <a:srgbClr val="686B6B"/>
                </a:solidFill>
                <a:latin typeface="CiscoSansTT"/>
                <a:ea typeface="CiscoSansTT"/>
                <a:cs typeface="CiscoSansTT"/>
              </a:defRPr>
            </a:lvl5pPr>
            <a:lvl6pPr algn="l">
              <a:defRPr sz="1875" b="0">
                <a:solidFill>
                  <a:srgbClr val="686B6B"/>
                </a:solidFill>
                <a:latin typeface="CiscoSansTT"/>
                <a:ea typeface="CiscoSansTT"/>
                <a:cs typeface="CiscoSansTT"/>
              </a:defRPr>
            </a:lvl6pPr>
            <a:lvl7pPr algn="l">
              <a:defRPr sz="1875" b="0">
                <a:solidFill>
                  <a:srgbClr val="686B6B"/>
                </a:solidFill>
                <a:latin typeface="CiscoSansTT"/>
                <a:ea typeface="CiscoSansTT"/>
                <a:cs typeface="CiscoSansTT"/>
              </a:defRPr>
            </a:lvl7pPr>
            <a:lvl8pPr algn="l">
              <a:defRPr sz="1875" b="0">
                <a:solidFill>
                  <a:srgbClr val="686B6B"/>
                </a:solidFill>
                <a:latin typeface="CiscoSansTT"/>
                <a:ea typeface="CiscoSansTT"/>
                <a:cs typeface="CiscoSansTT"/>
              </a:defRPr>
            </a:lvl8pPr>
            <a:lvl9pPr algn="l">
              <a:defRPr sz="1875" b="0">
                <a:solidFill>
                  <a:srgbClr val="686B6B"/>
                </a:solidFill>
                <a:latin typeface="CiscoSansTT"/>
                <a:ea typeface="CiscoSansTT"/>
                <a:cs typeface="CiscoSansTT"/>
              </a:defRPr>
            </a:lvl9pPr>
          </a:lstStyle>
          <a:p>
            <a:pPr algn="l">
              <a:buNone/>
              <a:defRPr sz="1875" b="0">
                <a:solidFill>
                  <a:srgbClr val="686B6B"/>
                </a:solidFill>
                <a:latin typeface="CiscoSansTT"/>
                <a:ea typeface="CiscoSansTT"/>
                <a:cs typeface="CiscoSansTT"/>
              </a:defRPr>
            </a:pPr>
            <a:r>
              <a:rPr sz="1875" b="0">
                <a:solidFill>
                  <a:srgbClr val="686B6B"/>
                </a:solidFill>
                <a:latin typeface="CiscoSansTT"/>
                <a:ea typeface="CiscoSansTT"/>
                <a:cs typeface="CiscoSansTT"/>
              </a:rPr>
              <a:t>How much extra CPU do apps and agents use?</a:t>
            </a:r>
          </a:p>
        </p:txBody>
      </p:sp>
      <p:sp>
        <p:nvSpPr>
          <p:cNvPr id="5" name="Rectangle 4">
            <a:extLst>
              <a:ext uri="{FF2B5EF4-FFF2-40B4-BE49-F238E27FC236}">
                <a16:creationId xmlns:a16="http://schemas.microsoft.com/office/drawing/2014/main" id="{824E722C-C9BD-4B15-92A9-BD0218D7F638}"/>
              </a:ext>
            </a:extLst>
          </p:cNvPr>
          <p:cNvSpPr>
            <a:spLocks noGrp="1"/>
          </p:cNvSpPr>
          <p:nvPr/>
        </p:nvSpPr>
        <p:spPr>
          <a:xfrm>
            <a:off x="1619250" y="2133600"/>
            <a:ext cx="9429750" cy="9525"/>
          </a:xfrm>
          <a:prstGeom prst="rect">
            <a:avLst/>
          </a:prstGeom>
          <a:solidFill>
            <a:srgbClr val="D6D6D6"/>
          </a:solidFill>
          <a:ln w="0">
            <a:noFill/>
          </a:ln>
        </p:spPr>
        <p:txBody>
          <a:bodyPr/>
          <a:lstStyle/>
          <a:p>
            <a:endParaRPr/>
          </a:p>
        </p:txBody>
      </p:sp>
      <p:sp>
        <p:nvSpPr>
          <p:cNvPr id="6" name="Rectangle 5">
            <a:extLst>
              <a:ext uri="{FF2B5EF4-FFF2-40B4-BE49-F238E27FC236}">
                <a16:creationId xmlns:a16="http://schemas.microsoft.com/office/drawing/2014/main" id="{F0AD0635-664F-43EF-9FDD-B91796271779}"/>
              </a:ext>
            </a:extLst>
          </p:cNvPr>
          <p:cNvSpPr>
            <a:spLocks noGrp="1"/>
          </p:cNvSpPr>
          <p:nvPr/>
        </p:nvSpPr>
        <p:spPr>
          <a:xfrm>
            <a:off x="742950" y="2571750"/>
            <a:ext cx="647700" cy="495300"/>
          </a:xfrm>
          <a:prstGeom prst="rect">
            <a:avLst/>
          </a:prstGeom>
          <a:noFill/>
          <a:ln w="0">
            <a:noFill/>
          </a:ln>
        </p:spPr>
        <p:txBody>
          <a:bodyPr anchor="t">
            <a:normAutofit/>
          </a:bodyPr>
          <a:lstStyle/>
          <a:p>
            <a:pPr algn="l">
              <a:buNone/>
              <a:defRPr sz="2550" b="1">
                <a:solidFill>
                  <a:srgbClr val="FF007F"/>
                </a:solidFill>
                <a:latin typeface="CiscoSansTT Medium"/>
                <a:ea typeface="CiscoSansTT Medium"/>
                <a:cs typeface="CiscoSansTT Medium"/>
              </a:defRPr>
            </a:pPr>
            <a:r>
              <a:rPr sz="2550" b="1">
                <a:solidFill>
                  <a:srgbClr val="FF007F"/>
                </a:solidFill>
                <a:latin typeface="CiscoSansTT Medium"/>
                <a:ea typeface="CiscoSansTT Medium"/>
                <a:cs typeface="CiscoSansTT Medium"/>
              </a:rPr>
              <a:t>02</a:t>
            </a:r>
          </a:p>
        </p:txBody>
      </p:sp>
      <p:sp>
        <p:nvSpPr>
          <p:cNvPr id="7" name="Rectangle 6">
            <a:extLst>
              <a:ext uri="{FF2B5EF4-FFF2-40B4-BE49-F238E27FC236}">
                <a16:creationId xmlns:a16="http://schemas.microsoft.com/office/drawing/2014/main" id="{821AE919-C864-46A3-99EC-CB2F9C3CB7C5}"/>
              </a:ext>
            </a:extLst>
          </p:cNvPr>
          <p:cNvSpPr>
            <a:spLocks noGrp="1"/>
          </p:cNvSpPr>
          <p:nvPr/>
        </p:nvSpPr>
        <p:spPr>
          <a:xfrm>
            <a:off x="1619250" y="2571750"/>
            <a:ext cx="2381250" cy="438150"/>
          </a:xfrm>
          <a:prstGeom prst="rect">
            <a:avLst/>
          </a:prstGeom>
          <a:noFill/>
          <a:ln w="0">
            <a:noFill/>
          </a:ln>
        </p:spPr>
        <p:txBody>
          <a:bodyPr anchor="t">
            <a:normAutofit fontScale="97849" lnSpcReduction="10000"/>
          </a:bodyPr>
          <a:lstStyle/>
          <a:p>
            <a:pPr algn="l">
              <a:buNone/>
              <a:defRPr sz="2325" b="1">
                <a:solidFill>
                  <a:srgbClr val="07182A"/>
                </a:solidFill>
                <a:latin typeface="CiscoSansTT Medium"/>
                <a:ea typeface="CiscoSansTT Medium"/>
                <a:cs typeface="CiscoSansTT Medium"/>
              </a:defRPr>
            </a:pPr>
            <a:r>
              <a:rPr sz="2325" b="1">
                <a:solidFill>
                  <a:srgbClr val="07182A"/>
                </a:solidFill>
                <a:latin typeface="CiscoSansTT Medium"/>
                <a:ea typeface="CiscoSansTT Medium"/>
                <a:cs typeface="CiscoSansTT Medium"/>
              </a:rPr>
              <a:t>Memory</a:t>
            </a:r>
          </a:p>
        </p:txBody>
      </p:sp>
      <p:sp>
        <p:nvSpPr>
          <p:cNvPr id="8" name="Rectangle 7">
            <a:extLst>
              <a:ext uri="{FF2B5EF4-FFF2-40B4-BE49-F238E27FC236}">
                <a16:creationId xmlns:a16="http://schemas.microsoft.com/office/drawing/2014/main" id="{AA5A7CAF-881E-4B9A-9212-812ECF094684}"/>
              </a:ext>
            </a:extLst>
          </p:cNvPr>
          <p:cNvSpPr>
            <a:spLocks noGrp="1"/>
          </p:cNvSpPr>
          <p:nvPr/>
        </p:nvSpPr>
        <p:spPr>
          <a:xfrm>
            <a:off x="4286250" y="2590800"/>
            <a:ext cx="6762750" cy="400050"/>
          </a:xfrm>
          <a:prstGeom prst="rect">
            <a:avLst/>
          </a:prstGeom>
          <a:noFill/>
          <a:ln w="0">
            <a:noFill/>
          </a:ln>
        </p:spPr>
        <p:txBody>
          <a:bodyPr anchor="ctr">
            <a:noAutofit/>
          </a:bodyPr>
          <a:lstStyle>
            <a:defPPr algn="l">
              <a:defRPr sz="1800" b="0">
                <a:solidFill>
                  <a:srgbClr val="686B6B"/>
                </a:solidFill>
                <a:latin typeface="CiscoSansTT"/>
                <a:ea typeface="CiscoSansTT"/>
                <a:cs typeface="CiscoSansTT"/>
              </a:defRPr>
            </a:defPPr>
            <a:lvl1pPr algn="l">
              <a:defRPr sz="1800" b="0">
                <a:solidFill>
                  <a:srgbClr val="686B6B"/>
                </a:solidFill>
                <a:latin typeface="CiscoSansTT"/>
                <a:ea typeface="CiscoSansTT"/>
                <a:cs typeface="CiscoSansTT"/>
              </a:defRPr>
            </a:lvl1pPr>
            <a:lvl2pPr algn="l">
              <a:defRPr sz="1800" b="0">
                <a:solidFill>
                  <a:srgbClr val="686B6B"/>
                </a:solidFill>
                <a:latin typeface="CiscoSansTT"/>
                <a:ea typeface="CiscoSansTT"/>
                <a:cs typeface="CiscoSansTT"/>
              </a:defRPr>
            </a:lvl2pPr>
            <a:lvl3pPr algn="l">
              <a:defRPr sz="1800" b="0">
                <a:solidFill>
                  <a:srgbClr val="686B6B"/>
                </a:solidFill>
                <a:latin typeface="CiscoSansTT"/>
                <a:ea typeface="CiscoSansTT"/>
                <a:cs typeface="CiscoSansTT"/>
              </a:defRPr>
            </a:lvl3pPr>
            <a:lvl4pPr algn="l">
              <a:defRPr sz="1800" b="0">
                <a:solidFill>
                  <a:srgbClr val="686B6B"/>
                </a:solidFill>
                <a:latin typeface="CiscoSansTT"/>
                <a:ea typeface="CiscoSansTT"/>
                <a:cs typeface="CiscoSansTT"/>
              </a:defRPr>
            </a:lvl4pPr>
            <a:lvl5pPr algn="l">
              <a:defRPr sz="1800" b="0">
                <a:solidFill>
                  <a:srgbClr val="686B6B"/>
                </a:solidFill>
                <a:latin typeface="CiscoSansTT"/>
                <a:ea typeface="CiscoSansTT"/>
                <a:cs typeface="CiscoSansTT"/>
              </a:defRPr>
            </a:lvl5pPr>
            <a:lvl6pPr algn="l">
              <a:defRPr sz="1800" b="0">
                <a:solidFill>
                  <a:srgbClr val="686B6B"/>
                </a:solidFill>
                <a:latin typeface="CiscoSansTT"/>
                <a:ea typeface="CiscoSansTT"/>
                <a:cs typeface="CiscoSansTT"/>
              </a:defRPr>
            </a:lvl6pPr>
            <a:lvl7pPr algn="l">
              <a:defRPr sz="1800" b="0">
                <a:solidFill>
                  <a:srgbClr val="686B6B"/>
                </a:solidFill>
                <a:latin typeface="CiscoSansTT"/>
                <a:ea typeface="CiscoSansTT"/>
                <a:cs typeface="CiscoSansTT"/>
              </a:defRPr>
            </a:lvl7pPr>
            <a:lvl8pPr algn="l">
              <a:defRPr sz="1800" b="0">
                <a:solidFill>
                  <a:srgbClr val="686B6B"/>
                </a:solidFill>
                <a:latin typeface="CiscoSansTT"/>
                <a:ea typeface="CiscoSansTT"/>
                <a:cs typeface="CiscoSansTT"/>
              </a:defRPr>
            </a:lvl8pPr>
            <a:lvl9pPr algn="l">
              <a:defRPr sz="1800" b="0">
                <a:solidFill>
                  <a:srgbClr val="686B6B"/>
                </a:solidFill>
                <a:latin typeface="CiscoSansTT"/>
                <a:ea typeface="CiscoSansTT"/>
                <a:cs typeface="CiscoSansTT"/>
              </a:defRPr>
            </a:lvl9pPr>
          </a:lstStyle>
          <a:p>
            <a:pPr algn="l">
              <a:buNone/>
              <a:defRPr sz="1800" b="0">
                <a:solidFill>
                  <a:srgbClr val="686B6B"/>
                </a:solidFill>
                <a:latin typeface="CiscoSansTT"/>
                <a:ea typeface="CiscoSansTT"/>
                <a:cs typeface="CiscoSansTT"/>
              </a:defRPr>
            </a:pPr>
            <a:r>
              <a:rPr sz="1800" b="0">
                <a:solidFill>
                  <a:srgbClr val="686B6B"/>
                </a:solidFill>
                <a:latin typeface="CiscoSansTT"/>
                <a:ea typeface="CiscoSansTT"/>
                <a:cs typeface="CiscoSansTT"/>
              </a:rPr>
              <a:t>How much memory do agents and kernel BPF data use?</a:t>
            </a:r>
          </a:p>
        </p:txBody>
      </p:sp>
      <p:sp>
        <p:nvSpPr>
          <p:cNvPr id="9" name="Rectangle 8">
            <a:extLst>
              <a:ext uri="{FF2B5EF4-FFF2-40B4-BE49-F238E27FC236}">
                <a16:creationId xmlns:a16="http://schemas.microsoft.com/office/drawing/2014/main" id="{0459F131-9FA3-4773-B4CE-90991C1FEC15}"/>
              </a:ext>
            </a:extLst>
          </p:cNvPr>
          <p:cNvSpPr>
            <a:spLocks noGrp="1"/>
          </p:cNvSpPr>
          <p:nvPr/>
        </p:nvSpPr>
        <p:spPr>
          <a:xfrm>
            <a:off x="1619250" y="3200400"/>
            <a:ext cx="9429750" cy="9525"/>
          </a:xfrm>
          <a:prstGeom prst="rect">
            <a:avLst/>
          </a:prstGeom>
          <a:solidFill>
            <a:srgbClr val="D6D6D6"/>
          </a:solidFill>
          <a:ln w="0">
            <a:noFill/>
          </a:ln>
        </p:spPr>
        <p:txBody>
          <a:bodyPr/>
          <a:lstStyle/>
          <a:p>
            <a:endParaRPr/>
          </a:p>
        </p:txBody>
      </p:sp>
      <p:sp>
        <p:nvSpPr>
          <p:cNvPr id="10" name="Rectangle 9">
            <a:extLst>
              <a:ext uri="{FF2B5EF4-FFF2-40B4-BE49-F238E27FC236}">
                <a16:creationId xmlns:a16="http://schemas.microsoft.com/office/drawing/2014/main" id="{FEA221D4-7B46-40AD-9652-A2BF4CF49050}"/>
              </a:ext>
            </a:extLst>
          </p:cNvPr>
          <p:cNvSpPr>
            <a:spLocks noGrp="1"/>
          </p:cNvSpPr>
          <p:nvPr/>
        </p:nvSpPr>
        <p:spPr>
          <a:xfrm>
            <a:off x="742950" y="3638550"/>
            <a:ext cx="647700" cy="495300"/>
          </a:xfrm>
          <a:prstGeom prst="rect">
            <a:avLst/>
          </a:prstGeom>
          <a:noFill/>
          <a:ln w="0">
            <a:noFill/>
          </a:ln>
        </p:spPr>
        <p:txBody>
          <a:bodyPr anchor="t">
            <a:normAutofit/>
          </a:bodyPr>
          <a:lstStyle/>
          <a:p>
            <a:pPr algn="l">
              <a:buNone/>
              <a:defRPr sz="2550" b="1">
                <a:solidFill>
                  <a:srgbClr val="FF9000"/>
                </a:solidFill>
                <a:latin typeface="CiscoSansTT Medium"/>
                <a:ea typeface="CiscoSansTT Medium"/>
                <a:cs typeface="CiscoSansTT Medium"/>
              </a:defRPr>
            </a:pPr>
            <a:r>
              <a:rPr sz="2550" b="1">
                <a:solidFill>
                  <a:srgbClr val="FF9000"/>
                </a:solidFill>
                <a:latin typeface="CiscoSansTT Medium"/>
                <a:ea typeface="CiscoSansTT Medium"/>
                <a:cs typeface="CiscoSansTT Medium"/>
              </a:rPr>
              <a:t>03</a:t>
            </a:r>
          </a:p>
        </p:txBody>
      </p:sp>
      <p:sp>
        <p:nvSpPr>
          <p:cNvPr id="11" name="Rectangle 10">
            <a:extLst>
              <a:ext uri="{FF2B5EF4-FFF2-40B4-BE49-F238E27FC236}">
                <a16:creationId xmlns:a16="http://schemas.microsoft.com/office/drawing/2014/main" id="{485A77C8-B4A2-41C9-9E95-9E1328DFE742}"/>
              </a:ext>
            </a:extLst>
          </p:cNvPr>
          <p:cNvSpPr>
            <a:spLocks noGrp="1"/>
          </p:cNvSpPr>
          <p:nvPr/>
        </p:nvSpPr>
        <p:spPr>
          <a:xfrm>
            <a:off x="1619250" y="3638550"/>
            <a:ext cx="2381250" cy="438150"/>
          </a:xfrm>
          <a:prstGeom prst="rect">
            <a:avLst/>
          </a:prstGeom>
          <a:noFill/>
          <a:ln w="0">
            <a:noFill/>
          </a:ln>
        </p:spPr>
        <p:txBody>
          <a:bodyPr anchor="ctr">
            <a:noAutofit/>
          </a:bodyPr>
          <a:lstStyle>
            <a:defPPr algn="l">
              <a:defRPr sz="2175" b="1">
                <a:solidFill>
                  <a:srgbClr val="07182A"/>
                </a:solidFill>
                <a:latin typeface="CiscoSansTT Medium"/>
                <a:ea typeface="CiscoSansTT Medium"/>
                <a:cs typeface="CiscoSansTT Medium"/>
              </a:defRPr>
            </a:defPPr>
            <a:lvl1pPr algn="l">
              <a:defRPr sz="2175" b="1">
                <a:solidFill>
                  <a:srgbClr val="07182A"/>
                </a:solidFill>
                <a:latin typeface="CiscoSansTT Medium"/>
                <a:ea typeface="CiscoSansTT Medium"/>
                <a:cs typeface="CiscoSansTT Medium"/>
              </a:defRPr>
            </a:lvl1pPr>
            <a:lvl2pPr algn="l">
              <a:defRPr sz="2175" b="1">
                <a:solidFill>
                  <a:srgbClr val="07182A"/>
                </a:solidFill>
                <a:latin typeface="CiscoSansTT Medium"/>
                <a:ea typeface="CiscoSansTT Medium"/>
                <a:cs typeface="CiscoSansTT Medium"/>
              </a:defRPr>
            </a:lvl2pPr>
            <a:lvl3pPr algn="l">
              <a:defRPr sz="2175" b="1">
                <a:solidFill>
                  <a:srgbClr val="07182A"/>
                </a:solidFill>
                <a:latin typeface="CiscoSansTT Medium"/>
                <a:ea typeface="CiscoSansTT Medium"/>
                <a:cs typeface="CiscoSansTT Medium"/>
              </a:defRPr>
            </a:lvl3pPr>
            <a:lvl4pPr algn="l">
              <a:defRPr sz="2175" b="1">
                <a:solidFill>
                  <a:srgbClr val="07182A"/>
                </a:solidFill>
                <a:latin typeface="CiscoSansTT Medium"/>
                <a:ea typeface="CiscoSansTT Medium"/>
                <a:cs typeface="CiscoSansTT Medium"/>
              </a:defRPr>
            </a:lvl4pPr>
            <a:lvl5pPr algn="l">
              <a:defRPr sz="2175" b="1">
                <a:solidFill>
                  <a:srgbClr val="07182A"/>
                </a:solidFill>
                <a:latin typeface="CiscoSansTT Medium"/>
                <a:ea typeface="CiscoSansTT Medium"/>
                <a:cs typeface="CiscoSansTT Medium"/>
              </a:defRPr>
            </a:lvl5pPr>
            <a:lvl6pPr algn="l">
              <a:defRPr sz="2175" b="1">
                <a:solidFill>
                  <a:srgbClr val="07182A"/>
                </a:solidFill>
                <a:latin typeface="CiscoSansTT Medium"/>
                <a:ea typeface="CiscoSansTT Medium"/>
                <a:cs typeface="CiscoSansTT Medium"/>
              </a:defRPr>
            </a:lvl6pPr>
            <a:lvl7pPr algn="l">
              <a:defRPr sz="2175" b="1">
                <a:solidFill>
                  <a:srgbClr val="07182A"/>
                </a:solidFill>
                <a:latin typeface="CiscoSansTT Medium"/>
                <a:ea typeface="CiscoSansTT Medium"/>
                <a:cs typeface="CiscoSansTT Medium"/>
              </a:defRPr>
            </a:lvl7pPr>
            <a:lvl8pPr algn="l">
              <a:defRPr sz="2175" b="1">
                <a:solidFill>
                  <a:srgbClr val="07182A"/>
                </a:solidFill>
                <a:latin typeface="CiscoSansTT Medium"/>
                <a:ea typeface="CiscoSansTT Medium"/>
                <a:cs typeface="CiscoSansTT Medium"/>
              </a:defRPr>
            </a:lvl8pPr>
            <a:lvl9pPr algn="l">
              <a:defRPr sz="2175" b="1">
                <a:solidFill>
                  <a:srgbClr val="07182A"/>
                </a:solidFill>
                <a:latin typeface="CiscoSansTT Medium"/>
                <a:ea typeface="CiscoSansTT Medium"/>
                <a:cs typeface="CiscoSansTT Medium"/>
              </a:defRPr>
            </a:lvl9pPr>
          </a:lstStyle>
          <a:p>
            <a:pPr algn="l">
              <a:buNone/>
              <a:defRPr sz="2175" b="1">
                <a:solidFill>
                  <a:srgbClr val="07182A"/>
                </a:solidFill>
                <a:latin typeface="CiscoSansTT Medium"/>
                <a:ea typeface="CiscoSansTT Medium"/>
                <a:cs typeface="CiscoSansTT Medium"/>
              </a:defRPr>
            </a:pPr>
            <a:r>
              <a:rPr sz="2175" b="1">
                <a:solidFill>
                  <a:srgbClr val="07182A"/>
                </a:solidFill>
                <a:latin typeface="CiscoSansTT Medium"/>
                <a:ea typeface="CiscoSansTT Medium"/>
                <a:cs typeface="CiscoSansTT Medium"/>
              </a:rPr>
              <a:t>Missing data</a:t>
            </a:r>
          </a:p>
        </p:txBody>
      </p:sp>
      <p:sp>
        <p:nvSpPr>
          <p:cNvPr id="12" name="Rectangle 11">
            <a:extLst>
              <a:ext uri="{FF2B5EF4-FFF2-40B4-BE49-F238E27FC236}">
                <a16:creationId xmlns:a16="http://schemas.microsoft.com/office/drawing/2014/main" id="{7956BC91-69D7-43C9-9CFD-E1743AA19FB5}"/>
              </a:ext>
            </a:extLst>
          </p:cNvPr>
          <p:cNvSpPr>
            <a:spLocks noGrp="1"/>
          </p:cNvSpPr>
          <p:nvPr/>
        </p:nvSpPr>
        <p:spPr>
          <a:xfrm>
            <a:off x="4286250" y="3657600"/>
            <a:ext cx="6762750" cy="400050"/>
          </a:xfrm>
          <a:prstGeom prst="rect">
            <a:avLst/>
          </a:prstGeom>
          <a:noFill/>
          <a:ln w="0">
            <a:noFill/>
          </a:ln>
        </p:spPr>
        <p:txBody>
          <a:bodyPr anchor="ctr">
            <a:noAutofit/>
          </a:bodyPr>
          <a:lstStyle>
            <a:defPPr algn="l">
              <a:defRPr sz="1800" b="0">
                <a:solidFill>
                  <a:srgbClr val="686B6B"/>
                </a:solidFill>
                <a:latin typeface="CiscoSansTT"/>
                <a:ea typeface="CiscoSansTT"/>
                <a:cs typeface="CiscoSansTT"/>
              </a:defRPr>
            </a:defPPr>
            <a:lvl1pPr algn="l">
              <a:defRPr sz="1800" b="0">
                <a:solidFill>
                  <a:srgbClr val="686B6B"/>
                </a:solidFill>
                <a:latin typeface="CiscoSansTT"/>
                <a:ea typeface="CiscoSansTT"/>
                <a:cs typeface="CiscoSansTT"/>
              </a:defRPr>
            </a:lvl1pPr>
            <a:lvl2pPr algn="l">
              <a:defRPr sz="1800" b="0">
                <a:solidFill>
                  <a:srgbClr val="686B6B"/>
                </a:solidFill>
                <a:latin typeface="CiscoSansTT"/>
                <a:ea typeface="CiscoSansTT"/>
                <a:cs typeface="CiscoSansTT"/>
              </a:defRPr>
            </a:lvl2pPr>
            <a:lvl3pPr algn="l">
              <a:defRPr sz="1800" b="0">
                <a:solidFill>
                  <a:srgbClr val="686B6B"/>
                </a:solidFill>
                <a:latin typeface="CiscoSansTT"/>
                <a:ea typeface="CiscoSansTT"/>
                <a:cs typeface="CiscoSansTT"/>
              </a:defRPr>
            </a:lvl3pPr>
            <a:lvl4pPr algn="l">
              <a:defRPr sz="1800" b="0">
                <a:solidFill>
                  <a:srgbClr val="686B6B"/>
                </a:solidFill>
                <a:latin typeface="CiscoSansTT"/>
                <a:ea typeface="CiscoSansTT"/>
                <a:cs typeface="CiscoSansTT"/>
              </a:defRPr>
            </a:lvl4pPr>
            <a:lvl5pPr algn="l">
              <a:defRPr sz="1800" b="0">
                <a:solidFill>
                  <a:srgbClr val="686B6B"/>
                </a:solidFill>
                <a:latin typeface="CiscoSansTT"/>
                <a:ea typeface="CiscoSansTT"/>
                <a:cs typeface="CiscoSansTT"/>
              </a:defRPr>
            </a:lvl5pPr>
            <a:lvl6pPr algn="l">
              <a:defRPr sz="1800" b="0">
                <a:solidFill>
                  <a:srgbClr val="686B6B"/>
                </a:solidFill>
                <a:latin typeface="CiscoSansTT"/>
                <a:ea typeface="CiscoSansTT"/>
                <a:cs typeface="CiscoSansTT"/>
              </a:defRPr>
            </a:lvl6pPr>
            <a:lvl7pPr algn="l">
              <a:defRPr sz="1800" b="0">
                <a:solidFill>
                  <a:srgbClr val="686B6B"/>
                </a:solidFill>
                <a:latin typeface="CiscoSansTT"/>
                <a:ea typeface="CiscoSansTT"/>
                <a:cs typeface="CiscoSansTT"/>
              </a:defRPr>
            </a:lvl7pPr>
            <a:lvl8pPr algn="l">
              <a:defRPr sz="1800" b="0">
                <a:solidFill>
                  <a:srgbClr val="686B6B"/>
                </a:solidFill>
                <a:latin typeface="CiscoSansTT"/>
                <a:ea typeface="CiscoSansTT"/>
                <a:cs typeface="CiscoSansTT"/>
              </a:defRPr>
            </a:lvl8pPr>
            <a:lvl9pPr algn="l">
              <a:defRPr sz="1800" b="0">
                <a:solidFill>
                  <a:srgbClr val="686B6B"/>
                </a:solidFill>
                <a:latin typeface="CiscoSansTT"/>
                <a:ea typeface="CiscoSansTT"/>
                <a:cs typeface="CiscoSansTT"/>
              </a:defRPr>
            </a:lvl9pPr>
          </a:lstStyle>
          <a:p>
            <a:pPr algn="l">
              <a:buNone/>
              <a:defRPr sz="1800" b="0">
                <a:solidFill>
                  <a:srgbClr val="686B6B"/>
                </a:solidFill>
                <a:latin typeface="CiscoSansTT"/>
                <a:ea typeface="CiscoSansTT"/>
                <a:cs typeface="CiscoSansTT"/>
              </a:defRPr>
            </a:pPr>
            <a:r>
              <a:rPr sz="1800" b="0">
                <a:solidFill>
                  <a:srgbClr val="686B6B"/>
                </a:solidFill>
                <a:latin typeface="CiscoSansTT"/>
                <a:ea typeface="CiscoSansTT"/>
                <a:cs typeface="CiscoSansTT"/>
              </a:rPr>
              <a:t>Are Hubble events or exported signals being lost?</a:t>
            </a:r>
          </a:p>
        </p:txBody>
      </p:sp>
      <p:sp>
        <p:nvSpPr>
          <p:cNvPr id="13" name="Rectangle 12">
            <a:extLst>
              <a:ext uri="{FF2B5EF4-FFF2-40B4-BE49-F238E27FC236}">
                <a16:creationId xmlns:a16="http://schemas.microsoft.com/office/drawing/2014/main" id="{7F2D22A6-1C48-4B19-A882-918FF2DE750E}"/>
              </a:ext>
            </a:extLst>
          </p:cNvPr>
          <p:cNvSpPr>
            <a:spLocks noGrp="1"/>
          </p:cNvSpPr>
          <p:nvPr/>
        </p:nvSpPr>
        <p:spPr>
          <a:xfrm>
            <a:off x="1619250" y="4267200"/>
            <a:ext cx="9429750" cy="9525"/>
          </a:xfrm>
          <a:prstGeom prst="rect">
            <a:avLst/>
          </a:prstGeom>
          <a:solidFill>
            <a:srgbClr val="D6D6D6"/>
          </a:solidFill>
          <a:ln w="0">
            <a:noFill/>
          </a:ln>
        </p:spPr>
        <p:txBody>
          <a:bodyPr/>
          <a:lstStyle/>
          <a:p>
            <a:endParaRPr/>
          </a:p>
        </p:txBody>
      </p:sp>
      <p:sp>
        <p:nvSpPr>
          <p:cNvPr id="14" name="Rectangle 13">
            <a:extLst>
              <a:ext uri="{FF2B5EF4-FFF2-40B4-BE49-F238E27FC236}">
                <a16:creationId xmlns:a16="http://schemas.microsoft.com/office/drawing/2014/main" id="{D0A0D56B-FDB0-4971-B2B3-C265324ACDCB}"/>
              </a:ext>
            </a:extLst>
          </p:cNvPr>
          <p:cNvSpPr>
            <a:spLocks noGrp="1"/>
          </p:cNvSpPr>
          <p:nvPr/>
        </p:nvSpPr>
        <p:spPr>
          <a:xfrm>
            <a:off x="742950" y="4705350"/>
            <a:ext cx="647700" cy="495300"/>
          </a:xfrm>
          <a:prstGeom prst="rect">
            <a:avLst/>
          </a:prstGeom>
          <a:noFill/>
          <a:ln w="0">
            <a:noFill/>
          </a:ln>
        </p:spPr>
        <p:txBody>
          <a:bodyPr anchor="t">
            <a:normAutofit/>
          </a:bodyPr>
          <a:lstStyle/>
          <a:p>
            <a:pPr algn="l">
              <a:buNone/>
              <a:defRPr sz="2550" b="1">
                <a:solidFill>
                  <a:srgbClr val="2DAA5F"/>
                </a:solidFill>
                <a:latin typeface="CiscoSansTT Medium"/>
                <a:ea typeface="CiscoSansTT Medium"/>
                <a:cs typeface="CiscoSansTT Medium"/>
              </a:defRPr>
            </a:pPr>
            <a:r>
              <a:rPr sz="2550" b="1">
                <a:solidFill>
                  <a:srgbClr val="2DAA5F"/>
                </a:solidFill>
                <a:latin typeface="CiscoSansTT Medium"/>
                <a:ea typeface="CiscoSansTT Medium"/>
                <a:cs typeface="CiscoSansTT Medium"/>
              </a:rPr>
              <a:t>04</a:t>
            </a:r>
          </a:p>
        </p:txBody>
      </p:sp>
      <p:sp>
        <p:nvSpPr>
          <p:cNvPr id="15" name="Rectangle 14">
            <a:extLst>
              <a:ext uri="{FF2B5EF4-FFF2-40B4-BE49-F238E27FC236}">
                <a16:creationId xmlns:a16="http://schemas.microsoft.com/office/drawing/2014/main" id="{69592A17-1663-4A01-9986-49CA13FA2E89}"/>
              </a:ext>
            </a:extLst>
          </p:cNvPr>
          <p:cNvSpPr>
            <a:spLocks noGrp="1"/>
          </p:cNvSpPr>
          <p:nvPr/>
        </p:nvSpPr>
        <p:spPr>
          <a:xfrm>
            <a:off x="1619250" y="4705350"/>
            <a:ext cx="2381250" cy="438150"/>
          </a:xfrm>
          <a:prstGeom prst="rect">
            <a:avLst/>
          </a:prstGeom>
          <a:noFill/>
          <a:ln w="0">
            <a:noFill/>
          </a:ln>
        </p:spPr>
        <p:txBody>
          <a:bodyPr anchor="ctr">
            <a:noAutofit/>
          </a:bodyPr>
          <a:lstStyle>
            <a:defPPr algn="l">
              <a:defRPr sz="2175" b="1">
                <a:solidFill>
                  <a:srgbClr val="07182A"/>
                </a:solidFill>
                <a:latin typeface="CiscoSansTT Medium"/>
                <a:ea typeface="CiscoSansTT Medium"/>
                <a:cs typeface="CiscoSansTT Medium"/>
              </a:defRPr>
            </a:defPPr>
            <a:lvl1pPr algn="l">
              <a:defRPr sz="2175" b="1">
                <a:solidFill>
                  <a:srgbClr val="07182A"/>
                </a:solidFill>
                <a:latin typeface="CiscoSansTT Medium"/>
                <a:ea typeface="CiscoSansTT Medium"/>
                <a:cs typeface="CiscoSansTT Medium"/>
              </a:defRPr>
            </a:lvl1pPr>
            <a:lvl2pPr algn="l">
              <a:defRPr sz="2175" b="1">
                <a:solidFill>
                  <a:srgbClr val="07182A"/>
                </a:solidFill>
                <a:latin typeface="CiscoSansTT Medium"/>
                <a:ea typeface="CiscoSansTT Medium"/>
                <a:cs typeface="CiscoSansTT Medium"/>
              </a:defRPr>
            </a:lvl2pPr>
            <a:lvl3pPr algn="l">
              <a:defRPr sz="2175" b="1">
                <a:solidFill>
                  <a:srgbClr val="07182A"/>
                </a:solidFill>
                <a:latin typeface="CiscoSansTT Medium"/>
                <a:ea typeface="CiscoSansTT Medium"/>
                <a:cs typeface="CiscoSansTT Medium"/>
              </a:defRPr>
            </a:lvl3pPr>
            <a:lvl4pPr algn="l">
              <a:defRPr sz="2175" b="1">
                <a:solidFill>
                  <a:srgbClr val="07182A"/>
                </a:solidFill>
                <a:latin typeface="CiscoSansTT Medium"/>
                <a:ea typeface="CiscoSansTT Medium"/>
                <a:cs typeface="CiscoSansTT Medium"/>
              </a:defRPr>
            </a:lvl4pPr>
            <a:lvl5pPr algn="l">
              <a:defRPr sz="2175" b="1">
                <a:solidFill>
                  <a:srgbClr val="07182A"/>
                </a:solidFill>
                <a:latin typeface="CiscoSansTT Medium"/>
                <a:ea typeface="CiscoSansTT Medium"/>
                <a:cs typeface="CiscoSansTT Medium"/>
              </a:defRPr>
            </a:lvl5pPr>
            <a:lvl6pPr algn="l">
              <a:defRPr sz="2175" b="1">
                <a:solidFill>
                  <a:srgbClr val="07182A"/>
                </a:solidFill>
                <a:latin typeface="CiscoSansTT Medium"/>
                <a:ea typeface="CiscoSansTT Medium"/>
                <a:cs typeface="CiscoSansTT Medium"/>
              </a:defRPr>
            </a:lvl6pPr>
            <a:lvl7pPr algn="l">
              <a:defRPr sz="2175" b="1">
                <a:solidFill>
                  <a:srgbClr val="07182A"/>
                </a:solidFill>
                <a:latin typeface="CiscoSansTT Medium"/>
                <a:ea typeface="CiscoSansTT Medium"/>
                <a:cs typeface="CiscoSansTT Medium"/>
              </a:defRPr>
            </a:lvl7pPr>
            <a:lvl8pPr algn="l">
              <a:defRPr sz="2175" b="1">
                <a:solidFill>
                  <a:srgbClr val="07182A"/>
                </a:solidFill>
                <a:latin typeface="CiscoSansTT Medium"/>
                <a:ea typeface="CiscoSansTT Medium"/>
                <a:cs typeface="CiscoSansTT Medium"/>
              </a:defRPr>
            </a:lvl8pPr>
            <a:lvl9pPr algn="l">
              <a:defRPr sz="2175" b="1">
                <a:solidFill>
                  <a:srgbClr val="07182A"/>
                </a:solidFill>
                <a:latin typeface="CiscoSansTT Medium"/>
                <a:ea typeface="CiscoSansTT Medium"/>
                <a:cs typeface="CiscoSansTT Medium"/>
              </a:defRPr>
            </a:lvl9pPr>
          </a:lstStyle>
          <a:p>
            <a:pPr algn="l">
              <a:buNone/>
              <a:defRPr sz="2175" b="1">
                <a:solidFill>
                  <a:srgbClr val="07182A"/>
                </a:solidFill>
                <a:latin typeface="CiscoSansTT Medium"/>
                <a:ea typeface="CiscoSansTT Medium"/>
                <a:cs typeface="CiscoSansTT Medium"/>
              </a:defRPr>
            </a:pPr>
            <a:r>
              <a:rPr sz="2175" b="1">
                <a:solidFill>
                  <a:srgbClr val="07182A"/>
                </a:solidFill>
                <a:latin typeface="CiscoSansTT Medium"/>
                <a:ea typeface="CiscoSansTT Medium"/>
                <a:cs typeface="CiscoSansTT Medium"/>
              </a:rPr>
              <a:t>Data volume</a:t>
            </a:r>
          </a:p>
        </p:txBody>
      </p:sp>
      <p:sp>
        <p:nvSpPr>
          <p:cNvPr id="16" name="Rectangle 15">
            <a:extLst>
              <a:ext uri="{FF2B5EF4-FFF2-40B4-BE49-F238E27FC236}">
                <a16:creationId xmlns:a16="http://schemas.microsoft.com/office/drawing/2014/main" id="{EC182D77-4817-46E5-B999-4E8BF56AE275}"/>
              </a:ext>
            </a:extLst>
          </p:cNvPr>
          <p:cNvSpPr>
            <a:spLocks noGrp="1"/>
          </p:cNvSpPr>
          <p:nvPr/>
        </p:nvSpPr>
        <p:spPr>
          <a:xfrm>
            <a:off x="4286250" y="4724400"/>
            <a:ext cx="6762750" cy="400050"/>
          </a:xfrm>
          <a:prstGeom prst="rect">
            <a:avLst/>
          </a:prstGeom>
          <a:noFill/>
          <a:ln w="0">
            <a:noFill/>
          </a:ln>
        </p:spPr>
        <p:txBody>
          <a:bodyPr anchor="ctr">
            <a:noAutofit/>
          </a:bodyPr>
          <a:lstStyle>
            <a:defPPr algn="l">
              <a:defRPr sz="1875" b="0">
                <a:solidFill>
                  <a:srgbClr val="686B6B"/>
                </a:solidFill>
                <a:latin typeface="CiscoSansTT"/>
                <a:ea typeface="CiscoSansTT"/>
                <a:cs typeface="CiscoSansTT"/>
              </a:defRPr>
            </a:defPPr>
            <a:lvl1pPr algn="l">
              <a:defRPr sz="1875" b="0">
                <a:solidFill>
                  <a:srgbClr val="686B6B"/>
                </a:solidFill>
                <a:latin typeface="CiscoSansTT"/>
                <a:ea typeface="CiscoSansTT"/>
                <a:cs typeface="CiscoSansTT"/>
              </a:defRPr>
            </a:lvl1pPr>
            <a:lvl2pPr algn="l">
              <a:defRPr sz="1875" b="0">
                <a:solidFill>
                  <a:srgbClr val="686B6B"/>
                </a:solidFill>
                <a:latin typeface="CiscoSansTT"/>
                <a:ea typeface="CiscoSansTT"/>
                <a:cs typeface="CiscoSansTT"/>
              </a:defRPr>
            </a:lvl2pPr>
            <a:lvl3pPr algn="l">
              <a:defRPr sz="1875" b="0">
                <a:solidFill>
                  <a:srgbClr val="686B6B"/>
                </a:solidFill>
                <a:latin typeface="CiscoSansTT"/>
                <a:ea typeface="CiscoSansTT"/>
                <a:cs typeface="CiscoSansTT"/>
              </a:defRPr>
            </a:lvl3pPr>
            <a:lvl4pPr algn="l">
              <a:defRPr sz="1875" b="0">
                <a:solidFill>
                  <a:srgbClr val="686B6B"/>
                </a:solidFill>
                <a:latin typeface="CiscoSansTT"/>
                <a:ea typeface="CiscoSansTT"/>
                <a:cs typeface="CiscoSansTT"/>
              </a:defRPr>
            </a:lvl4pPr>
            <a:lvl5pPr algn="l">
              <a:defRPr sz="1875" b="0">
                <a:solidFill>
                  <a:srgbClr val="686B6B"/>
                </a:solidFill>
                <a:latin typeface="CiscoSansTT"/>
                <a:ea typeface="CiscoSansTT"/>
                <a:cs typeface="CiscoSansTT"/>
              </a:defRPr>
            </a:lvl5pPr>
            <a:lvl6pPr algn="l">
              <a:defRPr sz="1875" b="0">
                <a:solidFill>
                  <a:srgbClr val="686B6B"/>
                </a:solidFill>
                <a:latin typeface="CiscoSansTT"/>
                <a:ea typeface="CiscoSansTT"/>
                <a:cs typeface="CiscoSansTT"/>
              </a:defRPr>
            </a:lvl6pPr>
            <a:lvl7pPr algn="l">
              <a:defRPr sz="1875" b="0">
                <a:solidFill>
                  <a:srgbClr val="686B6B"/>
                </a:solidFill>
                <a:latin typeface="CiscoSansTT"/>
                <a:ea typeface="CiscoSansTT"/>
                <a:cs typeface="CiscoSansTT"/>
              </a:defRPr>
            </a:lvl7pPr>
            <a:lvl8pPr algn="l">
              <a:defRPr sz="1875" b="0">
                <a:solidFill>
                  <a:srgbClr val="686B6B"/>
                </a:solidFill>
                <a:latin typeface="CiscoSansTT"/>
                <a:ea typeface="CiscoSansTT"/>
                <a:cs typeface="CiscoSansTT"/>
              </a:defRPr>
            </a:lvl8pPr>
            <a:lvl9pPr algn="l">
              <a:defRPr sz="1875" b="0">
                <a:solidFill>
                  <a:srgbClr val="686B6B"/>
                </a:solidFill>
                <a:latin typeface="CiscoSansTT"/>
                <a:ea typeface="CiscoSansTT"/>
                <a:cs typeface="CiscoSansTT"/>
              </a:defRPr>
            </a:lvl9pPr>
          </a:lstStyle>
          <a:p>
            <a:pPr algn="l">
              <a:buNone/>
              <a:defRPr sz="1875" b="0">
                <a:solidFill>
                  <a:srgbClr val="686B6B"/>
                </a:solidFill>
                <a:latin typeface="CiscoSansTT"/>
                <a:ea typeface="CiscoSansTT"/>
                <a:cs typeface="CiscoSansTT"/>
              </a:defRPr>
            </a:pPr>
            <a:r>
              <a:rPr sz="1875" b="0">
                <a:solidFill>
                  <a:srgbClr val="686B6B"/>
                </a:solidFill>
                <a:latin typeface="CiscoSansTT"/>
                <a:ea typeface="CiscoSansTT"/>
                <a:cs typeface="CiscoSansTT"/>
              </a:rPr>
              <a:t>How much telemetry do you send and store?</a:t>
            </a:r>
          </a:p>
        </p:txBody>
      </p:sp>
      <p:sp>
        <p:nvSpPr>
          <p:cNvPr id="17" name="Rectangle 16">
            <a:extLst>
              <a:ext uri="{FF2B5EF4-FFF2-40B4-BE49-F238E27FC236}">
                <a16:creationId xmlns:a16="http://schemas.microsoft.com/office/drawing/2014/main" id="{B22D68FA-8D4A-4E44-A997-C6CD8B29C3E3}"/>
              </a:ext>
            </a:extLst>
          </p:cNvPr>
          <p:cNvSpPr>
            <a:spLocks noGrp="1"/>
          </p:cNvSpPr>
          <p:nvPr/>
        </p:nvSpPr>
        <p:spPr>
          <a:xfrm>
            <a:off x="1619250" y="5334000"/>
            <a:ext cx="9429750" cy="9525"/>
          </a:xfrm>
          <a:prstGeom prst="rect">
            <a:avLst/>
          </a:prstGeom>
          <a:solidFill>
            <a:srgbClr val="D6D6D6"/>
          </a:solidFill>
          <a:ln w="0">
            <a:noFill/>
          </a:ln>
        </p:spPr>
        <p:txBody>
          <a:bodyPr/>
          <a:lstStyle/>
          <a:p>
            <a:endParaRPr/>
          </a:p>
        </p:txBody>
      </p:sp>
      <p:sp>
        <p:nvSpPr>
          <p:cNvPr id="18" name="Rounded Rectangle 17">
            <a:extLst>
              <a:ext uri="{FF2B5EF4-FFF2-40B4-BE49-F238E27FC236}">
                <a16:creationId xmlns:a16="http://schemas.microsoft.com/office/drawing/2014/main" id="{B2A1EB50-E968-4E50-A168-D3F4D32BBD54}"/>
              </a:ext>
            </a:extLst>
          </p:cNvPr>
          <p:cNvSpPr>
            <a:spLocks noGrp="1"/>
          </p:cNvSpPr>
          <p:nvPr/>
        </p:nvSpPr>
        <p:spPr>
          <a:xfrm>
            <a:off x="1619250" y="5734050"/>
            <a:ext cx="9429750" cy="457200"/>
          </a:xfrm>
          <a:prstGeom prst="roundRect">
            <a:avLst>
              <a:gd name="adj" fmla="val 16667"/>
            </a:avLst>
          </a:prstGeom>
          <a:solidFill>
            <a:srgbClr val="07182A"/>
          </a:solidFill>
          <a:ln w="0">
            <a:noFill/>
          </a:ln>
        </p:spPr>
        <p:txBody>
          <a:bodyPr/>
          <a:lstStyle/>
          <a:p>
            <a:endParaRPr/>
          </a:p>
        </p:txBody>
      </p:sp>
      <p:sp>
        <p:nvSpPr>
          <p:cNvPr id="19" name="Rectangle 18">
            <a:extLst>
              <a:ext uri="{FF2B5EF4-FFF2-40B4-BE49-F238E27FC236}">
                <a16:creationId xmlns:a16="http://schemas.microsoft.com/office/drawing/2014/main" id="{585865DE-64D1-4422-A0F9-E558EA8A8F88}"/>
              </a:ext>
            </a:extLst>
          </p:cNvPr>
          <p:cNvSpPr>
            <a:spLocks noGrp="1"/>
          </p:cNvSpPr>
          <p:nvPr/>
        </p:nvSpPr>
        <p:spPr>
          <a:xfrm>
            <a:off x="1905000" y="5810250"/>
            <a:ext cx="8858250" cy="304800"/>
          </a:xfrm>
          <a:prstGeom prst="rect">
            <a:avLst/>
          </a:prstGeom>
          <a:noFill/>
          <a:ln w="0">
            <a:noFill/>
          </a:ln>
        </p:spPr>
        <p:txBody>
          <a:bodyPr anchor="ctr">
            <a:noAutofit/>
          </a:bodyPr>
          <a:lstStyle>
            <a:defPPr algn="ctr">
              <a:defRPr sz="1725" b="1">
                <a:solidFill>
                  <a:srgbClr val="FFFFFF"/>
                </a:solidFill>
                <a:latin typeface="CiscoSansTT Medium"/>
                <a:ea typeface="CiscoSansTT Medium"/>
                <a:cs typeface="CiscoSansTT Medium"/>
              </a:defRPr>
            </a:defPPr>
            <a:lvl1pPr algn="ctr">
              <a:defRPr sz="1725" b="1">
                <a:solidFill>
                  <a:srgbClr val="FFFFFF"/>
                </a:solidFill>
                <a:latin typeface="CiscoSansTT Medium"/>
                <a:ea typeface="CiscoSansTT Medium"/>
                <a:cs typeface="CiscoSansTT Medium"/>
              </a:defRPr>
            </a:lvl1pPr>
            <a:lvl2pPr algn="ctr">
              <a:defRPr sz="1725" b="1">
                <a:solidFill>
                  <a:srgbClr val="FFFFFF"/>
                </a:solidFill>
                <a:latin typeface="CiscoSansTT Medium"/>
                <a:ea typeface="CiscoSansTT Medium"/>
                <a:cs typeface="CiscoSansTT Medium"/>
              </a:defRPr>
            </a:lvl2pPr>
            <a:lvl3pPr algn="ctr">
              <a:defRPr sz="1725" b="1">
                <a:solidFill>
                  <a:srgbClr val="FFFFFF"/>
                </a:solidFill>
                <a:latin typeface="CiscoSansTT Medium"/>
                <a:ea typeface="CiscoSansTT Medium"/>
                <a:cs typeface="CiscoSansTT Medium"/>
              </a:defRPr>
            </a:lvl3pPr>
            <a:lvl4pPr algn="ctr">
              <a:defRPr sz="1725" b="1">
                <a:solidFill>
                  <a:srgbClr val="FFFFFF"/>
                </a:solidFill>
                <a:latin typeface="CiscoSansTT Medium"/>
                <a:ea typeface="CiscoSansTT Medium"/>
                <a:cs typeface="CiscoSansTT Medium"/>
              </a:defRPr>
            </a:lvl4pPr>
            <a:lvl5pPr algn="ctr">
              <a:defRPr sz="1725" b="1">
                <a:solidFill>
                  <a:srgbClr val="FFFFFF"/>
                </a:solidFill>
                <a:latin typeface="CiscoSansTT Medium"/>
                <a:ea typeface="CiscoSansTT Medium"/>
                <a:cs typeface="CiscoSansTT Medium"/>
              </a:defRPr>
            </a:lvl5pPr>
            <a:lvl6pPr algn="ctr">
              <a:defRPr sz="1725" b="1">
                <a:solidFill>
                  <a:srgbClr val="FFFFFF"/>
                </a:solidFill>
                <a:latin typeface="CiscoSansTT Medium"/>
                <a:ea typeface="CiscoSansTT Medium"/>
                <a:cs typeface="CiscoSansTT Medium"/>
              </a:defRPr>
            </a:lvl6pPr>
            <a:lvl7pPr algn="ctr">
              <a:defRPr sz="1725" b="1">
                <a:solidFill>
                  <a:srgbClr val="FFFFFF"/>
                </a:solidFill>
                <a:latin typeface="CiscoSansTT Medium"/>
                <a:ea typeface="CiscoSansTT Medium"/>
                <a:cs typeface="CiscoSansTT Medium"/>
              </a:defRPr>
            </a:lvl7pPr>
            <a:lvl8pPr algn="ctr">
              <a:defRPr sz="1725" b="1">
                <a:solidFill>
                  <a:srgbClr val="FFFFFF"/>
                </a:solidFill>
                <a:latin typeface="CiscoSansTT Medium"/>
                <a:ea typeface="CiscoSansTT Medium"/>
                <a:cs typeface="CiscoSansTT Medium"/>
              </a:defRPr>
            </a:lvl8pPr>
            <a:lvl9pPr algn="ctr">
              <a:defRPr sz="1725" b="1">
                <a:solidFill>
                  <a:srgbClr val="FFFFFF"/>
                </a:solidFill>
                <a:latin typeface="CiscoSansTT Medium"/>
                <a:ea typeface="CiscoSansTT Medium"/>
                <a:cs typeface="CiscoSansTT Medium"/>
              </a:defRPr>
            </a:lvl9pPr>
          </a:lstStyle>
          <a:p>
            <a:pPr algn="ctr">
              <a:buNone/>
              <a:defRPr sz="1725" b="1">
                <a:solidFill>
                  <a:srgbClr val="FFFFFF"/>
                </a:solidFill>
                <a:latin typeface="CiscoSansTT Medium"/>
                <a:ea typeface="CiscoSansTT Medium"/>
                <a:cs typeface="CiscoSansTT Medium"/>
              </a:defRPr>
            </a:pPr>
            <a:r>
              <a:rPr sz="1725" b="1">
                <a:solidFill>
                  <a:srgbClr val="FFFFFF"/>
                </a:solidFill>
                <a:latin typeface="CiscoSansTT Medium"/>
                <a:ea typeface="CiscoSansTT Medium"/>
                <a:cs typeface="CiscoSansTT Medium"/>
              </a:rPr>
              <a:t>Set acceptable limits, then compare OBI off with OBI on.</a:t>
            </a:r>
          </a:p>
        </p:txBody>
      </p:sp>
    </p:spTree>
    <p:extLst>
      <p:ext uri="{BB962C8B-B14F-4D97-AF65-F5344CB8AC3E}">
        <p14:creationId xmlns:p14="http://schemas.microsoft.com/office/powerpoint/2010/main" val="188285791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p:txBody>
          <a:bodyPr anchor="ctr"/>
          <a:lstStyle>
            <a:lvl1pPr>
              <a:buNone/>
              <a:defRPr sz="4000">
                <a:solidFill>
                  <a:schemeClr val="bg1"/>
                </a:solidFill>
              </a:defRPr>
            </a:lvl1pPr>
          </a:lstStyle>
          <a:p>
            <a:r>
              <a:t>Production rollout</a:t>
            </a:r>
          </a:p>
        </p:txBody>
      </p:sp>
    </p:spTree>
    <p:extLst>
      <p:ext uri="{BB962C8B-B14F-4D97-AF65-F5344CB8AC3E}">
        <p14:creationId xmlns:p14="http://schemas.microsoft.com/office/powerpoint/2010/main" val="159025230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title">
            <a:extLst>
              <a:ext uri="{FF2B5EF4-FFF2-40B4-BE49-F238E27FC236}">
                <a16:creationId xmlns:a16="http://schemas.microsoft.com/office/drawing/2014/main" id="{0804FCC2-7680-4AC0-BBC5-FBB9F3E982E3}"/>
              </a:ext>
            </a:extLst>
          </p:cNvPr>
          <p:cNvSpPr>
            <a:spLocks noGrp="1"/>
          </p:cNvSpPr>
          <p:nvPr/>
        </p:nvSpPr>
        <p:spPr>
          <a:xfrm>
            <a:off x="323850" y="228600"/>
            <a:ext cx="11049000" cy="685800"/>
          </a:xfrm>
          <a:prstGeom prst="rect">
            <a:avLst/>
          </a:prstGeom>
          <a:noFill/>
          <a:ln w="0">
            <a:noFill/>
          </a:ln>
        </p:spPr>
        <p:txBody>
          <a:bodyPr anchor="ctr">
            <a:noAutofit/>
          </a:bodyPr>
          <a:lstStyle>
            <a:defPPr algn="l">
              <a:defRPr sz="3000" b="1">
                <a:solidFill>
                  <a:srgbClr val="07182A"/>
                </a:solidFill>
                <a:latin typeface="CiscoSansTT Medium"/>
                <a:ea typeface="CiscoSansTT Medium"/>
                <a:cs typeface="CiscoSansTT Medium"/>
              </a:defRPr>
            </a:defPPr>
            <a:lvl1pPr algn="l">
              <a:buNone/>
              <a:defRPr sz="3000" b="1">
                <a:solidFill>
                  <a:srgbClr val="07182A"/>
                </a:solidFill>
                <a:latin typeface="CiscoSansTT Medium"/>
                <a:ea typeface="CiscoSansTT Medium"/>
                <a:cs typeface="CiscoSansTT Medium"/>
              </a:defRPr>
            </a:lvl1pPr>
            <a:lvl2pPr algn="l">
              <a:buNone/>
              <a:defRPr sz="3000" b="1">
                <a:solidFill>
                  <a:srgbClr val="07182A"/>
                </a:solidFill>
                <a:latin typeface="CiscoSansTT Medium"/>
                <a:ea typeface="CiscoSansTT Medium"/>
                <a:cs typeface="CiscoSansTT Medium"/>
              </a:defRPr>
            </a:lvl2pPr>
            <a:lvl3pPr algn="l">
              <a:buNone/>
              <a:defRPr sz="3000" b="1">
                <a:solidFill>
                  <a:srgbClr val="07182A"/>
                </a:solidFill>
                <a:latin typeface="CiscoSansTT Medium"/>
                <a:ea typeface="CiscoSansTT Medium"/>
                <a:cs typeface="CiscoSansTT Medium"/>
              </a:defRPr>
            </a:lvl3pPr>
            <a:lvl4pPr algn="l">
              <a:buNone/>
              <a:defRPr sz="3000" b="1">
                <a:solidFill>
                  <a:srgbClr val="07182A"/>
                </a:solidFill>
                <a:latin typeface="CiscoSansTT Medium"/>
                <a:ea typeface="CiscoSansTT Medium"/>
                <a:cs typeface="CiscoSansTT Medium"/>
              </a:defRPr>
            </a:lvl4pPr>
            <a:lvl5pPr algn="l">
              <a:buNone/>
              <a:defRPr sz="3000" b="1">
                <a:solidFill>
                  <a:srgbClr val="07182A"/>
                </a:solidFill>
                <a:latin typeface="CiscoSansTT Medium"/>
                <a:ea typeface="CiscoSansTT Medium"/>
                <a:cs typeface="CiscoSansTT Medium"/>
              </a:defRPr>
            </a:lvl5pPr>
            <a:lvl6pPr algn="l">
              <a:buNone/>
              <a:defRPr sz="3000" b="1">
                <a:solidFill>
                  <a:srgbClr val="07182A"/>
                </a:solidFill>
                <a:latin typeface="CiscoSansTT Medium"/>
                <a:ea typeface="CiscoSansTT Medium"/>
                <a:cs typeface="CiscoSansTT Medium"/>
              </a:defRPr>
            </a:lvl6pPr>
            <a:lvl7pPr algn="l">
              <a:buNone/>
              <a:defRPr sz="3000" b="1">
                <a:solidFill>
                  <a:srgbClr val="07182A"/>
                </a:solidFill>
                <a:latin typeface="CiscoSansTT Medium"/>
                <a:ea typeface="CiscoSansTT Medium"/>
                <a:cs typeface="CiscoSansTT Medium"/>
              </a:defRPr>
            </a:lvl7pPr>
            <a:lvl8pPr algn="l">
              <a:buNone/>
              <a:defRPr sz="3000" b="1">
                <a:solidFill>
                  <a:srgbClr val="07182A"/>
                </a:solidFill>
                <a:latin typeface="CiscoSansTT Medium"/>
                <a:ea typeface="CiscoSansTT Medium"/>
                <a:cs typeface="CiscoSansTT Medium"/>
              </a:defRPr>
            </a:lvl8pPr>
            <a:lvl9pPr algn="l">
              <a:buNone/>
              <a:defRPr sz="3000" b="1">
                <a:solidFill>
                  <a:srgbClr val="07182A"/>
                </a:solidFill>
                <a:latin typeface="CiscoSansTT Medium"/>
                <a:ea typeface="CiscoSansTT Medium"/>
                <a:cs typeface="CiscoSansTT Medium"/>
              </a:defRPr>
            </a:lvl9p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How to roll out OBI gradually</a:t>
            </a:r>
          </a:p>
        </p:txBody>
      </p:sp>
      <p:sp>
        <p:nvSpPr>
          <p:cNvPr id="24" name="rollout-number-1">
            <a:extLst>
              <a:ext uri="{FF2B5EF4-FFF2-40B4-BE49-F238E27FC236}">
                <a16:creationId xmlns:a16="http://schemas.microsoft.com/office/drawing/2014/main" id="{9308E42D-368D-42DF-BAAF-1095889907AF}"/>
              </a:ext>
            </a:extLst>
          </p:cNvPr>
          <p:cNvSpPr>
            <a:spLocks noGrp="1"/>
          </p:cNvSpPr>
          <p:nvPr/>
        </p:nvSpPr>
        <p:spPr>
          <a:xfrm>
            <a:off x="1990725" y="1562100"/>
            <a:ext cx="590550" cy="400050"/>
          </a:xfrm>
          <a:prstGeom prst="roundRect">
            <a:avLst>
              <a:gd name="adj" fmla="val 16667"/>
            </a:avLst>
          </a:prstGeom>
          <a:solidFill>
            <a:srgbClr val="0860FE"/>
          </a:solidFill>
          <a:ln w="11906">
            <a:solidFill>
              <a:srgbClr val="0860FE"/>
            </a:solidFill>
          </a:ln>
        </p:spPr>
        <p:txBody>
          <a:bodyPr/>
          <a:lstStyle/>
          <a:p>
            <a:endParaRPr lang="en-ES"/>
          </a:p>
        </p:txBody>
      </p:sp>
      <p:sp>
        <p:nvSpPr>
          <p:cNvPr id="25" name="rollout-number-text-1">
            <a:extLst>
              <a:ext uri="{FF2B5EF4-FFF2-40B4-BE49-F238E27FC236}">
                <a16:creationId xmlns:a16="http://schemas.microsoft.com/office/drawing/2014/main" id="{619226F0-2C55-4B95-86FA-7FF888CBDC86}"/>
              </a:ext>
            </a:extLst>
          </p:cNvPr>
          <p:cNvSpPr>
            <a:spLocks noGrp="1"/>
          </p:cNvSpPr>
          <p:nvPr/>
        </p:nvSpPr>
        <p:spPr>
          <a:xfrm>
            <a:off x="1990725" y="1562100"/>
            <a:ext cx="590550" cy="400050"/>
          </a:xfrm>
          <a:prstGeom prst="rect">
            <a:avLst/>
          </a:prstGeom>
          <a:noFill/>
          <a:ln w="0">
            <a:noFill/>
          </a:ln>
        </p:spPr>
        <p:txBody>
          <a:bodyPr anchor="ctr">
            <a:noAutofit/>
          </a:bodyPr>
          <a:lstStyle>
            <a:defPPr algn="ctr">
              <a:defRPr sz="1725" b="1">
                <a:solidFill>
                  <a:srgbClr val="FFFFFF"/>
                </a:solidFill>
                <a:latin typeface="CiscoSansTT Medium"/>
                <a:ea typeface="CiscoSansTT Medium"/>
                <a:cs typeface="CiscoSansTT Medium"/>
              </a:defRPr>
            </a:defPPr>
            <a:lvl1pPr algn="ctr">
              <a:defRPr sz="1725" b="1">
                <a:solidFill>
                  <a:srgbClr val="FFFFFF"/>
                </a:solidFill>
                <a:latin typeface="CiscoSansTT Medium"/>
                <a:ea typeface="CiscoSansTT Medium"/>
                <a:cs typeface="CiscoSansTT Medium"/>
              </a:defRPr>
            </a:lvl1pPr>
            <a:lvl2pPr algn="ctr">
              <a:defRPr sz="1725" b="1">
                <a:solidFill>
                  <a:srgbClr val="FFFFFF"/>
                </a:solidFill>
                <a:latin typeface="CiscoSansTT Medium"/>
                <a:ea typeface="CiscoSansTT Medium"/>
                <a:cs typeface="CiscoSansTT Medium"/>
              </a:defRPr>
            </a:lvl2pPr>
            <a:lvl3pPr algn="ctr">
              <a:defRPr sz="1725" b="1">
                <a:solidFill>
                  <a:srgbClr val="FFFFFF"/>
                </a:solidFill>
                <a:latin typeface="CiscoSansTT Medium"/>
                <a:ea typeface="CiscoSansTT Medium"/>
                <a:cs typeface="CiscoSansTT Medium"/>
              </a:defRPr>
            </a:lvl3pPr>
            <a:lvl4pPr algn="ctr">
              <a:defRPr sz="1725" b="1">
                <a:solidFill>
                  <a:srgbClr val="FFFFFF"/>
                </a:solidFill>
                <a:latin typeface="CiscoSansTT Medium"/>
                <a:ea typeface="CiscoSansTT Medium"/>
                <a:cs typeface="CiscoSansTT Medium"/>
              </a:defRPr>
            </a:lvl4pPr>
            <a:lvl5pPr algn="ctr">
              <a:defRPr sz="1725" b="1">
                <a:solidFill>
                  <a:srgbClr val="FFFFFF"/>
                </a:solidFill>
                <a:latin typeface="CiscoSansTT Medium"/>
                <a:ea typeface="CiscoSansTT Medium"/>
                <a:cs typeface="CiscoSansTT Medium"/>
              </a:defRPr>
            </a:lvl5pPr>
            <a:lvl6pPr algn="ctr">
              <a:defRPr sz="1725" b="1">
                <a:solidFill>
                  <a:srgbClr val="FFFFFF"/>
                </a:solidFill>
                <a:latin typeface="CiscoSansTT Medium"/>
                <a:ea typeface="CiscoSansTT Medium"/>
                <a:cs typeface="CiscoSansTT Medium"/>
              </a:defRPr>
            </a:lvl6pPr>
            <a:lvl7pPr algn="ctr">
              <a:defRPr sz="1725" b="1">
                <a:solidFill>
                  <a:srgbClr val="FFFFFF"/>
                </a:solidFill>
                <a:latin typeface="CiscoSansTT Medium"/>
                <a:ea typeface="CiscoSansTT Medium"/>
                <a:cs typeface="CiscoSansTT Medium"/>
              </a:defRPr>
            </a:lvl7pPr>
            <a:lvl8pPr algn="ctr">
              <a:defRPr sz="1725" b="1">
                <a:solidFill>
                  <a:srgbClr val="FFFFFF"/>
                </a:solidFill>
                <a:latin typeface="CiscoSansTT Medium"/>
                <a:ea typeface="CiscoSansTT Medium"/>
                <a:cs typeface="CiscoSansTT Medium"/>
              </a:defRPr>
            </a:lvl8pPr>
            <a:lvl9pPr algn="ctr">
              <a:defRPr sz="1725" b="1">
                <a:solidFill>
                  <a:srgbClr val="FFFFFF"/>
                </a:solidFill>
                <a:latin typeface="CiscoSansTT Medium"/>
                <a:ea typeface="CiscoSansTT Medium"/>
                <a:cs typeface="CiscoSansTT Medium"/>
              </a:defRPr>
            </a:lvl9pPr>
          </a:lstStyle>
          <a:p>
            <a:pPr algn="ctr">
              <a:defRPr sz="1725" b="1">
                <a:solidFill>
                  <a:srgbClr val="FFFFFF"/>
                </a:solidFill>
                <a:latin typeface="CiscoSansTT Medium"/>
                <a:ea typeface="CiscoSansTT Medium"/>
                <a:cs typeface="CiscoSansTT Medium"/>
              </a:defRPr>
            </a:pPr>
            <a:r>
              <a:rPr sz="1725" b="1">
                <a:solidFill>
                  <a:srgbClr val="FFFFFF"/>
                </a:solidFill>
                <a:latin typeface="CiscoSansTT Medium"/>
                <a:ea typeface="CiscoSansTT Medium"/>
                <a:cs typeface="CiscoSansTT Medium"/>
              </a:rPr>
              <a:t>1</a:t>
            </a:r>
          </a:p>
        </p:txBody>
      </p:sp>
      <p:sp>
        <p:nvSpPr>
          <p:cNvPr id="26" name="rollout-stage-1">
            <a:extLst>
              <a:ext uri="{FF2B5EF4-FFF2-40B4-BE49-F238E27FC236}">
                <a16:creationId xmlns:a16="http://schemas.microsoft.com/office/drawing/2014/main" id="{0D9F601A-DCFA-40AE-9459-F28334FCE873}"/>
              </a:ext>
            </a:extLst>
          </p:cNvPr>
          <p:cNvSpPr>
            <a:spLocks noGrp="1"/>
          </p:cNvSpPr>
          <p:nvPr/>
        </p:nvSpPr>
        <p:spPr>
          <a:xfrm>
            <a:off x="857250" y="2238375"/>
            <a:ext cx="2857500" cy="857250"/>
          </a:xfrm>
          <a:prstGeom prst="roundRect">
            <a:avLst>
              <a:gd name="adj" fmla="val 7778"/>
            </a:avLst>
          </a:prstGeom>
          <a:solidFill>
            <a:srgbClr val="EAF8FC"/>
          </a:solidFill>
          <a:ln w="11906">
            <a:solidFill>
              <a:srgbClr val="0860FE"/>
            </a:solidFill>
          </a:ln>
        </p:spPr>
        <p:txBody>
          <a:bodyPr/>
          <a:lstStyle/>
          <a:p>
            <a:endParaRPr lang="en-ES"/>
          </a:p>
        </p:txBody>
      </p:sp>
      <p:sp>
        <p:nvSpPr>
          <p:cNvPr id="27" name="rollout-heading-1">
            <a:extLst>
              <a:ext uri="{FF2B5EF4-FFF2-40B4-BE49-F238E27FC236}">
                <a16:creationId xmlns:a16="http://schemas.microsoft.com/office/drawing/2014/main" id="{4DADEB56-54C0-4C4E-97F2-0BFC936E3F54}"/>
              </a:ext>
            </a:extLst>
          </p:cNvPr>
          <p:cNvSpPr>
            <a:spLocks noGrp="1"/>
          </p:cNvSpPr>
          <p:nvPr/>
        </p:nvSpPr>
        <p:spPr>
          <a:xfrm>
            <a:off x="952500" y="2333625"/>
            <a:ext cx="2667000" cy="666750"/>
          </a:xfrm>
          <a:prstGeom prst="rect">
            <a:avLst/>
          </a:prstGeom>
          <a:noFill/>
          <a:ln w="0">
            <a:noFill/>
          </a:ln>
        </p:spPr>
        <p:txBody>
          <a:bodyPr anchor="ctr">
            <a:noAutofit/>
          </a:bodyPr>
          <a:lstStyle>
            <a:defPPr algn="ctr">
              <a:defRPr sz="2175" b="1">
                <a:solidFill>
                  <a:srgbClr val="07182A"/>
                </a:solidFill>
                <a:latin typeface="CiscoSansTT Medium"/>
                <a:ea typeface="CiscoSansTT Medium"/>
                <a:cs typeface="CiscoSansTT Medium"/>
              </a:defRPr>
            </a:defPPr>
            <a:lvl1pPr algn="ctr">
              <a:defRPr sz="2175" b="1">
                <a:solidFill>
                  <a:srgbClr val="07182A"/>
                </a:solidFill>
                <a:latin typeface="CiscoSansTT Medium"/>
                <a:ea typeface="CiscoSansTT Medium"/>
                <a:cs typeface="CiscoSansTT Medium"/>
              </a:defRPr>
            </a:lvl1pPr>
            <a:lvl2pPr algn="ctr">
              <a:defRPr sz="2175" b="1">
                <a:solidFill>
                  <a:srgbClr val="07182A"/>
                </a:solidFill>
                <a:latin typeface="CiscoSansTT Medium"/>
                <a:ea typeface="CiscoSansTT Medium"/>
                <a:cs typeface="CiscoSansTT Medium"/>
              </a:defRPr>
            </a:lvl2pPr>
            <a:lvl3pPr algn="ctr">
              <a:defRPr sz="2175" b="1">
                <a:solidFill>
                  <a:srgbClr val="07182A"/>
                </a:solidFill>
                <a:latin typeface="CiscoSansTT Medium"/>
                <a:ea typeface="CiscoSansTT Medium"/>
                <a:cs typeface="CiscoSansTT Medium"/>
              </a:defRPr>
            </a:lvl3pPr>
            <a:lvl4pPr algn="ctr">
              <a:defRPr sz="2175" b="1">
                <a:solidFill>
                  <a:srgbClr val="07182A"/>
                </a:solidFill>
                <a:latin typeface="CiscoSansTT Medium"/>
                <a:ea typeface="CiscoSansTT Medium"/>
                <a:cs typeface="CiscoSansTT Medium"/>
              </a:defRPr>
            </a:lvl4pPr>
            <a:lvl5pPr algn="ctr">
              <a:defRPr sz="2175" b="1">
                <a:solidFill>
                  <a:srgbClr val="07182A"/>
                </a:solidFill>
                <a:latin typeface="CiscoSansTT Medium"/>
                <a:ea typeface="CiscoSansTT Medium"/>
                <a:cs typeface="CiscoSansTT Medium"/>
              </a:defRPr>
            </a:lvl5pPr>
            <a:lvl6pPr algn="ctr">
              <a:defRPr sz="2175" b="1">
                <a:solidFill>
                  <a:srgbClr val="07182A"/>
                </a:solidFill>
                <a:latin typeface="CiscoSansTT Medium"/>
                <a:ea typeface="CiscoSansTT Medium"/>
                <a:cs typeface="CiscoSansTT Medium"/>
              </a:defRPr>
            </a:lvl6pPr>
            <a:lvl7pPr algn="ctr">
              <a:defRPr sz="2175" b="1">
                <a:solidFill>
                  <a:srgbClr val="07182A"/>
                </a:solidFill>
                <a:latin typeface="CiscoSansTT Medium"/>
                <a:ea typeface="CiscoSansTT Medium"/>
                <a:cs typeface="CiscoSansTT Medium"/>
              </a:defRPr>
            </a:lvl7pPr>
            <a:lvl8pPr algn="ctr">
              <a:defRPr sz="2175" b="1">
                <a:solidFill>
                  <a:srgbClr val="07182A"/>
                </a:solidFill>
                <a:latin typeface="CiscoSansTT Medium"/>
                <a:ea typeface="CiscoSansTT Medium"/>
                <a:cs typeface="CiscoSansTT Medium"/>
              </a:defRPr>
            </a:lvl8pPr>
            <a:lvl9pPr algn="ctr">
              <a:defRPr sz="2175" b="1">
                <a:solidFill>
                  <a:srgbClr val="07182A"/>
                </a:solidFill>
                <a:latin typeface="CiscoSansTT Medium"/>
                <a:ea typeface="CiscoSansTT Medium"/>
                <a:cs typeface="CiscoSansTT Medium"/>
              </a:defRPr>
            </a:lvl9pPr>
          </a:lstStyle>
          <a:p>
            <a:pPr algn="ctr">
              <a:defRPr sz="2175" b="1">
                <a:solidFill>
                  <a:srgbClr val="07182A"/>
                </a:solidFill>
                <a:latin typeface="CiscoSansTT Medium"/>
                <a:ea typeface="CiscoSansTT Medium"/>
                <a:cs typeface="CiscoSansTT Medium"/>
              </a:defRPr>
            </a:pPr>
            <a:r>
              <a:rPr sz="2175" b="1">
                <a:solidFill>
                  <a:srgbClr val="07182A"/>
                </a:solidFill>
                <a:latin typeface="CiscoSansTT Medium"/>
                <a:ea typeface="CiscoSansTT Medium"/>
                <a:cs typeface="CiscoSansTT Medium"/>
              </a:rPr>
              <a:t>Start small</a:t>
            </a:r>
          </a:p>
        </p:txBody>
      </p:sp>
      <p:sp>
        <p:nvSpPr>
          <p:cNvPr id="28" name="rollout-detail-1">
            <a:extLst>
              <a:ext uri="{FF2B5EF4-FFF2-40B4-BE49-F238E27FC236}">
                <a16:creationId xmlns:a16="http://schemas.microsoft.com/office/drawing/2014/main" id="{A6BA2584-1CA0-4DCB-9D32-CE2A9205A391}"/>
              </a:ext>
            </a:extLst>
          </p:cNvPr>
          <p:cNvSpPr>
            <a:spLocks noGrp="1"/>
          </p:cNvSpPr>
          <p:nvPr/>
        </p:nvSpPr>
        <p:spPr>
          <a:xfrm>
            <a:off x="762000" y="3333750"/>
            <a:ext cx="3048000" cy="952500"/>
          </a:xfrm>
          <a:prstGeom prst="rect">
            <a:avLst/>
          </a:prstGeom>
          <a:noFill/>
          <a:ln w="0">
            <a:noFill/>
          </a:ln>
        </p:spPr>
        <p:txBody>
          <a:bodyPr anchor="ctr">
            <a:noAutofit/>
          </a:bodyPr>
          <a:lstStyle>
            <a:defPPr algn="ctr">
              <a:defRPr sz="1875" b="0">
                <a:solidFill>
                  <a:srgbClr val="686B6B"/>
                </a:solidFill>
                <a:latin typeface="CiscoSansTT"/>
                <a:ea typeface="CiscoSansTT"/>
                <a:cs typeface="CiscoSansTT"/>
              </a:defRPr>
            </a:defPPr>
            <a:lvl1pPr algn="ctr">
              <a:defRPr sz="1875" b="0">
                <a:solidFill>
                  <a:srgbClr val="686B6B"/>
                </a:solidFill>
                <a:latin typeface="CiscoSansTT"/>
                <a:ea typeface="CiscoSansTT"/>
                <a:cs typeface="CiscoSansTT"/>
              </a:defRPr>
            </a:lvl1pPr>
            <a:lvl2pPr algn="ctr">
              <a:defRPr sz="1875" b="0">
                <a:solidFill>
                  <a:srgbClr val="686B6B"/>
                </a:solidFill>
                <a:latin typeface="CiscoSansTT"/>
                <a:ea typeface="CiscoSansTT"/>
                <a:cs typeface="CiscoSansTT"/>
              </a:defRPr>
            </a:lvl2pPr>
            <a:lvl3pPr algn="ctr">
              <a:defRPr sz="1875" b="0">
                <a:solidFill>
                  <a:srgbClr val="686B6B"/>
                </a:solidFill>
                <a:latin typeface="CiscoSansTT"/>
                <a:ea typeface="CiscoSansTT"/>
                <a:cs typeface="CiscoSansTT"/>
              </a:defRPr>
            </a:lvl3pPr>
            <a:lvl4pPr algn="ctr">
              <a:defRPr sz="1875" b="0">
                <a:solidFill>
                  <a:srgbClr val="686B6B"/>
                </a:solidFill>
                <a:latin typeface="CiscoSansTT"/>
                <a:ea typeface="CiscoSansTT"/>
                <a:cs typeface="CiscoSansTT"/>
              </a:defRPr>
            </a:lvl4pPr>
            <a:lvl5pPr algn="ctr">
              <a:defRPr sz="1875" b="0">
                <a:solidFill>
                  <a:srgbClr val="686B6B"/>
                </a:solidFill>
                <a:latin typeface="CiscoSansTT"/>
                <a:ea typeface="CiscoSansTT"/>
                <a:cs typeface="CiscoSansTT"/>
              </a:defRPr>
            </a:lvl5pPr>
            <a:lvl6pPr algn="ctr">
              <a:defRPr sz="1875" b="0">
                <a:solidFill>
                  <a:srgbClr val="686B6B"/>
                </a:solidFill>
                <a:latin typeface="CiscoSansTT"/>
                <a:ea typeface="CiscoSansTT"/>
                <a:cs typeface="CiscoSansTT"/>
              </a:defRPr>
            </a:lvl6pPr>
            <a:lvl7pPr algn="ctr">
              <a:defRPr sz="1875" b="0">
                <a:solidFill>
                  <a:srgbClr val="686B6B"/>
                </a:solidFill>
                <a:latin typeface="CiscoSansTT"/>
                <a:ea typeface="CiscoSansTT"/>
                <a:cs typeface="CiscoSansTT"/>
              </a:defRPr>
            </a:lvl7pPr>
            <a:lvl8pPr algn="ctr">
              <a:defRPr sz="1875" b="0">
                <a:solidFill>
                  <a:srgbClr val="686B6B"/>
                </a:solidFill>
                <a:latin typeface="CiscoSansTT"/>
                <a:ea typeface="CiscoSansTT"/>
                <a:cs typeface="CiscoSansTT"/>
              </a:defRPr>
            </a:lvl8pPr>
            <a:lvl9pPr algn="ctr">
              <a:defRPr sz="1875" b="0">
                <a:solidFill>
                  <a:srgbClr val="686B6B"/>
                </a:solidFill>
                <a:latin typeface="CiscoSansTT"/>
                <a:ea typeface="CiscoSansTT"/>
                <a:cs typeface="CiscoSansTT"/>
              </a:defRPr>
            </a:lvl9pPr>
          </a:lstStyle>
          <a:p>
            <a:pPr algn="ctr">
              <a:defRPr sz="1875" b="0">
                <a:solidFill>
                  <a:srgbClr val="686B6B"/>
                </a:solidFill>
                <a:latin typeface="CiscoSansTT"/>
                <a:ea typeface="CiscoSansTT"/>
                <a:cs typeface="CiscoSansTT"/>
              </a:defRPr>
            </a:pPr>
            <a:r>
              <a:rPr sz="1875" b="0">
                <a:solidFill>
                  <a:srgbClr val="686B6B"/>
                </a:solidFill>
                <a:latin typeface="CiscoSansTT"/>
                <a:ea typeface="CiscoSansTT"/>
                <a:cs typeface="CiscoSansTT"/>
              </a:rPr>
              <a:t>Enable OBI on</a:t>
            </a:r>
          </a:p>
          <a:p>
            <a:pPr algn="ctr">
              <a:defRPr sz="1875" b="0">
                <a:solidFill>
                  <a:srgbClr val="686B6B"/>
                </a:solidFill>
                <a:latin typeface="CiscoSansTT"/>
                <a:ea typeface="CiscoSansTT"/>
                <a:cs typeface="CiscoSansTT"/>
              </a:defRPr>
            </a:pPr>
            <a:r>
              <a:rPr sz="1875" b="0">
                <a:solidFill>
                  <a:srgbClr val="686B6B"/>
                </a:solidFill>
                <a:latin typeface="CiscoSansTT"/>
                <a:ea typeface="CiscoSansTT"/>
                <a:cs typeface="CiscoSansTT"/>
              </a:rPr>
              <a:t>a few nodes.</a:t>
            </a:r>
          </a:p>
        </p:txBody>
      </p:sp>
      <p:cxnSp>
        <p:nvCxnSpPr>
          <p:cNvPr id="29" name="rollout-arrow-1">
            <a:extLst>
              <a:ext uri="{FF2B5EF4-FFF2-40B4-BE49-F238E27FC236}">
                <a16:creationId xmlns:a16="http://schemas.microsoft.com/office/drawing/2014/main" id="{0179766C-AD8A-4FD1-A004-F5D775C68530}"/>
              </a:ext>
            </a:extLst>
          </p:cNvPr>
          <p:cNvCxnSpPr/>
          <p:nvPr/>
        </p:nvCxnSpPr>
        <p:spPr>
          <a:xfrm>
            <a:off x="3714750" y="2667000"/>
            <a:ext cx="952500" cy="0"/>
          </a:xfrm>
          <a:prstGeom prst="straightConnector1">
            <a:avLst/>
          </a:prstGeom>
          <a:ln w="19050">
            <a:solidFill>
              <a:srgbClr val="07182A"/>
            </a:solidFill>
            <a:tailEnd type="arrow" w="med" len="med"/>
          </a:ln>
        </p:spPr>
      </p:cxnSp>
      <p:sp>
        <p:nvSpPr>
          <p:cNvPr id="30" name="rollout-number-2">
            <a:extLst>
              <a:ext uri="{FF2B5EF4-FFF2-40B4-BE49-F238E27FC236}">
                <a16:creationId xmlns:a16="http://schemas.microsoft.com/office/drawing/2014/main" id="{A100CE3B-3491-4B9A-857A-EEB73D75781E}"/>
              </a:ext>
            </a:extLst>
          </p:cNvPr>
          <p:cNvSpPr>
            <a:spLocks noGrp="1"/>
          </p:cNvSpPr>
          <p:nvPr/>
        </p:nvSpPr>
        <p:spPr>
          <a:xfrm>
            <a:off x="5800725" y="1562100"/>
            <a:ext cx="590550" cy="400050"/>
          </a:xfrm>
          <a:prstGeom prst="roundRect">
            <a:avLst>
              <a:gd name="adj" fmla="val 16667"/>
            </a:avLst>
          </a:prstGeom>
          <a:solidFill>
            <a:srgbClr val="0860FE"/>
          </a:solidFill>
          <a:ln w="11906">
            <a:solidFill>
              <a:srgbClr val="0860FE"/>
            </a:solidFill>
          </a:ln>
        </p:spPr>
        <p:txBody>
          <a:bodyPr/>
          <a:lstStyle/>
          <a:p>
            <a:endParaRPr lang="en-ES"/>
          </a:p>
        </p:txBody>
      </p:sp>
      <p:sp>
        <p:nvSpPr>
          <p:cNvPr id="31" name="rollout-number-text-2">
            <a:extLst>
              <a:ext uri="{FF2B5EF4-FFF2-40B4-BE49-F238E27FC236}">
                <a16:creationId xmlns:a16="http://schemas.microsoft.com/office/drawing/2014/main" id="{40545FEE-4643-46CC-A839-77140AB8174D}"/>
              </a:ext>
            </a:extLst>
          </p:cNvPr>
          <p:cNvSpPr>
            <a:spLocks noGrp="1"/>
          </p:cNvSpPr>
          <p:nvPr/>
        </p:nvSpPr>
        <p:spPr>
          <a:xfrm>
            <a:off x="5800725" y="1562100"/>
            <a:ext cx="590550" cy="400050"/>
          </a:xfrm>
          <a:prstGeom prst="rect">
            <a:avLst/>
          </a:prstGeom>
          <a:noFill/>
          <a:ln w="0">
            <a:noFill/>
          </a:ln>
        </p:spPr>
        <p:txBody>
          <a:bodyPr anchor="ctr">
            <a:noAutofit/>
          </a:bodyPr>
          <a:lstStyle>
            <a:defPPr algn="ctr">
              <a:defRPr sz="1725" b="1">
                <a:solidFill>
                  <a:srgbClr val="FFFFFF"/>
                </a:solidFill>
                <a:latin typeface="CiscoSansTT Medium"/>
                <a:ea typeface="CiscoSansTT Medium"/>
                <a:cs typeface="CiscoSansTT Medium"/>
              </a:defRPr>
            </a:defPPr>
            <a:lvl1pPr algn="ctr">
              <a:defRPr sz="1725" b="1">
                <a:solidFill>
                  <a:srgbClr val="FFFFFF"/>
                </a:solidFill>
                <a:latin typeface="CiscoSansTT Medium"/>
                <a:ea typeface="CiscoSansTT Medium"/>
                <a:cs typeface="CiscoSansTT Medium"/>
              </a:defRPr>
            </a:lvl1pPr>
            <a:lvl2pPr algn="ctr">
              <a:defRPr sz="1725" b="1">
                <a:solidFill>
                  <a:srgbClr val="FFFFFF"/>
                </a:solidFill>
                <a:latin typeface="CiscoSansTT Medium"/>
                <a:ea typeface="CiscoSansTT Medium"/>
                <a:cs typeface="CiscoSansTT Medium"/>
              </a:defRPr>
            </a:lvl2pPr>
            <a:lvl3pPr algn="ctr">
              <a:defRPr sz="1725" b="1">
                <a:solidFill>
                  <a:srgbClr val="FFFFFF"/>
                </a:solidFill>
                <a:latin typeface="CiscoSansTT Medium"/>
                <a:ea typeface="CiscoSansTT Medium"/>
                <a:cs typeface="CiscoSansTT Medium"/>
              </a:defRPr>
            </a:lvl3pPr>
            <a:lvl4pPr algn="ctr">
              <a:defRPr sz="1725" b="1">
                <a:solidFill>
                  <a:srgbClr val="FFFFFF"/>
                </a:solidFill>
                <a:latin typeface="CiscoSansTT Medium"/>
                <a:ea typeface="CiscoSansTT Medium"/>
                <a:cs typeface="CiscoSansTT Medium"/>
              </a:defRPr>
            </a:lvl4pPr>
            <a:lvl5pPr algn="ctr">
              <a:defRPr sz="1725" b="1">
                <a:solidFill>
                  <a:srgbClr val="FFFFFF"/>
                </a:solidFill>
                <a:latin typeface="CiscoSansTT Medium"/>
                <a:ea typeface="CiscoSansTT Medium"/>
                <a:cs typeface="CiscoSansTT Medium"/>
              </a:defRPr>
            </a:lvl5pPr>
            <a:lvl6pPr algn="ctr">
              <a:defRPr sz="1725" b="1">
                <a:solidFill>
                  <a:srgbClr val="FFFFFF"/>
                </a:solidFill>
                <a:latin typeface="CiscoSansTT Medium"/>
                <a:ea typeface="CiscoSansTT Medium"/>
                <a:cs typeface="CiscoSansTT Medium"/>
              </a:defRPr>
            </a:lvl6pPr>
            <a:lvl7pPr algn="ctr">
              <a:defRPr sz="1725" b="1">
                <a:solidFill>
                  <a:srgbClr val="FFFFFF"/>
                </a:solidFill>
                <a:latin typeface="CiscoSansTT Medium"/>
                <a:ea typeface="CiscoSansTT Medium"/>
                <a:cs typeface="CiscoSansTT Medium"/>
              </a:defRPr>
            </a:lvl7pPr>
            <a:lvl8pPr algn="ctr">
              <a:defRPr sz="1725" b="1">
                <a:solidFill>
                  <a:srgbClr val="FFFFFF"/>
                </a:solidFill>
                <a:latin typeface="CiscoSansTT Medium"/>
                <a:ea typeface="CiscoSansTT Medium"/>
                <a:cs typeface="CiscoSansTT Medium"/>
              </a:defRPr>
            </a:lvl8pPr>
            <a:lvl9pPr algn="ctr">
              <a:defRPr sz="1725" b="1">
                <a:solidFill>
                  <a:srgbClr val="FFFFFF"/>
                </a:solidFill>
                <a:latin typeface="CiscoSansTT Medium"/>
                <a:ea typeface="CiscoSansTT Medium"/>
                <a:cs typeface="CiscoSansTT Medium"/>
              </a:defRPr>
            </a:lvl9pPr>
          </a:lstStyle>
          <a:p>
            <a:pPr algn="ctr">
              <a:defRPr sz="1725" b="1">
                <a:solidFill>
                  <a:srgbClr val="FFFFFF"/>
                </a:solidFill>
                <a:latin typeface="CiscoSansTT Medium"/>
                <a:ea typeface="CiscoSansTT Medium"/>
                <a:cs typeface="CiscoSansTT Medium"/>
              </a:defRPr>
            </a:pPr>
            <a:r>
              <a:rPr sz="1725" b="1">
                <a:solidFill>
                  <a:srgbClr val="FFFFFF"/>
                </a:solidFill>
                <a:latin typeface="CiscoSansTT Medium"/>
                <a:ea typeface="CiscoSansTT Medium"/>
                <a:cs typeface="CiscoSansTT Medium"/>
              </a:rPr>
              <a:t>2</a:t>
            </a:r>
          </a:p>
        </p:txBody>
      </p:sp>
      <p:sp>
        <p:nvSpPr>
          <p:cNvPr id="32" name="rollout-stage-2">
            <a:extLst>
              <a:ext uri="{FF2B5EF4-FFF2-40B4-BE49-F238E27FC236}">
                <a16:creationId xmlns:a16="http://schemas.microsoft.com/office/drawing/2014/main" id="{45EF45FE-6984-4B14-9E82-02158503DC49}"/>
              </a:ext>
            </a:extLst>
          </p:cNvPr>
          <p:cNvSpPr>
            <a:spLocks noGrp="1"/>
          </p:cNvSpPr>
          <p:nvPr/>
        </p:nvSpPr>
        <p:spPr>
          <a:xfrm>
            <a:off x="4667250" y="2238375"/>
            <a:ext cx="2857500" cy="857250"/>
          </a:xfrm>
          <a:prstGeom prst="roundRect">
            <a:avLst>
              <a:gd name="adj" fmla="val 7778"/>
            </a:avLst>
          </a:prstGeom>
          <a:solidFill>
            <a:srgbClr val="EAF8FC"/>
          </a:solidFill>
          <a:ln w="11906">
            <a:solidFill>
              <a:srgbClr val="0860FE"/>
            </a:solidFill>
          </a:ln>
        </p:spPr>
        <p:txBody>
          <a:bodyPr/>
          <a:lstStyle/>
          <a:p>
            <a:endParaRPr lang="en-ES"/>
          </a:p>
        </p:txBody>
      </p:sp>
      <p:sp>
        <p:nvSpPr>
          <p:cNvPr id="33" name="rollout-heading-2">
            <a:extLst>
              <a:ext uri="{FF2B5EF4-FFF2-40B4-BE49-F238E27FC236}">
                <a16:creationId xmlns:a16="http://schemas.microsoft.com/office/drawing/2014/main" id="{B0EE6170-72EB-46BB-9763-23A6455523C9}"/>
              </a:ext>
            </a:extLst>
          </p:cNvPr>
          <p:cNvSpPr>
            <a:spLocks noGrp="1"/>
          </p:cNvSpPr>
          <p:nvPr/>
        </p:nvSpPr>
        <p:spPr>
          <a:xfrm>
            <a:off x="4762500" y="2333625"/>
            <a:ext cx="2667000" cy="666750"/>
          </a:xfrm>
          <a:prstGeom prst="rect">
            <a:avLst/>
          </a:prstGeom>
          <a:noFill/>
          <a:ln w="0">
            <a:noFill/>
          </a:ln>
        </p:spPr>
        <p:txBody>
          <a:bodyPr anchor="ctr">
            <a:noAutofit/>
          </a:bodyPr>
          <a:lstStyle>
            <a:defPPr algn="ctr">
              <a:defRPr sz="2175" b="1">
                <a:solidFill>
                  <a:srgbClr val="07182A"/>
                </a:solidFill>
                <a:latin typeface="CiscoSansTT Medium"/>
                <a:ea typeface="CiscoSansTT Medium"/>
                <a:cs typeface="CiscoSansTT Medium"/>
              </a:defRPr>
            </a:defPPr>
            <a:lvl1pPr algn="ctr">
              <a:defRPr sz="2175" b="1">
                <a:solidFill>
                  <a:srgbClr val="07182A"/>
                </a:solidFill>
                <a:latin typeface="CiscoSansTT Medium"/>
                <a:ea typeface="CiscoSansTT Medium"/>
                <a:cs typeface="CiscoSansTT Medium"/>
              </a:defRPr>
            </a:lvl1pPr>
            <a:lvl2pPr algn="ctr">
              <a:defRPr sz="2175" b="1">
                <a:solidFill>
                  <a:srgbClr val="07182A"/>
                </a:solidFill>
                <a:latin typeface="CiscoSansTT Medium"/>
                <a:ea typeface="CiscoSansTT Medium"/>
                <a:cs typeface="CiscoSansTT Medium"/>
              </a:defRPr>
            </a:lvl2pPr>
            <a:lvl3pPr algn="ctr">
              <a:defRPr sz="2175" b="1">
                <a:solidFill>
                  <a:srgbClr val="07182A"/>
                </a:solidFill>
                <a:latin typeface="CiscoSansTT Medium"/>
                <a:ea typeface="CiscoSansTT Medium"/>
                <a:cs typeface="CiscoSansTT Medium"/>
              </a:defRPr>
            </a:lvl3pPr>
            <a:lvl4pPr algn="ctr">
              <a:defRPr sz="2175" b="1">
                <a:solidFill>
                  <a:srgbClr val="07182A"/>
                </a:solidFill>
                <a:latin typeface="CiscoSansTT Medium"/>
                <a:ea typeface="CiscoSansTT Medium"/>
                <a:cs typeface="CiscoSansTT Medium"/>
              </a:defRPr>
            </a:lvl4pPr>
            <a:lvl5pPr algn="ctr">
              <a:defRPr sz="2175" b="1">
                <a:solidFill>
                  <a:srgbClr val="07182A"/>
                </a:solidFill>
                <a:latin typeface="CiscoSansTT Medium"/>
                <a:ea typeface="CiscoSansTT Medium"/>
                <a:cs typeface="CiscoSansTT Medium"/>
              </a:defRPr>
            </a:lvl5pPr>
            <a:lvl6pPr algn="ctr">
              <a:defRPr sz="2175" b="1">
                <a:solidFill>
                  <a:srgbClr val="07182A"/>
                </a:solidFill>
                <a:latin typeface="CiscoSansTT Medium"/>
                <a:ea typeface="CiscoSansTT Medium"/>
                <a:cs typeface="CiscoSansTT Medium"/>
              </a:defRPr>
            </a:lvl6pPr>
            <a:lvl7pPr algn="ctr">
              <a:defRPr sz="2175" b="1">
                <a:solidFill>
                  <a:srgbClr val="07182A"/>
                </a:solidFill>
                <a:latin typeface="CiscoSansTT Medium"/>
                <a:ea typeface="CiscoSansTT Medium"/>
                <a:cs typeface="CiscoSansTT Medium"/>
              </a:defRPr>
            </a:lvl7pPr>
            <a:lvl8pPr algn="ctr">
              <a:defRPr sz="2175" b="1">
                <a:solidFill>
                  <a:srgbClr val="07182A"/>
                </a:solidFill>
                <a:latin typeface="CiscoSansTT Medium"/>
                <a:ea typeface="CiscoSansTT Medium"/>
                <a:cs typeface="CiscoSansTT Medium"/>
              </a:defRPr>
            </a:lvl8pPr>
            <a:lvl9pPr algn="ctr">
              <a:defRPr sz="2175" b="1">
                <a:solidFill>
                  <a:srgbClr val="07182A"/>
                </a:solidFill>
                <a:latin typeface="CiscoSansTT Medium"/>
                <a:ea typeface="CiscoSansTT Medium"/>
                <a:cs typeface="CiscoSansTT Medium"/>
              </a:defRPr>
            </a:lvl9pPr>
          </a:lstStyle>
          <a:p>
            <a:pPr algn="ctr">
              <a:defRPr sz="2175" b="1">
                <a:solidFill>
                  <a:srgbClr val="07182A"/>
                </a:solidFill>
                <a:latin typeface="CiscoSansTT Medium"/>
                <a:ea typeface="CiscoSansTT Medium"/>
                <a:cs typeface="CiscoSansTT Medium"/>
              </a:defRPr>
            </a:pPr>
            <a:r>
              <a:rPr sz="2175" b="1">
                <a:solidFill>
                  <a:srgbClr val="07182A"/>
                </a:solidFill>
                <a:latin typeface="CiscoSansTT Medium"/>
                <a:ea typeface="CiscoSansTT Medium"/>
                <a:cs typeface="CiscoSansTT Medium"/>
              </a:rPr>
              <a:t>Check the results</a:t>
            </a:r>
          </a:p>
        </p:txBody>
      </p:sp>
      <p:sp>
        <p:nvSpPr>
          <p:cNvPr id="34" name="rollout-detail-2">
            <a:extLst>
              <a:ext uri="{FF2B5EF4-FFF2-40B4-BE49-F238E27FC236}">
                <a16:creationId xmlns:a16="http://schemas.microsoft.com/office/drawing/2014/main" id="{C18F365B-6D88-4255-A1FD-1CB128985C00}"/>
              </a:ext>
            </a:extLst>
          </p:cNvPr>
          <p:cNvSpPr>
            <a:spLocks noGrp="1"/>
          </p:cNvSpPr>
          <p:nvPr/>
        </p:nvSpPr>
        <p:spPr>
          <a:xfrm>
            <a:off x="4572000" y="3333750"/>
            <a:ext cx="3048000" cy="952500"/>
          </a:xfrm>
          <a:prstGeom prst="rect">
            <a:avLst/>
          </a:prstGeom>
          <a:noFill/>
          <a:ln w="0">
            <a:noFill/>
          </a:ln>
        </p:spPr>
        <p:txBody>
          <a:bodyPr anchor="ctr">
            <a:noAutofit/>
          </a:bodyPr>
          <a:lstStyle>
            <a:defPPr algn="ctr">
              <a:defRPr sz="1875" b="0">
                <a:solidFill>
                  <a:srgbClr val="686B6B"/>
                </a:solidFill>
                <a:latin typeface="CiscoSansTT"/>
                <a:ea typeface="CiscoSansTT"/>
                <a:cs typeface="CiscoSansTT"/>
              </a:defRPr>
            </a:defPPr>
            <a:lvl1pPr algn="ctr">
              <a:defRPr sz="1875" b="0">
                <a:solidFill>
                  <a:srgbClr val="686B6B"/>
                </a:solidFill>
                <a:latin typeface="CiscoSansTT"/>
                <a:ea typeface="CiscoSansTT"/>
                <a:cs typeface="CiscoSansTT"/>
              </a:defRPr>
            </a:lvl1pPr>
            <a:lvl2pPr algn="ctr">
              <a:defRPr sz="1875" b="0">
                <a:solidFill>
                  <a:srgbClr val="686B6B"/>
                </a:solidFill>
                <a:latin typeface="CiscoSansTT"/>
                <a:ea typeface="CiscoSansTT"/>
                <a:cs typeface="CiscoSansTT"/>
              </a:defRPr>
            </a:lvl2pPr>
            <a:lvl3pPr algn="ctr">
              <a:defRPr sz="1875" b="0">
                <a:solidFill>
                  <a:srgbClr val="686B6B"/>
                </a:solidFill>
                <a:latin typeface="CiscoSansTT"/>
                <a:ea typeface="CiscoSansTT"/>
                <a:cs typeface="CiscoSansTT"/>
              </a:defRPr>
            </a:lvl3pPr>
            <a:lvl4pPr algn="ctr">
              <a:defRPr sz="1875" b="0">
                <a:solidFill>
                  <a:srgbClr val="686B6B"/>
                </a:solidFill>
                <a:latin typeface="CiscoSansTT"/>
                <a:ea typeface="CiscoSansTT"/>
                <a:cs typeface="CiscoSansTT"/>
              </a:defRPr>
            </a:lvl4pPr>
            <a:lvl5pPr algn="ctr">
              <a:defRPr sz="1875" b="0">
                <a:solidFill>
                  <a:srgbClr val="686B6B"/>
                </a:solidFill>
                <a:latin typeface="CiscoSansTT"/>
                <a:ea typeface="CiscoSansTT"/>
                <a:cs typeface="CiscoSansTT"/>
              </a:defRPr>
            </a:lvl5pPr>
            <a:lvl6pPr algn="ctr">
              <a:defRPr sz="1875" b="0">
                <a:solidFill>
                  <a:srgbClr val="686B6B"/>
                </a:solidFill>
                <a:latin typeface="CiscoSansTT"/>
                <a:ea typeface="CiscoSansTT"/>
                <a:cs typeface="CiscoSansTT"/>
              </a:defRPr>
            </a:lvl6pPr>
            <a:lvl7pPr algn="ctr">
              <a:defRPr sz="1875" b="0">
                <a:solidFill>
                  <a:srgbClr val="686B6B"/>
                </a:solidFill>
                <a:latin typeface="CiscoSansTT"/>
                <a:ea typeface="CiscoSansTT"/>
                <a:cs typeface="CiscoSansTT"/>
              </a:defRPr>
            </a:lvl7pPr>
            <a:lvl8pPr algn="ctr">
              <a:defRPr sz="1875" b="0">
                <a:solidFill>
                  <a:srgbClr val="686B6B"/>
                </a:solidFill>
                <a:latin typeface="CiscoSansTT"/>
                <a:ea typeface="CiscoSansTT"/>
                <a:cs typeface="CiscoSansTT"/>
              </a:defRPr>
            </a:lvl8pPr>
            <a:lvl9pPr algn="ctr">
              <a:defRPr sz="1875" b="0">
                <a:solidFill>
                  <a:srgbClr val="686B6B"/>
                </a:solidFill>
                <a:latin typeface="CiscoSansTT"/>
                <a:ea typeface="CiscoSansTT"/>
                <a:cs typeface="CiscoSansTT"/>
              </a:defRPr>
            </a:lvl9pPr>
          </a:lstStyle>
          <a:p>
            <a:pPr algn="ctr">
              <a:defRPr sz="1875" b="0">
                <a:solidFill>
                  <a:srgbClr val="686B6B"/>
                </a:solidFill>
                <a:latin typeface="CiscoSansTT"/>
                <a:ea typeface="CiscoSansTT"/>
                <a:cs typeface="CiscoSansTT"/>
              </a:defRPr>
            </a:pPr>
            <a:r>
              <a:rPr sz="1875" b="0">
                <a:solidFill>
                  <a:srgbClr val="686B6B"/>
                </a:solidFill>
                <a:latin typeface="CiscoSansTT"/>
                <a:ea typeface="CiscoSansTT"/>
                <a:cs typeface="CiscoSansTT"/>
              </a:rPr>
              <a:t>Check requests, telemetry,</a:t>
            </a:r>
          </a:p>
          <a:p>
            <a:pPr algn="ctr">
              <a:defRPr sz="1875" b="0">
                <a:solidFill>
                  <a:srgbClr val="686B6B"/>
                </a:solidFill>
                <a:latin typeface="CiscoSansTT"/>
                <a:ea typeface="CiscoSansTT"/>
                <a:cs typeface="CiscoSansTT"/>
              </a:defRPr>
            </a:pPr>
            <a:r>
              <a:rPr sz="1875" b="0">
                <a:solidFill>
                  <a:srgbClr val="686B6B"/>
                </a:solidFill>
                <a:latin typeface="CiscoSansTT"/>
                <a:ea typeface="CiscoSansTT"/>
                <a:cs typeface="CiscoSansTT"/>
              </a:rPr>
              <a:t>and resource use.</a:t>
            </a:r>
          </a:p>
        </p:txBody>
      </p:sp>
      <p:cxnSp>
        <p:nvCxnSpPr>
          <p:cNvPr id="35" name="rollout-arrow-2">
            <a:extLst>
              <a:ext uri="{FF2B5EF4-FFF2-40B4-BE49-F238E27FC236}">
                <a16:creationId xmlns:a16="http://schemas.microsoft.com/office/drawing/2014/main" id="{1B1C721C-EF54-428C-938D-43530224DDCF}"/>
              </a:ext>
            </a:extLst>
          </p:cNvPr>
          <p:cNvCxnSpPr/>
          <p:nvPr/>
        </p:nvCxnSpPr>
        <p:spPr>
          <a:xfrm>
            <a:off x="7524750" y="2667000"/>
            <a:ext cx="952500" cy="0"/>
          </a:xfrm>
          <a:prstGeom prst="straightConnector1">
            <a:avLst/>
          </a:prstGeom>
          <a:ln w="19050">
            <a:solidFill>
              <a:srgbClr val="07182A"/>
            </a:solidFill>
            <a:tailEnd type="arrow" w="med" len="med"/>
          </a:ln>
        </p:spPr>
      </p:cxnSp>
      <p:sp>
        <p:nvSpPr>
          <p:cNvPr id="36" name="rollout-number-3">
            <a:extLst>
              <a:ext uri="{FF2B5EF4-FFF2-40B4-BE49-F238E27FC236}">
                <a16:creationId xmlns:a16="http://schemas.microsoft.com/office/drawing/2014/main" id="{92BA6C3E-B0C9-40CC-9894-53985EFBE5D2}"/>
              </a:ext>
            </a:extLst>
          </p:cNvPr>
          <p:cNvSpPr>
            <a:spLocks noGrp="1"/>
          </p:cNvSpPr>
          <p:nvPr/>
        </p:nvSpPr>
        <p:spPr>
          <a:xfrm>
            <a:off x="9610725" y="1562100"/>
            <a:ext cx="590550" cy="400050"/>
          </a:xfrm>
          <a:prstGeom prst="roundRect">
            <a:avLst>
              <a:gd name="adj" fmla="val 16667"/>
            </a:avLst>
          </a:prstGeom>
          <a:solidFill>
            <a:srgbClr val="29AA61"/>
          </a:solidFill>
          <a:ln w="11906">
            <a:solidFill>
              <a:srgbClr val="29AA61"/>
            </a:solidFill>
          </a:ln>
        </p:spPr>
        <p:txBody>
          <a:bodyPr/>
          <a:lstStyle/>
          <a:p>
            <a:endParaRPr lang="en-ES"/>
          </a:p>
        </p:txBody>
      </p:sp>
      <p:sp>
        <p:nvSpPr>
          <p:cNvPr id="37" name="rollout-number-text-3">
            <a:extLst>
              <a:ext uri="{FF2B5EF4-FFF2-40B4-BE49-F238E27FC236}">
                <a16:creationId xmlns:a16="http://schemas.microsoft.com/office/drawing/2014/main" id="{C1B684A9-18CB-41D7-8F1C-54E4212478EB}"/>
              </a:ext>
            </a:extLst>
          </p:cNvPr>
          <p:cNvSpPr>
            <a:spLocks noGrp="1"/>
          </p:cNvSpPr>
          <p:nvPr/>
        </p:nvSpPr>
        <p:spPr>
          <a:xfrm>
            <a:off x="9610725" y="1562100"/>
            <a:ext cx="590550" cy="400050"/>
          </a:xfrm>
          <a:prstGeom prst="rect">
            <a:avLst/>
          </a:prstGeom>
          <a:noFill/>
          <a:ln w="0">
            <a:noFill/>
          </a:ln>
        </p:spPr>
        <p:txBody>
          <a:bodyPr anchor="ctr">
            <a:noAutofit/>
          </a:bodyPr>
          <a:lstStyle>
            <a:defPPr algn="ctr">
              <a:defRPr sz="1725" b="1">
                <a:solidFill>
                  <a:srgbClr val="FFFFFF"/>
                </a:solidFill>
                <a:latin typeface="CiscoSansTT Medium"/>
                <a:ea typeface="CiscoSansTT Medium"/>
                <a:cs typeface="CiscoSansTT Medium"/>
              </a:defRPr>
            </a:defPPr>
            <a:lvl1pPr algn="ctr">
              <a:defRPr sz="1725" b="1">
                <a:solidFill>
                  <a:srgbClr val="FFFFFF"/>
                </a:solidFill>
                <a:latin typeface="CiscoSansTT Medium"/>
                <a:ea typeface="CiscoSansTT Medium"/>
                <a:cs typeface="CiscoSansTT Medium"/>
              </a:defRPr>
            </a:lvl1pPr>
            <a:lvl2pPr algn="ctr">
              <a:defRPr sz="1725" b="1">
                <a:solidFill>
                  <a:srgbClr val="FFFFFF"/>
                </a:solidFill>
                <a:latin typeface="CiscoSansTT Medium"/>
                <a:ea typeface="CiscoSansTT Medium"/>
                <a:cs typeface="CiscoSansTT Medium"/>
              </a:defRPr>
            </a:lvl2pPr>
            <a:lvl3pPr algn="ctr">
              <a:defRPr sz="1725" b="1">
                <a:solidFill>
                  <a:srgbClr val="FFFFFF"/>
                </a:solidFill>
                <a:latin typeface="CiscoSansTT Medium"/>
                <a:ea typeface="CiscoSansTT Medium"/>
                <a:cs typeface="CiscoSansTT Medium"/>
              </a:defRPr>
            </a:lvl3pPr>
            <a:lvl4pPr algn="ctr">
              <a:defRPr sz="1725" b="1">
                <a:solidFill>
                  <a:srgbClr val="FFFFFF"/>
                </a:solidFill>
                <a:latin typeface="CiscoSansTT Medium"/>
                <a:ea typeface="CiscoSansTT Medium"/>
                <a:cs typeface="CiscoSansTT Medium"/>
              </a:defRPr>
            </a:lvl4pPr>
            <a:lvl5pPr algn="ctr">
              <a:defRPr sz="1725" b="1">
                <a:solidFill>
                  <a:srgbClr val="FFFFFF"/>
                </a:solidFill>
                <a:latin typeface="CiscoSansTT Medium"/>
                <a:ea typeface="CiscoSansTT Medium"/>
                <a:cs typeface="CiscoSansTT Medium"/>
              </a:defRPr>
            </a:lvl5pPr>
            <a:lvl6pPr algn="ctr">
              <a:defRPr sz="1725" b="1">
                <a:solidFill>
                  <a:srgbClr val="FFFFFF"/>
                </a:solidFill>
                <a:latin typeface="CiscoSansTT Medium"/>
                <a:ea typeface="CiscoSansTT Medium"/>
                <a:cs typeface="CiscoSansTT Medium"/>
              </a:defRPr>
            </a:lvl6pPr>
            <a:lvl7pPr algn="ctr">
              <a:defRPr sz="1725" b="1">
                <a:solidFill>
                  <a:srgbClr val="FFFFFF"/>
                </a:solidFill>
                <a:latin typeface="CiscoSansTT Medium"/>
                <a:ea typeface="CiscoSansTT Medium"/>
                <a:cs typeface="CiscoSansTT Medium"/>
              </a:defRPr>
            </a:lvl7pPr>
            <a:lvl8pPr algn="ctr">
              <a:defRPr sz="1725" b="1">
                <a:solidFill>
                  <a:srgbClr val="FFFFFF"/>
                </a:solidFill>
                <a:latin typeface="CiscoSansTT Medium"/>
                <a:ea typeface="CiscoSansTT Medium"/>
                <a:cs typeface="CiscoSansTT Medium"/>
              </a:defRPr>
            </a:lvl8pPr>
            <a:lvl9pPr algn="ctr">
              <a:defRPr sz="1725" b="1">
                <a:solidFill>
                  <a:srgbClr val="FFFFFF"/>
                </a:solidFill>
                <a:latin typeface="CiscoSansTT Medium"/>
                <a:ea typeface="CiscoSansTT Medium"/>
                <a:cs typeface="CiscoSansTT Medium"/>
              </a:defRPr>
            </a:lvl9pPr>
          </a:lstStyle>
          <a:p>
            <a:pPr algn="ctr">
              <a:defRPr sz="1725" b="1">
                <a:solidFill>
                  <a:srgbClr val="FFFFFF"/>
                </a:solidFill>
                <a:latin typeface="CiscoSansTT Medium"/>
                <a:ea typeface="CiscoSansTT Medium"/>
                <a:cs typeface="CiscoSansTT Medium"/>
              </a:defRPr>
            </a:pPr>
            <a:r>
              <a:rPr sz="1725" b="1">
                <a:solidFill>
                  <a:srgbClr val="FFFFFF"/>
                </a:solidFill>
                <a:latin typeface="CiscoSansTT Medium"/>
                <a:ea typeface="CiscoSansTT Medium"/>
                <a:cs typeface="CiscoSansTT Medium"/>
              </a:rPr>
              <a:t>3</a:t>
            </a:r>
          </a:p>
        </p:txBody>
      </p:sp>
      <p:sp>
        <p:nvSpPr>
          <p:cNvPr id="38" name="rollout-stage-3">
            <a:extLst>
              <a:ext uri="{FF2B5EF4-FFF2-40B4-BE49-F238E27FC236}">
                <a16:creationId xmlns:a16="http://schemas.microsoft.com/office/drawing/2014/main" id="{AA730FC7-5D39-4996-9C02-44A69411EE92}"/>
              </a:ext>
            </a:extLst>
          </p:cNvPr>
          <p:cNvSpPr>
            <a:spLocks noGrp="1"/>
          </p:cNvSpPr>
          <p:nvPr/>
        </p:nvSpPr>
        <p:spPr>
          <a:xfrm>
            <a:off x="8477250" y="2238375"/>
            <a:ext cx="2857500" cy="857250"/>
          </a:xfrm>
          <a:prstGeom prst="roundRect">
            <a:avLst>
              <a:gd name="adj" fmla="val 7778"/>
            </a:avLst>
          </a:prstGeom>
          <a:solidFill>
            <a:srgbClr val="EDF7F0"/>
          </a:solidFill>
          <a:ln w="11906">
            <a:solidFill>
              <a:srgbClr val="29AA61"/>
            </a:solidFill>
          </a:ln>
        </p:spPr>
        <p:txBody>
          <a:bodyPr/>
          <a:lstStyle/>
          <a:p>
            <a:endParaRPr lang="en-ES"/>
          </a:p>
        </p:txBody>
      </p:sp>
      <p:sp>
        <p:nvSpPr>
          <p:cNvPr id="39" name="rollout-heading-3">
            <a:extLst>
              <a:ext uri="{FF2B5EF4-FFF2-40B4-BE49-F238E27FC236}">
                <a16:creationId xmlns:a16="http://schemas.microsoft.com/office/drawing/2014/main" id="{CAC2F09C-EE61-4C50-92EF-A2C57C3D5311}"/>
              </a:ext>
            </a:extLst>
          </p:cNvPr>
          <p:cNvSpPr>
            <a:spLocks noGrp="1"/>
          </p:cNvSpPr>
          <p:nvPr/>
        </p:nvSpPr>
        <p:spPr>
          <a:xfrm>
            <a:off x="8572500" y="2333625"/>
            <a:ext cx="2667000" cy="666750"/>
          </a:xfrm>
          <a:prstGeom prst="rect">
            <a:avLst/>
          </a:prstGeom>
          <a:noFill/>
          <a:ln w="0">
            <a:noFill/>
          </a:ln>
        </p:spPr>
        <p:txBody>
          <a:bodyPr anchor="ctr">
            <a:noAutofit/>
          </a:bodyPr>
          <a:lstStyle>
            <a:defPPr algn="ctr">
              <a:defRPr sz="2175" b="1">
                <a:solidFill>
                  <a:srgbClr val="07182A"/>
                </a:solidFill>
                <a:latin typeface="CiscoSansTT Medium"/>
                <a:ea typeface="CiscoSansTT Medium"/>
                <a:cs typeface="CiscoSansTT Medium"/>
              </a:defRPr>
            </a:defPPr>
            <a:lvl1pPr algn="ctr">
              <a:defRPr sz="2175" b="1">
                <a:solidFill>
                  <a:srgbClr val="07182A"/>
                </a:solidFill>
                <a:latin typeface="CiscoSansTT Medium"/>
                <a:ea typeface="CiscoSansTT Medium"/>
                <a:cs typeface="CiscoSansTT Medium"/>
              </a:defRPr>
            </a:lvl1pPr>
            <a:lvl2pPr algn="ctr">
              <a:defRPr sz="2175" b="1">
                <a:solidFill>
                  <a:srgbClr val="07182A"/>
                </a:solidFill>
                <a:latin typeface="CiscoSansTT Medium"/>
                <a:ea typeface="CiscoSansTT Medium"/>
                <a:cs typeface="CiscoSansTT Medium"/>
              </a:defRPr>
            </a:lvl2pPr>
            <a:lvl3pPr algn="ctr">
              <a:defRPr sz="2175" b="1">
                <a:solidFill>
                  <a:srgbClr val="07182A"/>
                </a:solidFill>
                <a:latin typeface="CiscoSansTT Medium"/>
                <a:ea typeface="CiscoSansTT Medium"/>
                <a:cs typeface="CiscoSansTT Medium"/>
              </a:defRPr>
            </a:lvl3pPr>
            <a:lvl4pPr algn="ctr">
              <a:defRPr sz="2175" b="1">
                <a:solidFill>
                  <a:srgbClr val="07182A"/>
                </a:solidFill>
                <a:latin typeface="CiscoSansTT Medium"/>
                <a:ea typeface="CiscoSansTT Medium"/>
                <a:cs typeface="CiscoSansTT Medium"/>
              </a:defRPr>
            </a:lvl4pPr>
            <a:lvl5pPr algn="ctr">
              <a:defRPr sz="2175" b="1">
                <a:solidFill>
                  <a:srgbClr val="07182A"/>
                </a:solidFill>
                <a:latin typeface="CiscoSansTT Medium"/>
                <a:ea typeface="CiscoSansTT Medium"/>
                <a:cs typeface="CiscoSansTT Medium"/>
              </a:defRPr>
            </a:lvl5pPr>
            <a:lvl6pPr algn="ctr">
              <a:defRPr sz="2175" b="1">
                <a:solidFill>
                  <a:srgbClr val="07182A"/>
                </a:solidFill>
                <a:latin typeface="CiscoSansTT Medium"/>
                <a:ea typeface="CiscoSansTT Medium"/>
                <a:cs typeface="CiscoSansTT Medium"/>
              </a:defRPr>
            </a:lvl6pPr>
            <a:lvl7pPr algn="ctr">
              <a:defRPr sz="2175" b="1">
                <a:solidFill>
                  <a:srgbClr val="07182A"/>
                </a:solidFill>
                <a:latin typeface="CiscoSansTT Medium"/>
                <a:ea typeface="CiscoSansTT Medium"/>
                <a:cs typeface="CiscoSansTT Medium"/>
              </a:defRPr>
            </a:lvl7pPr>
            <a:lvl8pPr algn="ctr">
              <a:defRPr sz="2175" b="1">
                <a:solidFill>
                  <a:srgbClr val="07182A"/>
                </a:solidFill>
                <a:latin typeface="CiscoSansTT Medium"/>
                <a:ea typeface="CiscoSansTT Medium"/>
                <a:cs typeface="CiscoSansTT Medium"/>
              </a:defRPr>
            </a:lvl8pPr>
            <a:lvl9pPr algn="ctr">
              <a:defRPr sz="2175" b="1">
                <a:solidFill>
                  <a:srgbClr val="07182A"/>
                </a:solidFill>
                <a:latin typeface="CiscoSansTT Medium"/>
                <a:ea typeface="CiscoSansTT Medium"/>
                <a:cs typeface="CiscoSansTT Medium"/>
              </a:defRPr>
            </a:lvl9pPr>
          </a:lstStyle>
          <a:p>
            <a:pPr algn="ctr">
              <a:defRPr sz="2175" b="1">
                <a:solidFill>
                  <a:srgbClr val="07182A"/>
                </a:solidFill>
                <a:latin typeface="CiscoSansTT Medium"/>
                <a:ea typeface="CiscoSansTT Medium"/>
                <a:cs typeface="CiscoSansTT Medium"/>
              </a:defRPr>
            </a:pPr>
            <a:r>
              <a:rPr sz="2175" b="1">
                <a:solidFill>
                  <a:srgbClr val="07182A"/>
                </a:solidFill>
                <a:latin typeface="CiscoSansTT Medium"/>
                <a:ea typeface="CiscoSansTT Medium"/>
                <a:cs typeface="CiscoSansTT Medium"/>
              </a:rPr>
              <a:t>Expand gradually</a:t>
            </a:r>
          </a:p>
        </p:txBody>
      </p:sp>
      <p:sp>
        <p:nvSpPr>
          <p:cNvPr id="40" name="rollout-detail-3">
            <a:extLst>
              <a:ext uri="{FF2B5EF4-FFF2-40B4-BE49-F238E27FC236}">
                <a16:creationId xmlns:a16="http://schemas.microsoft.com/office/drawing/2014/main" id="{D57A334E-42B1-4AFE-8D9C-3D300F40F752}"/>
              </a:ext>
            </a:extLst>
          </p:cNvPr>
          <p:cNvSpPr>
            <a:spLocks noGrp="1"/>
          </p:cNvSpPr>
          <p:nvPr/>
        </p:nvSpPr>
        <p:spPr>
          <a:xfrm>
            <a:off x="8382000" y="3333750"/>
            <a:ext cx="3048000" cy="952500"/>
          </a:xfrm>
          <a:prstGeom prst="rect">
            <a:avLst/>
          </a:prstGeom>
          <a:noFill/>
          <a:ln w="0">
            <a:noFill/>
          </a:ln>
        </p:spPr>
        <p:txBody>
          <a:bodyPr anchor="ctr">
            <a:noAutofit/>
          </a:bodyPr>
          <a:lstStyle>
            <a:defPPr algn="ctr">
              <a:defRPr sz="1875" b="0">
                <a:solidFill>
                  <a:srgbClr val="686B6B"/>
                </a:solidFill>
                <a:latin typeface="CiscoSansTT"/>
                <a:ea typeface="CiscoSansTT"/>
                <a:cs typeface="CiscoSansTT"/>
              </a:defRPr>
            </a:defPPr>
            <a:lvl1pPr algn="ctr">
              <a:defRPr sz="1875" b="0">
                <a:solidFill>
                  <a:srgbClr val="686B6B"/>
                </a:solidFill>
                <a:latin typeface="CiscoSansTT"/>
                <a:ea typeface="CiscoSansTT"/>
                <a:cs typeface="CiscoSansTT"/>
              </a:defRPr>
            </a:lvl1pPr>
            <a:lvl2pPr algn="ctr">
              <a:defRPr sz="1875" b="0">
                <a:solidFill>
                  <a:srgbClr val="686B6B"/>
                </a:solidFill>
                <a:latin typeface="CiscoSansTT"/>
                <a:ea typeface="CiscoSansTT"/>
                <a:cs typeface="CiscoSansTT"/>
              </a:defRPr>
            </a:lvl2pPr>
            <a:lvl3pPr algn="ctr">
              <a:defRPr sz="1875" b="0">
                <a:solidFill>
                  <a:srgbClr val="686B6B"/>
                </a:solidFill>
                <a:latin typeface="CiscoSansTT"/>
                <a:ea typeface="CiscoSansTT"/>
                <a:cs typeface="CiscoSansTT"/>
              </a:defRPr>
            </a:lvl3pPr>
            <a:lvl4pPr algn="ctr">
              <a:defRPr sz="1875" b="0">
                <a:solidFill>
                  <a:srgbClr val="686B6B"/>
                </a:solidFill>
                <a:latin typeface="CiscoSansTT"/>
                <a:ea typeface="CiscoSansTT"/>
                <a:cs typeface="CiscoSansTT"/>
              </a:defRPr>
            </a:lvl4pPr>
            <a:lvl5pPr algn="ctr">
              <a:defRPr sz="1875" b="0">
                <a:solidFill>
                  <a:srgbClr val="686B6B"/>
                </a:solidFill>
                <a:latin typeface="CiscoSansTT"/>
                <a:ea typeface="CiscoSansTT"/>
                <a:cs typeface="CiscoSansTT"/>
              </a:defRPr>
            </a:lvl5pPr>
            <a:lvl6pPr algn="ctr">
              <a:defRPr sz="1875" b="0">
                <a:solidFill>
                  <a:srgbClr val="686B6B"/>
                </a:solidFill>
                <a:latin typeface="CiscoSansTT"/>
                <a:ea typeface="CiscoSansTT"/>
                <a:cs typeface="CiscoSansTT"/>
              </a:defRPr>
            </a:lvl6pPr>
            <a:lvl7pPr algn="ctr">
              <a:defRPr sz="1875" b="0">
                <a:solidFill>
                  <a:srgbClr val="686B6B"/>
                </a:solidFill>
                <a:latin typeface="CiscoSansTT"/>
                <a:ea typeface="CiscoSansTT"/>
                <a:cs typeface="CiscoSansTT"/>
              </a:defRPr>
            </a:lvl7pPr>
            <a:lvl8pPr algn="ctr">
              <a:defRPr sz="1875" b="0">
                <a:solidFill>
                  <a:srgbClr val="686B6B"/>
                </a:solidFill>
                <a:latin typeface="CiscoSansTT"/>
                <a:ea typeface="CiscoSansTT"/>
                <a:cs typeface="CiscoSansTT"/>
              </a:defRPr>
            </a:lvl8pPr>
            <a:lvl9pPr algn="ctr">
              <a:defRPr sz="1875" b="0">
                <a:solidFill>
                  <a:srgbClr val="686B6B"/>
                </a:solidFill>
                <a:latin typeface="CiscoSansTT"/>
                <a:ea typeface="CiscoSansTT"/>
                <a:cs typeface="CiscoSansTT"/>
              </a:defRPr>
            </a:lvl9pPr>
          </a:lstStyle>
          <a:p>
            <a:pPr algn="ctr">
              <a:defRPr sz="1875" b="0">
                <a:solidFill>
                  <a:srgbClr val="686B6B"/>
                </a:solidFill>
                <a:latin typeface="CiscoSansTT"/>
                <a:ea typeface="CiscoSansTT"/>
                <a:cs typeface="CiscoSansTT"/>
              </a:defRPr>
            </a:pPr>
            <a:r>
              <a:rPr sz="1875" b="0">
                <a:solidFill>
                  <a:srgbClr val="686B6B"/>
                </a:solidFill>
                <a:latin typeface="CiscoSansTT"/>
                <a:ea typeface="CiscoSansTT"/>
                <a:cs typeface="CiscoSansTT"/>
              </a:rPr>
              <a:t>Add more nodes</a:t>
            </a:r>
          </a:p>
          <a:p>
            <a:pPr algn="ctr">
              <a:defRPr sz="1875" b="0">
                <a:solidFill>
                  <a:srgbClr val="686B6B"/>
                </a:solidFill>
                <a:latin typeface="CiscoSansTT"/>
                <a:ea typeface="CiscoSansTT"/>
                <a:cs typeface="CiscoSansTT"/>
              </a:defRPr>
            </a:pPr>
            <a:r>
              <a:rPr sz="1875" b="0">
                <a:solidFill>
                  <a:srgbClr val="686B6B"/>
                </a:solidFill>
                <a:latin typeface="CiscoSansTT"/>
                <a:ea typeface="CiscoSansTT"/>
                <a:cs typeface="CiscoSansTT"/>
              </a:rPr>
              <a:t>when checks pass.</a:t>
            </a:r>
          </a:p>
        </p:txBody>
      </p:sp>
      <p:sp>
        <p:nvSpPr>
          <p:cNvPr id="41" name="rollout-rollback-background">
            <a:extLst>
              <a:ext uri="{FF2B5EF4-FFF2-40B4-BE49-F238E27FC236}">
                <a16:creationId xmlns:a16="http://schemas.microsoft.com/office/drawing/2014/main" id="{6420A510-A7D3-4C46-9EC4-A9B23720F370}"/>
              </a:ext>
            </a:extLst>
          </p:cNvPr>
          <p:cNvSpPr>
            <a:spLocks noGrp="1"/>
          </p:cNvSpPr>
          <p:nvPr/>
        </p:nvSpPr>
        <p:spPr>
          <a:xfrm>
            <a:off x="1219200" y="4838700"/>
            <a:ext cx="9753600" cy="857250"/>
          </a:xfrm>
          <a:prstGeom prst="roundRect">
            <a:avLst>
              <a:gd name="adj" fmla="val 7778"/>
            </a:avLst>
          </a:prstGeom>
          <a:solidFill>
            <a:srgbClr val="F4F6F7"/>
          </a:solidFill>
          <a:ln w="11906">
            <a:solidFill>
              <a:srgbClr val="D6DDE3"/>
            </a:solidFill>
          </a:ln>
        </p:spPr>
        <p:txBody>
          <a:bodyPr/>
          <a:lstStyle/>
          <a:p>
            <a:endParaRPr lang="en-ES"/>
          </a:p>
        </p:txBody>
      </p:sp>
      <p:sp>
        <p:nvSpPr>
          <p:cNvPr id="42" name="rollout-rollback">
            <a:extLst>
              <a:ext uri="{FF2B5EF4-FFF2-40B4-BE49-F238E27FC236}">
                <a16:creationId xmlns:a16="http://schemas.microsoft.com/office/drawing/2014/main" id="{DB47BD46-21DC-47C2-87C2-9413DBB62336}"/>
              </a:ext>
            </a:extLst>
          </p:cNvPr>
          <p:cNvSpPr>
            <a:spLocks noGrp="1"/>
          </p:cNvSpPr>
          <p:nvPr/>
        </p:nvSpPr>
        <p:spPr>
          <a:xfrm>
            <a:off x="1619250" y="5019675"/>
            <a:ext cx="8953500" cy="495300"/>
          </a:xfrm>
          <a:prstGeom prst="rect">
            <a:avLst/>
          </a:prstGeom>
          <a:noFill/>
          <a:ln w="0">
            <a:noFill/>
          </a:ln>
        </p:spPr>
        <p:txBody>
          <a:bodyPr anchor="ctr">
            <a:noAutofit/>
          </a:bodyPr>
          <a:lstStyle>
            <a:defPPr algn="ctr">
              <a:defRPr sz="1875" b="1">
                <a:solidFill>
                  <a:srgbClr val="07182A"/>
                </a:solidFill>
                <a:latin typeface="CiscoSansTT Medium"/>
                <a:ea typeface="CiscoSansTT Medium"/>
                <a:cs typeface="CiscoSansTT Medium"/>
              </a:defRPr>
            </a:defPPr>
            <a:lvl1pPr algn="ctr">
              <a:defRPr sz="1875" b="1">
                <a:solidFill>
                  <a:srgbClr val="07182A"/>
                </a:solidFill>
                <a:latin typeface="CiscoSansTT Medium"/>
                <a:ea typeface="CiscoSansTT Medium"/>
                <a:cs typeface="CiscoSansTT Medium"/>
              </a:defRPr>
            </a:lvl1pPr>
            <a:lvl2pPr algn="ctr">
              <a:defRPr sz="1875" b="1">
                <a:solidFill>
                  <a:srgbClr val="07182A"/>
                </a:solidFill>
                <a:latin typeface="CiscoSansTT Medium"/>
                <a:ea typeface="CiscoSansTT Medium"/>
                <a:cs typeface="CiscoSansTT Medium"/>
              </a:defRPr>
            </a:lvl2pPr>
            <a:lvl3pPr algn="ctr">
              <a:defRPr sz="1875" b="1">
                <a:solidFill>
                  <a:srgbClr val="07182A"/>
                </a:solidFill>
                <a:latin typeface="CiscoSansTT Medium"/>
                <a:ea typeface="CiscoSansTT Medium"/>
                <a:cs typeface="CiscoSansTT Medium"/>
              </a:defRPr>
            </a:lvl3pPr>
            <a:lvl4pPr algn="ctr">
              <a:defRPr sz="1875" b="1">
                <a:solidFill>
                  <a:srgbClr val="07182A"/>
                </a:solidFill>
                <a:latin typeface="CiscoSansTT Medium"/>
                <a:ea typeface="CiscoSansTT Medium"/>
                <a:cs typeface="CiscoSansTT Medium"/>
              </a:defRPr>
            </a:lvl4pPr>
            <a:lvl5pPr algn="ctr">
              <a:defRPr sz="1875" b="1">
                <a:solidFill>
                  <a:srgbClr val="07182A"/>
                </a:solidFill>
                <a:latin typeface="CiscoSansTT Medium"/>
                <a:ea typeface="CiscoSansTT Medium"/>
                <a:cs typeface="CiscoSansTT Medium"/>
              </a:defRPr>
            </a:lvl5pPr>
            <a:lvl6pPr algn="ctr">
              <a:defRPr sz="1875" b="1">
                <a:solidFill>
                  <a:srgbClr val="07182A"/>
                </a:solidFill>
                <a:latin typeface="CiscoSansTT Medium"/>
                <a:ea typeface="CiscoSansTT Medium"/>
                <a:cs typeface="CiscoSansTT Medium"/>
              </a:defRPr>
            </a:lvl6pPr>
            <a:lvl7pPr algn="ctr">
              <a:defRPr sz="1875" b="1">
                <a:solidFill>
                  <a:srgbClr val="07182A"/>
                </a:solidFill>
                <a:latin typeface="CiscoSansTT Medium"/>
                <a:ea typeface="CiscoSansTT Medium"/>
                <a:cs typeface="CiscoSansTT Medium"/>
              </a:defRPr>
            </a:lvl7pPr>
            <a:lvl8pPr algn="ctr">
              <a:defRPr sz="1875" b="1">
                <a:solidFill>
                  <a:srgbClr val="07182A"/>
                </a:solidFill>
                <a:latin typeface="CiscoSansTT Medium"/>
                <a:ea typeface="CiscoSansTT Medium"/>
                <a:cs typeface="CiscoSansTT Medium"/>
              </a:defRPr>
            </a:lvl8pPr>
            <a:lvl9pPr algn="ctr">
              <a:defRPr sz="1875" b="1">
                <a:solidFill>
                  <a:srgbClr val="07182A"/>
                </a:solidFill>
                <a:latin typeface="CiscoSansTT Medium"/>
                <a:ea typeface="CiscoSansTT Medium"/>
                <a:cs typeface="CiscoSansTT Medium"/>
              </a:defRPr>
            </a:lvl9pPr>
          </a:lstStyle>
          <a:p>
            <a:pPr algn="ctr">
              <a:defRPr sz="1875" b="1">
                <a:solidFill>
                  <a:srgbClr val="07182A"/>
                </a:solidFill>
                <a:latin typeface="CiscoSansTT Medium"/>
                <a:ea typeface="CiscoSansTT Medium"/>
                <a:cs typeface="CiscoSansTT Medium"/>
              </a:defRPr>
            </a:pPr>
            <a:r>
              <a:rPr sz="1875" b="1">
                <a:solidFill>
                  <a:srgbClr val="07182A"/>
                </a:solidFill>
                <a:latin typeface="CiscoSansTT Medium"/>
                <a:ea typeface="CiscoSansTT Medium"/>
                <a:cs typeface="CiscoSansTT Medium"/>
              </a:rPr>
              <a:t>If a check fails, stop and restore the previous setup.</a:t>
            </a:r>
          </a:p>
        </p:txBody>
      </p:sp>
    </p:spTree>
    <p:extLst>
      <p:ext uri="{BB962C8B-B14F-4D97-AF65-F5344CB8AC3E}">
        <p14:creationId xmlns:p14="http://schemas.microsoft.com/office/powerpoint/2010/main" val="31588492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99C880A8-3582-4338-BB63-C79554C56E94}"/>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Three rules for running both</a:t>
            </a:r>
          </a:p>
        </p:txBody>
      </p:sp>
      <p:sp>
        <p:nvSpPr>
          <p:cNvPr id="2" name="Rectangle 1">
            <a:extLst>
              <a:ext uri="{FF2B5EF4-FFF2-40B4-BE49-F238E27FC236}">
                <a16:creationId xmlns:a16="http://schemas.microsoft.com/office/drawing/2014/main" id="{CEC07943-9C3B-4328-9CA2-532BB469DBA6}"/>
              </a:ext>
            </a:extLst>
          </p:cNvPr>
          <p:cNvSpPr>
            <a:spLocks noGrp="1"/>
          </p:cNvSpPr>
          <p:nvPr/>
        </p:nvSpPr>
        <p:spPr>
          <a:xfrm>
            <a:off x="781050" y="1524000"/>
            <a:ext cx="857250" cy="552450"/>
          </a:xfrm>
          <a:prstGeom prst="rect">
            <a:avLst/>
          </a:prstGeom>
          <a:noFill/>
          <a:ln w="0">
            <a:noFill/>
          </a:ln>
        </p:spPr>
        <p:txBody>
          <a:bodyPr anchor="t">
            <a:normAutofit/>
          </a:bodyPr>
          <a:lstStyle/>
          <a:p>
            <a:pPr algn="l">
              <a:buNone/>
              <a:defRPr sz="2925" b="1">
                <a:solidFill>
                  <a:srgbClr val="0860FE"/>
                </a:solidFill>
                <a:latin typeface="CiscoSansTT Medium"/>
                <a:ea typeface="CiscoSansTT Medium"/>
                <a:cs typeface="CiscoSansTT Medium"/>
              </a:defRPr>
            </a:pPr>
            <a:r>
              <a:rPr sz="2925" b="1">
                <a:solidFill>
                  <a:srgbClr val="0860FE"/>
                </a:solidFill>
                <a:latin typeface="CiscoSansTT Medium"/>
                <a:ea typeface="CiscoSansTT Medium"/>
                <a:cs typeface="CiscoSansTT Medium"/>
              </a:rPr>
              <a:t>01</a:t>
            </a:r>
          </a:p>
        </p:txBody>
      </p:sp>
      <p:sp>
        <p:nvSpPr>
          <p:cNvPr id="3" name="Rectangle 2">
            <a:extLst>
              <a:ext uri="{FF2B5EF4-FFF2-40B4-BE49-F238E27FC236}">
                <a16:creationId xmlns:a16="http://schemas.microsoft.com/office/drawing/2014/main" id="{909DFF60-89E5-4A12-A77D-719A2348DAA4}"/>
              </a:ext>
            </a:extLst>
          </p:cNvPr>
          <p:cNvSpPr>
            <a:spLocks noGrp="1"/>
          </p:cNvSpPr>
          <p:nvPr/>
        </p:nvSpPr>
        <p:spPr>
          <a:xfrm>
            <a:off x="1905000" y="1524000"/>
            <a:ext cx="3905250" cy="438150"/>
          </a:xfrm>
          <a:prstGeom prst="rect">
            <a:avLst/>
          </a:prstGeom>
          <a:noFill/>
          <a:ln w="0">
            <a:noFill/>
          </a:ln>
        </p:spPr>
        <p:txBody>
          <a:bodyPr anchor="ctr">
            <a:noAutofit/>
          </a:bodyPr>
          <a:lstStyle>
            <a:defPPr algn="l">
              <a:defRPr sz="2100" b="1">
                <a:solidFill>
                  <a:srgbClr val="07182A"/>
                </a:solidFill>
                <a:latin typeface="CiscoSansTT Medium"/>
                <a:ea typeface="CiscoSansTT Medium"/>
                <a:cs typeface="CiscoSansTT Medium"/>
              </a:defRPr>
            </a:defPPr>
            <a:lvl1pPr algn="l">
              <a:defRPr sz="2100" b="1">
                <a:solidFill>
                  <a:srgbClr val="07182A"/>
                </a:solidFill>
                <a:latin typeface="CiscoSansTT Medium"/>
                <a:ea typeface="CiscoSansTT Medium"/>
                <a:cs typeface="CiscoSansTT Medium"/>
              </a:defRPr>
            </a:lvl1pPr>
            <a:lvl2pPr algn="l">
              <a:defRPr sz="2100" b="1">
                <a:solidFill>
                  <a:srgbClr val="07182A"/>
                </a:solidFill>
                <a:latin typeface="CiscoSansTT Medium"/>
                <a:ea typeface="CiscoSansTT Medium"/>
                <a:cs typeface="CiscoSansTT Medium"/>
              </a:defRPr>
            </a:lvl2pPr>
            <a:lvl3pPr algn="l">
              <a:defRPr sz="2100" b="1">
                <a:solidFill>
                  <a:srgbClr val="07182A"/>
                </a:solidFill>
                <a:latin typeface="CiscoSansTT Medium"/>
                <a:ea typeface="CiscoSansTT Medium"/>
                <a:cs typeface="CiscoSansTT Medium"/>
              </a:defRPr>
            </a:lvl3pPr>
            <a:lvl4pPr algn="l">
              <a:defRPr sz="2100" b="1">
                <a:solidFill>
                  <a:srgbClr val="07182A"/>
                </a:solidFill>
                <a:latin typeface="CiscoSansTT Medium"/>
                <a:ea typeface="CiscoSansTT Medium"/>
                <a:cs typeface="CiscoSansTT Medium"/>
              </a:defRPr>
            </a:lvl4pPr>
            <a:lvl5pPr algn="l">
              <a:defRPr sz="2100" b="1">
                <a:solidFill>
                  <a:srgbClr val="07182A"/>
                </a:solidFill>
                <a:latin typeface="CiscoSansTT Medium"/>
                <a:ea typeface="CiscoSansTT Medium"/>
                <a:cs typeface="CiscoSansTT Medium"/>
              </a:defRPr>
            </a:lvl5pPr>
            <a:lvl6pPr algn="l">
              <a:defRPr sz="2100" b="1">
                <a:solidFill>
                  <a:srgbClr val="07182A"/>
                </a:solidFill>
                <a:latin typeface="CiscoSansTT Medium"/>
                <a:ea typeface="CiscoSansTT Medium"/>
                <a:cs typeface="CiscoSansTT Medium"/>
              </a:defRPr>
            </a:lvl6pPr>
            <a:lvl7pPr algn="l">
              <a:defRPr sz="2100" b="1">
                <a:solidFill>
                  <a:srgbClr val="07182A"/>
                </a:solidFill>
                <a:latin typeface="CiscoSansTT Medium"/>
                <a:ea typeface="CiscoSansTT Medium"/>
                <a:cs typeface="CiscoSansTT Medium"/>
              </a:defRPr>
            </a:lvl7pPr>
            <a:lvl8pPr algn="l">
              <a:defRPr sz="2100" b="1">
                <a:solidFill>
                  <a:srgbClr val="07182A"/>
                </a:solidFill>
                <a:latin typeface="CiscoSansTT Medium"/>
                <a:ea typeface="CiscoSansTT Medium"/>
                <a:cs typeface="CiscoSansTT Medium"/>
              </a:defRPr>
            </a:lvl8pPr>
            <a:lvl9pPr algn="l">
              <a:defRPr sz="2100" b="1">
                <a:solidFill>
                  <a:srgbClr val="07182A"/>
                </a:solidFill>
                <a:latin typeface="CiscoSansTT Medium"/>
                <a:ea typeface="CiscoSansTT Medium"/>
                <a:cs typeface="CiscoSansTT Medium"/>
              </a:defRPr>
            </a:lvl9pPr>
          </a:lstStyle>
          <a:p>
            <a:pPr algn="l">
              <a:buNone/>
              <a:defRPr sz="2100" b="1">
                <a:solidFill>
                  <a:srgbClr val="07182A"/>
                </a:solidFill>
                <a:latin typeface="CiscoSansTT Medium"/>
                <a:ea typeface="CiscoSansTT Medium"/>
                <a:cs typeface="CiscoSansTT Medium"/>
              </a:defRPr>
            </a:pPr>
            <a:r>
              <a:rPr sz="2100" b="1">
                <a:solidFill>
                  <a:srgbClr val="07182A"/>
                </a:solidFill>
                <a:latin typeface="CiscoSansTT Medium"/>
                <a:ea typeface="CiscoSansTT Medium"/>
                <a:cs typeface="CiscoSansTT Medium"/>
              </a:rPr>
              <a:t>Verify traffic + order</a:t>
            </a:r>
          </a:p>
        </p:txBody>
      </p:sp>
      <p:sp>
        <p:nvSpPr>
          <p:cNvPr id="4" name="Rectangle 3">
            <a:extLst>
              <a:ext uri="{FF2B5EF4-FFF2-40B4-BE49-F238E27FC236}">
                <a16:creationId xmlns:a16="http://schemas.microsoft.com/office/drawing/2014/main" id="{1DED608B-AA10-4F56-83D1-A47EE6CD188F}"/>
              </a:ext>
            </a:extLst>
          </p:cNvPr>
          <p:cNvSpPr>
            <a:spLocks noGrp="1"/>
          </p:cNvSpPr>
          <p:nvPr/>
        </p:nvSpPr>
        <p:spPr>
          <a:xfrm>
            <a:off x="5953125" y="1543050"/>
            <a:ext cx="5429250" cy="666750"/>
          </a:xfrm>
          <a:prstGeom prst="rect">
            <a:avLst/>
          </a:prstGeom>
          <a:noFill/>
          <a:ln w="0">
            <a:noFill/>
          </a:ln>
        </p:spPr>
        <p:txBody>
          <a:bodyPr anchor="ctr">
            <a:noAutofit/>
          </a:bodyPr>
          <a:lstStyle>
            <a:defPPr algn="l">
              <a:defRPr sz="1725" b="0">
                <a:solidFill>
                  <a:srgbClr val="686B6B"/>
                </a:solidFill>
                <a:latin typeface="CiscoSansTT"/>
                <a:ea typeface="CiscoSansTT"/>
                <a:cs typeface="CiscoSansTT"/>
              </a:defRPr>
            </a:defPPr>
            <a:lvl1pPr algn="l">
              <a:defRPr sz="1725" b="0">
                <a:solidFill>
                  <a:srgbClr val="686B6B"/>
                </a:solidFill>
                <a:latin typeface="CiscoSansTT"/>
                <a:ea typeface="CiscoSansTT"/>
                <a:cs typeface="CiscoSansTT"/>
              </a:defRPr>
            </a:lvl1pPr>
            <a:lvl2pPr algn="l">
              <a:defRPr sz="1725" b="0">
                <a:solidFill>
                  <a:srgbClr val="686B6B"/>
                </a:solidFill>
                <a:latin typeface="CiscoSansTT"/>
                <a:ea typeface="CiscoSansTT"/>
                <a:cs typeface="CiscoSansTT"/>
              </a:defRPr>
            </a:lvl2pPr>
            <a:lvl3pPr algn="l">
              <a:defRPr sz="1725" b="0">
                <a:solidFill>
                  <a:srgbClr val="686B6B"/>
                </a:solidFill>
                <a:latin typeface="CiscoSansTT"/>
                <a:ea typeface="CiscoSansTT"/>
                <a:cs typeface="CiscoSansTT"/>
              </a:defRPr>
            </a:lvl3pPr>
            <a:lvl4pPr algn="l">
              <a:defRPr sz="1725" b="0">
                <a:solidFill>
                  <a:srgbClr val="686B6B"/>
                </a:solidFill>
                <a:latin typeface="CiscoSansTT"/>
                <a:ea typeface="CiscoSansTT"/>
                <a:cs typeface="CiscoSansTT"/>
              </a:defRPr>
            </a:lvl4pPr>
            <a:lvl5pPr algn="l">
              <a:defRPr sz="1725" b="0">
                <a:solidFill>
                  <a:srgbClr val="686B6B"/>
                </a:solidFill>
                <a:latin typeface="CiscoSansTT"/>
                <a:ea typeface="CiscoSansTT"/>
                <a:cs typeface="CiscoSansTT"/>
              </a:defRPr>
            </a:lvl5pPr>
            <a:lvl6pPr algn="l">
              <a:defRPr sz="1725" b="0">
                <a:solidFill>
                  <a:srgbClr val="686B6B"/>
                </a:solidFill>
                <a:latin typeface="CiscoSansTT"/>
                <a:ea typeface="CiscoSansTT"/>
                <a:cs typeface="CiscoSansTT"/>
              </a:defRPr>
            </a:lvl6pPr>
            <a:lvl7pPr algn="l">
              <a:defRPr sz="1725" b="0">
                <a:solidFill>
                  <a:srgbClr val="686B6B"/>
                </a:solidFill>
                <a:latin typeface="CiscoSansTT"/>
                <a:ea typeface="CiscoSansTT"/>
                <a:cs typeface="CiscoSansTT"/>
              </a:defRPr>
            </a:lvl7pPr>
            <a:lvl8pPr algn="l">
              <a:defRPr sz="1725" b="0">
                <a:solidFill>
                  <a:srgbClr val="686B6B"/>
                </a:solidFill>
                <a:latin typeface="CiscoSansTT"/>
                <a:ea typeface="CiscoSansTT"/>
                <a:cs typeface="CiscoSansTT"/>
              </a:defRPr>
            </a:lvl8pPr>
            <a:lvl9pPr algn="l">
              <a:defRPr sz="1725" b="0">
                <a:solidFill>
                  <a:srgbClr val="686B6B"/>
                </a:solidFill>
                <a:latin typeface="CiscoSansTT"/>
                <a:ea typeface="CiscoSansTT"/>
                <a:cs typeface="CiscoSansTT"/>
              </a:defRPr>
            </a:lvl9p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Check allowed and denied traffic.</a:t>
            </a:r>
          </a:p>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Verify TCX or legacy priorities.</a:t>
            </a:r>
          </a:p>
        </p:txBody>
      </p:sp>
      <p:sp>
        <p:nvSpPr>
          <p:cNvPr id="5" name="Rectangle 4">
            <a:extLst>
              <a:ext uri="{FF2B5EF4-FFF2-40B4-BE49-F238E27FC236}">
                <a16:creationId xmlns:a16="http://schemas.microsoft.com/office/drawing/2014/main" id="{B063BBC9-28E7-4543-A22D-F34BBD91DF39}"/>
              </a:ext>
            </a:extLst>
          </p:cNvPr>
          <p:cNvSpPr>
            <a:spLocks noGrp="1"/>
          </p:cNvSpPr>
          <p:nvPr/>
        </p:nvSpPr>
        <p:spPr>
          <a:xfrm>
            <a:off x="1905000" y="2333625"/>
            <a:ext cx="9477375" cy="9525"/>
          </a:xfrm>
          <a:prstGeom prst="rect">
            <a:avLst/>
          </a:prstGeom>
          <a:solidFill>
            <a:srgbClr val="D6D6D6"/>
          </a:solidFill>
          <a:ln w="0">
            <a:noFill/>
          </a:ln>
        </p:spPr>
        <p:txBody>
          <a:bodyPr/>
          <a:lstStyle/>
          <a:p>
            <a:endParaRPr/>
          </a:p>
        </p:txBody>
      </p:sp>
      <p:sp>
        <p:nvSpPr>
          <p:cNvPr id="6" name="Rectangle 5">
            <a:extLst>
              <a:ext uri="{FF2B5EF4-FFF2-40B4-BE49-F238E27FC236}">
                <a16:creationId xmlns:a16="http://schemas.microsoft.com/office/drawing/2014/main" id="{7744041E-5BE1-4917-AB80-60DE28645E6A}"/>
              </a:ext>
            </a:extLst>
          </p:cNvPr>
          <p:cNvSpPr>
            <a:spLocks noGrp="1"/>
          </p:cNvSpPr>
          <p:nvPr/>
        </p:nvSpPr>
        <p:spPr>
          <a:xfrm>
            <a:off x="781050" y="2905125"/>
            <a:ext cx="857250" cy="552450"/>
          </a:xfrm>
          <a:prstGeom prst="rect">
            <a:avLst/>
          </a:prstGeom>
          <a:noFill/>
          <a:ln w="0">
            <a:noFill/>
          </a:ln>
        </p:spPr>
        <p:txBody>
          <a:bodyPr anchor="t">
            <a:normAutofit/>
          </a:bodyPr>
          <a:lstStyle/>
          <a:p>
            <a:pPr algn="l">
              <a:buNone/>
              <a:defRPr sz="2925" b="1">
                <a:solidFill>
                  <a:srgbClr val="FF007F"/>
                </a:solidFill>
                <a:latin typeface="CiscoSansTT Medium"/>
                <a:ea typeface="CiscoSansTT Medium"/>
                <a:cs typeface="CiscoSansTT Medium"/>
              </a:defRPr>
            </a:pPr>
            <a:r>
              <a:rPr sz="2925" b="1">
                <a:solidFill>
                  <a:srgbClr val="FF007F"/>
                </a:solidFill>
                <a:latin typeface="CiscoSansTT Medium"/>
                <a:ea typeface="CiscoSansTT Medium"/>
                <a:cs typeface="CiscoSansTT Medium"/>
              </a:rPr>
              <a:t>02</a:t>
            </a:r>
          </a:p>
        </p:txBody>
      </p:sp>
      <p:sp>
        <p:nvSpPr>
          <p:cNvPr id="7" name="Rectangle 6">
            <a:extLst>
              <a:ext uri="{FF2B5EF4-FFF2-40B4-BE49-F238E27FC236}">
                <a16:creationId xmlns:a16="http://schemas.microsoft.com/office/drawing/2014/main" id="{FE853C3F-C124-4539-A207-DDBFF83B7A34}"/>
              </a:ext>
            </a:extLst>
          </p:cNvPr>
          <p:cNvSpPr>
            <a:spLocks noGrp="1"/>
          </p:cNvSpPr>
          <p:nvPr/>
        </p:nvSpPr>
        <p:spPr>
          <a:xfrm>
            <a:off x="1905000" y="2905125"/>
            <a:ext cx="3905250" cy="438150"/>
          </a:xfrm>
          <a:prstGeom prst="rect">
            <a:avLst/>
          </a:prstGeom>
          <a:noFill/>
          <a:ln w="0">
            <a:noFill/>
          </a:ln>
        </p:spPr>
        <p:txBody>
          <a:bodyPr anchor="ctr">
            <a:noAutofit/>
          </a:bodyPr>
          <a:lstStyle>
            <a:defPPr algn="l">
              <a:defRPr sz="2100" b="1">
                <a:solidFill>
                  <a:srgbClr val="07182A"/>
                </a:solidFill>
                <a:latin typeface="CiscoSansTT Medium"/>
                <a:ea typeface="CiscoSansTT Medium"/>
                <a:cs typeface="CiscoSansTT Medium"/>
              </a:defRPr>
            </a:defPPr>
            <a:lvl1pPr algn="l">
              <a:defRPr sz="2100" b="1">
                <a:solidFill>
                  <a:srgbClr val="07182A"/>
                </a:solidFill>
                <a:latin typeface="CiscoSansTT Medium"/>
                <a:ea typeface="CiscoSansTT Medium"/>
                <a:cs typeface="CiscoSansTT Medium"/>
              </a:defRPr>
            </a:lvl1pPr>
            <a:lvl2pPr algn="l">
              <a:defRPr sz="2100" b="1">
                <a:solidFill>
                  <a:srgbClr val="07182A"/>
                </a:solidFill>
                <a:latin typeface="CiscoSansTT Medium"/>
                <a:ea typeface="CiscoSansTT Medium"/>
                <a:cs typeface="CiscoSansTT Medium"/>
              </a:defRPr>
            </a:lvl2pPr>
            <a:lvl3pPr algn="l">
              <a:defRPr sz="2100" b="1">
                <a:solidFill>
                  <a:srgbClr val="07182A"/>
                </a:solidFill>
                <a:latin typeface="CiscoSansTT Medium"/>
                <a:ea typeface="CiscoSansTT Medium"/>
                <a:cs typeface="CiscoSansTT Medium"/>
              </a:defRPr>
            </a:lvl3pPr>
            <a:lvl4pPr algn="l">
              <a:defRPr sz="2100" b="1">
                <a:solidFill>
                  <a:srgbClr val="07182A"/>
                </a:solidFill>
                <a:latin typeface="CiscoSansTT Medium"/>
                <a:ea typeface="CiscoSansTT Medium"/>
                <a:cs typeface="CiscoSansTT Medium"/>
              </a:defRPr>
            </a:lvl4pPr>
            <a:lvl5pPr algn="l">
              <a:defRPr sz="2100" b="1">
                <a:solidFill>
                  <a:srgbClr val="07182A"/>
                </a:solidFill>
                <a:latin typeface="CiscoSansTT Medium"/>
                <a:ea typeface="CiscoSansTT Medium"/>
                <a:cs typeface="CiscoSansTT Medium"/>
              </a:defRPr>
            </a:lvl5pPr>
            <a:lvl6pPr algn="l">
              <a:defRPr sz="2100" b="1">
                <a:solidFill>
                  <a:srgbClr val="07182A"/>
                </a:solidFill>
                <a:latin typeface="CiscoSansTT Medium"/>
                <a:ea typeface="CiscoSansTT Medium"/>
                <a:cs typeface="CiscoSansTT Medium"/>
              </a:defRPr>
            </a:lvl6pPr>
            <a:lvl7pPr algn="l">
              <a:defRPr sz="2100" b="1">
                <a:solidFill>
                  <a:srgbClr val="07182A"/>
                </a:solidFill>
                <a:latin typeface="CiscoSansTT Medium"/>
                <a:ea typeface="CiscoSansTT Medium"/>
                <a:cs typeface="CiscoSansTT Medium"/>
              </a:defRPr>
            </a:lvl7pPr>
            <a:lvl8pPr algn="l">
              <a:defRPr sz="2100" b="1">
                <a:solidFill>
                  <a:srgbClr val="07182A"/>
                </a:solidFill>
                <a:latin typeface="CiscoSansTT Medium"/>
                <a:ea typeface="CiscoSansTT Medium"/>
                <a:cs typeface="CiscoSansTT Medium"/>
              </a:defRPr>
            </a:lvl8pPr>
            <a:lvl9pPr algn="l">
              <a:defRPr sz="2100" b="1">
                <a:solidFill>
                  <a:srgbClr val="07182A"/>
                </a:solidFill>
                <a:latin typeface="CiscoSansTT Medium"/>
                <a:ea typeface="CiscoSansTT Medium"/>
                <a:cs typeface="CiscoSansTT Medium"/>
              </a:defRPr>
            </a:lvl9pPr>
          </a:lstStyle>
          <a:p>
            <a:pPr algn="l">
              <a:buNone/>
              <a:defRPr sz="2100" b="1">
                <a:solidFill>
                  <a:srgbClr val="07182A"/>
                </a:solidFill>
                <a:latin typeface="CiscoSansTT Medium"/>
                <a:ea typeface="CiscoSansTT Medium"/>
                <a:cs typeface="CiscoSansTT Medium"/>
              </a:defRPr>
            </a:pPr>
            <a:r>
              <a:rPr sz="2100" b="1">
                <a:solidFill>
                  <a:srgbClr val="07182A"/>
                </a:solidFill>
                <a:latin typeface="CiscoSansTT Medium"/>
                <a:ea typeface="CiscoSansTT Medium"/>
                <a:cs typeface="CiscoSansTT Medium"/>
              </a:rPr>
              <a:t>Correlate the signals</a:t>
            </a:r>
          </a:p>
        </p:txBody>
      </p:sp>
      <p:sp>
        <p:nvSpPr>
          <p:cNvPr id="8" name="Rectangle 7">
            <a:extLst>
              <a:ext uri="{FF2B5EF4-FFF2-40B4-BE49-F238E27FC236}">
                <a16:creationId xmlns:a16="http://schemas.microsoft.com/office/drawing/2014/main" id="{FC46DB99-40F6-4A65-86C7-09E7DE84F08A}"/>
              </a:ext>
            </a:extLst>
          </p:cNvPr>
          <p:cNvSpPr>
            <a:spLocks noGrp="1"/>
          </p:cNvSpPr>
          <p:nvPr/>
        </p:nvSpPr>
        <p:spPr>
          <a:xfrm>
            <a:off x="5953125" y="2924175"/>
            <a:ext cx="5429250" cy="666750"/>
          </a:xfrm>
          <a:prstGeom prst="rect">
            <a:avLst/>
          </a:prstGeom>
          <a:noFill/>
          <a:ln w="0">
            <a:noFill/>
          </a:ln>
        </p:spPr>
        <p:txBody>
          <a:bodyPr anchor="ctr">
            <a:noAutofit/>
          </a:bodyPr>
          <a:lstStyle>
            <a:defPPr algn="l">
              <a:defRPr sz="1725" b="0">
                <a:solidFill>
                  <a:srgbClr val="686B6B"/>
                </a:solidFill>
                <a:latin typeface="CiscoSansTT"/>
                <a:ea typeface="CiscoSansTT"/>
                <a:cs typeface="CiscoSansTT"/>
              </a:defRPr>
            </a:defPPr>
            <a:lvl1pPr algn="l">
              <a:defRPr sz="1725" b="0">
                <a:solidFill>
                  <a:srgbClr val="686B6B"/>
                </a:solidFill>
                <a:latin typeface="CiscoSansTT"/>
                <a:ea typeface="CiscoSansTT"/>
                <a:cs typeface="CiscoSansTT"/>
              </a:defRPr>
            </a:lvl1pPr>
            <a:lvl2pPr algn="l">
              <a:defRPr sz="1725" b="0">
                <a:solidFill>
                  <a:srgbClr val="686B6B"/>
                </a:solidFill>
                <a:latin typeface="CiscoSansTT"/>
                <a:ea typeface="CiscoSansTT"/>
                <a:cs typeface="CiscoSansTT"/>
              </a:defRPr>
            </a:lvl2pPr>
            <a:lvl3pPr algn="l">
              <a:defRPr sz="1725" b="0">
                <a:solidFill>
                  <a:srgbClr val="686B6B"/>
                </a:solidFill>
                <a:latin typeface="CiscoSansTT"/>
                <a:ea typeface="CiscoSansTT"/>
                <a:cs typeface="CiscoSansTT"/>
              </a:defRPr>
            </a:lvl3pPr>
            <a:lvl4pPr algn="l">
              <a:defRPr sz="1725" b="0">
                <a:solidFill>
                  <a:srgbClr val="686B6B"/>
                </a:solidFill>
                <a:latin typeface="CiscoSansTT"/>
                <a:ea typeface="CiscoSansTT"/>
                <a:cs typeface="CiscoSansTT"/>
              </a:defRPr>
            </a:lvl4pPr>
            <a:lvl5pPr algn="l">
              <a:defRPr sz="1725" b="0">
                <a:solidFill>
                  <a:srgbClr val="686B6B"/>
                </a:solidFill>
                <a:latin typeface="CiscoSansTT"/>
                <a:ea typeface="CiscoSansTT"/>
                <a:cs typeface="CiscoSansTT"/>
              </a:defRPr>
            </a:lvl5pPr>
            <a:lvl6pPr algn="l">
              <a:defRPr sz="1725" b="0">
                <a:solidFill>
                  <a:srgbClr val="686B6B"/>
                </a:solidFill>
                <a:latin typeface="CiscoSansTT"/>
                <a:ea typeface="CiscoSansTT"/>
                <a:cs typeface="CiscoSansTT"/>
              </a:defRPr>
            </a:lvl6pPr>
            <a:lvl7pPr algn="l">
              <a:defRPr sz="1725" b="0">
                <a:solidFill>
                  <a:srgbClr val="686B6B"/>
                </a:solidFill>
                <a:latin typeface="CiscoSansTT"/>
                <a:ea typeface="CiscoSansTT"/>
                <a:cs typeface="CiscoSansTT"/>
              </a:defRPr>
            </a:lvl7pPr>
            <a:lvl8pPr algn="l">
              <a:defRPr sz="1725" b="0">
                <a:solidFill>
                  <a:srgbClr val="686B6B"/>
                </a:solidFill>
                <a:latin typeface="CiscoSansTT"/>
                <a:ea typeface="CiscoSansTT"/>
                <a:cs typeface="CiscoSansTT"/>
              </a:defRPr>
            </a:lvl8pPr>
            <a:lvl9pPr algn="l">
              <a:defRPr sz="1725" b="0">
                <a:solidFill>
                  <a:srgbClr val="686B6B"/>
                </a:solidFill>
                <a:latin typeface="CiscoSansTT"/>
                <a:ea typeface="CiscoSansTT"/>
                <a:cs typeface="CiscoSansTT"/>
              </a:defRPr>
            </a:lvl9p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Match time, workloads, direction, and port.</a:t>
            </a:r>
          </a:p>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Use OBI traces with Hubble flow evidence.</a:t>
            </a:r>
          </a:p>
        </p:txBody>
      </p:sp>
      <p:sp>
        <p:nvSpPr>
          <p:cNvPr id="9" name="Rectangle 8">
            <a:extLst>
              <a:ext uri="{FF2B5EF4-FFF2-40B4-BE49-F238E27FC236}">
                <a16:creationId xmlns:a16="http://schemas.microsoft.com/office/drawing/2014/main" id="{06E77A3C-525A-4F41-9208-7530006142A6}"/>
              </a:ext>
            </a:extLst>
          </p:cNvPr>
          <p:cNvSpPr>
            <a:spLocks noGrp="1"/>
          </p:cNvSpPr>
          <p:nvPr/>
        </p:nvSpPr>
        <p:spPr>
          <a:xfrm>
            <a:off x="1905000" y="3714750"/>
            <a:ext cx="9477375" cy="9525"/>
          </a:xfrm>
          <a:prstGeom prst="rect">
            <a:avLst/>
          </a:prstGeom>
          <a:solidFill>
            <a:srgbClr val="D6D6D6"/>
          </a:solidFill>
          <a:ln w="0">
            <a:noFill/>
          </a:ln>
        </p:spPr>
        <p:txBody>
          <a:bodyPr/>
          <a:lstStyle/>
          <a:p>
            <a:endParaRPr/>
          </a:p>
        </p:txBody>
      </p:sp>
      <p:sp>
        <p:nvSpPr>
          <p:cNvPr id="10" name="Rectangle 9">
            <a:extLst>
              <a:ext uri="{FF2B5EF4-FFF2-40B4-BE49-F238E27FC236}">
                <a16:creationId xmlns:a16="http://schemas.microsoft.com/office/drawing/2014/main" id="{0733A2E0-4853-430E-B861-8F608C46153F}"/>
              </a:ext>
            </a:extLst>
          </p:cNvPr>
          <p:cNvSpPr>
            <a:spLocks noGrp="1"/>
          </p:cNvSpPr>
          <p:nvPr/>
        </p:nvSpPr>
        <p:spPr>
          <a:xfrm>
            <a:off x="781050" y="4286250"/>
            <a:ext cx="857250" cy="552450"/>
          </a:xfrm>
          <a:prstGeom prst="rect">
            <a:avLst/>
          </a:prstGeom>
          <a:noFill/>
          <a:ln w="0">
            <a:noFill/>
          </a:ln>
        </p:spPr>
        <p:txBody>
          <a:bodyPr anchor="t">
            <a:normAutofit/>
          </a:bodyPr>
          <a:lstStyle/>
          <a:p>
            <a:pPr algn="l">
              <a:buNone/>
              <a:defRPr sz="2925" b="1">
                <a:solidFill>
                  <a:srgbClr val="FF9000"/>
                </a:solidFill>
                <a:latin typeface="CiscoSansTT Medium"/>
                <a:ea typeface="CiscoSansTT Medium"/>
                <a:cs typeface="CiscoSansTT Medium"/>
              </a:defRPr>
            </a:pPr>
            <a:r>
              <a:rPr sz="2925" b="1">
                <a:solidFill>
                  <a:srgbClr val="FF9000"/>
                </a:solidFill>
                <a:latin typeface="CiscoSansTT Medium"/>
                <a:ea typeface="CiscoSansTT Medium"/>
                <a:cs typeface="CiscoSansTT Medium"/>
              </a:rPr>
              <a:t>03</a:t>
            </a:r>
          </a:p>
        </p:txBody>
      </p:sp>
      <p:sp>
        <p:nvSpPr>
          <p:cNvPr id="11" name="Rectangle 10">
            <a:extLst>
              <a:ext uri="{FF2B5EF4-FFF2-40B4-BE49-F238E27FC236}">
                <a16:creationId xmlns:a16="http://schemas.microsoft.com/office/drawing/2014/main" id="{5C6F9620-6253-4E71-BDCC-B3879164F272}"/>
              </a:ext>
            </a:extLst>
          </p:cNvPr>
          <p:cNvSpPr>
            <a:spLocks noGrp="1"/>
          </p:cNvSpPr>
          <p:nvPr/>
        </p:nvSpPr>
        <p:spPr>
          <a:xfrm>
            <a:off x="1905000" y="4286250"/>
            <a:ext cx="3905250" cy="438150"/>
          </a:xfrm>
          <a:prstGeom prst="rect">
            <a:avLst/>
          </a:prstGeom>
          <a:noFill/>
          <a:ln w="0">
            <a:noFill/>
          </a:ln>
        </p:spPr>
        <p:txBody>
          <a:bodyPr anchor="ctr">
            <a:noAutofit/>
          </a:bodyPr>
          <a:lstStyle>
            <a:defPPr algn="l">
              <a:defRPr sz="2100" b="1">
                <a:solidFill>
                  <a:srgbClr val="07182A"/>
                </a:solidFill>
                <a:latin typeface="CiscoSansTT Medium"/>
                <a:ea typeface="CiscoSansTT Medium"/>
                <a:cs typeface="CiscoSansTT Medium"/>
              </a:defRPr>
            </a:defPPr>
            <a:lvl1pPr algn="l">
              <a:defRPr sz="2100" b="1">
                <a:solidFill>
                  <a:srgbClr val="07182A"/>
                </a:solidFill>
                <a:latin typeface="CiscoSansTT Medium"/>
                <a:ea typeface="CiscoSansTT Medium"/>
                <a:cs typeface="CiscoSansTT Medium"/>
              </a:defRPr>
            </a:lvl1pPr>
            <a:lvl2pPr algn="l">
              <a:defRPr sz="2100" b="1">
                <a:solidFill>
                  <a:srgbClr val="07182A"/>
                </a:solidFill>
                <a:latin typeface="CiscoSansTT Medium"/>
                <a:ea typeface="CiscoSansTT Medium"/>
                <a:cs typeface="CiscoSansTT Medium"/>
              </a:defRPr>
            </a:lvl2pPr>
            <a:lvl3pPr algn="l">
              <a:defRPr sz="2100" b="1">
                <a:solidFill>
                  <a:srgbClr val="07182A"/>
                </a:solidFill>
                <a:latin typeface="CiscoSansTT Medium"/>
                <a:ea typeface="CiscoSansTT Medium"/>
                <a:cs typeface="CiscoSansTT Medium"/>
              </a:defRPr>
            </a:lvl3pPr>
            <a:lvl4pPr algn="l">
              <a:defRPr sz="2100" b="1">
                <a:solidFill>
                  <a:srgbClr val="07182A"/>
                </a:solidFill>
                <a:latin typeface="CiscoSansTT Medium"/>
                <a:ea typeface="CiscoSansTT Medium"/>
                <a:cs typeface="CiscoSansTT Medium"/>
              </a:defRPr>
            </a:lvl4pPr>
            <a:lvl5pPr algn="l">
              <a:defRPr sz="2100" b="1">
                <a:solidFill>
                  <a:srgbClr val="07182A"/>
                </a:solidFill>
                <a:latin typeface="CiscoSansTT Medium"/>
                <a:ea typeface="CiscoSansTT Medium"/>
                <a:cs typeface="CiscoSansTT Medium"/>
              </a:defRPr>
            </a:lvl5pPr>
            <a:lvl6pPr algn="l">
              <a:defRPr sz="2100" b="1">
                <a:solidFill>
                  <a:srgbClr val="07182A"/>
                </a:solidFill>
                <a:latin typeface="CiscoSansTT Medium"/>
                <a:ea typeface="CiscoSansTT Medium"/>
                <a:cs typeface="CiscoSansTT Medium"/>
              </a:defRPr>
            </a:lvl6pPr>
            <a:lvl7pPr algn="l">
              <a:defRPr sz="2100" b="1">
                <a:solidFill>
                  <a:srgbClr val="07182A"/>
                </a:solidFill>
                <a:latin typeface="CiscoSansTT Medium"/>
                <a:ea typeface="CiscoSansTT Medium"/>
                <a:cs typeface="CiscoSansTT Medium"/>
              </a:defRPr>
            </a:lvl7pPr>
            <a:lvl8pPr algn="l">
              <a:defRPr sz="2100" b="1">
                <a:solidFill>
                  <a:srgbClr val="07182A"/>
                </a:solidFill>
                <a:latin typeface="CiscoSansTT Medium"/>
                <a:ea typeface="CiscoSansTT Medium"/>
                <a:cs typeface="CiscoSansTT Medium"/>
              </a:defRPr>
            </a:lvl8pPr>
            <a:lvl9pPr algn="l">
              <a:defRPr sz="2100" b="1">
                <a:solidFill>
                  <a:srgbClr val="07182A"/>
                </a:solidFill>
                <a:latin typeface="CiscoSansTT Medium"/>
                <a:ea typeface="CiscoSansTT Medium"/>
                <a:cs typeface="CiscoSansTT Medium"/>
              </a:defRPr>
            </a:lvl9pPr>
          </a:lstStyle>
          <a:p>
            <a:pPr algn="l">
              <a:buNone/>
              <a:defRPr sz="2100" b="1">
                <a:solidFill>
                  <a:srgbClr val="07182A"/>
                </a:solidFill>
                <a:latin typeface="CiscoSansTT Medium"/>
                <a:ea typeface="CiscoSansTT Medium"/>
                <a:cs typeface="CiscoSansTT Medium"/>
              </a:defRPr>
            </a:pPr>
            <a:r>
              <a:rPr sz="2100" b="1">
                <a:solidFill>
                  <a:srgbClr val="07182A"/>
                </a:solidFill>
                <a:latin typeface="CiscoSansTT Medium"/>
                <a:ea typeface="CiscoSansTT Medium"/>
                <a:cs typeface="CiscoSansTT Medium"/>
              </a:rPr>
              <a:t>Measure before rollout</a:t>
            </a:r>
          </a:p>
        </p:txBody>
      </p:sp>
      <p:sp>
        <p:nvSpPr>
          <p:cNvPr id="12" name="Rectangle 11">
            <a:extLst>
              <a:ext uri="{FF2B5EF4-FFF2-40B4-BE49-F238E27FC236}">
                <a16:creationId xmlns:a16="http://schemas.microsoft.com/office/drawing/2014/main" id="{042175F6-EADD-46D7-BB92-94092EF9F2DD}"/>
              </a:ext>
            </a:extLst>
          </p:cNvPr>
          <p:cNvSpPr>
            <a:spLocks noGrp="1"/>
          </p:cNvSpPr>
          <p:nvPr/>
        </p:nvSpPr>
        <p:spPr>
          <a:xfrm>
            <a:off x="5953125" y="4305300"/>
            <a:ext cx="5429250" cy="666750"/>
          </a:xfrm>
          <a:prstGeom prst="rect">
            <a:avLst/>
          </a:prstGeom>
          <a:noFill/>
          <a:ln w="0">
            <a:noFill/>
          </a:ln>
        </p:spPr>
        <p:txBody>
          <a:bodyPr anchor="ctr">
            <a:noAutofit/>
          </a:bodyPr>
          <a:lstStyle>
            <a:defPPr algn="l">
              <a:defRPr sz="1725" b="0">
                <a:solidFill>
                  <a:srgbClr val="686B6B"/>
                </a:solidFill>
                <a:latin typeface="CiscoSansTT"/>
                <a:ea typeface="CiscoSansTT"/>
                <a:cs typeface="CiscoSansTT"/>
              </a:defRPr>
            </a:defPPr>
            <a:lvl1pPr algn="l">
              <a:defRPr sz="1725" b="0">
                <a:solidFill>
                  <a:srgbClr val="686B6B"/>
                </a:solidFill>
                <a:latin typeface="CiscoSansTT"/>
                <a:ea typeface="CiscoSansTT"/>
                <a:cs typeface="CiscoSansTT"/>
              </a:defRPr>
            </a:lvl1pPr>
            <a:lvl2pPr algn="l">
              <a:defRPr sz="1725" b="0">
                <a:solidFill>
                  <a:srgbClr val="686B6B"/>
                </a:solidFill>
                <a:latin typeface="CiscoSansTT"/>
                <a:ea typeface="CiscoSansTT"/>
                <a:cs typeface="CiscoSansTT"/>
              </a:defRPr>
            </a:lvl2pPr>
            <a:lvl3pPr algn="l">
              <a:defRPr sz="1725" b="0">
                <a:solidFill>
                  <a:srgbClr val="686B6B"/>
                </a:solidFill>
                <a:latin typeface="CiscoSansTT"/>
                <a:ea typeface="CiscoSansTT"/>
                <a:cs typeface="CiscoSansTT"/>
              </a:defRPr>
            </a:lvl3pPr>
            <a:lvl4pPr algn="l">
              <a:defRPr sz="1725" b="0">
                <a:solidFill>
                  <a:srgbClr val="686B6B"/>
                </a:solidFill>
                <a:latin typeface="CiscoSansTT"/>
                <a:ea typeface="CiscoSansTT"/>
                <a:cs typeface="CiscoSansTT"/>
              </a:defRPr>
            </a:lvl4pPr>
            <a:lvl5pPr algn="l">
              <a:defRPr sz="1725" b="0">
                <a:solidFill>
                  <a:srgbClr val="686B6B"/>
                </a:solidFill>
                <a:latin typeface="CiscoSansTT"/>
                <a:ea typeface="CiscoSansTT"/>
                <a:cs typeface="CiscoSansTT"/>
              </a:defRPr>
            </a:lvl5pPr>
            <a:lvl6pPr algn="l">
              <a:defRPr sz="1725" b="0">
                <a:solidFill>
                  <a:srgbClr val="686B6B"/>
                </a:solidFill>
                <a:latin typeface="CiscoSansTT"/>
                <a:ea typeface="CiscoSansTT"/>
                <a:cs typeface="CiscoSansTT"/>
              </a:defRPr>
            </a:lvl6pPr>
            <a:lvl7pPr algn="l">
              <a:defRPr sz="1725" b="0">
                <a:solidFill>
                  <a:srgbClr val="686B6B"/>
                </a:solidFill>
                <a:latin typeface="CiscoSansTT"/>
                <a:ea typeface="CiscoSansTT"/>
                <a:cs typeface="CiscoSansTT"/>
              </a:defRPr>
            </a:lvl7pPr>
            <a:lvl8pPr algn="l">
              <a:defRPr sz="1725" b="0">
                <a:solidFill>
                  <a:srgbClr val="686B6B"/>
                </a:solidFill>
                <a:latin typeface="CiscoSansTT"/>
                <a:ea typeface="CiscoSansTT"/>
                <a:cs typeface="CiscoSansTT"/>
              </a:defRPr>
            </a:lvl8pPr>
            <a:lvl9pPr algn="l">
              <a:defRPr sz="1725" b="0">
                <a:solidFill>
                  <a:srgbClr val="686B6B"/>
                </a:solidFill>
                <a:latin typeface="CiscoSansTT"/>
                <a:ea typeface="CiscoSansTT"/>
                <a:cs typeface="CiscoSansTT"/>
              </a:defRPr>
            </a:lvl9p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Compare CPU, memory, missing telemetry,</a:t>
            </a:r>
          </a:p>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and data volume before expanding.</a:t>
            </a:r>
          </a:p>
        </p:txBody>
      </p:sp>
      <p:sp>
        <p:nvSpPr>
          <p:cNvPr id="13" name="Rectangle 12">
            <a:extLst>
              <a:ext uri="{FF2B5EF4-FFF2-40B4-BE49-F238E27FC236}">
                <a16:creationId xmlns:a16="http://schemas.microsoft.com/office/drawing/2014/main" id="{6DB2593E-1A84-4909-8DB4-F01E41F71A0B}"/>
              </a:ext>
            </a:extLst>
          </p:cNvPr>
          <p:cNvSpPr>
            <a:spLocks noGrp="1"/>
          </p:cNvSpPr>
          <p:nvPr/>
        </p:nvSpPr>
        <p:spPr>
          <a:xfrm>
            <a:off x="1905000" y="5095875"/>
            <a:ext cx="9477375" cy="9525"/>
          </a:xfrm>
          <a:prstGeom prst="rect">
            <a:avLst/>
          </a:prstGeom>
          <a:solidFill>
            <a:srgbClr val="D6D6D6"/>
          </a:solidFill>
          <a:ln w="0">
            <a:noFill/>
          </a:ln>
        </p:spPr>
        <p:txBody>
          <a:bodyPr/>
          <a:lstStyle/>
          <a:p>
            <a:endParaRPr/>
          </a:p>
        </p:txBody>
      </p:sp>
    </p:spTree>
    <p:extLst>
      <p:ext uri="{BB962C8B-B14F-4D97-AF65-F5344CB8AC3E}">
        <p14:creationId xmlns:p14="http://schemas.microsoft.com/office/powerpoint/2010/main" val="29105554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21885A1-2C43-8640-F232-FC541372805F}"/>
              </a:ext>
            </a:extLst>
          </p:cNvPr>
          <p:cNvSpPr>
            <a:spLocks noGrp="1"/>
          </p:cNvSpPr>
          <p:nvPr>
            <p:ph type="title"/>
          </p:nvPr>
        </p:nvSpPr>
        <p:spPr/>
        <p:txBody>
          <a:bodyPr anchor="ctr"/>
          <a:lstStyle>
            <a:lvl1pPr>
              <a:buNone/>
              <a:defRPr sz="4000">
                <a:solidFill>
                  <a:schemeClr val="bg1"/>
                </a:solidFill>
              </a:defRPr>
            </a:lvl1pPr>
          </a:lstStyle>
          <a:p>
            <a:r>
              <a:t>Questions?</a:t>
            </a:r>
          </a:p>
        </p:txBody>
      </p:sp>
      <p:sp>
        <p:nvSpPr>
          <p:cNvPr id="2" name="Rectangle 1">
            <a:extLst>
              <a:ext uri="{FF2B5EF4-FFF2-40B4-BE49-F238E27FC236}">
                <a16:creationId xmlns:a16="http://schemas.microsoft.com/office/drawing/2014/main" id="{BC8C757A-EBAE-41DF-8024-5D93DDCB99F8}"/>
              </a:ext>
            </a:extLst>
          </p:cNvPr>
          <p:cNvSpPr>
            <a:spLocks noGrp="1"/>
          </p:cNvSpPr>
          <p:nvPr/>
        </p:nvSpPr>
        <p:spPr>
          <a:xfrm>
            <a:off x="342900" y="4171950"/>
            <a:ext cx="6191250" cy="323850"/>
          </a:xfrm>
          <a:prstGeom prst="rect">
            <a:avLst/>
          </a:prstGeom>
          <a:noFill/>
          <a:ln w="0">
            <a:noFill/>
          </a:ln>
        </p:spPr>
        <p:txBody>
          <a:bodyPr anchor="t">
            <a:normAutofit/>
          </a:bodyPr>
          <a:lstStyle/>
          <a:p>
            <a:pPr algn="l">
              <a:buNone/>
              <a:defRPr sz="1500" b="0">
                <a:solidFill>
                  <a:srgbClr val="686B6B"/>
                </a:solidFill>
                <a:latin typeface="CiscoSansTT"/>
                <a:ea typeface="CiscoSansTT"/>
                <a:cs typeface="CiscoSansTT"/>
              </a:defRPr>
            </a:pPr>
            <a:r>
              <a:rPr sz="1500" b="0">
                <a:solidFill>
                  <a:srgbClr val="686B6B"/>
                </a:solidFill>
                <a:latin typeface="CiscoSansTT"/>
                <a:ea typeface="CiscoSansTT"/>
                <a:cs typeface="CiscoSansTT"/>
              </a:rPr>
              <a:t>Demo, dashboards, benchmark, and slides</a:t>
            </a:r>
          </a:p>
        </p:txBody>
      </p:sp>
      <p:sp>
        <p:nvSpPr>
          <p:cNvPr id="3" name="Rectangle 2">
            <a:extLst>
              <a:ext uri="{FF2B5EF4-FFF2-40B4-BE49-F238E27FC236}">
                <a16:creationId xmlns:a16="http://schemas.microsoft.com/office/drawing/2014/main" id="{5951CB9B-0C39-48E6-A009-6394EAA31EF3}"/>
              </a:ext>
            </a:extLst>
          </p:cNvPr>
          <p:cNvSpPr>
            <a:spLocks noGrp="1"/>
          </p:cNvSpPr>
          <p:nvPr/>
        </p:nvSpPr>
        <p:spPr>
          <a:xfrm>
            <a:off x="342900" y="4591050"/>
            <a:ext cx="6858000" cy="400050"/>
          </a:xfrm>
          <a:prstGeom prst="rect">
            <a:avLst/>
          </a:prstGeom>
          <a:noFill/>
          <a:ln w="0">
            <a:noFill/>
          </a:ln>
        </p:spPr>
        <p:txBody>
          <a:bodyPr anchor="t">
            <a:normAutofit/>
          </a:bodyPr>
          <a:lstStyle/>
          <a:p>
            <a:pPr algn="l">
              <a:buNone/>
              <a:defRPr sz="1650" b="1">
                <a:solidFill>
                  <a:srgbClr val="0860FE"/>
                </a:solidFill>
                <a:latin typeface="CiscoSansTT Medium"/>
                <a:ea typeface="CiscoSansTT Medium"/>
                <a:cs typeface="CiscoSansTT Medium"/>
              </a:defRPr>
            </a:pPr>
            <a:r>
              <a:rPr sz="1650" b="1">
                <a:solidFill>
                  <a:srgbClr val="0860FE"/>
                </a:solidFill>
                <a:latin typeface="CiscoSansTT Medium"/>
                <a:ea typeface="CiscoSansTT Medium"/>
                <a:cs typeface="CiscoSansTT Medium"/>
              </a:rPr>
              <a:t>github.com/ajimenez1503/cilium-obi-demo</a:t>
            </a:r>
          </a:p>
        </p:txBody>
      </p:sp>
    </p:spTree>
    <p:extLst>
      <p:ext uri="{BB962C8B-B14F-4D97-AF65-F5344CB8AC3E}">
        <p14:creationId xmlns:p14="http://schemas.microsoft.com/office/powerpoint/2010/main" val="121412621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A138CB-AF2D-4EA0-BDDD-BF610034F744}"/>
              </a:ext>
            </a:extLst>
          </p:cNvPr>
          <p:cNvSpPr>
            <a:spLocks noGrp="1"/>
          </p:cNvSpPr>
          <p:nvPr/>
        </p:nvSpPr>
        <p:spPr>
          <a:xfrm>
            <a:off x="0" y="0"/>
            <a:ext cx="9525" cy="9525"/>
          </a:xfrm>
          <a:prstGeom prst="rect">
            <a:avLst/>
          </a:prstGeom>
          <a:solidFill>
            <a:srgbClr val="FFFFFF"/>
          </a:solidFill>
          <a:ln w="0">
            <a:noFill/>
          </a:ln>
        </p:spPr>
        <p:txBody>
          <a:bodyPr/>
          <a:lstStyle/>
          <a:p>
            <a:endParaRPr/>
          </a:p>
        </p:txBody>
      </p:sp>
    </p:spTree>
    <p:extLst>
      <p:ext uri="{BB962C8B-B14F-4D97-AF65-F5344CB8AC3E}">
        <p14:creationId xmlns:p14="http://schemas.microsoft.com/office/powerpoint/2010/main" val="190085031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p:txBody>
          <a:bodyPr anchor="ctr"/>
          <a:lstStyle>
            <a:lvl1pPr>
              <a:buNone/>
              <a:defRPr sz="4000">
                <a:solidFill>
                  <a:schemeClr val="bg1"/>
                </a:solidFill>
              </a:defRPr>
            </a:lvl1pPr>
          </a:lstStyle>
          <a:p>
            <a:r>
              <a:t>Appendix</a:t>
            </a:r>
          </a:p>
        </p:txBody>
      </p:sp>
    </p:spTree>
    <p:extLst>
      <p:ext uri="{BB962C8B-B14F-4D97-AF65-F5344CB8AC3E}">
        <p14:creationId xmlns:p14="http://schemas.microsoft.com/office/powerpoint/2010/main" val="127259867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55F6433C-CB26-4D0A-AE41-4FF35BCEED6F}"/>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Appendix: pinned TCX configuration</a:t>
            </a:r>
          </a:p>
        </p:txBody>
      </p:sp>
      <p:sp>
        <p:nvSpPr>
          <p:cNvPr id="2" name="Rectangle 1">
            <a:extLst>
              <a:ext uri="{FF2B5EF4-FFF2-40B4-BE49-F238E27FC236}">
                <a16:creationId xmlns:a16="http://schemas.microsoft.com/office/drawing/2014/main" id="{2BBB1705-8A86-4DED-B223-99D39B18DAC1}"/>
              </a:ext>
            </a:extLst>
          </p:cNvPr>
          <p:cNvSpPr>
            <a:spLocks noGrp="1"/>
          </p:cNvSpPr>
          <p:nvPr/>
        </p:nvSpPr>
        <p:spPr>
          <a:xfrm>
            <a:off x="762000" y="1476375"/>
            <a:ext cx="4381500" cy="361950"/>
          </a:xfrm>
          <a:prstGeom prst="rect">
            <a:avLst/>
          </a:prstGeom>
          <a:noFill/>
          <a:ln w="0">
            <a:noFill/>
          </a:ln>
        </p:spPr>
        <p:txBody>
          <a:bodyPr anchor="ctr">
            <a:noAutofit/>
          </a:bodyPr>
          <a:lstStyle>
            <a:defPPr algn="l">
              <a:defRPr sz="2100" b="1">
                <a:solidFill>
                  <a:srgbClr val="FF007F"/>
                </a:solidFill>
                <a:latin typeface="CiscoSansTT Medium"/>
                <a:ea typeface="CiscoSansTT Medium"/>
                <a:cs typeface="CiscoSansTT Medium"/>
              </a:defRPr>
            </a:defPPr>
            <a:lvl1pPr algn="l">
              <a:defRPr sz="2100" b="1">
                <a:solidFill>
                  <a:srgbClr val="FF007F"/>
                </a:solidFill>
                <a:latin typeface="CiscoSansTT Medium"/>
                <a:ea typeface="CiscoSansTT Medium"/>
                <a:cs typeface="CiscoSansTT Medium"/>
              </a:defRPr>
            </a:lvl1pPr>
            <a:lvl2pPr algn="l">
              <a:defRPr sz="2100" b="1">
                <a:solidFill>
                  <a:srgbClr val="FF007F"/>
                </a:solidFill>
                <a:latin typeface="CiscoSansTT Medium"/>
                <a:ea typeface="CiscoSansTT Medium"/>
                <a:cs typeface="CiscoSansTT Medium"/>
              </a:defRPr>
            </a:lvl2pPr>
            <a:lvl3pPr algn="l">
              <a:defRPr sz="2100" b="1">
                <a:solidFill>
                  <a:srgbClr val="FF007F"/>
                </a:solidFill>
                <a:latin typeface="CiscoSansTT Medium"/>
                <a:ea typeface="CiscoSansTT Medium"/>
                <a:cs typeface="CiscoSansTT Medium"/>
              </a:defRPr>
            </a:lvl3pPr>
            <a:lvl4pPr algn="l">
              <a:defRPr sz="2100" b="1">
                <a:solidFill>
                  <a:srgbClr val="FF007F"/>
                </a:solidFill>
                <a:latin typeface="CiscoSansTT Medium"/>
                <a:ea typeface="CiscoSansTT Medium"/>
                <a:cs typeface="CiscoSansTT Medium"/>
              </a:defRPr>
            </a:lvl4pPr>
            <a:lvl5pPr algn="l">
              <a:defRPr sz="2100" b="1">
                <a:solidFill>
                  <a:srgbClr val="FF007F"/>
                </a:solidFill>
                <a:latin typeface="CiscoSansTT Medium"/>
                <a:ea typeface="CiscoSansTT Medium"/>
                <a:cs typeface="CiscoSansTT Medium"/>
              </a:defRPr>
            </a:lvl5pPr>
            <a:lvl6pPr algn="l">
              <a:defRPr sz="2100" b="1">
                <a:solidFill>
                  <a:srgbClr val="FF007F"/>
                </a:solidFill>
                <a:latin typeface="CiscoSansTT Medium"/>
                <a:ea typeface="CiscoSansTT Medium"/>
                <a:cs typeface="CiscoSansTT Medium"/>
              </a:defRPr>
            </a:lvl6pPr>
            <a:lvl7pPr algn="l">
              <a:defRPr sz="2100" b="1">
                <a:solidFill>
                  <a:srgbClr val="FF007F"/>
                </a:solidFill>
                <a:latin typeface="CiscoSansTT Medium"/>
                <a:ea typeface="CiscoSansTT Medium"/>
                <a:cs typeface="CiscoSansTT Medium"/>
              </a:defRPr>
            </a:lvl7pPr>
            <a:lvl8pPr algn="l">
              <a:defRPr sz="2100" b="1">
                <a:solidFill>
                  <a:srgbClr val="FF007F"/>
                </a:solidFill>
                <a:latin typeface="CiscoSansTT Medium"/>
                <a:ea typeface="CiscoSansTT Medium"/>
                <a:cs typeface="CiscoSansTT Medium"/>
              </a:defRPr>
            </a:lvl8pPr>
            <a:lvl9pPr algn="l">
              <a:defRPr sz="2100" b="1">
                <a:solidFill>
                  <a:srgbClr val="FF007F"/>
                </a:solidFill>
                <a:latin typeface="CiscoSansTT Medium"/>
                <a:ea typeface="CiscoSansTT Medium"/>
                <a:cs typeface="CiscoSansTT Medium"/>
              </a:defRPr>
            </a:lvl9pPr>
          </a:lstStyle>
          <a:p>
            <a:pPr algn="l">
              <a:buNone/>
              <a:defRPr sz="2100" b="1">
                <a:solidFill>
                  <a:srgbClr val="FF007F"/>
                </a:solidFill>
                <a:latin typeface="CiscoSansTT Medium"/>
                <a:ea typeface="CiscoSansTT Medium"/>
                <a:cs typeface="CiscoSansTT Medium"/>
              </a:defRPr>
            </a:pPr>
            <a:r>
              <a:rPr sz="2100" b="1">
                <a:solidFill>
                  <a:srgbClr val="FF007F"/>
                </a:solidFill>
                <a:latin typeface="CiscoSansTT Medium"/>
                <a:ea typeface="CiscoSansTT Medium"/>
                <a:cs typeface="CiscoSansTT Medium"/>
              </a:rPr>
              <a:t>OBI v1.0.0 · Config v2</a:t>
            </a:r>
          </a:p>
        </p:txBody>
      </p:sp>
      <p:sp>
        <p:nvSpPr>
          <p:cNvPr id="3" name="Rounded Rectangle 2">
            <a:extLst>
              <a:ext uri="{FF2B5EF4-FFF2-40B4-BE49-F238E27FC236}">
                <a16:creationId xmlns:a16="http://schemas.microsoft.com/office/drawing/2014/main" id="{36A08832-E9C7-47D2-A011-593E535AAA7B}"/>
              </a:ext>
            </a:extLst>
          </p:cNvPr>
          <p:cNvSpPr>
            <a:spLocks noGrp="1"/>
          </p:cNvSpPr>
          <p:nvPr/>
        </p:nvSpPr>
        <p:spPr>
          <a:xfrm>
            <a:off x="666750" y="1952625"/>
            <a:ext cx="4953000" cy="3238500"/>
          </a:xfrm>
          <a:prstGeom prst="roundRect">
            <a:avLst>
              <a:gd name="adj" fmla="val 2353"/>
            </a:avLst>
          </a:prstGeom>
          <a:solidFill>
            <a:srgbClr val="07182A"/>
          </a:solidFill>
          <a:ln w="0">
            <a:noFill/>
          </a:ln>
        </p:spPr>
        <p:txBody>
          <a:bodyPr/>
          <a:lstStyle/>
          <a:p>
            <a:endParaRPr/>
          </a:p>
        </p:txBody>
      </p:sp>
      <p:sp>
        <p:nvSpPr>
          <p:cNvPr id="4" name="Rectangle 3">
            <a:extLst>
              <a:ext uri="{FF2B5EF4-FFF2-40B4-BE49-F238E27FC236}">
                <a16:creationId xmlns:a16="http://schemas.microsoft.com/office/drawing/2014/main" id="{6B685953-4679-4CFB-B385-330DB1330E0D}"/>
              </a:ext>
            </a:extLst>
          </p:cNvPr>
          <p:cNvSpPr>
            <a:spLocks noGrp="1"/>
          </p:cNvSpPr>
          <p:nvPr/>
        </p:nvSpPr>
        <p:spPr>
          <a:xfrm>
            <a:off x="952500" y="2238375"/>
            <a:ext cx="4381500" cy="2667000"/>
          </a:xfrm>
          <a:prstGeom prst="rect">
            <a:avLst/>
          </a:prstGeom>
          <a:noFill/>
          <a:ln w="0">
            <a:noFill/>
          </a:ln>
        </p:spPr>
        <p:txBody>
          <a:bodyPr anchor="ctr">
            <a:noAutofit/>
          </a:bodyPr>
          <a:lstStyle>
            <a:defPPr algn="l">
              <a:defRPr sz="1725" b="0">
                <a:solidFill>
                  <a:srgbClr val="FFFFFF"/>
                </a:solidFill>
                <a:latin typeface="CiscoSansTT"/>
                <a:ea typeface="CiscoSansTT"/>
                <a:cs typeface="CiscoSansTT"/>
              </a:defRPr>
            </a:defPPr>
            <a:lvl1pPr algn="l">
              <a:defRPr sz="1725" b="0">
                <a:solidFill>
                  <a:srgbClr val="FFFFFF"/>
                </a:solidFill>
                <a:latin typeface="CiscoSansTT"/>
                <a:ea typeface="CiscoSansTT"/>
                <a:cs typeface="CiscoSansTT"/>
              </a:defRPr>
            </a:lvl1pPr>
            <a:lvl2pPr algn="l">
              <a:defRPr sz="1725" b="0">
                <a:solidFill>
                  <a:srgbClr val="FFFFFF"/>
                </a:solidFill>
                <a:latin typeface="CiscoSansTT"/>
                <a:ea typeface="CiscoSansTT"/>
                <a:cs typeface="CiscoSansTT"/>
              </a:defRPr>
            </a:lvl2pPr>
            <a:lvl3pPr algn="l">
              <a:defRPr sz="1725" b="0">
                <a:solidFill>
                  <a:srgbClr val="FFFFFF"/>
                </a:solidFill>
                <a:latin typeface="CiscoSansTT"/>
                <a:ea typeface="CiscoSansTT"/>
                <a:cs typeface="CiscoSansTT"/>
              </a:defRPr>
            </a:lvl3pPr>
            <a:lvl4pPr algn="l">
              <a:defRPr sz="1725" b="0">
                <a:solidFill>
                  <a:srgbClr val="FFFFFF"/>
                </a:solidFill>
                <a:latin typeface="CiscoSansTT"/>
                <a:ea typeface="CiscoSansTT"/>
                <a:cs typeface="CiscoSansTT"/>
              </a:defRPr>
            </a:lvl4pPr>
            <a:lvl5pPr algn="l">
              <a:defRPr sz="1725" b="0">
                <a:solidFill>
                  <a:srgbClr val="FFFFFF"/>
                </a:solidFill>
                <a:latin typeface="CiscoSansTT"/>
                <a:ea typeface="CiscoSansTT"/>
                <a:cs typeface="CiscoSansTT"/>
              </a:defRPr>
            </a:lvl5pPr>
            <a:lvl6pPr algn="l">
              <a:defRPr sz="1725" b="0">
                <a:solidFill>
                  <a:srgbClr val="FFFFFF"/>
                </a:solidFill>
                <a:latin typeface="CiscoSansTT"/>
                <a:ea typeface="CiscoSansTT"/>
                <a:cs typeface="CiscoSansTT"/>
              </a:defRPr>
            </a:lvl6pPr>
            <a:lvl7pPr algn="l">
              <a:defRPr sz="1725" b="0">
                <a:solidFill>
                  <a:srgbClr val="FFFFFF"/>
                </a:solidFill>
                <a:latin typeface="CiscoSansTT"/>
                <a:ea typeface="CiscoSansTT"/>
                <a:cs typeface="CiscoSansTT"/>
              </a:defRPr>
            </a:lvl7pPr>
            <a:lvl8pPr algn="l">
              <a:defRPr sz="1725" b="0">
                <a:solidFill>
                  <a:srgbClr val="FFFFFF"/>
                </a:solidFill>
                <a:latin typeface="CiscoSansTT"/>
                <a:ea typeface="CiscoSansTT"/>
                <a:cs typeface="CiscoSansTT"/>
              </a:defRPr>
            </a:lvl8pPr>
            <a:lvl9pPr algn="l">
              <a:defRPr sz="1725" b="0">
                <a:solidFill>
                  <a:srgbClr val="FFFFFF"/>
                </a:solidFill>
                <a:latin typeface="CiscoSansTT"/>
                <a:ea typeface="CiscoSansTT"/>
                <a:cs typeface="CiscoSansTT"/>
              </a:defRPr>
            </a:lvl9pPr>
          </a:lstStyle>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Helm values</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contextPropagation:</a:t>
            </a:r>
          </a:p>
          <a:p>
            <a:pPr algn="l">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enabled: true</a:t>
            </a:r>
            <a:endParaRPr sz="1650" b="0">
              <a:solidFill>
                <a:srgbClr val="FFFFFF"/>
              </a:solidFill>
              <a:latin typeface="CiscoSansTT"/>
              <a:ea typeface="CiscoSansTT"/>
              <a:cs typeface="CiscoSansTT"/>
            </a:endParaRPr>
          </a:p>
          <a:p>
            <a:pPr algn="l">
              <a:buNone/>
              <a:defRPr sz="1650" b="0">
                <a:solidFill>
                  <a:srgbClr val="FFFFFF"/>
                </a:solidFill>
                <a:latin typeface="CiscoSansTT"/>
                <a:ea typeface="CiscoSansTT"/>
                <a:cs typeface="CiscoSansTT"/>
              </a:defRPr>
            </a:pPr>
            <a:endParaRPr sz="1650" b="0">
              <a:solidFill>
                <a:srgbClr val="FFFFFF"/>
              </a:solidFill>
              <a:latin typeface="CiscoSansTT"/>
              <a:ea typeface="CiscoSansTT"/>
              <a:cs typeface="CiscoSansTT"/>
            </a:endParaRP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config.data.extensions.obi.capture</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engine:</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propagation:</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context_propagation: all</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traffic:</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control_backend: tcx</a:t>
            </a:r>
          </a:p>
        </p:txBody>
      </p:sp>
      <p:sp>
        <p:nvSpPr>
          <p:cNvPr id="5" name="Rectangle 4">
            <a:extLst>
              <a:ext uri="{FF2B5EF4-FFF2-40B4-BE49-F238E27FC236}">
                <a16:creationId xmlns:a16="http://schemas.microsoft.com/office/drawing/2014/main" id="{E9D345F3-1A50-410B-9B68-B7CF81838A24}"/>
              </a:ext>
            </a:extLst>
          </p:cNvPr>
          <p:cNvSpPr>
            <a:spLocks noGrp="1"/>
          </p:cNvSpPr>
          <p:nvPr/>
        </p:nvSpPr>
        <p:spPr>
          <a:xfrm>
            <a:off x="6667500" y="1476375"/>
            <a:ext cx="4381500" cy="361950"/>
          </a:xfrm>
          <a:prstGeom prst="rect">
            <a:avLst/>
          </a:prstGeom>
          <a:noFill/>
          <a:ln w="0">
            <a:noFill/>
          </a:ln>
        </p:spPr>
        <p:txBody>
          <a:bodyPr anchor="t">
            <a:normAutofit fontScale="94667" lnSpcReduction="10000"/>
          </a:bodyPr>
          <a:lstStyle/>
          <a:p>
            <a:pPr algn="l">
              <a:buNone/>
              <a:defRPr sz="1875" b="1">
                <a:solidFill>
                  <a:srgbClr val="0860FE"/>
                </a:solidFill>
                <a:latin typeface="CiscoSansTT Medium"/>
                <a:ea typeface="CiscoSansTT Medium"/>
                <a:cs typeface="CiscoSansTT Medium"/>
              </a:defRPr>
            </a:pPr>
            <a:r>
              <a:rPr sz="1875" b="1">
                <a:solidFill>
                  <a:srgbClr val="0860FE"/>
                </a:solidFill>
                <a:latin typeface="CiscoSansTT Medium"/>
                <a:ea typeface="CiscoSansTT Medium"/>
                <a:cs typeface="CiscoSansTT Medium"/>
              </a:rPr>
              <a:t>Cilium v1.20.2</a:t>
            </a:r>
          </a:p>
        </p:txBody>
      </p:sp>
      <p:sp>
        <p:nvSpPr>
          <p:cNvPr id="6" name="Rounded Rectangle 5">
            <a:extLst>
              <a:ext uri="{FF2B5EF4-FFF2-40B4-BE49-F238E27FC236}">
                <a16:creationId xmlns:a16="http://schemas.microsoft.com/office/drawing/2014/main" id="{D44BA46C-BFED-4D9B-A5F4-F9CD194CBD79}"/>
              </a:ext>
            </a:extLst>
          </p:cNvPr>
          <p:cNvSpPr>
            <a:spLocks noGrp="1"/>
          </p:cNvSpPr>
          <p:nvPr/>
        </p:nvSpPr>
        <p:spPr>
          <a:xfrm>
            <a:off x="6572250" y="1952625"/>
            <a:ext cx="4953000" cy="3238500"/>
          </a:xfrm>
          <a:prstGeom prst="roundRect">
            <a:avLst>
              <a:gd name="adj" fmla="val 2353"/>
            </a:avLst>
          </a:prstGeom>
          <a:solidFill>
            <a:srgbClr val="07182A"/>
          </a:solidFill>
          <a:ln w="0">
            <a:noFill/>
          </a:ln>
        </p:spPr>
        <p:txBody>
          <a:bodyPr/>
          <a:lstStyle/>
          <a:p>
            <a:endParaRPr/>
          </a:p>
        </p:txBody>
      </p:sp>
      <p:sp>
        <p:nvSpPr>
          <p:cNvPr id="7" name="Rectangle 6">
            <a:extLst>
              <a:ext uri="{FF2B5EF4-FFF2-40B4-BE49-F238E27FC236}">
                <a16:creationId xmlns:a16="http://schemas.microsoft.com/office/drawing/2014/main" id="{0A0F2876-B73E-4290-B890-24B0769B6DB0}"/>
              </a:ext>
            </a:extLst>
          </p:cNvPr>
          <p:cNvSpPr>
            <a:spLocks noGrp="1"/>
          </p:cNvSpPr>
          <p:nvPr/>
        </p:nvSpPr>
        <p:spPr>
          <a:xfrm>
            <a:off x="6858000" y="2238375"/>
            <a:ext cx="4381500" cy="2667000"/>
          </a:xfrm>
          <a:prstGeom prst="rect">
            <a:avLst/>
          </a:prstGeom>
          <a:noFill/>
          <a:ln w="0">
            <a:noFill/>
          </a:ln>
        </p:spPr>
        <p:txBody>
          <a:bodyPr anchor="t">
            <a:normAutofit/>
          </a:bodyPr>
          <a:lstStyle/>
          <a:p>
            <a:pPr algn="l">
              <a:buNone/>
              <a:defRPr sz="1650" b="0">
                <a:solidFill>
                  <a:srgbClr val="FFFFFF"/>
                </a:solidFill>
                <a:latin typeface="CiscoSansTT"/>
                <a:ea typeface="CiscoSansTT"/>
                <a:cs typeface="CiscoSansTT"/>
              </a:defRPr>
            </a:pPr>
            <a:r>
              <a:rPr sz="1650" b="0">
                <a:solidFill>
                  <a:srgbClr val="FFFFFF"/>
                </a:solidFill>
                <a:latin typeface="CiscoSansTT"/>
                <a:ea typeface="CiscoSansTT"/>
                <a:cs typeface="CiscoSansTT"/>
              </a:rPr>
              <a:t>bpf:</a:t>
            </a:r>
          </a:p>
          <a:p>
            <a:pPr algn="l">
              <a:buNone/>
              <a:defRPr sz="1650" b="0">
                <a:solidFill>
                  <a:srgbClr val="FFFFFF"/>
                </a:solidFill>
                <a:latin typeface="CiscoSansTT"/>
                <a:ea typeface="CiscoSansTT"/>
                <a:cs typeface="CiscoSansTT"/>
              </a:defRPr>
            </a:pPr>
            <a:r>
              <a:rPr sz="1650" b="0">
                <a:solidFill>
                  <a:srgbClr val="FFFFFF"/>
                </a:solidFill>
                <a:latin typeface="CiscoSansTT"/>
                <a:ea typeface="CiscoSansTT"/>
                <a:cs typeface="CiscoSansTT"/>
              </a:rPr>
              <a:t>  enableTCX: true</a:t>
            </a:r>
          </a:p>
          <a:p>
            <a:pPr algn="l">
              <a:buNone/>
              <a:defRPr sz="1650" b="0">
                <a:solidFill>
                  <a:srgbClr val="FFFFFF"/>
                </a:solidFill>
                <a:latin typeface="CiscoSansTT"/>
                <a:ea typeface="CiscoSansTT"/>
                <a:cs typeface="CiscoSansTT"/>
              </a:defRPr>
            </a:pPr>
            <a:r>
              <a:rPr sz="1650" b="0">
                <a:solidFill>
                  <a:srgbClr val="FFFFFF"/>
                </a:solidFill>
                <a:latin typeface="CiscoSansTT"/>
                <a:ea typeface="CiscoSansTT"/>
                <a:cs typeface="CiscoSansTT"/>
              </a:rPr>
              <a:t>  datapathMode: veth</a:t>
            </a:r>
          </a:p>
          <a:p>
            <a:endParaRPr sz="1650" b="0">
              <a:solidFill>
                <a:srgbClr val="FFFFFF"/>
              </a:solidFill>
              <a:latin typeface="CiscoSansTT"/>
              <a:ea typeface="CiscoSansTT"/>
              <a:cs typeface="CiscoSansTT"/>
            </a:endParaRPr>
          </a:p>
          <a:p>
            <a:pPr algn="l">
              <a:buNone/>
              <a:defRPr sz="1650" b="0">
                <a:solidFill>
                  <a:srgbClr val="FFFFFF"/>
                </a:solidFill>
                <a:latin typeface="CiscoSansTT"/>
                <a:ea typeface="CiscoSansTT"/>
                <a:cs typeface="CiscoSansTT"/>
              </a:defRPr>
            </a:pPr>
            <a:r>
              <a:rPr sz="1650" b="0">
                <a:solidFill>
                  <a:srgbClr val="FFFFFF"/>
                </a:solidFill>
                <a:latin typeface="CiscoSansTT"/>
                <a:ea typeface="CiscoSansTT"/>
                <a:cs typeface="CiscoSansTT"/>
              </a:rPr>
              <a:t>hubble:</a:t>
            </a:r>
          </a:p>
          <a:p>
            <a:pPr algn="l">
              <a:buNone/>
              <a:defRPr sz="1650" b="0">
                <a:solidFill>
                  <a:srgbClr val="FFFFFF"/>
                </a:solidFill>
                <a:latin typeface="CiscoSansTT"/>
                <a:ea typeface="CiscoSansTT"/>
                <a:cs typeface="CiscoSansTT"/>
              </a:defRPr>
            </a:pPr>
            <a:r>
              <a:rPr sz="1650" b="0">
                <a:solidFill>
                  <a:srgbClr val="FFFFFF"/>
                </a:solidFill>
                <a:latin typeface="CiscoSansTT"/>
                <a:ea typeface="CiscoSansTT"/>
                <a:cs typeface="CiscoSansTT"/>
              </a:rPr>
              <a:t>  enabled: true</a:t>
            </a:r>
          </a:p>
          <a:p>
            <a:pPr algn="l">
              <a:buNone/>
              <a:defRPr sz="1650" b="0">
                <a:solidFill>
                  <a:srgbClr val="FFFFFF"/>
                </a:solidFill>
                <a:latin typeface="CiscoSansTT"/>
                <a:ea typeface="CiscoSansTT"/>
                <a:cs typeface="CiscoSansTT"/>
              </a:defRPr>
            </a:pPr>
            <a:r>
              <a:rPr sz="1650" b="0">
                <a:solidFill>
                  <a:srgbClr val="FFFFFF"/>
                </a:solidFill>
                <a:latin typeface="CiscoSansTT"/>
                <a:ea typeface="CiscoSansTT"/>
                <a:cs typeface="CiscoSansTT"/>
              </a:rPr>
              <a:t>  relay:</a:t>
            </a:r>
          </a:p>
          <a:p>
            <a:pPr algn="l">
              <a:buNone/>
              <a:defRPr sz="1650" b="0">
                <a:solidFill>
                  <a:srgbClr val="FFFFFF"/>
                </a:solidFill>
                <a:latin typeface="CiscoSansTT"/>
                <a:ea typeface="CiscoSansTT"/>
                <a:cs typeface="CiscoSansTT"/>
              </a:defRPr>
            </a:pPr>
            <a:r>
              <a:rPr sz="1650" b="0">
                <a:solidFill>
                  <a:srgbClr val="FFFFFF"/>
                </a:solidFill>
                <a:latin typeface="CiscoSansTT"/>
                <a:ea typeface="CiscoSansTT"/>
                <a:cs typeface="CiscoSansTT"/>
              </a:rPr>
              <a:t>    enabled: true</a:t>
            </a:r>
          </a:p>
          <a:p>
            <a:pPr algn="l">
              <a:buNone/>
              <a:defRPr sz="1650" b="0">
                <a:solidFill>
                  <a:srgbClr val="FFFFFF"/>
                </a:solidFill>
                <a:latin typeface="CiscoSansTT"/>
                <a:ea typeface="CiscoSansTT"/>
                <a:cs typeface="CiscoSansTT"/>
              </a:defRPr>
            </a:pPr>
            <a:r>
              <a:rPr sz="1650" b="0">
                <a:solidFill>
                  <a:srgbClr val="FFFFFF"/>
                </a:solidFill>
                <a:latin typeface="CiscoSansTT"/>
                <a:ea typeface="CiscoSansTT"/>
                <a:cs typeface="CiscoSansTT"/>
              </a:rPr>
              <a:t>  ui:</a:t>
            </a:r>
          </a:p>
          <a:p>
            <a:pPr algn="l">
              <a:buNone/>
              <a:defRPr sz="1650" b="0">
                <a:solidFill>
                  <a:srgbClr val="FFFFFF"/>
                </a:solidFill>
                <a:latin typeface="CiscoSansTT"/>
                <a:ea typeface="CiscoSansTT"/>
                <a:cs typeface="CiscoSansTT"/>
              </a:defRPr>
            </a:pPr>
            <a:r>
              <a:rPr sz="1650" b="0">
                <a:solidFill>
                  <a:srgbClr val="FFFFFF"/>
                </a:solidFill>
                <a:latin typeface="CiscoSansTT"/>
                <a:ea typeface="CiscoSansTT"/>
                <a:cs typeface="CiscoSansTT"/>
              </a:rPr>
              <a:t>    enabled: true</a:t>
            </a:r>
          </a:p>
        </p:txBody>
      </p:sp>
      <p:sp>
        <p:nvSpPr>
          <p:cNvPr id="9" name="configured-backend-scope">
            <a:extLst>
              <a:ext uri="{FF2B5EF4-FFF2-40B4-BE49-F238E27FC236}">
                <a16:creationId xmlns:a16="http://schemas.microsoft.com/office/drawing/2014/main" id="{538F91A9-C95A-4352-91B5-5186067D0630}"/>
              </a:ext>
            </a:extLst>
          </p:cNvPr>
          <p:cNvSpPr>
            <a:spLocks noGrp="1"/>
          </p:cNvSpPr>
          <p:nvPr/>
        </p:nvSpPr>
        <p:spPr>
          <a:xfrm>
            <a:off x="666750" y="5619750"/>
            <a:ext cx="10858500" cy="438150"/>
          </a:xfrm>
          <a:prstGeom prst="rect">
            <a:avLst/>
          </a:prstGeom>
          <a:noFill/>
          <a:ln w="0">
            <a:noFill/>
          </a:ln>
        </p:spPr>
        <p:txBody>
          <a:bodyPr anchor="ctr">
            <a:noAutofit/>
          </a:bodyPr>
          <a:lstStyle>
            <a:defPPr algn="ctr">
              <a:defRPr sz="1800" b="0">
                <a:solidFill>
                  <a:srgbClr val="686B6B"/>
                </a:solidFill>
                <a:latin typeface="CiscoSansTT"/>
                <a:ea typeface="CiscoSansTT"/>
                <a:cs typeface="CiscoSansTT"/>
              </a:defRPr>
            </a:defPPr>
            <a:lvl1pPr algn="ctr">
              <a:defRPr sz="1800" b="0">
                <a:solidFill>
                  <a:srgbClr val="686B6B"/>
                </a:solidFill>
                <a:latin typeface="CiscoSansTT"/>
                <a:ea typeface="CiscoSansTT"/>
                <a:cs typeface="CiscoSansTT"/>
              </a:defRPr>
            </a:lvl1pPr>
            <a:lvl2pPr algn="ctr">
              <a:defRPr sz="1800" b="0">
                <a:solidFill>
                  <a:srgbClr val="686B6B"/>
                </a:solidFill>
                <a:latin typeface="CiscoSansTT"/>
                <a:ea typeface="CiscoSansTT"/>
                <a:cs typeface="CiscoSansTT"/>
              </a:defRPr>
            </a:lvl2pPr>
            <a:lvl3pPr algn="ctr">
              <a:defRPr sz="1800" b="0">
                <a:solidFill>
                  <a:srgbClr val="686B6B"/>
                </a:solidFill>
                <a:latin typeface="CiscoSansTT"/>
                <a:ea typeface="CiscoSansTT"/>
                <a:cs typeface="CiscoSansTT"/>
              </a:defRPr>
            </a:lvl3pPr>
            <a:lvl4pPr algn="ctr">
              <a:defRPr sz="1800" b="0">
                <a:solidFill>
                  <a:srgbClr val="686B6B"/>
                </a:solidFill>
                <a:latin typeface="CiscoSansTT"/>
                <a:ea typeface="CiscoSansTT"/>
                <a:cs typeface="CiscoSansTT"/>
              </a:defRPr>
            </a:lvl4pPr>
            <a:lvl5pPr algn="ctr">
              <a:defRPr sz="1800" b="0">
                <a:solidFill>
                  <a:srgbClr val="686B6B"/>
                </a:solidFill>
                <a:latin typeface="CiscoSansTT"/>
                <a:ea typeface="CiscoSansTT"/>
                <a:cs typeface="CiscoSansTT"/>
              </a:defRPr>
            </a:lvl5pPr>
            <a:lvl6pPr algn="ctr">
              <a:defRPr sz="1800" b="0">
                <a:solidFill>
                  <a:srgbClr val="686B6B"/>
                </a:solidFill>
                <a:latin typeface="CiscoSansTT"/>
                <a:ea typeface="CiscoSansTT"/>
                <a:cs typeface="CiscoSansTT"/>
              </a:defRPr>
            </a:lvl6pPr>
            <a:lvl7pPr algn="ctr">
              <a:defRPr sz="1800" b="0">
                <a:solidFill>
                  <a:srgbClr val="686B6B"/>
                </a:solidFill>
                <a:latin typeface="CiscoSansTT"/>
                <a:ea typeface="CiscoSansTT"/>
                <a:cs typeface="CiscoSansTT"/>
              </a:defRPr>
            </a:lvl7pPr>
            <a:lvl8pPr algn="ctr">
              <a:defRPr sz="1800" b="0">
                <a:solidFill>
                  <a:srgbClr val="686B6B"/>
                </a:solidFill>
                <a:latin typeface="CiscoSansTT"/>
                <a:ea typeface="CiscoSansTT"/>
                <a:cs typeface="CiscoSansTT"/>
              </a:defRPr>
            </a:lvl8pPr>
            <a:lvl9pPr algn="ctr">
              <a:defRPr sz="1800" b="0">
                <a:solidFill>
                  <a:srgbClr val="686B6B"/>
                </a:solidFill>
                <a:latin typeface="CiscoSansTT"/>
                <a:ea typeface="CiscoSansTT"/>
                <a:cs typeface="CiscoSansTT"/>
              </a:defRPr>
            </a:lvl9pPr>
          </a:lstStyle>
          <a:p>
            <a:pPr algn="ctr">
              <a:defRPr sz="1800" b="0">
                <a:solidFill>
                  <a:srgbClr val="686B6B"/>
                </a:solidFill>
                <a:latin typeface="CiscoSansTT"/>
                <a:ea typeface="CiscoSansTT"/>
                <a:cs typeface="CiscoSansTT"/>
              </a:defRPr>
            </a:pPr>
            <a:r>
              <a:rPr sz="1800" b="0">
                <a:solidFill>
                  <a:srgbClr val="686B6B"/>
                </a:solidFill>
                <a:latin typeface="CiscoSansTT"/>
                <a:ea typeface="CiscoSansTT"/>
                <a:cs typeface="CiscoSansTT"/>
              </a:rPr>
              <a:t>Backend selection does not prove an attachment. Inspect the running node.</a:t>
            </a:r>
          </a:p>
        </p:txBody>
      </p:sp>
    </p:spTree>
    <p:extLst>
      <p:ext uri="{BB962C8B-B14F-4D97-AF65-F5344CB8AC3E}">
        <p14:creationId xmlns:p14="http://schemas.microsoft.com/office/powerpoint/2010/main" val="172007691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1E704E87-FA42-4867-BF91-1B0EF834CA18}"/>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Appendix: legacy-safe and legacy-unsafe variants</a:t>
            </a:r>
          </a:p>
        </p:txBody>
      </p:sp>
      <p:sp>
        <p:nvSpPr>
          <p:cNvPr id="2" name="Rectangle 1">
            <a:extLst>
              <a:ext uri="{FF2B5EF4-FFF2-40B4-BE49-F238E27FC236}">
                <a16:creationId xmlns:a16="http://schemas.microsoft.com/office/drawing/2014/main" id="{2CCF09E8-8C11-4F59-A93A-5A3A86356FF3}"/>
              </a:ext>
            </a:extLst>
          </p:cNvPr>
          <p:cNvSpPr>
            <a:spLocks noGrp="1"/>
          </p:cNvSpPr>
          <p:nvPr/>
        </p:nvSpPr>
        <p:spPr>
          <a:xfrm>
            <a:off x="762000" y="1524000"/>
            <a:ext cx="2286000" cy="381000"/>
          </a:xfrm>
          <a:prstGeom prst="rect">
            <a:avLst/>
          </a:prstGeom>
          <a:noFill/>
          <a:ln w="0">
            <a:noFill/>
          </a:ln>
        </p:spPr>
        <p:txBody>
          <a:bodyPr anchor="t">
            <a:normAutofit fontScale="97976" lnSpcReduction="10000"/>
          </a:bodyPr>
          <a:lstStyle/>
          <a:p>
            <a:pPr algn="l">
              <a:buNone/>
              <a:defRPr sz="2100" b="1">
                <a:solidFill>
                  <a:srgbClr val="2DAA5F"/>
                </a:solidFill>
                <a:latin typeface="CiscoSansTT Medium"/>
                <a:ea typeface="CiscoSansTT Medium"/>
                <a:cs typeface="CiscoSansTT Medium"/>
              </a:defRPr>
            </a:pPr>
            <a:r>
              <a:rPr sz="2100" b="1">
                <a:solidFill>
                  <a:srgbClr val="2DAA5F"/>
                </a:solidFill>
                <a:latin typeface="CiscoSansTT Medium"/>
                <a:ea typeface="CiscoSansTT Medium"/>
                <a:cs typeface="CiscoSansTT Medium"/>
              </a:rPr>
              <a:t>Safe</a:t>
            </a:r>
          </a:p>
        </p:txBody>
      </p:sp>
      <p:sp>
        <p:nvSpPr>
          <p:cNvPr id="3" name="Rounded Rectangle 2">
            <a:extLst>
              <a:ext uri="{FF2B5EF4-FFF2-40B4-BE49-F238E27FC236}">
                <a16:creationId xmlns:a16="http://schemas.microsoft.com/office/drawing/2014/main" id="{5907EAE3-6165-4F87-AA66-85E26ACC31D0}"/>
              </a:ext>
            </a:extLst>
          </p:cNvPr>
          <p:cNvSpPr>
            <a:spLocks noGrp="1"/>
          </p:cNvSpPr>
          <p:nvPr/>
        </p:nvSpPr>
        <p:spPr>
          <a:xfrm>
            <a:off x="666750" y="2047875"/>
            <a:ext cx="4953000" cy="2381250"/>
          </a:xfrm>
          <a:prstGeom prst="roundRect">
            <a:avLst>
              <a:gd name="adj" fmla="val 3200"/>
            </a:avLst>
          </a:prstGeom>
          <a:solidFill>
            <a:srgbClr val="07182A"/>
          </a:solidFill>
          <a:ln w="0">
            <a:noFill/>
          </a:ln>
        </p:spPr>
        <p:txBody>
          <a:bodyPr/>
          <a:lstStyle/>
          <a:p>
            <a:endParaRPr/>
          </a:p>
        </p:txBody>
      </p:sp>
      <p:sp>
        <p:nvSpPr>
          <p:cNvPr id="4" name="Rectangle 3">
            <a:extLst>
              <a:ext uri="{FF2B5EF4-FFF2-40B4-BE49-F238E27FC236}">
                <a16:creationId xmlns:a16="http://schemas.microsoft.com/office/drawing/2014/main" id="{13B743AC-83DB-4A26-B67E-90D382AF8A36}"/>
              </a:ext>
            </a:extLst>
          </p:cNvPr>
          <p:cNvSpPr>
            <a:spLocks noGrp="1"/>
          </p:cNvSpPr>
          <p:nvPr/>
        </p:nvSpPr>
        <p:spPr>
          <a:xfrm>
            <a:off x="1000125" y="2381250"/>
            <a:ext cx="4286250" cy="1809750"/>
          </a:xfrm>
          <a:prstGeom prst="rect">
            <a:avLst/>
          </a:prstGeom>
          <a:noFill/>
          <a:ln w="0">
            <a:noFill/>
          </a:ln>
        </p:spPr>
        <p:txBody>
          <a:bodyPr anchor="t">
            <a:normAutofit fontScale="93375"/>
          </a:bodyPr>
          <a:lstStyle/>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OBI:</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traffic_control_backend: tc</a:t>
            </a:r>
          </a:p>
          <a:p>
            <a:endParaRPr sz="1725" b="0">
              <a:solidFill>
                <a:srgbClr val="FFFFFF"/>
              </a:solidFill>
              <a:latin typeface="CiscoSansTT"/>
              <a:ea typeface="CiscoSansTT"/>
              <a:cs typeface="CiscoSansTT"/>
            </a:endParaRP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Cilium:</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enableTCX: false</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extraConfig:</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bpf-filter-priority: "2"</a:t>
            </a:r>
          </a:p>
        </p:txBody>
      </p:sp>
      <p:sp>
        <p:nvSpPr>
          <p:cNvPr id="5" name="Rectangle 4">
            <a:extLst>
              <a:ext uri="{FF2B5EF4-FFF2-40B4-BE49-F238E27FC236}">
                <a16:creationId xmlns:a16="http://schemas.microsoft.com/office/drawing/2014/main" id="{8C3868CB-8EE0-4796-A81A-5A11795DB81E}"/>
              </a:ext>
            </a:extLst>
          </p:cNvPr>
          <p:cNvSpPr>
            <a:spLocks noGrp="1"/>
          </p:cNvSpPr>
          <p:nvPr/>
        </p:nvSpPr>
        <p:spPr>
          <a:xfrm>
            <a:off x="6667500" y="1524000"/>
            <a:ext cx="2286000" cy="381000"/>
          </a:xfrm>
          <a:prstGeom prst="rect">
            <a:avLst/>
          </a:prstGeom>
          <a:noFill/>
          <a:ln w="0">
            <a:noFill/>
          </a:ln>
        </p:spPr>
        <p:txBody>
          <a:bodyPr anchor="t">
            <a:normAutofit fontScale="97976" lnSpcReduction="10000"/>
          </a:bodyPr>
          <a:lstStyle/>
          <a:p>
            <a:pPr algn="l">
              <a:buNone/>
              <a:defRPr sz="2100" b="1">
                <a:solidFill>
                  <a:srgbClr val="E84551"/>
                </a:solidFill>
                <a:latin typeface="CiscoSansTT Medium"/>
                <a:ea typeface="CiscoSansTT Medium"/>
                <a:cs typeface="CiscoSansTT Medium"/>
              </a:defRPr>
            </a:pPr>
            <a:r>
              <a:rPr sz="2100" b="1">
                <a:solidFill>
                  <a:srgbClr val="E84551"/>
                </a:solidFill>
                <a:latin typeface="CiscoSansTT Medium"/>
                <a:ea typeface="CiscoSansTT Medium"/>
                <a:cs typeface="CiscoSansTT Medium"/>
              </a:rPr>
              <a:t>Unsafe</a:t>
            </a:r>
          </a:p>
        </p:txBody>
      </p:sp>
      <p:sp>
        <p:nvSpPr>
          <p:cNvPr id="6" name="Rounded Rectangle 5">
            <a:extLst>
              <a:ext uri="{FF2B5EF4-FFF2-40B4-BE49-F238E27FC236}">
                <a16:creationId xmlns:a16="http://schemas.microsoft.com/office/drawing/2014/main" id="{C8DE72C8-AAE3-4CFB-9DD1-D44B49841286}"/>
              </a:ext>
            </a:extLst>
          </p:cNvPr>
          <p:cNvSpPr>
            <a:spLocks noGrp="1"/>
          </p:cNvSpPr>
          <p:nvPr/>
        </p:nvSpPr>
        <p:spPr>
          <a:xfrm>
            <a:off x="6572250" y="2047875"/>
            <a:ext cx="4953000" cy="2381250"/>
          </a:xfrm>
          <a:prstGeom prst="roundRect">
            <a:avLst>
              <a:gd name="adj" fmla="val 3200"/>
            </a:avLst>
          </a:prstGeom>
          <a:solidFill>
            <a:srgbClr val="07182A"/>
          </a:solidFill>
          <a:ln w="0">
            <a:noFill/>
          </a:ln>
        </p:spPr>
        <p:txBody>
          <a:bodyPr/>
          <a:lstStyle/>
          <a:p>
            <a:endParaRPr/>
          </a:p>
        </p:txBody>
      </p:sp>
      <p:sp>
        <p:nvSpPr>
          <p:cNvPr id="7" name="Rectangle 6">
            <a:extLst>
              <a:ext uri="{FF2B5EF4-FFF2-40B4-BE49-F238E27FC236}">
                <a16:creationId xmlns:a16="http://schemas.microsoft.com/office/drawing/2014/main" id="{6BC613BF-CFBF-4DFA-B6CF-E61E44E183AE}"/>
              </a:ext>
            </a:extLst>
          </p:cNvPr>
          <p:cNvSpPr>
            <a:spLocks noGrp="1"/>
          </p:cNvSpPr>
          <p:nvPr/>
        </p:nvSpPr>
        <p:spPr>
          <a:xfrm>
            <a:off x="6905625" y="2381250"/>
            <a:ext cx="4286250" cy="1809750"/>
          </a:xfrm>
          <a:prstGeom prst="rect">
            <a:avLst/>
          </a:prstGeom>
          <a:noFill/>
          <a:ln w="0">
            <a:noFill/>
          </a:ln>
        </p:spPr>
        <p:txBody>
          <a:bodyPr anchor="t">
            <a:normAutofit/>
          </a:bodyPr>
          <a:lstStyle/>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OBI:</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traffic_control_backend: tc</a:t>
            </a:r>
          </a:p>
          <a:p>
            <a:endParaRPr sz="1725" b="0">
              <a:solidFill>
                <a:srgbClr val="FFFFFF"/>
              </a:solidFill>
              <a:latin typeface="CiscoSansTT"/>
              <a:ea typeface="CiscoSansTT"/>
              <a:cs typeface="CiscoSansTT"/>
            </a:endParaRP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Cilium:</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enableTCX: false</a:t>
            </a:r>
          </a:p>
          <a:p>
            <a:pPr algn="l">
              <a:buNone/>
              <a:defRPr sz="1725" b="0">
                <a:solidFill>
                  <a:srgbClr val="FFFFFF"/>
                </a:solidFill>
                <a:latin typeface="CiscoSansTT"/>
                <a:ea typeface="CiscoSansTT"/>
                <a:cs typeface="CiscoSansTT"/>
              </a:defRPr>
            </a:pPr>
            <a:r>
              <a:rPr sz="1725" b="0">
                <a:solidFill>
                  <a:srgbClr val="FFFFFF"/>
                </a:solidFill>
                <a:latin typeface="CiscoSansTT"/>
                <a:ea typeface="CiscoSansTT"/>
                <a:cs typeface="CiscoSansTT"/>
              </a:rPr>
              <a:t>  bpf-filter-priority: 1</a:t>
            </a:r>
          </a:p>
        </p:txBody>
      </p:sp>
      <p:sp>
        <p:nvSpPr>
          <p:cNvPr id="8" name="Rounded Rectangle 7">
            <a:extLst>
              <a:ext uri="{FF2B5EF4-FFF2-40B4-BE49-F238E27FC236}">
                <a16:creationId xmlns:a16="http://schemas.microsoft.com/office/drawing/2014/main" id="{18C77665-A3C8-480B-8369-CF2DE41C64A9}"/>
              </a:ext>
            </a:extLst>
          </p:cNvPr>
          <p:cNvSpPr>
            <a:spLocks noGrp="1"/>
          </p:cNvSpPr>
          <p:nvPr/>
        </p:nvSpPr>
        <p:spPr>
          <a:xfrm>
            <a:off x="1381125" y="5000625"/>
            <a:ext cx="9429750" cy="685800"/>
          </a:xfrm>
          <a:prstGeom prst="roundRect">
            <a:avLst>
              <a:gd name="adj" fmla="val 11111"/>
            </a:avLst>
          </a:prstGeom>
          <a:solidFill>
            <a:srgbClr val="FDEDEF"/>
          </a:solidFill>
          <a:ln w="14288">
            <a:solidFill>
              <a:srgbClr val="E84551"/>
            </a:solidFill>
          </a:ln>
        </p:spPr>
        <p:txBody>
          <a:bodyPr/>
          <a:lstStyle/>
          <a:p>
            <a:endParaRPr/>
          </a:p>
        </p:txBody>
      </p:sp>
      <p:sp>
        <p:nvSpPr>
          <p:cNvPr id="9" name="Rectangle 8">
            <a:extLst>
              <a:ext uri="{FF2B5EF4-FFF2-40B4-BE49-F238E27FC236}">
                <a16:creationId xmlns:a16="http://schemas.microsoft.com/office/drawing/2014/main" id="{610201BF-2231-4218-9B64-CF8BA5B9CCE8}"/>
              </a:ext>
            </a:extLst>
          </p:cNvPr>
          <p:cNvSpPr>
            <a:spLocks noGrp="1"/>
          </p:cNvSpPr>
          <p:nvPr/>
        </p:nvSpPr>
        <p:spPr>
          <a:xfrm>
            <a:off x="1714500" y="5172075"/>
            <a:ext cx="8763000" cy="342900"/>
          </a:xfrm>
          <a:prstGeom prst="rect">
            <a:avLst/>
          </a:prstGeom>
          <a:noFill/>
          <a:ln w="0">
            <a:noFill/>
          </a:ln>
        </p:spPr>
        <p:txBody>
          <a:bodyPr anchor="t">
            <a:normAutofit fontScale="91667" lnSpcReduction="10000"/>
          </a:bodyPr>
          <a:lstStyle/>
          <a:p>
            <a:pPr algn="ctr">
              <a:buNone/>
              <a:defRPr sz="1800" b="1">
                <a:solidFill>
                  <a:srgbClr val="E84551"/>
                </a:solidFill>
                <a:latin typeface="CiscoSansTT Medium"/>
                <a:ea typeface="CiscoSansTT Medium"/>
                <a:cs typeface="CiscoSansTT Medium"/>
              </a:defRPr>
            </a:pPr>
            <a:r>
              <a:rPr sz="1800" b="1">
                <a:solidFill>
                  <a:srgbClr val="E84551"/>
                </a:solidFill>
                <a:latin typeface="CiscoSansTT Medium"/>
                <a:ea typeface="CiscoSansTT Medium"/>
                <a:cs typeface="CiscoSansTT Medium"/>
              </a:rPr>
              <a:t>Do not change legacy priority live on an existing production cluster.</a:t>
            </a:r>
          </a:p>
        </p:txBody>
      </p:sp>
    </p:spTree>
    <p:extLst>
      <p:ext uri="{BB962C8B-B14F-4D97-AF65-F5344CB8AC3E}">
        <p14:creationId xmlns:p14="http://schemas.microsoft.com/office/powerpoint/2010/main" val="23265721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title">
            <a:extLst>
              <a:ext uri="{FF2B5EF4-FFF2-40B4-BE49-F238E27FC236}">
                <a16:creationId xmlns:a16="http://schemas.microsoft.com/office/drawing/2014/main" id="{BC8DF3A4-C2E0-4887-91E4-22E4D522AD6F}"/>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Appendix: live verification commands</a:t>
            </a:r>
          </a:p>
        </p:txBody>
      </p:sp>
      <p:sp>
        <p:nvSpPr>
          <p:cNvPr id="2" name="Rounded Rectangle 1">
            <a:extLst>
              <a:ext uri="{FF2B5EF4-FFF2-40B4-BE49-F238E27FC236}">
                <a16:creationId xmlns:a16="http://schemas.microsoft.com/office/drawing/2014/main" id="{891FC69C-2698-4739-9917-0845E190AC3B}"/>
              </a:ext>
            </a:extLst>
          </p:cNvPr>
          <p:cNvSpPr>
            <a:spLocks noGrp="1"/>
          </p:cNvSpPr>
          <p:nvPr/>
        </p:nvSpPr>
        <p:spPr>
          <a:xfrm>
            <a:off x="619125" y="1428750"/>
            <a:ext cx="10953750" cy="4191000"/>
          </a:xfrm>
          <a:prstGeom prst="roundRect">
            <a:avLst>
              <a:gd name="adj" fmla="val 1818"/>
            </a:avLst>
          </a:prstGeom>
          <a:solidFill>
            <a:srgbClr val="07182A"/>
          </a:solidFill>
          <a:ln w="0">
            <a:noFill/>
          </a:ln>
        </p:spPr>
        <p:txBody>
          <a:bodyPr/>
          <a:lstStyle/>
          <a:p>
            <a:endParaRPr/>
          </a:p>
        </p:txBody>
      </p:sp>
      <p:sp>
        <p:nvSpPr>
          <p:cNvPr id="3" name="Rectangle 2">
            <a:extLst>
              <a:ext uri="{FF2B5EF4-FFF2-40B4-BE49-F238E27FC236}">
                <a16:creationId xmlns:a16="http://schemas.microsoft.com/office/drawing/2014/main" id="{83E4496E-97B3-4383-8BB0-D04A4EB4590D}"/>
              </a:ext>
            </a:extLst>
          </p:cNvPr>
          <p:cNvSpPr>
            <a:spLocks noGrp="1"/>
          </p:cNvSpPr>
          <p:nvPr/>
        </p:nvSpPr>
        <p:spPr>
          <a:xfrm>
            <a:off x="904875" y="1695450"/>
            <a:ext cx="10382250" cy="3619500"/>
          </a:xfrm>
          <a:prstGeom prst="rect">
            <a:avLst/>
          </a:prstGeom>
          <a:noFill/>
          <a:ln w="0">
            <a:noFill/>
          </a:ln>
        </p:spPr>
        <p:txBody>
          <a:bodyPr anchor="t">
            <a:normAutofit/>
          </a:bodyPr>
          <a:lstStyle/>
          <a:p>
            <a:pPr algn="l">
              <a:buNone/>
              <a:defRPr sz="1500" b="0">
                <a:solidFill>
                  <a:srgbClr val="FFFFFF"/>
                </a:solidFill>
                <a:latin typeface="CiscoSansTT"/>
                <a:ea typeface="CiscoSansTT"/>
                <a:cs typeface="CiscoSansTT"/>
              </a:defRPr>
            </a:pPr>
            <a:r>
              <a:rPr sz="1500" b="0">
                <a:solidFill>
                  <a:srgbClr val="FFFFFF"/>
                </a:solidFill>
                <a:latin typeface="CiscoSansTT"/>
                <a:ea typeface="CiscoSansTT"/>
                <a:cs typeface="CiscoSansTT"/>
              </a:rPr>
              <a:t># Cilium state</a:t>
            </a:r>
          </a:p>
          <a:p>
            <a:pPr algn="l">
              <a:buNone/>
              <a:defRPr sz="1500" b="0">
                <a:solidFill>
                  <a:srgbClr val="FFFFFF"/>
                </a:solidFill>
                <a:latin typeface="CiscoSansTT"/>
                <a:ea typeface="CiscoSansTT"/>
                <a:cs typeface="CiscoSansTT"/>
              </a:defRPr>
            </a:pPr>
            <a:r>
              <a:rPr sz="1500" b="0">
                <a:solidFill>
                  <a:srgbClr val="FFFFFF"/>
                </a:solidFill>
                <a:latin typeface="CiscoSansTT"/>
                <a:ea typeface="CiscoSansTT"/>
                <a:cs typeface="CiscoSansTT"/>
              </a:rPr>
              <a:t>kubectl -n kube-system exec ds/cilium -c cilium-agent -- \</a:t>
            </a:r>
          </a:p>
          <a:p>
            <a:pPr algn="l">
              <a:buNone/>
              <a:defRPr sz="1500" b="0">
                <a:solidFill>
                  <a:srgbClr val="FFFFFF"/>
                </a:solidFill>
                <a:latin typeface="CiscoSansTT"/>
                <a:ea typeface="CiscoSansTT"/>
                <a:cs typeface="CiscoSansTT"/>
              </a:defRPr>
            </a:pPr>
            <a:r>
              <a:rPr sz="1500" b="0">
                <a:solidFill>
                  <a:srgbClr val="FFFFFF"/>
                </a:solidFill>
                <a:latin typeface="CiscoSansTT"/>
                <a:ea typeface="CiscoSansTT"/>
                <a:cs typeface="CiscoSansTT"/>
              </a:rPr>
              <a:t>  cilium-dbg status --verbose</a:t>
            </a:r>
          </a:p>
          <a:p>
            <a:endParaRPr sz="1500" b="0">
              <a:solidFill>
                <a:srgbClr val="FFFFFF"/>
              </a:solidFill>
              <a:latin typeface="CiscoSansTT"/>
              <a:ea typeface="CiscoSansTT"/>
              <a:cs typeface="CiscoSansTT"/>
            </a:endParaRPr>
          </a:p>
          <a:p>
            <a:pPr algn="l">
              <a:buNone/>
              <a:defRPr sz="1500" b="0">
                <a:solidFill>
                  <a:srgbClr val="FFFFFF"/>
                </a:solidFill>
                <a:latin typeface="CiscoSansTT"/>
                <a:ea typeface="CiscoSansTT"/>
                <a:cs typeface="CiscoSansTT"/>
              </a:defRPr>
            </a:pPr>
            <a:r>
              <a:rPr sz="1500" b="0">
                <a:solidFill>
                  <a:srgbClr val="FFFFFF"/>
                </a:solidFill>
                <a:latin typeface="CiscoSansTT"/>
                <a:ea typeface="CiscoSansTT"/>
                <a:cs typeface="CiscoSansTT"/>
              </a:rPr>
              <a:t>kubectl -n kube-system get cm cilium-config -o \</a:t>
            </a:r>
          </a:p>
          <a:p>
            <a:pPr algn="l">
              <a:buNone/>
              <a:defRPr sz="1500" b="0">
                <a:solidFill>
                  <a:srgbClr val="FFFFFF"/>
                </a:solidFill>
                <a:latin typeface="CiscoSansTT"/>
                <a:ea typeface="CiscoSansTT"/>
                <a:cs typeface="CiscoSansTT"/>
              </a:defRPr>
            </a:pPr>
            <a:r>
              <a:rPr sz="1500" b="0">
                <a:solidFill>
                  <a:srgbClr val="FFFFFF"/>
                </a:solidFill>
                <a:latin typeface="CiscoSansTT"/>
                <a:ea typeface="CiscoSansTT"/>
                <a:cs typeface="CiscoSansTT"/>
              </a:rPr>
              <a:t>  jsonpath='{.data.enable-tcx}'</a:t>
            </a:r>
          </a:p>
          <a:p>
            <a:endParaRPr sz="1500" b="0">
              <a:solidFill>
                <a:srgbClr val="FFFFFF"/>
              </a:solidFill>
              <a:latin typeface="CiscoSansTT"/>
              <a:ea typeface="CiscoSansTT"/>
              <a:cs typeface="CiscoSansTT"/>
            </a:endParaRPr>
          </a:p>
          <a:p>
            <a:pPr algn="l">
              <a:buNone/>
              <a:defRPr sz="1500" b="0">
                <a:solidFill>
                  <a:srgbClr val="FFFFFF"/>
                </a:solidFill>
                <a:latin typeface="CiscoSansTT"/>
                <a:ea typeface="CiscoSansTT"/>
                <a:cs typeface="CiscoSansTT"/>
              </a:defRPr>
            </a:pPr>
            <a:r>
              <a:rPr sz="1500" b="0">
                <a:solidFill>
                  <a:srgbClr val="FFFFFF"/>
                </a:solidFill>
                <a:latin typeface="CiscoSansTT"/>
                <a:ea typeface="CiscoSansTT"/>
                <a:cs typeface="CiscoSansTT"/>
              </a:rPr>
              <a:t># OBI startup decision</a:t>
            </a:r>
          </a:p>
          <a:p>
            <a:pPr algn="l">
              <a:buNone/>
              <a:defRPr sz="1500" b="0">
                <a:solidFill>
                  <a:srgbClr val="FFFFFF"/>
                </a:solidFill>
                <a:latin typeface="CiscoSansTT"/>
                <a:ea typeface="CiscoSansTT"/>
                <a:cs typeface="CiscoSansTT"/>
              </a:defRPr>
            </a:pPr>
            <a:r>
              <a:rPr sz="1500" b="0">
                <a:solidFill>
                  <a:srgbClr val="FFFFFF"/>
                </a:solidFill>
                <a:latin typeface="CiscoSansTT"/>
                <a:ea typeface="CiscoSansTT"/>
                <a:cs typeface="CiscoSansTT"/>
              </a:rPr>
              <a:t>kubectl -n obi-nginx-example logs \</a:t>
            </a:r>
          </a:p>
          <a:p>
            <a:pPr algn="l">
              <a:buNone/>
              <a:defRPr sz="1500" b="0">
                <a:solidFill>
                  <a:srgbClr val="FFFFFF"/>
                </a:solidFill>
                <a:latin typeface="CiscoSansTT"/>
                <a:ea typeface="CiscoSansTT"/>
                <a:cs typeface="CiscoSansTT"/>
              </a:defRPr>
            </a:pPr>
            <a:r>
              <a:rPr sz="1500" b="0">
                <a:solidFill>
                  <a:srgbClr val="FFFFFF"/>
                </a:solidFill>
                <a:latin typeface="CiscoSansTT"/>
                <a:ea typeface="CiscoSansTT"/>
                <a:cs typeface="CiscoSansTT"/>
              </a:rPr>
              <a:t>  ds/obi-opentelemetry-ebpf-instrumentation --all-pods=true</a:t>
            </a:r>
          </a:p>
          <a:p>
            <a:endParaRPr sz="1500" b="0">
              <a:solidFill>
                <a:srgbClr val="FFFFFF"/>
              </a:solidFill>
              <a:latin typeface="CiscoSansTT"/>
              <a:ea typeface="CiscoSansTT"/>
              <a:cs typeface="CiscoSansTT"/>
            </a:endParaRPr>
          </a:p>
          <a:p>
            <a:pPr algn="l">
              <a:buNone/>
              <a:defRPr sz="1500" b="0">
                <a:solidFill>
                  <a:srgbClr val="FFFFFF"/>
                </a:solidFill>
                <a:latin typeface="CiscoSansTT"/>
                <a:ea typeface="CiscoSansTT"/>
                <a:cs typeface="CiscoSansTT"/>
              </a:defRPr>
            </a:pPr>
            <a:r>
              <a:rPr sz="1500" b="0">
                <a:solidFill>
                  <a:srgbClr val="FFFFFF"/>
                </a:solidFill>
                <a:latin typeface="CiscoSansTT"/>
                <a:ea typeface="CiscoSansTT"/>
                <a:cs typeface="CiscoSansTT"/>
              </a:rPr>
              <a:t># Flow proof</a:t>
            </a:r>
          </a:p>
          <a:p>
            <a:pPr algn="l">
              <a:buNone/>
              <a:defRPr sz="1500" b="0">
                <a:solidFill>
                  <a:srgbClr val="FFFFFF"/>
                </a:solidFill>
                <a:latin typeface="CiscoSansTT"/>
                <a:ea typeface="CiscoSansTT"/>
                <a:cs typeface="CiscoSansTT"/>
              </a:defRPr>
            </a:pPr>
            <a:r>
              <a:rPr sz="1500" b="0">
                <a:solidFill>
                  <a:srgbClr val="FFFFFF"/>
                </a:solidFill>
                <a:latin typeface="CiscoSansTT"/>
                <a:ea typeface="CiscoSansTT"/>
                <a:cs typeface="CiscoSansTT"/>
              </a:rPr>
              <a:t>hubble observe --namespace obi-nginx-example --follow</a:t>
            </a:r>
          </a:p>
        </p:txBody>
      </p:sp>
    </p:spTree>
    <p:extLst>
      <p:ext uri="{BB962C8B-B14F-4D97-AF65-F5344CB8AC3E}">
        <p14:creationId xmlns:p14="http://schemas.microsoft.com/office/powerpoint/2010/main" val="191349662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title">
            <a:extLst>
              <a:ext uri="{FF2B5EF4-FFF2-40B4-BE49-F238E27FC236}">
                <a16:creationId xmlns:a16="http://schemas.microsoft.com/office/drawing/2014/main" id="{3A267A90-7E0F-431B-B01D-79795EFA10F6}"/>
              </a:ext>
            </a:extLst>
          </p:cNvPr>
          <p:cNvSpPr>
            <a:spLocks noGrp="1"/>
          </p:cNvSpPr>
          <p:nvPr/>
        </p:nvSpPr>
        <p:spPr>
          <a:xfrm>
            <a:off x="323850" y="228600"/>
            <a:ext cx="11049000" cy="685800"/>
          </a:xfrm>
          <a:prstGeom prst="rect">
            <a:avLst/>
          </a:prstGeom>
          <a:noFill/>
          <a:ln w="0">
            <a:noFill/>
          </a:ln>
        </p:spPr>
        <p:txBody>
          <a:bodyPr anchor="t">
            <a:normAutofit/>
          </a:bodyPr>
          <a:lstStyle/>
          <a:p>
            <a:pPr algn="l">
              <a:buNone/>
              <a:defRPr sz="3000" b="1">
                <a:solidFill>
                  <a:srgbClr val="07182A"/>
                </a:solidFill>
                <a:latin typeface="CiscoSansTT Medium"/>
                <a:ea typeface="CiscoSansTT Medium"/>
                <a:cs typeface="CiscoSansTT Medium"/>
              </a:defRPr>
            </a:pPr>
            <a:r>
              <a:rPr sz="3000" b="1">
                <a:solidFill>
                  <a:srgbClr val="07182A"/>
                </a:solidFill>
                <a:latin typeface="CiscoSansTT Medium"/>
                <a:ea typeface="CiscoSansTT Medium"/>
                <a:cs typeface="CiscoSansTT Medium"/>
              </a:rPr>
              <a:t>Fast failure diagnosis</a:t>
            </a:r>
          </a:p>
        </p:txBody>
      </p:sp>
      <p:sp>
        <p:nvSpPr>
          <p:cNvPr id="2" name="Rectangle 1">
            <a:extLst>
              <a:ext uri="{FF2B5EF4-FFF2-40B4-BE49-F238E27FC236}">
                <a16:creationId xmlns:a16="http://schemas.microsoft.com/office/drawing/2014/main" id="{7BC9D01D-F271-48CA-82B5-FD5FEA43234D}"/>
              </a:ext>
            </a:extLst>
          </p:cNvPr>
          <p:cNvSpPr>
            <a:spLocks noGrp="1"/>
          </p:cNvSpPr>
          <p:nvPr/>
        </p:nvSpPr>
        <p:spPr>
          <a:xfrm>
            <a:off x="704850" y="1428750"/>
            <a:ext cx="3714750" cy="514350"/>
          </a:xfrm>
          <a:prstGeom prst="rect">
            <a:avLst/>
          </a:prstGeom>
          <a:noFill/>
          <a:ln w="0">
            <a:noFill/>
          </a:ln>
        </p:spPr>
        <p:txBody>
          <a:bodyPr anchor="t">
            <a:normAutofit/>
          </a:bodyPr>
          <a:lstStyle/>
          <a:p>
            <a:pPr algn="l">
              <a:buNone/>
              <a:defRPr sz="1800" b="1">
                <a:solidFill>
                  <a:srgbClr val="E84551"/>
                </a:solidFill>
                <a:latin typeface="CiscoSansTT Medium"/>
                <a:ea typeface="CiscoSansTT Medium"/>
                <a:cs typeface="CiscoSansTT Medium"/>
              </a:defRPr>
            </a:pPr>
            <a:r>
              <a:rPr sz="1800" b="1">
                <a:solidFill>
                  <a:srgbClr val="E84551"/>
                </a:solidFill>
                <a:latin typeface="CiscoSansTT Medium"/>
                <a:ea typeface="CiscoSansTT Medium"/>
                <a:cs typeface="CiscoSansTT Medium"/>
              </a:rPr>
              <a:t>OBI TC mode refuses startup</a:t>
            </a:r>
          </a:p>
        </p:txBody>
      </p:sp>
      <p:sp>
        <p:nvSpPr>
          <p:cNvPr id="3" name="Rectangle 2">
            <a:extLst>
              <a:ext uri="{FF2B5EF4-FFF2-40B4-BE49-F238E27FC236}">
                <a16:creationId xmlns:a16="http://schemas.microsoft.com/office/drawing/2014/main" id="{88C0225C-BB8E-4315-B094-C26C786C1505}"/>
              </a:ext>
            </a:extLst>
          </p:cNvPr>
          <p:cNvSpPr>
            <a:spLocks noGrp="1"/>
          </p:cNvSpPr>
          <p:nvPr/>
        </p:nvSpPr>
        <p:spPr>
          <a:xfrm>
            <a:off x="4762500" y="1428750"/>
            <a:ext cx="6667500" cy="5143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mixed TCX and legacy, or both priority 1</a:t>
            </a:r>
          </a:p>
        </p:txBody>
      </p:sp>
      <p:sp>
        <p:nvSpPr>
          <p:cNvPr id="4" name="Rectangle 3">
            <a:extLst>
              <a:ext uri="{FF2B5EF4-FFF2-40B4-BE49-F238E27FC236}">
                <a16:creationId xmlns:a16="http://schemas.microsoft.com/office/drawing/2014/main" id="{46F86A9B-7518-477D-8371-09C0FF9DA4C6}"/>
              </a:ext>
            </a:extLst>
          </p:cNvPr>
          <p:cNvSpPr>
            <a:spLocks noGrp="1"/>
          </p:cNvSpPr>
          <p:nvPr/>
        </p:nvSpPr>
        <p:spPr>
          <a:xfrm>
            <a:off x="704850" y="2057400"/>
            <a:ext cx="10725150" cy="9525"/>
          </a:xfrm>
          <a:prstGeom prst="rect">
            <a:avLst/>
          </a:prstGeom>
          <a:solidFill>
            <a:srgbClr val="D6D6D6"/>
          </a:solidFill>
          <a:ln w="0">
            <a:noFill/>
          </a:ln>
        </p:spPr>
        <p:txBody>
          <a:bodyPr/>
          <a:lstStyle/>
          <a:p>
            <a:endParaRPr/>
          </a:p>
        </p:txBody>
      </p:sp>
      <p:sp>
        <p:nvSpPr>
          <p:cNvPr id="5" name="Rectangle 4">
            <a:extLst>
              <a:ext uri="{FF2B5EF4-FFF2-40B4-BE49-F238E27FC236}">
                <a16:creationId xmlns:a16="http://schemas.microsoft.com/office/drawing/2014/main" id="{9CBE9238-6250-458A-B61C-C3B71FCFAB6D}"/>
              </a:ext>
            </a:extLst>
          </p:cNvPr>
          <p:cNvSpPr>
            <a:spLocks noGrp="1"/>
          </p:cNvSpPr>
          <p:nvPr/>
        </p:nvSpPr>
        <p:spPr>
          <a:xfrm>
            <a:off x="704850" y="2343150"/>
            <a:ext cx="3714750" cy="514350"/>
          </a:xfrm>
          <a:prstGeom prst="rect">
            <a:avLst/>
          </a:prstGeom>
          <a:noFill/>
          <a:ln w="0">
            <a:noFill/>
          </a:ln>
        </p:spPr>
        <p:txBody>
          <a:bodyPr anchor="t">
            <a:normAutofit/>
          </a:bodyPr>
          <a:lstStyle/>
          <a:p>
            <a:pPr algn="l">
              <a:buNone/>
              <a:defRPr sz="1800" b="1">
                <a:solidFill>
                  <a:srgbClr val="E84551"/>
                </a:solidFill>
                <a:latin typeface="CiscoSansTT Medium"/>
                <a:ea typeface="CiscoSansTT Medium"/>
                <a:cs typeface="CiscoSansTT Medium"/>
              </a:defRPr>
            </a:pPr>
            <a:r>
              <a:rPr sz="1800" b="1">
                <a:solidFill>
                  <a:srgbClr val="E84551"/>
                </a:solidFill>
                <a:latin typeface="CiscoSansTT Medium"/>
                <a:ea typeface="CiscoSansTT Medium"/>
                <a:cs typeface="CiscoSansTT Medium"/>
              </a:rPr>
              <a:t>Propagation disabled</a:t>
            </a:r>
          </a:p>
        </p:txBody>
      </p:sp>
      <p:sp>
        <p:nvSpPr>
          <p:cNvPr id="6" name="Rectangle 5">
            <a:extLst>
              <a:ext uri="{FF2B5EF4-FFF2-40B4-BE49-F238E27FC236}">
                <a16:creationId xmlns:a16="http://schemas.microsoft.com/office/drawing/2014/main" id="{391A7F44-41D9-4C2C-88FD-E46616DB2DE7}"/>
              </a:ext>
            </a:extLst>
          </p:cNvPr>
          <p:cNvSpPr>
            <a:spLocks noGrp="1"/>
          </p:cNvSpPr>
          <p:nvPr/>
        </p:nvSpPr>
        <p:spPr>
          <a:xfrm>
            <a:off x="4762500" y="2343150"/>
            <a:ext cx="6667500" cy="5143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tracefs mount missing on affected kernels</a:t>
            </a:r>
          </a:p>
        </p:txBody>
      </p:sp>
      <p:sp>
        <p:nvSpPr>
          <p:cNvPr id="7" name="Rectangle 6">
            <a:extLst>
              <a:ext uri="{FF2B5EF4-FFF2-40B4-BE49-F238E27FC236}">
                <a16:creationId xmlns:a16="http://schemas.microsoft.com/office/drawing/2014/main" id="{61F7E82D-BB4C-4152-9B59-DE43B3E5835F}"/>
              </a:ext>
            </a:extLst>
          </p:cNvPr>
          <p:cNvSpPr>
            <a:spLocks noGrp="1"/>
          </p:cNvSpPr>
          <p:nvPr/>
        </p:nvSpPr>
        <p:spPr>
          <a:xfrm>
            <a:off x="704850" y="2971800"/>
            <a:ext cx="10725150" cy="9525"/>
          </a:xfrm>
          <a:prstGeom prst="rect">
            <a:avLst/>
          </a:prstGeom>
          <a:solidFill>
            <a:srgbClr val="D6D6D6"/>
          </a:solidFill>
          <a:ln w="0">
            <a:noFill/>
          </a:ln>
        </p:spPr>
        <p:txBody>
          <a:bodyPr/>
          <a:lstStyle/>
          <a:p>
            <a:endParaRPr/>
          </a:p>
        </p:txBody>
      </p:sp>
      <p:sp>
        <p:nvSpPr>
          <p:cNvPr id="8" name="Rectangle 7">
            <a:extLst>
              <a:ext uri="{FF2B5EF4-FFF2-40B4-BE49-F238E27FC236}">
                <a16:creationId xmlns:a16="http://schemas.microsoft.com/office/drawing/2014/main" id="{1A022AE0-D7F1-4657-B87C-172F6A75F1CD}"/>
              </a:ext>
            </a:extLst>
          </p:cNvPr>
          <p:cNvSpPr>
            <a:spLocks noGrp="1"/>
          </p:cNvSpPr>
          <p:nvPr/>
        </p:nvSpPr>
        <p:spPr>
          <a:xfrm>
            <a:off x="704850" y="3257550"/>
            <a:ext cx="3714750" cy="514350"/>
          </a:xfrm>
          <a:prstGeom prst="rect">
            <a:avLst/>
          </a:prstGeom>
          <a:noFill/>
          <a:ln w="0">
            <a:noFill/>
          </a:ln>
        </p:spPr>
        <p:txBody>
          <a:bodyPr anchor="t">
            <a:normAutofit/>
          </a:bodyPr>
          <a:lstStyle/>
          <a:p>
            <a:pPr algn="l">
              <a:buNone/>
              <a:defRPr sz="1800" b="1">
                <a:solidFill>
                  <a:srgbClr val="0860FE"/>
                </a:solidFill>
                <a:latin typeface="CiscoSansTT Medium"/>
                <a:ea typeface="CiscoSansTT Medium"/>
                <a:cs typeface="CiscoSansTT Medium"/>
              </a:defRPr>
            </a:pPr>
            <a:r>
              <a:rPr sz="1800" b="1">
                <a:solidFill>
                  <a:srgbClr val="0860FE"/>
                </a:solidFill>
                <a:latin typeface="CiscoSansTT Medium"/>
                <a:ea typeface="CiscoSansTT Medium"/>
                <a:cs typeface="CiscoSansTT Medium"/>
              </a:rPr>
              <a:t>Traffic healthy, traces missing</a:t>
            </a:r>
          </a:p>
        </p:txBody>
      </p:sp>
      <p:sp>
        <p:nvSpPr>
          <p:cNvPr id="9" name="Rectangle 8">
            <a:extLst>
              <a:ext uri="{FF2B5EF4-FFF2-40B4-BE49-F238E27FC236}">
                <a16:creationId xmlns:a16="http://schemas.microsoft.com/office/drawing/2014/main" id="{029BA163-5567-49D7-B1E2-E102CFE84D6C}"/>
              </a:ext>
            </a:extLst>
          </p:cNvPr>
          <p:cNvSpPr>
            <a:spLocks noGrp="1"/>
          </p:cNvSpPr>
          <p:nvPr/>
        </p:nvSpPr>
        <p:spPr>
          <a:xfrm>
            <a:off x="4762500" y="3257550"/>
            <a:ext cx="6667500" cy="5143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coverage, loss, exporter, or queue problem</a:t>
            </a:r>
          </a:p>
        </p:txBody>
      </p:sp>
      <p:sp>
        <p:nvSpPr>
          <p:cNvPr id="10" name="Rectangle 9">
            <a:extLst>
              <a:ext uri="{FF2B5EF4-FFF2-40B4-BE49-F238E27FC236}">
                <a16:creationId xmlns:a16="http://schemas.microsoft.com/office/drawing/2014/main" id="{36432816-7270-4F8D-A86B-96323A4C3C64}"/>
              </a:ext>
            </a:extLst>
          </p:cNvPr>
          <p:cNvSpPr>
            <a:spLocks noGrp="1"/>
          </p:cNvSpPr>
          <p:nvPr/>
        </p:nvSpPr>
        <p:spPr>
          <a:xfrm>
            <a:off x="704850" y="3886200"/>
            <a:ext cx="10725150" cy="9525"/>
          </a:xfrm>
          <a:prstGeom prst="rect">
            <a:avLst/>
          </a:prstGeom>
          <a:solidFill>
            <a:srgbClr val="D6D6D6"/>
          </a:solidFill>
          <a:ln w="0">
            <a:noFill/>
          </a:ln>
        </p:spPr>
        <p:txBody>
          <a:bodyPr/>
          <a:lstStyle/>
          <a:p>
            <a:endParaRPr/>
          </a:p>
        </p:txBody>
      </p:sp>
      <p:sp>
        <p:nvSpPr>
          <p:cNvPr id="11" name="Rectangle 10">
            <a:extLst>
              <a:ext uri="{FF2B5EF4-FFF2-40B4-BE49-F238E27FC236}">
                <a16:creationId xmlns:a16="http://schemas.microsoft.com/office/drawing/2014/main" id="{07DEE192-030E-4C63-A9F0-16A01CCC2594}"/>
              </a:ext>
            </a:extLst>
          </p:cNvPr>
          <p:cNvSpPr>
            <a:spLocks noGrp="1"/>
          </p:cNvSpPr>
          <p:nvPr/>
        </p:nvSpPr>
        <p:spPr>
          <a:xfrm>
            <a:off x="704850" y="4171950"/>
            <a:ext cx="3714750" cy="514350"/>
          </a:xfrm>
          <a:prstGeom prst="rect">
            <a:avLst/>
          </a:prstGeom>
          <a:noFill/>
          <a:ln w="0">
            <a:noFill/>
          </a:ln>
        </p:spPr>
        <p:txBody>
          <a:bodyPr anchor="t">
            <a:normAutofit/>
          </a:bodyPr>
          <a:lstStyle/>
          <a:p>
            <a:pPr algn="l">
              <a:buNone/>
              <a:defRPr sz="1800" b="1">
                <a:solidFill>
                  <a:srgbClr val="0860FE"/>
                </a:solidFill>
                <a:latin typeface="CiscoSansTT Medium"/>
                <a:ea typeface="CiscoSansTT Medium"/>
                <a:cs typeface="CiscoSansTT Medium"/>
              </a:defRPr>
            </a:pPr>
            <a:r>
              <a:rPr sz="1800" b="1">
                <a:solidFill>
                  <a:srgbClr val="0860FE"/>
                </a:solidFill>
                <a:latin typeface="CiscoSansTT Medium"/>
                <a:ea typeface="CiscoSansTT Medium"/>
                <a:cs typeface="CiscoSansTT Medium"/>
              </a:rPr>
              <a:t>Hubble lost events rise</a:t>
            </a:r>
          </a:p>
        </p:txBody>
      </p:sp>
      <p:sp>
        <p:nvSpPr>
          <p:cNvPr id="12" name="Rectangle 11">
            <a:extLst>
              <a:ext uri="{FF2B5EF4-FFF2-40B4-BE49-F238E27FC236}">
                <a16:creationId xmlns:a16="http://schemas.microsoft.com/office/drawing/2014/main" id="{7370FFF2-3ED6-4C3A-86B4-746523C00575}"/>
              </a:ext>
            </a:extLst>
          </p:cNvPr>
          <p:cNvSpPr>
            <a:spLocks noGrp="1"/>
          </p:cNvSpPr>
          <p:nvPr/>
        </p:nvSpPr>
        <p:spPr>
          <a:xfrm>
            <a:off x="4762500" y="4171950"/>
            <a:ext cx="6667500" cy="5143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event volume or consumer capacity problem</a:t>
            </a:r>
          </a:p>
        </p:txBody>
      </p:sp>
      <p:sp>
        <p:nvSpPr>
          <p:cNvPr id="13" name="Rectangle 12">
            <a:extLst>
              <a:ext uri="{FF2B5EF4-FFF2-40B4-BE49-F238E27FC236}">
                <a16:creationId xmlns:a16="http://schemas.microsoft.com/office/drawing/2014/main" id="{DE124862-6752-4B9A-A585-671E22DE93DE}"/>
              </a:ext>
            </a:extLst>
          </p:cNvPr>
          <p:cNvSpPr>
            <a:spLocks noGrp="1"/>
          </p:cNvSpPr>
          <p:nvPr/>
        </p:nvSpPr>
        <p:spPr>
          <a:xfrm>
            <a:off x="704850" y="4800600"/>
            <a:ext cx="10725150" cy="9525"/>
          </a:xfrm>
          <a:prstGeom prst="rect">
            <a:avLst/>
          </a:prstGeom>
          <a:solidFill>
            <a:srgbClr val="D6D6D6"/>
          </a:solidFill>
          <a:ln w="0">
            <a:noFill/>
          </a:ln>
        </p:spPr>
        <p:txBody>
          <a:bodyPr/>
          <a:lstStyle/>
          <a:p>
            <a:endParaRPr/>
          </a:p>
        </p:txBody>
      </p:sp>
      <p:sp>
        <p:nvSpPr>
          <p:cNvPr id="14" name="Rectangle 13">
            <a:extLst>
              <a:ext uri="{FF2B5EF4-FFF2-40B4-BE49-F238E27FC236}">
                <a16:creationId xmlns:a16="http://schemas.microsoft.com/office/drawing/2014/main" id="{D1BC665E-786D-450B-8DA1-41FADD2FE3D9}"/>
              </a:ext>
            </a:extLst>
          </p:cNvPr>
          <p:cNvSpPr>
            <a:spLocks noGrp="1"/>
          </p:cNvSpPr>
          <p:nvPr/>
        </p:nvSpPr>
        <p:spPr>
          <a:xfrm>
            <a:off x="704850" y="5086350"/>
            <a:ext cx="3714750" cy="514350"/>
          </a:xfrm>
          <a:prstGeom prst="rect">
            <a:avLst/>
          </a:prstGeom>
          <a:noFill/>
          <a:ln w="0">
            <a:noFill/>
          </a:ln>
        </p:spPr>
        <p:txBody>
          <a:bodyPr anchor="t">
            <a:normAutofit/>
          </a:bodyPr>
          <a:lstStyle/>
          <a:p>
            <a:pPr algn="l">
              <a:buNone/>
              <a:defRPr sz="1800" b="1">
                <a:solidFill>
                  <a:srgbClr val="0860FE"/>
                </a:solidFill>
                <a:latin typeface="CiscoSansTT Medium"/>
                <a:ea typeface="CiscoSansTT Medium"/>
                <a:cs typeface="CiscoSansTT Medium"/>
              </a:defRPr>
            </a:pPr>
            <a:r>
              <a:rPr sz="1800" b="1">
                <a:solidFill>
                  <a:srgbClr val="0860FE"/>
                </a:solidFill>
                <a:latin typeface="CiscoSansTT Medium"/>
                <a:ea typeface="CiscoSansTT Medium"/>
                <a:cs typeface="CiscoSansTT Medium"/>
              </a:rPr>
              <a:t>Series count accelerates</a:t>
            </a:r>
          </a:p>
        </p:txBody>
      </p:sp>
      <p:sp>
        <p:nvSpPr>
          <p:cNvPr id="15" name="Rectangle 14">
            <a:extLst>
              <a:ext uri="{FF2B5EF4-FFF2-40B4-BE49-F238E27FC236}">
                <a16:creationId xmlns:a16="http://schemas.microsoft.com/office/drawing/2014/main" id="{4AABD6C3-BC2A-444C-A465-1CA0388CD24D}"/>
              </a:ext>
            </a:extLst>
          </p:cNvPr>
          <p:cNvSpPr>
            <a:spLocks noGrp="1"/>
          </p:cNvSpPr>
          <p:nvPr/>
        </p:nvSpPr>
        <p:spPr>
          <a:xfrm>
            <a:off x="4762500" y="5086350"/>
            <a:ext cx="6667500" cy="514350"/>
          </a:xfrm>
          <a:prstGeom prst="rect">
            <a:avLst/>
          </a:prstGeom>
          <a:noFill/>
          <a:ln w="0">
            <a:noFill/>
          </a:ln>
        </p:spPr>
        <p:txBody>
          <a:bodyPr anchor="t">
            <a:normAutofit/>
          </a:bodyPr>
          <a:lstStyle/>
          <a:p>
            <a:pPr algn="l">
              <a:buNone/>
              <a:defRPr sz="1725" b="0">
                <a:solidFill>
                  <a:srgbClr val="686B6B"/>
                </a:solidFill>
                <a:latin typeface="CiscoSansTT"/>
                <a:ea typeface="CiscoSansTT"/>
                <a:cs typeface="CiscoSansTT"/>
              </a:defRPr>
            </a:pPr>
            <a:r>
              <a:rPr sz="1725" b="0">
                <a:solidFill>
                  <a:srgbClr val="686B6B"/>
                </a:solidFill>
                <a:latin typeface="CiscoSansTT"/>
                <a:ea typeface="CiscoSansTT"/>
                <a:cs typeface="CiscoSansTT"/>
              </a:rPr>
              <a:t>route or workload label cardinality</a:t>
            </a:r>
          </a:p>
        </p:txBody>
      </p:sp>
      <p:sp>
        <p:nvSpPr>
          <p:cNvPr id="16" name="Rectangle 15">
            <a:extLst>
              <a:ext uri="{FF2B5EF4-FFF2-40B4-BE49-F238E27FC236}">
                <a16:creationId xmlns:a16="http://schemas.microsoft.com/office/drawing/2014/main" id="{0E0A2586-884B-46E8-A1F6-A5FA243B5CDC}"/>
              </a:ext>
            </a:extLst>
          </p:cNvPr>
          <p:cNvSpPr>
            <a:spLocks noGrp="1"/>
          </p:cNvSpPr>
          <p:nvPr/>
        </p:nvSpPr>
        <p:spPr>
          <a:xfrm>
            <a:off x="704850" y="5715000"/>
            <a:ext cx="10725150" cy="9525"/>
          </a:xfrm>
          <a:prstGeom prst="rect">
            <a:avLst/>
          </a:prstGeom>
          <a:solidFill>
            <a:srgbClr val="D6D6D6"/>
          </a:solidFill>
          <a:ln w="0">
            <a:noFill/>
          </a:ln>
        </p:spPr>
        <p:txBody>
          <a:bodyPr/>
          <a:lstStyle/>
          <a:p>
            <a:endParaRPr/>
          </a:p>
        </p:txBody>
      </p:sp>
    </p:spTree>
    <p:extLst>
      <p:ext uri="{BB962C8B-B14F-4D97-AF65-F5344CB8AC3E}">
        <p14:creationId xmlns:p14="http://schemas.microsoft.com/office/powerpoint/2010/main" val="2144094207"/>
      </p:ext>
    </p:extLst>
  </p:cSld>
  <p:clrMapOvr>
    <a:masterClrMapping/>
  </p:clrMapOvr>
  <p:transition/>
</p:sld>
</file>

<file path=ppt/theme/theme1.xml><?xml version="1.0" encoding="utf-8"?>
<a:theme xmlns:a="http://schemas.openxmlformats.org/drawingml/2006/main" name="Cisco Light 05-21-2025">
  <a:themeElements>
    <a:clrScheme name="Icon - Light">
      <a:dk1>
        <a:srgbClr val="07182D"/>
      </a:dk1>
      <a:lt1>
        <a:srgbClr val="FFFFFF"/>
      </a:lt1>
      <a:dk2>
        <a:srgbClr val="525E6C"/>
      </a:dk2>
      <a:lt2>
        <a:srgbClr val="B4B9C0"/>
      </a:lt2>
      <a:accent1>
        <a:srgbClr val="02C8FF"/>
      </a:accent1>
      <a:accent2>
        <a:srgbClr val="0A60FF"/>
      </a:accent2>
      <a:accent3>
        <a:srgbClr val="FF007F"/>
      </a:accent3>
      <a:accent4>
        <a:srgbClr val="FF9000"/>
      </a:accent4>
      <a:accent5>
        <a:srgbClr val="D6D6D6"/>
      </a:accent5>
      <a:accent6>
        <a:srgbClr val="6B6B6B"/>
      </a:accent6>
      <a:hlink>
        <a:srgbClr val="07182D"/>
      </a:hlink>
      <a:folHlink>
        <a:srgbClr val="C0C0C0"/>
      </a:folHlink>
    </a:clrScheme>
    <a:fontScheme name="Cisco PowerPoint 02-26-2025">
      <a:majorFont>
        <a:latin typeface="CiscoSansTT Medium"/>
        <a:ea typeface=""/>
        <a:cs typeface=""/>
      </a:majorFont>
      <a:minorFont>
        <a:latin typeface="CiscoSansTT"/>
        <a:ea typeface=""/>
        <a:cs typeface=""/>
      </a:minorFont>
    </a:fontScheme>
    <a:fmtScheme name="Icon -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isco Light 05-21-2025">
  <a:themeElements>
    <a:clrScheme name="Icon - Light">
      <a:dk1>
        <a:srgbClr val="07182D"/>
      </a:dk1>
      <a:lt1>
        <a:srgbClr val="FFFFFF"/>
      </a:lt1>
      <a:dk2>
        <a:srgbClr val="525E6C"/>
      </a:dk2>
      <a:lt2>
        <a:srgbClr val="B4B9C0"/>
      </a:lt2>
      <a:accent1>
        <a:srgbClr val="02C8FF"/>
      </a:accent1>
      <a:accent2>
        <a:srgbClr val="0A60FF"/>
      </a:accent2>
      <a:accent3>
        <a:srgbClr val="FF007F"/>
      </a:accent3>
      <a:accent4>
        <a:srgbClr val="FF9000"/>
      </a:accent4>
      <a:accent5>
        <a:srgbClr val="D6D6D6"/>
      </a:accent5>
      <a:accent6>
        <a:srgbClr val="6B6B6B"/>
      </a:accent6>
      <a:hlink>
        <a:srgbClr val="07182D"/>
      </a:hlink>
      <a:folHlink>
        <a:srgbClr val="C0C0C0"/>
      </a:folHlink>
    </a:clrScheme>
    <a:fontScheme name="Cisco PowerPoint 02-26-2025">
      <a:majorFont>
        <a:latin typeface="CiscoSansTT Medium"/>
        <a:ea typeface=""/>
        <a:cs typeface=""/>
      </a:majorFont>
      <a:minorFont>
        <a:latin typeface="CiscoSansTT"/>
        <a:ea typeface=""/>
        <a:cs typeface=""/>
      </a:minorFont>
    </a:fontScheme>
    <a:fmtScheme name="Icon -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c8f49a32-fde3-48a5-9266-b5b0972a22dc}" enabled="1" method="Standar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otalTime>371</TotalTime>
  <Words>9201</Words>
  <Application>Microsoft Macintosh PowerPoint</Application>
  <DocSecurity>0</DocSecurity>
  <PresentationFormat>Widescreen</PresentationFormat>
  <Paragraphs>821</Paragraphs>
  <Slides>38</Slides>
  <Notes>38</Notes>
  <HiddenSlides>2</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CiscoSansTT Medium</vt:lpstr>
      <vt:lpstr>CiscoSansTT</vt:lpstr>
      <vt:lpstr>Calibri</vt:lpstr>
      <vt:lpstr>Arial</vt:lpstr>
      <vt:lpstr>Cisco Light 05-21-2025</vt:lpstr>
      <vt:lpstr>Two eBPF Systems, One Kubernetes Node</vt:lpstr>
      <vt:lpstr>PowerPoint Presentation</vt:lpstr>
      <vt:lpstr>PowerPoint Presentation</vt:lpstr>
      <vt:lpstr>PowerPoint Presentation</vt:lpstr>
      <vt:lpstr>PowerPoint Presentation</vt:lpstr>
      <vt:lpstr>PowerPoint Presentation</vt:lpstr>
      <vt:lpstr>PowerPoint Presentation</vt:lpstr>
      <vt:lpstr>The coexistence problem</vt:lpstr>
      <vt:lpstr>PowerPoint Presentation</vt:lpstr>
      <vt:lpstr>PowerPoint Presentation</vt:lpstr>
      <vt:lpstr>PowerPoint Presentation</vt:lpstr>
      <vt:lpstr>PowerPoint Presentation</vt:lpstr>
      <vt:lpstr>Attachment order</vt:lpstr>
      <vt:lpstr>PowerPoint Presentation</vt:lpstr>
      <vt:lpstr>PowerPoint Presentation</vt:lpstr>
      <vt:lpstr>PowerPoint Presentation</vt:lpstr>
      <vt:lpstr>Demo One request, two 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Measure the combined system</vt:lpstr>
      <vt:lpstr>PowerPoint Presentation</vt:lpstr>
      <vt:lpstr>PowerPoint Presentation</vt:lpstr>
      <vt:lpstr>PowerPoint Presentation</vt:lpstr>
      <vt:lpstr>Production rollout</vt:lpstr>
      <vt:lpstr>PowerPoint Presentation</vt:lpstr>
      <vt:lpstr>PowerPoint Presentation</vt:lpstr>
      <vt:lpstr>Questions?</vt:lpstr>
      <vt:lpstr>PowerPoint Presentation</vt:lpstr>
      <vt:lpstr>Appendix</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Antonio Jimenez Martinez (antonjim)</cp:lastModifiedBy>
  <cp:revision>12</cp:revision>
  <dcterms:created xsi:type="dcterms:W3CDTF">2026-09-27T17:17:35Z</dcterms:created>
  <dcterms:modified xsi:type="dcterms:W3CDTF">2026-10-31T08:07:13Z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Cisco Light 05-21-2025:9</vt:lpwstr>
  </property>
  <property fmtid="{D5CDD505-2E9C-101B-9397-08002B2CF9AE}" pid="3" name="ClassificationContentMarkingFooterText">
    <vt:lpwstr>Cisco Confidential</vt:lpwstr>
  </property>
</Properties>
</file>