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77" r:id="rId23"/>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90302020109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681"/>
    <p:restoredTop sz="79213"/>
  </p:normalViewPr>
  <p:slideViewPr>
    <p:cSldViewPr snapToGrid="0">
      <p:cViewPr varScale="1">
        <p:scale>
          <a:sx n="178" d="100"/>
          <a:sy n="178" d="100"/>
        </p:scale>
        <p:origin x="301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endParaRP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endParaRPr/>
          </a:p>
          <a:p xmlns:a="http://schemas.openxmlformats.org/drawingml/2006/main">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xmlns:a="http://schemas.openxmlformats.org/drawingml/2006/main">
            <a:r>
              <a:t/>
            </a:r>
            <a:endParaRP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a:p xmlns:a="http://schemas.openxmlformats.org/drawingml/2006/main">
            <a:r>
              <a:t/>
            </a:r>
          </a:p>
          <a:p xmlns:a="http://schemas.openxmlformats.org/drawingml/2006/main">
            <a:r>
              <a:t>Documentation and source code:</a:t>
            </a:r>
          </a:p>
          <a:p xmlns:a="http://schemas.openxmlformats.org/drawingml/2006/main">
            <a:r>
              <a:t>- https://opentelemetry.io/docs/zero-code/obi/</a:t>
            </a:r>
          </a:p>
          <a:p xmlns:a="http://schemas.openxmlformats.org/drawingml/2006/main">
            <a:r>
              <a:t>- https://github.com/open-telemetry/opentelemetry-ebpf-instrumentation</a:t>
            </a:r>
          </a:p>
          <a:p xmlns:a="http://schemas.openxmlformats.org/drawingml/2006/main">
            <a:r>
              <a:t/>
            </a:r>
          </a:p>
          <a:p xmlns:a="http://schemas.openxmlformats.org/drawingml/2006/main">
            <a:r>
              <a:t>OpenTelemetry icon source:</a:t>
            </a:r>
          </a:p>
          <a:p xmlns:a="http://schemas.openxmlformats.org/drawingml/2006/main">
            <a:r>
              <a:t>- https://github.com/cncf/artwork/blob/main/projects/opentelemetry/icon/color/opentelemetry-icon-color.svg</a:t>
            </a:r>
          </a:p>
          <a:p xmlns:a="http://schemas.openxmlformats.org/drawingml/2006/main">
            <a:r>
              <a:t>- https://github.com/cncf/artwork/blob/main/LICENSE.md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a:t>
            </a:r>
          </a:p>
          <a:p>
            <a:endParaRPr dirty="0"/>
          </a:p>
          <a:p>
            <a:r>
              <a:rPr dirty="0"/>
              <a:t>Start with the packet path from the application process to the host-side </a:t>
            </a:r>
            <a:r>
              <a:rPr dirty="0" err="1"/>
              <a:t>veth</a:t>
            </a:r>
            <a:r>
              <a:rPr dirty="0"/>
              <a:t> and network. A </a:t>
            </a:r>
            <a:r>
              <a:rPr dirty="0" err="1"/>
              <a:t>veth</a:t>
            </a:r>
            <a:r>
              <a:rPr dirty="0"/>
              <a:t> pair is the virtual link between pod and node. Focus on the dark panel: the host-side interface has TC ingress and TC egress hooks. Ingress means a packet arrives at that interface; egress means it leaves.</a:t>
            </a:r>
          </a:p>
          <a:p>
            <a:endParaRPr dirty="0"/>
          </a:p>
          <a:p>
            <a:r>
              <a:rPr dirty="0"/>
              <a:t>With OBI TCP context propagation enabled, OBI can attach a traffic-control classifier program to those hooks to carry trace context. Cilium also uses traffic-control classifier programs for the </a:t>
            </a:r>
            <a:r>
              <a:rPr dirty="0" err="1"/>
              <a:t>datapath</a:t>
            </a:r>
            <a:r>
              <a:rPr dirty="0"/>
              <a:t>. The exact kernel program type is BPF_PROG_TYPE_SCHED_CLS, but keep that name in the notes unless someone asks. The important idea is that both programs can share an ordered chain at the same hook. Neither agent owns TC exclusively.</a:t>
            </a:r>
          </a:p>
          <a:p>
            <a:endParaRPr dirty="0"/>
          </a:p>
          <a:p>
            <a:r>
              <a:rPr dirty="0"/>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a:endParaRPr dirty="0"/>
          </a:p>
          <a:p>
            <a:r>
              <a:rPr dirty="0"/>
              <a:t>Transition: the next slide shows why program order matters, followed by TCX and </a:t>
            </a:r>
            <a:r>
              <a:rPr dirty="0" err="1"/>
              <a:t>Netlink</a:t>
            </a:r>
            <a:r>
              <a:rPr dirty="0"/>
              <a:t> fallback.</a:t>
            </a:r>
          </a:p>
          <a:p>
            <a:endParaRPr dirty="0"/>
          </a:p>
          <a:p>
            <a:r>
              <a:rPr dirty="0"/>
              <a:t>Sources:</a:t>
            </a:r>
          </a:p>
          <a:p>
            <a:r>
              <a:rPr dirty="0"/>
              <a:t>- https://</a:t>
            </a:r>
            <a:r>
              <a:rPr dirty="0" err="1"/>
              <a:t>opentelemetry.io</a:t>
            </a:r>
            <a:r>
              <a:rPr dirty="0"/>
              <a:t>/docs/zero-code/obi/cilium-compatibility/</a:t>
            </a:r>
          </a:p>
          <a:p>
            <a:r>
              <a:rPr dirty="0"/>
              <a:t>- https://</a:t>
            </a:r>
            <a:r>
              <a:rPr dirty="0" err="1"/>
              <a:t>opentelemetry.io</a:t>
            </a:r>
            <a:r>
              <a:rPr dirty="0"/>
              <a:t>/docs/zero-code/obi/configure/metrics-traces-attributes/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Read this as two agents in sequence. OBI observes the packet and, when enabled, carries trace context. Cilium then handles networking and policy.</a:t>
            </a:r>
          </a:p>
          <a:p xmlns:a="http://schemas.openxmlformats.org/drawingml/2006/main">
            <a:r>
              <a:t/>
            </a:r>
            <a:endParaRPr/>
          </a:p>
          <a:p xmlns:a="http://schemas.openxmlformats.org/drawingml/2006/main">
            <a:r>
              <a:t>The old diagram separated route + enforce from forward or stop. That made the result look like a third independent program. Both are part of Cilium: it applies routing and policy, then forwards, redirects, or drops the packet according to that logic.</a:t>
            </a:r>
          </a:p>
          <a:p xmlns:a="http://schemas.openxmlformats.org/drawingml/2006/main">
            <a:r>
              <a:t/>
            </a:r>
          </a:p>
          <a:p xmlns:a="http://schemas.openxmlformats.org/drawingml/2006/main">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xmlns:a="http://schemas.openxmlformats.org/drawingml/2006/main">
            <a:r>
              <a:t/>
            </a:r>
          </a:p>
          <a:p xmlns:a="http://schemas.openxmlformats.org/drawingml/2006/main">
            <a:r>
              <a:t>This is an illustrative view of the shared hook. Each product can attach other programs elsewhere. The next slides explain how TCX or legacy TC priority establishes the required order.</a:t>
            </a:r>
          </a:p>
          <a:p xmlns:a="http://schemas.openxmlformats.org/drawingml/2006/main">
            <a:r>
              <a:t/>
            </a: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 Play the video.</a:t>
            </a:r>
          </a:p>
          <a:p>
            <a:endParaRPr dirty="0"/>
          </a:p>
          <a:p>
            <a:r>
              <a:rPr dirty="0"/>
              <a:t>This compares two separate test clusters. Both use Cilium 1.20.2 and OBI v0.13.0. TCX is off, so the older TC mechanism uses priority numbers. A lower number runs earlier.</a:t>
            </a:r>
          </a:p>
          <a:p>
            <a:endParaRPr dirty="0"/>
          </a:p>
          <a:p>
            <a:r>
              <a:rPr dirty="0"/>
              <a:t>LEFT: Cilium uses priority 1. OBI detects that conflict and stops itself. That is why OBI shows 0/1 ready. The nginx request still returns HTTP 200: the application network continues to work while OBI is unavailable.</a:t>
            </a:r>
          </a:p>
          <a:p>
            <a:endParaRPr dirty="0"/>
          </a:p>
          <a:p>
            <a:r>
              <a:rPr dirty="0"/>
              <a:t>RIGHT: a fresh cluster uses Cilium priority 2. OBI can install its filter at priority 1, ahead of Cilium. OBI shows 1/1 ready and prints an HTTP span. The nginx request also returns HTTP 200.</a:t>
            </a:r>
          </a:p>
          <a:p>
            <a:endParaRPr dirty="0"/>
          </a:p>
          <a:p>
            <a:r>
              <a:rPr dirty="0"/>
              <a:t>What this teaches: check application health AND observability health. A successful request does not tell us that OBI is running or producing data.</a:t>
            </a:r>
          </a:p>
          <a:p>
            <a:endParaRPr dirty="0"/>
          </a:p>
          <a:p>
            <a:r>
              <a:rPr dirty="0"/>
              <a:t>Scope: this recording enables OBI's optional </a:t>
            </a:r>
            <a:r>
              <a:rPr dirty="0" err="1"/>
              <a:t>network.source</a:t>
            </a:r>
            <a:r>
              <a:rPr dirty="0"/>
              <a:t>: </a:t>
            </a:r>
            <a:r>
              <a:rPr dirty="0" err="1"/>
              <a:t>tc</a:t>
            </a:r>
            <a:r>
              <a:rPr dirty="0"/>
              <a:t> mode. Our application-only OBI configuration did not trigger this startup guard. The two sides are saved outputs from separate runs, replayed for the talk.</a:t>
            </a:r>
          </a:p>
          <a:p>
            <a:endParaRPr dirty="0"/>
          </a:p>
          <a:p>
            <a:r>
              <a:rPr dirty="0"/>
              <a:t>Sources:</a:t>
            </a:r>
          </a:p>
          <a:p>
            <a:r>
              <a:rPr dirty="0"/>
              <a:t>- https://</a:t>
            </a:r>
            <a:r>
              <a:rPr dirty="0" err="1"/>
              <a:t>github.com</a:t>
            </a:r>
            <a:r>
              <a:rPr dirty="0"/>
              <a:t>/ajimenez1503/cilium-obi-demo/blob/main/demo/legacy-priority-</a:t>
            </a:r>
            <a:r>
              <a:rPr dirty="0" err="1"/>
              <a:t>recording.md</a:t>
            </a:r>
            <a:endParaRPr dirty="0"/>
          </a:p>
          <a:p>
            <a:r>
              <a:rPr dirty="0"/>
              <a:t>- https://</a:t>
            </a:r>
            <a:r>
              <a:rPr dirty="0" err="1"/>
              <a:t>github.com</a:t>
            </a:r>
            <a:r>
              <a:rPr dirty="0"/>
              <a:t>/ajimenez1503/cilium-obi-demo/tree/main/evidence/legacy-priority-2026-09-27</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3 minutes</a:t>
            </a:r>
          </a:p>
          <a:p>
            <a:endParaRPr dirty="0"/>
          </a:p>
          <a:p>
            <a:r>
              <a:rPr dirty="0"/>
              <a:t>Start with the upper diagram.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dirty="0"/>
          </a:p>
          <a:p>
            <a:r>
              <a:rPr dirty="0"/>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dirty="0"/>
          </a:p>
          <a:p>
            <a:r>
              <a:rPr dirty="0"/>
              <a:t>Both versions, plus edge-nginx, are selected by the OBI discovery configuration. OBI watches their supported operations and creates spans and RED metrics. The applications do not call OBI as an application dependency.</a:t>
            </a:r>
          </a:p>
          <a:p>
            <a:endParaRPr dirty="0"/>
          </a:p>
          <a:p>
            <a:r>
              <a:rPr dirty="0"/>
              <a:t>Cilium and Hubble also cover traffic for all three services. Hubble is not connected only to v1. The diagram's lower arrows represent telemetry exports, not application calls.</a:t>
            </a:r>
          </a:p>
          <a:p>
            <a:endParaRPr dirty="0"/>
          </a:p>
          <a:p>
            <a:r>
              <a:rPr dirty="0"/>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dirty="0"/>
          </a:p>
          <a:p>
            <a:r>
              <a:rPr dirty="0"/>
              <a:t>For the denial demo, the policy allows v2 to call v1 on port 8081. It blocks edge-nginx from calling v1 directly. That is why the orange direct route is the one we exercise during the failure.</a:t>
            </a:r>
          </a:p>
          <a:p>
            <a:endParaRPr dirty="0"/>
          </a:p>
          <a:p>
            <a:r>
              <a:rPr dirty="0"/>
              <a:t>Sources:</a:t>
            </a:r>
          </a:p>
          <a:p>
            <a:r>
              <a:rPr dirty="0"/>
              <a:t>- https://</a:t>
            </a:r>
            <a:r>
              <a:rPr dirty="0" err="1"/>
              <a:t>github.com</a:t>
            </a:r>
            <a:r>
              <a:rPr dirty="0"/>
              <a:t>/ajimenez1503/cilium-obi-demo/blob/main/demo/obi-</a:t>
            </a:r>
            <a:r>
              <a:rPr dirty="0" err="1"/>
              <a:t>values.yaml</a:t>
            </a:r>
            <a:endParaRPr dirty="0"/>
          </a:p>
          <a:p>
            <a:r>
              <a:rPr dirty="0"/>
              <a:t>- https://</a:t>
            </a:r>
            <a:r>
              <a:rPr dirty="0" err="1"/>
              <a:t>github.com</a:t>
            </a:r>
            <a:r>
              <a:rPr dirty="0"/>
              <a:t>/ajimenez1503/cilium-obi-demo/blob/main/demo/policy-</a:t>
            </a:r>
            <a:r>
              <a:rPr dirty="0" err="1"/>
              <a:t>deny.yaml</a:t>
            </a:r>
            <a:endParaRPr dirty="0"/>
          </a:p>
          <a:p>
            <a:r>
              <a:rPr dirty="0"/>
              <a:t>- https://</a:t>
            </a:r>
            <a:r>
              <a:rPr dirty="0" err="1"/>
              <a:t>github.com</a:t>
            </a:r>
            <a:r>
              <a:rPr dirty="0"/>
              <a:t>/open-telemetry/</a:t>
            </a:r>
            <a:r>
              <a:rPr dirty="0" err="1"/>
              <a:t>opentelemetry</a:t>
            </a:r>
            <a:r>
              <a:rPr dirty="0"/>
              <a:t>-</a:t>
            </a:r>
            <a:r>
              <a:rPr dirty="0" err="1"/>
              <a:t>ebpf</a:t>
            </a:r>
            <a:r>
              <a:rPr dirty="0"/>
              <a:t>-instrumentation/tree/main/examples/nginx</a:t>
            </a:r>
          </a:p>
          <a:p>
            <a:r>
              <a:rPr dirty="0"/>
              <a:t>- https://</a:t>
            </a:r>
            <a:r>
              <a:rPr dirty="0" err="1"/>
              <a:t>docs.cilium.io</a:t>
            </a:r>
            <a:r>
              <a:rPr dirty="0"/>
              <a:t>/</a:t>
            </a:r>
            <a:r>
              <a:rPr dirty="0" err="1"/>
              <a:t>en</a:t>
            </a:r>
            <a:r>
              <a:rPr dirty="0"/>
              <a:t>/stable/observability/metrics/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 Click the video to play. The edited clip lasts about 30 seconds.</a:t>
            </a:r>
          </a:p>
          <a:p xmlns:a="http://schemas.openxmlformats.org/drawingml/2006/main">
            <a:r>
              <a:t/>
            </a:r>
            <a:endParaRPr/>
          </a:p>
          <a:p xmlns:a="http://schemas.openxmlformats.org/drawingml/2006/main">
            <a:r>
              <a:t>00:00 to 00:08: upper Grafana view. Point to OBI request rate, errors, and latency, then to the network flow and verdict panels. These dashboard totals cover the selected workload and time window, not one isolated request.</a:t>
            </a:r>
          </a:p>
          <a:p xmlns:a="http://schemas.openxmlformats.org/drawingml/2006/main">
            <a:r>
              <a:t/>
            </a:r>
            <a:endParaRPr/>
          </a:p>
          <a:p xmlns:a="http://schemas.openxmlformats.org/drawingml/2006/main">
            <a:r>
              <a:t>00:08 to 00:20: lower Grafana view. There is extra reading time here. Explain the service edges and the network metrics below them. Some frames hold so you can explain the panels.</a:t>
            </a:r>
          </a:p>
          <a:p xmlns:a="http://schemas.openxmlformats.org/drawingml/2006/main">
            <a:r>
              <a:t/>
            </a:r>
          </a:p>
          <a:p xmlns:a="http://schemas.openxmlformats.org/drawingml/2006/main">
            <a:r>
              <a:t>00:20 to the end: Hubble UI, at its original speed. Follow edge-nginx to recommendations-v2 and recommendations-v2 to recommendations-v1. Point to workload identity, direction, ports, and FORWARDED.</a:t>
            </a:r>
          </a:p>
          <a:p xmlns:a="http://schemas.openxmlformats.org/drawingml/2006/main">
            <a:r>
              <a:t/>
            </a:r>
          </a:p>
          <a:p xmlns:a="http://schemas.openxmlformats.org/drawingml/2006/main">
            <a:r>
              <a:t>Connect the views by the same time window, namespace, source and destination workload, direction, and port. Grafana contains aggregated Cilium/Hubble metrics. Individual Hubble flow records remain in Relay and Hubble UI. A matching window and workload give investigative context; they do not prove a unique flow-to-trace-ID join.</a:t>
            </a:r>
          </a:p>
          <a:p xmlns:a="http://schemas.openxmlformats.org/drawingml/2006/main">
            <a:r>
              <a:t/>
            </a: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a:p xmlns:a="http://schemas.openxmlformats.org/drawingml/2006/main">
            <a:r>
              <a:t>- https://github.com/ajimenez1503/cilium-obi-demo/blob/main/slides/recordings/presentation-edits.json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 The video on the left is terminal-only and lasts about 20 seconds.</a:t>
            </a:r>
          </a:p>
          <a:p xmlns:a="http://schemas.openxmlformats.org/drawingml/2006/main">
            <a:r>
              <a:t/>
            </a:r>
            <a:endParaRPr/>
          </a:p>
          <a:p xmlns:a="http://schemas.openxmlformats.org/drawingml/2006/main">
            <a:r>
              <a:t>The policy permits recommendations-v2 to call recommendations-v1 on TCP port 8081. It blocks direct calls from edge-nginx to v1. We send that direct request, and curl times out with HTTP 000.</a:t>
            </a:r>
          </a:p>
          <a:p xmlns:a="http://schemas.openxmlformats.org/drawingml/2006/main">
            <a:r>
              <a:t/>
            </a:r>
            <a:endParaRPr/>
          </a:p>
          <a:p xmlns:a="http://schemas.openxmlformats.org/drawingml/2006/main">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xmlns:a="http://schemas.openxmlformats.org/drawingml/2006/main">
            <a:r>
              <a:t/>
            </a:r>
            <a:endParaRPr/>
          </a:p>
          <a:p xmlns:a="http://schemas.openxmlformats.org/drawingml/2006/main">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xmlns:a="http://schemas.openxmlformats.org/drawingml/2006/main">
            <a:r>
              <a:t/>
            </a:r>
            <a:endParaRPr/>
          </a:p>
          <a:p xmlns:a="http://schemas.openxmlformats.org/drawingml/2006/main">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xmlns:a="http://schemas.openxmlformats.org/drawingml/2006/main">
            <a:r>
              <a:t/>
            </a:r>
            <a:endParaRPr/>
          </a:p>
          <a:p xmlns:a="http://schemas.openxmlformats.org/drawingml/2006/main">
            <a:r>
              <a:t>Sources:</a:t>
            </a:r>
          </a:p>
          <a:p xmlns:a="http://schemas.openxmlformats.org/drawingml/2006/main">
            <a:r>
              <a:t>- https://github.com/ajimenez1503/cilium-obi-demo/blob/main/demo/policy-deny.yaml</a:t>
            </a:r>
            <a:endParaRPr/>
          </a:p>
          <a:p xmlns:a="http://schemas.openxmlformats.org/drawingml/2006/main">
            <a:r>
              <a:t>- https://github.com/ajimenez1503/cilium-obi-demo/blob/main/slides/recordings/demo-3-policy-denial.mp4</a:t>
            </a:r>
          </a:p>
          <a:p xmlns:a="http://schemas.openxmlformats.org/drawingml/2006/main">
            <a:r>
              <a:t>- https://docs.cilium.io/en/stable/observability/metrics/#hubble-exported-metrics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OBI has an optional network collector as well as application instrumentation. It counts traffic between endpoints, including bytes and packets. Kubernetes metadata can add the source and destination workloads to those metrics.</a:t>
            </a:r>
          </a:p>
          <a:p xmlns:a="http://schemas.openxmlformats.org/drawingml/2006/main">
            <a:r>
              <a:t/>
            </a:r>
            <a:endParaRPr/>
          </a:p>
          <a:p xmlns:a="http://schemas.openxmlformats.org/drawingml/2006/main">
            <a:r>
              <a:t>Use it to answer questions such as which service sends the most traffic, or to send network-volume metrics through an OpenTelemetry pipeline. It can be useful when Hubble is not available or when these metrics answer an additional question.</a:t>
            </a:r>
          </a:p>
          <a:p xmlns:a="http://schemas.openxmlformats.org/drawingml/2006/main">
            <a:r>
              <a:t/>
            </a:r>
            <a:endParaRPr/>
          </a:p>
          <a:p xmlns:a="http://schemas.openxmlformats.org/drawingml/2006/main">
            <a:r>
              <a:t>In this combined demo, Hubble is the default network source because it provides flows and Cilium policy verdicts. OBI network-volume counters do not provide the Cilium record that says Policy denied. The two tools can count traffic differently because observation points, filters, and aggregation differ.</a:t>
            </a:r>
          </a:p>
          <a:p xmlns:a="http://schemas.openxmlformats.org/drawingml/2006/main">
            <a:r>
              <a:t/>
            </a:r>
            <a:endParaRPr/>
          </a:p>
          <a:p xmlns:a="http://schemas.openxmlformats.org/drawingml/2006/main">
            <a:r>
              <a:t>The main demo leaves optional OBI network metrics off. OBI still generates application spans and RED metrics. Its TCP trace-context propagation is another feature: it connects application spans across services. Keeping network-volume metrics off does not turn application tracing off.</a:t>
            </a:r>
          </a:p>
          <a:p xmlns:a="http://schemas.openxmlformats.org/drawingml/2006/main">
            <a:r>
              <a:t/>
            </a:r>
            <a:endParaRPr/>
          </a:p>
          <a:p xmlns:a="http://schemas.openxmlformats.org/drawingml/2006/main">
            <a:r>
              <a:t>If we deliberately enable OBI network collection beside Cilium, choose network.source: socket_filter. Limit labels to the dimensions you need; many address and port combinations can create many metric series and increase collection and storage costs.</a:t>
            </a:r>
          </a:p>
          <a:p xmlns:a="http://schemas.openxmlformats.org/drawingml/2006/main">
            <a:r>
              <a:t/>
            </a:r>
            <a:endParaRPr/>
          </a:p>
          <a:p xmlns:a="http://schemas.openxmlformats.org/drawingml/2006/main">
            <a:r>
              <a:t>The separate legacy-priority recording enables network.source: tc to demonstrate that compatibility guard. That controlled test is not the default deployment design.</a:t>
            </a:r>
          </a:p>
          <a:p xmlns:a="http://schemas.openxmlformats.org/drawingml/2006/main">
            <a:r>
              <a:t/>
            </a:r>
            <a:endParaRPr/>
          </a:p>
          <a:p xmlns:a="http://schemas.openxmlformats.org/drawingml/2006/main">
            <a:r>
              <a:t>Sources:</a:t>
            </a:r>
          </a:p>
          <a:p xmlns:a="http://schemas.openxmlformats.org/drawingml/2006/main">
            <a:r>
              <a:t>- https://opentelemetry.io/docs/zero-code/obi/network/</a:t>
            </a:r>
          </a:p>
          <a:p xmlns:a="http://schemas.openxmlformats.org/drawingml/2006/main">
            <a:r>
              <a:t>- https://opentelemetry.io/docs/zero-code/obi/network/config/</a:t>
            </a:r>
          </a:p>
          <a:p xmlns:a="http://schemas.openxmlformats.org/drawingml/2006/main">
            <a:r>
              <a:t>- https://github.com/open-telemetry/opentelemetry-ebpf-instrumentation/blob/v0.13.0/pkg/obi/network_cfg.go</a:t>
            </a:r>
          </a:p>
          <a:p xmlns:a="http://schemas.openxmlformats.org/drawingml/2006/main">
            <a:r>
              <a:t>- https://github.com/ajimenez1503/cilium-obi-demo/blob/main/demo/obi-values.yaml</a:t>
            </a:r>
          </a:p>
          <a:p xmlns:a="http://schemas.openxmlformats.org/drawingml/2006/main">
            <a:r>
              <a:t/>
            </a:r>
          </a:p>
          <a:p xmlns:a="http://schemas.openxmlformats.org/drawingml/2006/main">
            <a:r>
              <a:t>Placement: this optional feature follows the signal-ownership comparison, before the coexistence section. Transition: with the signal sources chosen, the next section explains where the agents share kernel hooks.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defines five Cilium-based scenarios and the controls they share. The next slide reports the local rehearsal results for B and D. A, C, and E have not been measured.</a:t>
            </a:r>
          </a:p>
          <a:p>
            <a:endParaRPr/>
          </a:p>
          <a:p>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a:endParaRPr/>
          </a:p>
          <a:p>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a:endParaRPr/>
          </a:p>
          <a:p>
            <a:r>
              <a:t>Sources:</a:t>
            </a:r>
          </a:p>
          <a:p>
            <a:r>
              <a:t>- https://docs.cilium.io/en/stable/operations/performance/benchmark/</a:t>
            </a:r>
          </a:p>
          <a:p>
            <a:r>
              <a:t>- /Users/antonjim/Documents/Playground/cilium-obi-demo/evidence/benchmark-2026-09-26/results.md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 minutes</a:t>
            </a:r>
          </a:p>
          <a:p>
            <a:endParaRPr/>
          </a:p>
          <a:p>
            <a:r>
              <a:t>These are local kind rehearsal observations for B (Cilium and Hubble, OBI off) and D (Cilium and Hubble plus OBI with TCX). They are not production capacity results. The no-eBPF reference N and conditions A, C, and E remain unmeasured.</a:t>
            </a:r>
          </a:p>
          <a:p>
            <a:endParaRPr/>
          </a:p>
          <a:p>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a:endParaRPr/>
          </a:p>
          <a:p>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a:p>
          <a:p>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a:p>
          <a:p>
            <a:r>
              <a:t>Sources:</a:t>
            </a:r>
          </a:p>
          <a:p>
            <a:r>
              <a:t>- /Users/antonjim/Documents/Playground/cilium-obi-demo/evidence/benchmark-2026-09-26/results.md</a:t>
            </a:r>
          </a:p>
          <a:p>
            <a:r>
              <a:t>- https://docs.cilium.io/en/latest/observability/metrics/#lost-events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goal is to enable OBI on a small group of nodes first, learn from those nodes, and then expand.</a:t>
            </a:r>
          </a:p>
          <a:p>
            <a:endParaRPr/>
          </a:p>
          <a:p>
            <a:r>
              <a:t>1. Check nodes. Record the kernel features, OBI and Cilium versions, and Cilium datapath. Confirm that the chosen TCX or legacy attachment method is supported on the actual nodes. BTF, if mentioned in a question, is kernel type metadata used by eBPF tools.</a:t>
            </a:r>
          </a:p>
          <a:p>
            <a:endParaRPr/>
          </a:p>
          <a:p>
            <a:r>
              <a:t>2. Check config. Review the final Kubernetes YAML that Helm generates. Check the permissions, host filesystem mounts, and attachment settings. Then check startup logs and actual attachments after deployment.</a:t>
            </a:r>
          </a:p>
          <a:p>
            <a:endParaRPr/>
          </a:p>
          <a:p>
            <a:r>
              <a:t>3. Start small. Use node selection to run OBI on a few nodes. Keep a clear way to disable that new OBI configuration and return to the previous setup.</a:t>
            </a:r>
          </a:p>
          <a:p>
            <a:endParaRPr/>
          </a:p>
          <a:p>
            <a:r>
              <a:t>4. Test traffic. Exercise calls within one node, calls across nodes, and calls through a Kubernetes Service. Also test one connection that policy should allow and one it should deny. Check the application result and the expected telemetry.</a:t>
            </a:r>
          </a:p>
          <a:p>
            <a:endParaRPr/>
          </a:p>
          <a:p>
            <a:r>
              <a:t>5. Expand. Compare this group with its baseline using the CPU, memory, missing-data, and volume checks from the earlier rollout-check slide. Expand gradually when the results meet your chosen limits. If a check fails, stop expansion, restore the previous setup, and investigate.</a:t>
            </a:r>
          </a:p>
          <a:p>
            <a:endParaRPr/>
          </a:p>
          <a:p>
            <a:r>
              <a:t>This is what the old labels meant: Inventory meant check the environment; Render meant inspect Helm's generated YAML; Canary meant start on a few nodes; Exercise meant test real requests; Promote meant expand the deployment.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restating the operational contract. Safe coexistence means verified order, preserved traffic, complete enough telemetry, and measured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 Id="rIdFollowup3_1" Type="http://schemas.openxmlformats.org/officeDocument/2006/relationships/image" Target="../media/oct29-obi-1.png"/><Relationship Id="rIdFollowup3_2" Type="http://schemas.openxmlformats.org/officeDocument/2006/relationships/hyperlink" Target="https://opentelemetry.io/docs/zero-code/obi/" TargetMode="External"/><Relationship Id="rIdFollowup3_3" Type="http://schemas.openxmlformats.org/officeDocument/2006/relationships/hyperlink" Target="https://github.com/open-telemetry/opentelemetry-ebpf-instrumentation"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0833" lnSpcReduction="20000"/>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xmlns:a="http://schemas.openxmlformats.org/drawingml/2006/main">
              <a:ext uri="{FF2B5EF4-FFF2-40B4-BE49-F238E27FC236}">
                <a16:creationId xmlns:a16="http://schemas.microsoft.com/office/drawing/2014/main" id="{A334CE78-A7CE-48FF-8708-F87B568CB332}"/>
              </a:ext>
            </a:extLst>
          </p:cNvPr>
          <p:cNvSpPr>
            <a:spLocks xmlns:a="http://schemas.openxmlformats.org/drawingml/2006/main" noGrp="1"/>
          </p:cNvSpPr>
          <p:nvPr/>
        </p:nvSpPr>
        <p:spPr>
          <a:xfrm xmlns:a="http://schemas.openxmlformats.org/drawingml/2006/main">
            <a:off x="723900" y="13430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xmlns:a="http://schemas.openxmlformats.org/drawingml/2006/main">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xmlns:a="http://schemas.openxmlformats.org/drawingml/2006/main">
              <a:ext uri="{FF2B5EF4-FFF2-40B4-BE49-F238E27FC236}">
                <a16:creationId xmlns:a16="http://schemas.microsoft.com/office/drawing/2014/main" id="{D9A99B0B-3915-46AB-9DF7-9A6093270C98}"/>
              </a:ext>
            </a:extLst>
          </p:cNvPr>
          <p:cNvSpPr>
            <a:spLocks xmlns:a="http://schemas.openxmlformats.org/drawingml/2006/main" noGrp="1"/>
          </p:cNvSpPr>
          <p:nvPr/>
        </p:nvSpPr>
        <p:spPr>
          <a:xfrm xmlns:a="http://schemas.openxmlformats.org/drawingml/2006/main">
            <a:off x="742950" y="20764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xmlns:a="http://schemas.openxmlformats.org/drawingml/2006/main">
              <a:ext uri="{FF2B5EF4-FFF2-40B4-BE49-F238E27FC236}">
                <a16:creationId xmlns:a16="http://schemas.microsoft.com/office/drawing/2014/main" id="{8D9D5781-19F1-4B23-A7A1-3479877C9FE1}"/>
              </a:ext>
            </a:extLst>
          </p:cNvPr>
          <p:cNvSpPr>
            <a:spLocks xmlns:a="http://schemas.openxmlformats.org/drawingml/2006/main" noGrp="1"/>
          </p:cNvSpPr>
          <p:nvPr/>
        </p:nvSpPr>
        <p:spPr>
          <a:xfrm xmlns:a="http://schemas.openxmlformats.org/drawingml/2006/main">
            <a:off x="1638300" y="2085975"/>
            <a:ext cx="609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xmlns:a="http://schemas.openxmlformats.org/drawingml/2006/main">
              <a:ext uri="{FF2B5EF4-FFF2-40B4-BE49-F238E27FC236}">
                <a16:creationId xmlns:a16="http://schemas.microsoft.com/office/drawing/2014/main" id="{475C7ABE-C852-46F0-8440-29E93435EE74}"/>
              </a:ext>
            </a:extLst>
          </p:cNvPr>
          <p:cNvSpPr>
            <a:spLocks xmlns:a="http://schemas.openxmlformats.org/drawingml/2006/main" noGrp="1"/>
          </p:cNvSpPr>
          <p:nvPr/>
        </p:nvSpPr>
        <p:spPr>
          <a:xfrm xmlns:a="http://schemas.openxmlformats.org/drawingml/2006/main">
            <a:off x="1638300" y="2524125"/>
            <a:ext cx="609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uses eBPF to observe requests sent or</a:t>
            </a:r>
          </a:p>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received by supported applications.</a:t>
            </a:r>
          </a:p>
        </p:txBody>
      </p:sp>
      <p:sp>
        <p:nvSpPr>
          <p:cNvPr id="21" name="Rectangle 20">
            <a:extLst xmlns:a="http://schemas.openxmlformats.org/drawingml/2006/main">
              <a:ext uri="{FF2B5EF4-FFF2-40B4-BE49-F238E27FC236}">
                <a16:creationId xmlns:a16="http://schemas.microsoft.com/office/drawing/2014/main" id="{561E33F0-9556-4CAF-999D-F7D9D5066F95}"/>
              </a:ext>
            </a:extLst>
          </p:cNvPr>
          <p:cNvSpPr>
            <a:spLocks xmlns:a="http://schemas.openxmlformats.org/drawingml/2006/main" noGrp="1"/>
          </p:cNvSpPr>
          <p:nvPr/>
        </p:nvSpPr>
        <p:spPr>
          <a:xfrm xmlns:a="http://schemas.openxmlformats.org/drawingml/2006/main">
            <a:off x="1638300" y="3143250"/>
            <a:ext cx="6191250" cy="14288"/>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6E3E1547-0690-41B6-A094-92DD3AD34550}"/>
              </a:ext>
            </a:extLst>
          </p:cNvPr>
          <p:cNvSpPr>
            <a:spLocks xmlns:a="http://schemas.openxmlformats.org/drawingml/2006/main" noGrp="1"/>
          </p:cNvSpPr>
          <p:nvPr/>
        </p:nvSpPr>
        <p:spPr>
          <a:xfrm xmlns:a="http://schemas.openxmlformats.org/drawingml/2006/main">
            <a:off x="742950" y="327660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xmlns:a="http://schemas.openxmlformats.org/drawingml/2006/main">
              <a:ext uri="{FF2B5EF4-FFF2-40B4-BE49-F238E27FC236}">
                <a16:creationId xmlns:a16="http://schemas.microsoft.com/office/drawing/2014/main" id="{9F06C7CD-12DC-45DF-8CF5-12E573F6F38D}"/>
              </a:ext>
            </a:extLst>
          </p:cNvPr>
          <p:cNvSpPr>
            <a:spLocks xmlns:a="http://schemas.openxmlformats.org/drawingml/2006/main" noGrp="1"/>
          </p:cNvSpPr>
          <p:nvPr/>
        </p:nvSpPr>
        <p:spPr>
          <a:xfrm xmlns:a="http://schemas.openxmlformats.org/drawingml/2006/main">
            <a:off x="1638300" y="3286125"/>
            <a:ext cx="609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xmlns:a="http://schemas.openxmlformats.org/drawingml/2006/main">
              <a:ext uri="{FF2B5EF4-FFF2-40B4-BE49-F238E27FC236}">
                <a16:creationId xmlns:a16="http://schemas.microsoft.com/office/drawing/2014/main" id="{0AD620F7-9210-4E6C-977E-C41323C0D218}"/>
              </a:ext>
            </a:extLst>
          </p:cNvPr>
          <p:cNvSpPr>
            <a:spLocks xmlns:a="http://schemas.openxmlformats.org/drawingml/2006/main" noGrp="1"/>
          </p:cNvSpPr>
          <p:nvPr/>
        </p:nvSpPr>
        <p:spPr>
          <a:xfrm xmlns:a="http://schemas.openxmlformats.org/drawingml/2006/main">
            <a:off x="1638300" y="3724275"/>
            <a:ext cx="609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endParaRPr sz="1725" b="0">
              <a:solidFill>
                <a:srgbClr val="686B6B"/>
              </a:solidFill>
              <a:latin typeface="CiscoSansTT"/>
              <a:ea typeface="CiscoSansTT"/>
              <a:cs typeface="CiscoSansTT"/>
            </a:endParaRPr>
          </a:p>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endParaRPr sz="1725" b="0">
              <a:solidFill>
                <a:srgbClr val="686B6B"/>
              </a:solidFill>
              <a:latin typeface="CiscoSansTT"/>
              <a:ea typeface="CiscoSansTT"/>
              <a:cs typeface="CiscoSansTT"/>
            </a:endParaRPr>
          </a:p>
        </p:txBody>
      </p:sp>
      <p:sp>
        <p:nvSpPr>
          <p:cNvPr id="25" name="Rectangle 24">
            <a:extLst xmlns:a="http://schemas.openxmlformats.org/drawingml/2006/main">
              <a:ext uri="{FF2B5EF4-FFF2-40B4-BE49-F238E27FC236}">
                <a16:creationId xmlns:a16="http://schemas.microsoft.com/office/drawing/2014/main" id="{EF061137-362E-4028-8DC7-73E3458F86FF}"/>
              </a:ext>
            </a:extLst>
          </p:cNvPr>
          <p:cNvSpPr>
            <a:spLocks xmlns:a="http://schemas.openxmlformats.org/drawingml/2006/main" noGrp="1"/>
          </p:cNvSpPr>
          <p:nvPr/>
        </p:nvSpPr>
        <p:spPr>
          <a:xfrm xmlns:a="http://schemas.openxmlformats.org/drawingml/2006/main">
            <a:off x="1638300" y="4343400"/>
            <a:ext cx="6191250" cy="14288"/>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A253741F-4AF9-4008-A6F4-68EDD4CE0910}"/>
              </a:ext>
            </a:extLst>
          </p:cNvPr>
          <p:cNvSpPr>
            <a:spLocks xmlns:a="http://schemas.openxmlformats.org/drawingml/2006/main" noGrp="1"/>
          </p:cNvSpPr>
          <p:nvPr/>
        </p:nvSpPr>
        <p:spPr>
          <a:xfrm xmlns:a="http://schemas.openxmlformats.org/drawingml/2006/main">
            <a:off x="742950" y="44767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xmlns:a="http://schemas.openxmlformats.org/drawingml/2006/main">
              <a:ext uri="{FF2B5EF4-FFF2-40B4-BE49-F238E27FC236}">
                <a16:creationId xmlns:a16="http://schemas.microsoft.com/office/drawing/2014/main" id="{F872886C-D0B2-4EAD-86A5-A4B9EFD37913}"/>
              </a:ext>
            </a:extLst>
          </p:cNvPr>
          <p:cNvSpPr>
            <a:spLocks xmlns:a="http://schemas.openxmlformats.org/drawingml/2006/main" noGrp="1"/>
          </p:cNvSpPr>
          <p:nvPr/>
        </p:nvSpPr>
        <p:spPr>
          <a:xfrm xmlns:a="http://schemas.openxmlformats.org/drawingml/2006/main">
            <a:off x="1638300" y="4486275"/>
            <a:ext cx="609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xmlns:a="http://schemas.openxmlformats.org/drawingml/2006/main">
              <a:ext uri="{FF2B5EF4-FFF2-40B4-BE49-F238E27FC236}">
                <a16:creationId xmlns:a16="http://schemas.microsoft.com/office/drawing/2014/main" id="{9FE58FB9-5595-40BC-80A2-0FB84D19C295}"/>
              </a:ext>
            </a:extLst>
          </p:cNvPr>
          <p:cNvSpPr>
            <a:spLocks xmlns:a="http://schemas.openxmlformats.org/drawingml/2006/main" noGrp="1"/>
          </p:cNvSpPr>
          <p:nvPr/>
        </p:nvSpPr>
        <p:spPr>
          <a:xfrm xmlns:a="http://schemas.openxmlformats.org/drawingml/2006/main">
            <a:off x="1638300" y="4924425"/>
            <a:ext cx="609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endParaRPr sz="1725" b="0">
              <a:solidFill>
                <a:srgbClr val="686B6B"/>
              </a:solidFill>
              <a:latin typeface="CiscoSansTT"/>
              <a:ea typeface="CiscoSansTT"/>
              <a:cs typeface="CiscoSansTT"/>
            </a:endParaRPr>
          </a:p>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endParaRPr sz="1725" b="0">
              <a:solidFill>
                <a:srgbClr val="686B6B"/>
              </a:solidFill>
              <a:latin typeface="CiscoSansTT"/>
              <a:ea typeface="CiscoSansTT"/>
              <a:cs typeface="CiscoSansTT"/>
            </a:endParaRPr>
          </a:p>
        </p:txBody>
      </p:sp>
      <p:sp>
        <p:nvSpPr>
          <p:cNvPr id="29" name="Rectangle 28">
            <a:extLst xmlns:a="http://schemas.openxmlformats.org/drawingml/2006/main">
              <a:ext uri="{FF2B5EF4-FFF2-40B4-BE49-F238E27FC236}">
                <a16:creationId xmlns:a16="http://schemas.microsoft.com/office/drawing/2014/main" id="{1021DFE0-06B2-4E5F-900E-1BFCD8FC5AE7}"/>
              </a:ext>
            </a:extLst>
          </p:cNvPr>
          <p:cNvSpPr>
            <a:spLocks xmlns:a="http://schemas.openxmlformats.org/drawingml/2006/main" noGrp="1"/>
          </p:cNvSpPr>
          <p:nvPr/>
        </p:nvSpPr>
        <p:spPr>
          <a:xfrm xmlns:a="http://schemas.openxmlformats.org/drawingml/2006/main">
            <a:off x="723900" y="5753100"/>
            <a:ext cx="7239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xmlns:a="http://schemas.openxmlformats.org/drawingml/2006/main">
            <a:pPr algn="l">
              <a:buNone/>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for supported operations.</a:t>
            </a:r>
          </a:p>
        </p:txBody>
      </p:sp>
      <p:sp>
        <p:nvSpPr>
          <p:cNvPr id="30" name="obi-telemetry-diagram-label">
            <a:extLst xmlns:a="http://schemas.openxmlformats.org/drawingml/2006/main">
              <a:ext uri="{FF2B5EF4-FFF2-40B4-BE49-F238E27FC236}">
                <a16:creationId xmlns:a16="http://schemas.microsoft.com/office/drawing/2014/main" id="{885035E3-FAA4-47FE-89FD-3DBEC63A60A7}"/>
              </a:ext>
            </a:extLst>
          </p:cNvPr>
          <p:cNvSpPr>
            <a:spLocks xmlns:a="http://schemas.openxmlformats.org/drawingml/2006/main" noGrp="1"/>
          </p:cNvSpPr>
          <p:nvPr/>
        </p:nvSpPr>
        <p:spPr>
          <a:xfrm xmlns:a="http://schemas.openxmlformats.org/drawingml/2006/main">
            <a:off x="8591550" y="18192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xmlns:a="http://schemas.openxmlformats.org/drawingml/2006/main">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xmlns:a="http://schemas.openxmlformats.org/drawingml/2006/main">
              <a:ext uri="{FF2B5EF4-FFF2-40B4-BE49-F238E27FC236}">
                <a16:creationId xmlns:a16="http://schemas.microsoft.com/office/drawing/2014/main" id="{E492C830-4595-48CA-9340-A4300270F054}"/>
              </a:ext>
            </a:extLst>
          </p:cNvPr>
          <p:cNvSpPr>
            <a:spLocks xmlns:a="http://schemas.openxmlformats.org/drawingml/2006/main" noGrp="1"/>
          </p:cNvSpPr>
          <p:nvPr/>
        </p:nvSpPr>
        <p:spPr>
          <a:xfrm xmlns:a="http://schemas.openxmlformats.org/drawingml/2006/main">
            <a:off x="8782050" y="2286000"/>
            <a:ext cx="2514600" cy="685800"/>
          </a:xfrm>
          <a:prstGeom xmlns:a="http://schemas.openxmlformats.org/drawingml/2006/main" prst="roundRect">
            <a:avLst>
              <a:gd name="adj" fmla="val 9722"/>
            </a:avLst>
          </a:prstGeom>
          <a:solidFill xmlns:a="http://schemas.openxmlformats.org/drawingml/2006/main">
            <a:srgbClr val="FFFFFF"/>
          </a:solidFill>
          <a:ln xmlns:a="http://schemas.openxmlformats.org/drawingml/2006/main" w="11906">
            <a:solidFill>
              <a:srgbClr val="686B6B"/>
            </a:solid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xmlns:a="http://schemas.openxmlformats.org/drawingml/2006/main">
              <a:ext uri="{FF2B5EF4-FFF2-40B4-BE49-F238E27FC236}">
                <a16:creationId xmlns:a16="http://schemas.microsoft.com/office/drawing/2014/main" id="{6C265905-52A2-4B9A-A60B-136CF935C6F7}"/>
              </a:ext>
            </a:extLst>
          </p:cNvPr>
          <p:cNvCxnSpPr/>
          <p:nvPr/>
        </p:nvCxnSpPr>
        <p:spPr>
          <a:xfrm xmlns:a="http://schemas.openxmlformats.org/drawingml/2006/main">
            <a:off x="10039350" y="2971800"/>
            <a:ext cx="0" cy="514350"/>
          </a:xfrm>
          <a:prstGeom xmlns:a="http://schemas.openxmlformats.org/drawingml/2006/main" prst="straightConnector1">
            <a:avLst/>
          </a:prstGeom>
          <a:ln xmlns:a="http://schemas.openxmlformats.org/drawingml/2006/main" w="19050">
            <a:solidFill>
              <a:srgbClr val="FF007F"/>
            </a:solidFill>
            <a:tailEnd type="arrow" w="med" len="med"/>
          </a:ln>
        </p:spPr>
      </p:cxnSp>
      <p:sp>
        <p:nvSpPr>
          <p:cNvPr id="33" name="obi-agent">
            <a:extLst xmlns:a="http://schemas.openxmlformats.org/drawingml/2006/main">
              <a:ext uri="{FF2B5EF4-FFF2-40B4-BE49-F238E27FC236}">
                <a16:creationId xmlns:a16="http://schemas.microsoft.com/office/drawing/2014/main" id="{D0DAE50F-661B-4E53-842F-04A0739507A5}"/>
              </a:ext>
            </a:extLst>
          </p:cNvPr>
          <p:cNvSpPr>
            <a:spLocks xmlns:a="http://schemas.openxmlformats.org/drawingml/2006/main" noGrp="1"/>
          </p:cNvSpPr>
          <p:nvPr/>
        </p:nvSpPr>
        <p:spPr>
          <a:xfrm xmlns:a="http://schemas.openxmlformats.org/drawingml/2006/main">
            <a:off x="8782050" y="3486150"/>
            <a:ext cx="2514600" cy="838200"/>
          </a:xfrm>
          <a:prstGeom xmlns:a="http://schemas.openxmlformats.org/drawingml/2006/main" prst="roundRect">
            <a:avLst>
              <a:gd name="adj" fmla="val 7955"/>
            </a:avLst>
          </a:prstGeom>
          <a:solidFill xmlns:a="http://schemas.openxmlformats.org/drawingml/2006/main">
            <a:srgbClr val="F6ECF5"/>
          </a:solidFill>
          <a:ln xmlns:a="http://schemas.openxmlformats.org/drawingml/2006/main" w="11906">
            <a:solidFill>
              <a:srgbClr val="FF007F"/>
            </a:solidFill>
          </a:ln>
        </p:spPr>
        <p:txBody>
          <a:bodyPr xmlns:a="http://schemas.openxmlformats.org/drawingml/2006/main" anchor="ctr">
            <a:noAutofit/>
          </a:bodyPr>
          <a:lstStyle xmlns:a="http://schemas.openxmlformats.org/drawingml/2006/main">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xmlns:a="http://schemas.openxmlformats.org/drawingml/2006/main">
            <a:r>
              <a:t/>
            </a:r>
          </a:p>
        </p:txBody>
      </p:sp>
      <p:pic>
        <p:nvPicPr>
          <p:cNvPr id="34" name="">
            <a:extLst xmlns:a="http://schemas.openxmlformats.org/drawingml/2006/main">
              <a:ext uri="{FF2B5EF4-FFF2-40B4-BE49-F238E27FC236}">
                <a16:creationId xmlns:a16="http://schemas.microsoft.com/office/drawing/2014/main" id="{D1138346-166F-4FEF-BD10-93574A253E70}"/>
              </a:ext>
            </a:extLst>
          </p:cNvPr>
          <p:cNvPicPr>
            <a:picLocks xmlns:a="http://schemas.openxmlformats.org/drawingml/2006/main" noChangeAspect="1"/>
          </p:cNvPicPr>
          <p:nvPr/>
        </p:nvPicPr>
        <p:blipFill>
          <a:blip xmlns:r="http://schemas.openxmlformats.org/officeDocument/2006/relationships" xmlns:a="http://schemas.openxmlformats.org/drawingml/2006/main" r:embed="rIdFollowup3_1"/>
          <a:stretch xmlns:a="http://schemas.openxmlformats.org/drawingml/2006/main"/>
        </p:blipFill>
        <p:spPr>
          <a:xfrm xmlns:a="http://schemas.openxmlformats.org/drawingml/2006/main">
            <a:off x="9029700" y="3676650"/>
            <a:ext cx="457200" cy="457200"/>
          </a:xfrm>
          <a:prstGeom xmlns:a="http://schemas.openxmlformats.org/drawingml/2006/main" prst="rect">
            <a:avLst/>
          </a:prstGeom>
        </p:spPr>
      </p:pic>
      <p:sp>
        <p:nvSpPr>
          <p:cNvPr id="35" name="obi-agent-label">
            <a:extLst xmlns:a="http://schemas.openxmlformats.org/drawingml/2006/main">
              <a:ext uri="{FF2B5EF4-FFF2-40B4-BE49-F238E27FC236}">
                <a16:creationId xmlns:a16="http://schemas.microsoft.com/office/drawing/2014/main" id="{17D08D2F-4CE6-48ED-ACDA-2B2EFE2CE5F2}"/>
              </a:ext>
            </a:extLst>
          </p:cNvPr>
          <p:cNvSpPr>
            <a:spLocks xmlns:a="http://schemas.openxmlformats.org/drawingml/2006/main" noGrp="1"/>
          </p:cNvSpPr>
          <p:nvPr/>
        </p:nvSpPr>
        <p:spPr>
          <a:xfrm xmlns:a="http://schemas.openxmlformats.org/drawingml/2006/main">
            <a:off x="9601200" y="3619500"/>
            <a:ext cx="1581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xmlns:a="http://schemas.openxmlformats.org/drawingml/2006/main">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xmlns:a="http://schemas.openxmlformats.org/drawingml/2006/main">
              <a:ext uri="{FF2B5EF4-FFF2-40B4-BE49-F238E27FC236}">
                <a16:creationId xmlns:a16="http://schemas.microsoft.com/office/drawing/2014/main" id="{EB6680CD-BF39-4FA9-8AAE-B4304AF6B133}"/>
              </a:ext>
            </a:extLst>
          </p:cNvPr>
          <p:cNvCxnSpPr/>
          <p:nvPr/>
        </p:nvCxnSpPr>
        <p:spPr>
          <a:xfrm xmlns:a="http://schemas.openxmlformats.org/drawingml/2006/main">
            <a:off x="10039350" y="4324350"/>
            <a:ext cx="0" cy="523875"/>
          </a:xfrm>
          <a:prstGeom xmlns:a="http://schemas.openxmlformats.org/drawingml/2006/main" prst="straightConnector1">
            <a:avLst/>
          </a:prstGeom>
          <a:ln xmlns:a="http://schemas.openxmlformats.org/drawingml/2006/main" w="19050">
            <a:solidFill>
              <a:srgbClr val="0860FE"/>
            </a:solidFill>
            <a:tailEnd type="arrow" w="med" len="med"/>
          </a:ln>
        </p:spPr>
      </p:cxnSp>
      <p:sp>
        <p:nvSpPr>
          <p:cNvPr id="37" name="obi-output">
            <a:extLst xmlns:a="http://schemas.openxmlformats.org/drawingml/2006/main">
              <a:ext uri="{FF2B5EF4-FFF2-40B4-BE49-F238E27FC236}">
                <a16:creationId xmlns:a16="http://schemas.microsoft.com/office/drawing/2014/main" id="{06788282-0C30-4125-A773-32C5982509AF}"/>
              </a:ext>
            </a:extLst>
          </p:cNvPr>
          <p:cNvSpPr>
            <a:spLocks xmlns:a="http://schemas.openxmlformats.org/drawingml/2006/main" noGrp="1"/>
          </p:cNvSpPr>
          <p:nvPr/>
        </p:nvSpPr>
        <p:spPr>
          <a:xfrm xmlns:a="http://schemas.openxmlformats.org/drawingml/2006/main">
            <a:off x="8782050" y="4848225"/>
            <a:ext cx="2514600" cy="685800"/>
          </a:xfrm>
          <a:prstGeom xmlns:a="http://schemas.openxmlformats.org/drawingml/2006/main" prst="roundRect">
            <a:avLst>
              <a:gd name="adj" fmla="val 972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xmlns:a="http://schemas.openxmlformats.org/drawingml/2006/main">
              <a:ext uri="{FF2B5EF4-FFF2-40B4-BE49-F238E27FC236}">
                <a16:creationId xmlns:a16="http://schemas.microsoft.com/office/drawing/2014/main" id="{426782B2-104A-455C-9943-B16BDE198EAC}"/>
              </a:ext>
            </a:extLst>
          </p:cNvPr>
          <p:cNvSpPr>
            <a:spLocks xmlns:a="http://schemas.openxmlformats.org/drawingml/2006/main" noGrp="1"/>
          </p:cNvSpPr>
          <p:nvPr/>
        </p:nvSpPr>
        <p:spPr>
          <a:xfrm xmlns:a="http://schemas.openxmlformats.org/drawingml/2006/main">
            <a:off x="10382250" y="3095625"/>
            <a:ext cx="1095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xmlns:a="http://schemas.openxmlformats.org/drawingml/2006/main">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xmlns:a="http://schemas.openxmlformats.org/drawingml/2006/main">
              <a:ext uri="{FF2B5EF4-FFF2-40B4-BE49-F238E27FC236}">
                <a16:creationId xmlns:a16="http://schemas.microsoft.com/office/drawing/2014/main" id="{15E2EEE5-6F0D-432B-BC00-BA82995B2C50}"/>
              </a:ext>
            </a:extLst>
          </p:cNvPr>
          <p:cNvSpPr>
            <a:spLocks xmlns:a="http://schemas.openxmlformats.org/drawingml/2006/main" noGrp="1"/>
          </p:cNvSpPr>
          <p:nvPr/>
        </p:nvSpPr>
        <p:spPr>
          <a:xfrm xmlns:a="http://schemas.openxmlformats.org/drawingml/2006/main">
            <a:off x="10420350" y="4467225"/>
            <a:ext cx="1028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xmlns:a="http://schemas.openxmlformats.org/drawingml/2006/main">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xmlns:a="http://schemas.openxmlformats.org/drawingml/2006/main">
              <a:ext uri="{FF2B5EF4-FFF2-40B4-BE49-F238E27FC236}">
                <a16:creationId xmlns:a16="http://schemas.microsoft.com/office/drawing/2014/main" id="{EFB89B9D-BF70-4863-BA65-4AC881ED75AE}"/>
              </a:ext>
            </a:extLst>
          </p:cNvPr>
          <p:cNvSpPr>
            <a:spLocks xmlns:a="http://schemas.openxmlformats.org/drawingml/2006/main" noGrp="1"/>
          </p:cNvSpPr>
          <p:nvPr/>
        </p:nvSpPr>
        <p:spPr>
          <a:xfrm xmlns:a="http://schemas.openxmlformats.org/drawingml/2006/main">
            <a:off x="8724900" y="5848350"/>
            <a:ext cx="1200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xmlns:a="http://schemas.openxmlformats.org/drawingml/2006/main">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xmlns:r="http://schemas.openxmlformats.org/officeDocument/2006/relationships" r:id="rIdFollowup3_2"/>
              </a:rPr>
              <a:t>OBI docs</a:t>
            </a:r>
          </a:p>
        </p:txBody>
      </p:sp>
      <p:sp>
        <p:nvSpPr>
          <p:cNvPr id="41" name="obi-repo-link">
            <a:extLst xmlns:a="http://schemas.openxmlformats.org/drawingml/2006/main">
              <a:ext uri="{FF2B5EF4-FFF2-40B4-BE49-F238E27FC236}">
                <a16:creationId xmlns:a16="http://schemas.microsoft.com/office/drawing/2014/main" id="{B6DC096B-BDCF-4F2E-8CDC-9A415ACE1F79}"/>
              </a:ext>
            </a:extLst>
          </p:cNvPr>
          <p:cNvSpPr>
            <a:spLocks xmlns:a="http://schemas.openxmlformats.org/drawingml/2006/main" noGrp="1"/>
          </p:cNvSpPr>
          <p:nvPr/>
        </p:nvSpPr>
        <p:spPr>
          <a:xfrm xmlns:a="http://schemas.openxmlformats.org/drawingml/2006/main">
            <a:off x="10010775" y="58483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xmlns:a="http://schemas.openxmlformats.org/drawingml/2006/main">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xmlns:r="http://schemas.openxmlformats.org/officeDocument/2006/relationships" r:id="rIdFollowup3_3"/>
              </a:rPr>
              <a:t>OBI on GitHub</a:t>
            </a:r>
          </a:p>
        </p:txBody>
      </p:sp>
    </p:spTree>
    <p:extLst>
      <p:ext uri="{BB962C8B-B14F-4D97-AF65-F5344CB8AC3E}">
        <p14:creationId xmlns:p14="http://schemas.microsoft.com/office/powerpoint/2010/main" val="654467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F63C1725-D5B0-4F01-BEB5-31162F4096B3}"/>
              </a:ext>
            </a:extLst>
          </p:cNvPr>
          <p:cNvCxnSpPr>
            <a:stCxn id="9" idx="3"/>
            <a:endCxn id="10" idx="1"/>
          </p:cNvCxnSpPr>
          <p:nvPr/>
        </p:nvCxnSpPr>
        <p:spPr>
          <a:xfrm>
            <a:off x="2952750" y="32194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a:ext uri="{FF2B5EF4-FFF2-40B4-BE49-F238E27FC236}">
                <a16:creationId xmlns:a16="http://schemas.microsoft.com/office/drawing/2014/main" id="{9D6C336A-55D5-4177-AF1B-389608688355}"/>
              </a:ext>
            </a:extLst>
          </p:cNvPr>
          <p:cNvSpPr>
            <a:spLocks noGrp="1"/>
          </p:cNvSpPr>
          <p:nvPr/>
        </p:nvSpPr>
        <p:spPr>
          <a:xfrm>
            <a:off x="552450" y="1028700"/>
            <a:ext cx="10668000" cy="457200"/>
          </a:xfrm>
          <a:prstGeom prst="rect">
            <a:avLst/>
          </a:prstGeom>
          <a:noFill/>
          <a:ln w="0">
            <a:noFill/>
          </a:ln>
        </p:spPr>
        <p:txBody>
          <a:bodyPr anchor="t">
            <a:normAutofit fontScale="92500"/>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       OBI can add trace context here.                                                       Cilium processes pod traffic here.</a:t>
            </a:r>
          </a:p>
        </p:txBody>
      </p:sp>
      <p:sp>
        <p:nvSpPr>
          <p:cNvPr id="3" name="Rounded Rectangle 2">
            <a:extLst>
              <a:ext uri="{FF2B5EF4-FFF2-40B4-BE49-F238E27FC236}">
                <a16:creationId xmlns:a16="http://schemas.microsoft.com/office/drawing/2014/main" id="{2C6A31FC-F26E-42CD-9AE6-3C77F3A50EB6}"/>
              </a:ext>
            </a:extLst>
          </p:cNvPr>
          <p:cNvSpPr>
            <a:spLocks noGrp="1"/>
          </p:cNvSpPr>
          <p:nvPr/>
        </p:nvSpPr>
        <p:spPr>
          <a:xfrm>
            <a:off x="666750" y="1562100"/>
            <a:ext cx="4762500" cy="781050"/>
          </a:xfrm>
          <a:prstGeom prst="roundRect">
            <a:avLst>
              <a:gd name="adj" fmla="val 9756"/>
            </a:avLst>
          </a:prstGeom>
          <a:solidFill>
            <a:srgbClr val="F9F0F6"/>
          </a:solidFill>
          <a:ln w="14288">
            <a:solidFill>
              <a:srgbClr val="FF007F"/>
            </a:solidFill>
          </a:ln>
        </p:spPr>
        <p:txBody>
          <a:bodyPr/>
          <a:lstStyle/>
          <a:p>
            <a:endParaRPr/>
          </a:p>
        </p:txBody>
      </p:sp>
      <p:sp>
        <p:nvSpPr>
          <p:cNvPr id="4" name="Rectangle 3">
            <a:extLst>
              <a:ext uri="{FF2B5EF4-FFF2-40B4-BE49-F238E27FC236}">
                <a16:creationId xmlns:a16="http://schemas.microsoft.com/office/drawing/2014/main" id="{EA4F80D9-21A7-4BB0-8B6C-ADE46F071600}"/>
              </a:ext>
            </a:extLst>
          </p:cNvPr>
          <p:cNvSpPr>
            <a:spLocks noGrp="1"/>
          </p:cNvSpPr>
          <p:nvPr/>
        </p:nvSpPr>
        <p:spPr>
          <a:xfrm>
            <a:off x="895350" y="1695450"/>
            <a:ext cx="2095500" cy="285750"/>
          </a:xfrm>
          <a:prstGeom prst="rect">
            <a:avLst/>
          </a:prstGeom>
          <a:noFill/>
          <a:ln w="0">
            <a:noFill/>
          </a:ln>
        </p:spPr>
        <p:txBody>
          <a:bodyPr anchor="t">
            <a:normAutofit fontScale="89091" lnSpcReduction="20000"/>
          </a:bodyPr>
          <a:lstStyle/>
          <a:p>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a:ext uri="{FF2B5EF4-FFF2-40B4-BE49-F238E27FC236}">
                <a16:creationId xmlns:a16="http://schemas.microsoft.com/office/drawing/2014/main" id="{3095A0B0-00E3-4075-B666-952E0C2DC6C9}"/>
              </a:ext>
            </a:extLst>
          </p:cNvPr>
          <p:cNvSpPr>
            <a:spLocks noGrp="1"/>
          </p:cNvSpPr>
          <p:nvPr/>
        </p:nvSpPr>
        <p:spPr>
          <a:xfrm>
            <a:off x="895350" y="2000250"/>
            <a:ext cx="400050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a:ext uri="{FF2B5EF4-FFF2-40B4-BE49-F238E27FC236}">
                <a16:creationId xmlns:a16="http://schemas.microsoft.com/office/drawing/2014/main" id="{8894B500-4C60-4EB7-A55D-B07E8DDA0609}"/>
              </a:ext>
            </a:extLst>
          </p:cNvPr>
          <p:cNvSpPr>
            <a:spLocks noGrp="1"/>
          </p:cNvSpPr>
          <p:nvPr/>
        </p:nvSpPr>
        <p:spPr>
          <a:xfrm>
            <a:off x="6762750" y="1562100"/>
            <a:ext cx="4762500" cy="781050"/>
          </a:xfrm>
          <a:prstGeom prst="roundRect">
            <a:avLst>
              <a:gd name="adj" fmla="val 9756"/>
            </a:avLst>
          </a:prstGeom>
          <a:solidFill>
            <a:srgbClr val="EAF7FC"/>
          </a:solidFill>
          <a:ln w="14288">
            <a:solidFill>
              <a:srgbClr val="0860FE"/>
            </a:solidFill>
          </a:ln>
        </p:spPr>
        <p:txBody>
          <a:bodyPr/>
          <a:lstStyle/>
          <a:p>
            <a:endParaRPr/>
          </a:p>
        </p:txBody>
      </p:sp>
      <p:sp>
        <p:nvSpPr>
          <p:cNvPr id="7" name="Rectangle 6">
            <a:extLst>
              <a:ext uri="{FF2B5EF4-FFF2-40B4-BE49-F238E27FC236}">
                <a16:creationId xmlns:a16="http://schemas.microsoft.com/office/drawing/2014/main" id="{20A765CC-FD83-44B5-A7D3-BA0C7F84DAAD}"/>
              </a:ext>
            </a:extLst>
          </p:cNvPr>
          <p:cNvSpPr>
            <a:spLocks noGrp="1"/>
          </p:cNvSpPr>
          <p:nvPr/>
        </p:nvSpPr>
        <p:spPr>
          <a:xfrm>
            <a:off x="6991350" y="1695450"/>
            <a:ext cx="2286000" cy="285750"/>
          </a:xfrm>
          <a:prstGeom prst="rect">
            <a:avLst/>
          </a:prstGeom>
          <a:noFill/>
          <a:ln w="0">
            <a:noFill/>
          </a:ln>
        </p:spPr>
        <p:txBody>
          <a:bodyPr anchor="t">
            <a:normAutofit fontScale="89091" lnSpcReduction="20000"/>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a:ext uri="{FF2B5EF4-FFF2-40B4-BE49-F238E27FC236}">
                <a16:creationId xmlns:a16="http://schemas.microsoft.com/office/drawing/2014/main" id="{6C28BB69-CC38-4098-95A7-E508628C9EA9}"/>
              </a:ext>
            </a:extLst>
          </p:cNvPr>
          <p:cNvSpPr>
            <a:spLocks noGrp="1"/>
          </p:cNvSpPr>
          <p:nvPr/>
        </p:nvSpPr>
        <p:spPr>
          <a:xfrm>
            <a:off x="6991350" y="2000250"/>
            <a:ext cx="390525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857500"/>
            <a:ext cx="22860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857500"/>
            <a:ext cx="2286000" cy="723900"/>
          </a:xfrm>
          <a:prstGeom prst="roundRect">
            <a:avLst>
              <a:gd name="adj" fmla="val 10526"/>
            </a:avLst>
          </a:prstGeom>
          <a:solidFill>
            <a:srgbClr val="FFFFFF"/>
          </a:solidFill>
          <a:ln w="14288">
            <a:solidFill>
              <a:srgbClr val="0860FE"/>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857500"/>
            <a:ext cx="20955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a:ext uri="{FF2B5EF4-FFF2-40B4-BE49-F238E27FC236}">
                <a16:creationId xmlns:a16="http://schemas.microsoft.com/office/drawing/2014/main" id="{88FAD868-6809-46F0-9E35-273A7055DB23}"/>
              </a:ext>
            </a:extLst>
          </p:cNvPr>
          <p:cNvCxnSpPr>
            <a:stCxn id="10" idx="3"/>
            <a:endCxn id="11" idx="1"/>
          </p:cNvCxnSpPr>
          <p:nvPr/>
        </p:nvCxnSpPr>
        <p:spPr>
          <a:xfrm>
            <a:off x="7239000" y="32194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4000500"/>
            <a:ext cx="7429500" cy="16192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4171950"/>
            <a:ext cx="6743700" cy="323850"/>
          </a:xfrm>
          <a:prstGeom prst="rect">
            <a:avLst/>
          </a:prstGeom>
          <a:noFill/>
          <a:ln w="0">
            <a:noFill/>
          </a:ln>
        </p:spPr>
        <p:txBody>
          <a:bodyPr anchor="t">
            <a:normAutofit fontScale="92500" lnSpcReduction="20000"/>
          </a:bodyPr>
          <a:lstStyle/>
          <a:p>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62915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62915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67677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62915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510540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510540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515302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510540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26DE8223-1734-4228-998C-9A84E060C69E}"/>
              </a:ext>
            </a:extLst>
          </p:cNvPr>
          <p:cNvCxnSpPr>
            <a:stCxn id="10" idx="2"/>
            <a:endCxn id="14" idx="0"/>
          </p:cNvCxnSpPr>
          <p:nvPr/>
        </p:nvCxnSpPr>
        <p:spPr>
          <a:xfrm>
            <a:off x="6096000" y="3581400"/>
            <a:ext cx="0" cy="419100"/>
          </a:xfrm>
          <a:prstGeom prst="straightConnector1">
            <a:avLst/>
          </a:prstGeom>
          <a:ln w="23813">
            <a:solidFill>
              <a:srgbClr val="07182A"/>
            </a:solidFill>
            <a:prstDash val="solid"/>
          </a:ln>
        </p:spPr>
      </p:cxnSp>
    </p:spTree>
    <p:extLst>
      <p:ext uri="{BB962C8B-B14F-4D97-AF65-F5344CB8AC3E}">
        <p14:creationId xmlns:p14="http://schemas.microsoft.com/office/powerpoint/2010/main" val="768147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xmlns:a="http://schemas.openxmlformats.org/drawingml/2006/main">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xmlns:a="http://schemas.openxmlformats.org/drawingml/2006/main">
              <a:ext uri="{FF2B5EF4-FFF2-40B4-BE49-F238E27FC236}">
                <a16:creationId xmlns:a16="http://schemas.microsoft.com/office/drawing/2014/main" id="{6A062542-EA9B-400B-9F22-65A6D4F08617}"/>
              </a:ext>
            </a:extLst>
          </p:cNvPr>
          <p:cNvSpPr>
            <a:spLocks xmlns:a="http://schemas.openxmlformats.org/drawingml/2006/main" noGrp="1"/>
          </p:cNvSpPr>
          <p:nvPr/>
        </p:nvSpPr>
        <p:spPr>
          <a:xfrm xmlns:a="http://schemas.openxmlformats.org/drawingml/2006/main">
            <a:off x="857250" y="2333625"/>
            <a:ext cx="3143250" cy="1524000"/>
          </a:xfrm>
          <a:prstGeom xmlns:a="http://schemas.openxmlformats.org/drawingml/2006/main" prst="roundRect">
            <a:avLst>
              <a:gd name="adj" fmla="val 4375"/>
            </a:avLst>
          </a:prstGeom>
          <a:solidFill xmlns:a="http://schemas.openxmlformats.org/drawingml/2006/main">
            <a:srgbClr val="F6ECF5"/>
          </a:solidFill>
          <a:ln xmlns:a="http://schemas.openxmlformats.org/drawingml/2006/main" w="11906">
            <a:solidFill>
              <a:srgbClr val="FF007F"/>
            </a:solidFill>
          </a:ln>
        </p:spPr>
        <p:txBody>
          <a:bodyPr xmlns:a="http://schemas.openxmlformats.org/drawingml/2006/main" anchor="ctr">
            <a:noAutofit/>
          </a:bodyPr>
          <a:lstStyle xmlns:a="http://schemas.openxmlformats.org/drawingml/2006/main">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xmlns:a="http://schemas.openxmlformats.org/drawingml/2006/main">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xmlns:a="http://schemas.openxmlformats.org/drawingml/2006/main">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xmlns:a="http://schemas.openxmlformats.org/drawingml/2006/main">
              <a:ext uri="{FF2B5EF4-FFF2-40B4-BE49-F238E27FC236}">
                <a16:creationId xmlns:a16="http://schemas.microsoft.com/office/drawing/2014/main" id="{A3B9CEC6-752C-4ABC-9BF5-4879C0F521AA}"/>
              </a:ext>
            </a:extLst>
          </p:cNvPr>
          <p:cNvSpPr>
            <a:spLocks xmlns:a="http://schemas.openxmlformats.org/drawingml/2006/main" noGrp="1"/>
          </p:cNvSpPr>
          <p:nvPr/>
        </p:nvSpPr>
        <p:spPr>
          <a:xfrm xmlns:a="http://schemas.openxmlformats.org/drawingml/2006/main">
            <a:off x="5715000" y="2333625"/>
            <a:ext cx="5619750" cy="1524000"/>
          </a:xfrm>
          <a:prstGeom xmlns:a="http://schemas.openxmlformats.org/drawingml/2006/main" prst="roundRect">
            <a:avLst>
              <a:gd name="adj" fmla="val 4375"/>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xmlns:a="http://schemas.openxmlformats.org/drawingml/2006/main">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xmlns:a="http://schemas.openxmlformats.org/drawingml/2006/main">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xmlns:a="http://schemas.openxmlformats.org/drawingml/2006/main">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xmlns:a="http://schemas.openxmlformats.org/drawingml/2006/main">
              <a:ext uri="{FF2B5EF4-FFF2-40B4-BE49-F238E27FC236}">
                <a16:creationId xmlns:a16="http://schemas.microsoft.com/office/drawing/2014/main" id="{92A5194C-4A31-4F04-AA36-5203AD8600C8}"/>
              </a:ext>
            </a:extLst>
          </p:cNvPr>
          <p:cNvCxnSpPr/>
          <p:nvPr/>
        </p:nvCxnSpPr>
        <p:spPr>
          <a:xfrm xmlns:a="http://schemas.openxmlformats.org/drawingml/2006/main">
            <a:off x="4000500" y="3095625"/>
            <a:ext cx="1714500" cy="0"/>
          </a:xfrm>
          <a:prstGeom xmlns:a="http://schemas.openxmlformats.org/drawingml/2006/main" prst="straightConnector1">
            <a:avLst/>
          </a:prstGeom>
          <a:ln xmlns:a="http://schemas.openxmlformats.org/drawingml/2006/main" w="19050">
            <a:solidFill>
              <a:srgbClr val="FF007F"/>
            </a:solidFill>
            <a:tailEnd type="arrow" w="med" len="med"/>
          </a:ln>
        </p:spPr>
      </p:cxnSp>
      <p:sp>
        <p:nvSpPr>
          <p:cNvPr id="13" name="tc-illustrative-order">
            <a:extLst xmlns:a="http://schemas.openxmlformats.org/drawingml/2006/main">
              <a:ext uri="{FF2B5EF4-FFF2-40B4-BE49-F238E27FC236}">
                <a16:creationId xmlns:a16="http://schemas.microsoft.com/office/drawing/2014/main" id="{EA46B996-2ED9-458E-8011-7FA128FE8897}"/>
              </a:ext>
            </a:extLst>
          </p:cNvPr>
          <p:cNvSpPr>
            <a:spLocks xmlns:a="http://schemas.openxmlformats.org/drawingml/2006/main" noGrp="1"/>
          </p:cNvSpPr>
          <p:nvPr/>
        </p:nvSpPr>
        <p:spPr>
          <a:xfrm xmlns:a="http://schemas.openxmlformats.org/drawingml/2006/main">
            <a:off x="857250" y="15811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xmlns:a="http://schemas.openxmlformats.org/drawingml/2006/main">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2" name="slide-subtitle">
            <a:extLst>
              <a:ext uri="{FF2B5EF4-FFF2-40B4-BE49-F238E27FC236}">
                <a16:creationId xmlns:a16="http://schemas.microsoft.com/office/drawing/2014/main" id="{8179063A-DDEB-4CBB-997A-D5FC68A8A3FF}"/>
              </a:ext>
            </a:extLst>
          </p:cNvPr>
          <p:cNvSpPr>
            <a:spLocks noGrp="1"/>
          </p:cNvSpPr>
          <p:nvPr/>
        </p:nvSpPr>
        <p:spPr>
          <a:xfrm>
            <a:off x="552450" y="1028700"/>
            <a:ext cx="10668000" cy="45720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 this demo, OBI runs before Cilium at the shared TC hook.</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89563"/>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dirty="0"/>
              <a:t>Live demo </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7716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traffic</a:t>
            </a:r>
          </a:p>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4136231" y="1766888"/>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edge-nginx</a:t>
            </a:r>
          </a:p>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7715252" y="1023936"/>
            <a:ext cx="2863497"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recommendations-v2</a:t>
            </a:r>
          </a:p>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7810502" y="2243137"/>
            <a:ext cx="2768247"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recommendations-v1</a:t>
            </a:r>
          </a:p>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legacy backend</a:t>
            </a:r>
          </a:p>
        </p:txBody>
      </p:sp>
      <p:cxnSp>
        <p:nvCxnSpPr>
          <p:cNvPr id="26" name="generator-to-edge">
            <a:extLst>
              <a:ext uri="{FF2B5EF4-FFF2-40B4-BE49-F238E27FC236}">
                <a16:creationId xmlns:a16="http://schemas.microsoft.com/office/drawing/2014/main" id="{03DCBB50-DD35-4D77-97D6-9303A796A9A6}"/>
              </a:ext>
            </a:extLst>
          </p:cNvPr>
          <p:cNvCxnSpPr>
            <a:cxnSpLocks/>
            <a:stCxn id="22" idx="3"/>
            <a:endCxn id="23" idx="1"/>
          </p:cNvCxnSpPr>
          <p:nvPr/>
        </p:nvCxnSpPr>
        <p:spPr>
          <a:xfrm flipV="1">
            <a:off x="1905000" y="2128838"/>
            <a:ext cx="2231231" cy="4762"/>
          </a:xfrm>
          <a:prstGeom prst="straightConnector1">
            <a:avLst/>
          </a:prstGeom>
          <a:ln w="19050">
            <a:solidFill>
              <a:srgbClr val="686B6B"/>
            </a:solidFill>
            <a:prstDash val="solid"/>
            <a:tailEnd type="arrow" w="med" len="med"/>
          </a:ln>
        </p:spPr>
      </p:cxnSp>
      <p:cxnSp>
        <p:nvCxnSpPr>
          <p:cNvPr id="27" name="edge-to-v2">
            <a:extLst>
              <a:ext uri="{FF2B5EF4-FFF2-40B4-BE49-F238E27FC236}">
                <a16:creationId xmlns:a16="http://schemas.microsoft.com/office/drawing/2014/main" id="{D5637263-50E3-450B-BBCF-47422A40CCF2}"/>
              </a:ext>
            </a:extLst>
          </p:cNvPr>
          <p:cNvCxnSpPr>
            <a:cxnSpLocks/>
            <a:stCxn id="23" idx="3"/>
            <a:endCxn id="24" idx="1"/>
          </p:cNvCxnSpPr>
          <p:nvPr/>
        </p:nvCxnSpPr>
        <p:spPr>
          <a:xfrm flipV="1">
            <a:off x="6041231" y="1385886"/>
            <a:ext cx="1674021" cy="742952"/>
          </a:xfrm>
          <a:prstGeom prst="straightConnector1">
            <a:avLst/>
          </a:prstGeom>
          <a:ln w="19050">
            <a:solidFill>
              <a:srgbClr val="0860FE"/>
            </a:solidFill>
            <a:prstDash val="solid"/>
            <a:tailEnd type="arrow" w="med" len="med"/>
          </a:ln>
        </p:spPr>
      </p:cxnSp>
      <p:cxnSp>
        <p:nvCxnSpPr>
          <p:cNvPr id="32" name="direct-v1-up">
            <a:extLst>
              <a:ext uri="{FF2B5EF4-FFF2-40B4-BE49-F238E27FC236}">
                <a16:creationId xmlns:a16="http://schemas.microsoft.com/office/drawing/2014/main" id="{13425690-81B6-4156-B450-5A973F604C9A}"/>
              </a:ext>
            </a:extLst>
          </p:cNvPr>
          <p:cNvCxnSpPr>
            <a:cxnSpLocks/>
            <a:stCxn id="25" idx="1"/>
            <a:endCxn id="23" idx="3"/>
          </p:cNvCxnSpPr>
          <p:nvPr/>
        </p:nvCxnSpPr>
        <p:spPr>
          <a:xfrm flipH="1" flipV="1">
            <a:off x="6041231" y="2128838"/>
            <a:ext cx="1769271" cy="476249"/>
          </a:xfrm>
          <a:prstGeom prst="straightConnector1">
            <a:avLst/>
          </a:prstGeom>
          <a:ln w="19050">
            <a:solidFill>
              <a:srgbClr val="FF8A00"/>
            </a:solidFill>
            <a:prstDash val="solid"/>
            <a:headEnd type="arrow" w="med" len="med"/>
          </a:ln>
        </p:spPr>
      </p:cxn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OBI: </a:t>
            </a:r>
            <a:r>
              <a:rPr lang="en-US" sz="1650" b="0" dirty="0">
                <a:solidFill>
                  <a:srgbClr val="07182A"/>
                </a:solidFill>
                <a:latin typeface="CiscoSansTT"/>
                <a:ea typeface="CiscoSansTT"/>
                <a:cs typeface="CiscoSansTT"/>
              </a:rPr>
              <a:t>traces</a:t>
            </a:r>
            <a:r>
              <a:rPr sz="1650" b="0" dirty="0">
                <a:solidFill>
                  <a:srgbClr val="07182A"/>
                </a:solidFill>
                <a:latin typeface="CiscoSansTT"/>
                <a:ea typeface="CiscoSansTT"/>
                <a:cs typeface="CiscoSansTT"/>
              </a:rPr>
              <a:t>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lang="en-US" sz="1650" b="0" dirty="0" err="1">
                <a:solidFill>
                  <a:srgbClr val="07182A"/>
                </a:solidFill>
                <a:latin typeface="CiscoSansTT"/>
                <a:ea typeface="CiscoSansTT"/>
                <a:cs typeface="CiscoSansTT"/>
              </a:rPr>
              <a:t>OTel</a:t>
            </a:r>
            <a:r>
              <a:rPr lang="en-US" sz="1650" b="0" dirty="0">
                <a:solidFill>
                  <a:srgbClr val="07182A"/>
                </a:solidFill>
                <a:latin typeface="CiscoSansTT"/>
                <a:ea typeface="CiscoSansTT"/>
                <a:cs typeface="CiscoSansTT"/>
              </a:rPr>
              <a:t> </a:t>
            </a:r>
            <a:r>
              <a:rPr sz="1650" b="0" dirty="0">
                <a:solidFill>
                  <a:srgbClr val="07182A"/>
                </a:solidFill>
                <a:latin typeface="CiscoSansTT"/>
                <a:ea typeface="CiscoSansTT"/>
                <a:cs typeface="CiscoSansTT"/>
              </a:rPr>
              <a:t>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dirty="0">
                <a:solidFill>
                  <a:srgbClr val="07182A"/>
                </a:solidFill>
                <a:latin typeface="CiscoSansTT"/>
                <a:ea typeface="CiscoSansTT"/>
                <a:cs typeface="CiscoSansTT"/>
              </a:rPr>
              <a:t>Grafana</a:t>
            </a:r>
          </a:p>
          <a:p>
            <a:pPr algn="ctr">
              <a:defRPr sz="1725" b="0">
                <a:solidFill>
                  <a:srgbClr val="07182A"/>
                </a:solidFill>
                <a:latin typeface="CiscoSansTT"/>
                <a:ea typeface="CiscoSansTT"/>
                <a:cs typeface="CiscoSansTT"/>
              </a:defRPr>
            </a:pPr>
            <a:r>
              <a:rPr sz="1725" b="0" dirty="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74019-C3F7-43A4-A5FC-29C875C5F4F4}"/>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34D414C3-343D-432A-8C63-E4259A44C246}"/>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9DF04F7F-976C-44B3-9BB7-3F0656E2AC86}"/>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8242BB3C-CD4B-49FE-8895-BAF664F2263E}"/>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Tree>
    <p:extLst>
      <p:ext uri="{BB962C8B-B14F-4D97-AF65-F5344CB8AC3E}">
        <p14:creationId xmlns:p14="http://schemas.microsoft.com/office/powerpoint/2010/main" val="300991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Demo 1: prove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97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defRPr sz="2175" b="1">
                <a:solidFill>
                  <a:srgbClr val="FF007F"/>
                </a:solidFill>
                <a:latin typeface="CiscoSansTT Medium"/>
                <a:ea typeface="CiscoSansTT Medium"/>
                <a:cs typeface="CiscoSansTT Medium"/>
              </a:defRPr>
            </a:lvl1pPr>
            <a:lvl2pPr algn="l">
              <a:defRPr sz="2175" b="1">
                <a:solidFill>
                  <a:srgbClr val="FF007F"/>
                </a:solidFill>
                <a:latin typeface="CiscoSansTT Medium"/>
                <a:ea typeface="CiscoSansTT Medium"/>
                <a:cs typeface="CiscoSansTT Medium"/>
              </a:defRPr>
            </a:lvl2pPr>
            <a:lvl3pPr algn="l">
              <a:defRPr sz="2175" b="1">
                <a:solidFill>
                  <a:srgbClr val="FF007F"/>
                </a:solidFill>
                <a:latin typeface="CiscoSansTT Medium"/>
                <a:ea typeface="CiscoSansTT Medium"/>
                <a:cs typeface="CiscoSansTT Medium"/>
              </a:defRPr>
            </a:lvl3pPr>
            <a:lvl4pPr algn="l">
              <a:defRPr sz="2175" b="1">
                <a:solidFill>
                  <a:srgbClr val="FF007F"/>
                </a:solidFill>
                <a:latin typeface="CiscoSansTT Medium"/>
                <a:ea typeface="CiscoSansTT Medium"/>
                <a:cs typeface="CiscoSansTT Medium"/>
              </a:defRPr>
            </a:lvl4pPr>
            <a:lvl5pPr algn="l">
              <a:defRPr sz="2175" b="1">
                <a:solidFill>
                  <a:srgbClr val="FF007F"/>
                </a:solidFill>
                <a:latin typeface="CiscoSansTT Medium"/>
                <a:ea typeface="CiscoSansTT Medium"/>
                <a:cs typeface="CiscoSansTT Medium"/>
              </a:defRPr>
            </a:lvl5pPr>
            <a:lvl6pPr algn="l">
              <a:defRPr sz="2175" b="1">
                <a:solidFill>
                  <a:srgbClr val="FF007F"/>
                </a:solidFill>
                <a:latin typeface="CiscoSansTT Medium"/>
                <a:ea typeface="CiscoSansTT Medium"/>
                <a:cs typeface="CiscoSansTT Medium"/>
              </a:defRPr>
            </a:lvl6pPr>
            <a:lvl7pPr algn="l">
              <a:defRPr sz="2175" b="1">
                <a:solidFill>
                  <a:srgbClr val="FF007F"/>
                </a:solidFill>
                <a:latin typeface="CiscoSansTT Medium"/>
                <a:ea typeface="CiscoSansTT Medium"/>
                <a:cs typeface="CiscoSansTT Medium"/>
              </a:defRPr>
            </a:lvl7pPr>
            <a:lvl8pPr algn="l">
              <a:defRPr sz="2175" b="1">
                <a:solidFill>
                  <a:srgbClr val="FF007F"/>
                </a:solidFill>
                <a:latin typeface="CiscoSansTT Medium"/>
                <a:ea typeface="CiscoSansTT Medium"/>
                <a:cs typeface="CiscoSansTT Medium"/>
              </a:defRPr>
            </a:lvl8pPr>
            <a:lvl9pPr algn="l">
              <a:defRPr sz="2175" b="1">
                <a:solidFill>
                  <a:srgbClr val="FF007F"/>
                </a:solidFill>
                <a:latin typeface="CiscoSansTT Medium"/>
                <a:ea typeface="CiscoSansTT Medium"/>
                <a:cs typeface="CiscoSansTT Medium"/>
              </a:defRPr>
            </a:lvl9pPr>
          </a:lstStyle>
          <a:p>
            <a:pPr algn="l">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lang="en-ES"/>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 or exporting</a:t>
            </a:r>
          </a:p>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network volume through OpenTelemetry.</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lang="en-ES"/>
          </a:p>
        </p:txBody>
      </p:sp>
      <p:sp>
        <p:nvSpPr>
          <p:cNvPr id="18" name="network-heading-2">
            <a:extLst>
              <a:ext uri="{FF2B5EF4-FFF2-40B4-BE49-F238E27FC236}">
                <a16:creationId xmlns:a16="http://schemas.microsoft.com/office/drawing/2014/main" id="{DFC010D3-E6C7-49D8-87D5-0F5F89D1FC03}"/>
              </a:ext>
            </a:extLst>
          </p:cNvPr>
          <p:cNvSpPr>
            <a:spLocks noGrp="1"/>
          </p:cNvSpPr>
          <p:nvPr/>
        </p:nvSpPr>
        <p:spPr>
          <a:xfrm>
            <a:off x="762000" y="40005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Our demo</a:t>
            </a:r>
          </a:p>
        </p:txBody>
      </p:sp>
      <p:sp>
        <p:nvSpPr>
          <p:cNvPr id="19" name="network-body-2">
            <a:extLst>
              <a:ext uri="{FF2B5EF4-FFF2-40B4-BE49-F238E27FC236}">
                <a16:creationId xmlns:a16="http://schemas.microsoft.com/office/drawing/2014/main" id="{44EA833B-9F22-4103-A8A7-0A9BEC5B5E26}"/>
              </a:ext>
            </a:extLst>
          </p:cNvPr>
          <p:cNvSpPr>
            <a:spLocks noGrp="1"/>
          </p:cNvSpPr>
          <p:nvPr/>
        </p:nvSpPr>
        <p:spPr>
          <a:xfrm>
            <a:off x="3905250" y="40005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Hubble: network + policy. OBI: app traces + RED.</a:t>
            </a:r>
          </a:p>
          <a:p>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Optional OBI network metrics stay off in this demo.</a:t>
            </a:r>
          </a:p>
        </p:txBody>
      </p:sp>
      <p:sp>
        <p:nvSpPr>
          <p:cNvPr id="20" name="network-rule-2">
            <a:extLst>
              <a:ext uri="{FF2B5EF4-FFF2-40B4-BE49-F238E27FC236}">
                <a16:creationId xmlns:a16="http://schemas.microsoft.com/office/drawing/2014/main" id="{B2657F30-EBB0-4E74-9337-3A75779C05EA}"/>
              </a:ext>
            </a:extLst>
          </p:cNvPr>
          <p:cNvSpPr>
            <a:spLocks noGrp="1"/>
          </p:cNvSpPr>
          <p:nvPr/>
        </p:nvSpPr>
        <p:spPr>
          <a:xfrm>
            <a:off x="762000" y="4895850"/>
            <a:ext cx="10668000" cy="9525"/>
          </a:xfrm>
          <a:prstGeom prst="rect">
            <a:avLst/>
          </a:prstGeom>
          <a:solidFill>
            <a:srgbClr val="D6DDE3"/>
          </a:solidFill>
          <a:ln w="0">
            <a:noFill/>
          </a:ln>
        </p:spPr>
        <p:txBody>
          <a:bodyPr/>
          <a:lstStyle/>
          <a:p>
            <a:endParaRPr lang="en-ES"/>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5276850"/>
            <a:ext cx="10668000" cy="3810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5800725"/>
            <a:ext cx="10668000" cy="3810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defRPr sz="1650" b="0">
                <a:solidFill>
                  <a:srgbClr val="686B6B"/>
                </a:solidFill>
                <a:latin typeface="CiscoSansTT"/>
                <a:ea typeface="CiscoSansTT"/>
                <a:cs typeface="CiscoSansTT"/>
              </a:defRPr>
            </a:lvl1pPr>
            <a:lvl2pPr algn="l">
              <a:defRPr sz="1650" b="0">
                <a:solidFill>
                  <a:srgbClr val="686B6B"/>
                </a:solidFill>
                <a:latin typeface="CiscoSansTT"/>
                <a:ea typeface="CiscoSansTT"/>
                <a:cs typeface="CiscoSansTT"/>
              </a:defRPr>
            </a:lvl2pPr>
            <a:lvl3pPr algn="l">
              <a:defRPr sz="1650" b="0">
                <a:solidFill>
                  <a:srgbClr val="686B6B"/>
                </a:solidFill>
                <a:latin typeface="CiscoSansTT"/>
                <a:ea typeface="CiscoSansTT"/>
                <a:cs typeface="CiscoSansTT"/>
              </a:defRPr>
            </a:lvl3pPr>
            <a:lvl4pPr algn="l">
              <a:defRPr sz="1650" b="0">
                <a:solidFill>
                  <a:srgbClr val="686B6B"/>
                </a:solidFill>
                <a:latin typeface="CiscoSansTT"/>
                <a:ea typeface="CiscoSansTT"/>
                <a:cs typeface="CiscoSansTT"/>
              </a:defRPr>
            </a:lvl4pPr>
            <a:lvl5pPr algn="l">
              <a:defRPr sz="1650" b="0">
                <a:solidFill>
                  <a:srgbClr val="686B6B"/>
                </a:solidFill>
                <a:latin typeface="CiscoSansTT"/>
                <a:ea typeface="CiscoSansTT"/>
                <a:cs typeface="CiscoSansTT"/>
              </a:defRPr>
            </a:lvl5pPr>
            <a:lvl6pPr algn="l">
              <a:defRPr sz="1650" b="0">
                <a:solidFill>
                  <a:srgbClr val="686B6B"/>
                </a:solidFill>
                <a:latin typeface="CiscoSansTT"/>
                <a:ea typeface="CiscoSansTT"/>
                <a:cs typeface="CiscoSansTT"/>
              </a:defRPr>
            </a:lvl6pPr>
            <a:lvl7pPr algn="l">
              <a:defRPr sz="1650" b="0">
                <a:solidFill>
                  <a:srgbClr val="686B6B"/>
                </a:solidFill>
                <a:latin typeface="CiscoSansTT"/>
                <a:ea typeface="CiscoSansTT"/>
                <a:cs typeface="CiscoSansTT"/>
              </a:defRPr>
            </a:lvl7pPr>
            <a:lvl8pPr algn="l">
              <a:defRPr sz="1650" b="0">
                <a:solidFill>
                  <a:srgbClr val="686B6B"/>
                </a:solidFill>
                <a:latin typeface="CiscoSansTT"/>
                <a:ea typeface="CiscoSansTT"/>
                <a:cs typeface="CiscoSansTT"/>
              </a:defRPr>
            </a:lvl8pPr>
            <a:lvl9pPr algn="l">
              <a:defRPr sz="1650" b="0">
                <a:solidFill>
                  <a:srgbClr val="686B6B"/>
                </a:solidFill>
                <a:latin typeface="CiscoSansTT"/>
                <a:ea typeface="CiscoSansTT"/>
                <a:cs typeface="CiscoSansTT"/>
              </a:defRPr>
            </a:lvl9pPr>
          </a:lstStyle>
          <a:p>
            <a:pPr algn="l">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a:ext uri="{FF2B5EF4-FFF2-40B4-BE49-F238E27FC236}">
                <a16:creationId xmlns:a16="http://schemas.microsoft.com/office/drawing/2014/main" id="{C57F3861-4686-4855-A5F6-163934D70F39}"/>
              </a:ext>
            </a:extLst>
          </p:cNvPr>
          <p:cNvSpPr>
            <a:spLocks noGrp="1"/>
          </p:cNvSpPr>
          <p:nvPr/>
        </p:nvSpPr>
        <p:spPr>
          <a:xfrm>
            <a:off x="1209675" y="2000250"/>
            <a:ext cx="704850" cy="381000"/>
          </a:xfrm>
          <a:prstGeom prst="roundRect">
            <a:avLst>
              <a:gd name="adj" fmla="val 20000"/>
            </a:avLst>
          </a:prstGeom>
          <a:solidFill>
            <a:srgbClr val="686B6B"/>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a:ext uri="{FF2B5EF4-FFF2-40B4-BE49-F238E27FC236}">
                <a16:creationId xmlns:a16="http://schemas.microsoft.com/office/drawing/2014/main" id="{43DA1D42-5150-46B7-A997-2EA04A6FE5E7}"/>
              </a:ext>
            </a:extLst>
          </p:cNvPr>
          <p:cNvSpPr>
            <a:spLocks noGrp="1"/>
          </p:cNvSpPr>
          <p:nvPr/>
        </p:nvSpPr>
        <p:spPr>
          <a:xfrm>
            <a:off x="666750" y="2571750"/>
            <a:ext cx="1790700" cy="1352550"/>
          </a:xfrm>
          <a:prstGeom prst="roundRect">
            <a:avLst>
              <a:gd name="adj" fmla="val 5634"/>
            </a:avLst>
          </a:prstGeom>
          <a:solidFill>
            <a:srgbClr val="F4F6F8"/>
          </a:solidFill>
          <a:ln w="14288">
            <a:solidFill>
              <a:srgbClr val="686B6B"/>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a:ext uri="{FF2B5EF4-FFF2-40B4-BE49-F238E27FC236}">
                <a16:creationId xmlns:a16="http://schemas.microsoft.com/office/drawing/2014/main" id="{A0DAE3A5-7A9B-486F-A790-57C2532D53BF}"/>
              </a:ext>
            </a:extLst>
          </p:cNvPr>
          <p:cNvSpPr>
            <a:spLocks noGrp="1"/>
          </p:cNvSpPr>
          <p:nvPr/>
        </p:nvSpPr>
        <p:spPr>
          <a:xfrm>
            <a:off x="347662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a:ext uri="{FF2B5EF4-FFF2-40B4-BE49-F238E27FC236}">
                <a16:creationId xmlns:a16="http://schemas.microsoft.com/office/drawing/2014/main" id="{A2D31BC7-2580-481F-BFF6-E5D5FE1EF90C}"/>
              </a:ext>
            </a:extLst>
          </p:cNvPr>
          <p:cNvSpPr>
            <a:spLocks noGrp="1"/>
          </p:cNvSpPr>
          <p:nvPr/>
        </p:nvSpPr>
        <p:spPr>
          <a:xfrm>
            <a:off x="293370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a:ext uri="{FF2B5EF4-FFF2-40B4-BE49-F238E27FC236}">
                <a16:creationId xmlns:a16="http://schemas.microsoft.com/office/drawing/2014/main" id="{B5CC0480-58B6-481F-A0E6-4B4442B486FA}"/>
              </a:ext>
            </a:extLst>
          </p:cNvPr>
          <p:cNvSpPr>
            <a:spLocks noGrp="1"/>
          </p:cNvSpPr>
          <p:nvPr/>
        </p:nvSpPr>
        <p:spPr>
          <a:xfrm>
            <a:off x="574357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a:ext uri="{FF2B5EF4-FFF2-40B4-BE49-F238E27FC236}">
                <a16:creationId xmlns:a16="http://schemas.microsoft.com/office/drawing/2014/main" id="{249A79A0-91CC-421C-BF6B-235A6CEA09E1}"/>
              </a:ext>
            </a:extLst>
          </p:cNvPr>
          <p:cNvSpPr>
            <a:spLocks noGrp="1"/>
          </p:cNvSpPr>
          <p:nvPr/>
        </p:nvSpPr>
        <p:spPr>
          <a:xfrm>
            <a:off x="520065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a:ext uri="{FF2B5EF4-FFF2-40B4-BE49-F238E27FC236}">
                <a16:creationId xmlns:a16="http://schemas.microsoft.com/office/drawing/2014/main" id="{6079DEF9-F700-4121-AB14-6C19F5737C35}"/>
              </a:ext>
            </a:extLst>
          </p:cNvPr>
          <p:cNvSpPr>
            <a:spLocks noGrp="1"/>
          </p:cNvSpPr>
          <p:nvPr/>
        </p:nvSpPr>
        <p:spPr>
          <a:xfrm>
            <a:off x="801052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a:ext uri="{FF2B5EF4-FFF2-40B4-BE49-F238E27FC236}">
                <a16:creationId xmlns:a16="http://schemas.microsoft.com/office/drawing/2014/main" id="{AC5F954D-00D8-4D33-A7F6-923DE12E6AD9}"/>
              </a:ext>
            </a:extLst>
          </p:cNvPr>
          <p:cNvSpPr>
            <a:spLocks noGrp="1"/>
          </p:cNvSpPr>
          <p:nvPr/>
        </p:nvSpPr>
        <p:spPr>
          <a:xfrm>
            <a:off x="746760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a:ext uri="{FF2B5EF4-FFF2-40B4-BE49-F238E27FC236}">
                <a16:creationId xmlns:a16="http://schemas.microsoft.com/office/drawing/2014/main" id="{4FEFADD7-1B50-4BB3-8599-47FACAE44ED4}"/>
              </a:ext>
            </a:extLst>
          </p:cNvPr>
          <p:cNvSpPr>
            <a:spLocks noGrp="1"/>
          </p:cNvSpPr>
          <p:nvPr/>
        </p:nvSpPr>
        <p:spPr>
          <a:xfrm>
            <a:off x="1027747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a:ext uri="{FF2B5EF4-FFF2-40B4-BE49-F238E27FC236}">
                <a16:creationId xmlns:a16="http://schemas.microsoft.com/office/drawing/2014/main" id="{82E7F45A-14F9-47B8-94BC-1FD3A9870B5A}"/>
              </a:ext>
            </a:extLst>
          </p:cNvPr>
          <p:cNvSpPr>
            <a:spLocks noGrp="1"/>
          </p:cNvSpPr>
          <p:nvPr/>
        </p:nvSpPr>
        <p:spPr>
          <a:xfrm>
            <a:off x="973455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a:ext uri="{FF2B5EF4-FFF2-40B4-BE49-F238E27FC236}">
                <a16:creationId xmlns:a16="http://schemas.microsoft.com/office/drawing/2014/main" id="{D75E356C-92AC-4938-8ABE-810420048C00}"/>
              </a:ext>
            </a:extLst>
          </p:cNvPr>
          <p:cNvSpPr>
            <a:spLocks noGrp="1"/>
          </p:cNvSpPr>
          <p:nvPr/>
        </p:nvSpPr>
        <p:spPr>
          <a:xfrm>
            <a:off x="762000" y="4476750"/>
            <a:ext cx="10668000" cy="457200"/>
          </a:xfrm>
          <a:prstGeom prst="rect">
            <a:avLst/>
          </a:prstGeom>
          <a:noFill/>
          <a:ln w="0">
            <a:noFill/>
          </a:ln>
        </p:spPr>
        <p:txBody>
          <a:bodyPr anchor="t">
            <a:normAutofit/>
          </a:bodyPr>
          <a:lstStyle/>
          <a:p>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p:cNvGraphicFramePr/>
          <p:nvPr>
            <p:extLst>
              <p:ext uri="{D42A27DB-BD31-4B8C-83A1-F6EECF244321}">
                <p14:modId xmlns:p14="http://schemas.microsoft.com/office/powerpoint/2010/main" val="2353555426"/>
              </p:ext>
            </p:extLst>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dirty="0">
                          <a:solidFill>
                            <a:srgbClr val="0860FE"/>
                          </a:solidFill>
                          <a:latin typeface="CiscoSansTT Medium"/>
                          <a:ea typeface="CiscoSansTT Medium"/>
                          <a:cs typeface="CiscoSansTT Medium"/>
                        </a:rPr>
                        <a:t>B: OBI </a:t>
                      </a:r>
                      <a:r>
                        <a:rPr lang="en-US" sz="1575" b="1" dirty="0">
                          <a:solidFill>
                            <a:srgbClr val="0860FE"/>
                          </a:solidFill>
                          <a:latin typeface="CiscoSansTT Medium"/>
                          <a:ea typeface="CiscoSansTT Medium"/>
                          <a:cs typeface="CiscoSansTT Medium"/>
                        </a:rPr>
                        <a:t>(TCX </a:t>
                      </a:r>
                      <a:r>
                        <a:rPr sz="1575" b="1" dirty="0">
                          <a:solidFill>
                            <a:srgbClr val="0860FE"/>
                          </a:solidFill>
                          <a:latin typeface="CiscoSansTT Medium"/>
                          <a:ea typeface="CiscoSansTT Medium"/>
                          <a:cs typeface="CiscoSansTT Medium"/>
                        </a:rPr>
                        <a:t>off</a:t>
                      </a:r>
                      <a:r>
                        <a:rPr lang="en-US" sz="1575" b="1" dirty="0">
                          <a:solidFill>
                            <a:srgbClr val="0860FE"/>
                          </a:solidFill>
                          <a:latin typeface="CiscoSansTT Medium"/>
                          <a:ea typeface="CiscoSansTT Medium"/>
                          <a:cs typeface="CiscoSansTT Medium"/>
                        </a:rPr>
                        <a:t>)</a:t>
                      </a:r>
                      <a:endParaRPr sz="1575" b="1" dirty="0">
                        <a:solidFill>
                          <a:srgbClr val="0860FE"/>
                        </a:solidFill>
                        <a:latin typeface="CiscoSansTT Medium"/>
                        <a:ea typeface="CiscoSansTT Medium"/>
                        <a:cs typeface="CiscoSansTT Medium"/>
                      </a:endParaRPr>
                    </a:p>
                  </a:txBody>
                  <a:tcPr>
                    <a:lnL w="0">
                      <a:noFill/>
                    </a:lnL>
                    <a:lnR w="0">
                      <a:noFill/>
                    </a:lnR>
                    <a:lnT w="6350">
                      <a:solidFill>
                        <a:srgbClr val="D6DDE3"/>
                      </a:solidFill>
                    </a:lnT>
                    <a:lnB w="6350">
                      <a:solidFill>
                        <a:srgbClr val="D6DDE3"/>
                      </a:solidFill>
                    </a:lnB>
                    <a:solidFill>
                      <a:srgbClr val="FFFFFF"/>
                    </a:solidFill>
                  </a:tcPr>
                </a:tc>
                <a:tc>
                  <a:txBody>
                    <a:bodyPr/>
                    <a:lstStyle/>
                    <a:p>
                      <a:r>
                        <a:rPr sz="1575" b="1" dirty="0">
                          <a:solidFill>
                            <a:srgbClr val="FF007F"/>
                          </a:solidFill>
                          <a:latin typeface="CiscoSansTT Medium"/>
                          <a:ea typeface="CiscoSansTT Medium"/>
                          <a:cs typeface="CiscoSansTT Medium"/>
                        </a:rPr>
                        <a:t>D: OBI </a:t>
                      </a:r>
                      <a:r>
                        <a:rPr lang="en-US" sz="1575" b="1" dirty="0">
                          <a:solidFill>
                            <a:srgbClr val="FF007F"/>
                          </a:solidFill>
                          <a:latin typeface="CiscoSansTT Medium"/>
                          <a:ea typeface="CiscoSansTT Medium"/>
                          <a:cs typeface="CiscoSansTT Medium"/>
                        </a:rPr>
                        <a:t>(</a:t>
                      </a:r>
                      <a:r>
                        <a:rPr sz="1575" b="1" dirty="0">
                          <a:solidFill>
                            <a:srgbClr val="FF007F"/>
                          </a:solidFill>
                          <a:latin typeface="CiscoSansTT Medium"/>
                          <a:ea typeface="CiscoSansTT Medium"/>
                          <a:cs typeface="CiscoSansTT Medium"/>
                        </a:rPr>
                        <a:t>TCX</a:t>
                      </a:r>
                      <a:r>
                        <a:rPr lang="en-US" sz="1575" b="1" dirty="0">
                          <a:solidFill>
                            <a:srgbClr val="FF007F"/>
                          </a:solidFill>
                          <a:latin typeface="CiscoSansTT Medium"/>
                          <a:ea typeface="CiscoSansTT Medium"/>
                          <a:cs typeface="CiscoSansTT Medium"/>
                        </a:rPr>
                        <a:t> </a:t>
                      </a:r>
                      <a:r>
                        <a:rPr lang="en-GB" sz="1575" b="1" dirty="0">
                          <a:solidFill>
                            <a:srgbClr val="FF007F"/>
                          </a:solidFill>
                          <a:latin typeface="CiscoSansTT Medium"/>
                          <a:ea typeface="CiscoSansTT Medium"/>
                          <a:cs typeface="CiscoSansTT Medium"/>
                        </a:rPr>
                        <a:t>on)</a:t>
                      </a:r>
                      <a:endParaRPr sz="1575" b="1" dirty="0">
                        <a:solidFill>
                          <a:srgbClr val="FF007F"/>
                        </a:solidFill>
                        <a:latin typeface="CiscoSansTT Medium"/>
                        <a:ea typeface="CiscoSansTT Medium"/>
                        <a:cs typeface="CiscoSansTT Medium"/>
                      </a:endParaRP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dirty="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 name="Rounded Rectangle 1">
            <a:extLst>
              <a:ext uri="{FF2B5EF4-FFF2-40B4-BE49-F238E27FC236}">
                <a16:creationId xmlns:a16="http://schemas.microsoft.com/office/drawing/2014/main" id="{698BD03A-070E-4088-91CA-DC458B098F6D}"/>
              </a:ext>
            </a:extLst>
          </p:cNvPr>
          <p:cNvSpPr>
            <a:spLocks noGrp="1"/>
          </p:cNvSpPr>
          <p:nvPr/>
        </p:nvSpPr>
        <p:spPr>
          <a:xfrm>
            <a:off x="118110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a:ext uri="{FF2B5EF4-FFF2-40B4-BE49-F238E27FC236}">
                <a16:creationId xmlns:a16="http://schemas.microsoft.com/office/drawing/2014/main" id="{FB3120F1-0ED1-469F-BDF9-CC7EF00E3199}"/>
              </a:ext>
            </a:extLst>
          </p:cNvPr>
          <p:cNvSpPr>
            <a:spLocks noGrp="1"/>
          </p:cNvSpPr>
          <p:nvPr/>
        </p:nvSpPr>
        <p:spPr>
          <a:xfrm>
            <a:off x="49530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nodes</a:t>
            </a:r>
          </a:p>
        </p:txBody>
      </p:sp>
      <p:sp>
        <p:nvSpPr>
          <p:cNvPr id="4" name="Rectangle 3">
            <a:extLst>
              <a:ext uri="{FF2B5EF4-FFF2-40B4-BE49-F238E27FC236}">
                <a16:creationId xmlns:a16="http://schemas.microsoft.com/office/drawing/2014/main" id="{9F1B11C9-9418-4A97-BB8C-E47A9A7B6BFF}"/>
              </a:ext>
            </a:extLst>
          </p:cNvPr>
          <p:cNvSpPr>
            <a:spLocks noGrp="1"/>
          </p:cNvSpPr>
          <p:nvPr/>
        </p:nvSpPr>
        <p:spPr>
          <a:xfrm>
            <a:off x="4953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Kernel support,</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agent versions,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Cilium datapath</a:t>
            </a:r>
          </a:p>
        </p:txBody>
      </p:sp>
      <p:sp>
        <p:nvSpPr>
          <p:cNvPr id="5" name="Rounded Rectangle 4">
            <a:extLst>
              <a:ext uri="{FF2B5EF4-FFF2-40B4-BE49-F238E27FC236}">
                <a16:creationId xmlns:a16="http://schemas.microsoft.com/office/drawing/2014/main" id="{77283EF9-0DA7-4352-AC2C-4A111427C91E}"/>
              </a:ext>
            </a:extLst>
          </p:cNvPr>
          <p:cNvSpPr>
            <a:spLocks noGrp="1"/>
          </p:cNvSpPr>
          <p:nvPr/>
        </p:nvSpPr>
        <p:spPr>
          <a:xfrm>
            <a:off x="351472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a:ext uri="{FF2B5EF4-FFF2-40B4-BE49-F238E27FC236}">
                <a16:creationId xmlns:a16="http://schemas.microsoft.com/office/drawing/2014/main" id="{31AE3182-7279-498E-A7D7-EB92A540F69D}"/>
              </a:ext>
            </a:extLst>
          </p:cNvPr>
          <p:cNvSpPr>
            <a:spLocks noGrp="1"/>
          </p:cNvSpPr>
          <p:nvPr/>
        </p:nvSpPr>
        <p:spPr>
          <a:xfrm>
            <a:off x="282892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config</a:t>
            </a:r>
          </a:p>
        </p:txBody>
      </p:sp>
      <p:sp>
        <p:nvSpPr>
          <p:cNvPr id="7" name="Rectangle 6">
            <a:extLst>
              <a:ext uri="{FF2B5EF4-FFF2-40B4-BE49-F238E27FC236}">
                <a16:creationId xmlns:a16="http://schemas.microsoft.com/office/drawing/2014/main" id="{35476832-7A0A-4A45-8FA2-5A422CB7CAA0}"/>
              </a:ext>
            </a:extLst>
          </p:cNvPr>
          <p:cNvSpPr>
            <a:spLocks noGrp="1"/>
          </p:cNvSpPr>
          <p:nvPr/>
        </p:nvSpPr>
        <p:spPr>
          <a:xfrm>
            <a:off x="282892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Permissions,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mounts,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attachment order</a:t>
            </a:r>
          </a:p>
        </p:txBody>
      </p:sp>
      <p:sp>
        <p:nvSpPr>
          <p:cNvPr id="8" name="Rounded Rectangle 7">
            <a:extLst>
              <a:ext uri="{FF2B5EF4-FFF2-40B4-BE49-F238E27FC236}">
                <a16:creationId xmlns:a16="http://schemas.microsoft.com/office/drawing/2014/main" id="{8D81A81D-A030-4FCD-806D-F92FD6797A24}"/>
              </a:ext>
            </a:extLst>
          </p:cNvPr>
          <p:cNvSpPr>
            <a:spLocks noGrp="1"/>
          </p:cNvSpPr>
          <p:nvPr/>
        </p:nvSpPr>
        <p:spPr>
          <a:xfrm>
            <a:off x="584835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a:ext uri="{FF2B5EF4-FFF2-40B4-BE49-F238E27FC236}">
                <a16:creationId xmlns:a16="http://schemas.microsoft.com/office/drawing/2014/main" id="{B4BF8A64-F1F8-496B-AD30-EFFA1E22F3C1}"/>
              </a:ext>
            </a:extLst>
          </p:cNvPr>
          <p:cNvSpPr>
            <a:spLocks noGrp="1"/>
          </p:cNvSpPr>
          <p:nvPr/>
        </p:nvSpPr>
        <p:spPr>
          <a:xfrm>
            <a:off x="516255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Start small</a:t>
            </a:r>
          </a:p>
        </p:txBody>
      </p:sp>
      <p:sp>
        <p:nvSpPr>
          <p:cNvPr id="10" name="Rectangle 9">
            <a:extLst>
              <a:ext uri="{FF2B5EF4-FFF2-40B4-BE49-F238E27FC236}">
                <a16:creationId xmlns:a16="http://schemas.microsoft.com/office/drawing/2014/main" id="{B7354191-4C68-4286-B0CB-A2CBCAE7A6DE}"/>
              </a:ext>
            </a:extLst>
          </p:cNvPr>
          <p:cNvSpPr>
            <a:spLocks noGrp="1"/>
          </p:cNvSpPr>
          <p:nvPr/>
        </p:nvSpPr>
        <p:spPr>
          <a:xfrm>
            <a:off x="516255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 few selected nodes.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Keep rollback</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ready.</a:t>
            </a:r>
          </a:p>
        </p:txBody>
      </p:sp>
      <p:sp>
        <p:nvSpPr>
          <p:cNvPr id="11" name="Rounded Rectangle 10">
            <a:extLst>
              <a:ext uri="{FF2B5EF4-FFF2-40B4-BE49-F238E27FC236}">
                <a16:creationId xmlns:a16="http://schemas.microsoft.com/office/drawing/2014/main" id="{A718CAF2-5121-49EA-A878-4287C411D3DF}"/>
              </a:ext>
            </a:extLst>
          </p:cNvPr>
          <p:cNvSpPr>
            <a:spLocks noGrp="1"/>
          </p:cNvSpPr>
          <p:nvPr/>
        </p:nvSpPr>
        <p:spPr>
          <a:xfrm>
            <a:off x="818197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a:ext uri="{FF2B5EF4-FFF2-40B4-BE49-F238E27FC236}">
                <a16:creationId xmlns:a16="http://schemas.microsoft.com/office/drawing/2014/main" id="{89DAFA5E-F22D-49BF-BDA0-446E1721FD8C}"/>
              </a:ext>
            </a:extLst>
          </p:cNvPr>
          <p:cNvSpPr>
            <a:spLocks noGrp="1"/>
          </p:cNvSpPr>
          <p:nvPr/>
        </p:nvSpPr>
        <p:spPr>
          <a:xfrm>
            <a:off x="749617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Test traffic</a:t>
            </a:r>
          </a:p>
        </p:txBody>
      </p:sp>
      <p:sp>
        <p:nvSpPr>
          <p:cNvPr id="13" name="Rectangle 12">
            <a:extLst>
              <a:ext uri="{FF2B5EF4-FFF2-40B4-BE49-F238E27FC236}">
                <a16:creationId xmlns:a16="http://schemas.microsoft.com/office/drawing/2014/main" id="{D82F6F63-443B-4774-81BA-BBEF0877C882}"/>
              </a:ext>
            </a:extLst>
          </p:cNvPr>
          <p:cNvSpPr>
            <a:spLocks noGrp="1"/>
          </p:cNvSpPr>
          <p:nvPr/>
        </p:nvSpPr>
        <p:spPr>
          <a:xfrm>
            <a:off x="749617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Same-node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cross-node calls,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allowed and denied</a:t>
            </a:r>
          </a:p>
        </p:txBody>
      </p:sp>
      <p:sp>
        <p:nvSpPr>
          <p:cNvPr id="14" name="Rounded Rectangle 13">
            <a:extLst>
              <a:ext uri="{FF2B5EF4-FFF2-40B4-BE49-F238E27FC236}">
                <a16:creationId xmlns:a16="http://schemas.microsoft.com/office/drawing/2014/main" id="{D2175F4C-7525-4FBF-BE5C-D89327EC2625}"/>
              </a:ext>
            </a:extLst>
          </p:cNvPr>
          <p:cNvSpPr>
            <a:spLocks noGrp="1"/>
          </p:cNvSpPr>
          <p:nvPr/>
        </p:nvSpPr>
        <p:spPr>
          <a:xfrm>
            <a:off x="10515600" y="1571625"/>
            <a:ext cx="590550" cy="381000"/>
          </a:xfrm>
          <a:prstGeom prst="roundRect">
            <a:avLst>
              <a:gd name="adj" fmla="val 20000"/>
            </a:avLst>
          </a:prstGeom>
          <a:solidFill>
            <a:srgbClr val="2DAA5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a:ext uri="{FF2B5EF4-FFF2-40B4-BE49-F238E27FC236}">
                <a16:creationId xmlns:a16="http://schemas.microsoft.com/office/drawing/2014/main" id="{6CE53DC2-CA77-4D57-BF19-1957B258B104}"/>
              </a:ext>
            </a:extLst>
          </p:cNvPr>
          <p:cNvSpPr>
            <a:spLocks noGrp="1"/>
          </p:cNvSpPr>
          <p:nvPr/>
        </p:nvSpPr>
        <p:spPr>
          <a:xfrm>
            <a:off x="9829800" y="2238375"/>
            <a:ext cx="2000250" cy="838200"/>
          </a:xfrm>
          <a:prstGeom prst="roundRect">
            <a:avLst>
              <a:gd name="adj" fmla="val 9091"/>
            </a:avLst>
          </a:prstGeom>
          <a:solidFill>
            <a:srgbClr val="EAF7EF"/>
          </a:solidFill>
          <a:ln w="14288">
            <a:solidFill>
              <a:srgbClr val="2DAA5F"/>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Expand</a:t>
            </a:r>
          </a:p>
        </p:txBody>
      </p:sp>
      <p:sp>
        <p:nvSpPr>
          <p:cNvPr id="16" name="Rectangle 15">
            <a:extLst>
              <a:ext uri="{FF2B5EF4-FFF2-40B4-BE49-F238E27FC236}">
                <a16:creationId xmlns:a16="http://schemas.microsoft.com/office/drawing/2014/main" id="{2490163B-5B41-454E-B471-3248BDB5BC0B}"/>
              </a:ext>
            </a:extLst>
          </p:cNvPr>
          <p:cNvSpPr>
            <a:spLocks noGrp="1"/>
          </p:cNvSpPr>
          <p:nvPr/>
        </p:nvSpPr>
        <p:spPr>
          <a:xfrm>
            <a:off x="98298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Compare requests,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resources,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telemetry quality</a:t>
            </a:r>
          </a:p>
        </p:txBody>
      </p:sp>
      <p:cxnSp>
        <p:nvCxnSpPr>
          <p:cNvPr id="299" name="Straight Arrow Connector 38">
            <a:extLst>
              <a:ext uri="{FF2B5EF4-FFF2-40B4-BE49-F238E27FC236}">
                <a16:creationId xmlns:a16="http://schemas.microsoft.com/office/drawing/2014/main" id="{7B3B69E5-442B-4BA3-BEE9-E4D0B7DB7B99}"/>
              </a:ext>
            </a:extLst>
          </p:cNvPr>
          <p:cNvCxnSpPr>
            <a:stCxn id="3" idx="3"/>
            <a:endCxn id="6" idx="1"/>
          </p:cNvCxnSpPr>
          <p:nvPr/>
        </p:nvCxnSpPr>
        <p:spPr>
          <a:xfrm>
            <a:off x="2495550" y="2657475"/>
            <a:ext cx="333375" cy="0"/>
          </a:xfrm>
          <a:prstGeom prst="straightConnector1">
            <a:avLst/>
          </a:prstGeom>
          <a:ln w="19050">
            <a:solidFill>
              <a:srgbClr val="07182A"/>
            </a:solidFill>
            <a:prstDash val="solid"/>
            <a:tailEnd type="arrow" w="med" len="med"/>
          </a:ln>
        </p:spPr>
      </p:cxnSp>
      <p:cxnSp>
        <p:nvCxnSpPr>
          <p:cNvPr id="300" name="Straight Arrow Connector 39">
            <a:extLst>
              <a:ext uri="{FF2B5EF4-FFF2-40B4-BE49-F238E27FC236}">
                <a16:creationId xmlns:a16="http://schemas.microsoft.com/office/drawing/2014/main" id="{74D0A627-ABD3-4683-81CB-A3B63367B664}"/>
              </a:ext>
            </a:extLst>
          </p:cNvPr>
          <p:cNvCxnSpPr>
            <a:stCxn id="6" idx="3"/>
            <a:endCxn id="9" idx="1"/>
          </p:cNvCxnSpPr>
          <p:nvPr/>
        </p:nvCxnSpPr>
        <p:spPr>
          <a:xfrm>
            <a:off x="4829175" y="2657475"/>
            <a:ext cx="333375" cy="0"/>
          </a:xfrm>
          <a:prstGeom prst="straightConnector1">
            <a:avLst/>
          </a:prstGeom>
          <a:ln w="19050">
            <a:solidFill>
              <a:srgbClr val="07182A"/>
            </a:solidFill>
            <a:prstDash val="solid"/>
            <a:tailEnd type="arrow" w="med" len="med"/>
          </a:ln>
        </p:spPr>
      </p:cxnSp>
      <p:cxnSp>
        <p:nvCxnSpPr>
          <p:cNvPr id="301" name="Straight Arrow Connector 40">
            <a:extLst>
              <a:ext uri="{FF2B5EF4-FFF2-40B4-BE49-F238E27FC236}">
                <a16:creationId xmlns:a16="http://schemas.microsoft.com/office/drawing/2014/main" id="{51C97834-FDF8-45DD-91AD-89E6EC92F5C7}"/>
              </a:ext>
            </a:extLst>
          </p:cNvPr>
          <p:cNvCxnSpPr>
            <a:stCxn id="9" idx="3"/>
            <a:endCxn id="12" idx="1"/>
          </p:cNvCxnSpPr>
          <p:nvPr/>
        </p:nvCxnSpPr>
        <p:spPr>
          <a:xfrm>
            <a:off x="7162800" y="2657475"/>
            <a:ext cx="333375" cy="0"/>
          </a:xfrm>
          <a:prstGeom prst="straightConnector1">
            <a:avLst/>
          </a:prstGeom>
          <a:ln w="19050">
            <a:solidFill>
              <a:srgbClr val="07182A"/>
            </a:solidFill>
            <a:prstDash val="solid"/>
            <a:tailEnd type="arrow" w="med" len="med"/>
          </a:ln>
        </p:spPr>
      </p:cxnSp>
      <p:cxnSp>
        <p:nvCxnSpPr>
          <p:cNvPr id="302" name="Straight Arrow Connector 41">
            <a:extLst>
              <a:ext uri="{FF2B5EF4-FFF2-40B4-BE49-F238E27FC236}">
                <a16:creationId xmlns:a16="http://schemas.microsoft.com/office/drawing/2014/main" id="{B42F02B1-EA9D-4BB4-943C-B83A31595EA2}"/>
              </a:ext>
            </a:extLst>
          </p:cNvPr>
          <p:cNvCxnSpPr>
            <a:stCxn id="12" idx="3"/>
            <a:endCxn id="15" idx="1"/>
          </p:cNvCxnSpPr>
          <p:nvPr/>
        </p:nvCxnSpPr>
        <p:spPr>
          <a:xfrm>
            <a:off x="9496425" y="2657475"/>
            <a:ext cx="333375" cy="0"/>
          </a:xfrm>
          <a:prstGeom prst="straightConnector1">
            <a:avLst/>
          </a:prstGeom>
          <a:ln w="19050">
            <a:solidFill>
              <a:srgbClr val="07182A"/>
            </a:solidFill>
            <a:prstDash val="solid"/>
            <a:tailEnd type="arrow" w="med" len="med"/>
          </a:ln>
        </p:spPr>
      </p:cxnSp>
      <p:sp>
        <p:nvSpPr>
          <p:cNvPr id="21" name="Rounded Rectangle 20">
            <a:extLst>
              <a:ext uri="{FF2B5EF4-FFF2-40B4-BE49-F238E27FC236}">
                <a16:creationId xmlns:a16="http://schemas.microsoft.com/office/drawing/2014/main" id="{A8E5CA0D-8A5D-4BD3-A93D-56E4A51883CE}"/>
              </a:ext>
            </a:extLst>
          </p:cNvPr>
          <p:cNvSpPr>
            <a:spLocks noGrp="1"/>
          </p:cNvSpPr>
          <p:nvPr/>
        </p:nvSpPr>
        <p:spPr>
          <a:xfrm>
            <a:off x="1219200" y="4838700"/>
            <a:ext cx="9753600" cy="857250"/>
          </a:xfrm>
          <a:prstGeom prst="roundRect">
            <a:avLst>
              <a:gd name="adj" fmla="val 8889"/>
            </a:avLst>
          </a:prstGeom>
          <a:solidFill>
            <a:srgbClr val="F4F6F8"/>
          </a:solidFill>
          <a:ln w="14288">
            <a:solidFill>
              <a:srgbClr val="D6D6D6"/>
            </a:solidFill>
          </a:ln>
        </p:spPr>
        <p:txBody>
          <a:bodyPr/>
          <a:lstStyle/>
          <a:p>
            <a:endParaRPr/>
          </a:p>
        </p:txBody>
      </p:sp>
      <p:sp>
        <p:nvSpPr>
          <p:cNvPr id="22" name="Rectangle 21">
            <a:extLst>
              <a:ext uri="{FF2B5EF4-FFF2-40B4-BE49-F238E27FC236}">
                <a16:creationId xmlns:a16="http://schemas.microsoft.com/office/drawing/2014/main" id="{BFD370B6-619A-467A-BD71-9857194631E6}"/>
              </a:ext>
            </a:extLst>
          </p:cNvPr>
          <p:cNvSpPr>
            <a:spLocks noGrp="1"/>
          </p:cNvSpPr>
          <p:nvPr/>
        </p:nvSpPr>
        <p:spPr>
          <a:xfrm>
            <a:off x="1619250" y="5048250"/>
            <a:ext cx="8953500" cy="4762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Expand when the checks pass. If they fail, pause and restore the previous setup.</a:t>
            </a:r>
          </a:p>
        </p:txBody>
      </p:sp>
    </p:spTree>
    <p:extLst>
      <p:ext uri="{BB962C8B-B14F-4D97-AF65-F5344CB8AC3E}">
        <p14:creationId xmlns:p14="http://schemas.microsoft.com/office/powerpoint/2010/main" val="3158849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t">
            <a:normAutofit fontScale="70461" lnSpcReduction="2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90</TotalTime>
  <Words>6950</Words>
  <Application>Microsoft Macintosh PowerPoint</Application>
  <DocSecurity>0</DocSecurity>
  <PresentationFormat>Widescreen</PresentationFormat>
  <Paragraphs>648</Paragraphs>
  <Slides>36</Slides>
  <Notes>36</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Calibri</vt:lpstr>
      <vt:lpstr>CiscoSansTT Medium</vt:lpstr>
      <vt:lpstr>Arial</vt:lpstr>
      <vt:lpstr>CiscoSansTT</vt:lpstr>
      <vt:lpstr>Cisco Light 05-21-2025</vt:lpstr>
      <vt:lpstr>Two eBPF Systems, One Kubernetes Node</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4</cp:revision>
  <dcterms:created xsi:type="dcterms:W3CDTF">2026-09-27T17:17:35Z</dcterms:created>
  <dcterms:modified xsi:type="dcterms:W3CDTF">2026-10-29T09:51:12Z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